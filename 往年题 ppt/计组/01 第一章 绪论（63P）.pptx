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8" r:id="rId2"/>
    <p:sldId id="366" r:id="rId3"/>
    <p:sldId id="1014" r:id="rId4"/>
    <p:sldId id="428" r:id="rId5"/>
    <p:sldId id="1625" r:id="rId6"/>
    <p:sldId id="392" r:id="rId7"/>
    <p:sldId id="1584" r:id="rId8"/>
    <p:sldId id="259" r:id="rId9"/>
    <p:sldId id="260" r:id="rId10"/>
    <p:sldId id="1589" r:id="rId11"/>
    <p:sldId id="261" r:id="rId12"/>
    <p:sldId id="333" r:id="rId13"/>
    <p:sldId id="1618" r:id="rId14"/>
    <p:sldId id="1588" r:id="rId15"/>
    <p:sldId id="1633" r:id="rId16"/>
    <p:sldId id="1583" r:id="rId17"/>
    <p:sldId id="1634" r:id="rId18"/>
    <p:sldId id="464" r:id="rId19"/>
    <p:sldId id="1615" r:id="rId20"/>
    <p:sldId id="1611" r:id="rId21"/>
    <p:sldId id="1612" r:id="rId22"/>
    <p:sldId id="297" r:id="rId23"/>
    <p:sldId id="1591" r:id="rId24"/>
    <p:sldId id="1580" r:id="rId25"/>
    <p:sldId id="1628" r:id="rId26"/>
    <p:sldId id="1629" r:id="rId27"/>
    <p:sldId id="1630" r:id="rId28"/>
    <p:sldId id="1631" r:id="rId29"/>
    <p:sldId id="1632" r:id="rId30"/>
    <p:sldId id="1000" r:id="rId31"/>
    <p:sldId id="1593" r:id="rId32"/>
    <p:sldId id="1594" r:id="rId33"/>
    <p:sldId id="1616" r:id="rId34"/>
    <p:sldId id="1595" r:id="rId35"/>
    <p:sldId id="1597" r:id="rId36"/>
    <p:sldId id="1596" r:id="rId37"/>
    <p:sldId id="1598" r:id="rId38"/>
    <p:sldId id="1635" r:id="rId39"/>
    <p:sldId id="453" r:id="rId40"/>
    <p:sldId id="1599" r:id="rId41"/>
    <p:sldId id="311" r:id="rId42"/>
    <p:sldId id="1617" r:id="rId43"/>
    <p:sldId id="417" r:id="rId44"/>
    <p:sldId id="448" r:id="rId45"/>
    <p:sldId id="418" r:id="rId46"/>
    <p:sldId id="421" r:id="rId47"/>
    <p:sldId id="422" r:id="rId48"/>
    <p:sldId id="1600" r:id="rId49"/>
    <p:sldId id="1601" r:id="rId50"/>
    <p:sldId id="423" r:id="rId51"/>
    <p:sldId id="1602" r:id="rId52"/>
    <p:sldId id="1604" r:id="rId53"/>
    <p:sldId id="1605" r:id="rId54"/>
    <p:sldId id="424" r:id="rId55"/>
    <p:sldId id="1606" r:id="rId56"/>
    <p:sldId id="1622" r:id="rId57"/>
    <p:sldId id="1623" r:id="rId58"/>
    <p:sldId id="1607" r:id="rId59"/>
    <p:sldId id="1608" r:id="rId60"/>
    <p:sldId id="287" r:id="rId61"/>
    <p:sldId id="352" r:id="rId62"/>
    <p:sldId id="354" r:id="rId63"/>
    <p:sldId id="427" r:id="rId64"/>
  </p:sldIdLst>
  <p:sldSz cx="9144000" cy="6858000" type="screen4x3"/>
  <p:notesSz cx="6797675" cy="9928225"/>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7B341337-0932-451D-8849-C53BFC9003C2}">
          <p14:sldIdLst>
            <p14:sldId id="258"/>
            <p14:sldId id="366"/>
            <p14:sldId id="1014"/>
            <p14:sldId id="428"/>
          </p14:sldIdLst>
        </p14:section>
        <p14:section name="一、计算机的发展简史" id="{6538D7A3-73B9-49B5-93F9-D7E9A41A7780}">
          <p14:sldIdLst>
            <p14:sldId id="1625"/>
            <p14:sldId id="392"/>
            <p14:sldId id="1584"/>
            <p14:sldId id="259"/>
            <p14:sldId id="260"/>
            <p14:sldId id="1589"/>
            <p14:sldId id="261"/>
            <p14:sldId id="333"/>
            <p14:sldId id="1618"/>
            <p14:sldId id="1588"/>
            <p14:sldId id="1633"/>
            <p14:sldId id="1583"/>
          </p14:sldIdLst>
        </p14:section>
        <p14:section name="二、计算机系统的组成" id="{533E7CC9-5738-4F9F-96F0-596373E6E774}">
          <p14:sldIdLst>
            <p14:sldId id="1634"/>
            <p14:sldId id="464"/>
            <p14:sldId id="1615"/>
            <p14:sldId id="1611"/>
            <p14:sldId id="1612"/>
            <p14:sldId id="297"/>
            <p14:sldId id="1591"/>
            <p14:sldId id="1580"/>
            <p14:sldId id="1628"/>
            <p14:sldId id="1629"/>
            <p14:sldId id="1630"/>
            <p14:sldId id="1631"/>
            <p14:sldId id="1632"/>
            <p14:sldId id="1000"/>
            <p14:sldId id="1593"/>
            <p14:sldId id="1594"/>
            <p14:sldId id="1616"/>
            <p14:sldId id="1595"/>
            <p14:sldId id="1597"/>
            <p14:sldId id="1596"/>
            <p14:sldId id="1598"/>
          </p14:sldIdLst>
        </p14:section>
        <p14:section name="三 计算机系统的层次结构" id="{0C9B2F58-23A0-4DC4-B2F6-F36B8C6160C8}">
          <p14:sldIdLst>
            <p14:sldId id="1635"/>
            <p14:sldId id="453"/>
            <p14:sldId id="1599"/>
          </p14:sldIdLst>
        </p14:section>
        <p14:section name="四 计算机性能指标和评价" id="{9C5F24DA-CF57-4491-BCD1-BB60DAF035A8}">
          <p14:sldIdLst>
            <p14:sldId id="311"/>
            <p14:sldId id="1617"/>
            <p14:sldId id="417"/>
            <p14:sldId id="448"/>
            <p14:sldId id="418"/>
            <p14:sldId id="421"/>
            <p14:sldId id="422"/>
            <p14:sldId id="1600"/>
            <p14:sldId id="1601"/>
            <p14:sldId id="423"/>
            <p14:sldId id="1602"/>
            <p14:sldId id="1604"/>
            <p14:sldId id="1605"/>
            <p14:sldId id="424"/>
            <p14:sldId id="1606"/>
            <p14:sldId id="1622"/>
            <p14:sldId id="1623"/>
            <p14:sldId id="1607"/>
            <p14:sldId id="1608"/>
            <p14:sldId id="287"/>
            <p14:sldId id="352"/>
            <p14:sldId id="354"/>
            <p14:sldId id="42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e Lin" initials="JL" lastIdx="1" clrIdx="0">
    <p:extLst>
      <p:ext uri="{19B8F6BF-5375-455C-9EA6-DF929625EA0E}">
        <p15:presenceInfo xmlns:p15="http://schemas.microsoft.com/office/powerpoint/2012/main" userId="5cd421f4ef87e02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CC"/>
    <a:srgbClr val="CCFF99"/>
    <a:srgbClr val="FFFFFF"/>
    <a:srgbClr val="00CCFF"/>
    <a:srgbClr val="FFCC99"/>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82" autoAdjust="0"/>
    <p:restoredTop sz="89481" autoAdjust="0"/>
  </p:normalViewPr>
  <p:slideViewPr>
    <p:cSldViewPr>
      <p:cViewPr>
        <p:scale>
          <a:sx n="107" d="100"/>
          <a:sy n="107" d="100"/>
        </p:scale>
        <p:origin x="2192" y="20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50" d="100"/>
        <a:sy n="150" d="100"/>
      </p:scale>
      <p:origin x="0" y="-13752"/>
    </p:cViewPr>
  </p:sorterViewPr>
  <p:notesViewPr>
    <p:cSldViewPr>
      <p:cViewPr varScale="1">
        <p:scale>
          <a:sx n="67" d="100"/>
          <a:sy n="67" d="100"/>
        </p:scale>
        <p:origin x="2829" y="2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A3038177-08C0-4C80-8EAD-781393834FE5}" type="datetimeFigureOut">
              <a:rPr lang="zh-CN" altLang="en-US" smtClean="0"/>
              <a:t>2025/2/17</a:t>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3707083F-A9AC-4DD1-AA11-C70902DC7689}" type="slidenum">
              <a:rPr lang="zh-CN" altLang="en-US" smtClean="0"/>
              <a:t>‹#›</a:t>
            </a:fld>
            <a:endParaRPr lang="zh-CN" altLang="en-US"/>
          </a:p>
        </p:txBody>
      </p:sp>
    </p:spTree>
    <p:extLst>
      <p:ext uri="{BB962C8B-B14F-4D97-AF65-F5344CB8AC3E}">
        <p14:creationId xmlns:p14="http://schemas.microsoft.com/office/powerpoint/2010/main" val="2075681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2</a:t>
            </a:fld>
            <a:endParaRPr lang="zh-CN" altLang="en-US"/>
          </a:p>
        </p:txBody>
      </p:sp>
    </p:spTree>
    <p:extLst>
      <p:ext uri="{BB962C8B-B14F-4D97-AF65-F5344CB8AC3E}">
        <p14:creationId xmlns:p14="http://schemas.microsoft.com/office/powerpoint/2010/main" val="2562084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3</a:t>
            </a:fld>
            <a:endParaRPr lang="zh-CN" altLang="en-US"/>
          </a:p>
        </p:txBody>
      </p:sp>
    </p:spTree>
    <p:extLst>
      <p:ext uri="{BB962C8B-B14F-4D97-AF65-F5344CB8AC3E}">
        <p14:creationId xmlns:p14="http://schemas.microsoft.com/office/powerpoint/2010/main" val="1446935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56F602C-53DC-40CF-B2BC-579DE0EF1E1E}" type="slidenum">
              <a:rPr lang="en-US" altLang="zh-CN" smtClean="0">
                <a:latin typeface="Arial" panose="020B0604020202020204" pitchFamily="34" charset="0"/>
              </a:rPr>
              <a:pPr>
                <a:spcBef>
                  <a:spcPct val="0"/>
                </a:spcBef>
              </a:pPr>
              <a:t>4</a:t>
            </a:fld>
            <a:endParaRPr lang="en-US" altLang="zh-CN">
              <a:latin typeface="Arial" panose="020B0604020202020204" pitchFamily="34" charset="0"/>
            </a:endParaRPr>
          </a:p>
        </p:txBody>
      </p:sp>
      <p:sp>
        <p:nvSpPr>
          <p:cNvPr id="6451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extLst>
      <p:ext uri="{BB962C8B-B14F-4D97-AF65-F5344CB8AC3E}">
        <p14:creationId xmlns:p14="http://schemas.microsoft.com/office/powerpoint/2010/main" val="2001119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56F602C-53DC-40CF-B2BC-579DE0EF1E1E}" type="slidenum">
              <a:rPr lang="en-US" altLang="zh-CN" smtClean="0">
                <a:latin typeface="Arial" panose="020B0604020202020204" pitchFamily="34" charset="0"/>
              </a:rPr>
              <a:pPr>
                <a:spcBef>
                  <a:spcPct val="0"/>
                </a:spcBef>
              </a:pPr>
              <a:t>5</a:t>
            </a:fld>
            <a:endParaRPr lang="en-US" altLang="zh-CN">
              <a:latin typeface="Arial" panose="020B0604020202020204" pitchFamily="34" charset="0"/>
            </a:endParaRPr>
          </a:p>
        </p:txBody>
      </p:sp>
      <p:sp>
        <p:nvSpPr>
          <p:cNvPr id="6451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extLst>
      <p:ext uri="{BB962C8B-B14F-4D97-AF65-F5344CB8AC3E}">
        <p14:creationId xmlns:p14="http://schemas.microsoft.com/office/powerpoint/2010/main" val="440379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1.1 </a:t>
            </a:r>
            <a:r>
              <a:rPr lang="zh-CN" altLang="en-US" dirty="0"/>
              <a:t>计算机发展历程</a:t>
            </a:r>
            <a:endParaRPr lang="en-US" altLang="zh-CN" dirty="0"/>
          </a:p>
          <a:p>
            <a:r>
              <a:rPr lang="zh-CN" altLang="en-US" dirty="0"/>
              <a:t>计算机是一种能够按照事先存储的程序，自动、高速、准确地对相关信息进行处理的电子设备。从数据表示来看，计算机可分为数字计算机和模拟计算机。</a:t>
            </a:r>
            <a:endParaRPr lang="en-US" altLang="zh-CN" dirty="0"/>
          </a:p>
          <a:p>
            <a:r>
              <a:rPr lang="zh-CN" altLang="en-US" dirty="0"/>
              <a:t>今天的计算机以数字计算机为主，本书的主要研究对象也是数字计算机。</a:t>
            </a:r>
            <a:endParaRPr lang="en-US" altLang="zh-CN" dirty="0"/>
          </a:p>
          <a:p>
            <a:r>
              <a:rPr lang="en-US" altLang="zh-CN" dirty="0"/>
              <a:t>1.1.1 </a:t>
            </a:r>
            <a:r>
              <a:rPr lang="zh-CN" altLang="en-US" dirty="0"/>
              <a:t>国外计算机发展概况</a:t>
            </a:r>
            <a:endParaRPr lang="en-US" altLang="zh-CN" dirty="0"/>
          </a:p>
          <a:p>
            <a:r>
              <a:rPr lang="en-US" altLang="zh-CN" dirty="0"/>
              <a:t>1946</a:t>
            </a:r>
            <a:r>
              <a:rPr lang="zh-CN" altLang="en-US" dirty="0"/>
              <a:t>年</a:t>
            </a:r>
            <a:r>
              <a:rPr lang="en-US" altLang="zh-CN" dirty="0"/>
              <a:t>2</a:t>
            </a:r>
            <a:r>
              <a:rPr lang="zh-CN" altLang="en-US" dirty="0"/>
              <a:t>月，电子数字计算机</a:t>
            </a:r>
            <a:r>
              <a:rPr lang="en-US" altLang="zh-CN" dirty="0"/>
              <a:t>ENIAC</a:t>
            </a:r>
            <a:r>
              <a:rPr lang="zh-CN" altLang="en-US" dirty="0"/>
              <a:t>（</a:t>
            </a:r>
            <a:r>
              <a:rPr lang="en-US" altLang="zh-CN" dirty="0"/>
              <a:t>Electronic Numerical Integrator And Computer</a:t>
            </a:r>
            <a:r>
              <a:rPr lang="zh-CN" altLang="en-US" dirty="0"/>
              <a:t>，电子数字积分计算机）在美国宾夕法尼亚大学诞生，它标志着科学技术的发展进入了新的时代</a:t>
            </a:r>
            <a:r>
              <a:rPr lang="en-US" altLang="zh-CN" dirty="0"/>
              <a:t>-</a:t>
            </a:r>
            <a:r>
              <a:rPr lang="zh-CN" altLang="en-US" dirty="0"/>
              <a:t>电子计算机时代。从电子计算机的诞生到现在，这</a:t>
            </a:r>
            <a:r>
              <a:rPr lang="en-US" altLang="zh-CN" dirty="0"/>
              <a:t>70</a:t>
            </a:r>
            <a:r>
              <a:rPr lang="zh-CN" altLang="en-US" dirty="0"/>
              <a:t>多年的时间里，计算机的发展经历了以下</a:t>
            </a:r>
            <a:r>
              <a:rPr lang="en-US" altLang="zh-CN" dirty="0"/>
              <a:t>4</a:t>
            </a:r>
            <a:r>
              <a:rPr lang="zh-CN" altLang="en-US" dirty="0"/>
              <a:t>个阶段。</a:t>
            </a:r>
            <a:endParaRPr lang="en-US" altLang="zh-CN" dirty="0"/>
          </a:p>
          <a:p>
            <a:r>
              <a:rPr lang="en-US" altLang="zh-CN" dirty="0"/>
              <a:t>1</a:t>
            </a:r>
            <a:r>
              <a:rPr lang="zh-CN" altLang="en-US" dirty="0"/>
              <a:t>．电子管计算机（</a:t>
            </a:r>
            <a:r>
              <a:rPr lang="en-US" altLang="zh-CN" dirty="0"/>
              <a:t>1946-1958</a:t>
            </a:r>
            <a:r>
              <a:rPr lang="zh-CN" altLang="en-US" dirty="0"/>
              <a:t>年）</a:t>
            </a:r>
            <a:endParaRPr lang="en-US" altLang="zh-CN" dirty="0"/>
          </a:p>
          <a:p>
            <a:r>
              <a:rPr lang="zh-CN" altLang="en-US" dirty="0"/>
              <a:t>第一代计算机的基本电子器件为电子管。其主存先后采用水银延迟线、磁鼓、磁芯，存储容量只有几千个存储单元，运算速度为每秒几千次至几万次。输入输出设备为穿孔卡片或穿孔纸带。第一代计算机体积大、功耗高、可靠性较差，主要应用于科学计算，编程语言为机器语言。</a:t>
            </a:r>
            <a:r>
              <a:rPr lang="en-US" altLang="zh-CN" dirty="0"/>
              <a:t>2</a:t>
            </a:r>
            <a:r>
              <a:rPr lang="zh-CN" altLang="en-US" dirty="0"/>
              <a:t>．晶体管计算机（</a:t>
            </a:r>
            <a:r>
              <a:rPr lang="en-US" altLang="zh-CN" dirty="0"/>
              <a:t>1958-1964</a:t>
            </a:r>
            <a:r>
              <a:rPr lang="zh-CN" altLang="en-US" dirty="0"/>
              <a:t>年）第二代计算机的基本电子器件为晶体管。其主存采用磁芯存储器，存储容量增至</a:t>
            </a:r>
            <a:r>
              <a:rPr lang="en-US" altLang="zh-CN" dirty="0"/>
              <a:t>10</a:t>
            </a:r>
            <a:r>
              <a:rPr lang="zh-CN" altLang="en-US" dirty="0"/>
              <a:t>万个存储单元以上，磁鼓、磁盘被用作辅助存储器（辅存），输入输出设备为穿孔卡片或打印机，运算速度为每秒数十万次到数百万次。相对于电子管计算机，其体积和功耗均有明显减小。其应用领域从科学计算扩展到数据处理，编程语言主要是汇编语言，并开始使用</a:t>
            </a:r>
            <a:r>
              <a:rPr lang="en-US" altLang="zh-CN" dirty="0"/>
              <a:t>FORTRAN</a:t>
            </a:r>
            <a:r>
              <a:rPr lang="zh-CN" altLang="en-US" dirty="0"/>
              <a:t>、</a:t>
            </a:r>
            <a:r>
              <a:rPr lang="en-US" altLang="zh-CN" dirty="0"/>
              <a:t>COBOL</a:t>
            </a:r>
            <a:r>
              <a:rPr lang="zh-CN" altLang="en-US" dirty="0"/>
              <a:t>和</a:t>
            </a:r>
            <a:r>
              <a:rPr lang="en-US" altLang="zh-CN" dirty="0"/>
              <a:t>ALGOL</a:t>
            </a:r>
            <a:r>
              <a:rPr lang="zh-CN" altLang="en-US" dirty="0"/>
              <a:t>等高级语言。</a:t>
            </a:r>
            <a:r>
              <a:rPr lang="en-US" altLang="zh-CN" dirty="0"/>
              <a:t>3</a:t>
            </a:r>
            <a:r>
              <a:rPr lang="zh-CN" altLang="en-US" dirty="0"/>
              <a:t>．集成电路计算机（</a:t>
            </a:r>
            <a:r>
              <a:rPr lang="en-US" altLang="zh-CN" dirty="0"/>
              <a:t>1964-1971</a:t>
            </a:r>
            <a:r>
              <a:rPr lang="zh-CN" altLang="en-US" dirty="0"/>
              <a:t>年）第三代计算机的基本电子器件普遍采用集成电路。其主存采用半导体存储器，以磁盘为辅存，主存和辅存容量显著增加，出现了键盘、鼠标、显示器等外部设备，操作系统得到广泛应用。计算机运算速度一般为每秒数百万次至数千万次。计算机的体积和功耗均显著减小，可靠性大大提高。在此期间，出现了向大型和小型两极发展的趋势，典型的有</a:t>
            </a:r>
            <a:r>
              <a:rPr lang="en-US" altLang="zh-CN" dirty="0"/>
              <a:t>1964</a:t>
            </a:r>
            <a:r>
              <a:rPr lang="zh-CN" altLang="en-US" dirty="0"/>
              <a:t>年</a:t>
            </a:r>
            <a:r>
              <a:rPr lang="en-US" altLang="zh-CN" dirty="0"/>
              <a:t>IBM</a:t>
            </a:r>
            <a:r>
              <a:rPr lang="zh-CN" altLang="en-US" dirty="0"/>
              <a:t>公司的</a:t>
            </a:r>
            <a:r>
              <a:rPr lang="en-US" altLang="zh-CN" dirty="0"/>
              <a:t>360</a:t>
            </a:r>
            <a:r>
              <a:rPr lang="zh-CN" altLang="en-US" dirty="0"/>
              <a:t>计算机、</a:t>
            </a:r>
            <a:r>
              <a:rPr lang="en-US" altLang="zh-CN" dirty="0"/>
              <a:t>1971</a:t>
            </a:r>
            <a:r>
              <a:rPr lang="zh-CN" altLang="en-US" dirty="0"/>
              <a:t>年</a:t>
            </a:r>
            <a:r>
              <a:rPr lang="en-US" altLang="zh-CN" dirty="0"/>
              <a:t>DEC</a:t>
            </a:r>
            <a:r>
              <a:rPr lang="zh-CN" altLang="en-US" dirty="0"/>
              <a:t>公司的</a:t>
            </a:r>
            <a:r>
              <a:rPr lang="en-US" altLang="zh-CN" dirty="0"/>
              <a:t>PDP-11</a:t>
            </a:r>
            <a:r>
              <a:rPr lang="zh-CN" altLang="en-US" dirty="0"/>
              <a:t>计算机，以及</a:t>
            </a:r>
            <a:r>
              <a:rPr lang="en-US" altLang="zh-CN" dirty="0"/>
              <a:t>1974</a:t>
            </a:r>
            <a:r>
              <a:rPr lang="zh-CN" altLang="en-US" dirty="0"/>
              <a:t>年</a:t>
            </a:r>
            <a:r>
              <a:rPr lang="en-US" altLang="zh-CN" dirty="0"/>
              <a:t>CRAY</a:t>
            </a:r>
            <a:r>
              <a:rPr lang="zh-CN" altLang="en-US" dirty="0"/>
              <a:t>公司的第一台向量计算机</a:t>
            </a:r>
            <a:r>
              <a:rPr lang="en-US" altLang="zh-CN" dirty="0"/>
              <a:t>CRAY-1</a:t>
            </a:r>
            <a:r>
              <a:rPr lang="zh-CN" altLang="en-US" dirty="0"/>
              <a:t>。与此同时，计算机类型开始出现多样化和系列化；微程序、流水线和并行性等技术也陆续被引入计算机设计中；软件技术与外部设备快速发展，应用领域不断扩大。</a:t>
            </a:r>
            <a:endParaRPr lang="en-US" altLang="zh-CN" dirty="0"/>
          </a:p>
          <a:p>
            <a:r>
              <a:rPr lang="en-US" altLang="zh-CN" dirty="0"/>
              <a:t>4</a:t>
            </a:r>
            <a:r>
              <a:rPr lang="zh-CN" altLang="en-US" dirty="0"/>
              <a:t>．超大规模集成电路计算机（</a:t>
            </a:r>
            <a:r>
              <a:rPr lang="en-US" altLang="zh-CN" dirty="0"/>
              <a:t>1971</a:t>
            </a:r>
            <a:r>
              <a:rPr lang="zh-CN" altLang="en-US" dirty="0"/>
              <a:t>年至今）</a:t>
            </a:r>
            <a:endParaRPr lang="en-US" altLang="zh-CN" dirty="0"/>
          </a:p>
          <a:p>
            <a:r>
              <a:rPr lang="zh-CN" altLang="en-US" dirty="0"/>
              <a:t>第四代计算机普遍采用了超大规模集成电路，以微处理器为特征，运算速度从</a:t>
            </a:r>
            <a:r>
              <a:rPr lang="en-US" altLang="zh-CN" dirty="0"/>
              <a:t>MIPS</a:t>
            </a:r>
            <a:r>
              <a:rPr lang="zh-CN" altLang="en-US" dirty="0"/>
              <a:t>（每秒</a:t>
            </a:r>
            <a:r>
              <a:rPr lang="en-US" altLang="zh-CN" dirty="0"/>
              <a:t>106</a:t>
            </a:r>
            <a:r>
              <a:rPr lang="zh-CN" altLang="en-US" dirty="0"/>
              <a:t>条指令）级提高到</a:t>
            </a:r>
            <a:r>
              <a:rPr lang="en-US" altLang="zh-CN" dirty="0"/>
              <a:t>GIPS</a:t>
            </a:r>
            <a:r>
              <a:rPr lang="zh-CN" altLang="en-US" dirty="0"/>
              <a:t>（每秒</a:t>
            </a:r>
            <a:r>
              <a:rPr lang="en-US" altLang="zh-CN" dirty="0"/>
              <a:t>10°</a:t>
            </a:r>
            <a:r>
              <a:rPr lang="zh-CN" altLang="en-US" dirty="0"/>
              <a:t>条指令）级甚至</a:t>
            </a:r>
            <a:r>
              <a:rPr lang="en-US" altLang="zh-CN" dirty="0"/>
              <a:t>TIPS</a:t>
            </a:r>
            <a:r>
              <a:rPr lang="zh-CN" altLang="en-US" dirty="0"/>
              <a:t>（每秒</a:t>
            </a:r>
            <a:r>
              <a:rPr lang="en-US" altLang="zh-CN" dirty="0"/>
              <a:t>101</a:t>
            </a:r>
            <a:r>
              <a:rPr lang="zh-CN" altLang="en-US" dirty="0"/>
              <a:t>条指令）水平。超大规模集成电路进一步减小了计算机的体积和功耗，提升了计算机的性能。</a:t>
            </a:r>
            <a:r>
              <a:rPr lang="en-US" altLang="zh-CN" dirty="0"/>
              <a:t>1981</a:t>
            </a:r>
            <a:r>
              <a:rPr lang="zh-CN" altLang="en-US" dirty="0"/>
              <a:t>年，采用</a:t>
            </a:r>
            <a:r>
              <a:rPr lang="en-US" altLang="zh-CN" dirty="0"/>
              <a:t>Intel 8086</a:t>
            </a:r>
            <a:r>
              <a:rPr lang="zh-CN" altLang="en-US" dirty="0"/>
              <a:t>系列芯片的</a:t>
            </a:r>
            <a:r>
              <a:rPr lang="en-US" altLang="zh-CN" dirty="0"/>
              <a:t>IBMPC</a:t>
            </a:r>
            <a:r>
              <a:rPr lang="zh-CN" altLang="en-US" dirty="0"/>
              <a:t>（</a:t>
            </a:r>
            <a:r>
              <a:rPr lang="en-US" altLang="zh-CN" dirty="0"/>
              <a:t>Person Computer</a:t>
            </a:r>
            <a:r>
              <a:rPr lang="zh-CN" altLang="en-US" dirty="0"/>
              <a:t>，个人计算机）诞生；计算机出现了精简指令系统计算机</a:t>
            </a:r>
            <a:r>
              <a:rPr lang="en-US" altLang="zh-CN" dirty="0"/>
              <a:t>RISC</a:t>
            </a:r>
            <a:r>
              <a:rPr lang="zh-CN" altLang="en-US" dirty="0"/>
              <a:t>（如</a:t>
            </a:r>
            <a:r>
              <a:rPr lang="en-US" altLang="zh-CN" dirty="0"/>
              <a:t>1985</a:t>
            </a:r>
            <a:r>
              <a:rPr lang="zh-CN" altLang="en-US" dirty="0"/>
              <a:t>年推出的</a:t>
            </a:r>
            <a:r>
              <a:rPr lang="en-US" altLang="zh-CN" dirty="0"/>
              <a:t>MIPS</a:t>
            </a:r>
            <a:r>
              <a:rPr lang="zh-CN" altLang="en-US" dirty="0"/>
              <a:t>机）和复杂指令系统计算机</a:t>
            </a:r>
            <a:r>
              <a:rPr lang="en-US" altLang="zh-CN" dirty="0"/>
              <a:t>CISC</a:t>
            </a:r>
            <a:r>
              <a:rPr lang="zh-CN" altLang="en-US" dirty="0"/>
              <a:t>（如</a:t>
            </a:r>
            <a:r>
              <a:rPr lang="en-US" altLang="zh-CN" dirty="0"/>
              <a:t>1978</a:t>
            </a:r>
            <a:r>
              <a:rPr lang="zh-CN" altLang="en-US" dirty="0"/>
              <a:t>年推出的</a:t>
            </a:r>
            <a:r>
              <a:rPr lang="en-US" altLang="zh-CN" dirty="0"/>
              <a:t>SPARC</a:t>
            </a:r>
            <a:r>
              <a:rPr lang="zh-CN" altLang="en-US" dirty="0"/>
              <a:t>）两个发展方向。与此同时，多机并行处理与网络化也成为这一时代计算机的重要特征，大规模并行处理系统、分布式系统、计算机网络的研究和实施进展迅速；系统软件的发展不仅实现了计算机运行的自动化，而且正在向工程化和智能化迈进。</a:t>
            </a:r>
          </a:p>
        </p:txBody>
      </p:sp>
      <p:sp>
        <p:nvSpPr>
          <p:cNvPr id="4" name="灯片编号占位符 3"/>
          <p:cNvSpPr>
            <a:spLocks noGrp="1"/>
          </p:cNvSpPr>
          <p:nvPr>
            <p:ph type="sldNum" sz="quarter" idx="5"/>
          </p:nvPr>
        </p:nvSpPr>
        <p:spPr/>
        <p:txBody>
          <a:bodyPr/>
          <a:lstStyle/>
          <a:p>
            <a:pPr>
              <a:defRPr/>
            </a:pPr>
            <a:fld id="{27995655-7F8E-4323-B5A9-22C9CB93AFA1}" type="slidenum">
              <a:rPr lang="zh-CN" altLang="en-US" smtClean="0"/>
              <a:pPr>
                <a:defRPr/>
              </a:pPr>
              <a:t>6</a:t>
            </a:fld>
            <a:endParaRPr lang="zh-CN" altLang="en-US"/>
          </a:p>
        </p:txBody>
      </p:sp>
    </p:spTree>
    <p:extLst>
      <p:ext uri="{BB962C8B-B14F-4D97-AF65-F5344CB8AC3E}">
        <p14:creationId xmlns:p14="http://schemas.microsoft.com/office/powerpoint/2010/main" val="1647986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1.1 </a:t>
            </a:r>
            <a:r>
              <a:rPr lang="zh-CN" altLang="en-US" dirty="0"/>
              <a:t>计算机发展历程</a:t>
            </a:r>
            <a:endParaRPr lang="en-US" altLang="zh-CN" dirty="0"/>
          </a:p>
          <a:p>
            <a:r>
              <a:rPr lang="zh-CN" altLang="en-US" dirty="0"/>
              <a:t>计算机是一种能够按照事先存储的程序，自动、高速、准确地对相关信息进行处理的电子设备。从数据表示来看，计算机可分为数字计算机和模拟计算机。</a:t>
            </a:r>
            <a:endParaRPr lang="en-US" altLang="zh-CN" dirty="0"/>
          </a:p>
          <a:p>
            <a:r>
              <a:rPr lang="zh-CN" altLang="en-US" dirty="0"/>
              <a:t>今天的计算机以数字计算机为主，本书的主要研究对象也是数字计算机。</a:t>
            </a:r>
            <a:endParaRPr lang="en-US" altLang="zh-CN" dirty="0"/>
          </a:p>
          <a:p>
            <a:r>
              <a:rPr lang="en-US" altLang="zh-CN" dirty="0"/>
              <a:t>1.1.1 </a:t>
            </a:r>
            <a:r>
              <a:rPr lang="zh-CN" altLang="en-US" dirty="0"/>
              <a:t>国外计算机发展概况</a:t>
            </a:r>
            <a:endParaRPr lang="en-US" altLang="zh-CN" dirty="0"/>
          </a:p>
          <a:p>
            <a:r>
              <a:rPr lang="en-US" altLang="zh-CN" dirty="0"/>
              <a:t>1946</a:t>
            </a:r>
            <a:r>
              <a:rPr lang="zh-CN" altLang="en-US" dirty="0"/>
              <a:t>年</a:t>
            </a:r>
            <a:r>
              <a:rPr lang="en-US" altLang="zh-CN" dirty="0"/>
              <a:t>2</a:t>
            </a:r>
            <a:r>
              <a:rPr lang="zh-CN" altLang="en-US" dirty="0"/>
              <a:t>月，电子数字计算机</a:t>
            </a:r>
            <a:r>
              <a:rPr lang="en-US" altLang="zh-CN" dirty="0"/>
              <a:t>ENIAC</a:t>
            </a:r>
            <a:r>
              <a:rPr lang="zh-CN" altLang="en-US" dirty="0"/>
              <a:t>（</a:t>
            </a:r>
            <a:r>
              <a:rPr lang="en-US" altLang="zh-CN" dirty="0"/>
              <a:t>Electronic Numerical Integrator And Computer</a:t>
            </a:r>
            <a:r>
              <a:rPr lang="zh-CN" altLang="en-US" dirty="0"/>
              <a:t>，电子数字积分计算机）在美国宾夕法尼亚大学诞生，它标志着科学技术的发展进入了新的时代</a:t>
            </a:r>
            <a:r>
              <a:rPr lang="en-US" altLang="zh-CN" dirty="0"/>
              <a:t>-</a:t>
            </a:r>
            <a:r>
              <a:rPr lang="zh-CN" altLang="en-US" dirty="0"/>
              <a:t>电子计算机时代。从电子计算机的诞生到现在，这</a:t>
            </a:r>
            <a:r>
              <a:rPr lang="en-US" altLang="zh-CN" dirty="0"/>
              <a:t>70</a:t>
            </a:r>
            <a:r>
              <a:rPr lang="zh-CN" altLang="en-US" dirty="0"/>
              <a:t>多年的时间里，计算机的发展经历了以下</a:t>
            </a:r>
            <a:r>
              <a:rPr lang="en-US" altLang="zh-CN" dirty="0"/>
              <a:t>4</a:t>
            </a:r>
            <a:r>
              <a:rPr lang="zh-CN" altLang="en-US" dirty="0"/>
              <a:t>个阶段。</a:t>
            </a:r>
            <a:endParaRPr lang="en-US" altLang="zh-CN" dirty="0"/>
          </a:p>
          <a:p>
            <a:r>
              <a:rPr lang="en-US" altLang="zh-CN" dirty="0"/>
              <a:t>1</a:t>
            </a:r>
            <a:r>
              <a:rPr lang="zh-CN" altLang="en-US" dirty="0"/>
              <a:t>．电子管计算机（</a:t>
            </a:r>
            <a:r>
              <a:rPr lang="en-US" altLang="zh-CN" dirty="0"/>
              <a:t>1946-1958</a:t>
            </a:r>
            <a:r>
              <a:rPr lang="zh-CN" altLang="en-US" dirty="0"/>
              <a:t>年）</a:t>
            </a:r>
            <a:endParaRPr lang="en-US" altLang="zh-CN" dirty="0"/>
          </a:p>
          <a:p>
            <a:r>
              <a:rPr lang="zh-CN" altLang="en-US" dirty="0"/>
              <a:t>第一代计算机的基本电子器件为电子管。其主存先后采用水银延迟线、磁鼓、磁芯，存储容量只有几千个存储单元，运算速度为每秒几千次至几万次。输入输出设备为穿孔卡片或穿孔纸带。第一代计算机体积大、功耗高、可靠性较差，主要应用于科学计算，编程语言为机器语言。</a:t>
            </a:r>
            <a:r>
              <a:rPr lang="en-US" altLang="zh-CN" dirty="0"/>
              <a:t>2</a:t>
            </a:r>
            <a:r>
              <a:rPr lang="zh-CN" altLang="en-US" dirty="0"/>
              <a:t>．晶体管计算机（</a:t>
            </a:r>
            <a:r>
              <a:rPr lang="en-US" altLang="zh-CN" dirty="0"/>
              <a:t>1958-1964</a:t>
            </a:r>
            <a:r>
              <a:rPr lang="zh-CN" altLang="en-US" dirty="0"/>
              <a:t>年）</a:t>
            </a:r>
            <a:endParaRPr lang="en-US" altLang="zh-CN" dirty="0"/>
          </a:p>
          <a:p>
            <a:r>
              <a:rPr lang="zh-CN" altLang="en-US" dirty="0"/>
              <a:t>第二代计算机的基本电子器件为晶体管。其主存采用磁芯存储器，存储容量增至</a:t>
            </a:r>
            <a:r>
              <a:rPr lang="en-US" altLang="zh-CN" dirty="0"/>
              <a:t>10</a:t>
            </a:r>
            <a:r>
              <a:rPr lang="zh-CN" altLang="en-US" dirty="0"/>
              <a:t>万个存储单元以上，磁鼓、磁盘被用作辅助存储器（辅存），输入输出设备为穿孔卡片或打印机，运算速度为每秒数十万次到数百万次。相对于电子管计算机，其体积和功耗均有明显减小。其应用领域从科学计算扩展到数据处理，编程语言主要是汇编语言，并开始使用</a:t>
            </a:r>
            <a:r>
              <a:rPr lang="en-US" altLang="zh-CN" dirty="0"/>
              <a:t>FORTRAN</a:t>
            </a:r>
            <a:r>
              <a:rPr lang="zh-CN" altLang="en-US" dirty="0"/>
              <a:t>、</a:t>
            </a:r>
            <a:r>
              <a:rPr lang="en-US" altLang="zh-CN" dirty="0"/>
              <a:t>COBOL</a:t>
            </a:r>
            <a:r>
              <a:rPr lang="zh-CN" altLang="en-US" dirty="0"/>
              <a:t>和</a:t>
            </a:r>
            <a:r>
              <a:rPr lang="en-US" altLang="zh-CN" dirty="0"/>
              <a:t>ALGOL</a:t>
            </a:r>
            <a:r>
              <a:rPr lang="zh-CN" altLang="en-US" dirty="0"/>
              <a:t>等高级语言。</a:t>
            </a:r>
            <a:endParaRPr lang="en-US" altLang="zh-CN" dirty="0"/>
          </a:p>
          <a:p>
            <a:r>
              <a:rPr lang="en-US" altLang="zh-CN" dirty="0"/>
              <a:t>3</a:t>
            </a:r>
            <a:r>
              <a:rPr lang="zh-CN" altLang="en-US" dirty="0"/>
              <a:t>．集成电路计算机（</a:t>
            </a:r>
            <a:r>
              <a:rPr lang="en-US" altLang="zh-CN" dirty="0"/>
              <a:t>1964-1971</a:t>
            </a:r>
            <a:r>
              <a:rPr lang="zh-CN" altLang="en-US" dirty="0"/>
              <a:t>年）</a:t>
            </a:r>
            <a:endParaRPr lang="en-US" altLang="zh-CN" dirty="0"/>
          </a:p>
          <a:p>
            <a:r>
              <a:rPr lang="zh-CN" altLang="en-US" dirty="0"/>
              <a:t>第三代计算机的基本电子器件普遍采用集成电路。其主存采用半导体存储器，以磁盘为辅存，主存和辅存容量显著增加，出现了键盘、鼠标、显示器等外部设备，操作系统得到广泛应用。计算机运算速度一般为每秒数百万次至数千万次。计算机的体积和功耗均显著减小，可靠性大大提高。在此期间，出现了向大型和小型两极发展的趋势，典型的有</a:t>
            </a:r>
            <a:r>
              <a:rPr lang="en-US" altLang="zh-CN" dirty="0"/>
              <a:t>1964</a:t>
            </a:r>
            <a:r>
              <a:rPr lang="zh-CN" altLang="en-US" dirty="0"/>
              <a:t>年</a:t>
            </a:r>
            <a:r>
              <a:rPr lang="en-US" altLang="zh-CN" dirty="0"/>
              <a:t>IBM</a:t>
            </a:r>
            <a:r>
              <a:rPr lang="zh-CN" altLang="en-US" dirty="0"/>
              <a:t>公司的</a:t>
            </a:r>
            <a:r>
              <a:rPr lang="en-US" altLang="zh-CN" dirty="0"/>
              <a:t>360</a:t>
            </a:r>
            <a:r>
              <a:rPr lang="zh-CN" altLang="en-US" dirty="0"/>
              <a:t>计</a:t>
            </a:r>
          </a:p>
        </p:txBody>
      </p:sp>
      <p:sp>
        <p:nvSpPr>
          <p:cNvPr id="4" name="灯片编号占位符 3"/>
          <p:cNvSpPr>
            <a:spLocks noGrp="1"/>
          </p:cNvSpPr>
          <p:nvPr>
            <p:ph type="sldNum" sz="quarter" idx="5"/>
          </p:nvPr>
        </p:nvSpPr>
        <p:spPr/>
        <p:txBody>
          <a:bodyPr/>
          <a:lstStyle/>
          <a:p>
            <a:pPr>
              <a:defRPr/>
            </a:pPr>
            <a:fld id="{27995655-7F8E-4323-B5A9-22C9CB93AFA1}" type="slidenum">
              <a:rPr lang="zh-CN" altLang="en-US" smtClean="0"/>
              <a:pPr>
                <a:defRPr/>
              </a:pPr>
              <a:t>7</a:t>
            </a:fld>
            <a:endParaRPr lang="zh-CN" altLang="en-US"/>
          </a:p>
        </p:txBody>
      </p:sp>
    </p:spTree>
    <p:extLst>
      <p:ext uri="{BB962C8B-B14F-4D97-AF65-F5344CB8AC3E}">
        <p14:creationId xmlns:p14="http://schemas.microsoft.com/office/powerpoint/2010/main" val="1752007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995655-7F8E-4323-B5A9-22C9CB93AFA1}" type="slidenum">
              <a:rPr lang="zh-CN" altLang="en-US" smtClean="0"/>
              <a:pPr>
                <a:defRPr/>
              </a:pPr>
              <a:t>8</a:t>
            </a:fld>
            <a:endParaRPr lang="zh-CN" altLang="en-US"/>
          </a:p>
        </p:txBody>
      </p:sp>
    </p:spTree>
    <p:extLst>
      <p:ext uri="{BB962C8B-B14F-4D97-AF65-F5344CB8AC3E}">
        <p14:creationId xmlns:p14="http://schemas.microsoft.com/office/powerpoint/2010/main" val="712484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9</a:t>
            </a:fld>
            <a:endParaRPr lang="zh-CN" altLang="en-US"/>
          </a:p>
        </p:txBody>
      </p:sp>
    </p:spTree>
    <p:extLst>
      <p:ext uri="{BB962C8B-B14F-4D97-AF65-F5344CB8AC3E}">
        <p14:creationId xmlns:p14="http://schemas.microsoft.com/office/powerpoint/2010/main" val="3712213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10</a:t>
            </a:fld>
            <a:endParaRPr lang="zh-CN" altLang="en-US"/>
          </a:p>
        </p:txBody>
      </p:sp>
    </p:spTree>
    <p:extLst>
      <p:ext uri="{BB962C8B-B14F-4D97-AF65-F5344CB8AC3E}">
        <p14:creationId xmlns:p14="http://schemas.microsoft.com/office/powerpoint/2010/main" val="2087512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995655-7F8E-4323-B5A9-22C9CB93AFA1}" type="slidenum">
              <a:rPr lang="zh-CN" altLang="en-US" smtClean="0"/>
              <a:pPr>
                <a:defRPr/>
              </a:pPr>
              <a:t>11</a:t>
            </a:fld>
            <a:endParaRPr lang="zh-CN" altLang="en-US"/>
          </a:p>
        </p:txBody>
      </p:sp>
    </p:spTree>
    <p:extLst>
      <p:ext uri="{BB962C8B-B14F-4D97-AF65-F5344CB8AC3E}">
        <p14:creationId xmlns:p14="http://schemas.microsoft.com/office/powerpoint/2010/main" val="1266936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1965</a:t>
            </a:r>
            <a:r>
              <a:rPr lang="zh-CN" altLang="en-US" dirty="0"/>
              <a:t>年，</a:t>
            </a:r>
            <a:r>
              <a:rPr lang="en-US" altLang="zh-CN" dirty="0"/>
              <a:t>Intel</a:t>
            </a:r>
            <a:r>
              <a:rPr lang="zh-CN" altLang="en-US" dirty="0"/>
              <a:t>创始人之一戈登</a:t>
            </a:r>
            <a:r>
              <a:rPr lang="en-US" altLang="zh-CN" dirty="0"/>
              <a:t>·</a:t>
            </a:r>
            <a:r>
              <a:rPr lang="zh-CN" altLang="en-US" dirty="0"/>
              <a:t>摩尔（</a:t>
            </a:r>
            <a:r>
              <a:rPr lang="en-US" altLang="zh-CN" dirty="0"/>
              <a:t>Gordon Moore</a:t>
            </a:r>
            <a:r>
              <a:rPr lang="zh-CN" altLang="en-US" dirty="0"/>
              <a:t>）在</a:t>
            </a:r>
            <a:r>
              <a:rPr lang="en-US" altLang="zh-CN" dirty="0"/>
              <a:t>Cramming More Components onto Integrated Circuits</a:t>
            </a:r>
            <a:r>
              <a:rPr lang="zh-CN" altLang="en-US" dirty="0"/>
              <a:t>一文中对集成电路上可容纳的晶体管数目、性能和价格等发展趋势进行了预测，其主要内容可概括为：“当价格不变时，集成电路上可容纳的晶体管数量大约</a:t>
            </a:r>
            <a:r>
              <a:rPr lang="en-US" altLang="zh-CN" dirty="0"/>
              <a:t>18</a:t>
            </a:r>
            <a:r>
              <a:rPr lang="zh-CN" altLang="en-US" dirty="0"/>
              <a:t>～</a:t>
            </a:r>
            <a:r>
              <a:rPr lang="en-US" altLang="zh-CN" dirty="0"/>
              <a:t>24</a:t>
            </a:r>
            <a:r>
              <a:rPr lang="zh-CN" altLang="en-US" dirty="0"/>
              <a:t>个月翻一番，性能也将提升一倍。”这就是著名的摩尔定律。摩尔定律已被集成电路</a:t>
            </a:r>
            <a:r>
              <a:rPr lang="en-US" altLang="zh-CN" dirty="0"/>
              <a:t>40</a:t>
            </a:r>
            <a:r>
              <a:rPr lang="zh-CN" altLang="en-US" dirty="0"/>
              <a:t>多年的发展历史准确无误地验证。近年来由于工艺和技术的发展，半导体工艺已接近集成电路极限，集成电路的发展开始逐渐偏离摩尔定律的预测，从</a:t>
            </a:r>
            <a:r>
              <a:rPr lang="en-US" altLang="zh-CN" dirty="0"/>
              <a:t>2013</a:t>
            </a:r>
            <a:r>
              <a:rPr lang="zh-CN" altLang="en-US" dirty="0"/>
              <a:t>年开始逐步放缓至</a:t>
            </a:r>
            <a:r>
              <a:rPr lang="en-US" altLang="zh-CN" dirty="0"/>
              <a:t>3</a:t>
            </a:r>
            <a:r>
              <a:rPr lang="zh-CN" altLang="en-US" dirty="0"/>
              <a:t>年翻一番，摩尔定律放缓已成了行业的共识。但这些都不能否定摩尔定律的深远影响和巨大贡献。摩尔定律的意义和影响表现在：（</a:t>
            </a:r>
            <a:r>
              <a:rPr lang="en-US" altLang="zh-CN" dirty="0"/>
              <a:t>1</a:t>
            </a:r>
            <a:r>
              <a:rPr lang="zh-CN" altLang="en-US" dirty="0"/>
              <a:t>）单个芯片集成度提高后，其成本变化不大，因此总体成本明显下降；（</a:t>
            </a:r>
            <a:r>
              <a:rPr lang="en-US" altLang="zh-CN" dirty="0"/>
              <a:t>2</a:t>
            </a:r>
            <a:r>
              <a:rPr lang="zh-CN" altLang="en-US" dirty="0"/>
              <a:t>）高集成度的芯片中，电路间的距离更近，其连线更短，工作速度可以更高；（</a:t>
            </a:r>
            <a:r>
              <a:rPr lang="en-US" altLang="zh-CN" dirty="0"/>
              <a:t>3</a:t>
            </a:r>
            <a:r>
              <a:rPr lang="zh-CN" altLang="en-US" dirty="0"/>
              <a:t>）增加了芯片内部的连线，从而减少了外部连线，可靠性得以提高；（</a:t>
            </a:r>
            <a:r>
              <a:rPr lang="en-US" altLang="zh-CN" dirty="0"/>
              <a:t>4</a:t>
            </a:r>
            <a:r>
              <a:rPr lang="zh-CN" altLang="en-US" dirty="0"/>
              <a:t>）计算机体积越来越小，减少了电能的消耗，适应性更好。</a:t>
            </a:r>
          </a:p>
        </p:txBody>
      </p:sp>
      <p:sp>
        <p:nvSpPr>
          <p:cNvPr id="4" name="灯片编号占位符 3"/>
          <p:cNvSpPr>
            <a:spLocks noGrp="1"/>
          </p:cNvSpPr>
          <p:nvPr>
            <p:ph type="sldNum" sz="quarter" idx="5"/>
          </p:nvPr>
        </p:nvSpPr>
        <p:spPr/>
        <p:txBody>
          <a:bodyPr/>
          <a:lstStyle/>
          <a:p>
            <a:pPr>
              <a:defRPr/>
            </a:pPr>
            <a:fld id="{27995655-7F8E-4323-B5A9-22C9CB93AFA1}" type="slidenum">
              <a:rPr lang="zh-CN" altLang="en-US" smtClean="0"/>
              <a:pPr>
                <a:defRPr/>
              </a:pPr>
              <a:t>12</a:t>
            </a:fld>
            <a:endParaRPr lang="zh-CN" altLang="en-US"/>
          </a:p>
        </p:txBody>
      </p:sp>
    </p:spTree>
    <p:extLst>
      <p:ext uri="{BB962C8B-B14F-4D97-AF65-F5344CB8AC3E}">
        <p14:creationId xmlns:p14="http://schemas.microsoft.com/office/powerpoint/2010/main" val="227669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13</a:t>
            </a:fld>
            <a:endParaRPr lang="zh-CN" altLang="en-US"/>
          </a:p>
        </p:txBody>
      </p:sp>
    </p:spTree>
    <p:extLst>
      <p:ext uri="{BB962C8B-B14F-4D97-AF65-F5344CB8AC3E}">
        <p14:creationId xmlns:p14="http://schemas.microsoft.com/office/powerpoint/2010/main" val="3038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集成电路工艺发展概况</a:t>
            </a:r>
            <a:endParaRPr lang="en-US" altLang="zh-CN" dirty="0"/>
          </a:p>
          <a:p>
            <a:r>
              <a:rPr lang="zh-CN" altLang="en-US" dirty="0"/>
              <a:t>集成电路生产主要分为</a:t>
            </a:r>
            <a:r>
              <a:rPr lang="en-US" altLang="zh-CN" dirty="0"/>
              <a:t>IC</a:t>
            </a:r>
            <a:r>
              <a:rPr lang="zh-CN" altLang="en-US" dirty="0"/>
              <a:t>设计、</a:t>
            </a:r>
            <a:r>
              <a:rPr lang="en-US" altLang="zh-CN" dirty="0"/>
              <a:t>IC</a:t>
            </a:r>
            <a:r>
              <a:rPr lang="zh-CN" altLang="en-US" dirty="0"/>
              <a:t>制造和</a:t>
            </a:r>
            <a:r>
              <a:rPr lang="en-US" altLang="zh-CN" dirty="0"/>
              <a:t>IC</a:t>
            </a:r>
            <a:r>
              <a:rPr lang="zh-CN" altLang="en-US" dirty="0"/>
              <a:t>封测三大环节。</a:t>
            </a:r>
            <a:endParaRPr lang="en-US" altLang="zh-CN" dirty="0"/>
          </a:p>
          <a:p>
            <a:r>
              <a:rPr lang="en-US" altLang="zh-CN" dirty="0"/>
              <a:t>IC</a:t>
            </a:r>
            <a:r>
              <a:rPr lang="zh-CN" altLang="en-US" dirty="0"/>
              <a:t>设计主要根据芯片的设计目的进行逻辑设计和规则制定，并根据设计图制作掩模以供后续光刻阶段使用；</a:t>
            </a:r>
            <a:endParaRPr lang="en-US" altLang="zh-CN" dirty="0"/>
          </a:p>
          <a:p>
            <a:r>
              <a:rPr lang="en-US" altLang="zh-CN" dirty="0"/>
              <a:t>IC</a:t>
            </a:r>
            <a:r>
              <a:rPr lang="zh-CN" altLang="en-US" dirty="0"/>
              <a:t>制造将芯片电路图从掩模转移至晶圆上，实现预定的芯片功能，包括光刻、刻蚀、离子注入、薄膜沉积、化学机械研磨等步骤；</a:t>
            </a:r>
            <a:endParaRPr lang="en-US" altLang="zh-CN" dirty="0"/>
          </a:p>
          <a:p>
            <a:r>
              <a:rPr lang="en-US" altLang="zh-CN" dirty="0"/>
              <a:t>IC</a:t>
            </a:r>
            <a:r>
              <a:rPr lang="zh-CN" altLang="en-US" dirty="0"/>
              <a:t>封测完成对芯片的封装和性能、功能的测试。</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14</a:t>
            </a:fld>
            <a:endParaRPr lang="zh-CN" altLang="en-US"/>
          </a:p>
        </p:txBody>
      </p:sp>
    </p:spTree>
    <p:extLst>
      <p:ext uri="{BB962C8B-B14F-4D97-AF65-F5344CB8AC3E}">
        <p14:creationId xmlns:p14="http://schemas.microsoft.com/office/powerpoint/2010/main" val="3094980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集成电路工艺发展概况</a:t>
            </a:r>
            <a:endParaRPr lang="en-US" altLang="zh-CN" dirty="0"/>
          </a:p>
          <a:p>
            <a:r>
              <a:rPr lang="zh-CN" altLang="en-US" dirty="0"/>
              <a:t>集成电路生产主要分为</a:t>
            </a:r>
            <a:r>
              <a:rPr lang="en-US" altLang="zh-CN" dirty="0"/>
              <a:t>IC</a:t>
            </a:r>
            <a:r>
              <a:rPr lang="zh-CN" altLang="en-US" dirty="0"/>
              <a:t>设计、</a:t>
            </a:r>
            <a:r>
              <a:rPr lang="en-US" altLang="zh-CN" dirty="0"/>
              <a:t>IC</a:t>
            </a:r>
            <a:r>
              <a:rPr lang="zh-CN" altLang="en-US" dirty="0"/>
              <a:t>制造和</a:t>
            </a:r>
            <a:r>
              <a:rPr lang="en-US" altLang="zh-CN" dirty="0"/>
              <a:t>IC</a:t>
            </a:r>
            <a:r>
              <a:rPr lang="zh-CN" altLang="en-US" dirty="0"/>
              <a:t>封测三大环节。</a:t>
            </a:r>
            <a:endParaRPr lang="en-US" altLang="zh-CN" dirty="0"/>
          </a:p>
          <a:p>
            <a:r>
              <a:rPr lang="en-US" altLang="zh-CN" dirty="0"/>
              <a:t>IC</a:t>
            </a:r>
            <a:r>
              <a:rPr lang="zh-CN" altLang="en-US" dirty="0"/>
              <a:t>设计主要根据芯片的设计目的进行逻辑设计和规则制定，并根据设计图制作掩模以供后续光刻阶段使用；</a:t>
            </a:r>
            <a:endParaRPr lang="en-US" altLang="zh-CN" dirty="0"/>
          </a:p>
          <a:p>
            <a:r>
              <a:rPr lang="en-US" altLang="zh-CN" dirty="0"/>
              <a:t>IC</a:t>
            </a:r>
            <a:r>
              <a:rPr lang="zh-CN" altLang="en-US" dirty="0"/>
              <a:t>制造将芯片电路图从掩模转移至晶圆上，实现预定的芯片功能，包括光刻、刻蚀、离子注入、薄膜沉积、化学机械研磨等步骤；</a:t>
            </a:r>
            <a:endParaRPr lang="en-US" altLang="zh-CN" dirty="0"/>
          </a:p>
          <a:p>
            <a:r>
              <a:rPr lang="en-US" altLang="zh-CN" dirty="0"/>
              <a:t>IC</a:t>
            </a:r>
            <a:r>
              <a:rPr lang="zh-CN" altLang="en-US" dirty="0"/>
              <a:t>封测完成对芯片的封装和性能、功能的测试。</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15</a:t>
            </a:fld>
            <a:endParaRPr lang="zh-CN" altLang="en-US"/>
          </a:p>
        </p:txBody>
      </p:sp>
    </p:spTree>
    <p:extLst>
      <p:ext uri="{BB962C8B-B14F-4D97-AF65-F5344CB8AC3E}">
        <p14:creationId xmlns:p14="http://schemas.microsoft.com/office/powerpoint/2010/main" val="1314966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光刻是半导体芯片生产流程中最复杂、最关键的工艺步骤，耗时长、成本高。光刻的工艺水平直接决定芯片的制程水平和性能。基本光刻工艺流程有：清洗、前烘、底胶、软烘、曝光、显影、坚膜、刻蚀和去胶。光刻的基本原理是在硅片表面覆盖一层具有高度光敏感性的光刻胶，再用紫外光透过掩模照射到晶圆表面，被光线照射到的光刻胶会发生反应，通过蚀刻曝光或未受曝光的部分来形成沟槽，然后进行沉积、蚀刻、掺杂等操作，架构出不同材质的线路，生成基础轮廓，从而实现半导体器件在晶圆表面的构建过程。光刻工艺贯穿半导体器件和集成电路制造工艺的始终，当代超大规模集成电路的制造需要几十次乃至上百次的光刻才能完成。</a:t>
            </a:r>
            <a:endParaRPr lang="en-US" altLang="zh-CN" dirty="0"/>
          </a:p>
          <a:p>
            <a:endParaRPr lang="en-US" altLang="zh-CN" dirty="0"/>
          </a:p>
          <a:p>
            <a:r>
              <a:rPr lang="zh-CN" altLang="en-US" dirty="0"/>
              <a:t>光刻的最小线条尺寸是其发展水平的重要标志。受光衍射的制约，任何一台光刻机所能刻制的最小尺寸，基本上都与它所用光源的波长成正比。科学家们发明了诸如浸入式光刻、相位掩模等技术来克服光衍射的影响。晶体管制程工艺中的关键指标是指晶体管栅极的最小线宽，随着光刻技术的发展，晶体管制程工艺经历了</a:t>
            </a:r>
            <a:r>
              <a:rPr lang="en-US" altLang="zh-CN" dirty="0"/>
              <a:t>130nm</a:t>
            </a:r>
            <a:r>
              <a:rPr lang="zh-CN" altLang="en-US" dirty="0"/>
              <a:t>、</a:t>
            </a:r>
            <a:r>
              <a:rPr lang="en-US" altLang="zh-CN" dirty="0"/>
              <a:t>90nm</a:t>
            </a:r>
            <a:r>
              <a:rPr lang="zh-CN" altLang="en-US" dirty="0"/>
              <a:t>、</a:t>
            </a:r>
            <a:r>
              <a:rPr lang="en-US" altLang="zh-CN" dirty="0"/>
              <a:t>65nm</a:t>
            </a:r>
            <a:r>
              <a:rPr lang="zh-CN" altLang="en-US" dirty="0"/>
              <a:t>、</a:t>
            </a:r>
            <a:r>
              <a:rPr lang="en-US" altLang="zh-CN" dirty="0"/>
              <a:t>45nm</a:t>
            </a:r>
            <a:r>
              <a:rPr lang="zh-CN" altLang="en-US" dirty="0"/>
              <a:t>、</a:t>
            </a:r>
            <a:r>
              <a:rPr lang="en-US" altLang="zh-CN" dirty="0"/>
              <a:t>32nm</a:t>
            </a:r>
            <a:r>
              <a:rPr lang="zh-CN" altLang="en-US" dirty="0"/>
              <a:t>、</a:t>
            </a:r>
            <a:r>
              <a:rPr lang="en-US" altLang="zh-CN" dirty="0"/>
              <a:t>28nm</a:t>
            </a:r>
            <a:r>
              <a:rPr lang="zh-CN" altLang="en-US" dirty="0"/>
              <a:t>、</a:t>
            </a:r>
            <a:r>
              <a:rPr lang="en-US" altLang="zh-CN" dirty="0"/>
              <a:t>22nm</a:t>
            </a:r>
            <a:r>
              <a:rPr lang="zh-CN" altLang="en-US" dirty="0"/>
              <a:t>、</a:t>
            </a:r>
            <a:r>
              <a:rPr lang="en-US" altLang="zh-CN" dirty="0"/>
              <a:t>14nm</a:t>
            </a:r>
            <a:r>
              <a:rPr lang="zh-CN" altLang="en-US" dirty="0"/>
              <a:t>、</a:t>
            </a:r>
            <a:r>
              <a:rPr lang="en-US" altLang="zh-CN" dirty="0"/>
              <a:t>10nm</a:t>
            </a:r>
            <a:r>
              <a:rPr lang="zh-CN" altLang="en-US" dirty="0"/>
              <a:t>、</a:t>
            </a:r>
            <a:r>
              <a:rPr lang="en-US" altLang="zh-CN" dirty="0"/>
              <a:t>7nm</a:t>
            </a:r>
            <a:r>
              <a:rPr lang="zh-CN" altLang="en-US" dirty="0"/>
              <a:t>、</a:t>
            </a:r>
            <a:r>
              <a:rPr lang="en-US" altLang="zh-CN" dirty="0"/>
              <a:t>5nm</a:t>
            </a:r>
            <a:r>
              <a:rPr lang="zh-CN" altLang="en-US" dirty="0"/>
              <a:t>等阶段。目前高端光刻机技术被荷兰</a:t>
            </a:r>
            <a:r>
              <a:rPr lang="en-US" altLang="zh-CN" dirty="0"/>
              <a:t>ASML</a:t>
            </a:r>
            <a:r>
              <a:rPr lang="zh-CN" altLang="en-US" dirty="0"/>
              <a:t>公司垄断，中国的上海微电子装备（集团）有限公司目前只能制造</a:t>
            </a:r>
            <a:r>
              <a:rPr lang="en-US" altLang="zh-CN" dirty="0"/>
              <a:t>90nm</a:t>
            </a:r>
            <a:r>
              <a:rPr lang="zh-CN" altLang="en-US" dirty="0"/>
              <a:t>制程的光刻机，预计下一代是</a:t>
            </a:r>
            <a:r>
              <a:rPr lang="en-US" altLang="zh-CN" dirty="0"/>
              <a:t>28nm</a:t>
            </a:r>
            <a:r>
              <a:rPr lang="zh-CN" altLang="en-US" dirty="0"/>
              <a:t>，但这和最新的</a:t>
            </a:r>
            <a:r>
              <a:rPr lang="en-US" altLang="zh-CN" dirty="0"/>
              <a:t>5nm</a:t>
            </a:r>
            <a:r>
              <a:rPr lang="zh-CN" altLang="en-US" dirty="0"/>
              <a:t>制程工艺相比还有巨大的差距。晶体管制程水平越先进，三极管的体积越小，进入纳米级的量子尺寸时，经典物理学将会失效，三极管的漏电流问题成为难以解决的技术障碍，这也是摩尔定律放缓的主要原因。有效地提高晶体管开关响应速度、减少漏电流是目前晶体管制程工艺最大的挑战。</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16</a:t>
            </a:fld>
            <a:endParaRPr lang="zh-CN" altLang="en-US"/>
          </a:p>
        </p:txBody>
      </p:sp>
    </p:spTree>
    <p:extLst>
      <p:ext uri="{BB962C8B-B14F-4D97-AF65-F5344CB8AC3E}">
        <p14:creationId xmlns:p14="http://schemas.microsoft.com/office/powerpoint/2010/main" val="24894177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B783E-6F7A-BAE8-18F9-021D229B90D0}"/>
            </a:ext>
          </a:extLst>
        </p:cNvPr>
        <p:cNvGrpSpPr/>
        <p:nvPr/>
      </p:nvGrpSpPr>
      <p:grpSpPr>
        <a:xfrm>
          <a:off x="0" y="0"/>
          <a:ext cx="0" cy="0"/>
          <a:chOff x="0" y="0"/>
          <a:chExt cx="0" cy="0"/>
        </a:xfrm>
      </p:grpSpPr>
      <p:sp>
        <p:nvSpPr>
          <p:cNvPr id="64514" name="Rectangle 7">
            <a:extLst>
              <a:ext uri="{FF2B5EF4-FFF2-40B4-BE49-F238E27FC236}">
                <a16:creationId xmlns:a16="http://schemas.microsoft.com/office/drawing/2014/main" id="{26D439BA-18A8-52A2-1A12-441EE684A17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56F602C-53DC-40CF-B2BC-579DE0EF1E1E}" type="slidenum">
              <a:rPr lang="en-US" altLang="zh-CN" smtClean="0">
                <a:latin typeface="Arial" panose="020B0604020202020204" pitchFamily="34" charset="0"/>
              </a:rPr>
              <a:pPr>
                <a:spcBef>
                  <a:spcPct val="0"/>
                </a:spcBef>
              </a:pPr>
              <a:t>17</a:t>
            </a:fld>
            <a:endParaRPr lang="en-US" altLang="zh-CN">
              <a:latin typeface="Arial" panose="020B0604020202020204" pitchFamily="34" charset="0"/>
            </a:endParaRPr>
          </a:p>
        </p:txBody>
      </p:sp>
      <p:sp>
        <p:nvSpPr>
          <p:cNvPr id="64515" name="Rectangle 2">
            <a:extLst>
              <a:ext uri="{FF2B5EF4-FFF2-40B4-BE49-F238E27FC236}">
                <a16:creationId xmlns:a16="http://schemas.microsoft.com/office/drawing/2014/main" id="{09502C8C-662C-72FD-032D-0ECD0C4D815F}"/>
              </a:ext>
            </a:extLst>
          </p:cNvPr>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a:extLst>
              <a:ext uri="{FF2B5EF4-FFF2-40B4-BE49-F238E27FC236}">
                <a16:creationId xmlns:a16="http://schemas.microsoft.com/office/drawing/2014/main" id="{6ACB01C6-BE13-C998-3C94-D512DD253758}"/>
              </a:ext>
            </a:extLst>
          </p:cNvPr>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extLst>
      <p:ext uri="{BB962C8B-B14F-4D97-AF65-F5344CB8AC3E}">
        <p14:creationId xmlns:p14="http://schemas.microsoft.com/office/powerpoint/2010/main" val="3626055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19</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1118134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20</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21431908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21</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2248266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22</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effectLst/>
              </a:rPr>
              <a:t>1921</a:t>
            </a:r>
            <a:r>
              <a:rPr lang="zh-CN" altLang="en-US" dirty="0">
                <a:effectLst/>
              </a:rPr>
              <a:t>年，刚过</a:t>
            </a:r>
            <a:r>
              <a:rPr lang="en-US" altLang="zh-CN" dirty="0">
                <a:effectLst/>
              </a:rPr>
              <a:t>17</a:t>
            </a:r>
            <a:r>
              <a:rPr lang="zh-CN" altLang="en-US" dirty="0">
                <a:effectLst/>
              </a:rPr>
              <a:t>岁的冯</a:t>
            </a:r>
            <a:r>
              <a:rPr lang="en-US" altLang="zh-CN" dirty="0">
                <a:effectLst/>
              </a:rPr>
              <a:t>·</a:t>
            </a:r>
            <a:r>
              <a:rPr lang="zh-CN" altLang="en-US" dirty="0">
                <a:effectLst/>
              </a:rPr>
              <a:t>诺依曼在布达佩斯大学注册为数学方面的学生，但并不听课，只是每年按时参加考试，考试都得</a:t>
            </a:r>
            <a:r>
              <a:rPr lang="en-US" altLang="zh-CN" dirty="0">
                <a:effectLst/>
              </a:rPr>
              <a:t>A</a:t>
            </a:r>
            <a:r>
              <a:rPr lang="zh-CN" altLang="en-US" dirty="0">
                <a:effectLst/>
              </a:rPr>
              <a:t>。</a:t>
            </a:r>
          </a:p>
          <a:p>
            <a:r>
              <a:rPr lang="zh-CN" altLang="en-US" dirty="0">
                <a:effectLst/>
              </a:rPr>
              <a:t> </a:t>
            </a:r>
          </a:p>
          <a:p>
            <a:r>
              <a:rPr lang="zh-CN" altLang="en-US" dirty="0">
                <a:effectLst/>
              </a:rPr>
              <a:t>那么他在这个时间躲在宿舍里打游戏吗？否也！人家去了柏林大学（</a:t>
            </a:r>
            <a:r>
              <a:rPr lang="en-US" altLang="zh-CN" dirty="0">
                <a:effectLst/>
              </a:rPr>
              <a:t>1921</a:t>
            </a:r>
            <a:r>
              <a:rPr lang="zh-CN" altLang="en-US" dirty="0">
                <a:effectLst/>
              </a:rPr>
              <a:t>年），</a:t>
            </a:r>
            <a:r>
              <a:rPr lang="en-US" altLang="zh-CN" dirty="0">
                <a:effectLst/>
              </a:rPr>
              <a:t>1923</a:t>
            </a:r>
            <a:r>
              <a:rPr lang="zh-CN" altLang="en-US" dirty="0">
                <a:effectLst/>
              </a:rPr>
              <a:t>年又去了瑞士苏黎世联邦工业大学学习化学。</a:t>
            </a:r>
          </a:p>
          <a:p>
            <a:r>
              <a:rPr lang="zh-CN" altLang="en-US" dirty="0">
                <a:effectLst/>
              </a:rPr>
              <a:t> </a:t>
            </a:r>
          </a:p>
          <a:p>
            <a:r>
              <a:rPr lang="en-US" altLang="zh-CN" dirty="0">
                <a:effectLst/>
              </a:rPr>
              <a:t>1926</a:t>
            </a:r>
            <a:r>
              <a:rPr lang="zh-CN" altLang="en-US" dirty="0">
                <a:effectLst/>
              </a:rPr>
              <a:t>年他获得苏黎世联邦工业大学化学学位</a:t>
            </a:r>
            <a:r>
              <a:rPr lang="en-US" altLang="zh-CN" dirty="0">
                <a:effectLst/>
              </a:rPr>
              <a:t>(</a:t>
            </a:r>
            <a:r>
              <a:rPr lang="zh-CN" altLang="en-US" dirty="0">
                <a:effectLst/>
              </a:rPr>
              <a:t>本科吧</a:t>
            </a:r>
            <a:r>
              <a:rPr lang="en-US" altLang="zh-CN" dirty="0">
                <a:effectLst/>
              </a:rPr>
              <a:t>)</a:t>
            </a:r>
            <a:r>
              <a:rPr lang="zh-CN" altLang="en-US" dirty="0">
                <a:effectLst/>
              </a:rPr>
              <a:t>，但在每个学期期末回到布达佩斯大学课程考试，竟然也获得了布达佩斯大学数学博士学位。那布达佩斯大学数学博士特别水呢？</a:t>
            </a:r>
          </a:p>
          <a:p>
            <a:r>
              <a:rPr lang="zh-CN" altLang="en-US" dirty="0">
                <a:effectLst/>
              </a:rPr>
              <a:t> </a:t>
            </a:r>
          </a:p>
          <a:p>
            <a:r>
              <a:rPr lang="zh-CN" altLang="en-US" dirty="0">
                <a:effectLst/>
              </a:rPr>
              <a:t>冯</a:t>
            </a:r>
            <a:r>
              <a:rPr lang="en-US" altLang="zh-CN" dirty="0">
                <a:effectLst/>
              </a:rPr>
              <a:t>·</a:t>
            </a:r>
            <a:r>
              <a:rPr lang="zh-CN" altLang="en-US" dirty="0">
                <a:effectLst/>
              </a:rPr>
              <a:t>诺依曼本人就给出了否定的答案，因为他被誉为“现代计算机之父”、“博弈论之父”，是现代计算机、博弈论、核武器和生化武器等领域内的科学全才之一，是</a:t>
            </a:r>
            <a:r>
              <a:rPr lang="en-US" altLang="zh-CN" dirty="0">
                <a:effectLst/>
              </a:rPr>
              <a:t>20</a:t>
            </a:r>
            <a:r>
              <a:rPr lang="zh-CN" altLang="en-US" dirty="0">
                <a:effectLst/>
              </a:rPr>
              <a:t>世纪最重要的数学家之一，既是数学家、计算机科学家，也是物理学家。</a:t>
            </a:r>
          </a:p>
          <a:p>
            <a:r>
              <a:rPr lang="zh-CN" altLang="en-US" dirty="0">
                <a:effectLst/>
              </a:rPr>
              <a:t> </a:t>
            </a:r>
          </a:p>
          <a:p>
            <a:r>
              <a:rPr lang="zh-CN" altLang="en-US" dirty="0">
                <a:effectLst/>
              </a:rPr>
              <a:t>不过可惜的是，他的寿命不到</a:t>
            </a:r>
            <a:r>
              <a:rPr lang="en-US" altLang="zh-CN" dirty="0">
                <a:effectLst/>
              </a:rPr>
              <a:t>54</a:t>
            </a:r>
            <a:r>
              <a:rPr lang="zh-CN" altLang="en-US" dirty="0">
                <a:effectLst/>
              </a:rPr>
              <a:t>年，</a:t>
            </a:r>
            <a:r>
              <a:rPr lang="en-US" altLang="zh-CN" dirty="0">
                <a:effectLst/>
              </a:rPr>
              <a:t>1903</a:t>
            </a:r>
            <a:r>
              <a:rPr lang="zh-CN" altLang="en-US" dirty="0">
                <a:effectLst/>
              </a:rPr>
              <a:t>年</a:t>
            </a:r>
            <a:r>
              <a:rPr lang="en-US" altLang="zh-CN" dirty="0">
                <a:effectLst/>
              </a:rPr>
              <a:t>12</a:t>
            </a:r>
            <a:r>
              <a:rPr lang="zh-CN" altLang="en-US" dirty="0">
                <a:effectLst/>
              </a:rPr>
              <a:t>月</a:t>
            </a:r>
            <a:r>
              <a:rPr lang="en-US" altLang="zh-CN" dirty="0">
                <a:effectLst/>
              </a:rPr>
              <a:t>28</a:t>
            </a:r>
            <a:r>
              <a:rPr lang="zh-CN" altLang="en-US" dirty="0">
                <a:effectLst/>
              </a:rPr>
              <a:t>日出生，</a:t>
            </a:r>
            <a:r>
              <a:rPr lang="en-US" altLang="zh-CN" dirty="0">
                <a:effectLst/>
              </a:rPr>
              <a:t>1957</a:t>
            </a:r>
            <a:r>
              <a:rPr lang="zh-CN" altLang="en-US" dirty="0">
                <a:effectLst/>
              </a:rPr>
              <a:t>年</a:t>
            </a:r>
            <a:r>
              <a:rPr lang="en-US" altLang="zh-CN" dirty="0">
                <a:effectLst/>
              </a:rPr>
              <a:t>2</a:t>
            </a:r>
            <a:r>
              <a:rPr lang="zh-CN" altLang="en-US" dirty="0">
                <a:effectLst/>
              </a:rPr>
              <a:t>月</a:t>
            </a:r>
            <a:r>
              <a:rPr lang="en-US" altLang="zh-CN" dirty="0">
                <a:effectLst/>
              </a:rPr>
              <a:t>8</a:t>
            </a:r>
            <a:r>
              <a:rPr lang="zh-CN" altLang="en-US" dirty="0">
                <a:effectLst/>
              </a:rPr>
              <a:t>日去世。</a:t>
            </a:r>
          </a:p>
          <a:p>
            <a:pPr algn="just"/>
            <a:br>
              <a:rPr lang="zh-CN" altLang="en-US" dirty="0">
                <a:effectLst/>
              </a:rPr>
            </a:br>
            <a:r>
              <a:rPr lang="zh-CN" altLang="en-US" b="0" i="0" dirty="0">
                <a:effectLst/>
                <a:latin typeface="system-ui"/>
              </a:rPr>
              <a:t>下面的几则趣闻轶事便体现了这位天才的与众不同。</a:t>
            </a:r>
            <a:endParaRPr lang="en-US" altLang="zh-CN" b="0" i="0" dirty="0">
              <a:effectLst/>
              <a:latin typeface="system-ui"/>
            </a:endParaRPr>
          </a:p>
          <a:p>
            <a:pPr algn="just"/>
            <a:br>
              <a:rPr lang="zh-CN" altLang="en-US" b="0" i="0" dirty="0">
                <a:effectLst/>
                <a:latin typeface="system-ui"/>
              </a:rPr>
            </a:br>
            <a:endParaRPr lang="zh-CN" altLang="en-US" b="0" i="0" dirty="0">
              <a:effectLst/>
              <a:latin typeface="system-ui"/>
            </a:endParaRPr>
          </a:p>
          <a:p>
            <a:pPr algn="just"/>
            <a:r>
              <a:rPr lang="zh-CN" altLang="en-US" b="1" i="0" dirty="0">
                <a:effectLst/>
                <a:latin typeface="system-ui"/>
              </a:rPr>
              <a:t>级数求和也心算</a:t>
            </a:r>
            <a:endParaRPr lang="zh-CN" altLang="en-US" b="0" i="0" dirty="0">
              <a:effectLst/>
              <a:latin typeface="system-ui"/>
            </a:endParaRPr>
          </a:p>
          <a:p>
            <a:pPr algn="just"/>
            <a:br>
              <a:rPr lang="zh-CN" altLang="en-US" b="0" i="0" dirty="0">
                <a:effectLst/>
                <a:latin typeface="system-ui"/>
              </a:rPr>
            </a:br>
            <a:r>
              <a:rPr lang="zh-CN" altLang="en-US" b="0" i="0" dirty="0">
                <a:effectLst/>
                <a:latin typeface="system-ui"/>
              </a:rPr>
              <a:t>一次数学聚会上，一位年轻人兴冲冲地与他探讨科普大师马丁</a:t>
            </a:r>
            <a:r>
              <a:rPr lang="en-US" altLang="zh-CN" b="0" i="0" dirty="0">
                <a:effectLst/>
                <a:latin typeface="system-ui"/>
              </a:rPr>
              <a:t>·</a:t>
            </a:r>
            <a:r>
              <a:rPr lang="zh-CN" altLang="en-US" b="0" i="0" dirty="0">
                <a:effectLst/>
                <a:latin typeface="system-ui"/>
              </a:rPr>
              <a:t>加德纳编写的一道数学趣题：两个男孩各骑一辆自行车，从相距</a:t>
            </a:r>
            <a:r>
              <a:rPr lang="en-US" altLang="zh-CN" b="0" i="0" dirty="0">
                <a:effectLst/>
                <a:latin typeface="system-ui"/>
              </a:rPr>
              <a:t>32</a:t>
            </a:r>
            <a:r>
              <a:rPr lang="zh-CN" altLang="en-US" b="0" i="0" dirty="0">
                <a:effectLst/>
                <a:latin typeface="system-ui"/>
              </a:rPr>
              <a:t>千米的两地相向骑行。在他们起步的同时，一只停在自行车车把上的苍蝇，开始向另一辆自行车径直飞去。苍蝇一直飞，到达另一辆自行车的车把后又立即飞回。如此往返，直至两辆自行车相遇为止。如果两辆自行车都以每小时</a:t>
            </a:r>
            <a:r>
              <a:rPr lang="en-US" altLang="zh-CN" b="0" i="0" dirty="0">
                <a:effectLst/>
                <a:latin typeface="system-ui"/>
              </a:rPr>
              <a:t>16</a:t>
            </a:r>
            <a:r>
              <a:rPr lang="zh-CN" altLang="en-US" b="0" i="0" dirty="0">
                <a:effectLst/>
                <a:latin typeface="system-ui"/>
              </a:rPr>
              <a:t>千米的速度匀速前进，苍蝇以每小时</a:t>
            </a:r>
            <a:r>
              <a:rPr lang="en-US" altLang="zh-CN" b="0" i="0" dirty="0">
                <a:effectLst/>
                <a:latin typeface="system-ui"/>
              </a:rPr>
              <a:t>24</a:t>
            </a:r>
            <a:r>
              <a:rPr lang="zh-CN" altLang="en-US" b="0" i="0" dirty="0">
                <a:effectLst/>
                <a:latin typeface="system-ui"/>
              </a:rPr>
              <a:t>千米的速度匀速飞行，那么苍蝇总共飞行了多少千米？</a:t>
            </a:r>
          </a:p>
          <a:p>
            <a:pPr algn="just"/>
            <a:endParaRPr lang="zh-CN" altLang="en-US" b="0" i="0" dirty="0">
              <a:effectLst/>
              <a:latin typeface="system-ui"/>
            </a:endParaRPr>
          </a:p>
          <a:p>
            <a:pPr algn="just"/>
            <a:r>
              <a:rPr lang="zh-CN" altLang="en-US" b="0" i="0" dirty="0">
                <a:effectLst/>
                <a:latin typeface="system-ui"/>
              </a:rPr>
              <a:t>按照常人的惯性思维，首先需要算出苍蝇在两辆自行车车把之间的第一次路程，其次是返回路程，并依次类推，算出一段段越来越短的距离，最后求和，才是最终结果。这涉及到苍蝇飞过的路程有几段路和每段所花费的时间，即所谓的无穷级数求和问题，因此非常复杂。</a:t>
            </a:r>
          </a:p>
          <a:p>
            <a:pPr algn="just"/>
            <a:endParaRPr lang="zh-CN" altLang="en-US" b="0" i="0" dirty="0">
              <a:effectLst/>
              <a:latin typeface="system-ui"/>
            </a:endParaRPr>
          </a:p>
          <a:p>
            <a:pPr algn="just"/>
            <a:r>
              <a:rPr lang="zh-CN" altLang="en-US" b="0" i="0" dirty="0">
                <a:effectLst/>
                <a:latin typeface="system-ui"/>
              </a:rPr>
              <a:t>而科普大师加德纳则转化思路绕开这些常规障碍：因为每辆自行车运动的速度是每小时</a:t>
            </a:r>
            <a:r>
              <a:rPr lang="en-US" altLang="zh-CN" b="0" i="0" dirty="0">
                <a:effectLst/>
                <a:latin typeface="system-ui"/>
              </a:rPr>
              <a:t>16</a:t>
            </a:r>
            <a:r>
              <a:rPr lang="zh-CN" altLang="en-US" b="0" i="0" dirty="0">
                <a:effectLst/>
                <a:latin typeface="system-ui"/>
              </a:rPr>
              <a:t>千米，之后两辆自行车相遇走完</a:t>
            </a:r>
            <a:r>
              <a:rPr lang="en-US" altLang="zh-CN" b="0" i="0" dirty="0">
                <a:effectLst/>
                <a:latin typeface="system-ui"/>
              </a:rPr>
              <a:t>32</a:t>
            </a:r>
            <a:r>
              <a:rPr lang="zh-CN" altLang="en-US" b="0" i="0" dirty="0">
                <a:effectLst/>
                <a:latin typeface="system-ui"/>
              </a:rPr>
              <a:t>千米的距离，说明从开始到相遇，自行车所花费的时间为</a:t>
            </a:r>
            <a:r>
              <a:rPr lang="en-US" altLang="zh-CN" b="0" i="0" dirty="0">
                <a:effectLst/>
                <a:latin typeface="system-ui"/>
              </a:rPr>
              <a:t>32</a:t>
            </a:r>
            <a:r>
              <a:rPr lang="zh-CN" altLang="en-US" b="0" i="0" dirty="0">
                <a:effectLst/>
                <a:latin typeface="system-ui"/>
              </a:rPr>
              <a:t>～（</a:t>
            </a:r>
            <a:r>
              <a:rPr lang="en-US" altLang="zh-CN" b="0" i="0" dirty="0">
                <a:effectLst/>
                <a:latin typeface="system-ui"/>
              </a:rPr>
              <a:t>16+16</a:t>
            </a:r>
            <a:r>
              <a:rPr lang="zh-CN" altLang="en-US" b="0" i="0" dirty="0">
                <a:effectLst/>
                <a:latin typeface="system-ui"/>
              </a:rPr>
              <a:t>）</a:t>
            </a:r>
            <a:r>
              <a:rPr lang="en-US" altLang="zh-CN" b="0" i="0" dirty="0">
                <a:effectLst/>
                <a:latin typeface="system-ui"/>
              </a:rPr>
              <a:t>=1</a:t>
            </a:r>
            <a:r>
              <a:rPr lang="zh-CN" altLang="en-US" b="0" i="0" dirty="0">
                <a:effectLst/>
                <a:latin typeface="system-ui"/>
              </a:rPr>
              <a:t>小时，而这正是苍蝇所用的时间。又已知苍蝇的飞行速度是每小时</a:t>
            </a:r>
            <a:r>
              <a:rPr lang="en-US" altLang="zh-CN" b="0" i="0" dirty="0">
                <a:effectLst/>
                <a:latin typeface="system-ui"/>
              </a:rPr>
              <a:t>24</a:t>
            </a:r>
            <a:r>
              <a:rPr lang="zh-CN" altLang="en-US" b="0" i="0" dirty="0">
                <a:effectLst/>
                <a:latin typeface="system-ui"/>
              </a:rPr>
              <a:t>千米，因此在</a:t>
            </a:r>
            <a:r>
              <a:rPr lang="en-US" altLang="zh-CN" b="0" i="0" dirty="0">
                <a:effectLst/>
                <a:latin typeface="system-ui"/>
              </a:rPr>
              <a:t>1</a:t>
            </a:r>
            <a:r>
              <a:rPr lang="zh-CN" altLang="en-US" b="0" i="0" dirty="0">
                <a:effectLst/>
                <a:latin typeface="system-ui"/>
              </a:rPr>
              <a:t>小时中苍蝇总共飞了</a:t>
            </a:r>
            <a:r>
              <a:rPr lang="en-US" altLang="zh-CN" b="0" i="0" dirty="0">
                <a:effectLst/>
                <a:latin typeface="system-ui"/>
              </a:rPr>
              <a:t>24</a:t>
            </a:r>
            <a:r>
              <a:rPr lang="zh-CN" altLang="en-US" b="0" i="0" dirty="0">
                <a:effectLst/>
                <a:latin typeface="system-ui"/>
              </a:rPr>
              <a:t>千米。</a:t>
            </a:r>
          </a:p>
          <a:p>
            <a:pPr algn="just"/>
            <a:br>
              <a:rPr lang="zh-CN" altLang="en-US" b="0" i="0" dirty="0">
                <a:effectLst/>
                <a:latin typeface="system-ui"/>
              </a:rPr>
            </a:br>
            <a:r>
              <a:rPr lang="zh-CN" altLang="en-US" b="0" i="0" dirty="0">
                <a:effectLst/>
                <a:latin typeface="system-ui"/>
              </a:rPr>
              <a:t>听了年轻人的题，冯</a:t>
            </a:r>
            <a:r>
              <a:rPr lang="en-US" altLang="zh-CN" b="0" i="0" dirty="0">
                <a:effectLst/>
                <a:latin typeface="system-ui"/>
              </a:rPr>
              <a:t>·</a:t>
            </a:r>
            <a:r>
              <a:rPr lang="zh-CN" altLang="en-US" b="0" i="0" dirty="0">
                <a:effectLst/>
                <a:latin typeface="system-ui"/>
              </a:rPr>
              <a:t>诺依曼略加思索便给出了正确答案。年轻人笃定他也运用了加德纳的思路，于是开始抱怨其他数学家用无穷级数求解的方法十分繁琐。不料，冯</a:t>
            </a:r>
            <a:r>
              <a:rPr lang="en-US" altLang="zh-CN" b="0" i="0" dirty="0">
                <a:effectLst/>
                <a:latin typeface="system-ui"/>
              </a:rPr>
              <a:t>·</a:t>
            </a:r>
            <a:r>
              <a:rPr lang="zh-CN" altLang="en-US" b="0" i="0" dirty="0">
                <a:effectLst/>
                <a:latin typeface="system-ui"/>
              </a:rPr>
              <a:t>诺依曼却面露诧异地说道：“我用的正是无穷级数求和的方法啊！”年轻人听后顿时瞠目结舌。</a:t>
            </a:r>
          </a:p>
          <a:p>
            <a:pPr algn="just"/>
            <a:br>
              <a:rPr lang="zh-CN" altLang="en-US" b="0" i="0" dirty="0">
                <a:effectLst/>
                <a:latin typeface="system-ui"/>
              </a:rPr>
            </a:br>
            <a:r>
              <a:rPr lang="zh-CN" altLang="en-US" b="1" i="0" dirty="0">
                <a:effectLst/>
                <a:latin typeface="system-ui"/>
              </a:rPr>
              <a:t>解决了一系列关键性问题</a:t>
            </a:r>
            <a:endParaRPr lang="zh-CN" altLang="en-US" b="0" i="0" dirty="0">
              <a:effectLst/>
              <a:latin typeface="system-ui"/>
            </a:endParaRPr>
          </a:p>
          <a:p>
            <a:pPr algn="just"/>
            <a:r>
              <a:rPr lang="zh-CN" altLang="en-US" b="0" i="0" dirty="0">
                <a:effectLst/>
                <a:latin typeface="system-ui"/>
              </a:rPr>
              <a:t>在讲述这个故事之前，我们需要介绍世界上第一台通用计算机</a:t>
            </a:r>
            <a:r>
              <a:rPr lang="en-US" altLang="zh-CN" b="0" i="0" dirty="0">
                <a:effectLst/>
                <a:latin typeface="system-ui"/>
              </a:rPr>
              <a:t>-ENIAC</a:t>
            </a:r>
            <a:r>
              <a:rPr lang="zh-CN" altLang="en-US" b="0" i="0" dirty="0">
                <a:effectLst/>
                <a:latin typeface="system-ui"/>
              </a:rPr>
              <a:t>（电子数字积分计算机的简称）。这台电子计算机诞生于第二次世界大战期间，当时各参战国的武器装备比较落后，因此研发新型导弹就显得十分迫切和必要，美国陆军军械部还专门为此设立了“弹道研究实验室”。为了在战争中占得先机，有关电子计算机的设想被提出并得到了大力支持，但等到真正开始实施时才发现研究工作困难重重、举步维艰。幸运的是，时任弹道研究所顾问、正在参加美国第一颗原子弹研制工作的数学家冯</a:t>
            </a:r>
            <a:r>
              <a:rPr lang="en-US" altLang="zh-CN" b="0" i="0" dirty="0">
                <a:effectLst/>
                <a:latin typeface="system-ui"/>
              </a:rPr>
              <a:t>·</a:t>
            </a:r>
            <a:r>
              <a:rPr lang="zh-CN" altLang="en-US" b="0" i="0" dirty="0">
                <a:effectLst/>
                <a:latin typeface="system-ui"/>
              </a:rPr>
              <a:t>诺依曼及时加入，解决了一系列关键性问题，从而保证了</a:t>
            </a:r>
            <a:r>
              <a:rPr lang="en-US" altLang="zh-CN" b="0" i="0" dirty="0">
                <a:effectLst/>
                <a:latin typeface="system-ui"/>
              </a:rPr>
              <a:t>E-NIAC</a:t>
            </a:r>
            <a:r>
              <a:rPr lang="zh-CN" altLang="en-US" b="0" i="0" dirty="0">
                <a:effectLst/>
                <a:latin typeface="system-ui"/>
              </a:rPr>
              <a:t>的顺利问世，宣告了一个新时代的开始。</a:t>
            </a:r>
          </a:p>
          <a:p>
            <a:pPr algn="just"/>
            <a:endParaRPr lang="zh-CN" altLang="en-US" b="0" i="0" dirty="0">
              <a:effectLst/>
              <a:latin typeface="system-ui"/>
            </a:endParaRPr>
          </a:p>
          <a:p>
            <a:pPr algn="just"/>
            <a:r>
              <a:rPr lang="zh-CN" altLang="en-US" b="0" i="0" dirty="0">
                <a:effectLst/>
                <a:latin typeface="system-ui"/>
              </a:rPr>
              <a:t>在研制</a:t>
            </a:r>
            <a:r>
              <a:rPr lang="en-US" altLang="zh-CN" b="0" i="0" dirty="0">
                <a:effectLst/>
                <a:latin typeface="system-ui"/>
              </a:rPr>
              <a:t>ENIAC</a:t>
            </a:r>
            <a:r>
              <a:rPr lang="zh-CN" altLang="en-US" b="0" i="0" dirty="0">
                <a:effectLst/>
                <a:latin typeface="system-ui"/>
              </a:rPr>
              <a:t>期间，几位数学家在一起切磋一道数学难题，百思不得其解，又不甘心放弃。于是，一位青年数学家决定带着台式机回家继续演算。</a:t>
            </a:r>
            <a:endParaRPr lang="en-US" altLang="zh-CN" b="0" i="0" dirty="0">
              <a:effectLst/>
              <a:latin typeface="system-ui"/>
            </a:endParaRPr>
          </a:p>
          <a:p>
            <a:pPr algn="just"/>
            <a:br>
              <a:rPr lang="zh-CN" altLang="en-US" b="0" i="0" dirty="0">
                <a:effectLst/>
                <a:latin typeface="system-ui"/>
              </a:rPr>
            </a:br>
            <a:r>
              <a:rPr lang="zh-CN" altLang="en-US" b="0" i="0" dirty="0">
                <a:effectLst/>
                <a:latin typeface="system-ui"/>
              </a:rPr>
              <a:t>第二天一早，数学家们又在办公室里讨论这道难题。这时，那位带计算机回家演算的同事推门而入，模样狼狈不堪，却面带笑容颇为得意地对大家炫耀道：“感谢上帝，天道酬勤。我从昨晚开始马不停蹄地用计算机算到凌晨</a:t>
            </a:r>
            <a:r>
              <a:rPr lang="en-US" altLang="zh-CN" b="0" i="0" dirty="0">
                <a:effectLst/>
                <a:latin typeface="system-ui"/>
              </a:rPr>
              <a:t>4</a:t>
            </a:r>
            <a:r>
              <a:rPr lang="zh-CN" altLang="en-US" b="0" i="0" dirty="0">
                <a:effectLst/>
                <a:latin typeface="system-ui"/>
              </a:rPr>
              <a:t>时</a:t>
            </a:r>
            <a:r>
              <a:rPr lang="en-US" altLang="zh-CN" b="0" i="0" dirty="0">
                <a:effectLst/>
                <a:latin typeface="system-ui"/>
              </a:rPr>
              <a:t>30</a:t>
            </a:r>
            <a:r>
              <a:rPr lang="zh-CN" altLang="en-US" b="0" i="0" dirty="0">
                <a:effectLst/>
                <a:latin typeface="system-ui"/>
              </a:rPr>
              <a:t>分，总算找到这道难题的</a:t>
            </a:r>
            <a:r>
              <a:rPr lang="en-US" altLang="zh-CN" b="0" i="0" dirty="0">
                <a:effectLst/>
                <a:latin typeface="system-ui"/>
              </a:rPr>
              <a:t>5</a:t>
            </a:r>
            <a:r>
              <a:rPr lang="zh-CN" altLang="en-US" b="0" i="0" dirty="0">
                <a:effectLst/>
                <a:latin typeface="system-ui"/>
              </a:rPr>
              <a:t>种特殊解答。它们一个比一个难，我的天哪！”他的用意，一是表达如释重负</a:t>
            </a:r>
            <a:r>
              <a:rPr lang="en-US" altLang="zh-CN" b="0" i="0" dirty="0">
                <a:effectLst/>
                <a:latin typeface="system-ui"/>
              </a:rPr>
              <a:t>;</a:t>
            </a:r>
            <a:r>
              <a:rPr lang="zh-CN" altLang="en-US" b="0" i="0" dirty="0">
                <a:effectLst/>
                <a:latin typeface="system-ui"/>
              </a:rPr>
              <a:t>二是准备接受众人的夸奖。</a:t>
            </a:r>
          </a:p>
          <a:p>
            <a:pPr algn="just"/>
            <a:endParaRPr lang="zh-CN" altLang="en-US" b="0" i="0" dirty="0">
              <a:effectLst/>
              <a:latin typeface="system-ui"/>
            </a:endParaRPr>
          </a:p>
          <a:p>
            <a:pPr algn="just"/>
            <a:r>
              <a:rPr lang="zh-CN" altLang="en-US" b="0" i="0" dirty="0">
                <a:effectLst/>
                <a:latin typeface="system-ui"/>
              </a:rPr>
              <a:t>就在此时，冯</a:t>
            </a:r>
            <a:r>
              <a:rPr lang="en-US" altLang="zh-CN" b="0" i="0" dirty="0">
                <a:effectLst/>
                <a:latin typeface="system-ui"/>
              </a:rPr>
              <a:t>·</a:t>
            </a:r>
            <a:r>
              <a:rPr lang="zh-CN" altLang="en-US" b="0" i="0" dirty="0">
                <a:effectLst/>
                <a:latin typeface="system-ui"/>
              </a:rPr>
              <a:t>诺依曼恰好刚进办公室，随口问道：“什么一个比一个难？”有人将题目讲述给他听，冯</a:t>
            </a:r>
            <a:r>
              <a:rPr lang="en-US" altLang="zh-CN" b="0" i="0" dirty="0">
                <a:effectLst/>
                <a:latin typeface="system-ui"/>
              </a:rPr>
              <a:t>·</a:t>
            </a:r>
            <a:r>
              <a:rPr lang="zh-CN" altLang="en-US" b="0" i="0" dirty="0">
                <a:effectLst/>
                <a:latin typeface="system-ui"/>
              </a:rPr>
              <a:t>诺依曼一听立即来了劲头，但随即眼望天花板默不作声，陷入沉思之中。同事们饶有兴致地待在一边，大家对他超凡脱俗的神算本领早有耳闻，今天当然要见识一下。大约过了</a:t>
            </a:r>
            <a:r>
              <a:rPr lang="en-US" altLang="zh-CN" b="0" i="0" dirty="0">
                <a:effectLst/>
                <a:latin typeface="system-ui"/>
              </a:rPr>
              <a:t>5</a:t>
            </a:r>
            <a:r>
              <a:rPr lang="zh-CN" altLang="en-US" b="0" i="0" dirty="0">
                <a:effectLst/>
                <a:latin typeface="system-ui"/>
              </a:rPr>
              <a:t>分钟，冯</a:t>
            </a:r>
            <a:r>
              <a:rPr lang="en-US" altLang="zh-CN" b="0" i="0" dirty="0">
                <a:effectLst/>
                <a:latin typeface="system-ui"/>
              </a:rPr>
              <a:t>·</a:t>
            </a:r>
            <a:r>
              <a:rPr lang="zh-CN" altLang="en-US" b="0" i="0" dirty="0">
                <a:effectLst/>
                <a:latin typeface="system-ui"/>
              </a:rPr>
              <a:t>诺依曼就给出了</a:t>
            </a:r>
            <a:r>
              <a:rPr lang="en-US" altLang="zh-CN" b="0" i="0" dirty="0">
                <a:effectLst/>
                <a:latin typeface="system-ui"/>
              </a:rPr>
              <a:t>4</a:t>
            </a:r>
            <a:r>
              <a:rPr lang="zh-CN" altLang="en-US" b="0" i="0" dirty="0">
                <a:effectLst/>
                <a:latin typeface="system-ui"/>
              </a:rPr>
              <a:t>个正确答案。这下那位熬了一夜的青年数学家再也坐不住了，脱口说出最后一个答案。冯</a:t>
            </a:r>
            <a:r>
              <a:rPr lang="en-US" altLang="zh-CN" b="0" i="0" dirty="0">
                <a:effectLst/>
                <a:latin typeface="system-ui"/>
              </a:rPr>
              <a:t>·</a:t>
            </a:r>
            <a:r>
              <a:rPr lang="zh-CN" altLang="en-US" b="0" i="0" dirty="0">
                <a:effectLst/>
                <a:latin typeface="system-ui"/>
              </a:rPr>
              <a:t>诺依曼先是一愣，但没有接过话茬。在</a:t>
            </a:r>
            <a:r>
              <a:rPr lang="en-US" altLang="zh-CN" b="0" i="0" dirty="0">
                <a:effectLst/>
                <a:latin typeface="system-ui"/>
              </a:rPr>
              <a:t>1</a:t>
            </a:r>
            <a:r>
              <a:rPr lang="zh-CN" altLang="en-US" b="0" i="0" dirty="0">
                <a:effectLst/>
                <a:latin typeface="system-ui"/>
              </a:rPr>
              <a:t>分钟之后，他才肯定地说：“你的答案是正确的。”当那位青年数学家怀着无比敬佩而又尴尬的复杂心情离去后，冯</a:t>
            </a:r>
            <a:r>
              <a:rPr lang="en-US" altLang="zh-CN" b="0" i="0" dirty="0">
                <a:effectLst/>
                <a:latin typeface="system-ui"/>
              </a:rPr>
              <a:t>·</a:t>
            </a:r>
            <a:r>
              <a:rPr lang="zh-CN" altLang="en-US" b="0" i="0" dirty="0">
                <a:effectLst/>
                <a:latin typeface="system-ui"/>
              </a:rPr>
              <a:t>诺依曼仍在原地苦苦思索，一脸困惑，许久不能自拔。</a:t>
            </a:r>
          </a:p>
          <a:p>
            <a:pPr algn="just"/>
            <a:endParaRPr lang="zh-CN" altLang="en-US" b="0" i="0" dirty="0">
              <a:effectLst/>
              <a:latin typeface="system-ui"/>
            </a:endParaRPr>
          </a:p>
          <a:p>
            <a:pPr algn="just"/>
            <a:r>
              <a:rPr lang="zh-CN" altLang="en-US" b="0" i="0" dirty="0">
                <a:effectLst/>
                <a:latin typeface="system-ui"/>
              </a:rPr>
              <a:t>有人悄地问他在想什么。冯</a:t>
            </a:r>
            <a:r>
              <a:rPr lang="en-US" altLang="zh-CN" b="0" i="0" dirty="0">
                <a:effectLst/>
                <a:latin typeface="system-ui"/>
              </a:rPr>
              <a:t>·</a:t>
            </a:r>
            <a:r>
              <a:rPr lang="zh-CN" altLang="en-US" b="0" i="0" dirty="0">
                <a:effectLst/>
                <a:latin typeface="system-ui"/>
              </a:rPr>
              <a:t>诺依曼不安地说：“我在想，他究竟用的是什么方法，这么快就算出了答案。”众人忍俊不禁，道出了原委：“他可是用台式机算了整整一个晚上啊！”冯</a:t>
            </a:r>
            <a:r>
              <a:rPr lang="en-US" altLang="zh-CN" b="0" i="0" dirty="0">
                <a:effectLst/>
                <a:latin typeface="system-ui"/>
              </a:rPr>
              <a:t>·</a:t>
            </a:r>
            <a:r>
              <a:rPr lang="zh-CN" altLang="en-US" b="0" i="0" dirty="0">
                <a:effectLst/>
                <a:latin typeface="system-ui"/>
              </a:rPr>
              <a:t>诺依曼这才释怀地大笑起来。</a:t>
            </a:r>
          </a:p>
          <a:p>
            <a:pPr algn="just"/>
            <a:endParaRPr lang="zh-CN" altLang="en-US" b="0" i="0" dirty="0">
              <a:effectLst/>
              <a:latin typeface="system-ui"/>
            </a:endParaRPr>
          </a:p>
          <a:p>
            <a:pPr algn="just"/>
            <a:r>
              <a:rPr lang="zh-CN" altLang="en-US" b="1" i="0" dirty="0">
                <a:effectLst/>
                <a:latin typeface="system-ui"/>
              </a:rPr>
              <a:t>为获胜耍小伎俩的趣事</a:t>
            </a:r>
            <a:endParaRPr lang="zh-CN" altLang="en-US" b="0" i="0" dirty="0">
              <a:effectLst/>
              <a:latin typeface="system-ui"/>
            </a:endParaRPr>
          </a:p>
          <a:p>
            <a:pPr algn="just"/>
            <a:endParaRPr lang="zh-CN" altLang="en-US" b="0" i="0" dirty="0">
              <a:effectLst/>
              <a:latin typeface="system-ui"/>
            </a:endParaRPr>
          </a:p>
          <a:p>
            <a:pPr algn="just"/>
            <a:r>
              <a:rPr lang="en-US" altLang="zh-CN" b="0" i="0" dirty="0">
                <a:effectLst/>
                <a:latin typeface="system-ui"/>
              </a:rPr>
              <a:t>Shannon </a:t>
            </a:r>
            <a:r>
              <a:rPr lang="zh-CN" altLang="en-US" b="0" i="0" dirty="0">
                <a:effectLst/>
                <a:latin typeface="system-ui"/>
              </a:rPr>
              <a:t>发明信息论的时候，引入了对事件不确定性的度量。为了给这个概念取一个合适的名字，想着冯</a:t>
            </a:r>
            <a:r>
              <a:rPr lang="en-US" altLang="zh-CN" b="0" i="0" dirty="0">
                <a:effectLst/>
                <a:latin typeface="system-ui"/>
              </a:rPr>
              <a:t>·</a:t>
            </a:r>
            <a:r>
              <a:rPr lang="zh-CN" altLang="en-US" b="0" i="0" dirty="0">
                <a:effectLst/>
                <a:latin typeface="system-ui"/>
              </a:rPr>
              <a:t>诺伊曼是个数学家，就去征求他的意见。冯</a:t>
            </a:r>
            <a:r>
              <a:rPr lang="en-US" altLang="zh-CN" b="0" i="0" dirty="0">
                <a:effectLst/>
                <a:latin typeface="system-ui"/>
              </a:rPr>
              <a:t>·</a:t>
            </a:r>
            <a:r>
              <a:rPr lang="zh-CN" altLang="en-US" b="0" i="0" dirty="0">
                <a:effectLst/>
                <a:latin typeface="system-ui"/>
              </a:rPr>
              <a:t>诺伊曼建议把它叫做熵（</a:t>
            </a:r>
            <a:r>
              <a:rPr lang="en-US" altLang="zh-CN" b="0" i="0" dirty="0">
                <a:effectLst/>
                <a:latin typeface="system-ui"/>
              </a:rPr>
              <a:t>Entropy</a:t>
            </a:r>
            <a:r>
              <a:rPr lang="zh-CN" altLang="en-US" b="0" i="0" dirty="0">
                <a:effectLst/>
                <a:latin typeface="system-ui"/>
              </a:rPr>
              <a:t>），因为这个词已经在热力学中得到了应用，而且更重要的是，没人知道熵到底是什么意思，因此在与别人辩论的时候便会永远处于不败之地。</a:t>
            </a:r>
          </a:p>
          <a:p>
            <a:pPr algn="just"/>
            <a:endParaRPr lang="zh-CN" altLang="en-US" b="0" i="0" dirty="0">
              <a:effectLst/>
              <a:latin typeface="system-ui"/>
            </a:endParaRPr>
          </a:p>
          <a:p>
            <a:pPr algn="just"/>
            <a:r>
              <a:rPr lang="zh-CN" altLang="en-US" b="1" i="0" dirty="0">
                <a:effectLst/>
                <a:latin typeface="system-ui"/>
              </a:rPr>
              <a:t>信手涂鸦也是经典</a:t>
            </a:r>
            <a:endParaRPr lang="en-US" altLang="zh-CN" b="1" i="0" dirty="0">
              <a:effectLst/>
              <a:latin typeface="system-ui"/>
            </a:endParaRPr>
          </a:p>
          <a:p>
            <a:pPr algn="just"/>
            <a:endParaRPr lang="zh-CN" altLang="en-US" b="0" i="0" dirty="0">
              <a:effectLst/>
              <a:latin typeface="system-ui"/>
            </a:endParaRPr>
          </a:p>
          <a:p>
            <a:pPr algn="just"/>
            <a:r>
              <a:rPr lang="en-US" altLang="zh-CN" b="0" i="0" dirty="0">
                <a:effectLst/>
                <a:latin typeface="system-ui"/>
              </a:rPr>
              <a:t>1944</a:t>
            </a:r>
            <a:r>
              <a:rPr lang="zh-CN" altLang="en-US" b="0" i="0" dirty="0">
                <a:effectLst/>
                <a:latin typeface="system-ui"/>
              </a:rPr>
              <a:t>年，冯</a:t>
            </a:r>
            <a:r>
              <a:rPr lang="en-US" altLang="zh-CN" b="0" i="0" dirty="0">
                <a:effectLst/>
                <a:latin typeface="system-ui"/>
              </a:rPr>
              <a:t>·</a:t>
            </a:r>
            <a:r>
              <a:rPr lang="zh-CN" altLang="en-US" b="0" i="0" dirty="0">
                <a:effectLst/>
                <a:latin typeface="system-ui"/>
              </a:rPr>
              <a:t>诺依曼参加了第一台电子计算机</a:t>
            </a:r>
            <a:r>
              <a:rPr lang="en-US" altLang="zh-CN" b="0" i="0" dirty="0">
                <a:effectLst/>
                <a:latin typeface="system-ui"/>
              </a:rPr>
              <a:t>EDVAC</a:t>
            </a:r>
            <a:r>
              <a:rPr lang="zh-CN" altLang="en-US" b="0" i="0" dirty="0">
                <a:effectLst/>
                <a:latin typeface="system-ui"/>
              </a:rPr>
              <a:t>的设计会议。会上有很多参与</a:t>
            </a:r>
            <a:r>
              <a:rPr lang="en-US" altLang="zh-CN" b="0" i="0" dirty="0">
                <a:effectLst/>
                <a:latin typeface="system-ui"/>
              </a:rPr>
              <a:t>ENIAC</a:t>
            </a:r>
            <a:r>
              <a:rPr lang="zh-CN" altLang="en-US" b="0" i="0" dirty="0">
                <a:effectLst/>
                <a:latin typeface="system-ui"/>
              </a:rPr>
              <a:t>设计的专家，大家都在讨论设计方案，觉得问题非常难解决。「</a:t>
            </a:r>
            <a:r>
              <a:rPr lang="en-US" altLang="zh-CN" b="0" i="0" dirty="0">
                <a:effectLst/>
                <a:latin typeface="system-ui"/>
              </a:rPr>
              <a:t>KAO</a:t>
            </a:r>
            <a:r>
              <a:rPr lang="zh-CN" altLang="en-US" b="0" i="0" dirty="0">
                <a:effectLst/>
                <a:latin typeface="system-ui"/>
              </a:rPr>
              <a:t>，看哥来！」于是冯</a:t>
            </a:r>
            <a:r>
              <a:rPr lang="en-US" altLang="zh-CN" b="0" i="0" dirty="0">
                <a:effectLst/>
                <a:latin typeface="system-ui"/>
              </a:rPr>
              <a:t>·</a:t>
            </a:r>
            <a:r>
              <a:rPr lang="zh-CN" altLang="en-US" b="0" i="0" dirty="0">
                <a:effectLst/>
                <a:latin typeface="system-ui"/>
              </a:rPr>
              <a:t>诺依曼画了个图，然后开始洋洋洒洒写了计算机世界的创世之作</a:t>
            </a:r>
            <a:r>
              <a:rPr lang="en-US" altLang="zh-CN" b="0" i="0" dirty="0">
                <a:effectLst/>
                <a:latin typeface="system-ui"/>
              </a:rPr>
              <a:t>——The First Draft Report on the EDVAC</a:t>
            </a:r>
            <a:r>
              <a:rPr lang="zh-CN" altLang="en-US" b="0" i="0" dirty="0">
                <a:effectLst/>
                <a:latin typeface="system-ui"/>
              </a:rPr>
              <a:t>，冯</a:t>
            </a:r>
            <a:r>
              <a:rPr lang="en-US" altLang="zh-CN" b="0" i="0" dirty="0">
                <a:effectLst/>
                <a:latin typeface="system-ui"/>
              </a:rPr>
              <a:t>·</a:t>
            </a:r>
            <a:r>
              <a:rPr lang="zh-CN" altLang="en-US" b="0" i="0" dirty="0">
                <a:effectLst/>
                <a:latin typeface="system-ui"/>
              </a:rPr>
              <a:t>诺依曼结构从此诞生。</a:t>
            </a:r>
          </a:p>
          <a:p>
            <a:pPr algn="just"/>
            <a:br>
              <a:rPr lang="zh-CN" altLang="en-US" b="0" i="0" dirty="0">
                <a:effectLst/>
                <a:latin typeface="system-ui"/>
              </a:rPr>
            </a:br>
            <a:r>
              <a:rPr lang="zh-CN" altLang="en-US" b="1" i="0" dirty="0">
                <a:effectLst/>
                <a:latin typeface="system-ui"/>
              </a:rPr>
              <a:t>博弈论之父心不在焉照输不误</a:t>
            </a:r>
            <a:endParaRPr lang="en-US" altLang="zh-CN" b="1" i="0" dirty="0">
              <a:effectLst/>
              <a:latin typeface="system-ui"/>
            </a:endParaRPr>
          </a:p>
          <a:p>
            <a:pPr algn="just"/>
            <a:endParaRPr lang="zh-CN" altLang="en-US" b="0" i="0" dirty="0">
              <a:effectLst/>
              <a:latin typeface="system-ui"/>
            </a:endParaRPr>
          </a:p>
          <a:p>
            <a:pPr algn="just"/>
            <a:r>
              <a:rPr lang="zh-CN" altLang="en-US" b="0" i="0" dirty="0">
                <a:effectLst/>
                <a:latin typeface="system-ui"/>
              </a:rPr>
              <a:t>据说有一天，冯诺依曼心神不定的被拉上牌桌，漫不经心和同事打牌，一遍打牌一边想他的课题，狼狈不堪的输掉了十美元，他的同事想捉弄一下冯诺依曼，就要赢来的</a:t>
            </a:r>
            <a:r>
              <a:rPr lang="en-US" altLang="zh-CN" b="0" i="0" dirty="0">
                <a:effectLst/>
                <a:latin typeface="system-ui"/>
              </a:rPr>
              <a:t>10</a:t>
            </a:r>
            <a:r>
              <a:rPr lang="zh-CN" altLang="en-US" b="0" i="0" dirty="0">
                <a:effectLst/>
                <a:latin typeface="system-ui"/>
              </a:rPr>
              <a:t>美元花</a:t>
            </a:r>
            <a:r>
              <a:rPr lang="en-US" altLang="zh-CN" b="0" i="0" dirty="0">
                <a:effectLst/>
                <a:latin typeface="system-ui"/>
              </a:rPr>
              <a:t>5</a:t>
            </a:r>
            <a:r>
              <a:rPr lang="zh-CN" altLang="en-US" b="0" i="0" dirty="0">
                <a:effectLst/>
                <a:latin typeface="system-ui"/>
              </a:rPr>
              <a:t>美元买了本</a:t>
            </a:r>
            <a:r>
              <a:rPr lang="en-US" altLang="zh-CN" b="0" i="0" dirty="0">
                <a:effectLst/>
                <a:latin typeface="system-ui"/>
              </a:rPr>
              <a:t>《</a:t>
            </a:r>
            <a:r>
              <a:rPr lang="zh-CN" altLang="en-US" b="0" i="0" dirty="0">
                <a:effectLst/>
                <a:latin typeface="system-ui"/>
              </a:rPr>
              <a:t>博弈学和经济行为</a:t>
            </a:r>
            <a:r>
              <a:rPr lang="en-US" altLang="zh-CN" b="0" i="0" dirty="0">
                <a:effectLst/>
                <a:latin typeface="system-ui"/>
              </a:rPr>
              <a:t>》</a:t>
            </a:r>
            <a:r>
              <a:rPr lang="zh-CN" altLang="en-US" b="0" i="0" dirty="0">
                <a:effectLst/>
                <a:latin typeface="system-ui"/>
              </a:rPr>
              <a:t>并把剩下</a:t>
            </a:r>
            <a:r>
              <a:rPr lang="en-US" altLang="zh-CN" b="0" i="0" dirty="0">
                <a:effectLst/>
                <a:latin typeface="system-ui"/>
              </a:rPr>
              <a:t>5</a:t>
            </a:r>
            <a:r>
              <a:rPr lang="zh-CN" altLang="en-US" b="0" i="0" dirty="0">
                <a:effectLst/>
                <a:latin typeface="system-ui"/>
              </a:rPr>
              <a:t>美元贴在封面，表示自己赢了“赌博经济理论家”，让冯诺依曼好没面子。</a:t>
            </a:r>
          </a:p>
          <a:p>
            <a:pPr algn="just"/>
            <a:endParaRPr lang="zh-CN" altLang="en-US" b="0" i="0" dirty="0">
              <a:effectLst/>
              <a:latin typeface="system-ui"/>
            </a:endParaRPr>
          </a:p>
          <a:p>
            <a:pPr algn="just"/>
            <a:r>
              <a:rPr lang="zh-CN" altLang="en-US" b="1" i="0" dirty="0">
                <a:effectLst/>
                <a:latin typeface="system-ui"/>
              </a:rPr>
              <a:t>专心致志则喝吐了也思路不乱</a:t>
            </a:r>
            <a:endParaRPr lang="zh-CN" altLang="en-US" b="0" i="0" dirty="0">
              <a:effectLst/>
              <a:latin typeface="system-ui"/>
            </a:endParaRPr>
          </a:p>
          <a:p>
            <a:pPr algn="just"/>
            <a:br>
              <a:rPr lang="zh-CN" altLang="en-US" b="0" i="0" dirty="0">
                <a:effectLst/>
                <a:latin typeface="system-ui"/>
              </a:rPr>
            </a:br>
            <a:r>
              <a:rPr lang="zh-CN" altLang="en-US" b="0" i="0" dirty="0">
                <a:effectLst/>
                <a:latin typeface="system-ui"/>
              </a:rPr>
              <a:t>波兰天才数学家巴拿赫在</a:t>
            </a:r>
            <a:r>
              <a:rPr lang="en-US" altLang="zh-CN" b="0" i="0" dirty="0">
                <a:effectLst/>
                <a:latin typeface="system-ui"/>
              </a:rPr>
              <a:t>1927</a:t>
            </a:r>
            <a:r>
              <a:rPr lang="zh-CN" altLang="en-US" b="0" i="0" dirty="0">
                <a:effectLst/>
                <a:latin typeface="system-ui"/>
              </a:rPr>
              <a:t>年参加一个数学聚会，他和他的数学家同伙一起灌冯诺伊曼酒，最终冯诺依曼不胜酒力去厕所呕吐，但是巴拿赫后来回忆道，冯诺依曼只是呕吐，丝毫没有打断后来的讨论思路。</a:t>
            </a:r>
          </a:p>
          <a:p>
            <a:pPr algn="just"/>
            <a:endParaRPr lang="zh-CN" altLang="en-US" b="0" i="0" dirty="0">
              <a:effectLst/>
              <a:latin typeface="system-ui"/>
            </a:endParaRPr>
          </a:p>
          <a:p>
            <a:pPr algn="just"/>
            <a:r>
              <a:rPr lang="zh-CN" altLang="en-US" b="1" i="0" dirty="0">
                <a:effectLst/>
                <a:latin typeface="system-ui"/>
              </a:rPr>
              <a:t>老虎也有打盹的时候</a:t>
            </a:r>
            <a:endParaRPr lang="zh-CN" altLang="en-US" b="0" i="0" dirty="0">
              <a:effectLst/>
              <a:latin typeface="system-ui"/>
            </a:endParaRPr>
          </a:p>
          <a:p>
            <a:pPr algn="just"/>
            <a:br>
              <a:rPr lang="zh-CN" altLang="en-US" b="0" i="0" dirty="0">
                <a:effectLst/>
                <a:latin typeface="system-ui"/>
              </a:rPr>
            </a:br>
            <a:r>
              <a:rPr lang="zh-CN" altLang="en-US" b="0" i="0" dirty="0">
                <a:effectLst/>
                <a:latin typeface="system-ui"/>
              </a:rPr>
              <a:t>冯</a:t>
            </a:r>
            <a:r>
              <a:rPr lang="en-US" altLang="zh-CN" b="0" i="0" dirty="0">
                <a:effectLst/>
                <a:latin typeface="system-ui"/>
              </a:rPr>
              <a:t>•</a:t>
            </a:r>
            <a:r>
              <a:rPr lang="zh-CN" altLang="en-US" b="0" i="0" dirty="0">
                <a:effectLst/>
                <a:latin typeface="system-ui"/>
              </a:rPr>
              <a:t>诺依曼虽然是一位天才，但也并不是事事都非常的强，冯</a:t>
            </a:r>
            <a:r>
              <a:rPr lang="en-US" altLang="zh-CN" b="0" i="0" dirty="0">
                <a:effectLst/>
                <a:latin typeface="system-ui"/>
              </a:rPr>
              <a:t>•</a:t>
            </a:r>
            <a:r>
              <a:rPr lang="zh-CN" altLang="en-US" b="0" i="0" dirty="0">
                <a:effectLst/>
                <a:latin typeface="system-ui"/>
              </a:rPr>
              <a:t>诺依曼的驾驶水平就非常糟糕，经常发生事故。有一次冯</a:t>
            </a:r>
            <a:r>
              <a:rPr lang="en-US" altLang="zh-CN" b="0" i="0" dirty="0">
                <a:effectLst/>
                <a:latin typeface="system-ui"/>
              </a:rPr>
              <a:t>•</a:t>
            </a:r>
            <a:r>
              <a:rPr lang="zh-CN" altLang="en-US" b="0" i="0" dirty="0">
                <a:effectLst/>
                <a:latin typeface="system-ui"/>
              </a:rPr>
              <a:t>诺依曼又出了交通事故，他在警局里为自己辩解说：“我正在路上正常驾驶，右方窗外的树正在以</a:t>
            </a:r>
            <a:r>
              <a:rPr lang="en-US" altLang="zh-CN" b="0" i="0" dirty="0">
                <a:effectLst/>
                <a:latin typeface="system-ui"/>
              </a:rPr>
              <a:t>60</a:t>
            </a:r>
            <a:r>
              <a:rPr lang="zh-CN" altLang="en-US" b="0" i="0" dirty="0">
                <a:effectLst/>
                <a:latin typeface="system-ui"/>
              </a:rPr>
              <a:t>英里每小时的速度从我车旁穿过，突然，一棵树站在了我的车前，咚</a:t>
            </a:r>
            <a:r>
              <a:rPr lang="en-US" altLang="zh-CN" b="0" i="0" dirty="0">
                <a:effectLst/>
                <a:latin typeface="system-ui"/>
              </a:rPr>
              <a:t>!” </a:t>
            </a:r>
          </a:p>
          <a:p>
            <a:endParaRPr lang="zh-CN" altLang="zh-CN" dirty="0"/>
          </a:p>
        </p:txBody>
      </p:sp>
    </p:spTree>
    <p:extLst>
      <p:ext uri="{BB962C8B-B14F-4D97-AF65-F5344CB8AC3E}">
        <p14:creationId xmlns:p14="http://schemas.microsoft.com/office/powerpoint/2010/main" val="34047336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ts val="1000"/>
              </a:spcBef>
            </a:pPr>
            <a:r>
              <a:rPr lang="zh-CN" altLang="en-US" sz="1200" b="0" i="0" kern="1200" dirty="0">
                <a:solidFill>
                  <a:schemeClr val="tx1"/>
                </a:solidFill>
                <a:effectLst/>
                <a:latin typeface="+mn-lt"/>
                <a:ea typeface="+mn-ea"/>
                <a:cs typeface="+mn-cs"/>
              </a:rPr>
              <a:t>​</a:t>
            </a:r>
            <a:r>
              <a:rPr lang="zh-CN" altLang="en-US" sz="2400" b="1" dirty="0">
                <a:solidFill>
                  <a:srgbClr val="0000FF"/>
                </a:solidFill>
              </a:rPr>
              <a:t>指令和数据</a:t>
            </a:r>
            <a:r>
              <a:rPr lang="zh-CN" altLang="en-US" sz="2400" b="1" dirty="0"/>
              <a:t>以同等地位存储于</a:t>
            </a:r>
            <a:r>
              <a:rPr lang="zh-CN" altLang="en-US" sz="2400" b="1" dirty="0">
                <a:solidFill>
                  <a:srgbClr val="0000FF"/>
                </a:solidFill>
              </a:rPr>
              <a:t>存储器</a:t>
            </a:r>
            <a:r>
              <a:rPr lang="zh-CN" altLang="en-US" sz="2400" b="1" dirty="0"/>
              <a:t>内，并可</a:t>
            </a:r>
            <a:r>
              <a:rPr lang="zh-CN" altLang="en-US" sz="2400" b="1" dirty="0">
                <a:solidFill>
                  <a:srgbClr val="0000FF"/>
                </a:solidFill>
              </a:rPr>
              <a:t>按地址寻访</a:t>
            </a:r>
            <a:r>
              <a:rPr lang="zh-CN" altLang="en-US" sz="2400" b="1" dirty="0"/>
              <a:t>。</a:t>
            </a:r>
            <a:endParaRPr lang="en-US" altLang="zh-CN" sz="2400" b="1" dirty="0"/>
          </a:p>
          <a:p>
            <a:pPr lvl="1">
              <a:spcBef>
                <a:spcPts val="1000"/>
              </a:spcBef>
            </a:pPr>
            <a:r>
              <a:rPr lang="zh-CN" altLang="en-US" sz="2400" b="1" dirty="0"/>
              <a:t>指令和数据均用</a:t>
            </a:r>
            <a:r>
              <a:rPr lang="zh-CN" altLang="en-US" sz="2400" b="1" dirty="0">
                <a:solidFill>
                  <a:srgbClr val="0000FF"/>
                </a:solidFill>
              </a:rPr>
              <a:t>二进制</a:t>
            </a:r>
            <a:r>
              <a:rPr lang="zh-CN" altLang="en-US" sz="2400" b="1" dirty="0"/>
              <a:t>表示。</a:t>
            </a:r>
            <a:endParaRPr lang="en-US" altLang="zh-CN" sz="2400" b="1" dirty="0"/>
          </a:p>
          <a:p>
            <a:pPr lvl="1">
              <a:spcBef>
                <a:spcPts val="1000"/>
              </a:spcBef>
            </a:pPr>
            <a:r>
              <a:rPr lang="zh-CN" altLang="en-US" sz="2400" b="1" dirty="0"/>
              <a:t>指令</a:t>
            </a:r>
            <a:r>
              <a:rPr lang="zh-CN" altLang="en-US" sz="2400" b="1" dirty="0">
                <a:solidFill>
                  <a:srgbClr val="0000FF"/>
                </a:solidFill>
              </a:rPr>
              <a:t>由操作码和地址码组</a:t>
            </a:r>
            <a:r>
              <a:rPr lang="zh-CN" altLang="en-US" sz="2400" b="1" dirty="0"/>
              <a:t>成。</a:t>
            </a:r>
            <a:r>
              <a:rPr lang="zh-CN" altLang="en-US" sz="2400" b="1" dirty="0">
                <a:solidFill>
                  <a:srgbClr val="0000FF"/>
                </a:solidFill>
              </a:rPr>
              <a:t>指令在存储器内按顺序存放</a:t>
            </a:r>
            <a:r>
              <a:rPr lang="zh-CN" altLang="en-US" sz="2400" b="1" dirty="0"/>
              <a:t>。</a:t>
            </a:r>
            <a:endParaRPr lang="en-US" altLang="zh-CN" sz="2400" b="1" dirty="0"/>
          </a:p>
          <a:p>
            <a:pPr>
              <a:spcBef>
                <a:spcPts val="1000"/>
              </a:spcBef>
            </a:pPr>
            <a:r>
              <a:rPr lang="zh-CN" altLang="en-US" sz="2400" b="1" dirty="0">
                <a:solidFill>
                  <a:srgbClr val="0000FF"/>
                </a:solidFill>
              </a:rPr>
              <a:t>以运算器为中心</a:t>
            </a:r>
            <a:endParaRPr lang="en-US" altLang="zh-CN" sz="2400" b="1" dirty="0"/>
          </a:p>
          <a:p>
            <a:endParaRPr lang="zh-CN" altLang="en-US" dirty="0"/>
          </a:p>
        </p:txBody>
      </p:sp>
      <p:sp>
        <p:nvSpPr>
          <p:cNvPr id="4" name="灯片编号占位符 3"/>
          <p:cNvSpPr>
            <a:spLocks noGrp="1"/>
          </p:cNvSpPr>
          <p:nvPr>
            <p:ph type="sldNum" sz="quarter" idx="5"/>
          </p:nvPr>
        </p:nvSpPr>
        <p:spPr/>
        <p:txBody>
          <a:bodyPr/>
          <a:lstStyle/>
          <a:p>
            <a:pPr>
              <a:defRPr/>
            </a:pPr>
            <a:fld id="{27995655-7F8E-4323-B5A9-22C9CB93AFA1}" type="slidenum">
              <a:rPr lang="zh-CN" altLang="en-US" smtClean="0"/>
              <a:pPr>
                <a:defRPr/>
              </a:pPr>
              <a:t>23</a:t>
            </a:fld>
            <a:endParaRPr lang="zh-CN" altLang="en-US"/>
          </a:p>
        </p:txBody>
      </p:sp>
    </p:spTree>
    <p:extLst>
      <p:ext uri="{BB962C8B-B14F-4D97-AF65-F5344CB8AC3E}">
        <p14:creationId xmlns:p14="http://schemas.microsoft.com/office/powerpoint/2010/main" val="2563235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24</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endParaRPr lang="zh-CN" altLang="en-US" b="0" i="0" dirty="0">
              <a:effectLst/>
              <a:latin typeface="system-ui"/>
            </a:endParaRPr>
          </a:p>
          <a:p>
            <a:endParaRPr lang="zh-CN" altLang="zh-CN" dirty="0"/>
          </a:p>
        </p:txBody>
      </p:sp>
    </p:spTree>
    <p:extLst>
      <p:ext uri="{BB962C8B-B14F-4D97-AF65-F5344CB8AC3E}">
        <p14:creationId xmlns:p14="http://schemas.microsoft.com/office/powerpoint/2010/main" val="8554321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25</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endParaRPr lang="zh-CN" altLang="en-US" b="0" i="0" dirty="0">
              <a:effectLst/>
              <a:latin typeface="system-ui"/>
            </a:endParaRPr>
          </a:p>
          <a:p>
            <a:endParaRPr lang="zh-CN" altLang="zh-CN" dirty="0"/>
          </a:p>
        </p:txBody>
      </p:sp>
    </p:spTree>
    <p:extLst>
      <p:ext uri="{BB962C8B-B14F-4D97-AF65-F5344CB8AC3E}">
        <p14:creationId xmlns:p14="http://schemas.microsoft.com/office/powerpoint/2010/main" val="10581027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26</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endParaRPr lang="zh-CN" altLang="en-US" b="0" i="0" dirty="0">
              <a:effectLst/>
              <a:latin typeface="system-ui"/>
            </a:endParaRPr>
          </a:p>
          <a:p>
            <a:endParaRPr lang="zh-CN" altLang="zh-CN" dirty="0"/>
          </a:p>
        </p:txBody>
      </p:sp>
    </p:spTree>
    <p:extLst>
      <p:ext uri="{BB962C8B-B14F-4D97-AF65-F5344CB8AC3E}">
        <p14:creationId xmlns:p14="http://schemas.microsoft.com/office/powerpoint/2010/main" val="24628270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27</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endParaRPr lang="zh-CN" altLang="en-US" b="0" i="0" dirty="0">
              <a:effectLst/>
              <a:latin typeface="system-ui"/>
            </a:endParaRPr>
          </a:p>
          <a:p>
            <a:endParaRPr lang="zh-CN" altLang="zh-CN" dirty="0"/>
          </a:p>
        </p:txBody>
      </p:sp>
    </p:spTree>
    <p:extLst>
      <p:ext uri="{BB962C8B-B14F-4D97-AF65-F5344CB8AC3E}">
        <p14:creationId xmlns:p14="http://schemas.microsoft.com/office/powerpoint/2010/main" val="26057217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28</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endParaRPr lang="zh-CN" altLang="en-US" b="0" i="0" dirty="0">
              <a:effectLst/>
              <a:latin typeface="system-ui"/>
            </a:endParaRPr>
          </a:p>
          <a:p>
            <a:endParaRPr lang="zh-CN" altLang="zh-CN" dirty="0"/>
          </a:p>
        </p:txBody>
      </p:sp>
    </p:spTree>
    <p:extLst>
      <p:ext uri="{BB962C8B-B14F-4D97-AF65-F5344CB8AC3E}">
        <p14:creationId xmlns:p14="http://schemas.microsoft.com/office/powerpoint/2010/main" val="33907091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29</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endParaRPr lang="zh-CN" altLang="en-US" b="0" i="0" dirty="0">
              <a:effectLst/>
              <a:latin typeface="system-ui"/>
            </a:endParaRPr>
          </a:p>
          <a:p>
            <a:endParaRPr lang="zh-CN" altLang="zh-CN" dirty="0"/>
          </a:p>
        </p:txBody>
      </p:sp>
    </p:spTree>
    <p:extLst>
      <p:ext uri="{BB962C8B-B14F-4D97-AF65-F5344CB8AC3E}">
        <p14:creationId xmlns:p14="http://schemas.microsoft.com/office/powerpoint/2010/main" val="171615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30</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40897150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31</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13929292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32</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18789821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33</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29591313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34</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33816128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35</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17303026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36</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35129439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37</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40509298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BC590-09F9-A1AE-6B57-DBD4BBDC5AE3}"/>
            </a:ext>
          </a:extLst>
        </p:cNvPr>
        <p:cNvGrpSpPr/>
        <p:nvPr/>
      </p:nvGrpSpPr>
      <p:grpSpPr>
        <a:xfrm>
          <a:off x="0" y="0"/>
          <a:ext cx="0" cy="0"/>
          <a:chOff x="0" y="0"/>
          <a:chExt cx="0" cy="0"/>
        </a:xfrm>
      </p:grpSpPr>
      <p:sp>
        <p:nvSpPr>
          <p:cNvPr id="64514" name="Rectangle 7">
            <a:extLst>
              <a:ext uri="{FF2B5EF4-FFF2-40B4-BE49-F238E27FC236}">
                <a16:creationId xmlns:a16="http://schemas.microsoft.com/office/drawing/2014/main" id="{2F3A987E-11D7-9E84-1D83-6E75A153D4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56F602C-53DC-40CF-B2BC-579DE0EF1E1E}" type="slidenum">
              <a:rPr lang="en-US" altLang="zh-CN" smtClean="0">
                <a:latin typeface="Arial" panose="020B0604020202020204" pitchFamily="34" charset="0"/>
              </a:rPr>
              <a:pPr>
                <a:spcBef>
                  <a:spcPct val="0"/>
                </a:spcBef>
              </a:pPr>
              <a:t>38</a:t>
            </a:fld>
            <a:endParaRPr lang="en-US" altLang="zh-CN">
              <a:latin typeface="Arial" panose="020B0604020202020204" pitchFamily="34" charset="0"/>
            </a:endParaRPr>
          </a:p>
        </p:txBody>
      </p:sp>
      <p:sp>
        <p:nvSpPr>
          <p:cNvPr id="64515" name="Rectangle 2">
            <a:extLst>
              <a:ext uri="{FF2B5EF4-FFF2-40B4-BE49-F238E27FC236}">
                <a16:creationId xmlns:a16="http://schemas.microsoft.com/office/drawing/2014/main" id="{020969E5-59C1-0BCC-EE5F-2DE6BA42F1A8}"/>
              </a:ext>
            </a:extLst>
          </p:cNvPr>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a:extLst>
              <a:ext uri="{FF2B5EF4-FFF2-40B4-BE49-F238E27FC236}">
                <a16:creationId xmlns:a16="http://schemas.microsoft.com/office/drawing/2014/main" id="{AF06727E-CFC0-D391-33DE-7D91D27B1A6C}"/>
              </a:ext>
            </a:extLst>
          </p:cNvPr>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extLst>
      <p:ext uri="{BB962C8B-B14F-4D97-AF65-F5344CB8AC3E}">
        <p14:creationId xmlns:p14="http://schemas.microsoft.com/office/powerpoint/2010/main" val="33183585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39</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第</a:t>
            </a:r>
            <a:r>
              <a:rPr lang="en-US" altLang="zh-CN" dirty="0"/>
              <a:t>6</a:t>
            </a:r>
            <a:r>
              <a:rPr lang="zh-CN" altLang="en-US" dirty="0"/>
              <a:t>层是高级语言层，是面向用户的抽象层次。用户使用与机器无关的高级语言编程，编程过程中不需要知道机器的技术细节，只需掌握高级语言的语法规则、算法和数据结构等就可以编程。高级语言大大降低了学习和使用计算机的难度，便于计算机的应用与推广。</a:t>
            </a:r>
            <a:endParaRPr lang="en-US" altLang="zh-CN" dirty="0"/>
          </a:p>
          <a:p>
            <a:pPr eaLnBrk="1" hangingPunct="1">
              <a:spcBef>
                <a:spcPct val="0"/>
              </a:spcBef>
            </a:pPr>
            <a:r>
              <a:rPr lang="zh-CN" altLang="en-US" dirty="0"/>
              <a:t>第</a:t>
            </a:r>
            <a:r>
              <a:rPr lang="en-US" altLang="zh-CN" dirty="0"/>
              <a:t>5</a:t>
            </a:r>
            <a:r>
              <a:rPr lang="zh-CN" altLang="en-US" dirty="0"/>
              <a:t>层是汇编语言层。该层为用户提供基于助记符表示的汇编语言编程。汇编语言与机器结构直接相关，用户必须在了解机器内部的详细技术细节（如寄存器、寻址方式等）后才能编程。本层的编程难度比高级语言层难度大。</a:t>
            </a:r>
            <a:endParaRPr lang="en-US" altLang="zh-CN" dirty="0"/>
          </a:p>
          <a:p>
            <a:pPr eaLnBrk="1" hangingPunct="1">
              <a:spcBef>
                <a:spcPct val="0"/>
              </a:spcBef>
            </a:pPr>
            <a:r>
              <a:rPr lang="zh-CN" altLang="en-US" dirty="0"/>
              <a:t>第</a:t>
            </a:r>
            <a:r>
              <a:rPr lang="en-US" altLang="zh-CN" dirty="0"/>
              <a:t>4</a:t>
            </a:r>
            <a:r>
              <a:rPr lang="zh-CN" altLang="en-US" dirty="0"/>
              <a:t>层是操作系统层。该层用于对计算机系统的硬件和软件资源进行统一管理和调度，提高计算机系统的使用效率，方便用户使用计算机。</a:t>
            </a:r>
            <a:endParaRPr lang="en-US" altLang="zh-CN" dirty="0"/>
          </a:p>
          <a:p>
            <a:pPr eaLnBrk="1" hangingPunct="1">
              <a:spcBef>
                <a:spcPct val="0"/>
              </a:spcBef>
            </a:pPr>
            <a:r>
              <a:rPr lang="zh-CN" altLang="en-US" dirty="0"/>
              <a:t>第</a:t>
            </a:r>
            <a:r>
              <a:rPr lang="en-US" altLang="zh-CN" dirty="0"/>
              <a:t>3</a:t>
            </a:r>
            <a:r>
              <a:rPr lang="zh-CN" altLang="en-US" dirty="0"/>
              <a:t>层是指令集架构层。该层可通过机器语言编写程序实现对计算机硬件的控制，也称为传统机器层或</a:t>
            </a:r>
            <a:r>
              <a:rPr lang="en-US" altLang="zh-CN" dirty="0"/>
              <a:t>ISA</a:t>
            </a:r>
            <a:r>
              <a:rPr lang="zh-CN" altLang="en-US" dirty="0"/>
              <a:t>（</a:t>
            </a:r>
            <a:r>
              <a:rPr lang="en-US" altLang="zh-CN" dirty="0"/>
              <a:t>Instruction Set Architecture</a:t>
            </a:r>
            <a:r>
              <a:rPr lang="zh-CN" altLang="en-US" dirty="0"/>
              <a:t>）层，是计算机中软件系统与硬件系统之间的界面和纽带。一方面，用户在该层可用二进制表示的机器语言编程控制计算机的硬件系统；另一方面，该层之上的软件系统的各种程序必须转换成该层的机器语言形式才能被底层的硬件执行。与高级语言层和汇编语言层相比，该层的编程更加烦琐。</a:t>
            </a:r>
            <a:endParaRPr lang="en-US" altLang="zh-CN" dirty="0"/>
          </a:p>
          <a:p>
            <a:pPr eaLnBrk="1" hangingPunct="1">
              <a:spcBef>
                <a:spcPct val="0"/>
              </a:spcBef>
            </a:pPr>
            <a:r>
              <a:rPr lang="zh-CN" altLang="en-US" dirty="0"/>
              <a:t>第</a:t>
            </a:r>
            <a:r>
              <a:rPr lang="en-US" altLang="zh-CN" dirty="0"/>
              <a:t>2</a:t>
            </a:r>
            <a:r>
              <a:rPr lang="zh-CN" altLang="en-US" dirty="0"/>
              <a:t>层为微代码层。该层是实际的机器层，该层的用户使用微指令编写微程序，用户所编写的微程序由硬件直接执行，注意只有采用微程序设计的计算机系统才有这一层。</a:t>
            </a:r>
            <a:endParaRPr lang="en-US" altLang="zh-CN" dirty="0"/>
          </a:p>
          <a:p>
            <a:pPr eaLnBrk="1" hangingPunct="1">
              <a:spcBef>
                <a:spcPct val="0"/>
              </a:spcBef>
            </a:pPr>
            <a:r>
              <a:rPr lang="zh-CN" altLang="en-US" dirty="0"/>
              <a:t>第</a:t>
            </a:r>
            <a:r>
              <a:rPr lang="en-US" altLang="zh-CN" dirty="0"/>
              <a:t>1</a:t>
            </a:r>
            <a:r>
              <a:rPr lang="zh-CN" altLang="en-US" dirty="0"/>
              <a:t>层为逻辑门层。该层是计算机系统最底层的硬件系统，由逻辑门、触发器等逻辑电路组成，它是由逻辑设计者采用布尔代数设计的硬件内核。</a:t>
            </a:r>
            <a:endParaRPr lang="en-US" altLang="zh-CN" dirty="0"/>
          </a:p>
          <a:p>
            <a:pPr eaLnBrk="1" hangingPunct="1">
              <a:spcBef>
                <a:spcPct val="0"/>
              </a:spcBef>
            </a:pPr>
            <a:endParaRPr lang="en-US" altLang="zh-CN" dirty="0"/>
          </a:p>
          <a:p>
            <a:pPr eaLnBrk="1" hangingPunct="1">
              <a:spcBef>
                <a:spcPct val="0"/>
              </a:spcBef>
            </a:pPr>
            <a:r>
              <a:rPr lang="zh-CN" altLang="en-US" dirty="0"/>
              <a:t>上述关于计算机系统的</a:t>
            </a:r>
            <a:r>
              <a:rPr lang="en-US" altLang="zh-CN" dirty="0"/>
              <a:t>6</a:t>
            </a:r>
            <a:r>
              <a:rPr lang="zh-CN" altLang="en-US" dirty="0"/>
              <a:t>层结构中，第</a:t>
            </a:r>
            <a:r>
              <a:rPr lang="en-US" altLang="zh-CN" dirty="0"/>
              <a:t>1</a:t>
            </a:r>
            <a:r>
              <a:rPr lang="zh-CN" altLang="en-US" dirty="0"/>
              <a:t>、</a:t>
            </a:r>
            <a:r>
              <a:rPr lang="en-US" altLang="zh-CN" dirty="0"/>
              <a:t>2</a:t>
            </a:r>
            <a:r>
              <a:rPr lang="zh-CN" altLang="en-US" dirty="0"/>
              <a:t>、</a:t>
            </a:r>
            <a:r>
              <a:rPr lang="en-US" altLang="zh-CN" dirty="0"/>
              <a:t>3</a:t>
            </a:r>
            <a:r>
              <a:rPr lang="zh-CN" altLang="en-US" dirty="0"/>
              <a:t>层是硬件层，是计算机系统的基础和核心，计算机的所有功能最终都由硬件来完成；第</a:t>
            </a:r>
            <a:r>
              <a:rPr lang="en-US" altLang="zh-CN" dirty="0"/>
              <a:t>4</a:t>
            </a:r>
            <a:r>
              <a:rPr lang="zh-CN" altLang="en-US" dirty="0"/>
              <a:t>、</a:t>
            </a:r>
            <a:r>
              <a:rPr lang="en-US" altLang="zh-CN" dirty="0"/>
              <a:t>5</a:t>
            </a:r>
            <a:r>
              <a:rPr lang="zh-CN" altLang="en-US" dirty="0"/>
              <a:t>、</a:t>
            </a:r>
            <a:r>
              <a:rPr lang="en-US" altLang="zh-CN" dirty="0"/>
              <a:t>6</a:t>
            </a:r>
            <a:r>
              <a:rPr lang="zh-CN" altLang="en-US" dirty="0"/>
              <a:t>层是软件层，第</a:t>
            </a:r>
            <a:r>
              <a:rPr lang="en-US" altLang="zh-CN" dirty="0"/>
              <a:t>4</a:t>
            </a:r>
            <a:r>
              <a:rPr lang="zh-CN" altLang="en-US" dirty="0"/>
              <a:t>层是面向机器的，它是为满足高层的需要而设置的；第</a:t>
            </a:r>
            <a:r>
              <a:rPr lang="en-US" altLang="zh-CN" dirty="0"/>
              <a:t>5</a:t>
            </a:r>
            <a:r>
              <a:rPr lang="zh-CN" altLang="en-US" dirty="0"/>
              <a:t>、</a:t>
            </a:r>
            <a:r>
              <a:rPr lang="en-US" altLang="zh-CN" dirty="0"/>
              <a:t>6</a:t>
            </a:r>
            <a:r>
              <a:rPr lang="zh-CN" altLang="en-US" dirty="0"/>
              <a:t>层是面向应用的，它们是为程序员解决应用问题而设置的。</a:t>
            </a:r>
            <a:endParaRPr lang="zh-CN" altLang="zh-CN" dirty="0"/>
          </a:p>
        </p:txBody>
      </p:sp>
    </p:spTree>
    <p:extLst>
      <p:ext uri="{BB962C8B-B14F-4D97-AF65-F5344CB8AC3E}">
        <p14:creationId xmlns:p14="http://schemas.microsoft.com/office/powerpoint/2010/main" val="13789157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7F54C2E-A5BF-41AA-A782-E08EF54D162A}" type="slidenum">
              <a:rPr lang="en-US" altLang="zh-CN" smtClean="0">
                <a:latin typeface="Arial" panose="020B0604020202020204" pitchFamily="34" charset="0"/>
              </a:rPr>
              <a:pPr>
                <a:spcBef>
                  <a:spcPct val="0"/>
                </a:spcBef>
              </a:pPr>
              <a:t>40</a:t>
            </a:fld>
            <a:endParaRPr lang="en-US" altLang="zh-CN">
              <a:latin typeface="Arial" panose="020B0604020202020204" pitchFamily="34" charset="0"/>
            </a:endParaRPr>
          </a:p>
        </p:txBody>
      </p:sp>
      <p:sp>
        <p:nvSpPr>
          <p:cNvPr id="69635"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a:t>1.3.2 </a:t>
            </a:r>
            <a:r>
              <a:rPr lang="zh-CN" altLang="en-US" dirty="0"/>
              <a:t>各层之间的关系</a:t>
            </a:r>
            <a:endParaRPr lang="en-US" altLang="zh-CN" dirty="0"/>
          </a:p>
          <a:p>
            <a:pPr eaLnBrk="1" hangingPunct="1">
              <a:spcBef>
                <a:spcPct val="0"/>
              </a:spcBef>
            </a:pPr>
            <a:r>
              <a:rPr lang="zh-CN" altLang="en-US" dirty="0"/>
              <a:t>计算机系统层次结构中，高层是低层功能的扩展，低层是高层的基础。站在不同的层次观察计算机系统会得到不同的概念。例如，程序员在第</a:t>
            </a:r>
            <a:r>
              <a:rPr lang="en-US" altLang="zh-CN" dirty="0"/>
              <a:t>6</a:t>
            </a:r>
            <a:r>
              <a:rPr lang="zh-CN" altLang="en-US" dirty="0"/>
              <a:t>层看到的计算机是一个处理高级语言的机器；系统操作员将第</a:t>
            </a:r>
            <a:r>
              <a:rPr lang="en-US" altLang="zh-CN" dirty="0"/>
              <a:t>4</a:t>
            </a:r>
            <a:r>
              <a:rPr lang="zh-CN" altLang="en-US" dirty="0"/>
              <a:t>层看作系统的资源；而硬件设计人员在第</a:t>
            </a:r>
            <a:r>
              <a:rPr lang="en-US" altLang="zh-CN" dirty="0"/>
              <a:t>1</a:t>
            </a:r>
            <a:r>
              <a:rPr lang="zh-CN" altLang="en-US" dirty="0"/>
              <a:t>、</a:t>
            </a:r>
            <a:r>
              <a:rPr lang="en-US" altLang="zh-CN" dirty="0"/>
              <a:t>2</a:t>
            </a:r>
            <a:r>
              <a:rPr lang="zh-CN" altLang="en-US" dirty="0"/>
              <a:t>层看到的计算机是电子线路和逻辑器件集。从高级语言、汇编语言、机器语言和微程序设计者角度看到的分别是完成相同功能的高级语言程序、汇编语言程序、机器语言程序和计算机硬件电路的操作控制信号。第</a:t>
            </a:r>
            <a:r>
              <a:rPr lang="en-US" altLang="zh-CN" dirty="0"/>
              <a:t>6</a:t>
            </a:r>
            <a:r>
              <a:rPr lang="zh-CN" altLang="en-US" dirty="0"/>
              <a:t>层的高级语言程序只有翻译成第</a:t>
            </a:r>
            <a:r>
              <a:rPr lang="en-US" altLang="zh-CN" dirty="0"/>
              <a:t>2</a:t>
            </a:r>
            <a:r>
              <a:rPr lang="zh-CN" altLang="en-US" dirty="0"/>
              <a:t>层的微操作控制信号才能被计算机识别和执行。</a:t>
            </a:r>
            <a:endParaRPr lang="en-US" altLang="zh-CN" dirty="0"/>
          </a:p>
          <a:p>
            <a:pPr eaLnBrk="1" hangingPunct="1">
              <a:spcBef>
                <a:spcPct val="0"/>
              </a:spcBef>
            </a:pPr>
            <a:endParaRPr lang="en-US" altLang="zh-CN" dirty="0"/>
          </a:p>
          <a:p>
            <a:pPr eaLnBrk="1" hangingPunct="1">
              <a:spcBef>
                <a:spcPct val="0"/>
              </a:spcBef>
            </a:pPr>
            <a:r>
              <a:rPr lang="zh-CN" altLang="en-US" dirty="0"/>
              <a:t>计算机结构的层次划分不是绝对的。机器指令系统级与操作系统级的界面又称硬、软件交互界面，随着软件硬化和硬件软化而动态变化。操作系统和其他系统软件的界面也有动态变化的趋势。例如，数据库软件也起到了部分操作系统的功能。</a:t>
            </a:r>
            <a:endParaRPr lang="en-US" altLang="zh-CN" dirty="0"/>
          </a:p>
          <a:p>
            <a:pPr eaLnBrk="1" hangingPunct="1">
              <a:spcBef>
                <a:spcPct val="0"/>
              </a:spcBef>
            </a:pPr>
            <a:endParaRPr lang="en-US" altLang="zh-CN" dirty="0"/>
          </a:p>
          <a:p>
            <a:pPr eaLnBrk="1" hangingPunct="1">
              <a:spcBef>
                <a:spcPct val="0"/>
              </a:spcBef>
            </a:pPr>
            <a:r>
              <a:rPr lang="zh-CN" altLang="en-US" dirty="0"/>
              <a:t>随着本课程学习的不断深入，读者可以通过不断审视较低层次的抽象来了解计算机系统内部的工作原理。在计算机系统层次结构中，读者所处的层次越低，就会发现越多的在更高层中被隐藏的技术细节。</a:t>
            </a:r>
            <a:endParaRPr lang="en-US" altLang="zh-CN" dirty="0"/>
          </a:p>
          <a:p>
            <a:pPr eaLnBrk="1" hangingPunct="1">
              <a:spcBef>
                <a:spcPct val="0"/>
              </a:spcBef>
            </a:pPr>
            <a:endParaRPr lang="en-US" altLang="zh-CN" dirty="0"/>
          </a:p>
          <a:p>
            <a:pPr eaLnBrk="1" hangingPunct="1">
              <a:spcBef>
                <a:spcPct val="0"/>
              </a:spcBef>
            </a:pPr>
            <a:r>
              <a:rPr lang="en-US" altLang="zh-CN" dirty="0"/>
              <a:t>1.3.3 </a:t>
            </a:r>
            <a:r>
              <a:rPr lang="zh-CN" altLang="en-US" dirty="0"/>
              <a:t>软件和硬件的逻辑功能等价性</a:t>
            </a:r>
            <a:endParaRPr lang="en-US" altLang="zh-CN" dirty="0"/>
          </a:p>
          <a:p>
            <a:pPr eaLnBrk="1" hangingPunct="1">
              <a:spcBef>
                <a:spcPct val="0"/>
              </a:spcBef>
            </a:pPr>
            <a:endParaRPr lang="en-US" altLang="zh-CN" dirty="0"/>
          </a:p>
          <a:p>
            <a:pPr eaLnBrk="1" hangingPunct="1">
              <a:spcBef>
                <a:spcPct val="0"/>
              </a:spcBef>
            </a:pPr>
            <a:r>
              <a:rPr lang="zh-CN" altLang="en-US" dirty="0"/>
              <a:t>计算机硬件实现的往往是最基本的算术运算和逻辑运算功能，而其他功能大多通过软件的扩充得以实现。不过硬件和软件在功能上的分配关系随着技术的发展而不断变化。部分功能既可以由硬件实现，也可以由软件实现，从用户的角度来看，它们在功能上是等价的。这一等价性被称为软、硬件逻辑功能的等价性。例如，浮点数运算既可以用专门的浮点运算器硬件实现，也可以通过一段子程序实现，这两种实现方法在功能上完全等效，不同的只是执行时间的长短而已，显然硬件实现的性能要高于软件实现的性能。</a:t>
            </a:r>
            <a:endParaRPr lang="en-US" altLang="zh-CN" dirty="0"/>
          </a:p>
          <a:p>
            <a:pPr eaLnBrk="1" hangingPunct="1">
              <a:spcBef>
                <a:spcPct val="0"/>
              </a:spcBef>
            </a:pPr>
            <a:endParaRPr lang="en-US" altLang="zh-CN" dirty="0"/>
          </a:p>
          <a:p>
            <a:pPr eaLnBrk="1" hangingPunct="1">
              <a:spcBef>
                <a:spcPct val="0"/>
              </a:spcBef>
            </a:pPr>
            <a:r>
              <a:rPr lang="zh-CN" altLang="en-US" dirty="0"/>
              <a:t>软件和硬件逻辑功能的等价性是计算机系统设计的重要依据，软件和硬件的功能分配及其界面的确定是计算机系统结构研究的重要内容。当研制一台计算机时，设计者必须明确分配每一级的任务，确定哪些功能使用硬件实现，哪些功能使用软件实现。软件和硬件功能界面的划分是由设计目标、性能价格比、技术水平等综合因素决定的。</a:t>
            </a:r>
            <a:endParaRPr lang="en-US" altLang="zh-CN" dirty="0"/>
          </a:p>
          <a:p>
            <a:pPr eaLnBrk="1" hangingPunct="1">
              <a:spcBef>
                <a:spcPct val="0"/>
              </a:spcBef>
            </a:pPr>
            <a:endParaRPr lang="en-US" altLang="zh-CN" dirty="0"/>
          </a:p>
          <a:p>
            <a:pPr eaLnBrk="1" hangingPunct="1">
              <a:spcBef>
                <a:spcPct val="0"/>
              </a:spcBef>
            </a:pPr>
            <a:r>
              <a:rPr lang="zh-CN" altLang="en-US" dirty="0"/>
              <a:t>随着大规模集成电路技术的发展，软件硬化或固化是必然趋势。例如，目前</a:t>
            </a:r>
            <a:r>
              <a:rPr lang="en-US" altLang="zh-CN" dirty="0"/>
              <a:t>PC</a:t>
            </a:r>
            <a:r>
              <a:rPr lang="zh-CN" altLang="en-US" dirty="0"/>
              <a:t>主板上的</a:t>
            </a:r>
            <a:r>
              <a:rPr lang="en-US" altLang="zh-CN" dirty="0"/>
              <a:t>BIOS</a:t>
            </a:r>
            <a:r>
              <a:rPr lang="zh-CN" altLang="en-US" dirty="0"/>
              <a:t>芯片就是将基本输入输出系统程序（</a:t>
            </a:r>
            <a:r>
              <a:rPr lang="en-US" altLang="zh-CN" dirty="0"/>
              <a:t>BIOS</a:t>
            </a:r>
            <a:r>
              <a:rPr lang="zh-CN" altLang="en-US" dirty="0"/>
              <a:t>）固化在只读存储器（</a:t>
            </a:r>
            <a:r>
              <a:rPr lang="en-US" altLang="zh-CN" dirty="0"/>
              <a:t>ROM</a:t>
            </a:r>
            <a:r>
              <a:rPr lang="zh-CN" altLang="en-US" dirty="0"/>
              <a:t>）中实现的。它在形式上是硬件，但其实际内容是软件。</a:t>
            </a:r>
            <a:endParaRPr lang="zh-CN" altLang="zh-CN" dirty="0"/>
          </a:p>
        </p:txBody>
      </p:sp>
    </p:spTree>
    <p:extLst>
      <p:ext uri="{BB962C8B-B14F-4D97-AF65-F5344CB8AC3E}">
        <p14:creationId xmlns:p14="http://schemas.microsoft.com/office/powerpoint/2010/main" val="72421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extLst>
      <p:ext uri="{BB962C8B-B14F-4D97-AF65-F5344CB8AC3E}">
        <p14:creationId xmlns:p14="http://schemas.microsoft.com/office/powerpoint/2010/main" val="40813340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40978188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8305538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33304894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9367193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40427381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41201033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5466352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0640164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4681233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5290037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3737795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33820057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9669737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41112707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36707819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85626163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C9EA71-34AC-4080-B523-32D960D2EFBD}" type="slidenum">
              <a:rPr kumimoji="0" lang="en-US" altLang="zh-CN"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7043" name="Rectangle 2"/>
          <p:cNvSpPr>
            <a:spLocks noGrp="1" noRot="1" noChangeAspect="1" noChangeArrowheads="1" noTextEdit="1"/>
          </p:cNvSpPr>
          <p:nvPr>
            <p:ph type="sldImg"/>
          </p:nvPr>
        </p:nvSpPr>
        <p:spPr bwMode="auto">
          <a:xfrm>
            <a:off x="917575" y="769938"/>
            <a:ext cx="4932363" cy="37004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xfrm>
            <a:off x="885902" y="4702118"/>
            <a:ext cx="4994403" cy="4471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extLst>
      <p:ext uri="{BB962C8B-B14F-4D97-AF65-F5344CB8AC3E}">
        <p14:creationId xmlns:p14="http://schemas.microsoft.com/office/powerpoint/2010/main" val="25618772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60</a:t>
            </a:fld>
            <a:endParaRPr lang="zh-CN" altLang="en-US"/>
          </a:p>
        </p:txBody>
      </p:sp>
    </p:spTree>
    <p:extLst>
      <p:ext uri="{BB962C8B-B14F-4D97-AF65-F5344CB8AC3E}">
        <p14:creationId xmlns:p14="http://schemas.microsoft.com/office/powerpoint/2010/main" val="35251573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61</a:t>
            </a:fld>
            <a:endParaRPr lang="zh-CN" altLang="en-US"/>
          </a:p>
        </p:txBody>
      </p:sp>
    </p:spTree>
    <p:extLst>
      <p:ext uri="{BB962C8B-B14F-4D97-AF65-F5344CB8AC3E}">
        <p14:creationId xmlns:p14="http://schemas.microsoft.com/office/powerpoint/2010/main" val="42769445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07083F-A9AC-4DD1-AA11-C70902DC7689}" type="slidenum">
              <a:rPr lang="zh-CN" altLang="en-US" smtClean="0"/>
              <a:t>62</a:t>
            </a:fld>
            <a:endParaRPr lang="zh-CN" altLang="en-US"/>
          </a:p>
        </p:txBody>
      </p:sp>
    </p:spTree>
    <p:extLst>
      <p:ext uri="{BB962C8B-B14F-4D97-AF65-F5344CB8AC3E}">
        <p14:creationId xmlns:p14="http://schemas.microsoft.com/office/powerpoint/2010/main" val="4101226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ECADC9-DDAC-4876-B03F-248A1A81F0CA}"/>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F11E2C1-B8B5-429A-81E8-8DECD3D3D743}"/>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D774138-9FD5-47AF-8F93-145B47C51B9B}"/>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B612D118-8D0E-4418-BDEE-0868CC493EC3}"/>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269F24B-D883-4270-B44D-5C0F0BE643F2}"/>
              </a:ext>
            </a:extLst>
          </p:cNvPr>
          <p:cNvSpPr>
            <a:spLocks noGrp="1"/>
          </p:cNvSpPr>
          <p:nvPr>
            <p:ph type="sldNum" sz="quarter" idx="12"/>
          </p:nvPr>
        </p:nvSpPr>
        <p:spPr/>
        <p:txBody>
          <a:bodyPr/>
          <a:lstStyle>
            <a:lvl1pPr>
              <a:defRPr/>
            </a:lvl1pPr>
          </a:lstStyle>
          <a:p>
            <a:fld id="{81B7782F-97C8-469F-9D5F-C96162B5A3A8}" type="slidenum">
              <a:rPr lang="en-US" altLang="zh-CN"/>
              <a:pPr/>
              <a:t>‹#›</a:t>
            </a:fld>
            <a:endParaRPr lang="en-US" altLang="zh-CN"/>
          </a:p>
        </p:txBody>
      </p:sp>
    </p:spTree>
    <p:extLst>
      <p:ext uri="{BB962C8B-B14F-4D97-AF65-F5344CB8AC3E}">
        <p14:creationId xmlns:p14="http://schemas.microsoft.com/office/powerpoint/2010/main" val="1416968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857333-9AEF-486F-AD8C-1C08FF3BD31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346A00-488E-4E11-8757-7289514B61E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9162AC-7C58-49A9-9870-CD9EFDB851F0}"/>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CB1623AF-FD1F-4232-A7CC-86E5A55DF6C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24170B8-27E5-450A-82FD-1BC5BD38A52E}"/>
              </a:ext>
            </a:extLst>
          </p:cNvPr>
          <p:cNvSpPr>
            <a:spLocks noGrp="1"/>
          </p:cNvSpPr>
          <p:nvPr>
            <p:ph type="sldNum" sz="quarter" idx="12"/>
          </p:nvPr>
        </p:nvSpPr>
        <p:spPr/>
        <p:txBody>
          <a:bodyPr/>
          <a:lstStyle>
            <a:lvl1pPr>
              <a:defRPr/>
            </a:lvl1pPr>
          </a:lstStyle>
          <a:p>
            <a:fld id="{0DB65D52-00BC-4FD8-A2CA-0BB4FEB0F681}" type="slidenum">
              <a:rPr lang="en-US" altLang="zh-CN"/>
              <a:pPr/>
              <a:t>‹#›</a:t>
            </a:fld>
            <a:endParaRPr lang="en-US" altLang="zh-CN"/>
          </a:p>
        </p:txBody>
      </p:sp>
    </p:spTree>
    <p:extLst>
      <p:ext uri="{BB962C8B-B14F-4D97-AF65-F5344CB8AC3E}">
        <p14:creationId xmlns:p14="http://schemas.microsoft.com/office/powerpoint/2010/main" val="3883995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D65AC-6B2F-4AD0-940D-68FC2C15E4EC}"/>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1208EC6-75FE-4531-928D-6D4A9D1E9079}"/>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EBD3A1D-70C9-4674-9E18-56B6D0B738B4}"/>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B41B0CB-D27E-4F96-9969-CDF5B05C82F7}"/>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D11E889-AE6D-4FEC-AC9C-7FC12E656AC1}"/>
              </a:ext>
            </a:extLst>
          </p:cNvPr>
          <p:cNvSpPr>
            <a:spLocks noGrp="1"/>
          </p:cNvSpPr>
          <p:nvPr>
            <p:ph type="sldNum" sz="quarter" idx="12"/>
          </p:nvPr>
        </p:nvSpPr>
        <p:spPr/>
        <p:txBody>
          <a:bodyPr/>
          <a:lstStyle>
            <a:lvl1pPr>
              <a:defRPr/>
            </a:lvl1pPr>
          </a:lstStyle>
          <a:p>
            <a:fld id="{33A2CBB9-68C4-4009-A214-289FA6EC3CE9}" type="slidenum">
              <a:rPr lang="en-US" altLang="zh-CN"/>
              <a:pPr/>
              <a:t>‹#›</a:t>
            </a:fld>
            <a:endParaRPr lang="en-US" altLang="zh-CN"/>
          </a:p>
        </p:txBody>
      </p:sp>
    </p:spTree>
    <p:extLst>
      <p:ext uri="{BB962C8B-B14F-4D97-AF65-F5344CB8AC3E}">
        <p14:creationId xmlns:p14="http://schemas.microsoft.com/office/powerpoint/2010/main" val="2707363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DBD4D-3F3F-406A-80A7-FA9801334F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344DFA-9788-425C-9615-B4DE2F3C349D}"/>
              </a:ext>
            </a:extLst>
          </p:cNvPr>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42FE870-B0C3-406A-BEA3-1370573D0C3D}"/>
              </a:ext>
            </a:extLst>
          </p:cNvPr>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E35CE50-A927-4A03-AA05-240C071D29D3}"/>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49CDD8BB-E1CE-4D0E-BC42-6AC1C5F4C3F7}"/>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C103769F-42AE-47E0-82F1-E1E7ECF07F9B}"/>
              </a:ext>
            </a:extLst>
          </p:cNvPr>
          <p:cNvSpPr>
            <a:spLocks noGrp="1"/>
          </p:cNvSpPr>
          <p:nvPr>
            <p:ph type="sldNum" sz="quarter" idx="12"/>
          </p:nvPr>
        </p:nvSpPr>
        <p:spPr/>
        <p:txBody>
          <a:bodyPr/>
          <a:lstStyle>
            <a:lvl1pPr>
              <a:defRPr/>
            </a:lvl1pPr>
          </a:lstStyle>
          <a:p>
            <a:fld id="{2BA65C78-1C6E-4C7F-9111-2BDFB3C77C67}" type="slidenum">
              <a:rPr lang="en-US" altLang="zh-CN"/>
              <a:pPr/>
              <a:t>‹#›</a:t>
            </a:fld>
            <a:endParaRPr lang="en-US" altLang="zh-CN"/>
          </a:p>
        </p:txBody>
      </p:sp>
    </p:spTree>
    <p:extLst>
      <p:ext uri="{BB962C8B-B14F-4D97-AF65-F5344CB8AC3E}">
        <p14:creationId xmlns:p14="http://schemas.microsoft.com/office/powerpoint/2010/main" val="2976126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46F37-843B-433E-9663-E3AA3D86D4E8}"/>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311B485-0278-4888-9C8A-7E983BB2181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A8E7384-E91A-4240-8D20-4990F071B581}"/>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E7F18AA-2778-428B-B33F-592B1CDFB7DF}"/>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46584D3-A0C9-403C-9CBE-02B1C1FDE64F}"/>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1F3FFC0-0898-4728-8E20-CEBBFFC348F4}"/>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184D01DE-1016-4306-975C-D9C9E3E1AA06}"/>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8A8D34C0-5DEE-4D3F-8D7F-6633A69CE41E}"/>
              </a:ext>
            </a:extLst>
          </p:cNvPr>
          <p:cNvSpPr>
            <a:spLocks noGrp="1"/>
          </p:cNvSpPr>
          <p:nvPr>
            <p:ph type="sldNum" sz="quarter" idx="12"/>
          </p:nvPr>
        </p:nvSpPr>
        <p:spPr/>
        <p:txBody>
          <a:bodyPr/>
          <a:lstStyle>
            <a:lvl1pPr>
              <a:defRPr/>
            </a:lvl1pPr>
          </a:lstStyle>
          <a:p>
            <a:fld id="{E0DED5B3-FDA4-46AA-9C02-334A6E123079}" type="slidenum">
              <a:rPr lang="en-US" altLang="zh-CN"/>
              <a:pPr/>
              <a:t>‹#›</a:t>
            </a:fld>
            <a:endParaRPr lang="en-US" altLang="zh-CN"/>
          </a:p>
        </p:txBody>
      </p:sp>
    </p:spTree>
    <p:extLst>
      <p:ext uri="{BB962C8B-B14F-4D97-AF65-F5344CB8AC3E}">
        <p14:creationId xmlns:p14="http://schemas.microsoft.com/office/powerpoint/2010/main" val="233362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51C90D-1E8A-44D1-BB79-6BD8072FF24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1E9539A-6E2D-44D9-B0D7-678629EDC8EE}"/>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A3CF515D-58C0-4BA7-8A59-FB598A464E4B}"/>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F8B8DEA-964C-4022-B31C-166E53C8FF39}"/>
              </a:ext>
            </a:extLst>
          </p:cNvPr>
          <p:cNvSpPr>
            <a:spLocks noGrp="1"/>
          </p:cNvSpPr>
          <p:nvPr>
            <p:ph type="sldNum" sz="quarter" idx="12"/>
          </p:nvPr>
        </p:nvSpPr>
        <p:spPr/>
        <p:txBody>
          <a:bodyPr/>
          <a:lstStyle>
            <a:lvl1pPr>
              <a:defRPr/>
            </a:lvl1pPr>
          </a:lstStyle>
          <a:p>
            <a:fld id="{A240AB0C-C512-4AE4-9E9A-3F6F90D8D603}" type="slidenum">
              <a:rPr lang="en-US" altLang="zh-CN"/>
              <a:pPr/>
              <a:t>‹#›</a:t>
            </a:fld>
            <a:endParaRPr lang="en-US" altLang="zh-CN"/>
          </a:p>
        </p:txBody>
      </p:sp>
    </p:spTree>
    <p:extLst>
      <p:ext uri="{BB962C8B-B14F-4D97-AF65-F5344CB8AC3E}">
        <p14:creationId xmlns:p14="http://schemas.microsoft.com/office/powerpoint/2010/main" val="3714280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85464D8-5561-4991-BD26-E270AF73AC44}"/>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6692DD44-ECA9-4A17-A345-C139BD44B142}"/>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38173D15-5369-4F52-959E-15FD7BBD2A9A}"/>
              </a:ext>
            </a:extLst>
          </p:cNvPr>
          <p:cNvSpPr>
            <a:spLocks noGrp="1"/>
          </p:cNvSpPr>
          <p:nvPr>
            <p:ph type="sldNum" sz="quarter" idx="12"/>
          </p:nvPr>
        </p:nvSpPr>
        <p:spPr/>
        <p:txBody>
          <a:bodyPr/>
          <a:lstStyle>
            <a:lvl1pPr>
              <a:defRPr/>
            </a:lvl1pPr>
          </a:lstStyle>
          <a:p>
            <a:fld id="{F0E73ACF-A5FF-4C33-992A-3B4F4690F52F}" type="slidenum">
              <a:rPr lang="en-US" altLang="zh-CN"/>
              <a:pPr/>
              <a:t>‹#›</a:t>
            </a:fld>
            <a:endParaRPr lang="en-US" altLang="zh-CN"/>
          </a:p>
        </p:txBody>
      </p:sp>
    </p:spTree>
    <p:extLst>
      <p:ext uri="{BB962C8B-B14F-4D97-AF65-F5344CB8AC3E}">
        <p14:creationId xmlns:p14="http://schemas.microsoft.com/office/powerpoint/2010/main" val="3573670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66950-B3FA-4B3B-A3D5-4E8D217C1D07}"/>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5103289-F823-4507-BD1A-AE12180D6F0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D0E9CD4-E048-45F1-96F0-C4EEF38CB84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2B9C53-F792-4E14-ABEF-8FBEAD1A5455}"/>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CFC32D9-C044-4062-8B7E-9D110B90E616}"/>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4A25152E-9889-43F8-A88C-14DA7F59C68E}"/>
              </a:ext>
            </a:extLst>
          </p:cNvPr>
          <p:cNvSpPr>
            <a:spLocks noGrp="1"/>
          </p:cNvSpPr>
          <p:nvPr>
            <p:ph type="sldNum" sz="quarter" idx="12"/>
          </p:nvPr>
        </p:nvSpPr>
        <p:spPr/>
        <p:txBody>
          <a:bodyPr/>
          <a:lstStyle>
            <a:lvl1pPr>
              <a:defRPr/>
            </a:lvl1pPr>
          </a:lstStyle>
          <a:p>
            <a:fld id="{4E35D929-AF04-4793-9758-57A10897CAD3}" type="slidenum">
              <a:rPr lang="en-US" altLang="zh-CN"/>
              <a:pPr/>
              <a:t>‹#›</a:t>
            </a:fld>
            <a:endParaRPr lang="en-US" altLang="zh-CN"/>
          </a:p>
        </p:txBody>
      </p:sp>
    </p:spTree>
    <p:extLst>
      <p:ext uri="{BB962C8B-B14F-4D97-AF65-F5344CB8AC3E}">
        <p14:creationId xmlns:p14="http://schemas.microsoft.com/office/powerpoint/2010/main" val="2385616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DC2E68-CA49-416B-91FC-EB0E582A744F}"/>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679352A-96AD-4D17-A548-6A95147A33A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3D68CC0-0E46-41D7-A27A-54EF1AF1F10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6F64E0-5069-45A0-AA57-23EE6C657B3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A2570D45-A58B-4220-A4D3-F30FCEFF4DA9}"/>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07342164-3DA3-487C-94A1-3CB8EB685B83}"/>
              </a:ext>
            </a:extLst>
          </p:cNvPr>
          <p:cNvSpPr>
            <a:spLocks noGrp="1"/>
          </p:cNvSpPr>
          <p:nvPr>
            <p:ph type="sldNum" sz="quarter" idx="12"/>
          </p:nvPr>
        </p:nvSpPr>
        <p:spPr/>
        <p:txBody>
          <a:bodyPr/>
          <a:lstStyle>
            <a:lvl1pPr>
              <a:defRPr/>
            </a:lvl1pPr>
          </a:lstStyle>
          <a:p>
            <a:fld id="{372F29E3-F1A2-49D7-B1B1-BC5167578428}" type="slidenum">
              <a:rPr lang="en-US" altLang="zh-CN"/>
              <a:pPr/>
              <a:t>‹#›</a:t>
            </a:fld>
            <a:endParaRPr lang="en-US" altLang="zh-CN"/>
          </a:p>
        </p:txBody>
      </p:sp>
    </p:spTree>
    <p:extLst>
      <p:ext uri="{BB962C8B-B14F-4D97-AF65-F5344CB8AC3E}">
        <p14:creationId xmlns:p14="http://schemas.microsoft.com/office/powerpoint/2010/main" val="3400567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D4A8EE-DE76-420D-B103-10F85F7CCEF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2178C89-F8CA-4B65-BB4A-0C854AE6DC5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D68A5B-4B55-4587-840A-413374F2F224}"/>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B7CD4D4-3BF9-4A16-A03D-A1F1E52B5DE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9EE9A6D-AA4D-46D0-85E1-3A309E71C320}"/>
              </a:ext>
            </a:extLst>
          </p:cNvPr>
          <p:cNvSpPr>
            <a:spLocks noGrp="1"/>
          </p:cNvSpPr>
          <p:nvPr>
            <p:ph type="sldNum" sz="quarter" idx="12"/>
          </p:nvPr>
        </p:nvSpPr>
        <p:spPr/>
        <p:txBody>
          <a:bodyPr/>
          <a:lstStyle>
            <a:lvl1pPr>
              <a:defRPr/>
            </a:lvl1pPr>
          </a:lstStyle>
          <a:p>
            <a:fld id="{73FB8D13-7444-4167-99BD-C2602B54F472}" type="slidenum">
              <a:rPr lang="en-US" altLang="zh-CN"/>
              <a:pPr/>
              <a:t>‹#›</a:t>
            </a:fld>
            <a:endParaRPr lang="en-US" altLang="zh-CN"/>
          </a:p>
        </p:txBody>
      </p:sp>
    </p:spTree>
    <p:extLst>
      <p:ext uri="{BB962C8B-B14F-4D97-AF65-F5344CB8AC3E}">
        <p14:creationId xmlns:p14="http://schemas.microsoft.com/office/powerpoint/2010/main" val="4239336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563F329-67E8-4806-B870-AD5D6FDE2217}"/>
              </a:ext>
            </a:extLst>
          </p:cNvPr>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2CABB46-B05B-4945-BFE9-FAC0BFADB106}"/>
              </a:ext>
            </a:extLst>
          </p:cNvPr>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A908251-05CD-450A-BB0C-E20C6438B245}"/>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186E9C54-60D9-4FA8-8CEB-542E8F9AE1D3}"/>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6FA12AE-259D-4691-98E0-F90A1396B186}"/>
              </a:ext>
            </a:extLst>
          </p:cNvPr>
          <p:cNvSpPr>
            <a:spLocks noGrp="1"/>
          </p:cNvSpPr>
          <p:nvPr>
            <p:ph type="sldNum" sz="quarter" idx="12"/>
          </p:nvPr>
        </p:nvSpPr>
        <p:spPr/>
        <p:txBody>
          <a:bodyPr/>
          <a:lstStyle>
            <a:lvl1pPr>
              <a:defRPr/>
            </a:lvl1pPr>
          </a:lstStyle>
          <a:p>
            <a:fld id="{0E92A875-0D47-4A6F-BE1E-B5BDD51ACFF8}" type="slidenum">
              <a:rPr lang="en-US" altLang="zh-CN"/>
              <a:pPr/>
              <a:t>‹#›</a:t>
            </a:fld>
            <a:endParaRPr lang="en-US" altLang="zh-CN"/>
          </a:p>
        </p:txBody>
      </p:sp>
    </p:spTree>
    <p:extLst>
      <p:ext uri="{BB962C8B-B14F-4D97-AF65-F5344CB8AC3E}">
        <p14:creationId xmlns:p14="http://schemas.microsoft.com/office/powerpoint/2010/main" val="1451769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5" name="圆角矩形 4"/>
          <p:cNvSpPr/>
          <p:nvPr userDrawn="1"/>
        </p:nvSpPr>
        <p:spPr>
          <a:xfrm flipV="1">
            <a:off x="0" y="1454150"/>
            <a:ext cx="7929563" cy="46038"/>
          </a:xfrm>
          <a:prstGeom prst="roundRect">
            <a:avLst/>
          </a:prstGeom>
          <a:solidFill>
            <a:srgbClr val="0070C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 name="标题 1"/>
          <p:cNvSpPr>
            <a:spLocks noGrp="1"/>
          </p:cNvSpPr>
          <p:nvPr>
            <p:ph type="title"/>
          </p:nvPr>
        </p:nvSpPr>
        <p:spPr>
          <a:xfrm>
            <a:off x="457200" y="122238"/>
            <a:ext cx="7543800" cy="1295400"/>
          </a:xfrm>
        </p:spPr>
        <p:txBody>
          <a:bodyPr/>
          <a:lstStyle>
            <a:lvl1pPr>
              <a:defRPr b="1">
                <a:solidFill>
                  <a:srgbClr val="0070C0"/>
                </a:solidFill>
                <a:latin typeface="微软雅黑" pitchFamily="34" charset="-122"/>
                <a:ea typeface="微软雅黑" pitchFamily="34" charset="-122"/>
              </a:defRPr>
            </a:lvl1pPr>
          </a:lstStyle>
          <a:p>
            <a:r>
              <a:rPr lang="zh-CN" altLang="en-US" dirty="0"/>
              <a:t>单击此处编辑母版标题样式</a:t>
            </a:r>
          </a:p>
        </p:txBody>
      </p:sp>
      <p:sp>
        <p:nvSpPr>
          <p:cNvPr id="3" name="文本占位符 2"/>
          <p:cNvSpPr>
            <a:spLocks noGrp="1"/>
          </p:cNvSpPr>
          <p:nvPr>
            <p:ph type="body"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p:cNvSpPr>
            <a:spLocks noGrp="1" noChangeArrowheads="1"/>
          </p:cNvSpPr>
          <p:nvPr>
            <p:ph type="dt" sz="half" idx="10"/>
          </p:nvPr>
        </p:nvSpPr>
        <p:spPr/>
        <p:txBody>
          <a:bodyPr/>
          <a:lstStyle>
            <a:lvl1pPr>
              <a:defRPr/>
            </a:lvl1pPr>
          </a:lstStyle>
          <a:p>
            <a:pPr>
              <a:defRPr/>
            </a:pPr>
            <a:endParaRPr lang="en-US" altLang="zh-CN"/>
          </a:p>
        </p:txBody>
      </p:sp>
      <p:sp>
        <p:nvSpPr>
          <p:cNvPr id="7" name="Rectangle 6"/>
          <p:cNvSpPr>
            <a:spLocks noGrp="1" noChangeArrowheads="1"/>
          </p:cNvSpPr>
          <p:nvPr>
            <p:ph type="ftr" sz="quarter" idx="11"/>
          </p:nvPr>
        </p:nvSpPr>
        <p:spPr/>
        <p:txBody>
          <a:bodyPr/>
          <a:lstStyle>
            <a:lvl1pPr>
              <a:defRPr/>
            </a:lvl1pPr>
          </a:lstStyle>
          <a:p>
            <a:pPr>
              <a:defRPr/>
            </a:pPr>
            <a:endParaRPr lang="en-US" altLang="zh-CN"/>
          </a:p>
        </p:txBody>
      </p:sp>
      <p:sp>
        <p:nvSpPr>
          <p:cNvPr id="8" name="Rectangle 7"/>
          <p:cNvSpPr>
            <a:spLocks noGrp="1" noChangeArrowheads="1"/>
          </p:cNvSpPr>
          <p:nvPr>
            <p:ph type="sldNum" sz="quarter" idx="12"/>
          </p:nvPr>
        </p:nvSpPr>
        <p:spPr/>
        <p:txBody>
          <a:bodyPr/>
          <a:lstStyle>
            <a:lvl1pPr>
              <a:defRPr/>
            </a:lvl1pPr>
          </a:lstStyle>
          <a:p>
            <a:pPr>
              <a:defRPr/>
            </a:pPr>
            <a:fld id="{56591EB5-E1D7-4780-AD1C-D158E923E478}" type="slidenum">
              <a:rPr lang="en-US" altLang="zh-CN"/>
              <a:pPr>
                <a:defRPr/>
              </a:pPr>
              <a:t>‹#›</a:t>
            </a:fld>
            <a:endParaRPr lang="en-US" altLang="zh-CN"/>
          </a:p>
        </p:txBody>
      </p:sp>
    </p:spTree>
    <p:extLst>
      <p:ext uri="{BB962C8B-B14F-4D97-AF65-F5344CB8AC3E}">
        <p14:creationId xmlns:p14="http://schemas.microsoft.com/office/powerpoint/2010/main" val="143171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3BF1C57-5232-434D-8AF1-575D912F6A0F}"/>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030D696D-CF84-4811-AACD-A9410F1ECB25}"/>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014C1703-7F0F-4E02-B86B-A8125A6813D4}"/>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a:extLst>
              <a:ext uri="{FF2B5EF4-FFF2-40B4-BE49-F238E27FC236}">
                <a16:creationId xmlns:a16="http://schemas.microsoft.com/office/drawing/2014/main" id="{29CCC1A2-C6D1-4344-9550-742BCE31423F}"/>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a:extLst>
              <a:ext uri="{FF2B5EF4-FFF2-40B4-BE49-F238E27FC236}">
                <a16:creationId xmlns:a16="http://schemas.microsoft.com/office/drawing/2014/main" id="{4FECA2EB-2755-4B4B-A370-1CD7F4568065}"/>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D43816EF-43ED-46DD-8FF5-5D238C5278C9}"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com.educoder.ne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2.emf"/><Relationship Id="rId5" Type="http://schemas.openxmlformats.org/officeDocument/2006/relationships/oleObject" Target="../embeddings/oleObject1.bin"/><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oleObject" Target="../embeddings/oleObject2.bin"/><Relationship Id="rId4" Type="http://schemas.openxmlformats.org/officeDocument/2006/relationships/hyperlink" Target="https://www.ixigua.com/6980167661313491486"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23.jp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23.jp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3.jp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23.jpg"/></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25.jpe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2.jpeg"/><Relationship Id="rId7" Type="http://schemas.openxmlformats.org/officeDocument/2006/relationships/image" Target="../media/image32.wmf"/><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31.wmf"/><Relationship Id="rId4" Type="http://schemas.openxmlformats.org/officeDocument/2006/relationships/oleObject" Target="../embeddings/oleObject3.bin"/><Relationship Id="rId9" Type="http://schemas.openxmlformats.org/officeDocument/2006/relationships/image" Target="../media/image33.wmf"/></Relationships>
</file>

<file path=ppt/slides/_rels/slide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5.bin"/></Relationships>
</file>

<file path=ppt/slides/_rels/slide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a:extLst>
              <a:ext uri="{FF2B5EF4-FFF2-40B4-BE49-F238E27FC236}">
                <a16:creationId xmlns:a16="http://schemas.microsoft.com/office/drawing/2014/main" id="{E8D2F46D-56EA-4950-B044-5C10AFCFD0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1266" name="Rectangle 2"/>
          <p:cNvSpPr>
            <a:spLocks noGrp="1" noChangeArrowheads="1"/>
          </p:cNvSpPr>
          <p:nvPr>
            <p:ph type="ctrTitle"/>
          </p:nvPr>
        </p:nvSpPr>
        <p:spPr>
          <a:xfrm>
            <a:off x="728192" y="1556792"/>
            <a:ext cx="7344816" cy="2387600"/>
          </a:xfrm>
        </p:spPr>
        <p:txBody>
          <a:bodyPr>
            <a:normAutofit fontScale="90000"/>
          </a:bodyPr>
          <a:lstStyle/>
          <a:p>
            <a:pPr eaLnBrk="1" hangingPunct="1">
              <a:lnSpc>
                <a:spcPct val="150000"/>
              </a:lnSpc>
            </a:pPr>
            <a:r>
              <a:rPr lang="zh-CN" altLang="en-US" b="1"/>
              <a:t>计算机组织与</a:t>
            </a:r>
            <a:r>
              <a:rPr lang="zh-CN" altLang="en-US" b="1" dirty="0"/>
              <a:t>体系结构</a:t>
            </a:r>
            <a:br>
              <a:rPr lang="zh-CN" altLang="en-US" b="1" dirty="0"/>
            </a:br>
            <a:r>
              <a:rPr lang="zh-CN" altLang="en-US" b="1" dirty="0"/>
              <a:t>第一章绪论</a:t>
            </a:r>
          </a:p>
        </p:txBody>
      </p:sp>
      <p:sp>
        <p:nvSpPr>
          <p:cNvPr id="11267" name="Rectangle 3"/>
          <p:cNvSpPr>
            <a:spLocks noGrp="1" noChangeArrowheads="1"/>
          </p:cNvSpPr>
          <p:nvPr>
            <p:ph type="subTitle" idx="1"/>
          </p:nvPr>
        </p:nvSpPr>
        <p:spPr>
          <a:xfrm>
            <a:off x="971600" y="4396507"/>
            <a:ext cx="6858000" cy="1655762"/>
          </a:xfrm>
        </p:spPr>
        <p:txBody>
          <a:bodyPr/>
          <a:lstStyle/>
          <a:p>
            <a:pPr eaLnBrk="1" hangingPunct="1">
              <a:lnSpc>
                <a:spcPct val="150000"/>
              </a:lnSpc>
            </a:pPr>
            <a:r>
              <a:rPr lang="zh-CN" altLang="en-US" sz="2800" b="1" dirty="0">
                <a:latin typeface="+mn-ea"/>
                <a:cs typeface="Times New Roman" panose="02020603050405020304" pitchFamily="18" charset="0"/>
              </a:rPr>
              <a:t>西安电子科技大学</a:t>
            </a:r>
            <a:endParaRPr lang="en-US" altLang="zh-CN" sz="2800" b="1" dirty="0">
              <a:latin typeface="+mn-ea"/>
              <a:cs typeface="Times New Roman" panose="02020603050405020304" pitchFamily="18" charset="0"/>
            </a:endParaRPr>
          </a:p>
          <a:p>
            <a:pPr eaLnBrk="1" hangingPunct="1">
              <a:lnSpc>
                <a:spcPct val="150000"/>
              </a:lnSpc>
            </a:pPr>
            <a:r>
              <a:rPr lang="zh-CN" altLang="en-US" sz="2800" b="1" dirty="0">
                <a:latin typeface="+mn-ea"/>
                <a:cs typeface="Times New Roman" panose="02020603050405020304" pitchFamily="18" charset="0"/>
              </a:rPr>
              <a:t>人工智能学院 </a:t>
            </a:r>
            <a:endParaRPr lang="en-US" altLang="zh-CN" sz="2800" b="1" dirty="0">
              <a:latin typeface="+mn-ea"/>
              <a:cs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8F91D2B3-CA2E-49EE-AC35-0B5EC38DC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701E57F3-90FD-4FE2-AC6A-BB07E3A4E5E6}"/>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课程要求</a:t>
            </a:r>
          </a:p>
        </p:txBody>
      </p:sp>
      <p:sp>
        <p:nvSpPr>
          <p:cNvPr id="3" name="文本占位符 2"/>
          <p:cNvSpPr>
            <a:spLocks noGrp="1"/>
          </p:cNvSpPr>
          <p:nvPr>
            <p:ph type="body" sz="half" idx="1"/>
          </p:nvPr>
        </p:nvSpPr>
        <p:spPr>
          <a:xfrm>
            <a:off x="139100" y="901755"/>
            <a:ext cx="8368067" cy="5551581"/>
          </a:xfrm>
        </p:spPr>
        <p:txBody>
          <a:bodyPr/>
          <a:lstStyle/>
          <a:p>
            <a:pPr>
              <a:lnSpc>
                <a:spcPct val="150000"/>
              </a:lnSpc>
            </a:pPr>
            <a:r>
              <a:rPr lang="zh-CN" altLang="zh-CN" sz="2400" b="1" dirty="0">
                <a:solidFill>
                  <a:srgbClr val="FF0000"/>
                </a:solidFill>
                <a:latin typeface="Times New Roman" panose="02020603050405020304" pitchFamily="18" charset="0"/>
                <a:cs typeface="Times New Roman" panose="02020603050405020304" pitchFamily="18" charset="0"/>
              </a:rPr>
              <a:t>总成绩</a:t>
            </a:r>
            <a:r>
              <a:rPr lang="en-US" altLang="zh-CN" sz="2400" b="1" dirty="0">
                <a:solidFill>
                  <a:srgbClr val="FF0000"/>
                </a:solidFill>
                <a:latin typeface="Times New Roman" panose="02020603050405020304" pitchFamily="18" charset="0"/>
                <a:cs typeface="Times New Roman" panose="02020603050405020304" pitchFamily="18" charset="0"/>
              </a:rPr>
              <a:t>=</a:t>
            </a:r>
            <a:r>
              <a:rPr lang="zh-CN" altLang="zh-CN" sz="2400" b="1" dirty="0">
                <a:solidFill>
                  <a:srgbClr val="FF0000"/>
                </a:solidFill>
                <a:latin typeface="Times New Roman" panose="02020603050405020304" pitchFamily="18" charset="0"/>
                <a:cs typeface="Times New Roman" panose="02020603050405020304" pitchFamily="18" charset="0"/>
              </a:rPr>
              <a:t>期末成绩</a:t>
            </a:r>
            <a:r>
              <a:rPr lang="en-US" altLang="zh-CN" sz="2400" b="1" dirty="0">
                <a:solidFill>
                  <a:srgbClr val="FF0000"/>
                </a:solidFill>
                <a:latin typeface="Times New Roman" panose="02020603050405020304" pitchFamily="18" charset="0"/>
                <a:cs typeface="Times New Roman" panose="02020603050405020304" pitchFamily="18" charset="0"/>
              </a:rPr>
              <a:t>×70%+</a:t>
            </a:r>
            <a:r>
              <a:rPr lang="zh-CN" altLang="zh-CN" sz="2400" b="1" dirty="0">
                <a:solidFill>
                  <a:srgbClr val="FF0000"/>
                </a:solidFill>
                <a:latin typeface="Times New Roman" panose="02020603050405020304" pitchFamily="18" charset="0"/>
                <a:cs typeface="Times New Roman" panose="02020603050405020304" pitchFamily="18" charset="0"/>
              </a:rPr>
              <a:t>期</a:t>
            </a:r>
            <a:r>
              <a:rPr lang="zh-CN" altLang="en-US" sz="2400" b="1" dirty="0">
                <a:solidFill>
                  <a:srgbClr val="FF0000"/>
                </a:solidFill>
                <a:latin typeface="Times New Roman" panose="02020603050405020304" pitchFamily="18" charset="0"/>
                <a:cs typeface="Times New Roman" panose="02020603050405020304" pitchFamily="18" charset="0"/>
              </a:rPr>
              <a:t>中</a:t>
            </a:r>
            <a:r>
              <a:rPr lang="zh-CN" altLang="zh-CN" sz="2400" b="1" dirty="0">
                <a:solidFill>
                  <a:srgbClr val="FF0000"/>
                </a:solidFill>
                <a:latin typeface="Times New Roman" panose="02020603050405020304" pitchFamily="18" charset="0"/>
                <a:cs typeface="Times New Roman" panose="02020603050405020304" pitchFamily="18" charset="0"/>
              </a:rPr>
              <a:t>成绩</a:t>
            </a:r>
            <a:r>
              <a:rPr lang="en-US" altLang="zh-CN" sz="2400" b="1" dirty="0">
                <a:solidFill>
                  <a:srgbClr val="FF0000"/>
                </a:solidFill>
                <a:latin typeface="Times New Roman" panose="02020603050405020304" pitchFamily="18" charset="0"/>
                <a:cs typeface="Times New Roman" panose="02020603050405020304" pitchFamily="18" charset="0"/>
              </a:rPr>
              <a:t>×10%+</a:t>
            </a:r>
            <a:r>
              <a:rPr lang="zh-CN" altLang="zh-CN" sz="2400" b="1" dirty="0">
                <a:solidFill>
                  <a:srgbClr val="FF0000"/>
                </a:solidFill>
                <a:latin typeface="Times New Roman" panose="02020603050405020304" pitchFamily="18" charset="0"/>
                <a:cs typeface="Times New Roman" panose="02020603050405020304" pitchFamily="18" charset="0"/>
              </a:rPr>
              <a:t>实验成绩</a:t>
            </a:r>
            <a:r>
              <a:rPr lang="en-US" altLang="zh-CN" sz="2400" b="1" dirty="0">
                <a:solidFill>
                  <a:srgbClr val="FF0000"/>
                </a:solidFill>
                <a:latin typeface="Times New Roman" panose="02020603050405020304" pitchFamily="18" charset="0"/>
                <a:cs typeface="Times New Roman" panose="02020603050405020304" pitchFamily="18" charset="0"/>
              </a:rPr>
              <a:t>×10%+</a:t>
            </a:r>
            <a:r>
              <a:rPr lang="zh-CN" altLang="zh-CN" sz="2400" b="1" dirty="0">
                <a:solidFill>
                  <a:srgbClr val="FF0000"/>
                </a:solidFill>
                <a:latin typeface="Times New Roman" panose="02020603050405020304" pitchFamily="18" charset="0"/>
                <a:cs typeface="Times New Roman" panose="02020603050405020304" pitchFamily="18" charset="0"/>
              </a:rPr>
              <a:t>平时成绩</a:t>
            </a:r>
            <a:r>
              <a:rPr lang="en-US" altLang="zh-CN" sz="2400" b="1" dirty="0">
                <a:solidFill>
                  <a:srgbClr val="FF0000"/>
                </a:solidFill>
                <a:latin typeface="Times New Roman" panose="02020603050405020304" pitchFamily="18" charset="0"/>
                <a:cs typeface="Times New Roman" panose="02020603050405020304" pitchFamily="18" charset="0"/>
              </a:rPr>
              <a:t>×10%       </a:t>
            </a:r>
            <a:endParaRPr lang="zh-CN" altLang="zh-CN" sz="2400" b="1" dirty="0">
              <a:solidFill>
                <a:srgbClr val="FF0000"/>
              </a:solidFill>
              <a:latin typeface="Times New Roman" panose="02020603050405020304" pitchFamily="18" charset="0"/>
              <a:cs typeface="Times New Roman" panose="02020603050405020304" pitchFamily="18" charset="0"/>
            </a:endParaRPr>
          </a:p>
          <a:p>
            <a:pPr algn="l">
              <a:lnSpc>
                <a:spcPct val="150000"/>
              </a:lnSpc>
            </a:pPr>
            <a:r>
              <a:rPr lang="zh-CN" altLang="en-US" sz="2400" b="1" dirty="0">
                <a:solidFill>
                  <a:srgbClr val="0000FF"/>
                </a:solidFill>
                <a:latin typeface="+mn-ea"/>
              </a:rPr>
              <a:t>教材：计算机组成与系统结构（第二版）</a:t>
            </a:r>
            <a:endParaRPr lang="en-US" altLang="zh-CN" sz="2400" b="1" dirty="0">
              <a:solidFill>
                <a:srgbClr val="0000FF"/>
              </a:solidFill>
              <a:latin typeface="+mn-ea"/>
            </a:endParaRPr>
          </a:p>
          <a:p>
            <a:pPr lvl="1">
              <a:lnSpc>
                <a:spcPct val="150000"/>
              </a:lnSpc>
            </a:pPr>
            <a:r>
              <a:rPr lang="zh-CN" altLang="en-US" sz="2000" b="1" dirty="0">
                <a:solidFill>
                  <a:srgbClr val="0000FF"/>
                </a:solidFill>
                <a:latin typeface="+mn-ea"/>
              </a:rPr>
              <a:t>作者</a:t>
            </a:r>
            <a:r>
              <a:rPr lang="en-US" altLang="zh-CN" sz="2000" b="1" dirty="0">
                <a:solidFill>
                  <a:srgbClr val="0000FF"/>
                </a:solidFill>
                <a:latin typeface="+mn-ea"/>
              </a:rPr>
              <a:t>:</a:t>
            </a:r>
            <a:r>
              <a:rPr lang="zh-CN" altLang="en-US" sz="2000" b="1" dirty="0">
                <a:solidFill>
                  <a:srgbClr val="0000FF"/>
                </a:solidFill>
                <a:latin typeface="+mn-ea"/>
              </a:rPr>
              <a:t>裘雪红；</a:t>
            </a:r>
            <a:endParaRPr lang="en-US" altLang="zh-CN" sz="2000" b="1" dirty="0">
              <a:solidFill>
                <a:srgbClr val="0000FF"/>
              </a:solidFill>
              <a:latin typeface="+mn-ea"/>
            </a:endParaRPr>
          </a:p>
          <a:p>
            <a:pPr lvl="1">
              <a:lnSpc>
                <a:spcPct val="150000"/>
              </a:lnSpc>
            </a:pPr>
            <a:r>
              <a:rPr lang="zh-CN" altLang="en-US" sz="2000" b="1" dirty="0">
                <a:solidFill>
                  <a:srgbClr val="0000FF"/>
                </a:solidFill>
                <a:latin typeface="+mn-ea"/>
              </a:rPr>
              <a:t>出版社</a:t>
            </a:r>
            <a:r>
              <a:rPr lang="en-US" altLang="zh-CN" sz="2000" b="1" dirty="0">
                <a:solidFill>
                  <a:srgbClr val="0000FF"/>
                </a:solidFill>
                <a:latin typeface="+mn-ea"/>
              </a:rPr>
              <a:t>:</a:t>
            </a:r>
            <a:r>
              <a:rPr lang="zh-CN" altLang="en-US" sz="2000" b="1" dirty="0">
                <a:solidFill>
                  <a:srgbClr val="0000FF"/>
                </a:solidFill>
                <a:latin typeface="+mn-ea"/>
              </a:rPr>
              <a:t>西安电子科技大学出版社，</a:t>
            </a:r>
            <a:endParaRPr lang="en-US" altLang="zh-CN" sz="2000" b="1" dirty="0">
              <a:solidFill>
                <a:srgbClr val="0000FF"/>
              </a:solidFill>
              <a:latin typeface="+mn-ea"/>
            </a:endParaRPr>
          </a:p>
          <a:p>
            <a:pPr lvl="1">
              <a:lnSpc>
                <a:spcPct val="150000"/>
              </a:lnSpc>
            </a:pPr>
            <a:r>
              <a:rPr lang="zh-CN" altLang="en-US" sz="2000" b="1" dirty="0">
                <a:solidFill>
                  <a:srgbClr val="0000FF"/>
                </a:solidFill>
                <a:latin typeface="+mn-ea"/>
              </a:rPr>
              <a:t>出版时间</a:t>
            </a:r>
            <a:r>
              <a:rPr lang="en-US" altLang="zh-CN" sz="2000" b="1" dirty="0">
                <a:solidFill>
                  <a:srgbClr val="0000FF"/>
                </a:solidFill>
                <a:latin typeface="+mn-ea"/>
              </a:rPr>
              <a:t>:2020</a:t>
            </a:r>
            <a:r>
              <a:rPr lang="zh-CN" altLang="en-US" sz="2000" b="1" dirty="0">
                <a:solidFill>
                  <a:srgbClr val="0000FF"/>
                </a:solidFill>
                <a:latin typeface="+mn-ea"/>
              </a:rPr>
              <a:t>年</a:t>
            </a:r>
            <a:r>
              <a:rPr lang="en-US" altLang="zh-CN" sz="2000" b="1" dirty="0">
                <a:solidFill>
                  <a:srgbClr val="0000FF"/>
                </a:solidFill>
                <a:latin typeface="+mn-ea"/>
              </a:rPr>
              <a:t>08</a:t>
            </a:r>
            <a:r>
              <a:rPr lang="zh-CN" altLang="en-US" sz="2000" b="1" dirty="0">
                <a:solidFill>
                  <a:srgbClr val="0000FF"/>
                </a:solidFill>
                <a:latin typeface="+mn-ea"/>
              </a:rPr>
              <a:t>月 </a:t>
            </a:r>
            <a:endParaRPr lang="en-US" altLang="zh-CN" sz="2000" b="1" dirty="0">
              <a:solidFill>
                <a:srgbClr val="0000FF"/>
              </a:solidFill>
              <a:latin typeface="+mn-ea"/>
            </a:endParaRPr>
          </a:p>
          <a:p>
            <a:pPr>
              <a:lnSpc>
                <a:spcPct val="150000"/>
              </a:lnSpc>
            </a:pPr>
            <a:r>
              <a:rPr lang="zh-CN" altLang="en-US" sz="2400" b="1" dirty="0">
                <a:latin typeface="+mn-ea"/>
              </a:rPr>
              <a:t>课程辅导群：</a:t>
            </a:r>
            <a:endParaRPr lang="en-US" altLang="zh-CN" sz="2400" b="1" dirty="0">
              <a:latin typeface="+mn-ea"/>
            </a:endParaRPr>
          </a:p>
          <a:p>
            <a:pPr lvl="1">
              <a:lnSpc>
                <a:spcPct val="150000"/>
              </a:lnSpc>
            </a:pPr>
            <a:r>
              <a:rPr lang="zh-CN" altLang="en-US" sz="2000" b="1" dirty="0">
                <a:latin typeface="+mn-ea"/>
              </a:rPr>
              <a:t>验证问题答案：</a:t>
            </a:r>
            <a:r>
              <a:rPr lang="en-US" altLang="zh-CN" sz="2000" b="1" dirty="0">
                <a:latin typeface="+mn-ea"/>
              </a:rPr>
              <a:t>2</a:t>
            </a:r>
          </a:p>
          <a:p>
            <a:pPr lvl="1">
              <a:lnSpc>
                <a:spcPct val="150000"/>
              </a:lnSpc>
            </a:pPr>
            <a:r>
              <a:rPr lang="zh-CN" altLang="en-US" sz="2000" b="1" dirty="0">
                <a:latin typeface="+mn-ea"/>
              </a:rPr>
              <a:t>命名规则：姓名</a:t>
            </a:r>
            <a:r>
              <a:rPr lang="en-US" altLang="zh-CN" sz="2000" b="1" dirty="0">
                <a:latin typeface="+mn-ea"/>
              </a:rPr>
              <a:t>+</a:t>
            </a:r>
            <a:r>
              <a:rPr lang="zh-CN" altLang="en-US" sz="2000" b="1" dirty="0">
                <a:latin typeface="+mn-ea"/>
              </a:rPr>
              <a:t>班级</a:t>
            </a:r>
            <a:r>
              <a:rPr lang="en-US" altLang="zh-CN" sz="2000" b="1" dirty="0">
                <a:latin typeface="+mn-ea"/>
              </a:rPr>
              <a:t>+</a:t>
            </a:r>
            <a:r>
              <a:rPr lang="zh-CN" altLang="en-US" sz="2000" b="1" dirty="0">
                <a:latin typeface="+mn-ea"/>
              </a:rPr>
              <a:t>学号</a:t>
            </a:r>
          </a:p>
          <a:p>
            <a:pPr>
              <a:lnSpc>
                <a:spcPct val="150000"/>
              </a:lnSpc>
            </a:pPr>
            <a:endParaRPr lang="zh-CN" altLang="en-US" sz="2400" b="1" dirty="0">
              <a:solidFill>
                <a:srgbClr val="0000FF"/>
              </a:solidFill>
              <a:latin typeface="+mn-ea"/>
            </a:endParaRPr>
          </a:p>
          <a:p>
            <a:pPr>
              <a:lnSpc>
                <a:spcPct val="150000"/>
              </a:lnSpc>
              <a:buFont typeface="Wingdings" panose="05000000000000000000" pitchFamily="2" charset="2"/>
              <a:buChar char="Ø"/>
            </a:pPr>
            <a:endParaRPr lang="en-US" altLang="zh-CN" sz="2400" b="1" dirty="0">
              <a:latin typeface="+mn-ea"/>
            </a:endParaRPr>
          </a:p>
        </p:txBody>
      </p:sp>
      <p:pic>
        <p:nvPicPr>
          <p:cNvPr id="4" name="图片 3">
            <a:extLst>
              <a:ext uri="{FF2B5EF4-FFF2-40B4-BE49-F238E27FC236}">
                <a16:creationId xmlns:a16="http://schemas.microsoft.com/office/drawing/2014/main" id="{DCFBC519-8EA0-46DD-B579-D59D415FCADE}"/>
              </a:ext>
            </a:extLst>
          </p:cNvPr>
          <p:cNvPicPr>
            <a:picLocks noChangeAspect="1"/>
          </p:cNvPicPr>
          <p:nvPr/>
        </p:nvPicPr>
        <p:blipFill>
          <a:blip r:embed="rId4"/>
          <a:stretch>
            <a:fillRect/>
          </a:stretch>
        </p:blipFill>
        <p:spPr>
          <a:xfrm>
            <a:off x="6372200" y="1405447"/>
            <a:ext cx="1872208" cy="2674583"/>
          </a:xfrm>
          <a:prstGeom prst="rect">
            <a:avLst/>
          </a:prstGeom>
        </p:spPr>
      </p:pic>
      <p:pic>
        <p:nvPicPr>
          <p:cNvPr id="9" name="Picture 8">
            <a:extLst>
              <a:ext uri="{FF2B5EF4-FFF2-40B4-BE49-F238E27FC236}">
                <a16:creationId xmlns:a16="http://schemas.microsoft.com/office/drawing/2014/main" id="{B7FB3522-877C-9462-C5DF-9159777393B5}"/>
              </a:ext>
            </a:extLst>
          </p:cNvPr>
          <p:cNvPicPr>
            <a:picLocks noChangeAspect="1"/>
          </p:cNvPicPr>
          <p:nvPr/>
        </p:nvPicPr>
        <p:blipFill>
          <a:blip r:embed="rId5">
            <a:extLst>
              <a:ext uri="{28A0092B-C50C-407E-A947-70E740481C1C}">
                <a14:useLocalDpi xmlns:a14="http://schemas.microsoft.com/office/drawing/2010/main" val="0"/>
              </a:ext>
            </a:extLst>
          </a:blip>
          <a:srcRect l="9509" t="30932" r="9451" b="26501"/>
          <a:stretch/>
        </p:blipFill>
        <p:spPr>
          <a:xfrm>
            <a:off x="6182420" y="4195554"/>
            <a:ext cx="2643163" cy="2466841"/>
          </a:xfrm>
          <a:prstGeom prst="rect">
            <a:avLst/>
          </a:prstGeom>
        </p:spPr>
      </p:pic>
    </p:spTree>
    <p:extLst>
      <p:ext uri="{BB962C8B-B14F-4D97-AF65-F5344CB8AC3E}">
        <p14:creationId xmlns:p14="http://schemas.microsoft.com/office/powerpoint/2010/main" val="394159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8F91D2B3-CA2E-49EE-AC35-0B5EC38DC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701E57F3-90FD-4FE2-AC6A-BB07E3A4E5E6}"/>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课程要求</a:t>
            </a:r>
          </a:p>
        </p:txBody>
      </p:sp>
      <p:sp>
        <p:nvSpPr>
          <p:cNvPr id="10" name="文本框 9">
            <a:extLst>
              <a:ext uri="{FF2B5EF4-FFF2-40B4-BE49-F238E27FC236}">
                <a16:creationId xmlns:a16="http://schemas.microsoft.com/office/drawing/2014/main" id="{19DE8B63-E963-4797-8DC9-77FE55ADF811}"/>
              </a:ext>
            </a:extLst>
          </p:cNvPr>
          <p:cNvSpPr txBox="1"/>
          <p:nvPr/>
        </p:nvSpPr>
        <p:spPr>
          <a:xfrm>
            <a:off x="179512" y="861340"/>
            <a:ext cx="8856984" cy="2369880"/>
          </a:xfrm>
          <a:prstGeom prst="rect">
            <a:avLst/>
          </a:prstGeom>
          <a:noFill/>
        </p:spPr>
        <p:txBody>
          <a:bodyPr wrap="square">
            <a:spAutoFit/>
          </a:bodyPr>
          <a:lstStyle/>
          <a:p>
            <a:r>
              <a:rPr lang="zh-CN" altLang="en-US" sz="2800" b="1" dirty="0">
                <a:solidFill>
                  <a:srgbClr val="FF0000"/>
                </a:solidFill>
                <a:latin typeface="Times New Roman" panose="02020603050405020304" pitchFamily="18" charset="0"/>
                <a:cs typeface="Times New Roman" panose="02020603050405020304" pitchFamily="18" charset="0"/>
              </a:rPr>
              <a:t>实验</a:t>
            </a:r>
            <a:endParaRPr lang="en-US" altLang="zh-CN" sz="2800" b="1" dirty="0">
              <a:solidFill>
                <a:srgbClr val="FF0000"/>
              </a:solidFill>
              <a:latin typeface="Times New Roman" panose="02020603050405020304" pitchFamily="18" charset="0"/>
              <a:cs typeface="Times New Roman" panose="02020603050405020304" pitchFamily="18" charset="0"/>
            </a:endParaRPr>
          </a:p>
          <a:p>
            <a:r>
              <a:rPr lang="zh-CN" altLang="en-US" sz="2400" b="1" dirty="0">
                <a:latin typeface="Times New Roman" panose="02020603050405020304" pitchFamily="18" charset="0"/>
                <a:cs typeface="Times New Roman" panose="02020603050405020304" pitchFamily="18" charset="0"/>
              </a:rPr>
              <a:t>平台：头歌实训平台</a:t>
            </a:r>
            <a:endParaRPr lang="en-US" altLang="zh-CN" sz="2400" b="1" dirty="0">
              <a:latin typeface="Times New Roman" panose="02020603050405020304" pitchFamily="18" charset="0"/>
              <a:cs typeface="Times New Roman" panose="02020603050405020304" pitchFamily="18" charset="0"/>
            </a:endParaRPr>
          </a:p>
          <a:p>
            <a:r>
              <a:rPr lang="zh-CN" altLang="en-US" sz="2400" b="1" dirty="0">
                <a:latin typeface="Times New Roman" panose="02020603050405020304" pitchFamily="18" charset="0"/>
                <a:cs typeface="Times New Roman" panose="02020603050405020304" pitchFamily="18" charset="0"/>
                <a:hlinkClick r:id="rId4"/>
              </a:rPr>
              <a:t>https://com.educoder.net/</a:t>
            </a:r>
            <a:endParaRPr lang="en-US" altLang="zh-CN" sz="2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2400" b="1" dirty="0">
                <a:latin typeface="Times New Roman" panose="02020603050405020304" pitchFamily="18" charset="0"/>
                <a:cs typeface="Times New Roman" panose="02020603050405020304" pitchFamily="18" charset="0"/>
              </a:rPr>
              <a:t>Logisim</a:t>
            </a:r>
            <a:r>
              <a:rPr lang="zh-CN" altLang="en-US" sz="2400" b="1" dirty="0">
                <a:latin typeface="Times New Roman" panose="02020603050405020304" pitchFamily="18" charset="0"/>
                <a:cs typeface="Times New Roman" panose="02020603050405020304" pitchFamily="18" charset="0"/>
              </a:rPr>
              <a:t>软件</a:t>
            </a:r>
            <a:endParaRPr lang="en-US" altLang="zh-CN" sz="2400" b="1" dirty="0">
              <a:latin typeface="Times New Roman" panose="02020603050405020304" pitchFamily="18" charset="0"/>
              <a:cs typeface="Times New Roman" panose="02020603050405020304" pitchFamily="18" charset="0"/>
            </a:endParaRPr>
          </a:p>
          <a:p>
            <a:r>
              <a:rPr lang="zh-CN" altLang="en-US" sz="2400" b="1" dirty="0">
                <a:latin typeface="Times New Roman" panose="02020603050405020304" pitchFamily="18" charset="0"/>
                <a:cs typeface="Times New Roman" panose="02020603050405020304" pitchFamily="18" charset="0"/>
              </a:rPr>
              <a:t>相关资料：</a:t>
            </a:r>
            <a:endParaRPr lang="en-US" altLang="zh-CN" sz="2400" b="1" dirty="0">
              <a:latin typeface="Times New Roman" panose="02020603050405020304" pitchFamily="18" charset="0"/>
              <a:cs typeface="Times New Roman" panose="02020603050405020304" pitchFamily="18" charset="0"/>
            </a:endParaRPr>
          </a:p>
          <a:p>
            <a:endParaRPr lang="zh-CN" altLang="en-US" sz="2400" b="1" dirty="0">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204D8E07-7B86-4A9E-8E0E-9B66790A3863}"/>
              </a:ext>
            </a:extLst>
          </p:cNvPr>
          <p:cNvPicPr>
            <a:picLocks noChangeAspect="1"/>
          </p:cNvPicPr>
          <p:nvPr/>
        </p:nvPicPr>
        <p:blipFill>
          <a:blip r:embed="rId5"/>
          <a:stretch>
            <a:fillRect/>
          </a:stretch>
        </p:blipFill>
        <p:spPr>
          <a:xfrm>
            <a:off x="3559307" y="3734303"/>
            <a:ext cx="5584693" cy="2714615"/>
          </a:xfrm>
          <a:prstGeom prst="rect">
            <a:avLst/>
          </a:prstGeom>
        </p:spPr>
      </p:pic>
      <p:pic>
        <p:nvPicPr>
          <p:cNvPr id="15" name="图片 14">
            <a:extLst>
              <a:ext uri="{FF2B5EF4-FFF2-40B4-BE49-F238E27FC236}">
                <a16:creationId xmlns:a16="http://schemas.microsoft.com/office/drawing/2014/main" id="{57F69159-C794-44AC-BC09-49F2BBD8671D}"/>
              </a:ext>
            </a:extLst>
          </p:cNvPr>
          <p:cNvPicPr>
            <a:picLocks noChangeAspect="1"/>
          </p:cNvPicPr>
          <p:nvPr/>
        </p:nvPicPr>
        <p:blipFill rotWithShape="1">
          <a:blip r:embed="rId6"/>
          <a:srcRect r="10625"/>
          <a:stretch/>
        </p:blipFill>
        <p:spPr>
          <a:xfrm>
            <a:off x="3680300" y="856192"/>
            <a:ext cx="5409948" cy="2714615"/>
          </a:xfrm>
          <a:prstGeom prst="rect">
            <a:avLst/>
          </a:prstGeom>
        </p:spPr>
      </p:pic>
      <p:pic>
        <p:nvPicPr>
          <p:cNvPr id="18" name="图片 17">
            <a:extLst>
              <a:ext uri="{FF2B5EF4-FFF2-40B4-BE49-F238E27FC236}">
                <a16:creationId xmlns:a16="http://schemas.microsoft.com/office/drawing/2014/main" id="{5658CA7A-5E95-488B-B79B-CF7258557B93}"/>
              </a:ext>
            </a:extLst>
          </p:cNvPr>
          <p:cNvPicPr>
            <a:picLocks noChangeAspect="1"/>
          </p:cNvPicPr>
          <p:nvPr/>
        </p:nvPicPr>
        <p:blipFill rotWithShape="1">
          <a:blip r:embed="rId7"/>
          <a:srcRect r="32023"/>
          <a:stretch/>
        </p:blipFill>
        <p:spPr>
          <a:xfrm>
            <a:off x="170735" y="3198060"/>
            <a:ext cx="3334820" cy="2648612"/>
          </a:xfrm>
          <a:prstGeom prst="rect">
            <a:avLst/>
          </a:prstGeom>
        </p:spPr>
      </p:pic>
    </p:spTree>
    <p:extLst>
      <p:ext uri="{BB962C8B-B14F-4D97-AF65-F5344CB8AC3E}">
        <p14:creationId xmlns:p14="http://schemas.microsoft.com/office/powerpoint/2010/main" val="414034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1531C03-FEDE-4F70-95EF-BBA9090FB0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5D0525FA-F2D0-4425-AD9E-7BB89B326C44}"/>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目录</a:t>
            </a:r>
          </a:p>
        </p:txBody>
      </p:sp>
      <p:sp>
        <p:nvSpPr>
          <p:cNvPr id="63490" name="Rectangle 3"/>
          <p:cNvSpPr>
            <a:spLocks noGrp="1" noChangeArrowheads="1"/>
          </p:cNvSpPr>
          <p:nvPr>
            <p:ph idx="1"/>
          </p:nvPr>
        </p:nvSpPr>
        <p:spPr>
          <a:xfrm>
            <a:off x="107504" y="836712"/>
            <a:ext cx="9036496" cy="5884762"/>
          </a:xfrm>
        </p:spPr>
        <p:txBody>
          <a:bodyPr numCol="2"/>
          <a:lstStyle/>
          <a:p>
            <a:pPr marL="0" indent="0" eaLnBrk="1" hangingPunct="1">
              <a:lnSpc>
                <a:spcPct val="150000"/>
              </a:lnSpc>
              <a:spcBef>
                <a:spcPts val="0"/>
              </a:spcBef>
              <a:buClr>
                <a:schemeClr val="tx2">
                  <a:lumMod val="60000"/>
                  <a:lumOff val="40000"/>
                </a:schemeClr>
              </a:buClr>
              <a:buSzPct val="100000"/>
              <a:buNone/>
            </a:pPr>
            <a:r>
              <a:rPr lang="zh-CN" altLang="en-US" sz="2400" b="1" dirty="0">
                <a:solidFill>
                  <a:schemeClr val="tx2"/>
                </a:solidFill>
                <a:latin typeface="Times New Roman" panose="02020603050405020304" pitchFamily="18" charset="0"/>
                <a:cs typeface="Times New Roman" panose="02020603050405020304" pitchFamily="18" charset="0"/>
              </a:rPr>
              <a:t>一、计算机的发展简史</a:t>
            </a:r>
            <a:endParaRPr lang="en-US" altLang="zh-CN" sz="2400" b="1" dirty="0">
              <a:solidFill>
                <a:schemeClr val="tx2"/>
              </a:solidFill>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 计算机发展概况</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摩尔定律</a:t>
            </a: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latin typeface="Times New Roman" panose="02020603050405020304" pitchFamily="18" charset="0"/>
                <a:cs typeface="Times New Roman" panose="02020603050405020304" pitchFamily="18" charset="0"/>
              </a:rPr>
              <a:t>3. </a:t>
            </a:r>
            <a:r>
              <a:rPr lang="zh-CN" altLang="en-US" sz="2000" b="1" dirty="0">
                <a:latin typeface="Times New Roman" panose="02020603050405020304" pitchFamily="18" charset="0"/>
                <a:cs typeface="Times New Roman" panose="02020603050405020304" pitchFamily="18" charset="0"/>
              </a:rPr>
              <a:t>集成电路工艺发展概况</a:t>
            </a:r>
            <a:endParaRPr lang="en-US" altLang="zh-CN" sz="2000" b="1" dirty="0">
              <a:latin typeface="Times New Roman" panose="02020603050405020304" pitchFamily="18" charset="0"/>
              <a:cs typeface="Times New Roman" panose="02020603050405020304" pitchFamily="18" charset="0"/>
            </a:endParaRPr>
          </a:p>
          <a:p>
            <a:pPr marL="0" indent="0" eaLnBrk="1" hangingPunct="1">
              <a:lnSpc>
                <a:spcPct val="150000"/>
              </a:lnSpc>
              <a:spcBef>
                <a:spcPts val="0"/>
              </a:spcBef>
              <a:buClr>
                <a:schemeClr val="tx2">
                  <a:lumMod val="60000"/>
                  <a:lumOff val="40000"/>
                </a:schemeClr>
              </a:buClr>
              <a:buSzPct val="100000"/>
              <a:buNone/>
            </a:pPr>
            <a:r>
              <a:rPr lang="zh-CN" altLang="en-US" sz="2400" b="1" dirty="0">
                <a:solidFill>
                  <a:schemeClr val="tx2"/>
                </a:solidFill>
                <a:latin typeface="Times New Roman" panose="02020603050405020304" pitchFamily="18" charset="0"/>
                <a:cs typeface="Times New Roman" panose="02020603050405020304" pitchFamily="18" charset="0"/>
              </a:rPr>
              <a:t>二、计算机系统的组成</a:t>
            </a:r>
            <a:endParaRPr lang="en-US" altLang="zh-CN" sz="2400" b="1" dirty="0">
              <a:solidFill>
                <a:schemeClr val="tx2"/>
              </a:solidFill>
              <a:latin typeface="Times New Roman" panose="02020603050405020304" pitchFamily="18" charset="0"/>
              <a:cs typeface="Times New Roman" panose="02020603050405020304" pitchFamily="18" charset="0"/>
            </a:endParaRPr>
          </a:p>
          <a:p>
            <a:pPr marL="0" indent="403225" eaLnBrk="1" hangingPunct="1">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计算机硬件系统</a:t>
            </a:r>
            <a:endParaRPr lang="en-US" altLang="zh-CN" sz="2000" b="1" dirty="0">
              <a:latin typeface="Times New Roman" panose="02020603050405020304" pitchFamily="18" charset="0"/>
              <a:cs typeface="Times New Roman" panose="02020603050405020304" pitchFamily="18" charset="0"/>
            </a:endParaRPr>
          </a:p>
          <a:p>
            <a:pPr marL="0" indent="403225">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2</a:t>
            </a:r>
            <a:r>
              <a:rPr lang="zh-CN" altLang="en-US" sz="2000" b="1" dirty="0">
                <a:latin typeface="Times New Roman" panose="02020603050405020304" pitchFamily="18" charset="0"/>
                <a:cs typeface="Times New Roman" panose="02020603050405020304" pitchFamily="18" charset="0"/>
              </a:rPr>
              <a:t>. 计算机软件系统</a:t>
            </a:r>
          </a:p>
          <a:p>
            <a:pPr marL="0" indent="0" eaLnBrk="1" hangingPunct="1">
              <a:lnSpc>
                <a:spcPct val="150000"/>
              </a:lnSpc>
              <a:spcBef>
                <a:spcPts val="0"/>
              </a:spcBef>
              <a:buClr>
                <a:schemeClr val="tx2">
                  <a:lumMod val="60000"/>
                  <a:lumOff val="40000"/>
                </a:schemeClr>
              </a:buClr>
              <a:buSzPct val="100000"/>
              <a:buNone/>
            </a:pPr>
            <a:r>
              <a:rPr lang="zh-CN" altLang="en-US" sz="2400" b="1" dirty="0">
                <a:solidFill>
                  <a:schemeClr val="tx2"/>
                </a:solidFill>
                <a:latin typeface="Times New Roman" panose="02020603050405020304" pitchFamily="18" charset="0"/>
                <a:cs typeface="Times New Roman" panose="02020603050405020304" pitchFamily="18" charset="0"/>
              </a:rPr>
              <a:t>三、计算机系统的层次结构</a:t>
            </a:r>
            <a:endParaRPr lang="en-US" altLang="zh-CN" sz="2400" b="1" dirty="0">
              <a:solidFill>
                <a:schemeClr val="tx2"/>
              </a:solidFill>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pPr>
            <a:r>
              <a:rPr lang="en-US" altLang="zh-CN" sz="2000" b="1" dirty="0">
                <a:solidFill>
                  <a:schemeClr val="tx2"/>
                </a:solidFill>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计算机系统的层次结构</a:t>
            </a:r>
            <a:endParaRPr lang="en-US" altLang="zh-CN" sz="2000" b="1" dirty="0">
              <a:latin typeface="Times New Roman" panose="02020603050405020304" pitchFamily="18" charset="0"/>
              <a:cs typeface="Times New Roman" panose="02020603050405020304" pitchFamily="18" charset="0"/>
            </a:endParaRPr>
          </a:p>
          <a:p>
            <a:pPr marL="0" indent="355600" eaLnBrk="1" hangingPunct="1">
              <a:lnSpc>
                <a:spcPct val="150000"/>
              </a:lnSpc>
              <a:spcBef>
                <a:spcPts val="0"/>
              </a:spcBef>
              <a:buClr>
                <a:schemeClr val="tx2">
                  <a:lumMod val="60000"/>
                  <a:lumOff val="40000"/>
                </a:schemeClr>
              </a:buClr>
              <a:buSzPct val="100000"/>
              <a:buNone/>
            </a:pPr>
            <a:r>
              <a:rPr lang="en-US" altLang="zh-CN" sz="2000" b="1" dirty="0">
                <a:solidFill>
                  <a:schemeClr val="tx2"/>
                </a:solidFill>
                <a:latin typeface="Times New Roman" panose="02020603050405020304" pitchFamily="18" charset="0"/>
                <a:cs typeface="Times New Roman" panose="02020603050405020304" pitchFamily="18" charset="0"/>
              </a:rPr>
              <a:t>2. </a:t>
            </a:r>
            <a:r>
              <a:rPr lang="zh-CN" altLang="en-US" sz="2000" b="1" dirty="0">
                <a:solidFill>
                  <a:schemeClr val="tx2"/>
                </a:solidFill>
                <a:latin typeface="Times New Roman" panose="02020603050405020304" pitchFamily="18" charset="0"/>
                <a:cs typeface="Times New Roman" panose="02020603050405020304" pitchFamily="18" charset="0"/>
              </a:rPr>
              <a:t>层次间的关系</a:t>
            </a:r>
          </a:p>
          <a:p>
            <a:pPr marL="0" indent="0" eaLnBrk="1" hangingPunct="1">
              <a:lnSpc>
                <a:spcPct val="150000"/>
              </a:lnSpc>
              <a:spcBef>
                <a:spcPts val="0"/>
              </a:spcBef>
              <a:buNone/>
            </a:pPr>
            <a:endParaRPr lang="en-US" altLang="zh-CN" sz="2400" b="1" dirty="0">
              <a:solidFill>
                <a:schemeClr val="tx2"/>
              </a:solidFill>
              <a:latin typeface="Times New Roman" panose="02020603050405020304" pitchFamily="18" charset="0"/>
              <a:cs typeface="Times New Roman" panose="02020603050405020304" pitchFamily="18" charset="0"/>
            </a:endParaRPr>
          </a:p>
          <a:p>
            <a:pPr marL="0" indent="0" eaLnBrk="1" hangingPunct="1">
              <a:lnSpc>
                <a:spcPct val="150000"/>
              </a:lnSpc>
              <a:spcBef>
                <a:spcPts val="0"/>
              </a:spcBef>
              <a:buNone/>
            </a:pPr>
            <a:r>
              <a:rPr lang="zh-CN" altLang="en-US" sz="2400" b="1" dirty="0">
                <a:solidFill>
                  <a:schemeClr val="tx2"/>
                </a:solidFill>
                <a:latin typeface="Times New Roman" panose="02020603050405020304" pitchFamily="18" charset="0"/>
                <a:cs typeface="Times New Roman" panose="02020603050405020304" pitchFamily="18" charset="0"/>
              </a:rPr>
              <a:t>四、计算机性能指标和评价</a:t>
            </a:r>
          </a:p>
          <a:p>
            <a:pPr marL="0" indent="355600" eaLnBrk="1" hangingPunct="1">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基本性能指标</a:t>
            </a:r>
            <a:endParaRPr lang="en-US" altLang="zh-CN" sz="2000" b="1" dirty="0">
              <a:latin typeface="Times New Roman" panose="02020603050405020304" pitchFamily="18" charset="0"/>
              <a:cs typeface="Times New Roman" panose="02020603050405020304" pitchFamily="18" charset="0"/>
            </a:endParaRPr>
          </a:p>
          <a:p>
            <a:pPr marL="0" indent="355600" eaLnBrk="1" hangingPunct="1">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运算速度</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3. </a:t>
            </a:r>
            <a:r>
              <a:rPr lang="zh-CN" altLang="en-US" sz="2000" b="1" dirty="0">
                <a:latin typeface="Times New Roman" panose="02020603050405020304" pitchFamily="18" charset="0"/>
                <a:cs typeface="Times New Roman" panose="02020603050405020304" pitchFamily="18" charset="0"/>
              </a:rPr>
              <a:t>性能测试及其工具</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4. Amdahl</a:t>
            </a:r>
            <a:r>
              <a:rPr lang="zh-CN" altLang="en-US" sz="2000" b="1" dirty="0">
                <a:latin typeface="Times New Roman" panose="02020603050405020304" pitchFamily="18" charset="0"/>
                <a:cs typeface="Times New Roman" panose="02020603050405020304" pitchFamily="18" charset="0"/>
              </a:rPr>
              <a:t>定律</a:t>
            </a:r>
          </a:p>
        </p:txBody>
      </p:sp>
    </p:spTree>
    <p:extLst>
      <p:ext uri="{BB962C8B-B14F-4D97-AF65-F5344CB8AC3E}">
        <p14:creationId xmlns:p14="http://schemas.microsoft.com/office/powerpoint/2010/main" val="365716786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1531C03-FEDE-4F70-95EF-BBA9090FB0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5D0525FA-F2D0-4425-AD9E-7BB89B326C44}"/>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目录</a:t>
            </a:r>
          </a:p>
        </p:txBody>
      </p:sp>
      <p:sp>
        <p:nvSpPr>
          <p:cNvPr id="63490" name="Rectangle 3"/>
          <p:cNvSpPr>
            <a:spLocks noGrp="1" noChangeArrowheads="1"/>
          </p:cNvSpPr>
          <p:nvPr>
            <p:ph idx="1"/>
          </p:nvPr>
        </p:nvSpPr>
        <p:spPr>
          <a:xfrm>
            <a:off x="107504" y="836712"/>
            <a:ext cx="9036496" cy="5884762"/>
          </a:xfrm>
        </p:spPr>
        <p:txBody>
          <a:bodyPr numCol="2"/>
          <a:lstStyle/>
          <a:p>
            <a:pPr marL="0" indent="0" eaLnBrk="1" hangingPunct="1">
              <a:lnSpc>
                <a:spcPct val="150000"/>
              </a:lnSpc>
              <a:spcBef>
                <a:spcPts val="0"/>
              </a:spcBef>
              <a:buClr>
                <a:schemeClr val="tx2">
                  <a:lumMod val="60000"/>
                  <a:lumOff val="40000"/>
                </a:schemeClr>
              </a:buClr>
              <a:buSzPct val="100000"/>
              <a:buNone/>
            </a:pPr>
            <a:r>
              <a:rPr lang="zh-CN" altLang="en-US" sz="2400" b="1" dirty="0">
                <a:solidFill>
                  <a:srgbClr val="0000FF"/>
                </a:solidFill>
                <a:latin typeface="Times New Roman" panose="02020603050405020304" pitchFamily="18" charset="0"/>
                <a:cs typeface="Times New Roman" panose="02020603050405020304" pitchFamily="18" charset="0"/>
              </a:rPr>
              <a:t>一、计算机的发展简史</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solidFill>
                  <a:srgbClr val="0000FF"/>
                </a:solidFill>
                <a:latin typeface="Times New Roman" panose="02020603050405020304" pitchFamily="18" charset="0"/>
                <a:cs typeface="Times New Roman" panose="02020603050405020304" pitchFamily="18" charset="0"/>
              </a:rPr>
              <a:t>1.</a:t>
            </a:r>
            <a:r>
              <a:rPr lang="zh-CN" altLang="en-US" sz="2000" b="1" dirty="0">
                <a:solidFill>
                  <a:srgbClr val="0000FF"/>
                </a:solidFill>
                <a:latin typeface="Times New Roman" panose="02020603050405020304" pitchFamily="18" charset="0"/>
                <a:cs typeface="Times New Roman" panose="02020603050405020304" pitchFamily="18" charset="0"/>
              </a:rPr>
              <a:t> 计算机发展概况</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solidFill>
                  <a:srgbClr val="0000FF"/>
                </a:solidFill>
                <a:latin typeface="Times New Roman" panose="02020603050405020304" pitchFamily="18" charset="0"/>
                <a:cs typeface="Times New Roman" panose="02020603050405020304" pitchFamily="18" charset="0"/>
              </a:rPr>
              <a:t>2. </a:t>
            </a:r>
            <a:r>
              <a:rPr lang="zh-CN" altLang="en-US" sz="2000" b="1" dirty="0">
                <a:solidFill>
                  <a:srgbClr val="0000FF"/>
                </a:solidFill>
                <a:latin typeface="Times New Roman" panose="02020603050405020304" pitchFamily="18" charset="0"/>
                <a:cs typeface="Times New Roman" panose="02020603050405020304" pitchFamily="18" charset="0"/>
              </a:rPr>
              <a:t>摩尔定律</a:t>
            </a: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solidFill>
                  <a:srgbClr val="0000FF"/>
                </a:solidFill>
                <a:latin typeface="Times New Roman" panose="02020603050405020304" pitchFamily="18" charset="0"/>
                <a:cs typeface="Times New Roman" panose="02020603050405020304" pitchFamily="18" charset="0"/>
              </a:rPr>
              <a:t>3. </a:t>
            </a:r>
            <a:r>
              <a:rPr lang="zh-CN" altLang="en-US" sz="2000" b="1" dirty="0">
                <a:solidFill>
                  <a:srgbClr val="0000FF"/>
                </a:solidFill>
                <a:latin typeface="Times New Roman" panose="02020603050405020304" pitchFamily="18" charset="0"/>
                <a:cs typeface="Times New Roman" panose="02020603050405020304" pitchFamily="18" charset="0"/>
              </a:rPr>
              <a:t>集成电路工艺发展概况</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0" indent="0" eaLnBrk="1" hangingPunct="1">
              <a:lnSpc>
                <a:spcPct val="150000"/>
              </a:lnSpc>
              <a:spcBef>
                <a:spcPts val="0"/>
              </a:spcBef>
              <a:buClr>
                <a:schemeClr val="tx2">
                  <a:lumMod val="60000"/>
                  <a:lumOff val="40000"/>
                </a:schemeClr>
              </a:buClr>
              <a:buSzPct val="100000"/>
              <a:buNone/>
            </a:pPr>
            <a:r>
              <a:rPr lang="zh-CN" altLang="en-US" sz="2400" b="1" dirty="0">
                <a:solidFill>
                  <a:schemeClr val="tx2"/>
                </a:solidFill>
                <a:latin typeface="Times New Roman" panose="02020603050405020304" pitchFamily="18" charset="0"/>
                <a:cs typeface="Times New Roman" panose="02020603050405020304" pitchFamily="18" charset="0"/>
              </a:rPr>
              <a:t>二、计算机系统的组成</a:t>
            </a:r>
            <a:endParaRPr lang="en-US" altLang="zh-CN" sz="2400" b="1" dirty="0">
              <a:solidFill>
                <a:schemeClr val="tx2"/>
              </a:solidFill>
              <a:latin typeface="Times New Roman" panose="02020603050405020304" pitchFamily="18" charset="0"/>
              <a:cs typeface="Times New Roman" panose="02020603050405020304" pitchFamily="18" charset="0"/>
            </a:endParaRPr>
          </a:p>
          <a:p>
            <a:pPr marL="0" indent="355600" eaLnBrk="1" hangingPunct="1">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计算机硬件系统</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2</a:t>
            </a:r>
            <a:r>
              <a:rPr lang="zh-CN" altLang="en-US" sz="2000" b="1" dirty="0">
                <a:latin typeface="Times New Roman" panose="02020603050405020304" pitchFamily="18" charset="0"/>
                <a:cs typeface="Times New Roman" panose="02020603050405020304" pitchFamily="18" charset="0"/>
              </a:rPr>
              <a:t>. 计算机软件系统</a:t>
            </a:r>
          </a:p>
          <a:p>
            <a:pPr marL="0" indent="0" eaLnBrk="1" hangingPunct="1">
              <a:lnSpc>
                <a:spcPct val="150000"/>
              </a:lnSpc>
              <a:spcBef>
                <a:spcPts val="0"/>
              </a:spcBef>
              <a:buClr>
                <a:schemeClr val="tx2">
                  <a:lumMod val="60000"/>
                  <a:lumOff val="40000"/>
                </a:schemeClr>
              </a:buClr>
              <a:buSzPct val="100000"/>
              <a:buNone/>
            </a:pPr>
            <a:r>
              <a:rPr lang="zh-CN" altLang="en-US" sz="2400" b="1" dirty="0">
                <a:latin typeface="Times New Roman" panose="02020603050405020304" pitchFamily="18" charset="0"/>
                <a:cs typeface="Times New Roman" panose="02020603050405020304" pitchFamily="18" charset="0"/>
              </a:rPr>
              <a:t>三、计算机系统的层次结构</a:t>
            </a:r>
            <a:endParaRPr lang="en-US" altLang="zh-CN" sz="2400" b="1" dirty="0">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计算机系统的层次结构</a:t>
            </a:r>
            <a:endParaRPr lang="en-US" altLang="zh-CN" sz="2000" b="1" dirty="0">
              <a:latin typeface="Times New Roman" panose="02020603050405020304" pitchFamily="18" charset="0"/>
              <a:cs typeface="Times New Roman" panose="02020603050405020304" pitchFamily="18" charset="0"/>
            </a:endParaRPr>
          </a:p>
          <a:p>
            <a:pPr marL="0" indent="355600" eaLnBrk="1" hangingPunct="1">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层次间的关系</a:t>
            </a:r>
          </a:p>
          <a:p>
            <a:pPr marL="0" indent="0" eaLnBrk="1" hangingPunct="1">
              <a:lnSpc>
                <a:spcPct val="150000"/>
              </a:lnSpc>
              <a:spcBef>
                <a:spcPts val="0"/>
              </a:spcBef>
              <a:buNone/>
            </a:pPr>
            <a:endParaRPr lang="en-US" altLang="zh-CN" sz="2400" b="1" dirty="0">
              <a:solidFill>
                <a:schemeClr val="tx2"/>
              </a:solidFill>
              <a:latin typeface="Times New Roman" panose="02020603050405020304" pitchFamily="18" charset="0"/>
              <a:cs typeface="Times New Roman" panose="02020603050405020304" pitchFamily="18" charset="0"/>
            </a:endParaRPr>
          </a:p>
          <a:p>
            <a:pPr marL="0" indent="0" eaLnBrk="1" hangingPunct="1">
              <a:lnSpc>
                <a:spcPct val="150000"/>
              </a:lnSpc>
              <a:spcBef>
                <a:spcPts val="0"/>
              </a:spcBef>
              <a:buNone/>
            </a:pPr>
            <a:r>
              <a:rPr lang="zh-CN" altLang="en-US" sz="2400" b="1" dirty="0">
                <a:solidFill>
                  <a:schemeClr val="tx2"/>
                </a:solidFill>
                <a:latin typeface="Times New Roman" panose="02020603050405020304" pitchFamily="18" charset="0"/>
                <a:cs typeface="Times New Roman" panose="02020603050405020304" pitchFamily="18" charset="0"/>
              </a:rPr>
              <a:t>四、计算机性能指标和评价</a:t>
            </a:r>
          </a:p>
          <a:p>
            <a:pPr marL="0" indent="355600" eaLnBrk="1" hangingPunct="1">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基本性能指标</a:t>
            </a:r>
            <a:endParaRPr lang="en-US" altLang="zh-CN" sz="2000" b="1" dirty="0">
              <a:latin typeface="Times New Roman" panose="02020603050405020304" pitchFamily="18" charset="0"/>
              <a:cs typeface="Times New Roman" panose="02020603050405020304" pitchFamily="18" charset="0"/>
            </a:endParaRPr>
          </a:p>
          <a:p>
            <a:pPr marL="0" indent="355600" eaLnBrk="1" hangingPunct="1">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运算速度</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3. </a:t>
            </a:r>
            <a:r>
              <a:rPr lang="zh-CN" altLang="en-US" sz="2000" b="1" dirty="0">
                <a:latin typeface="Times New Roman" panose="02020603050405020304" pitchFamily="18" charset="0"/>
                <a:cs typeface="Times New Roman" panose="02020603050405020304" pitchFamily="18" charset="0"/>
              </a:rPr>
              <a:t>性能测试及其工具</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4. Amdahl</a:t>
            </a:r>
            <a:r>
              <a:rPr lang="zh-CN" altLang="en-US" sz="2000" b="1" dirty="0">
                <a:latin typeface="Times New Roman" panose="02020603050405020304" pitchFamily="18" charset="0"/>
                <a:cs typeface="Times New Roman" panose="02020603050405020304" pitchFamily="18" charset="0"/>
              </a:rPr>
              <a:t>定律</a:t>
            </a:r>
          </a:p>
        </p:txBody>
      </p:sp>
    </p:spTree>
    <p:extLst>
      <p:ext uri="{BB962C8B-B14F-4D97-AF65-F5344CB8AC3E}">
        <p14:creationId xmlns:p14="http://schemas.microsoft.com/office/powerpoint/2010/main" val="39411157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E840AF91-A465-4CCA-AC6D-E43517811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7B30547A-A98E-4B35-935E-CD8D671DC6FB}"/>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sp>
        <p:nvSpPr>
          <p:cNvPr id="13315" name="Rectangle 3"/>
          <p:cNvSpPr>
            <a:spLocks noGrp="1" noChangeArrowheads="1"/>
          </p:cNvSpPr>
          <p:nvPr>
            <p:ph idx="1"/>
          </p:nvPr>
        </p:nvSpPr>
        <p:spPr>
          <a:xfrm>
            <a:off x="179512" y="908720"/>
            <a:ext cx="8856984" cy="5688632"/>
          </a:xfrm>
        </p:spPr>
        <p:txBody>
          <a:bodyPr/>
          <a:lstStyle/>
          <a:p>
            <a:pPr marL="0" indent="0">
              <a:buNone/>
            </a:pPr>
            <a:r>
              <a:rPr lang="en-US" altLang="zh-CN" sz="2800" b="1" dirty="0">
                <a:solidFill>
                  <a:srgbClr val="FF0000"/>
                </a:solidFill>
                <a:latin typeface="Times New Roman" panose="02020603050405020304" pitchFamily="18" charset="0"/>
                <a:cs typeface="Times New Roman" panose="02020603050405020304" pitchFamily="18" charset="0"/>
              </a:rPr>
              <a:t>1.</a:t>
            </a:r>
            <a:r>
              <a:rPr lang="zh-CN" altLang="en-US" sz="2800" b="1" dirty="0">
                <a:solidFill>
                  <a:srgbClr val="FF0000"/>
                </a:solidFill>
                <a:latin typeface="Times New Roman" panose="02020603050405020304" pitchFamily="18" charset="0"/>
                <a:cs typeface="Times New Roman" panose="02020603050405020304" pitchFamily="18" charset="0"/>
              </a:rPr>
              <a:t> 计算机发展概况</a:t>
            </a:r>
            <a:endParaRPr lang="en-US" altLang="zh-CN" sz="28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1946</a:t>
            </a:r>
            <a:r>
              <a:rPr lang="zh-CN" altLang="en-US" sz="2400" b="1" dirty="0">
                <a:latin typeface="Times New Roman" panose="02020603050405020304" pitchFamily="18" charset="0"/>
                <a:cs typeface="Times New Roman" panose="02020603050405020304" pitchFamily="18" charset="0"/>
              </a:rPr>
              <a:t>年</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月，</a:t>
            </a:r>
            <a:r>
              <a:rPr lang="en-US" altLang="zh-CN" sz="2400" b="1" dirty="0">
                <a:latin typeface="Times New Roman" panose="02020603050405020304" pitchFamily="18" charset="0"/>
                <a:cs typeface="Times New Roman" panose="02020603050405020304" pitchFamily="18" charset="0"/>
              </a:rPr>
              <a:t>ENIAC</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Electronic Numerical Integrator and Computer</a:t>
            </a:r>
            <a:r>
              <a:rPr lang="zh-CN" altLang="en-US" sz="2400" b="1" dirty="0">
                <a:latin typeface="Times New Roman" panose="02020603050405020304" pitchFamily="18" charset="0"/>
                <a:cs typeface="Times New Roman" panose="02020603050405020304" pitchFamily="18" charset="0"/>
              </a:rPr>
              <a:t>，电子数字积分计算机）在美国宾夕法尼亚大学诞生，标志着科学技术的发展进入了新的时代</a:t>
            </a:r>
            <a:r>
              <a:rPr lang="en-US" altLang="zh-CN" sz="2400" b="1" dirty="0">
                <a:latin typeface="Times New Roman" panose="02020603050405020304" pitchFamily="18" charset="0"/>
                <a:cs typeface="Times New Roman" panose="02020603050405020304" pitchFamily="18" charset="0"/>
              </a:rPr>
              <a:t>-</a:t>
            </a:r>
            <a:r>
              <a:rPr lang="zh-CN" altLang="en-US" sz="2400" b="1" dirty="0">
                <a:solidFill>
                  <a:srgbClr val="FF0000"/>
                </a:solidFill>
                <a:latin typeface="Times New Roman" panose="02020603050405020304" pitchFamily="18" charset="0"/>
                <a:cs typeface="Times New Roman" panose="02020603050405020304" pitchFamily="18" charset="0"/>
              </a:rPr>
              <a:t>电子计算机时代</a:t>
            </a:r>
            <a:r>
              <a:rPr lang="zh-CN" altLang="en-US" sz="2400" b="1" dirty="0">
                <a:latin typeface="Times New Roman" panose="02020603050405020304" pitchFamily="18" charset="0"/>
                <a:cs typeface="Times New Roman" panose="02020603050405020304" pitchFamily="18" charset="0"/>
              </a:rPr>
              <a:t>。</a:t>
            </a:r>
          </a:p>
        </p:txBody>
      </p:sp>
      <p:pic>
        <p:nvPicPr>
          <p:cNvPr id="7" name="Picture 3" descr="2-1">
            <a:extLst>
              <a:ext uri="{FF2B5EF4-FFF2-40B4-BE49-F238E27FC236}">
                <a16:creationId xmlns:a16="http://schemas.microsoft.com/office/drawing/2014/main" id="{F13A9EF0-AC97-4689-95F7-70D085D7CE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483" y="3362035"/>
            <a:ext cx="3654406" cy="318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AF2FFB40-5423-4AF4-A6E7-49A145092C71}"/>
              </a:ext>
            </a:extLst>
          </p:cNvPr>
          <p:cNvSpPr txBox="1"/>
          <p:nvPr/>
        </p:nvSpPr>
        <p:spPr>
          <a:xfrm>
            <a:off x="5035087" y="5856126"/>
            <a:ext cx="3553955" cy="957250"/>
          </a:xfrm>
          <a:prstGeom prst="rect">
            <a:avLst/>
          </a:prstGeom>
          <a:noFill/>
        </p:spPr>
        <p:txBody>
          <a:bodyPr wrap="square">
            <a:spAutoFit/>
          </a:bodyPr>
          <a:lstStyle/>
          <a:p>
            <a:pPr>
              <a:lnSpc>
                <a:spcPct val="150000"/>
              </a:lnSpc>
            </a:pPr>
            <a:r>
              <a:rPr lang="en-US" altLang="zh-CN" sz="2000" b="1" dirty="0">
                <a:solidFill>
                  <a:srgbClr val="FF0000"/>
                </a:solidFill>
                <a:latin typeface="Times New Roman" panose="02020603050405020304" pitchFamily="18" charset="0"/>
                <a:cs typeface="Times New Roman" panose="02020603050405020304" pitchFamily="18" charset="0"/>
              </a:rPr>
              <a:t>60</a:t>
            </a:r>
            <a:r>
              <a:rPr lang="zh-CN" altLang="en-US" sz="2000" b="1" dirty="0">
                <a:solidFill>
                  <a:srgbClr val="FF0000"/>
                </a:solidFill>
                <a:latin typeface="Times New Roman" panose="02020603050405020304" pitchFamily="18" charset="0"/>
                <a:cs typeface="Times New Roman" panose="02020603050405020304" pitchFamily="18" charset="0"/>
              </a:rPr>
              <a:t>秒钟射程的弹道计算时间</a:t>
            </a:r>
            <a:endParaRPr lang="en-US" altLang="zh-CN" sz="20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zh-CN" altLang="en-US" sz="2000" b="1" dirty="0">
                <a:solidFill>
                  <a:srgbClr val="FF0000"/>
                </a:solidFill>
                <a:latin typeface="Times New Roman" panose="02020603050405020304" pitchFamily="18" charset="0"/>
                <a:cs typeface="Times New Roman" panose="02020603050405020304" pitchFamily="18" charset="0"/>
              </a:rPr>
              <a:t>由原来的</a:t>
            </a:r>
            <a:r>
              <a:rPr lang="en-US" altLang="zh-CN" sz="2000" b="1" dirty="0">
                <a:solidFill>
                  <a:srgbClr val="FF0000"/>
                </a:solidFill>
                <a:latin typeface="Times New Roman" panose="02020603050405020304" pitchFamily="18" charset="0"/>
                <a:cs typeface="Times New Roman" panose="02020603050405020304" pitchFamily="18" charset="0"/>
              </a:rPr>
              <a:t>20</a:t>
            </a:r>
            <a:r>
              <a:rPr lang="zh-CN" altLang="en-US" sz="2000" b="1" dirty="0">
                <a:solidFill>
                  <a:srgbClr val="FF0000"/>
                </a:solidFill>
                <a:latin typeface="Times New Roman" panose="02020603050405020304" pitchFamily="18" charset="0"/>
                <a:cs typeface="Times New Roman" panose="02020603050405020304" pitchFamily="18" charset="0"/>
              </a:rPr>
              <a:t>分钟缩短到</a:t>
            </a:r>
            <a:r>
              <a:rPr lang="en-US" altLang="zh-CN" sz="2000" b="1" dirty="0">
                <a:solidFill>
                  <a:srgbClr val="FF0000"/>
                </a:solidFill>
                <a:latin typeface="Times New Roman" panose="02020603050405020304" pitchFamily="18" charset="0"/>
                <a:cs typeface="Times New Roman" panose="02020603050405020304" pitchFamily="18" charset="0"/>
              </a:rPr>
              <a:t>30</a:t>
            </a:r>
            <a:r>
              <a:rPr lang="zh-CN" altLang="en-US" sz="2000" b="1" dirty="0">
                <a:solidFill>
                  <a:srgbClr val="FF0000"/>
                </a:solidFill>
                <a:latin typeface="Times New Roman" panose="02020603050405020304" pitchFamily="18" charset="0"/>
                <a:cs typeface="Times New Roman" panose="02020603050405020304" pitchFamily="18" charset="0"/>
              </a:rPr>
              <a:t>秒。</a:t>
            </a:r>
          </a:p>
        </p:txBody>
      </p:sp>
      <p:sp>
        <p:nvSpPr>
          <p:cNvPr id="9" name="文本框 8">
            <a:extLst>
              <a:ext uri="{FF2B5EF4-FFF2-40B4-BE49-F238E27FC236}">
                <a16:creationId xmlns:a16="http://schemas.microsoft.com/office/drawing/2014/main" id="{D744FEC2-706A-43E2-B8DF-7F364BBDADC4}"/>
              </a:ext>
            </a:extLst>
          </p:cNvPr>
          <p:cNvSpPr txBox="1"/>
          <p:nvPr/>
        </p:nvSpPr>
        <p:spPr>
          <a:xfrm>
            <a:off x="5139573" y="3159093"/>
            <a:ext cx="2489241" cy="279018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2000" b="1" dirty="0">
                <a:latin typeface="Times New Roman" panose="02020603050405020304" pitchFamily="18" charset="0"/>
                <a:ea typeface="+mn-ea"/>
                <a:cs typeface="Times New Roman" panose="02020603050405020304" pitchFamily="18" charset="0"/>
              </a:rPr>
              <a:t>5000</a:t>
            </a:r>
            <a:r>
              <a:rPr lang="zh-CN" altLang="en-US" sz="2000" b="1" dirty="0">
                <a:latin typeface="Times New Roman" panose="02020603050405020304" pitchFamily="18" charset="0"/>
                <a:ea typeface="+mn-ea"/>
                <a:cs typeface="Times New Roman" panose="02020603050405020304" pitchFamily="18" charset="0"/>
              </a:rPr>
              <a:t>次加法</a:t>
            </a:r>
            <a:r>
              <a:rPr lang="en-US" altLang="zh-CN" sz="2000" b="1" dirty="0">
                <a:latin typeface="Times New Roman" panose="02020603050405020304" pitchFamily="18" charset="0"/>
                <a:ea typeface="+mn-ea"/>
                <a:cs typeface="Times New Roman" panose="02020603050405020304" pitchFamily="18" charset="0"/>
              </a:rPr>
              <a:t>/</a:t>
            </a:r>
            <a:r>
              <a:rPr lang="zh-CN" altLang="en-US" sz="2000" b="1" dirty="0">
                <a:latin typeface="Times New Roman" panose="02020603050405020304" pitchFamily="18" charset="0"/>
                <a:ea typeface="+mn-ea"/>
                <a:cs typeface="Times New Roman" panose="02020603050405020304" pitchFamily="18" charset="0"/>
              </a:rPr>
              <a:t>秒</a:t>
            </a: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ea typeface="+mn-ea"/>
                <a:cs typeface="Times New Roman" panose="02020603050405020304" pitchFamily="18" charset="0"/>
              </a:rPr>
              <a:t>重量</a:t>
            </a:r>
            <a:r>
              <a:rPr lang="en-US" altLang="zh-CN" sz="2000" b="1" dirty="0">
                <a:latin typeface="Times New Roman" panose="02020603050405020304" pitchFamily="18" charset="0"/>
                <a:ea typeface="+mn-ea"/>
                <a:cs typeface="Times New Roman" panose="02020603050405020304" pitchFamily="18" charset="0"/>
              </a:rPr>
              <a:t>30</a:t>
            </a:r>
            <a:r>
              <a:rPr lang="zh-CN" altLang="en-US" sz="2000" b="1" dirty="0">
                <a:latin typeface="Times New Roman" panose="02020603050405020304" pitchFamily="18" charset="0"/>
                <a:ea typeface="+mn-ea"/>
                <a:cs typeface="Times New Roman" panose="02020603050405020304" pitchFamily="18" charset="0"/>
              </a:rPr>
              <a:t>英吨</a:t>
            </a: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ea typeface="+mn-ea"/>
                <a:cs typeface="Times New Roman" panose="02020603050405020304" pitchFamily="18" charset="0"/>
              </a:rPr>
              <a:t>占地</a:t>
            </a:r>
            <a:r>
              <a:rPr lang="en-US" altLang="zh-CN" sz="2000" b="1" dirty="0">
                <a:latin typeface="Times New Roman" panose="02020603050405020304" pitchFamily="18" charset="0"/>
                <a:ea typeface="+mn-ea"/>
                <a:cs typeface="Times New Roman" panose="02020603050405020304" pitchFamily="18" charset="0"/>
              </a:rPr>
              <a:t>167m</a:t>
            </a:r>
            <a:r>
              <a:rPr lang="en-US" altLang="zh-CN" sz="2000" b="1" baseline="30000" dirty="0">
                <a:latin typeface="Times New Roman" panose="02020603050405020304" pitchFamily="18" charset="0"/>
                <a:ea typeface="+mn-ea"/>
                <a:cs typeface="Times New Roman" panose="02020603050405020304" pitchFamily="18" charset="0"/>
              </a:rPr>
              <a:t>2</a:t>
            </a:r>
          </a:p>
          <a:p>
            <a:pPr marL="342900" indent="-342900">
              <a:lnSpc>
                <a:spcPct val="150000"/>
              </a:lnSpc>
              <a:buFont typeface="Arial" panose="020B0604020202020204" pitchFamily="34" charset="0"/>
              <a:buChar char="•"/>
            </a:pPr>
            <a:r>
              <a:rPr lang="en-US" altLang="zh-CN" sz="2000" b="1" dirty="0">
                <a:latin typeface="Times New Roman" panose="02020603050405020304" pitchFamily="18" charset="0"/>
                <a:ea typeface="+mn-ea"/>
                <a:cs typeface="Times New Roman" panose="02020603050405020304" pitchFamily="18" charset="0"/>
              </a:rPr>
              <a:t>17468</a:t>
            </a:r>
            <a:r>
              <a:rPr lang="zh-CN" altLang="en-US" sz="2000" b="1" dirty="0">
                <a:latin typeface="Times New Roman" panose="02020603050405020304" pitchFamily="18" charset="0"/>
                <a:ea typeface="+mn-ea"/>
                <a:cs typeface="Times New Roman" panose="02020603050405020304" pitchFamily="18" charset="0"/>
              </a:rPr>
              <a:t>只电子管</a:t>
            </a:r>
          </a:p>
          <a:p>
            <a:pPr marL="342900" indent="-342900">
              <a:lnSpc>
                <a:spcPct val="150000"/>
              </a:lnSpc>
              <a:buFont typeface="Arial" panose="020B0604020202020204" pitchFamily="34" charset="0"/>
              <a:buChar char="•"/>
            </a:pPr>
            <a:r>
              <a:rPr lang="en-US" altLang="zh-CN" sz="2000" b="1" dirty="0">
                <a:latin typeface="Times New Roman" panose="02020603050405020304" pitchFamily="18" charset="0"/>
                <a:ea typeface="+mn-ea"/>
                <a:cs typeface="Times New Roman" panose="02020603050405020304" pitchFamily="18" charset="0"/>
              </a:rPr>
              <a:t>1500</a:t>
            </a:r>
            <a:r>
              <a:rPr lang="zh-CN" altLang="en-US" sz="2000" b="1" dirty="0">
                <a:latin typeface="Times New Roman" panose="02020603050405020304" pitchFamily="18" charset="0"/>
                <a:ea typeface="+mn-ea"/>
                <a:cs typeface="Times New Roman" panose="02020603050405020304" pitchFamily="18" charset="0"/>
              </a:rPr>
              <a:t>个继电器</a:t>
            </a: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ea typeface="+mn-ea"/>
                <a:cs typeface="Times New Roman" panose="02020603050405020304" pitchFamily="18" charset="0"/>
              </a:rPr>
              <a:t>功耗</a:t>
            </a:r>
            <a:r>
              <a:rPr lang="en-US" altLang="zh-CN" sz="2000" b="1" dirty="0">
                <a:latin typeface="Times New Roman" panose="02020603050405020304" pitchFamily="18" charset="0"/>
                <a:ea typeface="+mn-ea"/>
                <a:cs typeface="Times New Roman" panose="02020603050405020304" pitchFamily="18" charset="0"/>
              </a:rPr>
              <a:t>174KW</a:t>
            </a:r>
            <a:endParaRPr lang="zh-CN" altLang="en-US" sz="2000" b="1" dirty="0">
              <a:latin typeface="Times New Roman" panose="02020603050405020304" pitchFamily="18" charset="0"/>
              <a:ea typeface="+mn-ea"/>
              <a:cs typeface="Times New Roman" panose="02020603050405020304" pitchFamily="18" charset="0"/>
            </a:endParaRPr>
          </a:p>
        </p:txBody>
      </p:sp>
      <p:sp>
        <p:nvSpPr>
          <p:cNvPr id="2" name="文本框 1">
            <a:extLst>
              <a:ext uri="{FF2B5EF4-FFF2-40B4-BE49-F238E27FC236}">
                <a16:creationId xmlns:a16="http://schemas.microsoft.com/office/drawing/2014/main" id="{B9925EBA-96D9-47DF-A576-0B94A5C81DA9}"/>
              </a:ext>
            </a:extLst>
          </p:cNvPr>
          <p:cNvSpPr txBox="1"/>
          <p:nvPr/>
        </p:nvSpPr>
        <p:spPr>
          <a:xfrm>
            <a:off x="1364996" y="6534792"/>
            <a:ext cx="2448272" cy="338554"/>
          </a:xfrm>
          <a:prstGeom prst="rect">
            <a:avLst/>
          </a:prstGeom>
          <a:noFill/>
        </p:spPr>
        <p:txBody>
          <a:bodyPr wrap="square" rtlCol="0">
            <a:spAutoFit/>
          </a:bodyPr>
          <a:lstStyle/>
          <a:p>
            <a:r>
              <a:rPr lang="zh-CN" altLang="en-US" sz="1600" b="1" dirty="0">
                <a:solidFill>
                  <a:srgbClr val="002060"/>
                </a:solidFill>
                <a:latin typeface="Times New Roman" panose="02020603050405020304" pitchFamily="18" charset="0"/>
                <a:ea typeface="+mn-ea"/>
                <a:cs typeface="Times New Roman" panose="02020603050405020304" pitchFamily="18" charset="0"/>
              </a:rPr>
              <a:t>图</a:t>
            </a:r>
            <a:r>
              <a:rPr lang="en-US" altLang="zh-CN" sz="1600" b="1" dirty="0">
                <a:solidFill>
                  <a:srgbClr val="002060"/>
                </a:solidFill>
                <a:latin typeface="Times New Roman" panose="02020603050405020304" pitchFamily="18" charset="0"/>
                <a:ea typeface="+mn-ea"/>
                <a:cs typeface="Times New Roman" panose="02020603050405020304" pitchFamily="18" charset="0"/>
              </a:rPr>
              <a:t>1.1 ENIAC</a:t>
            </a:r>
            <a:r>
              <a:rPr lang="zh-CN" altLang="en-US" sz="1600" b="1" dirty="0">
                <a:solidFill>
                  <a:srgbClr val="002060"/>
                </a:solidFill>
                <a:latin typeface="Times New Roman" panose="02020603050405020304" pitchFamily="18" charset="0"/>
                <a:ea typeface="+mn-ea"/>
                <a:cs typeface="Times New Roman" panose="02020603050405020304" pitchFamily="18" charset="0"/>
              </a:rPr>
              <a:t>计算机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E840AF91-A465-4CCA-AC6D-E43517811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7B30547A-A98E-4B35-935E-CD8D671DC6FB}"/>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sp>
        <p:nvSpPr>
          <p:cNvPr id="13315" name="Rectangle 3"/>
          <p:cNvSpPr>
            <a:spLocks noGrp="1" noChangeArrowheads="1"/>
          </p:cNvSpPr>
          <p:nvPr>
            <p:ph idx="1"/>
          </p:nvPr>
        </p:nvSpPr>
        <p:spPr>
          <a:xfrm>
            <a:off x="179512" y="980728"/>
            <a:ext cx="8856984" cy="5616624"/>
          </a:xfrm>
        </p:spPr>
        <p:txBody>
          <a:bodyPr/>
          <a:lstStyle/>
          <a:p>
            <a:pPr marL="0" indent="0">
              <a:lnSpc>
                <a:spcPct val="150000"/>
              </a:lnSpc>
              <a:spcBef>
                <a:spcPts val="0"/>
              </a:spcBef>
              <a:buNone/>
            </a:pPr>
            <a:r>
              <a:rPr lang="zh-CN" altLang="en-US" sz="2400" b="1" dirty="0">
                <a:latin typeface="Times New Roman" panose="02020603050405020304" pitchFamily="18" charset="0"/>
                <a:cs typeface="Times New Roman" panose="02020603050405020304" pitchFamily="18" charset="0"/>
              </a:rPr>
              <a:t>从电子计算机的诞生到现在，计算机的发展经历了以下</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个阶段。</a:t>
            </a:r>
            <a:endParaRPr lang="en-US" altLang="zh-CN" sz="2400" b="1"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2800" b="1" dirty="0">
                <a:solidFill>
                  <a:srgbClr val="FF0000"/>
                </a:solidFill>
                <a:latin typeface="Times New Roman" panose="02020603050405020304" pitchFamily="18" charset="0"/>
                <a:cs typeface="Times New Roman" panose="02020603050405020304" pitchFamily="18" charset="0"/>
              </a:rPr>
              <a:t>第</a:t>
            </a:r>
            <a:r>
              <a:rPr lang="en-US" altLang="zh-CN" sz="2800" b="1" dirty="0">
                <a:solidFill>
                  <a:srgbClr val="FF0000"/>
                </a:solidFill>
                <a:latin typeface="Times New Roman" panose="02020603050405020304" pitchFamily="18" charset="0"/>
                <a:cs typeface="Times New Roman" panose="02020603050405020304" pitchFamily="18" charset="0"/>
              </a:rPr>
              <a:t>1</a:t>
            </a:r>
            <a:r>
              <a:rPr lang="zh-CN" altLang="en-US" sz="2800" b="1" dirty="0">
                <a:solidFill>
                  <a:srgbClr val="FF0000"/>
                </a:solidFill>
                <a:latin typeface="Times New Roman" panose="02020603050405020304" pitchFamily="18" charset="0"/>
                <a:cs typeface="Times New Roman" panose="02020603050405020304" pitchFamily="18" charset="0"/>
              </a:rPr>
              <a:t>代</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电子管计算机（</a:t>
            </a:r>
            <a:r>
              <a:rPr lang="en-US" altLang="zh-CN" sz="2800" b="1" dirty="0">
                <a:solidFill>
                  <a:srgbClr val="FF0000"/>
                </a:solidFill>
                <a:latin typeface="Times New Roman" panose="02020603050405020304" pitchFamily="18" charset="0"/>
                <a:cs typeface="Times New Roman" panose="02020603050405020304" pitchFamily="18" charset="0"/>
              </a:rPr>
              <a:t>1946--1957</a:t>
            </a:r>
            <a:r>
              <a:rPr lang="zh-CN" altLang="en-US" sz="2800" b="1" dirty="0">
                <a:solidFill>
                  <a:srgbClr val="FF0000"/>
                </a:solidFill>
                <a:latin typeface="Times New Roman" panose="02020603050405020304" pitchFamily="18" charset="0"/>
                <a:cs typeface="Times New Roman" panose="02020603050405020304" pitchFamily="18" charset="0"/>
              </a:rPr>
              <a:t>）</a:t>
            </a:r>
            <a:endParaRPr lang="en-US" altLang="zh-CN" sz="2800" b="1" dirty="0">
              <a:solidFill>
                <a:srgbClr val="FF0000"/>
              </a:solidFill>
              <a:latin typeface="Times New Roman" panose="02020603050405020304" pitchFamily="18" charset="0"/>
              <a:cs typeface="Times New Roman" panose="02020603050405020304" pitchFamily="18" charset="0"/>
            </a:endParaRPr>
          </a:p>
          <a:p>
            <a:pPr>
              <a:lnSpc>
                <a:spcPct val="150000"/>
              </a:lnSpc>
              <a:spcBef>
                <a:spcPts val="0"/>
              </a:spcBef>
            </a:pPr>
            <a:r>
              <a:rPr lang="zh-CN" altLang="en-US" sz="2400" b="1" dirty="0">
                <a:latin typeface="Times New Roman" panose="02020603050405020304" pitchFamily="18" charset="0"/>
                <a:cs typeface="Times New Roman" panose="02020603050405020304" pitchFamily="18" charset="0"/>
              </a:rPr>
              <a:t>第一代计算机的</a:t>
            </a:r>
            <a:r>
              <a:rPr lang="zh-CN" altLang="en-US" sz="2400" b="1" dirty="0">
                <a:solidFill>
                  <a:srgbClr val="0000FF"/>
                </a:solidFill>
                <a:latin typeface="Times New Roman" panose="02020603050405020304" pitchFamily="18" charset="0"/>
                <a:cs typeface="Times New Roman" panose="02020603050405020304" pitchFamily="18" charset="0"/>
              </a:rPr>
              <a:t>基本电子器件为电子管</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ts val="0"/>
              </a:spcBef>
            </a:pPr>
            <a:r>
              <a:rPr lang="zh-CN" altLang="en-US" sz="2400" b="1" dirty="0">
                <a:solidFill>
                  <a:srgbClr val="FF0000"/>
                </a:solidFill>
                <a:latin typeface="Times New Roman" panose="02020603050405020304" pitchFamily="18" charset="0"/>
                <a:cs typeface="Times New Roman" panose="02020603050405020304" pitchFamily="18" charset="0"/>
              </a:rPr>
              <a:t>主存</a:t>
            </a:r>
            <a:r>
              <a:rPr lang="zh-CN" altLang="en-US" sz="2400" b="1" dirty="0">
                <a:latin typeface="Times New Roman" panose="02020603050405020304" pitchFamily="18" charset="0"/>
                <a:cs typeface="Times New Roman" panose="02020603050405020304" pitchFamily="18" charset="0"/>
              </a:rPr>
              <a:t>先后采用</a:t>
            </a:r>
            <a:r>
              <a:rPr lang="zh-CN" altLang="en-US" sz="2400" b="1" dirty="0">
                <a:solidFill>
                  <a:srgbClr val="0000FF"/>
                </a:solidFill>
                <a:latin typeface="Times New Roman" panose="02020603050405020304" pitchFamily="18" charset="0"/>
                <a:cs typeface="Times New Roman" panose="02020603050405020304" pitchFamily="18" charset="0"/>
              </a:rPr>
              <a:t>水银延迟线、磁鼓、磁芯</a:t>
            </a:r>
            <a:r>
              <a:rPr lang="zh-CN" altLang="en-US" sz="2400" b="1" dirty="0">
                <a:latin typeface="Times New Roman" panose="02020603050405020304" pitchFamily="18" charset="0"/>
                <a:cs typeface="Times New Roman" panose="02020603050405020304" pitchFamily="18" charset="0"/>
              </a:rPr>
              <a:t>，存储容量只有</a:t>
            </a:r>
            <a:r>
              <a:rPr lang="zh-CN" altLang="en-US" sz="2400" b="1" dirty="0">
                <a:solidFill>
                  <a:srgbClr val="0000FF"/>
                </a:solidFill>
                <a:latin typeface="Times New Roman" panose="02020603050405020304" pitchFamily="18" charset="0"/>
                <a:cs typeface="Times New Roman" panose="02020603050405020304" pitchFamily="18" charset="0"/>
              </a:rPr>
              <a:t>几千</a:t>
            </a:r>
            <a:r>
              <a:rPr lang="zh-CN" altLang="en-US" sz="2400" b="1" dirty="0">
                <a:latin typeface="Times New Roman" panose="02020603050405020304" pitchFamily="18" charset="0"/>
                <a:cs typeface="Times New Roman" panose="02020603050405020304" pitchFamily="18" charset="0"/>
              </a:rPr>
              <a:t>个存储单元。</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ts val="0"/>
              </a:spcBef>
            </a:pPr>
            <a:r>
              <a:rPr lang="zh-CN" altLang="en-US" sz="2400" b="1" dirty="0">
                <a:solidFill>
                  <a:srgbClr val="FF0000"/>
                </a:solidFill>
                <a:latin typeface="Times New Roman" panose="02020603050405020304" pitchFamily="18" charset="0"/>
                <a:cs typeface="Times New Roman" panose="02020603050405020304" pitchFamily="18" charset="0"/>
              </a:rPr>
              <a:t>运算速度</a:t>
            </a:r>
            <a:r>
              <a:rPr lang="zh-CN" altLang="en-US" sz="2400" b="1" dirty="0">
                <a:latin typeface="Times New Roman" panose="02020603050405020304" pitchFamily="18" charset="0"/>
                <a:cs typeface="Times New Roman" panose="02020603050405020304" pitchFamily="18" charset="0"/>
              </a:rPr>
              <a:t>为</a:t>
            </a:r>
            <a:r>
              <a:rPr lang="zh-CN" altLang="en-US" sz="2400" b="1" dirty="0">
                <a:solidFill>
                  <a:srgbClr val="0000FF"/>
                </a:solidFill>
                <a:latin typeface="Times New Roman" panose="02020603050405020304" pitchFamily="18" charset="0"/>
                <a:cs typeface="Times New Roman" panose="02020603050405020304" pitchFamily="18" charset="0"/>
              </a:rPr>
              <a:t>每秒几千次至几万次</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ts val="0"/>
              </a:spcBef>
            </a:pPr>
            <a:r>
              <a:rPr lang="zh-CN" altLang="en-US" sz="2400" b="1" dirty="0">
                <a:solidFill>
                  <a:srgbClr val="FF0000"/>
                </a:solidFill>
                <a:latin typeface="Times New Roman" panose="02020603050405020304" pitchFamily="18" charset="0"/>
                <a:cs typeface="Times New Roman" panose="02020603050405020304" pitchFamily="18" charset="0"/>
              </a:rPr>
              <a:t>输入输出设备</a:t>
            </a:r>
            <a:r>
              <a:rPr lang="zh-CN" altLang="en-US" sz="2400" b="1" dirty="0">
                <a:latin typeface="Times New Roman" panose="02020603050405020304" pitchFamily="18" charset="0"/>
                <a:cs typeface="Times New Roman" panose="02020603050405020304" pitchFamily="18" charset="0"/>
              </a:rPr>
              <a:t>为</a:t>
            </a:r>
            <a:r>
              <a:rPr lang="zh-CN" altLang="en-US" sz="2400" b="1" dirty="0">
                <a:solidFill>
                  <a:srgbClr val="0000FF"/>
                </a:solidFill>
                <a:latin typeface="Times New Roman" panose="02020603050405020304" pitchFamily="18" charset="0"/>
                <a:cs typeface="Times New Roman" panose="02020603050405020304" pitchFamily="18" charset="0"/>
              </a:rPr>
              <a:t>穿孔卡片或穿孔纸带</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ts val="0"/>
              </a:spcBef>
            </a:pPr>
            <a:r>
              <a:rPr lang="zh-CN" altLang="en-US" sz="2400" b="1" dirty="0">
                <a:latin typeface="Times New Roman" panose="02020603050405020304" pitchFamily="18" charset="0"/>
                <a:cs typeface="Times New Roman" panose="02020603050405020304" pitchFamily="18" charset="0"/>
              </a:rPr>
              <a:t>第一代计算机</a:t>
            </a:r>
            <a:r>
              <a:rPr lang="zh-CN" altLang="en-US" sz="2400" b="1" dirty="0">
                <a:solidFill>
                  <a:srgbClr val="0000FF"/>
                </a:solidFill>
                <a:latin typeface="Times New Roman" panose="02020603050405020304" pitchFamily="18" charset="0"/>
                <a:cs typeface="Times New Roman" panose="02020603050405020304" pitchFamily="18" charset="0"/>
              </a:rPr>
              <a:t>体积大、功耗高、可靠性较差。</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ts val="0"/>
              </a:spcBef>
            </a:pPr>
            <a:r>
              <a:rPr lang="zh-CN" altLang="en-US" sz="2400" b="1" dirty="0">
                <a:solidFill>
                  <a:srgbClr val="FF0000"/>
                </a:solidFill>
                <a:latin typeface="Times New Roman" panose="02020603050405020304" pitchFamily="18" charset="0"/>
                <a:cs typeface="Times New Roman" panose="02020603050405020304" pitchFamily="18" charset="0"/>
              </a:rPr>
              <a:t>主要应用</a:t>
            </a:r>
            <a:r>
              <a:rPr lang="zh-CN" altLang="en-US" sz="2400" b="1" dirty="0">
                <a:latin typeface="Times New Roman" panose="02020603050405020304" pitchFamily="18" charset="0"/>
                <a:cs typeface="Times New Roman" panose="02020603050405020304" pitchFamily="18" charset="0"/>
              </a:rPr>
              <a:t>于</a:t>
            </a:r>
            <a:r>
              <a:rPr lang="zh-CN" altLang="en-US" sz="2400" b="1" dirty="0">
                <a:solidFill>
                  <a:srgbClr val="0000FF"/>
                </a:solidFill>
                <a:latin typeface="Times New Roman" panose="02020603050405020304" pitchFamily="18" charset="0"/>
                <a:cs typeface="Times New Roman" panose="02020603050405020304" pitchFamily="18" charset="0"/>
              </a:rPr>
              <a:t>科学计算</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ts val="0"/>
              </a:spcBef>
            </a:pPr>
            <a:r>
              <a:rPr lang="zh-CN" altLang="en-US" sz="2400" b="1" dirty="0">
                <a:solidFill>
                  <a:srgbClr val="FF0000"/>
                </a:solidFill>
                <a:latin typeface="Times New Roman" panose="02020603050405020304" pitchFamily="18" charset="0"/>
                <a:cs typeface="Times New Roman" panose="02020603050405020304" pitchFamily="18" charset="0"/>
              </a:rPr>
              <a:t>编程语言</a:t>
            </a:r>
            <a:r>
              <a:rPr lang="zh-CN" altLang="en-US" sz="2400" b="1" dirty="0">
                <a:latin typeface="Times New Roman" panose="02020603050405020304" pitchFamily="18" charset="0"/>
                <a:cs typeface="Times New Roman" panose="02020603050405020304" pitchFamily="18" charset="0"/>
              </a:rPr>
              <a:t>为</a:t>
            </a:r>
            <a:r>
              <a:rPr lang="zh-CN" altLang="en-US" sz="2400" b="1" dirty="0">
                <a:solidFill>
                  <a:srgbClr val="0000FF"/>
                </a:solidFill>
                <a:latin typeface="Times New Roman" panose="02020603050405020304" pitchFamily="18" charset="0"/>
                <a:cs typeface="Times New Roman" panose="02020603050405020304" pitchFamily="18" charset="0"/>
              </a:rPr>
              <a:t>机器语言</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eaLnBrk="1" hangingPunct="1">
              <a:lnSpc>
                <a:spcPct val="150000"/>
              </a:lnSpc>
              <a:spcBef>
                <a:spcPts val="0"/>
              </a:spcBef>
              <a:buFont typeface="Wingdings" pitchFamily="2" charset="2"/>
              <a:buNone/>
            </a:pPr>
            <a:endParaRPr lang="zh-C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336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E5C5613-1F3C-4EF4-B45D-0C18045195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9459" name="Rectangle 3"/>
          <p:cNvSpPr>
            <a:spLocks noGrp="1" noChangeArrowheads="1"/>
          </p:cNvSpPr>
          <p:nvPr>
            <p:ph idx="1"/>
          </p:nvPr>
        </p:nvSpPr>
        <p:spPr>
          <a:xfrm>
            <a:off x="107504" y="836712"/>
            <a:ext cx="8784976" cy="5472608"/>
          </a:xfrm>
        </p:spPr>
        <p:txBody>
          <a:bodyPr>
            <a:noAutofit/>
          </a:bodyPr>
          <a:lstStyle/>
          <a:p>
            <a:pPr eaLnBrk="1" hangingPunct="1">
              <a:buFont typeface="Wingdings" pitchFamily="2" charset="2"/>
              <a:buNone/>
            </a:pPr>
            <a:r>
              <a:rPr lang="zh-CN" altLang="en-US" sz="2800" b="1" dirty="0">
                <a:solidFill>
                  <a:srgbClr val="FF0000"/>
                </a:solidFill>
                <a:latin typeface="Times New Roman" panose="02020603050405020304" pitchFamily="18" charset="0"/>
                <a:cs typeface="Times New Roman" panose="02020603050405020304" pitchFamily="18" charset="0"/>
              </a:rPr>
              <a:t>第</a:t>
            </a:r>
            <a:r>
              <a:rPr lang="en-US" altLang="zh-CN" sz="2800" b="1" dirty="0">
                <a:solidFill>
                  <a:srgbClr val="FF0000"/>
                </a:solidFill>
                <a:latin typeface="Times New Roman" panose="02020603050405020304" pitchFamily="18" charset="0"/>
                <a:cs typeface="Times New Roman" panose="02020603050405020304" pitchFamily="18" charset="0"/>
              </a:rPr>
              <a:t>2</a:t>
            </a:r>
            <a:r>
              <a:rPr lang="zh-CN" altLang="en-US" sz="2800" b="1" dirty="0">
                <a:solidFill>
                  <a:srgbClr val="FF0000"/>
                </a:solidFill>
                <a:latin typeface="Times New Roman" panose="02020603050405020304" pitchFamily="18" charset="0"/>
                <a:cs typeface="Times New Roman" panose="02020603050405020304" pitchFamily="18" charset="0"/>
              </a:rPr>
              <a:t>代</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晶体管计算机 （</a:t>
            </a:r>
            <a:r>
              <a:rPr lang="en-US" altLang="zh-CN" sz="2800" b="1" dirty="0">
                <a:solidFill>
                  <a:srgbClr val="FF0000"/>
                </a:solidFill>
                <a:latin typeface="Times New Roman" panose="02020603050405020304" pitchFamily="18" charset="0"/>
                <a:cs typeface="Times New Roman" panose="02020603050405020304" pitchFamily="18" charset="0"/>
              </a:rPr>
              <a:t>1958--1964</a:t>
            </a:r>
            <a:r>
              <a:rPr lang="zh-CN" altLang="en-US" sz="2800" b="1" dirty="0">
                <a:solidFill>
                  <a:srgbClr val="FF0000"/>
                </a:solidFill>
                <a:latin typeface="Times New Roman" panose="02020603050405020304" pitchFamily="18" charset="0"/>
                <a:cs typeface="Times New Roman" panose="02020603050405020304" pitchFamily="18" charset="0"/>
              </a:rPr>
              <a:t>）</a:t>
            </a:r>
            <a:endParaRPr lang="en-US" altLang="zh-CN" sz="2800" b="1" dirty="0">
              <a:solidFill>
                <a:srgbClr val="FF0000"/>
              </a:solidFill>
              <a:latin typeface="Times New Roman" panose="02020603050405020304" pitchFamily="18" charset="0"/>
              <a:cs typeface="Times New Roman" panose="02020603050405020304" pitchFamily="18" charset="0"/>
            </a:endParaRPr>
          </a:p>
          <a:p>
            <a:pPr eaLnBrk="1" hangingPunct="1">
              <a:lnSpc>
                <a:spcPct val="150000"/>
              </a:lnSpc>
            </a:pPr>
            <a:r>
              <a:rPr lang="zh-CN" altLang="en-US" sz="2400" b="1" dirty="0">
                <a:latin typeface="Times New Roman" panose="02020603050405020304" pitchFamily="18" charset="0"/>
                <a:cs typeface="Times New Roman" panose="02020603050405020304" pitchFamily="18" charset="0"/>
              </a:rPr>
              <a:t>第二代计算机的</a:t>
            </a:r>
            <a:r>
              <a:rPr lang="zh-CN" altLang="en-US" sz="2400" b="1" dirty="0">
                <a:solidFill>
                  <a:srgbClr val="0000FF"/>
                </a:solidFill>
                <a:latin typeface="Times New Roman" panose="02020603050405020304" pitchFamily="18" charset="0"/>
                <a:cs typeface="Times New Roman" panose="02020603050405020304" pitchFamily="18" charset="0"/>
              </a:rPr>
              <a:t>基本电子器件为晶体管</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主存</a:t>
            </a:r>
            <a:r>
              <a:rPr lang="zh-CN" altLang="en-US" sz="2400" b="1" dirty="0">
                <a:latin typeface="Times New Roman" panose="02020603050405020304" pitchFamily="18" charset="0"/>
                <a:cs typeface="Times New Roman" panose="02020603050405020304" pitchFamily="18" charset="0"/>
              </a:rPr>
              <a:t>采用</a:t>
            </a:r>
            <a:r>
              <a:rPr lang="zh-CN" altLang="en-US" sz="2400" b="1" dirty="0">
                <a:solidFill>
                  <a:srgbClr val="0000FF"/>
                </a:solidFill>
                <a:latin typeface="Times New Roman" panose="02020603050405020304" pitchFamily="18" charset="0"/>
                <a:cs typeface="Times New Roman" panose="02020603050405020304" pitchFamily="18" charset="0"/>
              </a:rPr>
              <a:t>磁芯存储器</a:t>
            </a:r>
            <a:r>
              <a:rPr lang="zh-CN" altLang="en-US" sz="2400" b="1" dirty="0">
                <a:latin typeface="Times New Roman" panose="02020603050405020304" pitchFamily="18" charset="0"/>
                <a:cs typeface="Times New Roman" panose="02020603050405020304" pitchFamily="18" charset="0"/>
              </a:rPr>
              <a:t>，存储容量增至</a:t>
            </a:r>
            <a:r>
              <a:rPr lang="en-US" altLang="zh-CN" sz="2400" b="1" dirty="0">
                <a:solidFill>
                  <a:srgbClr val="0000FF"/>
                </a:solidFill>
                <a:latin typeface="Times New Roman" panose="02020603050405020304" pitchFamily="18" charset="0"/>
                <a:cs typeface="Times New Roman" panose="02020603050405020304" pitchFamily="18" charset="0"/>
              </a:rPr>
              <a:t>10</a:t>
            </a:r>
            <a:r>
              <a:rPr lang="zh-CN" altLang="en-US" sz="2400" b="1" dirty="0">
                <a:solidFill>
                  <a:srgbClr val="0000FF"/>
                </a:solidFill>
                <a:latin typeface="Times New Roman" panose="02020603050405020304" pitchFamily="18" charset="0"/>
                <a:cs typeface="Times New Roman" panose="02020603050405020304" pitchFamily="18" charset="0"/>
              </a:rPr>
              <a:t>万</a:t>
            </a:r>
            <a:r>
              <a:rPr lang="zh-CN" altLang="en-US" sz="2400" b="1" dirty="0">
                <a:latin typeface="Times New Roman" panose="02020603050405020304" pitchFamily="18" charset="0"/>
                <a:cs typeface="Times New Roman" panose="02020603050405020304" pitchFamily="18" charset="0"/>
              </a:rPr>
              <a:t>个存储单元以上，</a:t>
            </a:r>
            <a:r>
              <a:rPr lang="zh-CN" altLang="en-US" sz="2400" b="1" dirty="0">
                <a:solidFill>
                  <a:srgbClr val="0000FF"/>
                </a:solidFill>
                <a:latin typeface="Times New Roman" panose="02020603050405020304" pitchFamily="18" charset="0"/>
                <a:cs typeface="Times New Roman" panose="02020603050405020304" pitchFamily="18" charset="0"/>
              </a:rPr>
              <a:t>磁鼓、磁盘被用作辅助存储器</a:t>
            </a:r>
            <a:r>
              <a:rPr lang="zh-CN" altLang="en-US" sz="2400" b="1" dirty="0">
                <a:latin typeface="Times New Roman" panose="02020603050405020304" pitchFamily="18" charset="0"/>
                <a:cs typeface="Times New Roman" panose="02020603050405020304" pitchFamily="18" charset="0"/>
              </a:rPr>
              <a:t>（辅存）</a:t>
            </a:r>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运算速度</a:t>
            </a:r>
            <a:r>
              <a:rPr lang="zh-CN" altLang="en-US" sz="2400" b="1" dirty="0">
                <a:latin typeface="Times New Roman" panose="02020603050405020304" pitchFamily="18" charset="0"/>
                <a:cs typeface="Times New Roman" panose="02020603050405020304" pitchFamily="18" charset="0"/>
              </a:rPr>
              <a:t>为</a:t>
            </a:r>
            <a:r>
              <a:rPr lang="zh-CN" altLang="en-US" sz="2400" b="1" dirty="0">
                <a:solidFill>
                  <a:srgbClr val="0000FF"/>
                </a:solidFill>
                <a:latin typeface="Times New Roman" panose="02020603050405020304" pitchFamily="18" charset="0"/>
                <a:cs typeface="Times New Roman" panose="02020603050405020304" pitchFamily="18" charset="0"/>
              </a:rPr>
              <a:t>每秒数十万次到数百万次</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eaLnBrk="1" hangingPunct="1">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输入输出设备</a:t>
            </a:r>
            <a:r>
              <a:rPr lang="zh-CN" altLang="en-US" sz="2400" b="1" dirty="0">
                <a:latin typeface="Times New Roman" panose="02020603050405020304" pitchFamily="18" charset="0"/>
                <a:cs typeface="Times New Roman" panose="02020603050405020304" pitchFamily="18" charset="0"/>
              </a:rPr>
              <a:t>为</a:t>
            </a:r>
            <a:r>
              <a:rPr lang="zh-CN" altLang="en-US" sz="2400" b="1" dirty="0">
                <a:solidFill>
                  <a:srgbClr val="0000FF"/>
                </a:solidFill>
                <a:latin typeface="Times New Roman" panose="02020603050405020304" pitchFamily="18" charset="0"/>
                <a:cs typeface="Times New Roman" panose="02020603050405020304" pitchFamily="18" charset="0"/>
              </a:rPr>
              <a:t>穿孔卡片或打印机。</a:t>
            </a:r>
            <a:endParaRPr lang="en-US" altLang="zh-CN" sz="2400" b="1" dirty="0">
              <a:latin typeface="Times New Roman" panose="02020603050405020304" pitchFamily="18" charset="0"/>
              <a:cs typeface="Times New Roman" panose="02020603050405020304" pitchFamily="18" charset="0"/>
            </a:endParaRPr>
          </a:p>
          <a:p>
            <a:pPr eaLnBrk="1" hangingPunct="1">
              <a:lnSpc>
                <a:spcPct val="150000"/>
              </a:lnSpc>
            </a:pPr>
            <a:r>
              <a:rPr lang="zh-CN" altLang="en-US" sz="2400" b="1" dirty="0">
                <a:latin typeface="Times New Roman" panose="02020603050405020304" pitchFamily="18" charset="0"/>
                <a:cs typeface="Times New Roman" panose="02020603050405020304" pitchFamily="18" charset="0"/>
              </a:rPr>
              <a:t>相对于电子管计算机，其体积和功耗均有明显减小。</a:t>
            </a:r>
            <a:endParaRPr lang="en-US" altLang="zh-CN" sz="2400" b="1" dirty="0">
              <a:latin typeface="Times New Roman" panose="02020603050405020304" pitchFamily="18" charset="0"/>
              <a:cs typeface="Times New Roman" panose="02020603050405020304" pitchFamily="18" charset="0"/>
            </a:endParaRPr>
          </a:p>
          <a:p>
            <a:pPr eaLnBrk="1" hangingPunct="1">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应用领域</a:t>
            </a:r>
            <a:r>
              <a:rPr lang="zh-CN" altLang="en-US" sz="2400" b="1" dirty="0">
                <a:latin typeface="Times New Roman" panose="02020603050405020304" pitchFamily="18" charset="0"/>
                <a:cs typeface="Times New Roman" panose="02020603050405020304" pitchFamily="18" charset="0"/>
              </a:rPr>
              <a:t>从科学计算扩展到</a:t>
            </a:r>
            <a:r>
              <a:rPr lang="zh-CN" altLang="en-US" sz="2400" b="1" dirty="0">
                <a:solidFill>
                  <a:srgbClr val="FF0000"/>
                </a:solidFill>
                <a:latin typeface="Times New Roman" panose="02020603050405020304" pitchFamily="18" charset="0"/>
                <a:cs typeface="Times New Roman" panose="02020603050405020304" pitchFamily="18" charset="0"/>
              </a:rPr>
              <a:t>数据处理。</a:t>
            </a:r>
            <a:endParaRPr lang="en-US" altLang="zh-CN" sz="2400" b="1" dirty="0">
              <a:latin typeface="Times New Roman" panose="02020603050405020304" pitchFamily="18" charset="0"/>
              <a:cs typeface="Times New Roman" panose="02020603050405020304" pitchFamily="18" charset="0"/>
            </a:endParaRPr>
          </a:p>
          <a:p>
            <a:pPr eaLnBrk="1" hangingPunct="1">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编程语言</a:t>
            </a:r>
            <a:r>
              <a:rPr lang="zh-CN" altLang="en-US" sz="2400" b="1" dirty="0">
                <a:latin typeface="Times New Roman" panose="02020603050405020304" pitchFamily="18" charset="0"/>
                <a:cs typeface="Times New Roman" panose="02020603050405020304" pitchFamily="18" charset="0"/>
              </a:rPr>
              <a:t>主要是</a:t>
            </a:r>
            <a:r>
              <a:rPr lang="zh-CN" altLang="en-US" sz="2400" b="1" dirty="0">
                <a:solidFill>
                  <a:srgbClr val="FF0000"/>
                </a:solidFill>
                <a:latin typeface="Times New Roman" panose="02020603050405020304" pitchFamily="18" charset="0"/>
                <a:cs typeface="Times New Roman" panose="02020603050405020304" pitchFamily="18" charset="0"/>
              </a:rPr>
              <a:t>汇编语言</a:t>
            </a:r>
            <a:r>
              <a:rPr lang="zh-CN" altLang="en-US" sz="2400" b="1" dirty="0">
                <a:latin typeface="Times New Roman" panose="02020603050405020304" pitchFamily="18" charset="0"/>
                <a:cs typeface="Times New Roman" panose="02020603050405020304" pitchFamily="18" charset="0"/>
              </a:rPr>
              <a:t>，并开始使用</a:t>
            </a:r>
            <a:r>
              <a:rPr lang="en-US" altLang="zh-CN" sz="2400" b="1" dirty="0">
                <a:solidFill>
                  <a:srgbClr val="FF0000"/>
                </a:solidFill>
                <a:latin typeface="Times New Roman" panose="02020603050405020304" pitchFamily="18" charset="0"/>
                <a:cs typeface="Times New Roman" panose="02020603050405020304" pitchFamily="18" charset="0"/>
              </a:rPr>
              <a:t>FORTRAN</a:t>
            </a:r>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COBOL</a:t>
            </a:r>
            <a:r>
              <a:rPr lang="zh-CN" altLang="en-US" sz="2400" b="1" dirty="0">
                <a:solidFill>
                  <a:srgbClr val="FF0000"/>
                </a:solidFill>
                <a:latin typeface="Times New Roman" panose="02020603050405020304" pitchFamily="18" charset="0"/>
                <a:cs typeface="Times New Roman" panose="02020603050405020304" pitchFamily="18" charset="0"/>
              </a:rPr>
              <a:t>和</a:t>
            </a:r>
            <a:r>
              <a:rPr lang="en-US" altLang="zh-CN" sz="2400" b="1" dirty="0">
                <a:solidFill>
                  <a:srgbClr val="FF0000"/>
                </a:solidFill>
                <a:latin typeface="Times New Roman" panose="02020603050405020304" pitchFamily="18" charset="0"/>
                <a:cs typeface="Times New Roman" panose="02020603050405020304" pitchFamily="18" charset="0"/>
              </a:rPr>
              <a:t>ALGOL</a:t>
            </a:r>
            <a:r>
              <a:rPr lang="zh-CN" altLang="en-US" sz="2400" b="1" dirty="0">
                <a:solidFill>
                  <a:srgbClr val="FF0000"/>
                </a:solidFill>
                <a:latin typeface="Times New Roman" panose="02020603050405020304" pitchFamily="18" charset="0"/>
                <a:cs typeface="Times New Roman" panose="02020603050405020304" pitchFamily="18" charset="0"/>
              </a:rPr>
              <a:t>等高级语言</a:t>
            </a:r>
            <a:r>
              <a:rPr lang="zh-CN" altLang="en-US" sz="2400" b="1" dirty="0">
                <a:latin typeface="Times New Roman" panose="02020603050405020304" pitchFamily="18" charset="0"/>
                <a:cs typeface="Times New Roman" panose="02020603050405020304" pitchFamily="18" charset="0"/>
              </a:rPr>
              <a:t>。</a:t>
            </a:r>
          </a:p>
        </p:txBody>
      </p:sp>
      <p:sp>
        <p:nvSpPr>
          <p:cNvPr id="4" name="Rectangle 2">
            <a:extLst>
              <a:ext uri="{FF2B5EF4-FFF2-40B4-BE49-F238E27FC236}">
                <a16:creationId xmlns:a16="http://schemas.microsoft.com/office/drawing/2014/main" id="{12EE6AE0-C602-DA33-F794-7E9038344056}"/>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A95F2B9-8EC9-481A-BAD4-8C3B0F254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0483" name="Rectangle 3"/>
          <p:cNvSpPr>
            <a:spLocks noGrp="1" noChangeArrowheads="1"/>
          </p:cNvSpPr>
          <p:nvPr>
            <p:ph idx="1"/>
          </p:nvPr>
        </p:nvSpPr>
        <p:spPr>
          <a:xfrm>
            <a:off x="179512" y="980728"/>
            <a:ext cx="8750176" cy="5740747"/>
          </a:xfrm>
        </p:spPr>
        <p:txBody>
          <a:bodyPr>
            <a:normAutofit fontScale="92500" lnSpcReduction="10000"/>
          </a:bodyPr>
          <a:lstStyle/>
          <a:p>
            <a:pPr eaLnBrk="1" hangingPunct="1">
              <a:buFont typeface="Wingdings" pitchFamily="2" charset="2"/>
              <a:buNone/>
            </a:pPr>
            <a:r>
              <a:rPr lang="zh-CN" altLang="en-US" sz="2800" b="1" dirty="0">
                <a:solidFill>
                  <a:srgbClr val="FF0000"/>
                </a:solidFill>
                <a:latin typeface="Times New Roman" panose="02020603050405020304" pitchFamily="18" charset="0"/>
                <a:cs typeface="Times New Roman" panose="02020603050405020304" pitchFamily="18" charset="0"/>
              </a:rPr>
              <a:t>第</a:t>
            </a:r>
            <a:r>
              <a:rPr lang="en-US" altLang="zh-CN" sz="2800" b="1" dirty="0">
                <a:solidFill>
                  <a:srgbClr val="FF0000"/>
                </a:solidFill>
                <a:latin typeface="Times New Roman" panose="02020603050405020304" pitchFamily="18" charset="0"/>
                <a:cs typeface="Times New Roman" panose="02020603050405020304" pitchFamily="18" charset="0"/>
              </a:rPr>
              <a:t>3</a:t>
            </a:r>
            <a:r>
              <a:rPr lang="zh-CN" altLang="en-US" sz="2800" b="1" dirty="0">
                <a:solidFill>
                  <a:srgbClr val="FF0000"/>
                </a:solidFill>
                <a:latin typeface="Times New Roman" panose="02020603050405020304" pitchFamily="18" charset="0"/>
                <a:cs typeface="Times New Roman" panose="02020603050405020304" pitchFamily="18" charset="0"/>
              </a:rPr>
              <a:t>代</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集成电路计算机（</a:t>
            </a:r>
            <a:r>
              <a:rPr lang="en-US" altLang="zh-CN" sz="2800" b="1" dirty="0">
                <a:solidFill>
                  <a:srgbClr val="FF0000"/>
                </a:solidFill>
                <a:latin typeface="Times New Roman" panose="02020603050405020304" pitchFamily="18" charset="0"/>
                <a:cs typeface="Times New Roman" panose="02020603050405020304" pitchFamily="18" charset="0"/>
              </a:rPr>
              <a:t>1965--1971</a:t>
            </a:r>
            <a:r>
              <a:rPr lang="zh-CN" altLang="en-US" sz="2800" b="1" dirty="0">
                <a:solidFill>
                  <a:srgbClr val="FF0000"/>
                </a:solidFill>
                <a:latin typeface="Times New Roman" panose="02020603050405020304" pitchFamily="18" charset="0"/>
                <a:cs typeface="Times New Roman" panose="02020603050405020304" pitchFamily="18" charset="0"/>
              </a:rPr>
              <a:t>年）</a:t>
            </a:r>
            <a:endParaRPr lang="en-US" altLang="zh-CN" sz="28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zh-CN" altLang="en-US" sz="2400" b="1" dirty="0">
                <a:latin typeface="Times New Roman" panose="02020603050405020304" pitchFamily="18" charset="0"/>
                <a:cs typeface="Times New Roman" panose="02020603050405020304" pitchFamily="18" charset="0"/>
              </a:rPr>
              <a:t>第三代计算机的基本电子器件普遍采用</a:t>
            </a:r>
            <a:r>
              <a:rPr lang="zh-CN" altLang="en-US" sz="2400" b="1" dirty="0">
                <a:solidFill>
                  <a:srgbClr val="0000FF"/>
                </a:solidFill>
                <a:latin typeface="Times New Roman" panose="02020603050405020304" pitchFamily="18" charset="0"/>
                <a:cs typeface="Times New Roman" panose="02020603050405020304" pitchFamily="18" charset="0"/>
              </a:rPr>
              <a:t>集成电路</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主存</a:t>
            </a:r>
            <a:r>
              <a:rPr lang="zh-CN" altLang="en-US" sz="2400" b="1" dirty="0">
                <a:latin typeface="Times New Roman" panose="02020603050405020304" pitchFamily="18" charset="0"/>
                <a:cs typeface="Times New Roman" panose="02020603050405020304" pitchFamily="18" charset="0"/>
              </a:rPr>
              <a:t>采用</a:t>
            </a:r>
            <a:r>
              <a:rPr lang="zh-CN" altLang="en-US" sz="2400" b="1" dirty="0">
                <a:solidFill>
                  <a:srgbClr val="0000FF"/>
                </a:solidFill>
                <a:latin typeface="Times New Roman" panose="02020603050405020304" pitchFamily="18" charset="0"/>
                <a:cs typeface="Times New Roman" panose="02020603050405020304" pitchFamily="18" charset="0"/>
              </a:rPr>
              <a:t>半导体存储器</a:t>
            </a:r>
            <a:r>
              <a:rPr lang="zh-CN" altLang="en-US" sz="2400" b="1" dirty="0">
                <a:latin typeface="Times New Roman" panose="02020603050405020304" pitchFamily="18" charset="0"/>
                <a:cs typeface="Times New Roman" panose="02020603050405020304" pitchFamily="18" charset="0"/>
              </a:rPr>
              <a:t>，以</a:t>
            </a:r>
            <a:r>
              <a:rPr lang="zh-CN" altLang="en-US" sz="2400" b="1" dirty="0">
                <a:solidFill>
                  <a:srgbClr val="0000FF"/>
                </a:solidFill>
                <a:latin typeface="Times New Roman" panose="02020603050405020304" pitchFamily="18" charset="0"/>
                <a:cs typeface="Times New Roman" panose="02020603050405020304" pitchFamily="18" charset="0"/>
              </a:rPr>
              <a:t>磁盘为辅存</a:t>
            </a:r>
            <a:r>
              <a:rPr lang="zh-CN" altLang="en-US" sz="2400" b="1" dirty="0">
                <a:latin typeface="Times New Roman" panose="02020603050405020304" pitchFamily="18" charset="0"/>
                <a:cs typeface="Times New Roman" panose="02020603050405020304" pitchFamily="18" charset="0"/>
              </a:rPr>
              <a:t>，主存和辅存容量显著增加，出现了</a:t>
            </a:r>
            <a:r>
              <a:rPr lang="zh-CN" altLang="en-US" sz="2400" b="1" dirty="0">
                <a:solidFill>
                  <a:srgbClr val="0000FF"/>
                </a:solidFill>
                <a:latin typeface="Times New Roman" panose="02020603050405020304" pitchFamily="18" charset="0"/>
                <a:cs typeface="Times New Roman" panose="02020603050405020304" pitchFamily="18" charset="0"/>
              </a:rPr>
              <a:t>键盘、鼠标、显示器</a:t>
            </a:r>
            <a:r>
              <a:rPr lang="zh-CN" altLang="en-US" sz="2400" b="1" dirty="0">
                <a:latin typeface="Times New Roman" panose="02020603050405020304" pitchFamily="18" charset="0"/>
                <a:cs typeface="Times New Roman" panose="02020603050405020304" pitchFamily="18" charset="0"/>
              </a:rPr>
              <a:t>等外部设备，</a:t>
            </a:r>
            <a:r>
              <a:rPr lang="zh-CN" altLang="en-US" sz="2400" b="1" dirty="0">
                <a:solidFill>
                  <a:srgbClr val="0000FF"/>
                </a:solidFill>
                <a:latin typeface="Times New Roman" panose="02020603050405020304" pitchFamily="18" charset="0"/>
                <a:cs typeface="Times New Roman" panose="02020603050405020304" pitchFamily="18" charset="0"/>
              </a:rPr>
              <a:t>操作系统</a:t>
            </a:r>
            <a:r>
              <a:rPr lang="zh-CN" altLang="en-US" sz="2400" b="1" dirty="0">
                <a:latin typeface="Times New Roman" panose="02020603050405020304" pitchFamily="18" charset="0"/>
                <a:cs typeface="Times New Roman" panose="02020603050405020304" pitchFamily="18" charset="0"/>
              </a:rPr>
              <a:t>得到广泛应用。</a:t>
            </a:r>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运算速度</a:t>
            </a:r>
            <a:r>
              <a:rPr lang="zh-CN" altLang="en-US" sz="2400" b="1" dirty="0">
                <a:latin typeface="Times New Roman" panose="02020603050405020304" pitchFamily="18" charset="0"/>
                <a:cs typeface="Times New Roman" panose="02020603050405020304" pitchFamily="18" charset="0"/>
              </a:rPr>
              <a:t>一般为</a:t>
            </a:r>
            <a:r>
              <a:rPr lang="zh-CN" altLang="en-US" sz="2400" b="1" dirty="0">
                <a:solidFill>
                  <a:srgbClr val="0000FF"/>
                </a:solidFill>
                <a:latin typeface="Times New Roman" panose="02020603050405020304" pitchFamily="18" charset="0"/>
                <a:cs typeface="Times New Roman" panose="02020603050405020304" pitchFamily="18" charset="0"/>
              </a:rPr>
              <a:t>每秒数百万次至数千万次</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zh-CN" altLang="en-US" sz="2400" b="1" dirty="0">
                <a:latin typeface="Times New Roman" panose="02020603050405020304" pitchFamily="18" charset="0"/>
                <a:cs typeface="Times New Roman" panose="02020603050405020304" pitchFamily="18" charset="0"/>
              </a:rPr>
              <a:t>计算机的</a:t>
            </a:r>
            <a:r>
              <a:rPr lang="zh-CN" altLang="en-US" sz="2400" b="1" dirty="0">
                <a:solidFill>
                  <a:srgbClr val="0000FF"/>
                </a:solidFill>
                <a:latin typeface="Times New Roman" panose="02020603050405020304" pitchFamily="18" charset="0"/>
                <a:cs typeface="Times New Roman" panose="02020603050405020304" pitchFamily="18" charset="0"/>
              </a:rPr>
              <a:t>体积和功耗均显著减小</a:t>
            </a:r>
            <a:r>
              <a:rPr lang="zh-CN" altLang="en-US" sz="2400" b="1" dirty="0">
                <a:latin typeface="Times New Roman" panose="02020603050405020304" pitchFamily="18" charset="0"/>
                <a:cs typeface="Times New Roman" panose="02020603050405020304" pitchFamily="18" charset="0"/>
              </a:rPr>
              <a:t>，可靠性大大提高。在此期间，</a:t>
            </a:r>
            <a:r>
              <a:rPr lang="zh-CN" altLang="en-US" sz="2400" b="1" dirty="0">
                <a:latin typeface="Times New Roman" panose="02020603050405020304" pitchFamily="18" charset="0"/>
                <a:cs typeface="Times New Roman" panose="02020603050405020304" pitchFamily="18" charset="0"/>
                <a:hlinkClick r:id="rId4" action="ppaction://hlinksldjump"/>
              </a:rPr>
              <a:t>出现了向大型和小型两极发展的趋势</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zh-CN" altLang="en-US" sz="2400" b="1" dirty="0">
                <a:latin typeface="Times New Roman" panose="02020603050405020304" pitchFamily="18" charset="0"/>
                <a:cs typeface="Times New Roman" panose="02020603050405020304" pitchFamily="18" charset="0"/>
              </a:rPr>
              <a:t>与此同时，计算机类型开始出现</a:t>
            </a:r>
            <a:r>
              <a:rPr lang="zh-CN" altLang="en-US" sz="2400" b="1" dirty="0">
                <a:solidFill>
                  <a:srgbClr val="0000FF"/>
                </a:solidFill>
                <a:latin typeface="Times New Roman" panose="02020603050405020304" pitchFamily="18" charset="0"/>
                <a:cs typeface="Times New Roman" panose="02020603050405020304" pitchFamily="18" charset="0"/>
              </a:rPr>
              <a:t>多样化和系列化</a:t>
            </a:r>
            <a:r>
              <a:rPr lang="zh-CN" altLang="en-US" sz="2400" b="1" dirty="0">
                <a:latin typeface="Times New Roman" panose="02020603050405020304" pitchFamily="18" charset="0"/>
                <a:cs typeface="Times New Roman" panose="02020603050405020304" pitchFamily="18" charset="0"/>
              </a:rPr>
              <a:t>；</a:t>
            </a:r>
            <a:r>
              <a:rPr lang="zh-CN" altLang="en-US" sz="2400" b="1" dirty="0">
                <a:solidFill>
                  <a:srgbClr val="0000FF"/>
                </a:solidFill>
                <a:latin typeface="Times New Roman" panose="02020603050405020304" pitchFamily="18" charset="0"/>
                <a:cs typeface="Times New Roman" panose="02020603050405020304" pitchFamily="18" charset="0"/>
              </a:rPr>
              <a:t>微程序、流水线和并行性</a:t>
            </a:r>
            <a:r>
              <a:rPr lang="zh-CN" altLang="en-US" sz="2400" b="1" dirty="0">
                <a:latin typeface="Times New Roman" panose="02020603050405020304" pitchFamily="18" charset="0"/>
                <a:cs typeface="Times New Roman" panose="02020603050405020304" pitchFamily="18" charset="0"/>
              </a:rPr>
              <a:t>等技术也陆续被引入计算机设计中；软件技术与外部设备快速发展，应用领域不断扩大。</a:t>
            </a:r>
            <a:endParaRPr lang="en-US" altLang="zh-CN" sz="2400" b="1" dirty="0">
              <a:latin typeface="Times New Roman" panose="02020603050405020304" pitchFamily="18" charset="0"/>
              <a:cs typeface="Times New Roman" panose="02020603050405020304" pitchFamily="18" charset="0"/>
            </a:endParaRPr>
          </a:p>
          <a:p>
            <a:pPr>
              <a:lnSpc>
                <a:spcPct val="150000"/>
              </a:lnSpc>
            </a:pPr>
            <a:endParaRPr lang="zh-CN" altLang="en-US" sz="2400" b="1"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EB3D1628-5D54-42B3-33EC-23705738AD10}"/>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A95F2B9-8EC9-481A-BAD4-8C3B0F254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0483" name="Rectangle 3"/>
          <p:cNvSpPr>
            <a:spLocks noGrp="1" noChangeArrowheads="1"/>
          </p:cNvSpPr>
          <p:nvPr>
            <p:ph idx="1"/>
          </p:nvPr>
        </p:nvSpPr>
        <p:spPr>
          <a:xfrm>
            <a:off x="179512" y="980728"/>
            <a:ext cx="8750176" cy="5740747"/>
          </a:xfrm>
        </p:spPr>
        <p:txBody>
          <a:bodyPr>
            <a:normAutofit/>
          </a:bodyPr>
          <a:lstStyle/>
          <a:p>
            <a:pPr eaLnBrk="1" hangingPunct="1">
              <a:buFont typeface="Wingdings" pitchFamily="2" charset="2"/>
              <a:buNone/>
            </a:pPr>
            <a:r>
              <a:rPr lang="zh-CN" altLang="en-US" sz="2800" b="1" dirty="0">
                <a:solidFill>
                  <a:srgbClr val="FF0000"/>
                </a:solidFill>
                <a:latin typeface="Times New Roman" panose="02020603050405020304" pitchFamily="18" charset="0"/>
                <a:cs typeface="Times New Roman" panose="02020603050405020304" pitchFamily="18" charset="0"/>
              </a:rPr>
              <a:t>第</a:t>
            </a:r>
            <a:r>
              <a:rPr lang="en-US" altLang="zh-CN" sz="2800" b="1" dirty="0">
                <a:solidFill>
                  <a:srgbClr val="FF0000"/>
                </a:solidFill>
                <a:latin typeface="Times New Roman" panose="02020603050405020304" pitchFamily="18" charset="0"/>
                <a:cs typeface="Times New Roman" panose="02020603050405020304" pitchFamily="18" charset="0"/>
              </a:rPr>
              <a:t>3</a:t>
            </a:r>
            <a:r>
              <a:rPr lang="zh-CN" altLang="en-US" sz="2800" b="1" dirty="0">
                <a:solidFill>
                  <a:srgbClr val="FF0000"/>
                </a:solidFill>
                <a:latin typeface="Times New Roman" panose="02020603050405020304" pitchFamily="18" charset="0"/>
                <a:cs typeface="Times New Roman" panose="02020603050405020304" pitchFamily="18" charset="0"/>
              </a:rPr>
              <a:t>代</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集成电路计算机（</a:t>
            </a:r>
            <a:r>
              <a:rPr lang="en-US" altLang="zh-CN" sz="2800" b="1" dirty="0">
                <a:solidFill>
                  <a:srgbClr val="FF0000"/>
                </a:solidFill>
                <a:latin typeface="Times New Roman" panose="02020603050405020304" pitchFamily="18" charset="0"/>
                <a:cs typeface="Times New Roman" panose="02020603050405020304" pitchFamily="18" charset="0"/>
              </a:rPr>
              <a:t>1965--1971</a:t>
            </a:r>
            <a:r>
              <a:rPr lang="zh-CN" altLang="en-US" sz="2800" b="1" dirty="0">
                <a:solidFill>
                  <a:srgbClr val="FF0000"/>
                </a:solidFill>
                <a:latin typeface="Times New Roman" panose="02020603050405020304" pitchFamily="18" charset="0"/>
                <a:cs typeface="Times New Roman" panose="02020603050405020304" pitchFamily="18" charset="0"/>
              </a:rPr>
              <a:t>年）</a:t>
            </a:r>
            <a:endParaRPr lang="en-US" altLang="zh-CN" sz="2800" b="1" dirty="0">
              <a:solidFill>
                <a:srgbClr val="FF0000"/>
              </a:solidFill>
              <a:latin typeface="Times New Roman" panose="02020603050405020304" pitchFamily="18" charset="0"/>
              <a:cs typeface="Times New Roman" panose="02020603050405020304" pitchFamily="18" charset="0"/>
            </a:endParaRPr>
          </a:p>
          <a:p>
            <a:pPr>
              <a:lnSpc>
                <a:spcPct val="150000"/>
              </a:lnSpc>
            </a:pPr>
            <a:endParaRPr lang="zh-CN" altLang="en-US" sz="2400" b="1"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EB3D1628-5D54-42B3-33EC-23705738AD10}"/>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pic>
        <p:nvPicPr>
          <p:cNvPr id="2" name="图片 1">
            <a:extLst>
              <a:ext uri="{FF2B5EF4-FFF2-40B4-BE49-F238E27FC236}">
                <a16:creationId xmlns:a16="http://schemas.microsoft.com/office/drawing/2014/main" id="{704699CB-6E97-409F-B59D-D3D1048DD1FA}"/>
              </a:ext>
            </a:extLst>
          </p:cNvPr>
          <p:cNvPicPr>
            <a:picLocks noChangeAspect="1"/>
          </p:cNvPicPr>
          <p:nvPr/>
        </p:nvPicPr>
        <p:blipFill>
          <a:blip r:embed="rId4"/>
          <a:stretch>
            <a:fillRect/>
          </a:stretch>
        </p:blipFill>
        <p:spPr>
          <a:xfrm>
            <a:off x="3062713" y="1871937"/>
            <a:ext cx="3132348" cy="2088232"/>
          </a:xfrm>
          <a:prstGeom prst="rect">
            <a:avLst/>
          </a:prstGeom>
        </p:spPr>
      </p:pic>
      <p:sp>
        <p:nvSpPr>
          <p:cNvPr id="4" name="文本框 3">
            <a:extLst>
              <a:ext uri="{FF2B5EF4-FFF2-40B4-BE49-F238E27FC236}">
                <a16:creationId xmlns:a16="http://schemas.microsoft.com/office/drawing/2014/main" id="{9AE70E4C-67C8-4CFC-8486-2508EAC1D4EE}"/>
              </a:ext>
            </a:extLst>
          </p:cNvPr>
          <p:cNvSpPr txBox="1"/>
          <p:nvPr/>
        </p:nvSpPr>
        <p:spPr>
          <a:xfrm>
            <a:off x="3425802" y="4183941"/>
            <a:ext cx="2736304" cy="1880579"/>
          </a:xfrm>
          <a:prstGeom prst="rect">
            <a:avLst/>
          </a:prstGeom>
          <a:noFill/>
        </p:spPr>
        <p:txBody>
          <a:bodyPr wrap="square" rtlCol="0">
            <a:spAutoFit/>
          </a:bodyPr>
          <a:lstStyle/>
          <a:p>
            <a:pPr algn="ctr">
              <a:lnSpc>
                <a:spcPct val="150000"/>
              </a:lnSpc>
            </a:pPr>
            <a:r>
              <a:rPr lang="en-US" altLang="zh-CN" sz="2000" dirty="0">
                <a:latin typeface="Times New Roman" panose="02020603050405020304" pitchFamily="18" charset="0"/>
                <a:cs typeface="Times New Roman" panose="02020603050405020304" pitchFamily="18" charset="0"/>
              </a:rPr>
              <a:t>1964</a:t>
            </a:r>
            <a:r>
              <a:rPr lang="zh-CN" altLang="en-US" sz="2000" dirty="0">
                <a:latin typeface="Times New Roman" panose="02020603050405020304" pitchFamily="18" charset="0"/>
                <a:cs typeface="Times New Roman" panose="02020603050405020304" pitchFamily="18" charset="0"/>
              </a:rPr>
              <a:t>年</a:t>
            </a:r>
            <a:endParaRPr lang="en-US" altLang="zh-CN" sz="2000" dirty="0">
              <a:latin typeface="Times New Roman" panose="02020603050405020304" pitchFamily="18" charset="0"/>
              <a:cs typeface="Times New Roman" panose="02020603050405020304" pitchFamily="18" charset="0"/>
            </a:endParaRPr>
          </a:p>
          <a:p>
            <a:pPr algn="ctr">
              <a:lnSpc>
                <a:spcPct val="150000"/>
              </a:lnSpc>
            </a:pPr>
            <a:r>
              <a:rPr lang="en-US" altLang="zh-CN" sz="2000" dirty="0">
                <a:latin typeface="Times New Roman" panose="02020603050405020304" pitchFamily="18" charset="0"/>
                <a:cs typeface="Times New Roman" panose="02020603050405020304" pitchFamily="18" charset="0"/>
              </a:rPr>
              <a:t>IBM</a:t>
            </a:r>
            <a:r>
              <a:rPr lang="zh-CN" altLang="en-US" sz="2000" dirty="0">
                <a:latin typeface="Times New Roman" panose="02020603050405020304" pitchFamily="18" charset="0"/>
                <a:cs typeface="Times New Roman" panose="02020603050405020304" pitchFamily="18" charset="0"/>
              </a:rPr>
              <a:t>公司</a:t>
            </a:r>
            <a:endParaRPr lang="en-US" altLang="zh-CN" sz="2000" dirty="0">
              <a:latin typeface="Times New Roman" panose="02020603050405020304" pitchFamily="18" charset="0"/>
              <a:cs typeface="Times New Roman" panose="02020603050405020304" pitchFamily="18" charset="0"/>
            </a:endParaRPr>
          </a:p>
          <a:p>
            <a:pPr algn="ctr">
              <a:lnSpc>
                <a:spcPct val="150000"/>
              </a:lnSpc>
            </a:pPr>
            <a:r>
              <a:rPr lang="en-US" altLang="zh-CN" sz="2000" dirty="0">
                <a:latin typeface="Times New Roman" panose="02020603050405020304" pitchFamily="18" charset="0"/>
                <a:cs typeface="Times New Roman" panose="02020603050405020304" pitchFamily="18" charset="0"/>
              </a:rPr>
              <a:t>360</a:t>
            </a:r>
            <a:r>
              <a:rPr lang="zh-CN" altLang="en-US" sz="2000" dirty="0">
                <a:latin typeface="Times New Roman" panose="02020603050405020304" pitchFamily="18" charset="0"/>
                <a:cs typeface="Times New Roman" panose="02020603050405020304" pitchFamily="18" charset="0"/>
              </a:rPr>
              <a:t>计算机</a:t>
            </a:r>
            <a:endParaRPr lang="en-US" altLang="zh-CN" sz="2000" dirty="0">
              <a:latin typeface="Times New Roman" panose="02020603050405020304" pitchFamily="18" charset="0"/>
              <a:cs typeface="Times New Roman" panose="02020603050405020304" pitchFamily="18" charset="0"/>
            </a:endParaRPr>
          </a:p>
          <a:p>
            <a:pPr algn="ctr">
              <a:lnSpc>
                <a:spcPct val="150000"/>
              </a:lnSpc>
            </a:pP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大型机</a:t>
            </a:r>
          </a:p>
        </p:txBody>
      </p:sp>
      <p:pic>
        <p:nvPicPr>
          <p:cNvPr id="6" name="图片 5">
            <a:extLst>
              <a:ext uri="{FF2B5EF4-FFF2-40B4-BE49-F238E27FC236}">
                <a16:creationId xmlns:a16="http://schemas.microsoft.com/office/drawing/2014/main" id="{B332CFA9-CF44-4B81-A318-A6D959B1B27C}"/>
              </a:ext>
            </a:extLst>
          </p:cNvPr>
          <p:cNvPicPr>
            <a:picLocks noChangeAspect="1"/>
          </p:cNvPicPr>
          <p:nvPr/>
        </p:nvPicPr>
        <p:blipFill>
          <a:blip r:embed="rId5"/>
          <a:stretch>
            <a:fillRect/>
          </a:stretch>
        </p:blipFill>
        <p:spPr>
          <a:xfrm>
            <a:off x="175940" y="1857005"/>
            <a:ext cx="2785701" cy="2088232"/>
          </a:xfrm>
          <a:prstGeom prst="rect">
            <a:avLst/>
          </a:prstGeom>
        </p:spPr>
      </p:pic>
      <p:sp>
        <p:nvSpPr>
          <p:cNvPr id="9" name="文本框 8">
            <a:extLst>
              <a:ext uri="{FF2B5EF4-FFF2-40B4-BE49-F238E27FC236}">
                <a16:creationId xmlns:a16="http://schemas.microsoft.com/office/drawing/2014/main" id="{6E13E871-C067-454F-960E-876139CCF86B}"/>
              </a:ext>
            </a:extLst>
          </p:cNvPr>
          <p:cNvSpPr txBox="1"/>
          <p:nvPr/>
        </p:nvSpPr>
        <p:spPr>
          <a:xfrm>
            <a:off x="597727" y="4149080"/>
            <a:ext cx="2246081" cy="1880579"/>
          </a:xfrm>
          <a:prstGeom prst="rect">
            <a:avLst/>
          </a:prstGeom>
          <a:noFill/>
        </p:spPr>
        <p:txBody>
          <a:bodyPr wrap="square" rtlCol="0">
            <a:spAutoFit/>
          </a:bodyPr>
          <a:lstStyle/>
          <a:p>
            <a:pPr algn="ctr">
              <a:lnSpc>
                <a:spcPct val="150000"/>
              </a:lnSpc>
            </a:pPr>
            <a:r>
              <a:rPr lang="en-US" altLang="zh-CN" sz="2000" dirty="0">
                <a:latin typeface="Times New Roman" panose="02020603050405020304" pitchFamily="18" charset="0"/>
                <a:cs typeface="Times New Roman" panose="02020603050405020304" pitchFamily="18" charset="0"/>
              </a:rPr>
              <a:t>1971</a:t>
            </a:r>
            <a:r>
              <a:rPr lang="zh-CN" altLang="en-US" sz="2000" dirty="0">
                <a:latin typeface="Times New Roman" panose="02020603050405020304" pitchFamily="18" charset="0"/>
                <a:cs typeface="Times New Roman" panose="02020603050405020304" pitchFamily="18" charset="0"/>
              </a:rPr>
              <a:t>年</a:t>
            </a:r>
            <a:endParaRPr lang="en-US" altLang="zh-CN" sz="2000" dirty="0">
              <a:latin typeface="Times New Roman" panose="02020603050405020304" pitchFamily="18" charset="0"/>
              <a:cs typeface="Times New Roman" panose="02020603050405020304" pitchFamily="18" charset="0"/>
            </a:endParaRPr>
          </a:p>
          <a:p>
            <a:pPr algn="ctr">
              <a:lnSpc>
                <a:spcPct val="150000"/>
              </a:lnSpc>
            </a:pPr>
            <a:r>
              <a:rPr lang="en-US" altLang="zh-CN" sz="2000" dirty="0">
                <a:latin typeface="Times New Roman" panose="02020603050405020304" pitchFamily="18" charset="0"/>
                <a:cs typeface="Times New Roman" panose="02020603050405020304" pitchFamily="18" charset="0"/>
              </a:rPr>
              <a:t>DEC</a:t>
            </a:r>
            <a:r>
              <a:rPr lang="zh-CN" altLang="en-US" sz="2000" dirty="0">
                <a:latin typeface="Times New Roman" panose="02020603050405020304" pitchFamily="18" charset="0"/>
                <a:cs typeface="Times New Roman" panose="02020603050405020304" pitchFamily="18" charset="0"/>
              </a:rPr>
              <a:t>公司</a:t>
            </a:r>
            <a:endParaRPr lang="en-US" altLang="zh-CN" sz="2000" dirty="0">
              <a:latin typeface="Times New Roman" panose="02020603050405020304" pitchFamily="18" charset="0"/>
              <a:cs typeface="Times New Roman" panose="02020603050405020304" pitchFamily="18" charset="0"/>
            </a:endParaRPr>
          </a:p>
          <a:p>
            <a:pPr algn="ctr">
              <a:lnSpc>
                <a:spcPct val="150000"/>
              </a:lnSpc>
            </a:pPr>
            <a:r>
              <a:rPr lang="en-US" altLang="zh-CN" sz="2000" dirty="0">
                <a:latin typeface="Times New Roman" panose="02020603050405020304" pitchFamily="18" charset="0"/>
                <a:cs typeface="Times New Roman" panose="02020603050405020304" pitchFamily="18" charset="0"/>
              </a:rPr>
              <a:t>PDP-11</a:t>
            </a:r>
            <a:r>
              <a:rPr lang="zh-CN" altLang="en-US" sz="2000" dirty="0">
                <a:latin typeface="Times New Roman" panose="02020603050405020304" pitchFamily="18" charset="0"/>
                <a:cs typeface="Times New Roman" panose="02020603050405020304" pitchFamily="18" charset="0"/>
              </a:rPr>
              <a:t>计算机</a:t>
            </a:r>
            <a:endParaRPr lang="en-US" altLang="zh-CN" sz="2000" dirty="0">
              <a:latin typeface="Times New Roman" panose="02020603050405020304" pitchFamily="18" charset="0"/>
              <a:cs typeface="Times New Roman" panose="02020603050405020304" pitchFamily="18" charset="0"/>
            </a:endParaRPr>
          </a:p>
          <a:p>
            <a:pPr algn="ctr">
              <a:lnSpc>
                <a:spcPct val="150000"/>
              </a:lnSpc>
            </a:pP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小型机</a:t>
            </a:r>
          </a:p>
        </p:txBody>
      </p:sp>
      <p:pic>
        <p:nvPicPr>
          <p:cNvPr id="8" name="图片 7">
            <a:extLst>
              <a:ext uri="{FF2B5EF4-FFF2-40B4-BE49-F238E27FC236}">
                <a16:creationId xmlns:a16="http://schemas.microsoft.com/office/drawing/2014/main" id="{9BC54073-D5D8-4C47-B3E8-6A071438C635}"/>
              </a:ext>
            </a:extLst>
          </p:cNvPr>
          <p:cNvPicPr>
            <a:picLocks noChangeAspect="1"/>
          </p:cNvPicPr>
          <p:nvPr/>
        </p:nvPicPr>
        <p:blipFill>
          <a:blip r:embed="rId6"/>
          <a:stretch>
            <a:fillRect/>
          </a:stretch>
        </p:blipFill>
        <p:spPr>
          <a:xfrm>
            <a:off x="6475762" y="1423534"/>
            <a:ext cx="2616198" cy="3924297"/>
          </a:xfrm>
          <a:prstGeom prst="rect">
            <a:avLst/>
          </a:prstGeom>
        </p:spPr>
      </p:pic>
      <p:sp>
        <p:nvSpPr>
          <p:cNvPr id="11" name="文本框 10">
            <a:extLst>
              <a:ext uri="{FF2B5EF4-FFF2-40B4-BE49-F238E27FC236}">
                <a16:creationId xmlns:a16="http://schemas.microsoft.com/office/drawing/2014/main" id="{872DC0DA-32B1-4417-BB57-A5FC4FED21D4}"/>
              </a:ext>
            </a:extLst>
          </p:cNvPr>
          <p:cNvSpPr txBox="1"/>
          <p:nvPr/>
        </p:nvSpPr>
        <p:spPr>
          <a:xfrm>
            <a:off x="5992152" y="5478522"/>
            <a:ext cx="3228533" cy="101566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1974</a:t>
            </a:r>
            <a:r>
              <a:rPr lang="zh-CN" altLang="en-US" sz="2000" dirty="0">
                <a:latin typeface="Times New Roman" panose="02020603050405020304" pitchFamily="18" charset="0"/>
                <a:cs typeface="Times New Roman" panose="02020603050405020304" pitchFamily="18" charset="0"/>
              </a:rPr>
              <a:t>年</a:t>
            </a:r>
            <a:r>
              <a:rPr lang="en-US" altLang="zh-CN" sz="2000" dirty="0">
                <a:latin typeface="Times New Roman" panose="02020603050405020304" pitchFamily="18" charset="0"/>
                <a:cs typeface="Times New Roman" panose="02020603050405020304" pitchFamily="18" charset="0"/>
              </a:rPr>
              <a:t>CRAY</a:t>
            </a:r>
            <a:r>
              <a:rPr lang="zh-CN" altLang="en-US" sz="2000" dirty="0">
                <a:latin typeface="Times New Roman" panose="02020603050405020304" pitchFamily="18" charset="0"/>
                <a:cs typeface="Times New Roman" panose="02020603050405020304" pitchFamily="18" charset="0"/>
              </a:rPr>
              <a:t>公司</a:t>
            </a:r>
            <a:endParaRPr lang="en-US" altLang="zh-CN" sz="2000" dirty="0">
              <a:latin typeface="Times New Roman" panose="02020603050405020304" pitchFamily="18" charset="0"/>
              <a:cs typeface="Times New Roman" panose="02020603050405020304" pitchFamily="18" charset="0"/>
            </a:endParaRPr>
          </a:p>
          <a:p>
            <a:pPr algn="ctr"/>
            <a:r>
              <a:rPr lang="zh-CN" altLang="en-US" sz="2000" dirty="0">
                <a:latin typeface="Times New Roman" panose="02020603050405020304" pitchFamily="18" charset="0"/>
                <a:cs typeface="Times New Roman" panose="02020603050405020304" pitchFamily="18" charset="0"/>
              </a:rPr>
              <a:t>第一台向量计算机</a:t>
            </a:r>
            <a:r>
              <a:rPr lang="en-US" altLang="zh-CN" sz="2000" dirty="0">
                <a:latin typeface="Times New Roman" panose="02020603050405020304" pitchFamily="18" charset="0"/>
                <a:cs typeface="Times New Roman" panose="02020603050405020304" pitchFamily="18" charset="0"/>
              </a:rPr>
              <a:t>CRAY-1</a:t>
            </a:r>
          </a:p>
          <a:p>
            <a:pPr algn="ct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超级计算机</a:t>
            </a:r>
            <a:endParaRPr lang="en-US" altLang="zh-CN" sz="20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DCDDB87D-1994-46EB-88AE-D087316E1D82}"/>
              </a:ext>
            </a:extLst>
          </p:cNvPr>
          <p:cNvSpPr txBox="1"/>
          <p:nvPr/>
        </p:nvSpPr>
        <p:spPr>
          <a:xfrm>
            <a:off x="3491880" y="6473135"/>
            <a:ext cx="3104517" cy="338554"/>
          </a:xfrm>
          <a:prstGeom prst="rect">
            <a:avLst/>
          </a:prstGeom>
          <a:noFill/>
        </p:spPr>
        <p:txBody>
          <a:bodyPr wrap="square" rtlCol="0">
            <a:spAutoFit/>
          </a:bodyPr>
          <a:lstStyle/>
          <a:p>
            <a:r>
              <a:rPr lang="zh-CN" altLang="en-US" sz="1600" b="1" dirty="0">
                <a:solidFill>
                  <a:srgbClr val="002060"/>
                </a:solidFill>
                <a:latin typeface="Times New Roman" panose="02020603050405020304" pitchFamily="18" charset="0"/>
                <a:ea typeface="+mn-ea"/>
                <a:cs typeface="Times New Roman" panose="02020603050405020304" pitchFamily="18" charset="0"/>
              </a:rPr>
              <a:t>图</a:t>
            </a:r>
            <a:r>
              <a:rPr lang="en-US" altLang="zh-CN" sz="1600" b="1" dirty="0">
                <a:solidFill>
                  <a:srgbClr val="002060"/>
                </a:solidFill>
                <a:latin typeface="Times New Roman" panose="02020603050405020304" pitchFamily="18" charset="0"/>
                <a:ea typeface="+mn-ea"/>
                <a:cs typeface="Times New Roman" panose="02020603050405020304" pitchFamily="18" charset="0"/>
              </a:rPr>
              <a:t>1.2 </a:t>
            </a:r>
            <a:r>
              <a:rPr lang="zh-CN" altLang="en-US" sz="1600" b="1" dirty="0">
                <a:solidFill>
                  <a:srgbClr val="002060"/>
                </a:solidFill>
                <a:latin typeface="Times New Roman" panose="02020603050405020304" pitchFamily="18" charset="0"/>
                <a:ea typeface="+mn-ea"/>
                <a:cs typeface="Times New Roman" panose="02020603050405020304" pitchFamily="18" charset="0"/>
              </a:rPr>
              <a:t>典型的第</a:t>
            </a:r>
            <a:r>
              <a:rPr lang="en-US" altLang="zh-CN" sz="1600" b="1" dirty="0">
                <a:solidFill>
                  <a:srgbClr val="002060"/>
                </a:solidFill>
                <a:latin typeface="Times New Roman" panose="02020603050405020304" pitchFamily="18" charset="0"/>
                <a:ea typeface="+mn-ea"/>
                <a:cs typeface="Times New Roman" panose="02020603050405020304" pitchFamily="18" charset="0"/>
              </a:rPr>
              <a:t>3</a:t>
            </a:r>
            <a:r>
              <a:rPr lang="zh-CN" altLang="en-US" sz="1600" b="1" dirty="0">
                <a:solidFill>
                  <a:srgbClr val="002060"/>
                </a:solidFill>
                <a:latin typeface="Times New Roman" panose="02020603050405020304" pitchFamily="18" charset="0"/>
                <a:ea typeface="+mn-ea"/>
                <a:cs typeface="Times New Roman" panose="02020603050405020304" pitchFamily="18" charset="0"/>
              </a:rPr>
              <a:t>代计算机</a:t>
            </a:r>
          </a:p>
        </p:txBody>
      </p:sp>
      <p:sp>
        <p:nvSpPr>
          <p:cNvPr id="3" name="动作按钮: 上一张 2">
            <a:hlinkClick r:id="" action="ppaction://hlinkshowjump?jump=lastslideviewed" highlightClick="1"/>
            <a:extLst>
              <a:ext uri="{FF2B5EF4-FFF2-40B4-BE49-F238E27FC236}">
                <a16:creationId xmlns:a16="http://schemas.microsoft.com/office/drawing/2014/main" id="{8BDEF0D1-AD3C-4E37-95FD-C0DCF6BAE14E}"/>
              </a:ext>
            </a:extLst>
          </p:cNvPr>
          <p:cNvSpPr/>
          <p:nvPr/>
        </p:nvSpPr>
        <p:spPr>
          <a:xfrm>
            <a:off x="8546273" y="980728"/>
            <a:ext cx="418215" cy="312115"/>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86652637"/>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3AEEF0B-DD68-432F-9205-A4E5F80FE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3555" name="Rectangle 3"/>
          <p:cNvSpPr>
            <a:spLocks noGrp="1" noChangeArrowheads="1"/>
          </p:cNvSpPr>
          <p:nvPr>
            <p:ph idx="1"/>
          </p:nvPr>
        </p:nvSpPr>
        <p:spPr>
          <a:xfrm>
            <a:off x="107504" y="856605"/>
            <a:ext cx="9036496" cy="5812755"/>
          </a:xfrm>
        </p:spPr>
        <p:txBody>
          <a:bodyPr/>
          <a:lstStyle/>
          <a:p>
            <a:pPr eaLnBrk="1" hangingPunct="1">
              <a:lnSpc>
                <a:spcPct val="120000"/>
              </a:lnSpc>
              <a:spcBef>
                <a:spcPts val="0"/>
              </a:spcBef>
              <a:buNone/>
            </a:pPr>
            <a:r>
              <a:rPr lang="zh-CN" altLang="en-US" sz="2800" b="1" dirty="0">
                <a:solidFill>
                  <a:srgbClr val="FF0000"/>
                </a:solidFill>
                <a:latin typeface="Times New Roman" panose="02020603050405020304" pitchFamily="18" charset="0"/>
                <a:cs typeface="Times New Roman" panose="02020603050405020304" pitchFamily="18" charset="0"/>
              </a:rPr>
              <a:t>第</a:t>
            </a:r>
            <a:r>
              <a:rPr lang="en-US" altLang="zh-CN" sz="2800" b="1" dirty="0">
                <a:solidFill>
                  <a:srgbClr val="FF0000"/>
                </a:solidFill>
                <a:latin typeface="Times New Roman" panose="02020603050405020304" pitchFamily="18" charset="0"/>
                <a:cs typeface="Times New Roman" panose="02020603050405020304" pitchFamily="18" charset="0"/>
              </a:rPr>
              <a:t>4</a:t>
            </a:r>
            <a:r>
              <a:rPr lang="zh-CN" altLang="en-US" sz="2800" b="1" dirty="0">
                <a:solidFill>
                  <a:srgbClr val="FF0000"/>
                </a:solidFill>
                <a:latin typeface="Times New Roman" panose="02020603050405020304" pitchFamily="18" charset="0"/>
                <a:cs typeface="Times New Roman" panose="02020603050405020304" pitchFamily="18" charset="0"/>
              </a:rPr>
              <a:t>代</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超大规模集成电路计算机（</a:t>
            </a:r>
            <a:r>
              <a:rPr lang="en-US" altLang="zh-CN" sz="2800" b="1" dirty="0">
                <a:solidFill>
                  <a:srgbClr val="FF0000"/>
                </a:solidFill>
                <a:latin typeface="Times New Roman" panose="02020603050405020304" pitchFamily="18" charset="0"/>
                <a:cs typeface="Times New Roman" panose="02020603050405020304" pitchFamily="18" charset="0"/>
              </a:rPr>
              <a:t>1972-</a:t>
            </a:r>
            <a:r>
              <a:rPr lang="zh-CN" altLang="en-US" sz="2800" b="1" dirty="0">
                <a:solidFill>
                  <a:srgbClr val="FF0000"/>
                </a:solidFill>
                <a:latin typeface="Times New Roman" panose="02020603050405020304" pitchFamily="18" charset="0"/>
                <a:cs typeface="Times New Roman" panose="02020603050405020304" pitchFamily="18" charset="0"/>
              </a:rPr>
              <a:t>至今）</a:t>
            </a:r>
            <a:endParaRPr lang="en-US" altLang="zh-CN" sz="2800" b="1" dirty="0">
              <a:solidFill>
                <a:srgbClr val="FF0000"/>
              </a:solidFill>
              <a:latin typeface="Times New Roman" panose="02020603050405020304" pitchFamily="18" charset="0"/>
              <a:cs typeface="Times New Roman" panose="02020603050405020304" pitchFamily="18" charset="0"/>
            </a:endParaRPr>
          </a:p>
          <a:p>
            <a:pPr eaLnBrk="1" hangingPunct="1">
              <a:lnSpc>
                <a:spcPct val="150000"/>
              </a:lnSpc>
              <a:spcBef>
                <a:spcPts val="0"/>
              </a:spcBef>
            </a:pPr>
            <a:r>
              <a:rPr lang="zh-CN" altLang="en-US" sz="2200" b="1" dirty="0">
                <a:latin typeface="Times New Roman" panose="02020603050405020304" pitchFamily="18" charset="0"/>
                <a:cs typeface="Times New Roman" panose="02020603050405020304" pitchFamily="18" charset="0"/>
              </a:rPr>
              <a:t>第四代计算机采用了</a:t>
            </a:r>
            <a:r>
              <a:rPr lang="zh-CN" altLang="en-US" sz="2200" b="1" dirty="0">
                <a:solidFill>
                  <a:srgbClr val="0000FF"/>
                </a:solidFill>
                <a:latin typeface="Times New Roman" panose="02020603050405020304" pitchFamily="18" charset="0"/>
                <a:cs typeface="Times New Roman" panose="02020603050405020304" pitchFamily="18" charset="0"/>
              </a:rPr>
              <a:t>超大规模集成电路</a:t>
            </a:r>
            <a:r>
              <a:rPr lang="zh-CN" altLang="en-US" sz="2200" b="1" dirty="0">
                <a:latin typeface="Times New Roman" panose="02020603050405020304" pitchFamily="18" charset="0"/>
                <a:cs typeface="Times New Roman" panose="02020603050405020304" pitchFamily="18" charset="0"/>
              </a:rPr>
              <a:t>，以</a:t>
            </a:r>
            <a:r>
              <a:rPr lang="zh-CN" altLang="en-US" sz="2200" b="1" dirty="0">
                <a:solidFill>
                  <a:srgbClr val="0000FF"/>
                </a:solidFill>
                <a:latin typeface="Times New Roman" panose="02020603050405020304" pitchFamily="18" charset="0"/>
                <a:cs typeface="Times New Roman" panose="02020603050405020304" pitchFamily="18" charset="0"/>
              </a:rPr>
              <a:t>微处理器</a:t>
            </a:r>
            <a:r>
              <a:rPr lang="zh-CN" altLang="en-US" sz="2200" b="1" dirty="0">
                <a:latin typeface="Times New Roman" panose="02020603050405020304" pitchFamily="18" charset="0"/>
                <a:cs typeface="Times New Roman" panose="02020603050405020304" pitchFamily="18" charset="0"/>
              </a:rPr>
              <a:t>为特征。</a:t>
            </a:r>
            <a:endParaRPr lang="en-US" altLang="zh-CN" sz="2200" b="1" dirty="0">
              <a:latin typeface="Times New Roman" panose="02020603050405020304" pitchFamily="18" charset="0"/>
              <a:cs typeface="Times New Roman" panose="02020603050405020304" pitchFamily="18" charset="0"/>
            </a:endParaRPr>
          </a:p>
          <a:p>
            <a:pPr eaLnBrk="1" hangingPunct="1">
              <a:lnSpc>
                <a:spcPct val="150000"/>
              </a:lnSpc>
              <a:spcBef>
                <a:spcPts val="0"/>
              </a:spcBef>
            </a:pPr>
            <a:r>
              <a:rPr lang="zh-CN" altLang="en-US" sz="2200" b="1" dirty="0">
                <a:solidFill>
                  <a:srgbClr val="FF0000"/>
                </a:solidFill>
                <a:latin typeface="Times New Roman" panose="02020603050405020304" pitchFamily="18" charset="0"/>
                <a:cs typeface="Times New Roman" panose="02020603050405020304" pitchFamily="18" charset="0"/>
              </a:rPr>
              <a:t>运算速度</a:t>
            </a:r>
            <a:r>
              <a:rPr lang="zh-CN" altLang="en-US" sz="2200" b="1" dirty="0">
                <a:latin typeface="Times New Roman" panose="02020603050405020304" pitchFamily="18" charset="0"/>
                <a:cs typeface="Times New Roman" panose="02020603050405020304" pitchFamily="18" charset="0"/>
              </a:rPr>
              <a:t>从</a:t>
            </a:r>
            <a:r>
              <a:rPr lang="en-US" altLang="zh-CN" sz="2200" b="1" dirty="0">
                <a:latin typeface="Times New Roman" panose="02020603050405020304" pitchFamily="18" charset="0"/>
                <a:cs typeface="Times New Roman" panose="02020603050405020304" pitchFamily="18" charset="0"/>
              </a:rPr>
              <a:t>MIPS</a:t>
            </a:r>
            <a:r>
              <a:rPr lang="zh-CN" altLang="en-US" sz="2200" b="1" dirty="0">
                <a:latin typeface="Times New Roman" panose="02020603050405020304" pitchFamily="18" charset="0"/>
                <a:cs typeface="Times New Roman" panose="02020603050405020304" pitchFamily="18" charset="0"/>
              </a:rPr>
              <a:t>级提高到</a:t>
            </a:r>
            <a:r>
              <a:rPr lang="en-US" altLang="zh-CN" sz="2200" b="1" dirty="0">
                <a:solidFill>
                  <a:srgbClr val="0000FF"/>
                </a:solidFill>
                <a:latin typeface="Times New Roman" panose="02020603050405020304" pitchFamily="18" charset="0"/>
                <a:cs typeface="Times New Roman" panose="02020603050405020304" pitchFamily="18" charset="0"/>
              </a:rPr>
              <a:t>GIPS</a:t>
            </a:r>
            <a:r>
              <a:rPr lang="zh-CN" altLang="en-US" sz="2200" b="1" dirty="0">
                <a:solidFill>
                  <a:srgbClr val="0000FF"/>
                </a:solidFill>
                <a:latin typeface="Times New Roman" panose="02020603050405020304" pitchFamily="18" charset="0"/>
                <a:cs typeface="Times New Roman" panose="02020603050405020304" pitchFamily="18" charset="0"/>
              </a:rPr>
              <a:t>级</a:t>
            </a:r>
            <a:r>
              <a:rPr lang="zh-CN" altLang="en-US" sz="2200" b="1" dirty="0">
                <a:latin typeface="Times New Roman" panose="02020603050405020304" pitchFamily="18" charset="0"/>
                <a:cs typeface="Times New Roman" panose="02020603050405020304" pitchFamily="18" charset="0"/>
              </a:rPr>
              <a:t>甚至</a:t>
            </a:r>
            <a:r>
              <a:rPr lang="en-US" altLang="zh-CN" sz="2200" b="1" dirty="0">
                <a:solidFill>
                  <a:srgbClr val="0000FF"/>
                </a:solidFill>
                <a:latin typeface="Times New Roman" panose="02020603050405020304" pitchFamily="18" charset="0"/>
                <a:cs typeface="Times New Roman" panose="02020603050405020304" pitchFamily="18" charset="0"/>
              </a:rPr>
              <a:t>TIPS</a:t>
            </a:r>
            <a:r>
              <a:rPr lang="zh-CN" altLang="en-US" sz="2200" b="1" dirty="0">
                <a:latin typeface="Times New Roman" panose="02020603050405020304" pitchFamily="18" charset="0"/>
                <a:cs typeface="Times New Roman" panose="02020603050405020304" pitchFamily="18" charset="0"/>
              </a:rPr>
              <a:t>水平。</a:t>
            </a:r>
            <a:endParaRPr lang="en-US" altLang="zh-CN" sz="2200" b="1" dirty="0">
              <a:latin typeface="Times New Roman" panose="02020603050405020304" pitchFamily="18" charset="0"/>
              <a:cs typeface="Times New Roman" panose="02020603050405020304" pitchFamily="18" charset="0"/>
            </a:endParaRPr>
          </a:p>
          <a:p>
            <a:pPr eaLnBrk="1" hangingPunct="1">
              <a:lnSpc>
                <a:spcPct val="150000"/>
              </a:lnSpc>
              <a:spcBef>
                <a:spcPts val="0"/>
              </a:spcBef>
            </a:pPr>
            <a:r>
              <a:rPr lang="zh-CN" altLang="en-US" sz="2200" b="1" dirty="0">
                <a:latin typeface="Times New Roman" panose="02020603050405020304" pitchFamily="18" charset="0"/>
                <a:cs typeface="Times New Roman" panose="02020603050405020304" pitchFamily="18" charset="0"/>
              </a:rPr>
              <a:t>超大规模集成电路</a:t>
            </a:r>
            <a:r>
              <a:rPr lang="zh-CN" altLang="en-US" sz="2200" b="1" dirty="0">
                <a:solidFill>
                  <a:srgbClr val="0000FF"/>
                </a:solidFill>
                <a:latin typeface="Times New Roman" panose="02020603050405020304" pitchFamily="18" charset="0"/>
                <a:cs typeface="Times New Roman" panose="02020603050405020304" pitchFamily="18" charset="0"/>
              </a:rPr>
              <a:t>进一步减小了计算机的体积和功耗</a:t>
            </a:r>
            <a:r>
              <a:rPr lang="zh-CN" altLang="en-US" sz="2200" b="1" dirty="0">
                <a:latin typeface="Times New Roman" panose="02020603050405020304" pitchFamily="18" charset="0"/>
                <a:cs typeface="Times New Roman" panose="02020603050405020304" pitchFamily="18" charset="0"/>
              </a:rPr>
              <a:t>，提升了计算机的性能。</a:t>
            </a:r>
            <a:endParaRPr lang="en-US" altLang="zh-CN" sz="2200" b="1" dirty="0">
              <a:latin typeface="Times New Roman" panose="02020603050405020304" pitchFamily="18" charset="0"/>
              <a:cs typeface="Times New Roman" panose="02020603050405020304" pitchFamily="18" charset="0"/>
            </a:endParaRPr>
          </a:p>
          <a:p>
            <a:pPr eaLnBrk="1" hangingPunct="1">
              <a:lnSpc>
                <a:spcPct val="150000"/>
              </a:lnSpc>
              <a:spcBef>
                <a:spcPts val="0"/>
              </a:spcBef>
            </a:pPr>
            <a:r>
              <a:rPr lang="en-US" altLang="zh-CN" sz="2200" b="1" dirty="0">
                <a:latin typeface="Times New Roman" panose="02020603050405020304" pitchFamily="18" charset="0"/>
                <a:cs typeface="Times New Roman" panose="02020603050405020304" pitchFamily="18" charset="0"/>
              </a:rPr>
              <a:t>1981</a:t>
            </a:r>
            <a:r>
              <a:rPr lang="zh-CN" altLang="en-US" sz="2200" b="1" dirty="0">
                <a:latin typeface="Times New Roman" panose="02020603050405020304" pitchFamily="18" charset="0"/>
                <a:cs typeface="Times New Roman" panose="02020603050405020304" pitchFamily="18" charset="0"/>
              </a:rPr>
              <a:t>年，</a:t>
            </a:r>
            <a:r>
              <a:rPr lang="zh-CN" altLang="en-US" sz="2200" b="1" dirty="0">
                <a:solidFill>
                  <a:srgbClr val="0000FF"/>
                </a:solidFill>
                <a:latin typeface="Times New Roman" panose="02020603050405020304" pitchFamily="18" charset="0"/>
                <a:cs typeface="Times New Roman" panose="02020603050405020304" pitchFamily="18" charset="0"/>
              </a:rPr>
              <a:t>采用</a:t>
            </a:r>
            <a:r>
              <a:rPr lang="en-US" altLang="zh-CN" sz="2200" b="1" dirty="0">
                <a:solidFill>
                  <a:srgbClr val="0000FF"/>
                </a:solidFill>
                <a:latin typeface="Times New Roman" panose="02020603050405020304" pitchFamily="18" charset="0"/>
                <a:cs typeface="Times New Roman" panose="02020603050405020304" pitchFamily="18" charset="0"/>
              </a:rPr>
              <a:t>Intel 8086</a:t>
            </a:r>
            <a:r>
              <a:rPr lang="zh-CN" altLang="en-US" sz="2200" b="1" dirty="0">
                <a:solidFill>
                  <a:srgbClr val="0000FF"/>
                </a:solidFill>
                <a:latin typeface="Times New Roman" panose="02020603050405020304" pitchFamily="18" charset="0"/>
                <a:cs typeface="Times New Roman" panose="02020603050405020304" pitchFamily="18" charset="0"/>
              </a:rPr>
              <a:t>系列芯片的</a:t>
            </a:r>
            <a:r>
              <a:rPr lang="en-US" altLang="zh-CN" sz="2200" b="1" dirty="0">
                <a:solidFill>
                  <a:srgbClr val="0000FF"/>
                </a:solidFill>
                <a:latin typeface="Times New Roman" panose="02020603050405020304" pitchFamily="18" charset="0"/>
                <a:cs typeface="Times New Roman" panose="02020603050405020304" pitchFamily="18" charset="0"/>
              </a:rPr>
              <a:t>IBM PC</a:t>
            </a:r>
            <a:r>
              <a:rPr lang="zh-CN" altLang="en-US" sz="2200" b="1" dirty="0">
                <a:solidFill>
                  <a:srgbClr val="0000FF"/>
                </a:solidFill>
                <a:latin typeface="Times New Roman" panose="02020603050405020304" pitchFamily="18" charset="0"/>
                <a:cs typeface="Times New Roman" panose="02020603050405020304" pitchFamily="18" charset="0"/>
              </a:rPr>
              <a:t>诞生</a:t>
            </a:r>
            <a:r>
              <a:rPr lang="zh-CN" altLang="en-US" sz="2200" b="1" dirty="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pPr eaLnBrk="1" hangingPunct="1">
              <a:lnSpc>
                <a:spcPct val="150000"/>
              </a:lnSpc>
              <a:spcBef>
                <a:spcPts val="0"/>
              </a:spcBef>
            </a:pPr>
            <a:r>
              <a:rPr lang="zh-CN" altLang="en-US" sz="2200" b="1" dirty="0">
                <a:latin typeface="Times New Roman" panose="02020603050405020304" pitchFamily="18" charset="0"/>
                <a:cs typeface="Times New Roman" panose="02020603050405020304" pitchFamily="18" charset="0"/>
              </a:rPr>
              <a:t>计算机出现了</a:t>
            </a:r>
            <a:r>
              <a:rPr lang="zh-CN" altLang="en-US" sz="2200" b="1" dirty="0">
                <a:solidFill>
                  <a:srgbClr val="0000FF"/>
                </a:solidFill>
                <a:latin typeface="Times New Roman" panose="02020603050405020304" pitchFamily="18" charset="0"/>
                <a:cs typeface="Times New Roman" panose="02020603050405020304" pitchFamily="18" charset="0"/>
              </a:rPr>
              <a:t>精简指令系统计算机</a:t>
            </a:r>
            <a:r>
              <a:rPr lang="en-US" altLang="zh-CN" sz="2200" b="1" dirty="0">
                <a:solidFill>
                  <a:srgbClr val="0000FF"/>
                </a:solidFill>
                <a:latin typeface="Times New Roman" panose="02020603050405020304" pitchFamily="18" charset="0"/>
                <a:cs typeface="Times New Roman" panose="02020603050405020304" pitchFamily="18" charset="0"/>
              </a:rPr>
              <a:t>RISC</a:t>
            </a:r>
            <a:r>
              <a:rPr lang="zh-CN" altLang="en-US" sz="2200" b="1" dirty="0">
                <a:latin typeface="Times New Roman" panose="02020603050405020304" pitchFamily="18" charset="0"/>
                <a:cs typeface="Times New Roman" panose="02020603050405020304" pitchFamily="18" charset="0"/>
              </a:rPr>
              <a:t>（</a:t>
            </a:r>
            <a:r>
              <a:rPr lang="en-US" altLang="zh-CN" sz="2200" b="1" dirty="0">
                <a:latin typeface="Times New Roman" panose="02020603050405020304" pitchFamily="18" charset="0"/>
                <a:cs typeface="Times New Roman" panose="02020603050405020304" pitchFamily="18" charset="0"/>
              </a:rPr>
              <a:t>1985</a:t>
            </a:r>
            <a:r>
              <a:rPr lang="zh-CN" altLang="en-US" sz="2200" b="1" dirty="0">
                <a:latin typeface="Times New Roman" panose="02020603050405020304" pitchFamily="18" charset="0"/>
                <a:cs typeface="Times New Roman" panose="02020603050405020304" pitchFamily="18" charset="0"/>
              </a:rPr>
              <a:t>年，</a:t>
            </a:r>
            <a:r>
              <a:rPr lang="en-US" altLang="zh-CN" sz="2200" b="1" dirty="0">
                <a:latin typeface="Times New Roman" panose="02020603050405020304" pitchFamily="18" charset="0"/>
                <a:cs typeface="Times New Roman" panose="02020603050405020304" pitchFamily="18" charset="0"/>
              </a:rPr>
              <a:t>MIPS</a:t>
            </a:r>
            <a:r>
              <a:rPr lang="zh-CN" altLang="en-US" sz="2200" b="1" dirty="0">
                <a:latin typeface="Times New Roman" panose="02020603050405020304" pitchFamily="18" charset="0"/>
                <a:cs typeface="Times New Roman" panose="02020603050405020304" pitchFamily="18" charset="0"/>
              </a:rPr>
              <a:t>机）和</a:t>
            </a:r>
            <a:r>
              <a:rPr lang="zh-CN" altLang="en-US" sz="2200" b="1" dirty="0">
                <a:solidFill>
                  <a:srgbClr val="0000FF"/>
                </a:solidFill>
                <a:latin typeface="Times New Roman" panose="02020603050405020304" pitchFamily="18" charset="0"/>
                <a:cs typeface="Times New Roman" panose="02020603050405020304" pitchFamily="18" charset="0"/>
              </a:rPr>
              <a:t>复杂指令系统计算机</a:t>
            </a:r>
            <a:r>
              <a:rPr lang="en-US" altLang="zh-CN" sz="2200" b="1" dirty="0">
                <a:solidFill>
                  <a:srgbClr val="0000FF"/>
                </a:solidFill>
                <a:latin typeface="Times New Roman" panose="02020603050405020304" pitchFamily="18" charset="0"/>
                <a:cs typeface="Times New Roman" panose="02020603050405020304" pitchFamily="18" charset="0"/>
              </a:rPr>
              <a:t>CISC</a:t>
            </a:r>
            <a:r>
              <a:rPr lang="zh-CN" altLang="en-US" sz="2200" b="1" dirty="0">
                <a:latin typeface="Times New Roman" panose="02020603050405020304" pitchFamily="18" charset="0"/>
                <a:cs typeface="Times New Roman" panose="02020603050405020304" pitchFamily="18" charset="0"/>
              </a:rPr>
              <a:t>（</a:t>
            </a:r>
            <a:r>
              <a:rPr lang="en-US" altLang="zh-CN" sz="2200" b="1" dirty="0">
                <a:latin typeface="Times New Roman" panose="02020603050405020304" pitchFamily="18" charset="0"/>
                <a:cs typeface="Times New Roman" panose="02020603050405020304" pitchFamily="18" charset="0"/>
              </a:rPr>
              <a:t>1978</a:t>
            </a:r>
            <a:r>
              <a:rPr lang="zh-CN" altLang="en-US" sz="2200" b="1" dirty="0">
                <a:latin typeface="Times New Roman" panose="02020603050405020304" pitchFamily="18" charset="0"/>
                <a:cs typeface="Times New Roman" panose="02020603050405020304" pitchFamily="18" charset="0"/>
              </a:rPr>
              <a:t>年，</a:t>
            </a:r>
            <a:r>
              <a:rPr lang="en-US" altLang="zh-CN" sz="2200" b="1" dirty="0">
                <a:latin typeface="Times New Roman" panose="02020603050405020304" pitchFamily="18" charset="0"/>
                <a:cs typeface="Times New Roman" panose="02020603050405020304" pitchFamily="18" charset="0"/>
              </a:rPr>
              <a:t>SPARC</a:t>
            </a:r>
            <a:r>
              <a:rPr lang="zh-CN" altLang="en-US" sz="2200" b="1" dirty="0">
                <a:latin typeface="Times New Roman" panose="02020603050405020304" pitchFamily="18" charset="0"/>
                <a:cs typeface="Times New Roman" panose="02020603050405020304" pitchFamily="18" charset="0"/>
              </a:rPr>
              <a:t>）两个发展方向。</a:t>
            </a:r>
            <a:endParaRPr lang="en-US" altLang="zh-CN" sz="2200" b="1" dirty="0">
              <a:latin typeface="Times New Roman" panose="02020603050405020304" pitchFamily="18" charset="0"/>
              <a:cs typeface="Times New Roman" panose="02020603050405020304" pitchFamily="18" charset="0"/>
            </a:endParaRPr>
          </a:p>
          <a:p>
            <a:pPr eaLnBrk="1" hangingPunct="1">
              <a:lnSpc>
                <a:spcPct val="150000"/>
              </a:lnSpc>
              <a:spcBef>
                <a:spcPts val="0"/>
              </a:spcBef>
            </a:pPr>
            <a:r>
              <a:rPr lang="zh-CN" altLang="en-US" sz="2200" b="1" dirty="0">
                <a:solidFill>
                  <a:srgbClr val="0000FF"/>
                </a:solidFill>
                <a:latin typeface="Times New Roman" panose="02020603050405020304" pitchFamily="18" charset="0"/>
                <a:cs typeface="Times New Roman" panose="02020603050405020304" pitchFamily="18" charset="0"/>
              </a:rPr>
              <a:t>多机并行处理</a:t>
            </a:r>
            <a:r>
              <a:rPr lang="zh-CN" altLang="en-US" sz="2200" b="1" dirty="0">
                <a:latin typeface="Times New Roman" panose="02020603050405020304" pitchFamily="18" charset="0"/>
                <a:cs typeface="Times New Roman" panose="02020603050405020304" pitchFamily="18" charset="0"/>
              </a:rPr>
              <a:t>与</a:t>
            </a:r>
            <a:r>
              <a:rPr lang="zh-CN" altLang="en-US" sz="2200" b="1" dirty="0">
                <a:solidFill>
                  <a:srgbClr val="0000FF"/>
                </a:solidFill>
                <a:latin typeface="Times New Roman" panose="02020603050405020304" pitchFamily="18" charset="0"/>
                <a:cs typeface="Times New Roman" panose="02020603050405020304" pitchFamily="18" charset="0"/>
              </a:rPr>
              <a:t>网络化</a:t>
            </a:r>
            <a:r>
              <a:rPr lang="zh-CN" altLang="en-US" sz="2200" b="1" dirty="0">
                <a:latin typeface="Times New Roman" panose="02020603050405020304" pitchFamily="18" charset="0"/>
                <a:cs typeface="Times New Roman" panose="02020603050405020304" pitchFamily="18" charset="0"/>
              </a:rPr>
              <a:t>，大规模并行处理系统、分布式系统、计算机网络的研究和实施进展迅速。</a:t>
            </a:r>
            <a:endParaRPr lang="en-US" altLang="zh-CN" sz="2200" b="1" dirty="0">
              <a:latin typeface="Times New Roman" panose="02020603050405020304" pitchFamily="18" charset="0"/>
              <a:cs typeface="Times New Roman" panose="02020603050405020304" pitchFamily="18" charset="0"/>
            </a:endParaRPr>
          </a:p>
          <a:p>
            <a:pPr eaLnBrk="1" hangingPunct="1">
              <a:lnSpc>
                <a:spcPct val="150000"/>
              </a:lnSpc>
              <a:spcBef>
                <a:spcPts val="0"/>
              </a:spcBef>
            </a:pPr>
            <a:r>
              <a:rPr lang="zh-CN" altLang="en-US" sz="2200" b="1" dirty="0">
                <a:solidFill>
                  <a:srgbClr val="0000FF"/>
                </a:solidFill>
                <a:latin typeface="Times New Roman" panose="02020603050405020304" pitchFamily="18" charset="0"/>
                <a:cs typeface="Times New Roman" panose="02020603050405020304" pitchFamily="18" charset="0"/>
              </a:rPr>
              <a:t>系统软件</a:t>
            </a:r>
            <a:r>
              <a:rPr lang="zh-CN" altLang="en-US" sz="2200" b="1" dirty="0">
                <a:latin typeface="Times New Roman" panose="02020603050405020304" pitchFamily="18" charset="0"/>
                <a:cs typeface="Times New Roman" panose="02020603050405020304" pitchFamily="18" charset="0"/>
              </a:rPr>
              <a:t>的发展实现了计算机的自动化，并且向</a:t>
            </a:r>
            <a:r>
              <a:rPr lang="zh-CN" altLang="en-US" sz="2200" b="1" dirty="0">
                <a:solidFill>
                  <a:srgbClr val="0000FF"/>
                </a:solidFill>
                <a:latin typeface="Times New Roman" panose="02020603050405020304" pitchFamily="18" charset="0"/>
                <a:cs typeface="Times New Roman" panose="02020603050405020304" pitchFamily="18" charset="0"/>
              </a:rPr>
              <a:t>工程化和智能化</a:t>
            </a:r>
            <a:r>
              <a:rPr lang="zh-CN" altLang="en-US" sz="2200" b="1" dirty="0">
                <a:latin typeface="Times New Roman" panose="02020603050405020304" pitchFamily="18" charset="0"/>
                <a:cs typeface="Times New Roman" panose="02020603050405020304" pitchFamily="18" charset="0"/>
              </a:rPr>
              <a:t>迈进。</a:t>
            </a:r>
          </a:p>
          <a:p>
            <a:pPr eaLnBrk="1" hangingPunct="1">
              <a:spcBef>
                <a:spcPts val="0"/>
              </a:spcBef>
            </a:pPr>
            <a:endParaRPr lang="zh-CN" altLang="en-US" sz="2400" b="1" dirty="0">
              <a:latin typeface="Times New Roman" panose="02020603050405020304" pitchFamily="18" charset="0"/>
              <a:cs typeface="Times New Roman" panose="02020603050405020304" pitchFamily="18" charset="0"/>
            </a:endParaRPr>
          </a:p>
        </p:txBody>
      </p:sp>
      <p:sp>
        <p:nvSpPr>
          <p:cNvPr id="2" name="Rectangle 2">
            <a:extLst>
              <a:ext uri="{FF2B5EF4-FFF2-40B4-BE49-F238E27FC236}">
                <a16:creationId xmlns:a16="http://schemas.microsoft.com/office/drawing/2014/main" id="{FFBCA0A8-CE71-20BA-2586-92BA7A3E67ED}"/>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55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55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5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8E965842-4DF7-45B6-9009-9B74B2841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占位符 5"/>
          <p:cNvSpPr>
            <a:spLocks noGrp="1"/>
          </p:cNvSpPr>
          <p:nvPr>
            <p:ph type="body" sz="half" idx="1"/>
          </p:nvPr>
        </p:nvSpPr>
        <p:spPr>
          <a:xfrm>
            <a:off x="25129" y="1320030"/>
            <a:ext cx="7211168" cy="3261098"/>
          </a:xfrm>
        </p:spPr>
        <p:txBody>
          <a:bodyPr>
            <a:noAutofit/>
          </a:bodyPr>
          <a:lstStyle/>
          <a:p>
            <a:pPr algn="just">
              <a:lnSpc>
                <a:spcPct val="114000"/>
              </a:lnSpc>
              <a:spcBef>
                <a:spcPts val="0"/>
              </a:spcBef>
              <a:buFont typeface="Arial" panose="020B0604020202020204" pitchFamily="34" charset="0"/>
              <a:buChar char="•"/>
              <a:defRPr/>
            </a:pPr>
            <a:r>
              <a:rPr lang="en-US" altLang="zh-CN" sz="2000" b="1" dirty="0">
                <a:latin typeface="Times New Roman" panose="02020603050405020304" pitchFamily="18" charset="0"/>
                <a:cs typeface="Times New Roman" panose="02020603050405020304" pitchFamily="18" charset="0"/>
              </a:rPr>
              <a:t>1965</a:t>
            </a:r>
            <a:r>
              <a:rPr lang="zh-CN" altLang="en-US" sz="2000" b="1" dirty="0">
                <a:latin typeface="Times New Roman" panose="02020603050405020304" pitchFamily="18" charset="0"/>
                <a:cs typeface="Times New Roman" panose="02020603050405020304" pitchFamily="18" charset="0"/>
              </a:rPr>
              <a:t>，</a:t>
            </a:r>
            <a:r>
              <a:rPr lang="en-US" altLang="zh-CN" sz="2000" b="1" dirty="0">
                <a:solidFill>
                  <a:srgbClr val="3333FF"/>
                </a:solidFill>
                <a:latin typeface="Times New Roman" panose="02020603050405020304" pitchFamily="18" charset="0"/>
                <a:cs typeface="Times New Roman" panose="02020603050405020304" pitchFamily="18" charset="0"/>
              </a:rPr>
              <a:t>Gordon Moore</a:t>
            </a:r>
            <a:r>
              <a:rPr lang="en-US" altLang="zh-CN" sz="2000" b="1" dirty="0">
                <a:latin typeface="Times New Roman" panose="02020603050405020304" pitchFamily="18" charset="0"/>
                <a:cs typeface="Times New Roman" panose="02020603050405020304" pitchFamily="18" charset="0"/>
              </a:rPr>
              <a:t>, Intel</a:t>
            </a:r>
            <a:r>
              <a:rPr lang="zh-CN" altLang="en-US" sz="2000" b="1" dirty="0">
                <a:latin typeface="Times New Roman" panose="02020603050405020304" pitchFamily="18" charset="0"/>
                <a:cs typeface="Times New Roman" panose="02020603050405020304" pitchFamily="18" charset="0"/>
              </a:rPr>
              <a:t>公司的创始人之一，</a:t>
            </a:r>
            <a:r>
              <a:rPr lang="zh-CN" altLang="en-US" sz="2000" b="1" dirty="0">
                <a:solidFill>
                  <a:srgbClr val="0000FF"/>
                </a:solidFill>
                <a:latin typeface="Times New Roman" panose="02020603050405020304" pitchFamily="18" charset="0"/>
                <a:cs typeface="Times New Roman" panose="02020603050405020304" pitchFamily="18" charset="0"/>
              </a:rPr>
              <a:t>对集成电路上可容纳的晶体管数目、性能和价格等发展趋势进行了预测</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gn="just">
              <a:lnSpc>
                <a:spcPct val="114000"/>
              </a:lnSpc>
              <a:spcBef>
                <a:spcPts val="0"/>
              </a:spcBef>
              <a:buFont typeface="Arial" panose="020B0604020202020204" pitchFamily="34" charset="0"/>
              <a:buChar char="•"/>
              <a:defRPr/>
            </a:pPr>
            <a:r>
              <a:rPr lang="zh-CN" altLang="en-US" sz="2000" b="1" dirty="0">
                <a:solidFill>
                  <a:srgbClr val="FF0000"/>
                </a:solidFill>
                <a:latin typeface="Times New Roman" panose="02020603050405020304" pitchFamily="18" charset="0"/>
                <a:cs typeface="Times New Roman" panose="02020603050405020304" pitchFamily="18" charset="0"/>
              </a:rPr>
              <a:t>当</a:t>
            </a:r>
            <a:r>
              <a:rPr lang="zh-CN" altLang="en-US" sz="2000" b="1" dirty="0">
                <a:solidFill>
                  <a:srgbClr val="FF0000"/>
                </a:solidFill>
                <a:highlight>
                  <a:srgbClr val="FFFF00"/>
                </a:highlight>
                <a:latin typeface="Times New Roman" panose="02020603050405020304" pitchFamily="18" charset="0"/>
                <a:cs typeface="Times New Roman" panose="02020603050405020304" pitchFamily="18" charset="0"/>
              </a:rPr>
              <a:t>价格</a:t>
            </a:r>
            <a:r>
              <a:rPr lang="zh-CN" altLang="en-US" sz="2000" b="1" dirty="0">
                <a:solidFill>
                  <a:srgbClr val="FF0000"/>
                </a:solidFill>
                <a:latin typeface="Times New Roman" panose="02020603050405020304" pitchFamily="18" charset="0"/>
                <a:cs typeface="Times New Roman" panose="02020603050405020304" pitchFamily="18" charset="0"/>
              </a:rPr>
              <a:t>不变时，集成电路上可容纳的</a:t>
            </a:r>
            <a:r>
              <a:rPr lang="zh-CN" altLang="en-US" sz="2000" b="1" dirty="0">
                <a:solidFill>
                  <a:srgbClr val="FF0000"/>
                </a:solidFill>
                <a:highlight>
                  <a:srgbClr val="FFFF00"/>
                </a:highlight>
                <a:latin typeface="Times New Roman" panose="02020603050405020304" pitchFamily="18" charset="0"/>
                <a:cs typeface="Times New Roman" panose="02020603050405020304" pitchFamily="18" charset="0"/>
              </a:rPr>
              <a:t>元器件的数目</a:t>
            </a:r>
            <a:r>
              <a:rPr lang="zh-CN" altLang="en-US" sz="2000" b="1" dirty="0">
                <a:solidFill>
                  <a:srgbClr val="FF0000"/>
                </a:solidFill>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hlinkClick r:id="rId4" action="ppaction://hlinksldjump"/>
              </a:rPr>
              <a:t>约每隔</a:t>
            </a:r>
            <a:r>
              <a:rPr lang="en-US" altLang="zh-CN" sz="2000" b="1" dirty="0">
                <a:solidFill>
                  <a:srgbClr val="FF0000"/>
                </a:solidFill>
                <a:latin typeface="Times New Roman" panose="02020603050405020304" pitchFamily="18" charset="0"/>
                <a:cs typeface="Times New Roman" panose="02020603050405020304" pitchFamily="18" charset="0"/>
                <a:hlinkClick r:id="rId4" action="ppaction://hlinksldjump"/>
              </a:rPr>
              <a:t>18-24</a:t>
            </a:r>
            <a:r>
              <a:rPr lang="zh-CN" altLang="en-US" sz="2000" b="1" dirty="0">
                <a:solidFill>
                  <a:srgbClr val="FF0000"/>
                </a:solidFill>
                <a:latin typeface="Times New Roman" panose="02020603050405020304" pitchFamily="18" charset="0"/>
                <a:cs typeface="Times New Roman" panose="02020603050405020304" pitchFamily="18" charset="0"/>
                <a:hlinkClick r:id="rId4" action="ppaction://hlinksldjump"/>
              </a:rPr>
              <a:t>个月便会增加一倍</a:t>
            </a:r>
            <a:r>
              <a:rPr lang="zh-CN" altLang="en-US" sz="2000" b="1" dirty="0">
                <a:solidFill>
                  <a:srgbClr val="FF0000"/>
                </a:solidFill>
                <a:latin typeface="Times New Roman" panose="02020603050405020304" pitchFamily="18" charset="0"/>
                <a:cs typeface="Times New Roman" panose="02020603050405020304" pitchFamily="18" charset="0"/>
              </a:rPr>
              <a:t>，</a:t>
            </a:r>
            <a:r>
              <a:rPr lang="zh-CN" altLang="en-US" sz="2000" b="1" dirty="0">
                <a:solidFill>
                  <a:srgbClr val="FF0000"/>
                </a:solidFill>
                <a:highlight>
                  <a:srgbClr val="FFFF00"/>
                </a:highlight>
                <a:latin typeface="Times New Roman" panose="02020603050405020304" pitchFamily="18" charset="0"/>
                <a:cs typeface="Times New Roman" panose="02020603050405020304" pitchFamily="18" charset="0"/>
              </a:rPr>
              <a:t>性能</a:t>
            </a:r>
            <a:r>
              <a:rPr lang="zh-CN" altLang="en-US" sz="2000" b="1" dirty="0">
                <a:solidFill>
                  <a:srgbClr val="FF0000"/>
                </a:solidFill>
                <a:latin typeface="Times New Roman" panose="02020603050405020304" pitchFamily="18" charset="0"/>
                <a:cs typeface="Times New Roman" panose="02020603050405020304" pitchFamily="18" charset="0"/>
              </a:rPr>
              <a:t>也将提升一倍。</a:t>
            </a:r>
            <a:endParaRPr lang="en-US" altLang="zh-CN" sz="2000" b="1" dirty="0">
              <a:solidFill>
                <a:srgbClr val="FF0000"/>
              </a:solidFill>
              <a:latin typeface="Times New Roman" panose="02020603050405020304" pitchFamily="18" charset="0"/>
              <a:cs typeface="Times New Roman" panose="02020603050405020304" pitchFamily="18" charset="0"/>
            </a:endParaRPr>
          </a:p>
          <a:p>
            <a:pPr algn="just">
              <a:lnSpc>
                <a:spcPct val="114000"/>
              </a:lnSpc>
              <a:spcBef>
                <a:spcPts val="0"/>
              </a:spcBef>
              <a:buFont typeface="Arial" panose="020B0604020202020204" pitchFamily="34" charset="0"/>
              <a:buChar char="•"/>
              <a:defRPr/>
            </a:pPr>
            <a:r>
              <a:rPr lang="zh-CN" altLang="en-US" sz="2000" b="1" dirty="0">
                <a:latin typeface="Times New Roman" panose="02020603050405020304" pitchFamily="18" charset="0"/>
                <a:cs typeface="Times New Roman" panose="02020603050405020304" pitchFamily="18" charset="0"/>
              </a:rPr>
              <a:t>近年来由于工艺和技术的发展，半导体工艺已接近集成电路极限，</a:t>
            </a:r>
            <a:r>
              <a:rPr lang="en-US" altLang="zh-CN" sz="2000" b="1" dirty="0">
                <a:latin typeface="Times New Roman" panose="02020603050405020304" pitchFamily="18" charset="0"/>
                <a:cs typeface="Times New Roman" panose="02020603050405020304" pitchFamily="18" charset="0"/>
              </a:rPr>
              <a:t>IC</a:t>
            </a:r>
            <a:r>
              <a:rPr lang="zh-CN" altLang="en-US" sz="2000" b="1" dirty="0">
                <a:latin typeface="Times New Roman" panose="02020603050405020304" pitchFamily="18" charset="0"/>
                <a:cs typeface="Times New Roman" panose="02020603050405020304" pitchFamily="18" charset="0"/>
              </a:rPr>
              <a:t>的发展开始逐渐偏离摩尔定律的预测，</a:t>
            </a:r>
            <a:r>
              <a:rPr lang="zh-CN" altLang="en-US" sz="2000" b="1" dirty="0">
                <a:solidFill>
                  <a:srgbClr val="FF0000"/>
                </a:solidFill>
                <a:latin typeface="Times New Roman" panose="02020603050405020304" pitchFamily="18" charset="0"/>
                <a:cs typeface="Times New Roman" panose="02020603050405020304" pitchFamily="18" charset="0"/>
              </a:rPr>
              <a:t>从</a:t>
            </a:r>
            <a:r>
              <a:rPr lang="en-US" altLang="zh-CN" sz="2000" b="1" dirty="0">
                <a:solidFill>
                  <a:srgbClr val="FF0000"/>
                </a:solidFill>
                <a:latin typeface="Times New Roman" panose="02020603050405020304" pitchFamily="18" charset="0"/>
                <a:cs typeface="Times New Roman" panose="02020603050405020304" pitchFamily="18" charset="0"/>
              </a:rPr>
              <a:t>2013</a:t>
            </a:r>
            <a:r>
              <a:rPr lang="zh-CN" altLang="en-US" sz="2000" b="1" dirty="0">
                <a:solidFill>
                  <a:srgbClr val="FF0000"/>
                </a:solidFill>
                <a:latin typeface="Times New Roman" panose="02020603050405020304" pitchFamily="18" charset="0"/>
                <a:cs typeface="Times New Roman" panose="02020603050405020304" pitchFamily="18" charset="0"/>
              </a:rPr>
              <a:t>年开始逐步放缓至</a:t>
            </a:r>
            <a:r>
              <a:rPr lang="en-US" altLang="zh-CN" sz="2000" b="1" dirty="0">
                <a:solidFill>
                  <a:srgbClr val="FF0000"/>
                </a:solidFill>
                <a:latin typeface="Times New Roman" panose="02020603050405020304" pitchFamily="18" charset="0"/>
                <a:cs typeface="Times New Roman" panose="02020603050405020304" pitchFamily="18" charset="0"/>
              </a:rPr>
              <a:t>3</a:t>
            </a:r>
            <a:r>
              <a:rPr lang="zh-CN" altLang="en-US" sz="2000" b="1" dirty="0">
                <a:solidFill>
                  <a:srgbClr val="FF0000"/>
                </a:solidFill>
                <a:latin typeface="Times New Roman" panose="02020603050405020304" pitchFamily="18" charset="0"/>
                <a:cs typeface="Times New Roman" panose="02020603050405020304" pitchFamily="18" charset="0"/>
              </a:rPr>
              <a:t>年翻一番</a:t>
            </a:r>
            <a:r>
              <a:rPr lang="zh-CN" altLang="en-US" sz="2000" b="1" dirty="0">
                <a:latin typeface="Times New Roman" panose="02020603050405020304" pitchFamily="18" charset="0"/>
                <a:cs typeface="Times New Roman" panose="02020603050405020304" pitchFamily="18" charset="0"/>
              </a:rPr>
              <a:t>，摩尔定律放缓已成了行业的共识。</a:t>
            </a:r>
            <a:endParaRPr lang="en-US" altLang="zh-CN" sz="2000" b="1" dirty="0">
              <a:latin typeface="Times New Roman" panose="02020603050405020304" pitchFamily="18" charset="0"/>
              <a:cs typeface="Times New Roman" panose="02020603050405020304" pitchFamily="18" charset="0"/>
            </a:endParaRPr>
          </a:p>
        </p:txBody>
      </p:sp>
      <p:graphicFrame>
        <p:nvGraphicFramePr>
          <p:cNvPr id="28675" name="Object 4"/>
          <p:cNvGraphicFramePr>
            <a:graphicFrameLocks noGrp="1" noChangeAspect="1"/>
          </p:cNvGraphicFramePr>
          <p:nvPr>
            <p:ph sz="half" idx="2"/>
            <p:extLst>
              <p:ext uri="{D42A27DB-BD31-4B8C-83A1-F6EECF244321}">
                <p14:modId xmlns:p14="http://schemas.microsoft.com/office/powerpoint/2010/main" val="1761413350"/>
              </p:ext>
            </p:extLst>
          </p:nvPr>
        </p:nvGraphicFramePr>
        <p:xfrm>
          <a:off x="7451204" y="1374469"/>
          <a:ext cx="1703364" cy="2261404"/>
        </p:xfrm>
        <a:graphic>
          <a:graphicData uri="http://schemas.openxmlformats.org/presentationml/2006/ole">
            <mc:AlternateContent xmlns:mc="http://schemas.openxmlformats.org/markup-compatibility/2006">
              <mc:Choice xmlns:v="urn:schemas-microsoft-com:vml" Requires="v">
                <p:oleObj name="Image" r:id="rId5" imgW="1834939" imgH="3675324" progId="Photoshop.Image.6">
                  <p:embed/>
                </p:oleObj>
              </mc:Choice>
              <mc:Fallback>
                <p:oleObj name="Image" r:id="rId5" imgW="1834939" imgH="3675324" progId="Photoshop.Image.6">
                  <p:embed/>
                  <p:pic>
                    <p:nvPicPr>
                      <p:cNvPr id="2867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1204" y="1374469"/>
                        <a:ext cx="1703364" cy="2261404"/>
                      </a:xfrm>
                      <a:prstGeom prst="rect">
                        <a:avLst/>
                      </a:prstGeom>
                      <a:noFill/>
                      <a:ln>
                        <a:noFill/>
                      </a:ln>
                      <a:effectLst/>
                    </p:spPr>
                  </p:pic>
                </p:oleObj>
              </mc:Fallback>
            </mc:AlternateContent>
          </a:graphicData>
        </a:graphic>
      </p:graphicFrame>
      <p:sp>
        <p:nvSpPr>
          <p:cNvPr id="9" name="Rectangle 2">
            <a:extLst>
              <a:ext uri="{FF2B5EF4-FFF2-40B4-BE49-F238E27FC236}">
                <a16:creationId xmlns:a16="http://schemas.microsoft.com/office/drawing/2014/main" id="{F7F8FF70-43E6-4920-A94D-F84C6E624B0E}"/>
              </a:ext>
            </a:extLst>
          </p:cNvPr>
          <p:cNvSpPr txBox="1">
            <a:spLocks noChangeArrowheads="1"/>
          </p:cNvSpPr>
          <p:nvPr/>
        </p:nvSpPr>
        <p:spPr bwMode="auto">
          <a:xfrm>
            <a:off x="34869" y="645770"/>
            <a:ext cx="3610744" cy="839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2400" dirty="0">
                <a:solidFill>
                  <a:srgbClr val="FF0000"/>
                </a:solidFill>
                <a:latin typeface="Times New Roman" panose="02020603050405020304" pitchFamily="18" charset="0"/>
                <a:ea typeface="+mn-ea"/>
                <a:cs typeface="Times New Roman" panose="02020603050405020304" pitchFamily="18" charset="0"/>
              </a:rPr>
              <a:t>2. </a:t>
            </a:r>
            <a:r>
              <a:rPr lang="zh-CN" altLang="en-US" sz="2400" dirty="0">
                <a:solidFill>
                  <a:srgbClr val="FF0000"/>
                </a:solidFill>
                <a:latin typeface="Times New Roman" panose="02020603050405020304" pitchFamily="18" charset="0"/>
                <a:ea typeface="+mn-ea"/>
                <a:cs typeface="Times New Roman" panose="02020603050405020304" pitchFamily="18" charset="0"/>
              </a:rPr>
              <a:t>摩尔定律</a:t>
            </a:r>
          </a:p>
        </p:txBody>
      </p:sp>
      <p:sp>
        <p:nvSpPr>
          <p:cNvPr id="2" name="Rectangle 2">
            <a:extLst>
              <a:ext uri="{FF2B5EF4-FFF2-40B4-BE49-F238E27FC236}">
                <a16:creationId xmlns:a16="http://schemas.microsoft.com/office/drawing/2014/main" id="{6D703CC5-FD88-5302-AA17-00325D0FE499}"/>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sp>
        <p:nvSpPr>
          <p:cNvPr id="8" name="文本框 7">
            <a:extLst>
              <a:ext uri="{FF2B5EF4-FFF2-40B4-BE49-F238E27FC236}">
                <a16:creationId xmlns:a16="http://schemas.microsoft.com/office/drawing/2014/main" id="{E677FEEA-3FB2-4553-B8BC-99597DBD5993}"/>
              </a:ext>
            </a:extLst>
          </p:cNvPr>
          <p:cNvSpPr txBox="1"/>
          <p:nvPr/>
        </p:nvSpPr>
        <p:spPr>
          <a:xfrm>
            <a:off x="7131793" y="3610526"/>
            <a:ext cx="2123729" cy="584775"/>
          </a:xfrm>
          <a:prstGeom prst="rect">
            <a:avLst/>
          </a:prstGeom>
          <a:noFill/>
        </p:spPr>
        <p:txBody>
          <a:bodyPr wrap="square" rtlCol="0">
            <a:spAutoFit/>
          </a:bodyPr>
          <a:lstStyle/>
          <a:p>
            <a:pPr algn="ctr"/>
            <a:r>
              <a:rPr lang="zh-CN" altLang="en-US" sz="1600" b="1" dirty="0">
                <a:solidFill>
                  <a:srgbClr val="002060"/>
                </a:solidFill>
                <a:latin typeface="Times New Roman" panose="02020603050405020304" pitchFamily="18" charset="0"/>
                <a:ea typeface="+mn-ea"/>
                <a:cs typeface="Times New Roman" panose="02020603050405020304" pitchFamily="18" charset="0"/>
              </a:rPr>
              <a:t>图</a:t>
            </a:r>
            <a:r>
              <a:rPr lang="en-US" altLang="zh-CN" sz="1600" b="1" dirty="0">
                <a:solidFill>
                  <a:srgbClr val="002060"/>
                </a:solidFill>
                <a:latin typeface="Times New Roman" panose="02020603050405020304" pitchFamily="18" charset="0"/>
                <a:ea typeface="+mn-ea"/>
                <a:cs typeface="Times New Roman" panose="02020603050405020304" pitchFamily="18" charset="0"/>
              </a:rPr>
              <a:t>1.3 Gordon Moore</a:t>
            </a:r>
          </a:p>
          <a:p>
            <a:pPr algn="ctr"/>
            <a:r>
              <a:rPr lang="en-US" altLang="zh-CN" sz="1600" b="1" dirty="0">
                <a:solidFill>
                  <a:srgbClr val="002060"/>
                </a:solidFill>
                <a:latin typeface="Times New Roman" panose="02020603050405020304" pitchFamily="18" charset="0"/>
                <a:ea typeface="+mn-ea"/>
                <a:cs typeface="Times New Roman" panose="02020603050405020304" pitchFamily="18" charset="0"/>
              </a:rPr>
              <a:t>1929-2023</a:t>
            </a:r>
            <a:endParaRPr lang="zh-CN" altLang="en-US" sz="1600" b="1" dirty="0">
              <a:solidFill>
                <a:srgbClr val="002060"/>
              </a:solidFill>
              <a:latin typeface="Times New Roman" panose="02020603050405020304" pitchFamily="18" charset="0"/>
              <a:ea typeface="+mn-ea"/>
              <a:cs typeface="Times New Roman" panose="02020603050405020304" pitchFamily="18" charset="0"/>
            </a:endParaRPr>
          </a:p>
        </p:txBody>
      </p:sp>
      <p:sp>
        <p:nvSpPr>
          <p:cNvPr id="10" name="文本占位符 3">
            <a:extLst>
              <a:ext uri="{FF2B5EF4-FFF2-40B4-BE49-F238E27FC236}">
                <a16:creationId xmlns:a16="http://schemas.microsoft.com/office/drawing/2014/main" id="{DADA5853-8D37-4050-99BF-CA602A4EAFF1}"/>
              </a:ext>
            </a:extLst>
          </p:cNvPr>
          <p:cNvSpPr txBox="1">
            <a:spLocks/>
          </p:cNvSpPr>
          <p:nvPr/>
        </p:nvSpPr>
        <p:spPr bwMode="auto">
          <a:xfrm>
            <a:off x="34869" y="4612237"/>
            <a:ext cx="9065214" cy="2182515"/>
          </a:xfrm>
          <a:prstGeom prst="rect">
            <a:avLst/>
          </a:prstGeom>
          <a:solidFill>
            <a:srgbClr val="FFFFCC"/>
          </a:solidFill>
          <a:ln>
            <a:noFill/>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en-US" sz="2000" b="1" dirty="0">
                <a:latin typeface="Times New Roman" panose="02020603050405020304" pitchFamily="18" charset="0"/>
                <a:cs typeface="Times New Roman" panose="02020603050405020304" pitchFamily="18" charset="0"/>
              </a:rPr>
              <a:t>摩尔定律的意义和影响：</a:t>
            </a:r>
            <a:endParaRPr lang="en-US" altLang="zh-CN" sz="2000" b="1" dirty="0">
              <a:latin typeface="Times New Roman" panose="02020603050405020304" pitchFamily="18" charset="0"/>
              <a:cs typeface="Times New Roman" panose="02020603050405020304" pitchFamily="18" charset="0"/>
            </a:endParaRPr>
          </a:p>
          <a:p>
            <a:pPr marL="0" indent="0">
              <a:buFontTx/>
              <a:buNone/>
            </a:pP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）单个芯片集成度提高后，其成本变化不大，因此</a:t>
            </a:r>
            <a:r>
              <a:rPr lang="zh-CN" altLang="en-US" sz="2000" b="1" dirty="0">
                <a:solidFill>
                  <a:srgbClr val="FF0000"/>
                </a:solidFill>
                <a:latin typeface="Times New Roman" panose="02020603050405020304" pitchFamily="18" charset="0"/>
                <a:cs typeface="Times New Roman" panose="02020603050405020304" pitchFamily="18" charset="0"/>
              </a:rPr>
              <a:t>总体成本明显下降</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0" indent="0">
              <a:buFontTx/>
              <a:buNone/>
            </a:pP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2</a:t>
            </a:r>
            <a:r>
              <a:rPr lang="zh-CN" altLang="en-US" sz="2000" b="1" dirty="0">
                <a:latin typeface="Times New Roman" panose="02020603050405020304" pitchFamily="18" charset="0"/>
                <a:cs typeface="Times New Roman" panose="02020603050405020304" pitchFamily="18" charset="0"/>
              </a:rPr>
              <a:t>）高集成度的芯片中，电路间的距离更近，其</a:t>
            </a:r>
            <a:r>
              <a:rPr lang="zh-CN" altLang="en-US" sz="2000" b="1" dirty="0">
                <a:solidFill>
                  <a:srgbClr val="FF0000"/>
                </a:solidFill>
                <a:latin typeface="Times New Roman" panose="02020603050405020304" pitchFamily="18" charset="0"/>
                <a:cs typeface="Times New Roman" panose="02020603050405020304" pitchFamily="18" charset="0"/>
              </a:rPr>
              <a:t>连线更短</a:t>
            </a:r>
            <a:r>
              <a:rPr lang="zh-CN" altLang="en-US" sz="2000" b="1" dirty="0">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工作速度可以更高</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0" indent="0">
              <a:buFontTx/>
              <a:buNone/>
            </a:pP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3</a:t>
            </a:r>
            <a:r>
              <a:rPr lang="zh-CN" altLang="en-US" sz="2000" b="1" dirty="0">
                <a:latin typeface="Times New Roman" panose="02020603050405020304" pitchFamily="18" charset="0"/>
                <a:cs typeface="Times New Roman" panose="02020603050405020304" pitchFamily="18" charset="0"/>
              </a:rPr>
              <a:t>）增加了芯片内部的连线，从而</a:t>
            </a:r>
            <a:r>
              <a:rPr lang="zh-CN" altLang="en-US" sz="2000" b="1" dirty="0">
                <a:solidFill>
                  <a:srgbClr val="FF0000"/>
                </a:solidFill>
                <a:latin typeface="Times New Roman" panose="02020603050405020304" pitchFamily="18" charset="0"/>
                <a:cs typeface="Times New Roman" panose="02020603050405020304" pitchFamily="18" charset="0"/>
              </a:rPr>
              <a:t>减少了外部连线</a:t>
            </a:r>
            <a:r>
              <a:rPr lang="zh-CN" altLang="en-US" sz="2000" b="1" dirty="0">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可靠性得以提高</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0" indent="0">
              <a:buFontTx/>
              <a:buNone/>
            </a:pP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4</a:t>
            </a:r>
            <a:r>
              <a:rPr lang="zh-CN" altLang="en-US" sz="2000" b="1" dirty="0">
                <a:latin typeface="Times New Roman" panose="02020603050405020304" pitchFamily="18" charset="0"/>
                <a:cs typeface="Times New Roman" panose="02020603050405020304" pitchFamily="18" charset="0"/>
              </a:rPr>
              <a:t>）计算机体积越来越小，减少了</a:t>
            </a:r>
            <a:r>
              <a:rPr lang="zh-CN" altLang="en-US" sz="2000" b="1" dirty="0">
                <a:solidFill>
                  <a:srgbClr val="FF0000"/>
                </a:solidFill>
                <a:latin typeface="Times New Roman" panose="02020603050405020304" pitchFamily="18" charset="0"/>
                <a:cs typeface="Times New Roman" panose="02020603050405020304" pitchFamily="18" charset="0"/>
              </a:rPr>
              <a:t>电能的消耗</a:t>
            </a:r>
            <a:r>
              <a:rPr lang="zh-CN" altLang="en-US" sz="2000" b="1" dirty="0">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适应性更好</a:t>
            </a:r>
            <a:r>
              <a:rPr lang="zh-CN" alt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96410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53A876A8-E37B-4A3C-B6A1-EB6AEB0BD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9699" name="文本占位符 3"/>
          <p:cNvSpPr>
            <a:spLocks noGrp="1"/>
          </p:cNvSpPr>
          <p:nvPr>
            <p:ph type="body" sz="half" idx="1"/>
          </p:nvPr>
        </p:nvSpPr>
        <p:spPr>
          <a:xfrm>
            <a:off x="1763688" y="6500061"/>
            <a:ext cx="5544616" cy="357939"/>
          </a:xfrm>
        </p:spPr>
        <p:txBody>
          <a:bodyPr/>
          <a:lstStyle/>
          <a:p>
            <a:pPr algn="ctr">
              <a:buNone/>
            </a:pPr>
            <a:r>
              <a:rPr lang="zh-CN" altLang="en-US" sz="1600" b="1" dirty="0">
                <a:solidFill>
                  <a:srgbClr val="002060"/>
                </a:solidFill>
                <a:latin typeface="Times New Roman" panose="02020603050405020304" pitchFamily="18" charset="0"/>
                <a:cs typeface="Times New Roman" panose="02020603050405020304" pitchFamily="18" charset="0"/>
              </a:rPr>
              <a:t>图</a:t>
            </a:r>
            <a:r>
              <a:rPr lang="en-US" altLang="zh-CN" sz="1600" b="1" dirty="0">
                <a:solidFill>
                  <a:srgbClr val="002060"/>
                </a:solidFill>
                <a:latin typeface="Times New Roman" panose="02020603050405020304" pitchFamily="18" charset="0"/>
                <a:cs typeface="Times New Roman" panose="02020603050405020304" pitchFamily="18" charset="0"/>
              </a:rPr>
              <a:t>1.4 </a:t>
            </a:r>
            <a:r>
              <a:rPr lang="zh-CN" altLang="zh-CN" sz="1600" b="1" dirty="0">
                <a:solidFill>
                  <a:srgbClr val="002060"/>
                </a:solidFill>
                <a:latin typeface="Times New Roman" panose="02020603050405020304" pitchFamily="18" charset="0"/>
                <a:cs typeface="Times New Roman" panose="02020603050405020304" pitchFamily="18" charset="0"/>
              </a:rPr>
              <a:t>微处理器集成度的增长情况（</a:t>
            </a:r>
            <a:r>
              <a:rPr lang="en-US" altLang="zh-CN" sz="1600" b="1" dirty="0">
                <a:solidFill>
                  <a:srgbClr val="002060"/>
                </a:solidFill>
                <a:latin typeface="Times New Roman" panose="02020603050405020304" pitchFamily="18" charset="0"/>
                <a:cs typeface="Times New Roman" panose="02020603050405020304" pitchFamily="18" charset="0"/>
              </a:rPr>
              <a:t>1971</a:t>
            </a:r>
            <a:r>
              <a:rPr lang="zh-CN" altLang="zh-CN" sz="1600" b="1" dirty="0">
                <a:solidFill>
                  <a:srgbClr val="002060"/>
                </a:solidFill>
                <a:latin typeface="Times New Roman" panose="02020603050405020304" pitchFamily="18" charset="0"/>
                <a:cs typeface="Times New Roman" panose="02020603050405020304" pitchFamily="18" charset="0"/>
              </a:rPr>
              <a:t>年～</a:t>
            </a:r>
            <a:r>
              <a:rPr lang="en-US" altLang="zh-CN" sz="1600" b="1" dirty="0">
                <a:solidFill>
                  <a:srgbClr val="002060"/>
                </a:solidFill>
                <a:latin typeface="Times New Roman" panose="02020603050405020304" pitchFamily="18" charset="0"/>
                <a:cs typeface="Times New Roman" panose="02020603050405020304" pitchFamily="18" charset="0"/>
              </a:rPr>
              <a:t>2018</a:t>
            </a:r>
            <a:r>
              <a:rPr lang="zh-CN" altLang="zh-CN" sz="1600" b="1" dirty="0">
                <a:solidFill>
                  <a:srgbClr val="002060"/>
                </a:solidFill>
                <a:latin typeface="Times New Roman" panose="02020603050405020304" pitchFamily="18" charset="0"/>
                <a:cs typeface="Times New Roman" panose="02020603050405020304" pitchFamily="18" charset="0"/>
              </a:rPr>
              <a:t>年）</a:t>
            </a:r>
            <a:endParaRPr lang="zh-CN" altLang="en-US" sz="1600" b="1" dirty="0">
              <a:solidFill>
                <a:srgbClr val="002060"/>
              </a:solidFill>
              <a:latin typeface="Times New Roman" panose="02020603050405020304" pitchFamily="18" charset="0"/>
              <a:cs typeface="Times New Roman" panose="02020603050405020304" pitchFamily="18" charset="0"/>
            </a:endParaRPr>
          </a:p>
        </p:txBody>
      </p:sp>
      <p:sp>
        <p:nvSpPr>
          <p:cNvPr id="2" name="Rectangle 2">
            <a:extLst>
              <a:ext uri="{FF2B5EF4-FFF2-40B4-BE49-F238E27FC236}">
                <a16:creationId xmlns:a16="http://schemas.microsoft.com/office/drawing/2014/main" id="{0A33A672-B186-3909-F9E9-B5EA5320B8A8}"/>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pic>
        <p:nvPicPr>
          <p:cNvPr id="3" name="图片 2">
            <a:extLst>
              <a:ext uri="{FF2B5EF4-FFF2-40B4-BE49-F238E27FC236}">
                <a16:creationId xmlns:a16="http://schemas.microsoft.com/office/drawing/2014/main" id="{B17B4C31-7C7C-4157-9FBB-B76B4206E40E}"/>
              </a:ext>
            </a:extLst>
          </p:cNvPr>
          <p:cNvPicPr>
            <a:picLocks noChangeAspect="1"/>
          </p:cNvPicPr>
          <p:nvPr/>
        </p:nvPicPr>
        <p:blipFill>
          <a:blip r:embed="rId4"/>
          <a:stretch>
            <a:fillRect/>
          </a:stretch>
        </p:blipFill>
        <p:spPr>
          <a:xfrm>
            <a:off x="61914" y="1488"/>
            <a:ext cx="9020172" cy="6515413"/>
          </a:xfrm>
          <a:prstGeom prst="rect">
            <a:avLst/>
          </a:prstGeom>
        </p:spPr>
      </p:pic>
    </p:spTree>
    <p:extLst>
      <p:ext uri="{BB962C8B-B14F-4D97-AF65-F5344CB8AC3E}">
        <p14:creationId xmlns:p14="http://schemas.microsoft.com/office/powerpoint/2010/main" val="4022138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53A876A8-E37B-4A3C-B6A1-EB6AEB0BD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0A33A672-B186-3909-F9E9-B5EA5320B8A8}"/>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sp>
        <p:nvSpPr>
          <p:cNvPr id="4" name="文本占位符 3">
            <a:extLst>
              <a:ext uri="{FF2B5EF4-FFF2-40B4-BE49-F238E27FC236}">
                <a16:creationId xmlns:a16="http://schemas.microsoft.com/office/drawing/2014/main" id="{1239D924-EF8E-4FCC-9184-FB2ACF3EB41E}"/>
              </a:ext>
            </a:extLst>
          </p:cNvPr>
          <p:cNvSpPr>
            <a:spLocks noGrp="1"/>
          </p:cNvSpPr>
          <p:nvPr>
            <p:ph type="body" sz="half" idx="1"/>
          </p:nvPr>
        </p:nvSpPr>
        <p:spPr>
          <a:xfrm>
            <a:off x="71500" y="739870"/>
            <a:ext cx="8892988" cy="6118130"/>
          </a:xfrm>
        </p:spPr>
        <p:txBody>
          <a:bodyPr/>
          <a:lstStyle/>
          <a:p>
            <a:pPr marL="0" indent="0">
              <a:lnSpc>
                <a:spcPct val="130000"/>
              </a:lnSpc>
              <a:spcBef>
                <a:spcPts val="0"/>
              </a:spcBef>
              <a:buNone/>
            </a:pPr>
            <a:r>
              <a:rPr lang="en-US" altLang="zh-CN" sz="2400" b="1" dirty="0">
                <a:solidFill>
                  <a:srgbClr val="FF0000"/>
                </a:solidFill>
                <a:latin typeface="Times New Roman" panose="02020603050405020304" pitchFamily="18" charset="0"/>
                <a:cs typeface="Times New Roman" panose="02020603050405020304" pitchFamily="18" charset="0"/>
              </a:rPr>
              <a:t>3. </a:t>
            </a:r>
            <a:r>
              <a:rPr lang="zh-CN" altLang="en-US" sz="2400" b="1" dirty="0">
                <a:solidFill>
                  <a:srgbClr val="FF0000"/>
                </a:solidFill>
                <a:latin typeface="Times New Roman" panose="02020603050405020304" pitchFamily="18" charset="0"/>
                <a:cs typeface="Times New Roman" panose="02020603050405020304" pitchFamily="18" charset="0"/>
              </a:rPr>
              <a:t>集成电路工艺发展概况</a:t>
            </a:r>
            <a:endParaRPr lang="en-US" altLang="zh-CN" sz="2400" b="1" dirty="0">
              <a:solidFill>
                <a:srgbClr val="FF0000"/>
              </a:solidFill>
              <a:latin typeface="Times New Roman" panose="02020603050405020304" pitchFamily="18" charset="0"/>
              <a:cs typeface="Times New Roman" panose="02020603050405020304" pitchFamily="18" charset="0"/>
            </a:endParaRPr>
          </a:p>
          <a:p>
            <a:pPr marL="0" indent="0" algn="just">
              <a:lnSpc>
                <a:spcPct val="130000"/>
              </a:lnSpc>
              <a:spcBef>
                <a:spcPts val="0"/>
              </a:spcBef>
              <a:buNone/>
            </a:pPr>
            <a:r>
              <a:rPr lang="zh-CN" altLang="en-US" sz="2000" b="1" dirty="0">
                <a:latin typeface="Times New Roman" panose="02020603050405020304" pitchFamily="18" charset="0"/>
                <a:cs typeface="Times New Roman" panose="02020603050405020304" pitchFamily="18" charset="0"/>
              </a:rPr>
              <a:t>集成电路生产主要分为</a:t>
            </a:r>
            <a:r>
              <a:rPr lang="en-US" altLang="zh-CN" sz="2000" b="1" dirty="0">
                <a:latin typeface="Times New Roman" panose="02020603050405020304" pitchFamily="18" charset="0"/>
                <a:cs typeface="Times New Roman" panose="02020603050405020304" pitchFamily="18" charset="0"/>
              </a:rPr>
              <a:t>IC</a:t>
            </a:r>
            <a:r>
              <a:rPr lang="zh-CN" altLang="en-US" sz="2000" b="1" dirty="0">
                <a:latin typeface="Times New Roman" panose="02020603050405020304" pitchFamily="18" charset="0"/>
                <a:cs typeface="Times New Roman" panose="02020603050405020304" pitchFamily="18" charset="0"/>
              </a:rPr>
              <a:t>设计、</a:t>
            </a:r>
            <a:r>
              <a:rPr lang="en-US" altLang="zh-CN" sz="2000" b="1" dirty="0">
                <a:latin typeface="Times New Roman" panose="02020603050405020304" pitchFamily="18" charset="0"/>
                <a:cs typeface="Times New Roman" panose="02020603050405020304" pitchFamily="18" charset="0"/>
              </a:rPr>
              <a:t>IC</a:t>
            </a:r>
            <a:r>
              <a:rPr lang="zh-CN" altLang="en-US" sz="2000" b="1" dirty="0">
                <a:latin typeface="Times New Roman" panose="02020603050405020304" pitchFamily="18" charset="0"/>
                <a:cs typeface="Times New Roman" panose="02020603050405020304" pitchFamily="18" charset="0"/>
              </a:rPr>
              <a:t>制造和</a:t>
            </a:r>
            <a:r>
              <a:rPr lang="en-US" altLang="zh-CN" sz="2000" b="1" dirty="0">
                <a:latin typeface="Times New Roman" panose="02020603050405020304" pitchFamily="18" charset="0"/>
                <a:cs typeface="Times New Roman" panose="02020603050405020304" pitchFamily="18" charset="0"/>
              </a:rPr>
              <a:t>IC</a:t>
            </a:r>
            <a:r>
              <a:rPr lang="zh-CN" altLang="en-US" sz="2000" b="1" dirty="0">
                <a:latin typeface="Times New Roman" panose="02020603050405020304" pitchFamily="18" charset="0"/>
                <a:cs typeface="Times New Roman" panose="02020603050405020304" pitchFamily="18" charset="0"/>
              </a:rPr>
              <a:t>封测三大环节。</a:t>
            </a:r>
            <a:endParaRPr lang="en-US" altLang="zh-CN" sz="2000" b="1" dirty="0">
              <a:latin typeface="Times New Roman" panose="02020603050405020304" pitchFamily="18" charset="0"/>
              <a:cs typeface="Times New Roman" panose="02020603050405020304" pitchFamily="18" charset="0"/>
            </a:endParaRPr>
          </a:p>
          <a:p>
            <a:pPr algn="just">
              <a:lnSpc>
                <a:spcPct val="130000"/>
              </a:lnSpc>
              <a:spcBef>
                <a:spcPts val="0"/>
              </a:spcBef>
            </a:pPr>
            <a:r>
              <a:rPr lang="en-US" altLang="zh-CN" sz="2000" b="1" dirty="0">
                <a:solidFill>
                  <a:srgbClr val="FF0000"/>
                </a:solidFill>
                <a:latin typeface="Times New Roman" panose="02020603050405020304" pitchFamily="18" charset="0"/>
                <a:cs typeface="Times New Roman" panose="02020603050405020304" pitchFamily="18" charset="0"/>
              </a:rPr>
              <a:t>IC</a:t>
            </a:r>
            <a:r>
              <a:rPr lang="zh-CN" altLang="en-US" sz="2000" b="1" dirty="0">
                <a:solidFill>
                  <a:srgbClr val="FF0000"/>
                </a:solidFill>
                <a:latin typeface="Times New Roman" panose="02020603050405020304" pitchFamily="18" charset="0"/>
                <a:cs typeface="Times New Roman" panose="02020603050405020304" pitchFamily="18" charset="0"/>
              </a:rPr>
              <a:t>设计</a:t>
            </a:r>
            <a:r>
              <a:rPr lang="zh-CN" altLang="en-US" sz="2000" b="1" dirty="0">
                <a:latin typeface="Times New Roman" panose="02020603050405020304" pitchFamily="18" charset="0"/>
                <a:cs typeface="Times New Roman" panose="02020603050405020304" pitchFamily="18" charset="0"/>
              </a:rPr>
              <a:t>主要根据芯片的设计目的进行逻辑设计和规则制定，并根据设计图制作掩模以供后续光刻阶段使用；</a:t>
            </a:r>
          </a:p>
          <a:p>
            <a:pPr algn="just">
              <a:lnSpc>
                <a:spcPct val="130000"/>
              </a:lnSpc>
              <a:spcBef>
                <a:spcPts val="0"/>
              </a:spcBef>
            </a:pPr>
            <a:r>
              <a:rPr lang="en-US" altLang="zh-CN" sz="2000" b="1" dirty="0">
                <a:solidFill>
                  <a:srgbClr val="FF0000"/>
                </a:solidFill>
                <a:latin typeface="Times New Roman" panose="02020603050405020304" pitchFamily="18" charset="0"/>
                <a:cs typeface="Times New Roman" panose="02020603050405020304" pitchFamily="18" charset="0"/>
              </a:rPr>
              <a:t>IC</a:t>
            </a:r>
            <a:r>
              <a:rPr lang="zh-CN" altLang="en-US" sz="2000" b="1" dirty="0">
                <a:solidFill>
                  <a:srgbClr val="FF0000"/>
                </a:solidFill>
                <a:latin typeface="Times New Roman" panose="02020603050405020304" pitchFamily="18" charset="0"/>
                <a:cs typeface="Times New Roman" panose="02020603050405020304" pitchFamily="18" charset="0"/>
              </a:rPr>
              <a:t>制造</a:t>
            </a:r>
            <a:r>
              <a:rPr lang="zh-CN" altLang="en-US" sz="2000" b="1" dirty="0">
                <a:latin typeface="Times New Roman" panose="02020603050405020304" pitchFamily="18" charset="0"/>
                <a:cs typeface="Times New Roman" panose="02020603050405020304" pitchFamily="18" charset="0"/>
              </a:rPr>
              <a:t>将芯片电路图从掩模转移至晶圆上，实现预定的芯片功能；，包括光刻、刻蚀、离子注入、薄膜沉积、化学机械研磨等步骤；</a:t>
            </a:r>
          </a:p>
          <a:p>
            <a:pPr algn="just">
              <a:lnSpc>
                <a:spcPct val="130000"/>
              </a:lnSpc>
              <a:spcBef>
                <a:spcPts val="0"/>
              </a:spcBef>
            </a:pPr>
            <a:r>
              <a:rPr lang="en-US" altLang="zh-CN" sz="2000" b="1" dirty="0">
                <a:solidFill>
                  <a:srgbClr val="FF0000"/>
                </a:solidFill>
                <a:latin typeface="Times New Roman" panose="02020603050405020304" pitchFamily="18" charset="0"/>
                <a:cs typeface="Times New Roman" panose="02020603050405020304" pitchFamily="18" charset="0"/>
              </a:rPr>
              <a:t>IC</a:t>
            </a:r>
            <a:r>
              <a:rPr lang="zh-CN" altLang="en-US" sz="2000" b="1" dirty="0">
                <a:solidFill>
                  <a:srgbClr val="FF0000"/>
                </a:solidFill>
                <a:latin typeface="Times New Roman" panose="02020603050405020304" pitchFamily="18" charset="0"/>
                <a:cs typeface="Times New Roman" panose="02020603050405020304" pitchFamily="18" charset="0"/>
              </a:rPr>
              <a:t>封测</a:t>
            </a:r>
            <a:r>
              <a:rPr lang="zh-CN" altLang="en-US" sz="2000" b="1" dirty="0">
                <a:latin typeface="Times New Roman" panose="02020603050405020304" pitchFamily="18" charset="0"/>
                <a:cs typeface="Times New Roman" panose="02020603050405020304" pitchFamily="18" charset="0"/>
              </a:rPr>
              <a:t>完成对芯片的封装和性能、功能的测试。</a:t>
            </a:r>
            <a:endParaRPr lang="en-US" altLang="zh-CN" sz="2000" b="1" dirty="0">
              <a:latin typeface="Times New Roman" panose="02020603050405020304" pitchFamily="18" charset="0"/>
              <a:cs typeface="Times New Roman" panose="02020603050405020304" pitchFamily="18" charset="0"/>
            </a:endParaRPr>
          </a:p>
          <a:p>
            <a:pPr algn="just">
              <a:lnSpc>
                <a:spcPct val="130000"/>
              </a:lnSpc>
              <a:spcBef>
                <a:spcPts val="0"/>
              </a:spcBef>
            </a:pPr>
            <a:r>
              <a:rPr lang="zh-CN" altLang="en-US" sz="2000" b="1" dirty="0">
                <a:solidFill>
                  <a:srgbClr val="0000FF"/>
                </a:solidFill>
                <a:latin typeface="Times New Roman" panose="02020603050405020304" pitchFamily="18" charset="0"/>
                <a:cs typeface="Times New Roman" panose="02020603050405020304" pitchFamily="18" charset="0"/>
              </a:rPr>
              <a:t>光刻是半导体芯片生产流程中最复杂、最关键的工艺步骤，耗时长、成本高。</a:t>
            </a:r>
            <a:r>
              <a:rPr lang="zh-CN" altLang="en-US" sz="2000" b="1" dirty="0">
                <a:latin typeface="Times New Roman" panose="02020603050405020304" pitchFamily="18" charset="0"/>
                <a:cs typeface="Times New Roman" panose="02020603050405020304" pitchFamily="18" charset="0"/>
              </a:rPr>
              <a:t>光刻的工艺水平直接决定芯片的制程水平和性能。</a:t>
            </a:r>
            <a:endParaRPr lang="en-US" altLang="zh-CN" sz="2000" b="1" dirty="0">
              <a:latin typeface="Times New Roman" panose="02020603050405020304" pitchFamily="18" charset="0"/>
              <a:cs typeface="Times New Roman" panose="02020603050405020304" pitchFamily="18" charset="0"/>
            </a:endParaRPr>
          </a:p>
          <a:p>
            <a:pPr algn="just">
              <a:lnSpc>
                <a:spcPct val="130000"/>
              </a:lnSpc>
              <a:spcBef>
                <a:spcPts val="0"/>
              </a:spcBef>
            </a:pPr>
            <a:r>
              <a:rPr lang="zh-CN" altLang="en-US" sz="2000" b="1" dirty="0">
                <a:latin typeface="Times New Roman" panose="02020603050405020304" pitchFamily="18" charset="0"/>
                <a:cs typeface="Times New Roman" panose="02020603050405020304" pitchFamily="18" charset="0"/>
              </a:rPr>
              <a:t>光刻的基本原理是在硅片表面覆盖一层具有高度光敏感性的光刻胶，再用紫外光透过掩模照射到晶圆表面，被光线照射到的光刻胶会发生反应，通过蚀刻曝光或未受曝光的部分来形成沟槽，然后进行沉积、蚀刻、掺杂等操作，架构出不同材质的线路，生成基础轮廓，从而实现半导体器件在晶圆表面的构建过程。</a:t>
            </a:r>
            <a:endParaRPr lang="en-US" altLang="zh-CN" sz="2000" b="1" dirty="0">
              <a:latin typeface="Times New Roman" panose="02020603050405020304" pitchFamily="18" charset="0"/>
              <a:cs typeface="Times New Roman" panose="02020603050405020304" pitchFamily="18" charset="0"/>
            </a:endParaRPr>
          </a:p>
          <a:p>
            <a:pPr>
              <a:lnSpc>
                <a:spcPct val="130000"/>
              </a:lnSpc>
              <a:spcBef>
                <a:spcPts val="0"/>
              </a:spcBef>
            </a:pPr>
            <a:endParaRPr lang="zh-CN" alt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8171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53A876A8-E37B-4A3C-B6A1-EB6AEB0BD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0A33A672-B186-3909-F9E9-B5EA5320B8A8}"/>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sp>
        <p:nvSpPr>
          <p:cNvPr id="8" name="文本框 7">
            <a:extLst>
              <a:ext uri="{FF2B5EF4-FFF2-40B4-BE49-F238E27FC236}">
                <a16:creationId xmlns:a16="http://schemas.microsoft.com/office/drawing/2014/main" id="{EBE89488-56E0-448D-A444-B0A91B7DC4C6}"/>
              </a:ext>
            </a:extLst>
          </p:cNvPr>
          <p:cNvSpPr txBox="1"/>
          <p:nvPr/>
        </p:nvSpPr>
        <p:spPr>
          <a:xfrm>
            <a:off x="2767702" y="6475153"/>
            <a:ext cx="3608596" cy="369332"/>
          </a:xfrm>
          <a:prstGeom prst="rect">
            <a:avLst/>
          </a:prstGeom>
          <a:noFill/>
        </p:spPr>
        <p:txBody>
          <a:bodyPr wrap="square" rtlCol="0">
            <a:spAutoFit/>
          </a:bodyPr>
          <a:lstStyle/>
          <a:p>
            <a:r>
              <a:rPr lang="zh-CN" altLang="en-US" b="1" dirty="0">
                <a:solidFill>
                  <a:srgbClr val="002060"/>
                </a:solidFill>
                <a:latin typeface="Times New Roman" panose="02020603050405020304" pitchFamily="18" charset="0"/>
                <a:cs typeface="Times New Roman" panose="02020603050405020304" pitchFamily="18" charset="0"/>
              </a:rPr>
              <a:t>图</a:t>
            </a:r>
            <a:r>
              <a:rPr lang="en-US" altLang="zh-CN" b="1" dirty="0">
                <a:solidFill>
                  <a:srgbClr val="002060"/>
                </a:solidFill>
                <a:latin typeface="Times New Roman" panose="02020603050405020304" pitchFamily="18" charset="0"/>
                <a:cs typeface="Times New Roman" panose="02020603050405020304" pitchFamily="18" charset="0"/>
              </a:rPr>
              <a:t>1.5 </a:t>
            </a:r>
            <a:r>
              <a:rPr lang="zh-CN" altLang="en-US" b="1" dirty="0">
                <a:solidFill>
                  <a:srgbClr val="002060"/>
                </a:solidFill>
                <a:latin typeface="Times New Roman" panose="02020603050405020304" pitchFamily="18" charset="0"/>
                <a:cs typeface="Times New Roman" panose="02020603050405020304" pitchFamily="18" charset="0"/>
              </a:rPr>
              <a:t>集成电路生产主要环节</a:t>
            </a:r>
          </a:p>
        </p:txBody>
      </p:sp>
      <p:pic>
        <p:nvPicPr>
          <p:cNvPr id="11" name="图片 10">
            <a:extLst>
              <a:ext uri="{FF2B5EF4-FFF2-40B4-BE49-F238E27FC236}">
                <a16:creationId xmlns:a16="http://schemas.microsoft.com/office/drawing/2014/main" id="{7FAB7EE8-30B0-47B5-BB16-3D78E667D7D9}"/>
              </a:ext>
            </a:extLst>
          </p:cNvPr>
          <p:cNvPicPr>
            <a:picLocks noChangeAspect="1"/>
          </p:cNvPicPr>
          <p:nvPr/>
        </p:nvPicPr>
        <p:blipFill>
          <a:blip r:embed="rId4"/>
          <a:stretch>
            <a:fillRect/>
          </a:stretch>
        </p:blipFill>
        <p:spPr>
          <a:xfrm>
            <a:off x="467544" y="876984"/>
            <a:ext cx="7704856" cy="5656729"/>
          </a:xfrm>
          <a:prstGeom prst="rect">
            <a:avLst/>
          </a:prstGeom>
        </p:spPr>
      </p:pic>
    </p:spTree>
    <p:extLst>
      <p:ext uri="{BB962C8B-B14F-4D97-AF65-F5344CB8AC3E}">
        <p14:creationId xmlns:p14="http://schemas.microsoft.com/office/powerpoint/2010/main" val="2695922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53A876A8-E37B-4A3C-B6A1-EB6AEB0BD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0A33A672-B186-3909-F9E9-B5EA5320B8A8}"/>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一、计算机的发展简史</a:t>
            </a:r>
          </a:p>
        </p:txBody>
      </p:sp>
      <p:sp>
        <p:nvSpPr>
          <p:cNvPr id="4" name="文本占位符 3">
            <a:extLst>
              <a:ext uri="{FF2B5EF4-FFF2-40B4-BE49-F238E27FC236}">
                <a16:creationId xmlns:a16="http://schemas.microsoft.com/office/drawing/2014/main" id="{1239D924-EF8E-4FCC-9184-FB2ACF3EB41E}"/>
              </a:ext>
            </a:extLst>
          </p:cNvPr>
          <p:cNvSpPr>
            <a:spLocks noGrp="1"/>
          </p:cNvSpPr>
          <p:nvPr>
            <p:ph type="body" sz="half" idx="1"/>
          </p:nvPr>
        </p:nvSpPr>
        <p:spPr>
          <a:xfrm>
            <a:off x="128720" y="898916"/>
            <a:ext cx="8886560" cy="5812755"/>
          </a:xfrm>
        </p:spPr>
        <p:txBody>
          <a:bodyPr/>
          <a:lstStyle/>
          <a:p>
            <a:pPr algn="just">
              <a:lnSpc>
                <a:spcPct val="150000"/>
              </a:lnSpc>
              <a:spcBef>
                <a:spcPts val="0"/>
              </a:spcBef>
            </a:pPr>
            <a:r>
              <a:rPr lang="zh-CN" altLang="en-US" sz="2000" b="1" dirty="0">
                <a:latin typeface="Times New Roman" panose="02020603050405020304" pitchFamily="18" charset="0"/>
                <a:cs typeface="Times New Roman" panose="02020603050405020304" pitchFamily="18" charset="0"/>
              </a:rPr>
              <a:t>光刻工艺贯穿半导体器件和集成电路制造工艺的始终，当代超大规模集成电路的制造需要几十次乃至上百次的光刻才能完成。</a:t>
            </a:r>
          </a:p>
          <a:p>
            <a:pPr algn="just">
              <a:lnSpc>
                <a:spcPct val="150000"/>
              </a:lnSpc>
              <a:spcBef>
                <a:spcPts val="0"/>
              </a:spcBef>
            </a:pPr>
            <a:r>
              <a:rPr lang="zh-CN" altLang="en-US" sz="2000" b="1" dirty="0">
                <a:solidFill>
                  <a:srgbClr val="FF0000"/>
                </a:solidFill>
                <a:latin typeface="Times New Roman" panose="02020603050405020304" pitchFamily="18" charset="0"/>
                <a:cs typeface="Times New Roman" panose="02020603050405020304" pitchFamily="18" charset="0"/>
              </a:rPr>
              <a:t>晶体管制程工艺中的关键指标</a:t>
            </a:r>
            <a:r>
              <a:rPr lang="zh-CN" altLang="en-US" sz="2000" b="1" dirty="0">
                <a:latin typeface="Times New Roman" panose="02020603050405020304" pitchFamily="18" charset="0"/>
                <a:cs typeface="Times New Roman" panose="02020603050405020304" pitchFamily="18" charset="0"/>
              </a:rPr>
              <a:t>是指</a:t>
            </a:r>
            <a:r>
              <a:rPr lang="zh-CN" altLang="en-US" sz="2000" b="1" dirty="0">
                <a:solidFill>
                  <a:srgbClr val="0000FF"/>
                </a:solidFill>
                <a:latin typeface="Times New Roman" panose="02020603050405020304" pitchFamily="18" charset="0"/>
                <a:cs typeface="Times New Roman" panose="02020603050405020304" pitchFamily="18" charset="0"/>
              </a:rPr>
              <a:t>晶体管栅极的最小线宽</a:t>
            </a:r>
            <a:r>
              <a:rPr lang="zh-CN" altLang="en-US" sz="2000" b="1" dirty="0">
                <a:latin typeface="Times New Roman" panose="02020603050405020304" pitchFamily="18" charset="0"/>
                <a:cs typeface="Times New Roman" panose="02020603050405020304" pitchFamily="18" charset="0"/>
              </a:rPr>
              <a:t>，随着光刻技术的发展，晶体管制程工艺经历了</a:t>
            </a:r>
            <a:r>
              <a:rPr lang="en-US" altLang="zh-CN" sz="2000" b="1" dirty="0">
                <a:latin typeface="Times New Roman" panose="02020603050405020304" pitchFamily="18" charset="0"/>
                <a:cs typeface="Times New Roman" panose="02020603050405020304" pitchFamily="18" charset="0"/>
              </a:rPr>
              <a:t>130nm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90nm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65nm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45nm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32nm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28nm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22nm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14nm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10nm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7nm</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5nm</a:t>
            </a:r>
            <a:r>
              <a:rPr lang="zh-CN" altLang="en-US" sz="2000" b="1" dirty="0">
                <a:latin typeface="Times New Roman" panose="02020603050405020304" pitchFamily="18" charset="0"/>
                <a:cs typeface="Times New Roman" panose="02020603050405020304" pitchFamily="18" charset="0"/>
              </a:rPr>
              <a:t>等阶段。</a:t>
            </a:r>
            <a:endParaRPr lang="en-US" altLang="zh-CN" sz="2000" b="1" dirty="0">
              <a:latin typeface="Times New Roman" panose="02020603050405020304" pitchFamily="18" charset="0"/>
              <a:cs typeface="Times New Roman" panose="02020603050405020304" pitchFamily="18" charset="0"/>
            </a:endParaRPr>
          </a:p>
          <a:p>
            <a:pPr algn="just">
              <a:lnSpc>
                <a:spcPct val="150000"/>
              </a:lnSpc>
              <a:spcBef>
                <a:spcPts val="0"/>
              </a:spcBef>
            </a:pPr>
            <a:r>
              <a:rPr lang="zh-CN" altLang="en-US" sz="2000" b="1" dirty="0">
                <a:latin typeface="Times New Roman" panose="02020603050405020304" pitchFamily="18" charset="0"/>
                <a:cs typeface="Times New Roman" panose="02020603050405020304" pitchFamily="18" charset="0"/>
              </a:rPr>
              <a:t>目前高端光刻机技术被荷兰</a:t>
            </a:r>
            <a:r>
              <a:rPr lang="en-US" altLang="zh-CN" sz="2000" b="1" dirty="0">
                <a:latin typeface="Times New Roman" panose="02020603050405020304" pitchFamily="18" charset="0"/>
                <a:cs typeface="Times New Roman" panose="02020603050405020304" pitchFamily="18" charset="0"/>
              </a:rPr>
              <a:t>ASML</a:t>
            </a:r>
            <a:r>
              <a:rPr lang="zh-CN" altLang="en-US" sz="2000" b="1" dirty="0">
                <a:latin typeface="Times New Roman" panose="02020603050405020304" pitchFamily="18" charset="0"/>
                <a:cs typeface="Times New Roman" panose="02020603050405020304" pitchFamily="18" charset="0"/>
              </a:rPr>
              <a:t>公司垄断，中国的上海微电子装备（集团）有限公司目前只能制造</a:t>
            </a:r>
            <a:r>
              <a:rPr lang="en-US" altLang="zh-CN" sz="2000" b="1" dirty="0">
                <a:latin typeface="Times New Roman" panose="02020603050405020304" pitchFamily="18" charset="0"/>
                <a:cs typeface="Times New Roman" panose="02020603050405020304" pitchFamily="18" charset="0"/>
              </a:rPr>
              <a:t>90nm</a:t>
            </a:r>
            <a:r>
              <a:rPr lang="zh-CN" altLang="en-US" sz="2000" b="1" dirty="0">
                <a:latin typeface="Times New Roman" panose="02020603050405020304" pitchFamily="18" charset="0"/>
                <a:cs typeface="Times New Roman" panose="02020603050405020304" pitchFamily="18" charset="0"/>
              </a:rPr>
              <a:t>制程的光刻机，预计下一代是</a:t>
            </a:r>
            <a:r>
              <a:rPr lang="en-US" altLang="zh-CN" sz="2000" b="1" dirty="0">
                <a:latin typeface="Times New Roman" panose="02020603050405020304" pitchFamily="18" charset="0"/>
                <a:cs typeface="Times New Roman" panose="02020603050405020304" pitchFamily="18" charset="0"/>
              </a:rPr>
              <a:t>28nm</a:t>
            </a:r>
            <a:r>
              <a:rPr lang="zh-CN" altLang="en-US" sz="2000" b="1" dirty="0">
                <a:latin typeface="Times New Roman" panose="02020603050405020304" pitchFamily="18" charset="0"/>
                <a:cs typeface="Times New Roman" panose="02020603050405020304" pitchFamily="18" charset="0"/>
              </a:rPr>
              <a:t>，但这和最新的</a:t>
            </a:r>
            <a:r>
              <a:rPr lang="en-US" altLang="zh-CN" sz="2000" b="1" dirty="0">
                <a:latin typeface="Times New Roman" panose="02020603050405020304" pitchFamily="18" charset="0"/>
                <a:cs typeface="Times New Roman" panose="02020603050405020304" pitchFamily="18" charset="0"/>
              </a:rPr>
              <a:t>5nm</a:t>
            </a:r>
            <a:r>
              <a:rPr lang="zh-CN" altLang="en-US" sz="2000" b="1" dirty="0">
                <a:latin typeface="Times New Roman" panose="02020603050405020304" pitchFamily="18" charset="0"/>
                <a:cs typeface="Times New Roman" panose="02020603050405020304" pitchFamily="18" charset="0"/>
              </a:rPr>
              <a:t>制程工艺相比还有巨大的差距。</a:t>
            </a:r>
            <a:endParaRPr lang="en-US" altLang="zh-CN" sz="2000" b="1" dirty="0">
              <a:latin typeface="Times New Roman" panose="02020603050405020304" pitchFamily="18" charset="0"/>
              <a:cs typeface="Times New Roman" panose="02020603050405020304" pitchFamily="18" charset="0"/>
            </a:endParaRPr>
          </a:p>
          <a:p>
            <a:pPr algn="just">
              <a:lnSpc>
                <a:spcPct val="150000"/>
              </a:lnSpc>
              <a:spcBef>
                <a:spcPts val="0"/>
              </a:spcBef>
            </a:pPr>
            <a:r>
              <a:rPr lang="zh-CN" altLang="en-US" sz="2000" b="1" dirty="0"/>
              <a:t>晶体管制程进入纳米级的量子尺寸时，经典物理学将会失效，三极管的漏电流问题成为难以解决的技术障碍，这也是摩尔定律放缓的主要原因。</a:t>
            </a:r>
          </a:p>
          <a:p>
            <a:pPr algn="just">
              <a:lnSpc>
                <a:spcPct val="130000"/>
              </a:lnSpc>
              <a:spcBef>
                <a:spcPts val="0"/>
              </a:spcBef>
            </a:pPr>
            <a:endParaRPr lang="zh-CN" alt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5519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744C3-96BC-838E-F1A7-7B5369D6EE6A}"/>
            </a:ext>
          </a:extLst>
        </p:cNvPr>
        <p:cNvGrpSpPr/>
        <p:nvPr/>
      </p:nvGrpSpPr>
      <p:grpSpPr>
        <a:xfrm>
          <a:off x="0" y="0"/>
          <a:ext cx="0" cy="0"/>
          <a:chOff x="0" y="0"/>
          <a:chExt cx="0" cy="0"/>
        </a:xfrm>
      </p:grpSpPr>
      <p:pic>
        <p:nvPicPr>
          <p:cNvPr id="5" name="Picture 5">
            <a:extLst>
              <a:ext uri="{FF2B5EF4-FFF2-40B4-BE49-F238E27FC236}">
                <a16:creationId xmlns:a16="http://schemas.microsoft.com/office/drawing/2014/main" id="{67962B5D-57B9-2783-A950-3A4990052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4A697697-36AA-52CC-8453-5A0953FEDF7E}"/>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目录</a:t>
            </a:r>
          </a:p>
        </p:txBody>
      </p:sp>
      <p:sp>
        <p:nvSpPr>
          <p:cNvPr id="63490" name="Rectangle 3">
            <a:extLst>
              <a:ext uri="{FF2B5EF4-FFF2-40B4-BE49-F238E27FC236}">
                <a16:creationId xmlns:a16="http://schemas.microsoft.com/office/drawing/2014/main" id="{C5F8301D-8491-384F-BDEA-2B4F0C6AEA0D}"/>
              </a:ext>
            </a:extLst>
          </p:cNvPr>
          <p:cNvSpPr>
            <a:spLocks noGrp="1" noChangeArrowheads="1"/>
          </p:cNvSpPr>
          <p:nvPr>
            <p:ph idx="1"/>
          </p:nvPr>
        </p:nvSpPr>
        <p:spPr>
          <a:xfrm>
            <a:off x="107504" y="836712"/>
            <a:ext cx="9036496" cy="5884762"/>
          </a:xfrm>
        </p:spPr>
        <p:txBody>
          <a:bodyPr numCol="2"/>
          <a:lstStyle/>
          <a:p>
            <a:pPr marL="0" indent="0" eaLnBrk="1" hangingPunct="1">
              <a:lnSpc>
                <a:spcPct val="150000"/>
              </a:lnSpc>
              <a:spcBef>
                <a:spcPts val="0"/>
              </a:spcBef>
              <a:buClr>
                <a:schemeClr val="tx2">
                  <a:lumMod val="60000"/>
                  <a:lumOff val="40000"/>
                </a:schemeClr>
              </a:buClr>
              <a:buSzPct val="100000"/>
              <a:buNone/>
            </a:pPr>
            <a:r>
              <a:rPr lang="zh-CN" altLang="en-US" sz="2400" b="1" dirty="0">
                <a:latin typeface="Times New Roman" panose="02020603050405020304" pitchFamily="18" charset="0"/>
                <a:cs typeface="Times New Roman" panose="02020603050405020304" pitchFamily="18" charset="0"/>
              </a:rPr>
              <a:t>一、计算机的发展简史</a:t>
            </a:r>
            <a:endParaRPr lang="en-US" altLang="zh-CN" sz="2400" b="1" dirty="0">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 计算机发展概况</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摩尔定律</a:t>
            </a: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latin typeface="Times New Roman" panose="02020603050405020304" pitchFamily="18" charset="0"/>
                <a:cs typeface="Times New Roman" panose="02020603050405020304" pitchFamily="18" charset="0"/>
              </a:rPr>
              <a:t>3. </a:t>
            </a:r>
            <a:r>
              <a:rPr lang="zh-CN" altLang="en-US" sz="2000" b="1" dirty="0">
                <a:latin typeface="Times New Roman" panose="02020603050405020304" pitchFamily="18" charset="0"/>
                <a:cs typeface="Times New Roman" panose="02020603050405020304" pitchFamily="18" charset="0"/>
              </a:rPr>
              <a:t>集成电路工艺发展概况</a:t>
            </a:r>
            <a:endParaRPr lang="en-US" altLang="zh-CN" sz="2000" b="1" dirty="0">
              <a:latin typeface="Times New Roman" panose="02020603050405020304" pitchFamily="18" charset="0"/>
              <a:cs typeface="Times New Roman" panose="02020603050405020304" pitchFamily="18" charset="0"/>
            </a:endParaRPr>
          </a:p>
          <a:p>
            <a:pPr marL="0" indent="0" eaLnBrk="1" hangingPunct="1">
              <a:lnSpc>
                <a:spcPct val="150000"/>
              </a:lnSpc>
              <a:spcBef>
                <a:spcPts val="0"/>
              </a:spcBef>
              <a:buClr>
                <a:schemeClr val="tx2">
                  <a:lumMod val="60000"/>
                  <a:lumOff val="40000"/>
                </a:schemeClr>
              </a:buClr>
              <a:buSzPct val="100000"/>
              <a:buNone/>
            </a:pPr>
            <a:r>
              <a:rPr lang="zh-CN" altLang="en-US" sz="2400" b="1" dirty="0">
                <a:solidFill>
                  <a:srgbClr val="0000FF"/>
                </a:solidFill>
                <a:latin typeface="Times New Roman" panose="02020603050405020304" pitchFamily="18" charset="0"/>
                <a:cs typeface="Times New Roman" panose="02020603050405020304" pitchFamily="18" charset="0"/>
              </a:rPr>
              <a:t>二、计算机系统的组成</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0" indent="355600" eaLnBrk="1" hangingPunct="1">
              <a:lnSpc>
                <a:spcPct val="150000"/>
              </a:lnSpc>
              <a:spcBef>
                <a:spcPts val="0"/>
              </a:spcBef>
              <a:buClr>
                <a:schemeClr val="tx2">
                  <a:lumMod val="60000"/>
                  <a:lumOff val="40000"/>
                </a:schemeClr>
              </a:buClr>
              <a:buSzPct val="100000"/>
              <a:buNone/>
            </a:pPr>
            <a:r>
              <a:rPr lang="en-US" altLang="zh-CN" sz="2000" b="1" dirty="0">
                <a:solidFill>
                  <a:srgbClr val="0000FF"/>
                </a:solidFill>
                <a:latin typeface="Times New Roman" panose="02020603050405020304" pitchFamily="18" charset="0"/>
                <a:cs typeface="Times New Roman" panose="02020603050405020304" pitchFamily="18" charset="0"/>
              </a:rPr>
              <a:t>1. </a:t>
            </a:r>
            <a:r>
              <a:rPr lang="zh-CN" altLang="en-US" sz="2000" b="1" dirty="0">
                <a:solidFill>
                  <a:srgbClr val="0000FF"/>
                </a:solidFill>
                <a:latin typeface="Times New Roman" panose="02020603050405020304" pitchFamily="18" charset="0"/>
                <a:cs typeface="Times New Roman" panose="02020603050405020304" pitchFamily="18" charset="0"/>
              </a:rPr>
              <a:t>计算机硬件系统</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pPr>
            <a:r>
              <a:rPr lang="en-US" altLang="zh-CN" sz="2000" b="1" dirty="0">
                <a:solidFill>
                  <a:srgbClr val="0000FF"/>
                </a:solidFill>
                <a:latin typeface="Times New Roman" panose="02020603050405020304" pitchFamily="18" charset="0"/>
                <a:cs typeface="Times New Roman" panose="02020603050405020304" pitchFamily="18" charset="0"/>
              </a:rPr>
              <a:t>2</a:t>
            </a:r>
            <a:r>
              <a:rPr lang="zh-CN" altLang="en-US" sz="2000" b="1" dirty="0">
                <a:solidFill>
                  <a:srgbClr val="0000FF"/>
                </a:solidFill>
                <a:latin typeface="Times New Roman" panose="02020603050405020304" pitchFamily="18" charset="0"/>
                <a:cs typeface="Times New Roman" panose="02020603050405020304" pitchFamily="18" charset="0"/>
              </a:rPr>
              <a:t>. 计算机软件系统</a:t>
            </a:r>
          </a:p>
          <a:p>
            <a:pPr marL="0" indent="0" eaLnBrk="1" hangingPunct="1">
              <a:lnSpc>
                <a:spcPct val="150000"/>
              </a:lnSpc>
              <a:spcBef>
                <a:spcPts val="0"/>
              </a:spcBef>
              <a:buClr>
                <a:schemeClr val="tx2">
                  <a:lumMod val="60000"/>
                  <a:lumOff val="40000"/>
                </a:schemeClr>
              </a:buClr>
              <a:buSzPct val="100000"/>
              <a:buNone/>
            </a:pPr>
            <a:r>
              <a:rPr lang="zh-CN" altLang="en-US" sz="2400" b="1" dirty="0">
                <a:latin typeface="Times New Roman" panose="02020603050405020304" pitchFamily="18" charset="0"/>
                <a:cs typeface="Times New Roman" panose="02020603050405020304" pitchFamily="18" charset="0"/>
              </a:rPr>
              <a:t>三、计算机系统的层次结构</a:t>
            </a:r>
            <a:endParaRPr lang="en-US" altLang="zh-CN" sz="2400" b="1" dirty="0">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计算机系统的层次结构</a:t>
            </a:r>
            <a:endParaRPr lang="en-US" altLang="zh-CN" sz="2000" b="1" dirty="0">
              <a:latin typeface="Times New Roman" panose="02020603050405020304" pitchFamily="18" charset="0"/>
              <a:cs typeface="Times New Roman" panose="02020603050405020304" pitchFamily="18" charset="0"/>
            </a:endParaRPr>
          </a:p>
          <a:p>
            <a:pPr marL="0" indent="355600" eaLnBrk="1" hangingPunct="1">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层次间的关系</a:t>
            </a:r>
          </a:p>
          <a:p>
            <a:pPr marL="0" indent="0" eaLnBrk="1" hangingPunct="1">
              <a:lnSpc>
                <a:spcPct val="150000"/>
              </a:lnSpc>
              <a:spcBef>
                <a:spcPts val="0"/>
              </a:spcBef>
              <a:buNone/>
            </a:pPr>
            <a:endParaRPr lang="en-US" altLang="zh-CN" sz="2400" b="1" dirty="0">
              <a:solidFill>
                <a:schemeClr val="tx2"/>
              </a:solidFill>
              <a:latin typeface="Times New Roman" panose="02020603050405020304" pitchFamily="18" charset="0"/>
              <a:cs typeface="Times New Roman" panose="02020603050405020304" pitchFamily="18" charset="0"/>
            </a:endParaRPr>
          </a:p>
          <a:p>
            <a:pPr marL="0" indent="0" eaLnBrk="1" hangingPunct="1">
              <a:lnSpc>
                <a:spcPct val="150000"/>
              </a:lnSpc>
              <a:spcBef>
                <a:spcPts val="0"/>
              </a:spcBef>
              <a:buNone/>
            </a:pPr>
            <a:r>
              <a:rPr lang="zh-CN" altLang="en-US" sz="2400" b="1" dirty="0">
                <a:solidFill>
                  <a:schemeClr val="tx2"/>
                </a:solidFill>
                <a:latin typeface="Times New Roman" panose="02020603050405020304" pitchFamily="18" charset="0"/>
                <a:cs typeface="Times New Roman" panose="02020603050405020304" pitchFamily="18" charset="0"/>
              </a:rPr>
              <a:t>四、计算机性能指标和评价</a:t>
            </a:r>
          </a:p>
          <a:p>
            <a:pPr marL="0" indent="355600" eaLnBrk="1" hangingPunct="1">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基本性能指标</a:t>
            </a:r>
            <a:endParaRPr lang="en-US" altLang="zh-CN" sz="2000" b="1" dirty="0">
              <a:latin typeface="Times New Roman" panose="02020603050405020304" pitchFamily="18" charset="0"/>
              <a:cs typeface="Times New Roman" panose="02020603050405020304" pitchFamily="18" charset="0"/>
            </a:endParaRPr>
          </a:p>
          <a:p>
            <a:pPr marL="0" indent="355600" eaLnBrk="1" hangingPunct="1">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运算速度</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3. </a:t>
            </a:r>
            <a:r>
              <a:rPr lang="zh-CN" altLang="en-US" sz="2000" b="1" dirty="0">
                <a:latin typeface="Times New Roman" panose="02020603050405020304" pitchFamily="18" charset="0"/>
                <a:cs typeface="Times New Roman" panose="02020603050405020304" pitchFamily="18" charset="0"/>
              </a:rPr>
              <a:t>性能测试及其工具</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4. Amdahl</a:t>
            </a:r>
            <a:r>
              <a:rPr lang="zh-CN" altLang="en-US" sz="2000" b="1" dirty="0">
                <a:latin typeface="Times New Roman" panose="02020603050405020304" pitchFamily="18" charset="0"/>
                <a:cs typeface="Times New Roman" panose="02020603050405020304" pitchFamily="18" charset="0"/>
              </a:rPr>
              <a:t>定律</a:t>
            </a:r>
          </a:p>
        </p:txBody>
      </p:sp>
    </p:spTree>
    <p:extLst>
      <p:ext uri="{BB962C8B-B14F-4D97-AF65-F5344CB8AC3E}">
        <p14:creationId xmlns:p14="http://schemas.microsoft.com/office/powerpoint/2010/main" val="229812788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8F91D2B3-CA2E-49EE-AC35-0B5EC38DC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灯片编号占位符 7">
            <a:extLst>
              <a:ext uri="{FF2B5EF4-FFF2-40B4-BE49-F238E27FC236}">
                <a16:creationId xmlns:a16="http://schemas.microsoft.com/office/drawing/2014/main" id="{9C4C3575-930A-41FD-A87F-1AD258BBDC00}"/>
              </a:ext>
            </a:extLst>
          </p:cNvPr>
          <p:cNvSpPr>
            <a:spLocks noGrp="1"/>
          </p:cNvSpPr>
          <p:nvPr>
            <p:ph type="sldNum" sz="quarter" idx="12"/>
          </p:nvPr>
        </p:nvSpPr>
        <p:spPr/>
        <p:txBody>
          <a:bodyPr/>
          <a:lstStyle/>
          <a:p>
            <a:pPr>
              <a:defRPr/>
            </a:pPr>
            <a:fld id="{56591EB5-E1D7-4780-AD1C-D158E923E478}" type="slidenum">
              <a:rPr lang="en-US" altLang="zh-CN" smtClean="0"/>
              <a:pPr>
                <a:defRPr/>
              </a:pPr>
              <a:t>18</a:t>
            </a:fld>
            <a:endParaRPr lang="en-US" altLang="zh-CN"/>
          </a:p>
        </p:txBody>
      </p:sp>
      <p:cxnSp>
        <p:nvCxnSpPr>
          <p:cNvPr id="12" name="直接连接符 11">
            <a:extLst>
              <a:ext uri="{FF2B5EF4-FFF2-40B4-BE49-F238E27FC236}">
                <a16:creationId xmlns:a16="http://schemas.microsoft.com/office/drawing/2014/main" id="{962A2D8D-6F72-44EC-91A7-2B8C4FA80B2C}"/>
              </a:ext>
            </a:extLst>
          </p:cNvPr>
          <p:cNvCxnSpPr/>
          <p:nvPr/>
        </p:nvCxnSpPr>
        <p:spPr>
          <a:xfrm>
            <a:off x="323528" y="1589196"/>
            <a:ext cx="8363272"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D0114BA3-6E30-425F-B6F6-1656E9D0D8B8}"/>
              </a:ext>
            </a:extLst>
          </p:cNvPr>
          <p:cNvSpPr txBox="1"/>
          <p:nvPr/>
        </p:nvSpPr>
        <p:spPr>
          <a:xfrm>
            <a:off x="688691" y="2313645"/>
            <a:ext cx="6552728" cy="279057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dirty="0"/>
              <a:t>计算机系统中的软件系统</a:t>
            </a:r>
            <a:endParaRPr lang="en-US" altLang="zh-CN" sz="2400" dirty="0"/>
          </a:p>
          <a:p>
            <a:pPr marL="285750" indent="-285750">
              <a:lnSpc>
                <a:spcPct val="150000"/>
              </a:lnSpc>
              <a:buFont typeface="Wingdings" panose="05000000000000000000" pitchFamily="2" charset="2"/>
              <a:buChar char="Ø"/>
            </a:pPr>
            <a:r>
              <a:rPr lang="zh-CN" altLang="en-US" sz="2400" dirty="0"/>
              <a:t>计算机系统中的硬件系统</a:t>
            </a:r>
            <a:endParaRPr lang="en-US" altLang="zh-CN" sz="2400" dirty="0"/>
          </a:p>
          <a:p>
            <a:pPr marL="742950" lvl="1" indent="-285750">
              <a:lnSpc>
                <a:spcPct val="150000"/>
              </a:lnSpc>
              <a:buFont typeface="Wingdings" panose="05000000000000000000" pitchFamily="2" charset="2"/>
              <a:buChar char="Ø"/>
            </a:pPr>
            <a:r>
              <a:rPr lang="zh-CN" altLang="en-US" sz="2400" dirty="0"/>
              <a:t>存储程序与冯</a:t>
            </a:r>
            <a:r>
              <a:rPr lang="en-US" altLang="zh-CN" sz="2400" dirty="0"/>
              <a:t>·</a:t>
            </a:r>
            <a:r>
              <a:rPr lang="zh-CN" altLang="en-US" sz="2400" dirty="0"/>
              <a:t>诺依曼计算机</a:t>
            </a:r>
            <a:endParaRPr lang="en-US" altLang="zh-CN" sz="2400" dirty="0"/>
          </a:p>
          <a:p>
            <a:pPr marL="742950" lvl="1" indent="-285750">
              <a:lnSpc>
                <a:spcPct val="150000"/>
              </a:lnSpc>
              <a:buFont typeface="Wingdings" panose="05000000000000000000" pitchFamily="2" charset="2"/>
              <a:buChar char="Ø"/>
            </a:pPr>
            <a:r>
              <a:rPr lang="zh-CN" altLang="en-US" sz="2400" dirty="0"/>
              <a:t>计算机的硬件基本组成</a:t>
            </a:r>
            <a:endParaRPr lang="en-US" altLang="zh-CN" sz="2400" dirty="0"/>
          </a:p>
          <a:p>
            <a:pPr marL="285750" indent="-285750">
              <a:lnSpc>
                <a:spcPct val="150000"/>
              </a:lnSpc>
              <a:buFont typeface="Wingdings" panose="05000000000000000000" pitchFamily="2" charset="2"/>
              <a:buChar char="Ø"/>
            </a:pPr>
            <a:r>
              <a:rPr lang="zh-CN" altLang="en-US" sz="2400" dirty="0"/>
              <a:t>计算系统软件与硬件系统之间的关系</a:t>
            </a:r>
            <a:endParaRPr lang="en-US" altLang="zh-CN" sz="2400" dirty="0"/>
          </a:p>
        </p:txBody>
      </p:sp>
      <p:sp>
        <p:nvSpPr>
          <p:cNvPr id="15" name="矩形 14">
            <a:extLst>
              <a:ext uri="{FF2B5EF4-FFF2-40B4-BE49-F238E27FC236}">
                <a16:creationId xmlns:a16="http://schemas.microsoft.com/office/drawing/2014/main" id="{12F7A7F6-6F5A-49FB-9ECA-4C229D81B4A5}"/>
              </a:ext>
            </a:extLst>
          </p:cNvPr>
          <p:cNvSpPr/>
          <p:nvPr/>
        </p:nvSpPr>
        <p:spPr>
          <a:xfrm>
            <a:off x="4505164" y="75570"/>
            <a:ext cx="4418197" cy="584775"/>
          </a:xfrm>
          <a:prstGeom prst="rect">
            <a:avLst/>
          </a:prstGeom>
        </p:spPr>
        <p:txBody>
          <a:bodyPr wrap="none">
            <a:spAutoFit/>
          </a:bodyPr>
          <a:lstStyle/>
          <a:p>
            <a:r>
              <a:rPr lang="zh-CN" altLang="en-US" sz="3200" b="1" dirty="0">
                <a:solidFill>
                  <a:schemeClr val="bg1"/>
                </a:solidFill>
              </a:rPr>
              <a:t>第一章 计算机系统概论</a:t>
            </a:r>
            <a:endParaRPr lang="zh-CN" altLang="en-US" sz="3200" dirty="0">
              <a:solidFill>
                <a:schemeClr val="bg1"/>
              </a:solidFill>
            </a:endParaRPr>
          </a:p>
        </p:txBody>
      </p:sp>
      <p:sp>
        <p:nvSpPr>
          <p:cNvPr id="4" name="文本框 3">
            <a:extLst>
              <a:ext uri="{FF2B5EF4-FFF2-40B4-BE49-F238E27FC236}">
                <a16:creationId xmlns:a16="http://schemas.microsoft.com/office/drawing/2014/main" id="{76D6E00A-1242-4A0C-9064-60783A21DD56}"/>
              </a:ext>
            </a:extLst>
          </p:cNvPr>
          <p:cNvSpPr txBox="1"/>
          <p:nvPr/>
        </p:nvSpPr>
        <p:spPr>
          <a:xfrm>
            <a:off x="372979" y="1726321"/>
            <a:ext cx="8550382" cy="523220"/>
          </a:xfrm>
          <a:prstGeom prst="rect">
            <a:avLst/>
          </a:prstGeom>
          <a:noFill/>
        </p:spPr>
        <p:txBody>
          <a:bodyPr wrap="square" rtlCol="0">
            <a:spAutoFit/>
          </a:bodyPr>
          <a:lstStyle/>
          <a:p>
            <a:r>
              <a:rPr lang="zh-CN" altLang="en-US" sz="2800" i="1" dirty="0"/>
              <a:t>计算机系统是由“</a:t>
            </a:r>
            <a:r>
              <a:rPr lang="zh-CN" altLang="en-US" sz="2800" b="1" i="1" dirty="0">
                <a:solidFill>
                  <a:srgbClr val="FF0000"/>
                </a:solidFill>
              </a:rPr>
              <a:t>硬件</a:t>
            </a:r>
            <a:r>
              <a:rPr lang="zh-CN" altLang="en-US" sz="2800" i="1" dirty="0"/>
              <a:t>”和“</a:t>
            </a:r>
            <a:r>
              <a:rPr lang="zh-CN" altLang="en-US" sz="2800" b="1" i="1" dirty="0">
                <a:solidFill>
                  <a:srgbClr val="FF0000"/>
                </a:solidFill>
              </a:rPr>
              <a:t>软件</a:t>
            </a:r>
            <a:r>
              <a:rPr lang="zh-CN" altLang="en-US" sz="2800" i="1" dirty="0"/>
              <a:t>”两大部分组成的。</a:t>
            </a:r>
          </a:p>
        </p:txBody>
      </p:sp>
      <p:sp>
        <p:nvSpPr>
          <p:cNvPr id="2" name="文本框 7">
            <a:extLst>
              <a:ext uri="{FF2B5EF4-FFF2-40B4-BE49-F238E27FC236}">
                <a16:creationId xmlns:a16="http://schemas.microsoft.com/office/drawing/2014/main" id="{8096169F-853C-FDB3-EA8A-2F3BD84E70C9}"/>
              </a:ext>
            </a:extLst>
          </p:cNvPr>
          <p:cNvSpPr txBox="1"/>
          <p:nvPr/>
        </p:nvSpPr>
        <p:spPr>
          <a:xfrm>
            <a:off x="101370" y="929588"/>
            <a:ext cx="8935126" cy="954107"/>
          </a:xfrm>
          <a:prstGeom prst="rect">
            <a:avLst/>
          </a:prstGeom>
          <a:noFill/>
        </p:spPr>
        <p:txBody>
          <a:bodyPr wrap="square">
            <a:spAutoFit/>
          </a:bodyPr>
          <a:lstStyle/>
          <a:p>
            <a:pPr lvl="0"/>
            <a:r>
              <a:rPr lang="zh-CN" altLang="en-US" sz="2800" b="1" dirty="0">
                <a:latin typeface="Times New Roman" panose="02020603050405020304" pitchFamily="18" charset="0"/>
                <a:ea typeface="+mn-ea"/>
                <a:cs typeface="Times New Roman" panose="02020603050405020304" pitchFamily="18" charset="0"/>
              </a:rPr>
              <a:t>二、计算机系统的组成</a:t>
            </a:r>
            <a:endParaRPr lang="en-US" altLang="zh-CN" sz="2800" b="1" dirty="0">
              <a:latin typeface="Times New Roman" panose="02020603050405020304" pitchFamily="18" charset="0"/>
              <a:ea typeface="+mn-ea"/>
              <a:cs typeface="Times New Roman" panose="02020603050405020304" pitchFamily="18" charset="0"/>
            </a:endParaRPr>
          </a:p>
          <a:p>
            <a:pPr lvl="0"/>
            <a:endParaRPr lang="zh-CN" altLang="en-US" sz="2800" b="1" dirty="0">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93711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D2C72E36-51ED-CF9C-5F62-7747886E5128}"/>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D2400015-1207-4761-A222-C8794E699EDA}"/>
              </a:ext>
            </a:extLst>
          </p:cNvPr>
          <p:cNvSpPr txBox="1"/>
          <p:nvPr/>
        </p:nvSpPr>
        <p:spPr>
          <a:xfrm>
            <a:off x="101370" y="929588"/>
            <a:ext cx="8935126" cy="241553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2400" b="1" dirty="0">
                <a:latin typeface="Times New Roman" panose="02020603050405020304" pitchFamily="18" charset="0"/>
                <a:ea typeface="+mn-ea"/>
                <a:cs typeface="Times New Roman" panose="02020603050405020304" pitchFamily="18" charset="0"/>
              </a:rPr>
              <a:t>硬件 </a:t>
            </a:r>
            <a:r>
              <a:rPr lang="en-US" altLang="zh-CN" sz="2400" b="1" dirty="0">
                <a:latin typeface="Times New Roman" panose="02020603050405020304" pitchFamily="18" charset="0"/>
                <a:ea typeface="+mn-ea"/>
                <a:cs typeface="Times New Roman" panose="02020603050405020304" pitchFamily="18" charset="0"/>
              </a:rPr>
              <a:t>hardware</a:t>
            </a:r>
            <a:r>
              <a:rPr lang="zh-CN" altLang="en-US" sz="2400" b="1" dirty="0">
                <a:latin typeface="Times New Roman" panose="02020603050405020304" pitchFamily="18" charset="0"/>
                <a:ea typeface="+mn-ea"/>
                <a:cs typeface="Times New Roman" panose="02020603050405020304" pitchFamily="18" charset="0"/>
              </a:rPr>
              <a:t>：</a:t>
            </a:r>
            <a:r>
              <a:rPr kumimoji="1" lang="zh-CN" altLang="en-US" sz="2400" b="1" dirty="0">
                <a:latin typeface="宋体" panose="02010600030101010101" pitchFamily="2" charset="-122"/>
              </a:rPr>
              <a:t>指</a:t>
            </a:r>
            <a:r>
              <a:rPr kumimoji="1" lang="zh-CN" altLang="en-US" sz="2400" b="1" dirty="0">
                <a:solidFill>
                  <a:srgbClr val="FF0000"/>
                </a:solidFill>
                <a:latin typeface="宋体" panose="02010600030101010101" pitchFamily="2" charset="-122"/>
              </a:rPr>
              <a:t>计算机的实体部分</a:t>
            </a:r>
            <a:r>
              <a:rPr kumimoji="1" lang="zh-CN" altLang="en-US" sz="2400" b="1" dirty="0">
                <a:latin typeface="宋体" panose="02010600030101010101" pitchFamily="2" charset="-122"/>
              </a:rPr>
              <a:t>，它由看得见摸得着的各种电子线路和电子元件的实物组成。如主机、外设等。</a:t>
            </a:r>
            <a:endParaRPr lang="zh-CN" altLang="en-US" sz="2400" dirty="0"/>
          </a:p>
          <a:p>
            <a:pPr marL="457200" indent="-457200">
              <a:lnSpc>
                <a:spcPct val="150000"/>
              </a:lnSpc>
              <a:buFont typeface="Arial" panose="020B0604020202020204" pitchFamily="34" charset="0"/>
              <a:buChar char="•"/>
            </a:pPr>
            <a:endParaRPr lang="zh-CN" altLang="en-US" sz="2800" b="1" dirty="0">
              <a:latin typeface="Times New Roman" panose="02020603050405020304" pitchFamily="18" charset="0"/>
              <a:ea typeface="+mn-ea"/>
              <a:cs typeface="Times New Roman" panose="02020603050405020304" pitchFamily="18" charset="0"/>
            </a:endParaRPr>
          </a:p>
          <a:p>
            <a:pPr lvl="0">
              <a:lnSpc>
                <a:spcPct val="150000"/>
              </a:lnSpc>
            </a:pPr>
            <a:endParaRPr lang="zh-CN" altLang="en-US" sz="2800" b="1" dirty="0">
              <a:latin typeface="Times New Roman" panose="02020603050405020304" pitchFamily="18" charset="0"/>
              <a:ea typeface="+mn-ea"/>
              <a:cs typeface="Times New Roman" panose="02020603050405020304" pitchFamily="18" charset="0"/>
            </a:endParaRPr>
          </a:p>
        </p:txBody>
      </p:sp>
      <p:pic>
        <p:nvPicPr>
          <p:cNvPr id="9" name="图片 8">
            <a:extLst>
              <a:ext uri="{FF2B5EF4-FFF2-40B4-BE49-F238E27FC236}">
                <a16:creationId xmlns:a16="http://schemas.microsoft.com/office/drawing/2014/main" id="{0A2450B7-87E9-41EC-AD3A-BEC91683F292}"/>
              </a:ext>
            </a:extLst>
          </p:cNvPr>
          <p:cNvPicPr>
            <a:picLocks noChangeAspect="1"/>
          </p:cNvPicPr>
          <p:nvPr/>
        </p:nvPicPr>
        <p:blipFill rotWithShape="1">
          <a:blip r:embed="rId4"/>
          <a:srcRect l="4326" t="8916" r="2751" b="4589"/>
          <a:stretch/>
        </p:blipFill>
        <p:spPr>
          <a:xfrm>
            <a:off x="1654142" y="2132856"/>
            <a:ext cx="5835715" cy="3956417"/>
          </a:xfrm>
          <a:prstGeom prst="rect">
            <a:avLst/>
          </a:prstGeom>
        </p:spPr>
      </p:pic>
      <p:sp>
        <p:nvSpPr>
          <p:cNvPr id="6" name="文本框 5">
            <a:extLst>
              <a:ext uri="{FF2B5EF4-FFF2-40B4-BE49-F238E27FC236}">
                <a16:creationId xmlns:a16="http://schemas.microsoft.com/office/drawing/2014/main" id="{01EFC02B-D4AD-4526-B2F6-B13FA4290212}"/>
              </a:ext>
            </a:extLst>
          </p:cNvPr>
          <p:cNvSpPr txBox="1"/>
          <p:nvPr/>
        </p:nvSpPr>
        <p:spPr>
          <a:xfrm>
            <a:off x="3419872" y="6288970"/>
            <a:ext cx="2842096" cy="369332"/>
          </a:xfrm>
          <a:prstGeom prst="rect">
            <a:avLst/>
          </a:prstGeom>
          <a:noFill/>
        </p:spPr>
        <p:txBody>
          <a:bodyPr wrap="square" rtlCol="0">
            <a:spAutoFit/>
          </a:bodyPr>
          <a:lstStyle/>
          <a:p>
            <a:r>
              <a:rPr lang="zh-CN" altLang="en-US" b="1" dirty="0">
                <a:solidFill>
                  <a:srgbClr val="002060"/>
                </a:solidFill>
                <a:latin typeface="Times New Roman" panose="02020603050405020304" pitchFamily="18" charset="0"/>
                <a:cs typeface="Times New Roman" panose="02020603050405020304" pitchFamily="18" charset="0"/>
              </a:rPr>
              <a:t>图</a:t>
            </a:r>
            <a:r>
              <a:rPr lang="en-US" altLang="zh-CN" b="1" dirty="0">
                <a:solidFill>
                  <a:srgbClr val="002060"/>
                </a:solidFill>
                <a:latin typeface="Times New Roman" panose="02020603050405020304" pitchFamily="18" charset="0"/>
                <a:cs typeface="Times New Roman" panose="02020603050405020304" pitchFamily="18" charset="0"/>
              </a:rPr>
              <a:t>1.6 </a:t>
            </a:r>
            <a:r>
              <a:rPr lang="zh-CN" altLang="en-US" b="1" dirty="0">
                <a:solidFill>
                  <a:srgbClr val="002060"/>
                </a:solidFill>
                <a:latin typeface="Times New Roman" panose="02020603050405020304" pitchFamily="18" charset="0"/>
                <a:cs typeface="Times New Roman" panose="02020603050405020304" pitchFamily="18" charset="0"/>
              </a:rPr>
              <a:t>计算机中的硬件</a:t>
            </a:r>
          </a:p>
        </p:txBody>
      </p:sp>
    </p:spTree>
    <p:extLst>
      <p:ext uri="{BB962C8B-B14F-4D97-AF65-F5344CB8AC3E}">
        <p14:creationId xmlns:p14="http://schemas.microsoft.com/office/powerpoint/2010/main" val="45234918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D2C72E36-51ED-CF9C-5F62-7747886E5128}"/>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D2400015-1207-4761-A222-C8794E699EDA}"/>
              </a:ext>
            </a:extLst>
          </p:cNvPr>
          <p:cNvSpPr txBox="1"/>
          <p:nvPr/>
        </p:nvSpPr>
        <p:spPr>
          <a:xfrm>
            <a:off x="101370" y="929588"/>
            <a:ext cx="8863118" cy="2323200"/>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2400" b="1" dirty="0">
                <a:latin typeface="Times New Roman" panose="02020603050405020304" pitchFamily="18" charset="0"/>
                <a:ea typeface="+mn-ea"/>
                <a:cs typeface="Times New Roman" panose="02020603050405020304" pitchFamily="18" charset="0"/>
              </a:rPr>
              <a:t>软件 </a:t>
            </a:r>
            <a:r>
              <a:rPr lang="en-US" altLang="zh-CN" sz="2400" b="1" dirty="0">
                <a:latin typeface="Times New Roman" panose="02020603050405020304" pitchFamily="18" charset="0"/>
                <a:ea typeface="+mn-ea"/>
                <a:cs typeface="Times New Roman" panose="02020603050405020304" pitchFamily="18" charset="0"/>
              </a:rPr>
              <a:t>software</a:t>
            </a:r>
            <a:r>
              <a:rPr lang="zh-CN" altLang="en-US" sz="2400" b="1" dirty="0">
                <a:latin typeface="Times New Roman" panose="02020603050405020304" pitchFamily="18" charset="0"/>
                <a:ea typeface="+mn-ea"/>
                <a:cs typeface="Times New Roman" panose="02020603050405020304" pitchFamily="18" charset="0"/>
              </a:rPr>
              <a:t>：看不见摸不着，由人们事先编制的具有各类特殊功能的程序组成。通常存储于主存或辅存内。</a:t>
            </a:r>
          </a:p>
          <a:p>
            <a:pPr marL="457200" indent="-457200">
              <a:lnSpc>
                <a:spcPct val="150000"/>
              </a:lnSpc>
              <a:buFont typeface="Arial" panose="020B0604020202020204" pitchFamily="34" charset="0"/>
              <a:buChar char="•"/>
            </a:pPr>
            <a:endParaRPr lang="en-US" altLang="zh-CN" sz="2400" b="1" dirty="0">
              <a:latin typeface="Times New Roman" panose="02020603050405020304" pitchFamily="18" charset="0"/>
              <a:ea typeface="+mn-ea"/>
              <a:cs typeface="Times New Roman" panose="02020603050405020304" pitchFamily="18" charset="0"/>
            </a:endParaRPr>
          </a:p>
          <a:p>
            <a:pPr lvl="0">
              <a:lnSpc>
                <a:spcPct val="150000"/>
              </a:lnSpc>
            </a:pPr>
            <a:endParaRPr lang="zh-CN" altLang="en-US" sz="2800" b="1" dirty="0">
              <a:latin typeface="Times New Roman" panose="02020603050405020304" pitchFamily="18" charset="0"/>
              <a:ea typeface="+mn-ea"/>
              <a:cs typeface="Times New Roman" panose="02020603050405020304" pitchFamily="18" charset="0"/>
            </a:endParaRPr>
          </a:p>
        </p:txBody>
      </p:sp>
      <p:pic>
        <p:nvPicPr>
          <p:cNvPr id="3" name="图片 2">
            <a:extLst>
              <a:ext uri="{FF2B5EF4-FFF2-40B4-BE49-F238E27FC236}">
                <a16:creationId xmlns:a16="http://schemas.microsoft.com/office/drawing/2014/main" id="{E9425A8E-888C-4B0A-BF3B-65A4A62BA8D4}"/>
              </a:ext>
            </a:extLst>
          </p:cNvPr>
          <p:cNvPicPr>
            <a:picLocks noChangeAspect="1"/>
          </p:cNvPicPr>
          <p:nvPr/>
        </p:nvPicPr>
        <p:blipFill>
          <a:blip r:embed="rId4"/>
          <a:stretch>
            <a:fillRect/>
          </a:stretch>
        </p:blipFill>
        <p:spPr>
          <a:xfrm>
            <a:off x="1403648" y="2492896"/>
            <a:ext cx="6907084" cy="3888432"/>
          </a:xfrm>
          <a:prstGeom prst="rect">
            <a:avLst/>
          </a:prstGeom>
        </p:spPr>
      </p:pic>
      <p:sp>
        <p:nvSpPr>
          <p:cNvPr id="6" name="文本框 5">
            <a:extLst>
              <a:ext uri="{FF2B5EF4-FFF2-40B4-BE49-F238E27FC236}">
                <a16:creationId xmlns:a16="http://schemas.microsoft.com/office/drawing/2014/main" id="{EB1AE5FC-AAF7-460B-BDEB-9A48BEC968CC}"/>
              </a:ext>
            </a:extLst>
          </p:cNvPr>
          <p:cNvSpPr txBox="1"/>
          <p:nvPr/>
        </p:nvSpPr>
        <p:spPr>
          <a:xfrm>
            <a:off x="3436142" y="6449558"/>
            <a:ext cx="2842096" cy="369332"/>
          </a:xfrm>
          <a:prstGeom prst="rect">
            <a:avLst/>
          </a:prstGeom>
          <a:noFill/>
        </p:spPr>
        <p:txBody>
          <a:bodyPr wrap="square" rtlCol="0">
            <a:spAutoFit/>
          </a:bodyPr>
          <a:lstStyle/>
          <a:p>
            <a:r>
              <a:rPr lang="zh-CN" altLang="en-US" b="1" dirty="0">
                <a:solidFill>
                  <a:srgbClr val="002060"/>
                </a:solidFill>
                <a:latin typeface="Times New Roman" panose="02020603050405020304" pitchFamily="18" charset="0"/>
                <a:cs typeface="Times New Roman" panose="02020603050405020304" pitchFamily="18" charset="0"/>
              </a:rPr>
              <a:t>图</a:t>
            </a:r>
            <a:r>
              <a:rPr lang="en-US" altLang="zh-CN" b="1" dirty="0">
                <a:solidFill>
                  <a:srgbClr val="002060"/>
                </a:solidFill>
                <a:latin typeface="Times New Roman" panose="02020603050405020304" pitchFamily="18" charset="0"/>
                <a:cs typeface="Times New Roman" panose="02020603050405020304" pitchFamily="18" charset="0"/>
              </a:rPr>
              <a:t>1.7 </a:t>
            </a:r>
            <a:r>
              <a:rPr lang="zh-CN" altLang="en-US" b="1" dirty="0">
                <a:solidFill>
                  <a:srgbClr val="002060"/>
                </a:solidFill>
                <a:latin typeface="Times New Roman" panose="02020603050405020304" pitchFamily="18" charset="0"/>
                <a:cs typeface="Times New Roman" panose="02020603050405020304" pitchFamily="18" charset="0"/>
              </a:rPr>
              <a:t>计算机中的软件</a:t>
            </a:r>
          </a:p>
        </p:txBody>
      </p:sp>
    </p:spTree>
    <p:extLst>
      <p:ext uri="{BB962C8B-B14F-4D97-AF65-F5344CB8AC3E}">
        <p14:creationId xmlns:p14="http://schemas.microsoft.com/office/powerpoint/2010/main" val="29495182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D2C72E36-51ED-CF9C-5F62-7747886E5128}"/>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D2400015-1207-4761-A222-C8794E699EDA}"/>
              </a:ext>
            </a:extLst>
          </p:cNvPr>
          <p:cNvSpPr txBox="1"/>
          <p:nvPr/>
        </p:nvSpPr>
        <p:spPr>
          <a:xfrm>
            <a:off x="101370" y="929588"/>
            <a:ext cx="8863118" cy="2877198"/>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2400" b="1" dirty="0">
                <a:latin typeface="Times New Roman" panose="02020603050405020304" pitchFamily="18" charset="0"/>
                <a:ea typeface="+mn-ea"/>
                <a:cs typeface="Times New Roman" panose="02020603050405020304" pitchFamily="18" charset="0"/>
              </a:rPr>
              <a:t>固件 </a:t>
            </a:r>
            <a:r>
              <a:rPr lang="en-US" altLang="zh-CN" sz="2400" b="1" dirty="0">
                <a:latin typeface="Times New Roman" panose="02020603050405020304" pitchFamily="18" charset="0"/>
                <a:ea typeface="+mn-ea"/>
                <a:cs typeface="Times New Roman" panose="02020603050405020304" pitchFamily="18" charset="0"/>
              </a:rPr>
              <a:t>firmware</a:t>
            </a:r>
            <a:r>
              <a:rPr lang="zh-CN" altLang="en-US" sz="2400" b="1" dirty="0">
                <a:latin typeface="Times New Roman" panose="02020603050405020304" pitchFamily="18" charset="0"/>
                <a:ea typeface="+mn-ea"/>
                <a:cs typeface="Times New Roman" panose="02020603050405020304" pitchFamily="18" charset="0"/>
              </a:rPr>
              <a:t>：固化的软件，兼具软件和硬件的特性，如个人计算机中的</a:t>
            </a:r>
            <a:r>
              <a:rPr lang="en-US" altLang="zh-CN" sz="2400" b="1" dirty="0">
                <a:latin typeface="Times New Roman" panose="02020603050405020304" pitchFamily="18" charset="0"/>
                <a:ea typeface="+mn-ea"/>
                <a:cs typeface="Times New Roman" panose="02020603050405020304" pitchFamily="18" charset="0"/>
              </a:rPr>
              <a:t>BIOS</a:t>
            </a:r>
            <a:r>
              <a:rPr lang="zh-CN" altLang="en-US" sz="2400" b="1" dirty="0">
                <a:latin typeface="Times New Roman" panose="02020603050405020304" pitchFamily="18" charset="0"/>
                <a:ea typeface="+mn-ea"/>
                <a:cs typeface="Times New Roman" panose="02020603050405020304" pitchFamily="18" charset="0"/>
              </a:rPr>
              <a:t>。</a:t>
            </a:r>
            <a:endParaRPr lang="en-US" altLang="zh-CN" sz="2400" b="1" dirty="0">
              <a:latin typeface="Times New Roman" panose="02020603050405020304" pitchFamily="18" charset="0"/>
              <a:ea typeface="+mn-ea"/>
              <a:cs typeface="Times New Roman" panose="02020603050405020304" pitchFamily="18" charset="0"/>
            </a:endParaRPr>
          </a:p>
          <a:p>
            <a:pPr marL="457200" indent="-457200">
              <a:lnSpc>
                <a:spcPct val="150000"/>
              </a:lnSpc>
              <a:buFont typeface="Arial" panose="020B0604020202020204" pitchFamily="34" charset="0"/>
              <a:buChar char="•"/>
            </a:pPr>
            <a:endParaRPr lang="en-US" altLang="zh-CN" sz="2400" b="1" dirty="0">
              <a:latin typeface="Times New Roman" panose="02020603050405020304" pitchFamily="18" charset="0"/>
              <a:ea typeface="+mn-ea"/>
              <a:cs typeface="Times New Roman" panose="02020603050405020304" pitchFamily="18" charset="0"/>
            </a:endParaRPr>
          </a:p>
          <a:p>
            <a:pPr marL="457200" indent="-457200">
              <a:lnSpc>
                <a:spcPct val="150000"/>
              </a:lnSpc>
              <a:buFont typeface="Arial" panose="020B0604020202020204" pitchFamily="34" charset="0"/>
              <a:buChar char="•"/>
            </a:pPr>
            <a:endParaRPr lang="en-US" altLang="zh-CN" sz="2400" b="1" dirty="0">
              <a:latin typeface="Times New Roman" panose="02020603050405020304" pitchFamily="18" charset="0"/>
              <a:ea typeface="+mn-ea"/>
              <a:cs typeface="Times New Roman" panose="02020603050405020304" pitchFamily="18" charset="0"/>
            </a:endParaRPr>
          </a:p>
          <a:p>
            <a:pPr lvl="0">
              <a:lnSpc>
                <a:spcPct val="150000"/>
              </a:lnSpc>
            </a:pPr>
            <a:endParaRPr lang="zh-CN" altLang="en-US" sz="2800" b="1" dirty="0">
              <a:latin typeface="Times New Roman" panose="02020603050405020304" pitchFamily="18" charset="0"/>
              <a:ea typeface="+mn-ea"/>
              <a:cs typeface="Times New Roman" panose="02020603050405020304" pitchFamily="18" charset="0"/>
            </a:endParaRPr>
          </a:p>
        </p:txBody>
      </p:sp>
      <p:pic>
        <p:nvPicPr>
          <p:cNvPr id="4" name="图片 3">
            <a:extLst>
              <a:ext uri="{FF2B5EF4-FFF2-40B4-BE49-F238E27FC236}">
                <a16:creationId xmlns:a16="http://schemas.microsoft.com/office/drawing/2014/main" id="{0C3F0464-418F-424D-AFC3-EB7E03E29574}"/>
              </a:ext>
            </a:extLst>
          </p:cNvPr>
          <p:cNvPicPr>
            <a:picLocks noChangeAspect="1"/>
          </p:cNvPicPr>
          <p:nvPr/>
        </p:nvPicPr>
        <p:blipFill>
          <a:blip r:embed="rId4"/>
          <a:stretch>
            <a:fillRect/>
          </a:stretch>
        </p:blipFill>
        <p:spPr>
          <a:xfrm>
            <a:off x="1763688" y="2420888"/>
            <a:ext cx="5940152" cy="3962081"/>
          </a:xfrm>
          <a:prstGeom prst="rect">
            <a:avLst/>
          </a:prstGeom>
        </p:spPr>
      </p:pic>
      <p:sp>
        <p:nvSpPr>
          <p:cNvPr id="6" name="文本框 5">
            <a:extLst>
              <a:ext uri="{FF2B5EF4-FFF2-40B4-BE49-F238E27FC236}">
                <a16:creationId xmlns:a16="http://schemas.microsoft.com/office/drawing/2014/main" id="{446F8160-AE2F-4C2A-B811-0F872F9BB9E6}"/>
              </a:ext>
            </a:extLst>
          </p:cNvPr>
          <p:cNvSpPr txBox="1"/>
          <p:nvPr/>
        </p:nvSpPr>
        <p:spPr>
          <a:xfrm>
            <a:off x="3436142" y="6449558"/>
            <a:ext cx="2842096" cy="369332"/>
          </a:xfrm>
          <a:prstGeom prst="rect">
            <a:avLst/>
          </a:prstGeom>
          <a:noFill/>
        </p:spPr>
        <p:txBody>
          <a:bodyPr wrap="square" rtlCol="0">
            <a:spAutoFit/>
          </a:bodyPr>
          <a:lstStyle/>
          <a:p>
            <a:r>
              <a:rPr lang="zh-CN" altLang="en-US" b="1" dirty="0">
                <a:solidFill>
                  <a:srgbClr val="002060"/>
                </a:solidFill>
                <a:latin typeface="Times New Roman" panose="02020603050405020304" pitchFamily="18" charset="0"/>
                <a:cs typeface="Times New Roman" panose="02020603050405020304" pitchFamily="18" charset="0"/>
              </a:rPr>
              <a:t>图</a:t>
            </a:r>
            <a:r>
              <a:rPr lang="en-US" altLang="zh-CN" b="1" dirty="0">
                <a:solidFill>
                  <a:srgbClr val="002060"/>
                </a:solidFill>
                <a:latin typeface="Times New Roman" panose="02020603050405020304" pitchFamily="18" charset="0"/>
                <a:cs typeface="Times New Roman" panose="02020603050405020304" pitchFamily="18" charset="0"/>
              </a:rPr>
              <a:t>1.8 </a:t>
            </a:r>
            <a:r>
              <a:rPr lang="zh-CN" altLang="en-US" b="1" dirty="0">
                <a:solidFill>
                  <a:srgbClr val="002060"/>
                </a:solidFill>
                <a:latin typeface="Times New Roman" panose="02020603050405020304" pitchFamily="18" charset="0"/>
                <a:cs typeface="Times New Roman" panose="02020603050405020304" pitchFamily="18" charset="0"/>
              </a:rPr>
              <a:t>计算机中的固件</a:t>
            </a:r>
          </a:p>
        </p:txBody>
      </p:sp>
    </p:spTree>
    <p:extLst>
      <p:ext uri="{BB962C8B-B14F-4D97-AF65-F5344CB8AC3E}">
        <p14:creationId xmlns:p14="http://schemas.microsoft.com/office/powerpoint/2010/main" val="194692886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E21A39A-6FA1-4E95-A292-E7D3EE1E6FF4}"/>
              </a:ext>
            </a:extLst>
          </p:cNvPr>
          <p:cNvSpPr>
            <a:spLocks noGrp="1" noChangeArrowheads="1"/>
          </p:cNvSpPr>
          <p:nvPr>
            <p:ph type="title"/>
          </p:nvPr>
        </p:nvSpPr>
        <p:spPr>
          <a:xfrm>
            <a:off x="35496" y="754856"/>
            <a:ext cx="7543800" cy="704875"/>
          </a:xfrm>
        </p:spPr>
        <p:txBody>
          <a:bodyPr/>
          <a:lstStyle/>
          <a:p>
            <a:pPr algn="l" eaLnBrk="1" hangingPunct="1">
              <a:defRPr/>
            </a:pPr>
            <a:r>
              <a:rPr lang="en-US" altLang="zh-CN" sz="2800" dirty="0">
                <a:solidFill>
                  <a:srgbClr val="FF0000"/>
                </a:solidFill>
                <a:latin typeface="Times New Roman" panose="02020603050405020304" pitchFamily="18" charset="0"/>
                <a:ea typeface="+mn-ea"/>
                <a:cs typeface="Times New Roman" panose="02020603050405020304" pitchFamily="18" charset="0"/>
              </a:rPr>
              <a:t>1. </a:t>
            </a:r>
            <a:r>
              <a:rPr lang="zh-CN" altLang="en-US" sz="2800" dirty="0">
                <a:solidFill>
                  <a:srgbClr val="FF0000"/>
                </a:solidFill>
                <a:latin typeface="Times New Roman" panose="02020603050405020304" pitchFamily="18" charset="0"/>
                <a:ea typeface="+mn-ea"/>
                <a:cs typeface="Times New Roman" panose="02020603050405020304" pitchFamily="18" charset="0"/>
              </a:rPr>
              <a:t>计算机硬件系统</a:t>
            </a:r>
          </a:p>
        </p:txBody>
      </p:sp>
      <p:sp>
        <p:nvSpPr>
          <p:cNvPr id="68610" name="Rectangle 3"/>
          <p:cNvSpPr>
            <a:spLocks noGrp="1" noChangeArrowheads="1"/>
          </p:cNvSpPr>
          <p:nvPr>
            <p:ph type="body" sz="half" idx="1"/>
          </p:nvPr>
        </p:nvSpPr>
        <p:spPr>
          <a:xfrm>
            <a:off x="151511" y="1322406"/>
            <a:ext cx="6796753" cy="5092675"/>
          </a:xfrm>
        </p:spPr>
        <p:txBody>
          <a:bodyPr>
            <a:noAutofit/>
          </a:bodyPr>
          <a:lstStyle/>
          <a:p>
            <a:pPr>
              <a:lnSpc>
                <a:spcPct val="150000"/>
              </a:lnSpc>
              <a:buFont typeface="Arial" panose="020B0604020202020204" pitchFamily="34" charset="0"/>
              <a:buChar char="•"/>
            </a:pPr>
            <a:r>
              <a:rPr lang="zh-CN" altLang="en-US" sz="2000" b="1" dirty="0">
                <a:solidFill>
                  <a:srgbClr val="FF0000"/>
                </a:solidFill>
                <a:latin typeface="Times New Roman" panose="02020603050405020304" pitchFamily="18" charset="0"/>
                <a:cs typeface="Times New Roman" panose="02020603050405020304" pitchFamily="18" charset="0"/>
                <a:hlinkClick r:id="rId4"/>
              </a:rPr>
              <a:t>冯</a:t>
            </a:r>
            <a:r>
              <a:rPr lang="en-US" altLang="zh-CN" sz="2000" b="1" dirty="0">
                <a:solidFill>
                  <a:srgbClr val="FF0000"/>
                </a:solidFill>
                <a:latin typeface="Times New Roman" panose="02020603050405020304" pitchFamily="18" charset="0"/>
                <a:cs typeface="Times New Roman" panose="02020603050405020304" pitchFamily="18" charset="0"/>
                <a:hlinkClick r:id="rId4"/>
              </a:rPr>
              <a:t>·</a:t>
            </a:r>
            <a:r>
              <a:rPr lang="zh-CN" altLang="en-US" sz="2000" b="1" dirty="0">
                <a:solidFill>
                  <a:srgbClr val="FF0000"/>
                </a:solidFill>
                <a:latin typeface="Times New Roman" panose="02020603050405020304" pitchFamily="18" charset="0"/>
                <a:cs typeface="Times New Roman" panose="02020603050405020304" pitchFamily="18" charset="0"/>
                <a:hlinkClick r:id="rId4"/>
              </a:rPr>
              <a:t>诺依曼</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Von Neumann</a:t>
            </a:r>
            <a:r>
              <a:rPr lang="zh-CN" altLang="en-US" sz="2000" b="1" dirty="0">
                <a:solidFill>
                  <a:srgbClr val="FF0000"/>
                </a:solidFill>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数学家</a:t>
            </a:r>
            <a:r>
              <a:rPr lang="zh-CN" altLang="en-US" sz="2000" b="1" dirty="0">
                <a:latin typeface="Times New Roman" panose="02020603050405020304" pitchFamily="18" charset="0"/>
                <a:cs typeface="Times New Roman" panose="02020603050405020304" pitchFamily="18" charset="0"/>
              </a:rPr>
              <a:t>，因其在现代</a:t>
            </a:r>
            <a:r>
              <a:rPr lang="zh-CN" altLang="en-US" sz="2000" b="1" dirty="0">
                <a:solidFill>
                  <a:srgbClr val="FF0000"/>
                </a:solidFill>
                <a:latin typeface="Times New Roman" panose="02020603050405020304" pitchFamily="18" charset="0"/>
                <a:cs typeface="Times New Roman" panose="02020603050405020304" pitchFamily="18" charset="0"/>
              </a:rPr>
              <a:t>计算机、博弈论</a:t>
            </a:r>
            <a:r>
              <a:rPr lang="zh-CN" altLang="en-US" sz="2000" b="1" dirty="0">
                <a:latin typeface="Times New Roman" panose="02020603050405020304" pitchFamily="18" charset="0"/>
                <a:cs typeface="Times New Roman" panose="02020603050405020304" pitchFamily="18" charset="0"/>
              </a:rPr>
              <a:t>等领域的重大贡献成为</a:t>
            </a:r>
            <a:r>
              <a:rPr lang="zh-CN" altLang="en-US" sz="2000" b="1" dirty="0">
                <a:highlight>
                  <a:srgbClr val="FFFF00"/>
                </a:highlight>
                <a:latin typeface="Times New Roman" panose="02020603050405020304" pitchFamily="18" charset="0"/>
                <a:cs typeface="Times New Roman" panose="02020603050405020304" pitchFamily="18" charset="0"/>
              </a:rPr>
              <a:t>美国科学院院士</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altLang="zh-CN" sz="2000" b="1" dirty="0">
                <a:latin typeface="Times New Roman" panose="02020603050405020304" pitchFamily="18" charset="0"/>
                <a:cs typeface="Times New Roman" panose="02020603050405020304" pitchFamily="18" charset="0"/>
              </a:rPr>
              <a:t>1945</a:t>
            </a:r>
            <a:r>
              <a:rPr lang="zh-CN" altLang="en-US" sz="2000" b="1" dirty="0">
                <a:latin typeface="Times New Roman" panose="02020603050405020304" pitchFamily="18" charset="0"/>
                <a:cs typeface="Times New Roman" panose="02020603050405020304" pitchFamily="18" charset="0"/>
              </a:rPr>
              <a:t>提出“离散变量自动电子计算机方案</a:t>
            </a:r>
            <a:r>
              <a:rPr lang="en-US" altLang="zh-CN" sz="2000" b="1" dirty="0">
                <a:latin typeface="Times New Roman" panose="02020603050405020304" pitchFamily="18" charset="0"/>
                <a:cs typeface="Times New Roman" panose="02020603050405020304" pitchFamily="18" charset="0"/>
              </a:rPr>
              <a:t>(EDVAC)</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被称为</a:t>
            </a:r>
            <a:r>
              <a:rPr lang="zh-CN" altLang="en-US" sz="2000" b="1" dirty="0">
                <a:highlight>
                  <a:srgbClr val="FFFF00"/>
                </a:highlight>
                <a:latin typeface="Times New Roman" panose="02020603050405020304" pitchFamily="18" charset="0"/>
                <a:cs typeface="Times New Roman" panose="02020603050405020304" pitchFamily="18" charset="0"/>
              </a:rPr>
              <a:t>“计算机之父”</a:t>
            </a:r>
            <a:r>
              <a:rPr lang="zh-CN" altLang="en-US" sz="2000" b="1" dirty="0">
                <a:latin typeface="Times New Roman" panose="02020603050405020304" pitchFamily="18" charset="0"/>
                <a:cs typeface="Times New Roman" panose="02020603050405020304" pitchFamily="18" charset="0"/>
              </a:rPr>
              <a:t>，该方案至今仍为计算机设计者所遵循。</a:t>
            </a:r>
            <a:r>
              <a:rPr lang="zh-CN" altLang="zh-CN" sz="2000" b="1" dirty="0">
                <a:solidFill>
                  <a:srgbClr val="0000FF"/>
                </a:solidFill>
                <a:latin typeface="Times New Roman" panose="02020603050405020304" pitchFamily="18" charset="0"/>
                <a:cs typeface="Times New Roman" panose="02020603050405020304" pitchFamily="18" charset="0"/>
              </a:rPr>
              <a:t>按照该理论制成的计算机叫</a:t>
            </a:r>
            <a:r>
              <a:rPr lang="zh-CN" altLang="en-US" sz="2000" b="1" dirty="0">
                <a:solidFill>
                  <a:srgbClr val="0000FF"/>
                </a:solidFill>
                <a:latin typeface="Times New Roman" panose="02020603050405020304" pitchFamily="18" charset="0"/>
                <a:cs typeface="Times New Roman" panose="02020603050405020304" pitchFamily="18" charset="0"/>
              </a:rPr>
              <a:t>诺依曼体系结构的计算机</a:t>
            </a:r>
            <a:r>
              <a:rPr lang="zh-CN" altLang="en-US" sz="2000" b="1" dirty="0">
                <a:latin typeface="Times New Roman" panose="02020603050405020304" pitchFamily="18" charset="0"/>
                <a:cs typeface="Times New Roman" panose="02020603050405020304" pitchFamily="18" charset="0"/>
              </a:rPr>
              <a:t>，简称</a:t>
            </a:r>
            <a:r>
              <a:rPr lang="zh-CN" altLang="en-US" sz="2000" b="1" dirty="0">
                <a:solidFill>
                  <a:srgbClr val="FE1806"/>
                </a:solidFill>
                <a:latin typeface="Times New Roman" panose="02020603050405020304" pitchFamily="18" charset="0"/>
                <a:cs typeface="Times New Roman" panose="02020603050405020304" pitchFamily="18" charset="0"/>
              </a:rPr>
              <a:t>诺依曼计算机</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eaLnBrk="1" hangingPunct="1">
              <a:lnSpc>
                <a:spcPct val="150000"/>
              </a:lnSpc>
              <a:buFont typeface="Arial" panose="020B0604020202020204" pitchFamily="34" charset="0"/>
              <a:buChar char="•"/>
            </a:pPr>
            <a:endParaRPr lang="en-US" altLang="zh-CN" sz="2000" b="1" dirty="0">
              <a:latin typeface="Times New Roman" panose="02020603050405020304" pitchFamily="18" charset="0"/>
              <a:cs typeface="Times New Roman" panose="02020603050405020304" pitchFamily="18" charset="0"/>
            </a:endParaRPr>
          </a:p>
        </p:txBody>
      </p:sp>
      <p:graphicFrame>
        <p:nvGraphicFramePr>
          <p:cNvPr id="103428" name="Object 4"/>
          <p:cNvGraphicFramePr>
            <a:graphicFrameLocks noGrp="1"/>
          </p:cNvGraphicFramePr>
          <p:nvPr>
            <p:ph sz="half" idx="2"/>
            <p:extLst>
              <p:ext uri="{D42A27DB-BD31-4B8C-83A1-F6EECF244321}">
                <p14:modId xmlns:p14="http://schemas.microsoft.com/office/powerpoint/2010/main" val="4235150137"/>
              </p:ext>
            </p:extLst>
          </p:nvPr>
        </p:nvGraphicFramePr>
        <p:xfrm>
          <a:off x="7084246" y="892764"/>
          <a:ext cx="1639079" cy="1881187"/>
        </p:xfrm>
        <a:graphic>
          <a:graphicData uri="http://schemas.openxmlformats.org/presentationml/2006/ole">
            <mc:AlternateContent xmlns:mc="http://schemas.openxmlformats.org/markup-compatibility/2006">
              <mc:Choice xmlns:v="urn:schemas-microsoft-com:vml" Requires="v">
                <p:oleObj name="Image" r:id="rId5" imgW="2742857" imgH="3523810" progId="Photoshop.Image.3">
                  <p:embed/>
                </p:oleObj>
              </mc:Choice>
              <mc:Fallback>
                <p:oleObj name="Image" r:id="rId5" imgW="2742857" imgH="3523810" progId="Photoshop.Image.3">
                  <p:embed/>
                  <p:pic>
                    <p:nvPicPr>
                      <p:cNvPr id="103428"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4246" y="892764"/>
                        <a:ext cx="1639079" cy="1881187"/>
                      </a:xfrm>
                      <a:prstGeom prst="rect">
                        <a:avLst/>
                      </a:prstGeom>
                      <a:noFill/>
                      <a:ln>
                        <a:noFill/>
                      </a:ln>
                      <a:effectLst/>
                    </p:spPr>
                  </p:pic>
                </p:oleObj>
              </mc:Fallback>
            </mc:AlternateContent>
          </a:graphicData>
        </a:graphic>
      </p:graphicFrame>
      <p:sp>
        <p:nvSpPr>
          <p:cNvPr id="68612" name="Rectangle 5"/>
          <p:cNvSpPr>
            <a:spLocks noChangeArrowheads="1"/>
          </p:cNvSpPr>
          <p:nvPr/>
        </p:nvSpPr>
        <p:spPr bwMode="ltGray">
          <a:xfrm>
            <a:off x="6424908" y="3021877"/>
            <a:ext cx="27432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ea typeface="楷体_GB2312" pitchFamily="49" charset="-122"/>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ea typeface="楷体_GB2312" pitchFamily="49" charset="-122"/>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ea typeface="楷体_GB2312" pitchFamily="49" charset="-122"/>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ea typeface="楷体_GB2312" pitchFamily="49" charset="-122"/>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ea typeface="楷体_GB2312" pitchFamily="49" charset="-122"/>
              </a:defRPr>
            </a:lvl9pPr>
          </a:lstStyle>
          <a:p>
            <a:pPr algn="ctr" eaLnBrk="1" hangingPunct="1">
              <a:spcBef>
                <a:spcPct val="0"/>
              </a:spcBef>
              <a:buClrTx/>
              <a:buSzTx/>
              <a:buFontTx/>
              <a:buNone/>
            </a:pPr>
            <a:endParaRPr lang="en-US" altLang="zh-CN" sz="2400" dirty="0">
              <a:solidFill>
                <a:srgbClr val="FE1806"/>
              </a:solidFill>
              <a:latin typeface="Times New Roman" panose="02020603050405020304" pitchFamily="18" charset="0"/>
              <a:ea typeface="宋体" panose="02010600030101010101" pitchFamily="2" charset="-122"/>
            </a:endParaRPr>
          </a:p>
        </p:txBody>
      </p:sp>
      <p:sp>
        <p:nvSpPr>
          <p:cNvPr id="2" name="Rectangle 2">
            <a:extLst>
              <a:ext uri="{FF2B5EF4-FFF2-40B4-BE49-F238E27FC236}">
                <a16:creationId xmlns:a16="http://schemas.microsoft.com/office/drawing/2014/main" id="{08A898D1-18FE-4FC5-3797-7A97B818E273}"/>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10" name="文本框 9">
            <a:extLst>
              <a:ext uri="{FF2B5EF4-FFF2-40B4-BE49-F238E27FC236}">
                <a16:creationId xmlns:a16="http://schemas.microsoft.com/office/drawing/2014/main" id="{539C9872-7EFE-4BB4-BD1D-C83BBBE26114}"/>
              </a:ext>
            </a:extLst>
          </p:cNvPr>
          <p:cNvSpPr txBox="1"/>
          <p:nvPr/>
        </p:nvSpPr>
        <p:spPr>
          <a:xfrm>
            <a:off x="6856849" y="2818608"/>
            <a:ext cx="2251655" cy="1200329"/>
          </a:xfrm>
          <a:prstGeom prst="rect">
            <a:avLst/>
          </a:prstGeom>
          <a:noFill/>
        </p:spPr>
        <p:txBody>
          <a:bodyPr wrap="square" rtlCol="0">
            <a:spAutoFit/>
          </a:bodyPr>
          <a:lstStyle/>
          <a:p>
            <a:pPr algn="ctr"/>
            <a:r>
              <a:rPr lang="zh-CN" altLang="en-US" b="1" dirty="0">
                <a:solidFill>
                  <a:srgbClr val="002060"/>
                </a:solidFill>
                <a:latin typeface="Times New Roman" panose="02020603050405020304" pitchFamily="18" charset="0"/>
                <a:cs typeface="Times New Roman" panose="02020603050405020304" pitchFamily="18" charset="0"/>
              </a:rPr>
              <a:t>图</a:t>
            </a:r>
            <a:r>
              <a:rPr lang="en-US" altLang="zh-CN" b="1" dirty="0">
                <a:solidFill>
                  <a:srgbClr val="002060"/>
                </a:solidFill>
                <a:latin typeface="Times New Roman" panose="02020603050405020304" pitchFamily="18" charset="0"/>
                <a:cs typeface="Times New Roman" panose="02020603050405020304" pitchFamily="18" charset="0"/>
              </a:rPr>
              <a:t>1.9 </a:t>
            </a:r>
          </a:p>
          <a:p>
            <a:pPr algn="ctr"/>
            <a:r>
              <a:rPr lang="en-US" altLang="zh-CN" b="1" dirty="0">
                <a:solidFill>
                  <a:srgbClr val="002060"/>
                </a:solidFill>
                <a:latin typeface="Times New Roman" panose="02020603050405020304" pitchFamily="18" charset="0"/>
                <a:cs typeface="Times New Roman" panose="02020603050405020304" pitchFamily="18" charset="0"/>
              </a:rPr>
              <a:t>John Von Neumann</a:t>
            </a:r>
          </a:p>
          <a:p>
            <a:pPr algn="ctr"/>
            <a:r>
              <a:rPr lang="zh-CN" altLang="en-US" b="1" dirty="0">
                <a:solidFill>
                  <a:srgbClr val="002060"/>
                </a:solidFill>
                <a:latin typeface="Times New Roman" panose="02020603050405020304" pitchFamily="18" charset="0"/>
                <a:cs typeface="Times New Roman" panose="02020603050405020304" pitchFamily="18" charset="0"/>
              </a:rPr>
              <a:t>冯</a:t>
            </a:r>
            <a:r>
              <a:rPr lang="en-US" altLang="zh-CN" b="1" dirty="0">
                <a:solidFill>
                  <a:srgbClr val="002060"/>
                </a:solidFill>
                <a:latin typeface="Times New Roman" panose="02020603050405020304" pitchFamily="18" charset="0"/>
                <a:cs typeface="Times New Roman" panose="02020603050405020304" pitchFamily="18" charset="0"/>
              </a:rPr>
              <a:t>·</a:t>
            </a:r>
            <a:r>
              <a:rPr lang="zh-CN" altLang="en-US" b="1" dirty="0">
                <a:solidFill>
                  <a:srgbClr val="002060"/>
                </a:solidFill>
                <a:latin typeface="Times New Roman" panose="02020603050405020304" pitchFamily="18" charset="0"/>
                <a:cs typeface="Times New Roman" panose="02020603050405020304" pitchFamily="18" charset="0"/>
              </a:rPr>
              <a:t>诺依曼</a:t>
            </a:r>
            <a:endParaRPr lang="en-US" altLang="zh-CN" b="1" dirty="0">
              <a:solidFill>
                <a:srgbClr val="002060"/>
              </a:solidFill>
              <a:latin typeface="Times New Roman" panose="02020603050405020304" pitchFamily="18" charset="0"/>
              <a:cs typeface="Times New Roman" panose="02020603050405020304" pitchFamily="18" charset="0"/>
            </a:endParaRPr>
          </a:p>
          <a:p>
            <a:pPr algn="ctr"/>
            <a:r>
              <a:rPr lang="en-US" altLang="zh-CN" b="1" dirty="0">
                <a:solidFill>
                  <a:srgbClr val="002060"/>
                </a:solidFill>
                <a:latin typeface="Times New Roman" panose="02020603050405020304" pitchFamily="18" charset="0"/>
                <a:cs typeface="Times New Roman" panose="02020603050405020304" pitchFamily="18" charset="0"/>
              </a:rPr>
              <a:t>(1903-1957)</a:t>
            </a:r>
            <a:endParaRPr lang="zh-CN" altLang="en-US" b="1" dirty="0">
              <a:solidFill>
                <a:srgbClr val="002060"/>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BB1B2FDE-9232-4E29-9B77-9BB263CA17F1}"/>
              </a:ext>
            </a:extLst>
          </p:cNvPr>
          <p:cNvSpPr txBox="1"/>
          <p:nvPr/>
        </p:nvSpPr>
        <p:spPr>
          <a:xfrm>
            <a:off x="168292" y="4307208"/>
            <a:ext cx="8824197" cy="2433230"/>
          </a:xfrm>
          <a:prstGeom prst="rect">
            <a:avLst/>
          </a:prstGeom>
          <a:solidFill>
            <a:schemeClr val="accent5"/>
          </a:solidFill>
        </p:spPr>
        <p:txBody>
          <a:bodyPr wrap="square">
            <a:spAutoFit/>
          </a:bodyPr>
          <a:lstStyle/>
          <a:p>
            <a:pPr>
              <a:lnSpc>
                <a:spcPct val="150000"/>
              </a:lnSpc>
            </a:pPr>
            <a:r>
              <a:rPr lang="zh-CN" altLang="en-US" sz="2400" b="1" dirty="0">
                <a:solidFill>
                  <a:srgbClr val="0000FF"/>
                </a:solidFill>
                <a:latin typeface="+mn-lt"/>
                <a:ea typeface="+mn-ea"/>
              </a:rPr>
              <a:t>冯</a:t>
            </a:r>
            <a:r>
              <a:rPr lang="en-US" altLang="zh-CN" sz="2400" b="1" dirty="0">
                <a:solidFill>
                  <a:srgbClr val="0000FF"/>
                </a:solidFill>
                <a:latin typeface="+mn-lt"/>
                <a:ea typeface="+mn-ea"/>
              </a:rPr>
              <a:t>·</a:t>
            </a:r>
            <a:r>
              <a:rPr lang="zh-CN" altLang="en-US" sz="2400" b="1" dirty="0">
                <a:solidFill>
                  <a:srgbClr val="0000FF"/>
                </a:solidFill>
                <a:latin typeface="+mn-lt"/>
                <a:ea typeface="+mn-ea"/>
              </a:rPr>
              <a:t>诺依曼计算机的主要设计</a:t>
            </a:r>
            <a:r>
              <a:rPr lang="zh-CN" altLang="en-US" sz="2400" b="1" i="0" kern="1200" dirty="0">
                <a:solidFill>
                  <a:srgbClr val="0000FF"/>
                </a:solidFill>
                <a:effectLst/>
                <a:latin typeface="+mn-lt"/>
                <a:ea typeface="+mn-ea"/>
              </a:rPr>
              <a:t>思想</a:t>
            </a:r>
            <a:endParaRPr lang="en-US" altLang="zh-CN" sz="2400" b="1" i="0" kern="1200" dirty="0">
              <a:solidFill>
                <a:srgbClr val="0000FF"/>
              </a:solidFill>
              <a:effectLst/>
              <a:latin typeface="+mn-lt"/>
              <a:ea typeface="+mn-ea"/>
            </a:endParaRPr>
          </a:p>
          <a:p>
            <a:pPr marL="342900" indent="-342900">
              <a:lnSpc>
                <a:spcPct val="150000"/>
              </a:lnSpc>
              <a:buFont typeface="Arial" panose="020B0604020202020204" pitchFamily="34" charset="0"/>
              <a:buChar char="•"/>
            </a:pPr>
            <a:r>
              <a:rPr lang="zh-CN" altLang="en-US" sz="2000" b="1" dirty="0">
                <a:solidFill>
                  <a:srgbClr val="FF0000"/>
                </a:solidFill>
                <a:latin typeface="+mn-lt"/>
                <a:ea typeface="+mn-ea"/>
              </a:rPr>
              <a:t>存储程序</a:t>
            </a:r>
            <a:r>
              <a:rPr lang="zh-CN" altLang="en-US" sz="2000" b="1" dirty="0">
                <a:latin typeface="+mn-lt"/>
                <a:ea typeface="+mn-ea"/>
              </a:rPr>
              <a:t>：将解题的步骤编制成程序，然后将</a:t>
            </a:r>
            <a:r>
              <a:rPr lang="zh-CN" altLang="en-US" sz="2000" b="1" dirty="0">
                <a:solidFill>
                  <a:srgbClr val="FF0000"/>
                </a:solidFill>
                <a:latin typeface="+mn-lt"/>
                <a:ea typeface="+mn-ea"/>
              </a:rPr>
              <a:t>程序</a:t>
            </a:r>
            <a:r>
              <a:rPr lang="zh-CN" altLang="en-US" sz="2000" b="1" dirty="0">
                <a:latin typeface="+mn-lt"/>
                <a:ea typeface="+mn-ea"/>
              </a:rPr>
              <a:t>和运行程序所需要的</a:t>
            </a:r>
            <a:r>
              <a:rPr lang="zh-CN" altLang="en-US" sz="2000" b="1" dirty="0">
                <a:solidFill>
                  <a:srgbClr val="FF0000"/>
                </a:solidFill>
                <a:latin typeface="+mn-lt"/>
                <a:ea typeface="+mn-ea"/>
              </a:rPr>
              <a:t>数据</a:t>
            </a:r>
            <a:r>
              <a:rPr lang="zh-CN" altLang="en-US" sz="2000" b="1" dirty="0">
                <a:latin typeface="+mn-lt"/>
                <a:ea typeface="+mn-ea"/>
              </a:rPr>
              <a:t>以</a:t>
            </a:r>
            <a:r>
              <a:rPr lang="zh-CN" altLang="en-US" sz="2000" b="1" dirty="0">
                <a:highlight>
                  <a:srgbClr val="FFFF00"/>
                </a:highlight>
                <a:latin typeface="+mn-lt"/>
                <a:ea typeface="+mn-ea"/>
              </a:rPr>
              <a:t>二进制的形式</a:t>
            </a:r>
            <a:r>
              <a:rPr lang="zh-CN" altLang="en-US" sz="2000" b="1" dirty="0">
                <a:latin typeface="+mn-lt"/>
                <a:ea typeface="+mn-ea"/>
              </a:rPr>
              <a:t>放到</a:t>
            </a:r>
            <a:r>
              <a:rPr lang="zh-CN" altLang="en-US" sz="2000" b="1" dirty="0">
                <a:highlight>
                  <a:srgbClr val="FFFF00"/>
                </a:highlight>
                <a:latin typeface="+mn-lt"/>
                <a:ea typeface="+mn-ea"/>
              </a:rPr>
              <a:t>存储器</a:t>
            </a:r>
            <a:r>
              <a:rPr lang="zh-CN" altLang="en-US" sz="2000" b="1" dirty="0">
                <a:latin typeface="+mn-lt"/>
                <a:ea typeface="+mn-ea"/>
              </a:rPr>
              <a:t>中，方便执行。</a:t>
            </a:r>
            <a:endParaRPr lang="en-US" altLang="zh-CN" sz="2000" b="1" dirty="0">
              <a:latin typeface="+mn-lt"/>
              <a:ea typeface="+mn-ea"/>
            </a:endParaRPr>
          </a:p>
          <a:p>
            <a:pPr marL="342900" indent="-342900">
              <a:lnSpc>
                <a:spcPct val="150000"/>
              </a:lnSpc>
              <a:buFont typeface="Arial" panose="020B0604020202020204" pitchFamily="34" charset="0"/>
              <a:buChar char="•"/>
            </a:pPr>
            <a:r>
              <a:rPr lang="zh-CN" altLang="en-US" sz="2000" b="1" dirty="0">
                <a:solidFill>
                  <a:srgbClr val="FF0000"/>
                </a:solidFill>
                <a:latin typeface="+mn-lt"/>
                <a:ea typeface="+mn-ea"/>
              </a:rPr>
              <a:t>程序控制</a:t>
            </a:r>
            <a:r>
              <a:rPr lang="zh-CN" altLang="en-US" sz="2000" b="1" dirty="0">
                <a:latin typeface="+mn-lt"/>
                <a:ea typeface="+mn-ea"/>
              </a:rPr>
              <a:t>：计算机中的</a:t>
            </a:r>
            <a:r>
              <a:rPr lang="zh-CN" altLang="en-US" sz="2000" b="1" dirty="0">
                <a:highlight>
                  <a:srgbClr val="FFFF00"/>
                </a:highlight>
                <a:latin typeface="+mn-lt"/>
                <a:ea typeface="+mn-ea"/>
              </a:rPr>
              <a:t>控制器</a:t>
            </a:r>
            <a:r>
              <a:rPr lang="zh-CN" altLang="en-US" sz="2000" b="1" dirty="0">
                <a:solidFill>
                  <a:srgbClr val="FF0000"/>
                </a:solidFill>
                <a:highlight>
                  <a:srgbClr val="FFFF00"/>
                </a:highlight>
                <a:latin typeface="+mn-lt"/>
                <a:ea typeface="+mn-ea"/>
              </a:rPr>
              <a:t>逐条</a:t>
            </a:r>
            <a:r>
              <a:rPr lang="zh-CN" altLang="en-US" sz="2000" b="1" dirty="0">
                <a:highlight>
                  <a:srgbClr val="FFFF00"/>
                </a:highlight>
                <a:latin typeface="+mn-lt"/>
                <a:ea typeface="+mn-ea"/>
              </a:rPr>
              <a:t>取出存储器中的</a:t>
            </a:r>
            <a:r>
              <a:rPr lang="zh-CN" altLang="en-US" sz="2000" b="1" dirty="0">
                <a:solidFill>
                  <a:srgbClr val="FF0000"/>
                </a:solidFill>
                <a:highlight>
                  <a:srgbClr val="FFFF00"/>
                </a:highlight>
                <a:latin typeface="+mn-lt"/>
                <a:ea typeface="+mn-ea"/>
              </a:rPr>
              <a:t>指令</a:t>
            </a:r>
            <a:r>
              <a:rPr lang="zh-CN" altLang="en-US" sz="2000" b="1" dirty="0">
                <a:latin typeface="+mn-lt"/>
                <a:ea typeface="+mn-ea"/>
              </a:rPr>
              <a:t>，并按</a:t>
            </a:r>
            <a:r>
              <a:rPr lang="zh-CN" altLang="en-US" sz="2000" b="1" dirty="0">
                <a:highlight>
                  <a:srgbClr val="FFFF00"/>
                </a:highlight>
                <a:latin typeface="+mn-lt"/>
                <a:ea typeface="+mn-ea"/>
              </a:rPr>
              <a:t>顺序执行</a:t>
            </a:r>
            <a:r>
              <a:rPr lang="zh-CN" altLang="en-US" sz="2000" b="1" dirty="0">
                <a:latin typeface="+mn-lt"/>
                <a:ea typeface="+mn-ea"/>
              </a:rPr>
              <a:t>，</a:t>
            </a:r>
            <a:r>
              <a:rPr lang="zh-CN" altLang="en-US" sz="2000" b="1" dirty="0">
                <a:highlight>
                  <a:srgbClr val="FFFF00"/>
                </a:highlight>
                <a:latin typeface="+mn-lt"/>
                <a:ea typeface="+mn-ea"/>
              </a:rPr>
              <a:t>控制各功能部件进行相应的操作</a:t>
            </a:r>
            <a:r>
              <a:rPr lang="zh-CN" altLang="en-US" sz="2000" b="1" dirty="0">
                <a:latin typeface="+mn-lt"/>
                <a:ea typeface="+mn-ea"/>
              </a:rPr>
              <a:t>，完成数据的加工处理。</a:t>
            </a:r>
            <a:endParaRPr lang="en-US" altLang="zh-CN" sz="2000" b="1" dirty="0">
              <a:latin typeface="+mn-lt"/>
              <a:ea typeface="+mn-ea"/>
            </a:endParaRPr>
          </a:p>
        </p:txBody>
      </p:sp>
    </p:spTree>
    <p:extLst>
      <p:ext uri="{BB962C8B-B14F-4D97-AF65-F5344CB8AC3E}">
        <p14:creationId xmlns:p14="http://schemas.microsoft.com/office/powerpoint/2010/main" val="36845079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barn(inVertical)">
                                      <p:cBhvr>
                                        <p:cTn id="7" dur="500"/>
                                        <p:tgtEl>
                                          <p:spTgt spid="103428"/>
                                        </p:tgtEl>
                                      </p:cBhvr>
                                    </p:animEffect>
                                  </p:childTnLst>
                                </p:cTn>
                              </p:par>
                              <p:par>
                                <p:cTn id="8" presetID="16" presetClass="entr" presetSubtype="21" fill="hold" grpId="0" nodeType="withEffect" nodePh="1">
                                  <p:stCondLst>
                                    <p:cond delay="0"/>
                                  </p:stCondLst>
                                  <p:endCondLst>
                                    <p:cond evt="begin" delay="0">
                                      <p:tn val="8"/>
                                    </p:cond>
                                  </p:endCondLst>
                                  <p:childTnLst>
                                    <p:set>
                                      <p:cBhvr>
                                        <p:cTn id="9" dur="1" fill="hold">
                                          <p:stCondLst>
                                            <p:cond delay="0"/>
                                          </p:stCondLst>
                                        </p:cTn>
                                        <p:tgtEl>
                                          <p:spTgt spid="68612"/>
                                        </p:tgtEl>
                                        <p:attrNameLst>
                                          <p:attrName>style.visibility</p:attrName>
                                        </p:attrNameLst>
                                      </p:cBhvr>
                                      <p:to>
                                        <p:strVal val="visible"/>
                                      </p:to>
                                    </p:set>
                                    <p:animEffect transition="in" filter="barn(inVertical)">
                                      <p:cBhvr>
                                        <p:cTn id="10" dur="500"/>
                                        <p:tgtEl>
                                          <p:spTgt spid="6861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68610">
                                            <p:txEl>
                                              <p:pRg st="0" end="0"/>
                                            </p:txEl>
                                          </p:spTgt>
                                        </p:tgtEl>
                                        <p:attrNameLst>
                                          <p:attrName>style.visibility</p:attrName>
                                        </p:attrNameLst>
                                      </p:cBhvr>
                                      <p:to>
                                        <p:strVal val="visible"/>
                                      </p:to>
                                    </p:set>
                                    <p:animEffect transition="in" filter="barn(inVertical)">
                                      <p:cBhvr>
                                        <p:cTn id="15" dur="500"/>
                                        <p:tgtEl>
                                          <p:spTgt spid="6861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68610">
                                            <p:txEl>
                                              <p:pRg st="1" end="1"/>
                                            </p:txEl>
                                          </p:spTgt>
                                        </p:tgtEl>
                                        <p:attrNameLst>
                                          <p:attrName>style.visibility</p:attrName>
                                        </p:attrNameLst>
                                      </p:cBhvr>
                                      <p:to>
                                        <p:strVal val="visible"/>
                                      </p:to>
                                    </p:set>
                                    <p:animEffect transition="in" filter="barn(inVertical)">
                                      <p:cBhvr>
                                        <p:cTn id="20" dur="500"/>
                                        <p:tgtEl>
                                          <p:spTgt spid="68610">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25" dur="500"/>
                                        <p:tgtEl>
                                          <p:spTgt spid="1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2">
                                            <p:txEl>
                                              <p:pRg st="1" end="1"/>
                                            </p:txEl>
                                          </p:spTgt>
                                        </p:tgtEl>
                                        <p:attrNameLst>
                                          <p:attrName>style.visibility</p:attrName>
                                        </p:attrNameLst>
                                      </p:cBhvr>
                                      <p:to>
                                        <p:strVal val="visible"/>
                                      </p:to>
                                    </p:set>
                                    <p:animEffect transition="in" filter="randombar(horizontal)">
                                      <p:cBhvr>
                                        <p:cTn id="30" dur="500"/>
                                        <p:tgtEl>
                                          <p:spTgt spid="1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35"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P spid="12"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a:extLst>
              <a:ext uri="{FF2B5EF4-FFF2-40B4-BE49-F238E27FC236}">
                <a16:creationId xmlns:a16="http://schemas.microsoft.com/office/drawing/2014/main" id="{0AA36FBE-20DD-4C73-895D-D047BD496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9121B1C9-AF7F-40B3-53BE-246123F2DC9C}"/>
              </a:ext>
            </a:extLst>
          </p:cNvPr>
          <p:cNvSpPr txBox="1"/>
          <p:nvPr/>
        </p:nvSpPr>
        <p:spPr>
          <a:xfrm>
            <a:off x="85065" y="778084"/>
            <a:ext cx="8879423" cy="3075073"/>
          </a:xfrm>
          <a:prstGeom prst="rect">
            <a:avLst/>
          </a:prstGeom>
          <a:noFill/>
        </p:spPr>
        <p:txBody>
          <a:bodyPr wrap="square">
            <a:spAutoFit/>
          </a:bodyPr>
          <a:lstStyle/>
          <a:p>
            <a:pPr algn="just">
              <a:lnSpc>
                <a:spcPct val="150000"/>
              </a:lnSpc>
            </a:pPr>
            <a:r>
              <a:rPr lang="zh-CN" altLang="en-US" sz="2200" b="1" dirty="0">
                <a:latin typeface="Times New Roman" panose="02020603050405020304" pitchFamily="18" charset="0"/>
                <a:ea typeface="+mn-ea"/>
                <a:cs typeface="Times New Roman" panose="02020603050405020304" pitchFamily="18" charset="0"/>
              </a:rPr>
              <a:t>按照冯</a:t>
            </a:r>
            <a:r>
              <a:rPr lang="en-US" altLang="zh-CN" sz="2200" b="1" dirty="0">
                <a:latin typeface="Times New Roman" panose="02020603050405020304" pitchFamily="18" charset="0"/>
                <a:ea typeface="+mn-ea"/>
                <a:cs typeface="Times New Roman" panose="02020603050405020304" pitchFamily="18" charset="0"/>
              </a:rPr>
              <a:t>·</a:t>
            </a:r>
            <a:r>
              <a:rPr lang="zh-CN" altLang="en-US" sz="2200" b="1" dirty="0">
                <a:latin typeface="Times New Roman" panose="02020603050405020304" pitchFamily="18" charset="0"/>
                <a:ea typeface="+mn-ea"/>
                <a:cs typeface="Times New Roman" panose="02020603050405020304" pitchFamily="18" charset="0"/>
              </a:rPr>
              <a:t>诺依曼的设计思想，</a:t>
            </a:r>
            <a:r>
              <a:rPr lang="zh-CN" altLang="en-US" sz="2200" b="1" dirty="0">
                <a:solidFill>
                  <a:srgbClr val="0000FF"/>
                </a:solidFill>
                <a:latin typeface="Times New Roman" panose="02020603050405020304" pitchFamily="18" charset="0"/>
                <a:ea typeface="+mn-ea"/>
                <a:cs typeface="Times New Roman" panose="02020603050405020304" pitchFamily="18" charset="0"/>
              </a:rPr>
              <a:t>计算机的硬件系统</a:t>
            </a:r>
            <a:r>
              <a:rPr lang="zh-CN" altLang="en-US" sz="2200" b="1" dirty="0">
                <a:latin typeface="Times New Roman" panose="02020603050405020304" pitchFamily="18" charset="0"/>
                <a:ea typeface="+mn-ea"/>
                <a:cs typeface="Times New Roman" panose="02020603050405020304" pitchFamily="18" charset="0"/>
              </a:rPr>
              <a:t>包含</a:t>
            </a:r>
            <a:r>
              <a:rPr lang="zh-CN" altLang="en-US" sz="2200" b="1" dirty="0">
                <a:solidFill>
                  <a:srgbClr val="0000FF"/>
                </a:solidFill>
                <a:latin typeface="Times New Roman" panose="02020603050405020304" pitchFamily="18" charset="0"/>
                <a:ea typeface="+mn-ea"/>
                <a:cs typeface="Times New Roman" panose="02020603050405020304" pitchFamily="18" charset="0"/>
              </a:rPr>
              <a:t>运算器</a:t>
            </a:r>
            <a:r>
              <a:rPr lang="zh-CN" altLang="en-US" sz="2200" b="1" dirty="0">
                <a:latin typeface="Times New Roman" panose="02020603050405020304" pitchFamily="18" charset="0"/>
                <a:ea typeface="+mn-ea"/>
                <a:cs typeface="Times New Roman" panose="02020603050405020304" pitchFamily="18" charset="0"/>
              </a:rPr>
              <a:t>、</a:t>
            </a:r>
            <a:r>
              <a:rPr lang="zh-CN" altLang="en-US" sz="2200" b="1" dirty="0">
                <a:solidFill>
                  <a:srgbClr val="0000FF"/>
                </a:solidFill>
                <a:latin typeface="Times New Roman" panose="02020603050405020304" pitchFamily="18" charset="0"/>
                <a:ea typeface="+mn-ea"/>
                <a:cs typeface="Times New Roman" panose="02020603050405020304" pitchFamily="18" charset="0"/>
              </a:rPr>
              <a:t>控制器</a:t>
            </a:r>
            <a:r>
              <a:rPr lang="zh-CN" altLang="en-US" sz="2200" b="1" dirty="0">
                <a:latin typeface="Times New Roman" panose="02020603050405020304" pitchFamily="18" charset="0"/>
                <a:ea typeface="+mn-ea"/>
                <a:cs typeface="Times New Roman" panose="02020603050405020304" pitchFamily="18" charset="0"/>
              </a:rPr>
              <a:t>、</a:t>
            </a:r>
            <a:r>
              <a:rPr lang="zh-CN" altLang="en-US" sz="2200" b="1" dirty="0">
                <a:solidFill>
                  <a:srgbClr val="0000FF"/>
                </a:solidFill>
                <a:latin typeface="Times New Roman" panose="02020603050405020304" pitchFamily="18" charset="0"/>
                <a:ea typeface="+mn-ea"/>
                <a:cs typeface="Times New Roman" panose="02020603050405020304" pitchFamily="18" charset="0"/>
              </a:rPr>
              <a:t>存储器</a:t>
            </a:r>
            <a:r>
              <a:rPr lang="zh-CN" altLang="en-US" sz="2200" b="1" dirty="0">
                <a:latin typeface="Times New Roman" panose="02020603050405020304" pitchFamily="18" charset="0"/>
                <a:ea typeface="+mn-ea"/>
                <a:cs typeface="Times New Roman" panose="02020603050405020304" pitchFamily="18" charset="0"/>
              </a:rPr>
              <a:t>、</a:t>
            </a:r>
            <a:r>
              <a:rPr lang="zh-CN" altLang="en-US" sz="2200" b="1" dirty="0">
                <a:solidFill>
                  <a:srgbClr val="0000FF"/>
                </a:solidFill>
                <a:latin typeface="Times New Roman" panose="02020603050405020304" pitchFamily="18" charset="0"/>
                <a:ea typeface="+mn-ea"/>
                <a:cs typeface="Times New Roman" panose="02020603050405020304" pitchFamily="18" charset="0"/>
              </a:rPr>
              <a:t>输入设备和输出设备</a:t>
            </a:r>
            <a:r>
              <a:rPr lang="zh-CN" altLang="en-US" sz="2200" b="1" dirty="0">
                <a:latin typeface="Times New Roman" panose="02020603050405020304" pitchFamily="18" charset="0"/>
                <a:ea typeface="+mn-ea"/>
                <a:cs typeface="Times New Roman" panose="02020603050405020304" pitchFamily="18" charset="0"/>
              </a:rPr>
              <a:t>五大部件。</a:t>
            </a:r>
            <a:endParaRPr lang="en-US" altLang="zh-CN" sz="2200" b="1" dirty="0">
              <a:latin typeface="Times New Roman" panose="02020603050405020304" pitchFamily="18" charset="0"/>
              <a:ea typeface="+mn-ea"/>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200" b="1" dirty="0">
                <a:solidFill>
                  <a:srgbClr val="0000FF"/>
                </a:solidFill>
                <a:latin typeface="Times New Roman" panose="02020603050405020304" pitchFamily="18" charset="0"/>
                <a:ea typeface="+mn-ea"/>
                <a:cs typeface="Times New Roman" panose="02020603050405020304" pitchFamily="18" charset="0"/>
              </a:rPr>
              <a:t>运算器</a:t>
            </a:r>
            <a:r>
              <a:rPr lang="zh-CN" altLang="en-US" sz="2200" b="1" dirty="0">
                <a:latin typeface="Times New Roman" panose="02020603050405020304" pitchFamily="18" charset="0"/>
                <a:ea typeface="+mn-ea"/>
                <a:cs typeface="Times New Roman" panose="02020603050405020304" pitchFamily="18" charset="0"/>
              </a:rPr>
              <a:t>与</a:t>
            </a:r>
            <a:r>
              <a:rPr lang="zh-CN" altLang="en-US" sz="2200" b="1" dirty="0">
                <a:solidFill>
                  <a:srgbClr val="0000FF"/>
                </a:solidFill>
                <a:latin typeface="Times New Roman" panose="02020603050405020304" pitchFamily="18" charset="0"/>
                <a:ea typeface="+mn-ea"/>
                <a:cs typeface="Times New Roman" panose="02020603050405020304" pitchFamily="18" charset="0"/>
              </a:rPr>
              <a:t>控制器</a:t>
            </a:r>
            <a:r>
              <a:rPr lang="zh-CN" altLang="en-US" sz="2200" b="1" dirty="0">
                <a:latin typeface="Times New Roman" panose="02020603050405020304" pitchFamily="18" charset="0"/>
                <a:ea typeface="+mn-ea"/>
                <a:cs typeface="Times New Roman" panose="02020603050405020304" pitchFamily="18" charset="0"/>
              </a:rPr>
              <a:t>合称为</a:t>
            </a:r>
            <a:r>
              <a:rPr lang="zh-CN" altLang="en-US" sz="2200" b="1" dirty="0">
                <a:solidFill>
                  <a:srgbClr val="FF0000"/>
                </a:solidFill>
                <a:latin typeface="Times New Roman" panose="02020603050405020304" pitchFamily="18" charset="0"/>
                <a:ea typeface="+mn-ea"/>
                <a:cs typeface="Times New Roman" panose="02020603050405020304" pitchFamily="18" charset="0"/>
              </a:rPr>
              <a:t>中央处理器（</a:t>
            </a:r>
            <a:r>
              <a:rPr lang="en-US" altLang="zh-CN" sz="2200" b="1" dirty="0">
                <a:solidFill>
                  <a:srgbClr val="FF0000"/>
                </a:solidFill>
                <a:latin typeface="Times New Roman" panose="02020603050405020304" pitchFamily="18" charset="0"/>
                <a:ea typeface="+mn-ea"/>
                <a:cs typeface="Times New Roman" panose="02020603050405020304" pitchFamily="18" charset="0"/>
              </a:rPr>
              <a:t>Central Processing Unit</a:t>
            </a:r>
            <a:r>
              <a:rPr lang="zh-CN" altLang="en-US" sz="2200" b="1" dirty="0">
                <a:solidFill>
                  <a:srgbClr val="FF0000"/>
                </a:solidFill>
                <a:latin typeface="Times New Roman" panose="02020603050405020304" pitchFamily="18" charset="0"/>
                <a:ea typeface="+mn-ea"/>
                <a:cs typeface="Times New Roman" panose="02020603050405020304" pitchFamily="18" charset="0"/>
              </a:rPr>
              <a:t>，</a:t>
            </a:r>
            <a:r>
              <a:rPr lang="en-US" altLang="zh-CN" sz="2200" b="1" dirty="0">
                <a:solidFill>
                  <a:srgbClr val="FF0000"/>
                </a:solidFill>
                <a:latin typeface="Times New Roman" panose="02020603050405020304" pitchFamily="18" charset="0"/>
                <a:ea typeface="+mn-ea"/>
                <a:cs typeface="Times New Roman" panose="02020603050405020304" pitchFamily="18" charset="0"/>
              </a:rPr>
              <a:t>CPU</a:t>
            </a:r>
            <a:r>
              <a:rPr lang="zh-CN" altLang="en-US" sz="2200" b="1" dirty="0">
                <a:solidFill>
                  <a:srgbClr val="FF0000"/>
                </a:solidFill>
                <a:latin typeface="Times New Roman" panose="02020603050405020304" pitchFamily="18" charset="0"/>
                <a:ea typeface="+mn-ea"/>
                <a:cs typeface="Times New Roman" panose="02020603050405020304" pitchFamily="18" charset="0"/>
              </a:rPr>
              <a:t>）</a:t>
            </a:r>
            <a:r>
              <a:rPr lang="zh-CN" altLang="en-US" sz="2200" b="1" dirty="0">
                <a:latin typeface="Times New Roman" panose="02020603050405020304" pitchFamily="18" charset="0"/>
                <a:ea typeface="+mn-ea"/>
                <a:cs typeface="Times New Roman" panose="02020603050405020304" pitchFamily="18" charset="0"/>
              </a:rPr>
              <a:t>；</a:t>
            </a:r>
            <a:endParaRPr lang="en-US" altLang="zh-CN" sz="2200" b="1" dirty="0">
              <a:latin typeface="Times New Roman" panose="02020603050405020304" pitchFamily="18" charset="0"/>
              <a:ea typeface="+mn-ea"/>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sz="2200" b="1" dirty="0">
                <a:solidFill>
                  <a:srgbClr val="0000FF"/>
                </a:solidFill>
                <a:latin typeface="Times New Roman" panose="02020603050405020304" pitchFamily="18" charset="0"/>
                <a:ea typeface="+mn-ea"/>
                <a:cs typeface="Times New Roman" panose="02020603050405020304" pitchFamily="18" charset="0"/>
              </a:rPr>
              <a:t>CPU</a:t>
            </a:r>
            <a:r>
              <a:rPr lang="zh-CN" altLang="en-US" sz="2200" b="1" dirty="0">
                <a:latin typeface="Times New Roman" panose="02020603050405020304" pitchFamily="18" charset="0"/>
                <a:ea typeface="+mn-ea"/>
                <a:cs typeface="Times New Roman" panose="02020603050405020304" pitchFamily="18" charset="0"/>
              </a:rPr>
              <a:t>和</a:t>
            </a:r>
            <a:r>
              <a:rPr lang="zh-CN" altLang="en-US" sz="2200" b="1" dirty="0">
                <a:solidFill>
                  <a:srgbClr val="0000FF"/>
                </a:solidFill>
                <a:latin typeface="Times New Roman" panose="02020603050405020304" pitchFamily="18" charset="0"/>
                <a:ea typeface="+mn-ea"/>
                <a:cs typeface="Times New Roman" panose="02020603050405020304" pitchFamily="18" charset="0"/>
              </a:rPr>
              <a:t>存储器</a:t>
            </a:r>
            <a:r>
              <a:rPr lang="zh-CN" altLang="en-US" sz="2200" b="1" dirty="0">
                <a:solidFill>
                  <a:srgbClr val="002060"/>
                </a:solidFill>
                <a:latin typeface="Times New Roman" panose="02020603050405020304" pitchFamily="18" charset="0"/>
                <a:ea typeface="+mn-ea"/>
                <a:cs typeface="Times New Roman" panose="02020603050405020304" pitchFamily="18" charset="0"/>
              </a:rPr>
              <a:t>组成</a:t>
            </a:r>
            <a:r>
              <a:rPr lang="zh-CN" altLang="en-US" sz="2200" b="1" dirty="0">
                <a:solidFill>
                  <a:srgbClr val="FF0000"/>
                </a:solidFill>
                <a:latin typeface="Times New Roman" panose="02020603050405020304" pitchFamily="18" charset="0"/>
                <a:ea typeface="+mn-ea"/>
                <a:cs typeface="Times New Roman" panose="02020603050405020304" pitchFamily="18" charset="0"/>
              </a:rPr>
              <a:t>主机（</a:t>
            </a:r>
            <a:r>
              <a:rPr lang="en-US" altLang="zh-CN" sz="2200" b="1" dirty="0">
                <a:solidFill>
                  <a:srgbClr val="FF0000"/>
                </a:solidFill>
                <a:latin typeface="Times New Roman" panose="02020603050405020304" pitchFamily="18" charset="0"/>
                <a:ea typeface="+mn-ea"/>
                <a:cs typeface="Times New Roman" panose="02020603050405020304" pitchFamily="18" charset="0"/>
              </a:rPr>
              <a:t>Host</a:t>
            </a:r>
            <a:r>
              <a:rPr lang="zh-CN" altLang="en-US" sz="2200" b="1" dirty="0">
                <a:solidFill>
                  <a:srgbClr val="FF0000"/>
                </a:solidFill>
                <a:latin typeface="Times New Roman" panose="02020603050405020304" pitchFamily="18" charset="0"/>
                <a:ea typeface="+mn-ea"/>
                <a:cs typeface="Times New Roman" panose="02020603050405020304" pitchFamily="18" charset="0"/>
              </a:rPr>
              <a:t>）</a:t>
            </a:r>
            <a:r>
              <a:rPr lang="zh-CN" altLang="en-US" sz="2200" b="1" dirty="0">
                <a:latin typeface="Times New Roman" panose="02020603050405020304" pitchFamily="18" charset="0"/>
                <a:ea typeface="+mn-ea"/>
                <a:cs typeface="Times New Roman" panose="02020603050405020304" pitchFamily="18" charset="0"/>
              </a:rPr>
              <a:t>；</a:t>
            </a:r>
            <a:endParaRPr lang="en-US" altLang="zh-CN" sz="2200" b="1" dirty="0">
              <a:latin typeface="Times New Roman" panose="02020603050405020304" pitchFamily="18" charset="0"/>
              <a:ea typeface="+mn-ea"/>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200" b="1" dirty="0">
                <a:solidFill>
                  <a:srgbClr val="0000FF"/>
                </a:solidFill>
                <a:latin typeface="Times New Roman" panose="02020603050405020304" pitchFamily="18" charset="0"/>
                <a:ea typeface="+mn-ea"/>
                <a:cs typeface="Times New Roman" panose="02020603050405020304" pitchFamily="18" charset="0"/>
              </a:rPr>
              <a:t>输入设备和输出设备</a:t>
            </a:r>
            <a:r>
              <a:rPr lang="zh-CN" altLang="en-US" sz="2200" b="1" dirty="0">
                <a:latin typeface="Times New Roman" panose="02020603050405020304" pitchFamily="18" charset="0"/>
                <a:ea typeface="+mn-ea"/>
                <a:cs typeface="Times New Roman" panose="02020603050405020304" pitchFamily="18" charset="0"/>
              </a:rPr>
              <a:t>统称为</a:t>
            </a:r>
            <a:r>
              <a:rPr lang="zh-CN" altLang="en-US" sz="2200" b="1" dirty="0">
                <a:solidFill>
                  <a:srgbClr val="FF0000"/>
                </a:solidFill>
                <a:latin typeface="Times New Roman" panose="02020603050405020304" pitchFamily="18" charset="0"/>
                <a:ea typeface="+mn-ea"/>
                <a:cs typeface="Times New Roman" panose="02020603050405020304" pitchFamily="18" charset="0"/>
              </a:rPr>
              <a:t>输入输出设备</a:t>
            </a:r>
            <a:r>
              <a:rPr lang="zh-CN" altLang="en-US" sz="2200" b="1" dirty="0">
                <a:latin typeface="Times New Roman" panose="02020603050405020304" pitchFamily="18" charset="0"/>
                <a:ea typeface="+mn-ea"/>
                <a:cs typeface="Times New Roman" panose="02020603050405020304" pitchFamily="18" charset="0"/>
              </a:rPr>
              <a:t>，也称为</a:t>
            </a:r>
            <a:r>
              <a:rPr lang="zh-CN" altLang="en-US" sz="2200" b="1" dirty="0">
                <a:solidFill>
                  <a:srgbClr val="FF0000"/>
                </a:solidFill>
                <a:latin typeface="Times New Roman" panose="02020603050405020304" pitchFamily="18" charset="0"/>
                <a:ea typeface="+mn-ea"/>
                <a:cs typeface="Times New Roman" panose="02020603050405020304" pitchFamily="18" charset="0"/>
              </a:rPr>
              <a:t>外部设备</a:t>
            </a:r>
            <a:r>
              <a:rPr lang="zh-CN" altLang="en-US" sz="2200" b="1" dirty="0">
                <a:latin typeface="Times New Roman" panose="02020603050405020304" pitchFamily="18" charset="0"/>
                <a:ea typeface="+mn-ea"/>
                <a:cs typeface="Times New Roman" panose="02020603050405020304" pitchFamily="18" charset="0"/>
              </a:rPr>
              <a:t>。</a:t>
            </a:r>
            <a:endParaRPr lang="zh-CN" altLang="en-US" sz="2200" b="1" i="0" kern="1200" dirty="0">
              <a:effectLst/>
              <a:latin typeface="Times New Roman" panose="02020603050405020304" pitchFamily="18" charset="0"/>
              <a:ea typeface="+mn-ea"/>
              <a:cs typeface="Times New Roman" panose="02020603050405020304" pitchFamily="18" charset="0"/>
            </a:endParaRPr>
          </a:p>
        </p:txBody>
      </p:sp>
      <p:sp>
        <p:nvSpPr>
          <p:cNvPr id="4" name="Rectangle 2">
            <a:extLst>
              <a:ext uri="{FF2B5EF4-FFF2-40B4-BE49-F238E27FC236}">
                <a16:creationId xmlns:a16="http://schemas.microsoft.com/office/drawing/2014/main" id="{F0153484-6E25-7561-82E6-8F8F3C3B8878}"/>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grpSp>
        <p:nvGrpSpPr>
          <p:cNvPr id="9" name="Group 286">
            <a:extLst>
              <a:ext uri="{FF2B5EF4-FFF2-40B4-BE49-F238E27FC236}">
                <a16:creationId xmlns:a16="http://schemas.microsoft.com/office/drawing/2014/main" id="{2B2F0E8D-1FD3-42D4-BE27-3515740CBADA}"/>
              </a:ext>
            </a:extLst>
          </p:cNvPr>
          <p:cNvGrpSpPr>
            <a:grpSpLocks/>
          </p:cNvGrpSpPr>
          <p:nvPr/>
        </p:nvGrpSpPr>
        <p:grpSpPr bwMode="auto">
          <a:xfrm>
            <a:off x="1678281" y="3926521"/>
            <a:ext cx="6192688" cy="2419623"/>
            <a:chOff x="871" y="2639"/>
            <a:chExt cx="4041" cy="1542"/>
          </a:xfrm>
        </p:grpSpPr>
        <p:sp>
          <p:nvSpPr>
            <p:cNvPr id="13" name="Rectangle 290">
              <a:extLst>
                <a:ext uri="{FF2B5EF4-FFF2-40B4-BE49-F238E27FC236}">
                  <a16:creationId xmlns:a16="http://schemas.microsoft.com/office/drawing/2014/main" id="{4306EEE1-1137-4705-8AC2-60E2C7D27FE3}"/>
                </a:ext>
              </a:extLst>
            </p:cNvPr>
            <p:cNvSpPr>
              <a:spLocks noChangeArrowheads="1"/>
            </p:cNvSpPr>
            <p:nvPr/>
          </p:nvSpPr>
          <p:spPr bwMode="auto">
            <a:xfrm>
              <a:off x="871" y="2651"/>
              <a:ext cx="2906" cy="1530"/>
            </a:xfrm>
            <a:prstGeom prst="rect">
              <a:avLst/>
            </a:prstGeom>
            <a:solidFill>
              <a:schemeClr val="accent5"/>
            </a:solidFill>
            <a:ln w="27051" cap="flat" algn="ctr">
              <a:solidFill>
                <a:schemeClr val="accent2">
                  <a:lumMod val="75000"/>
                </a:schemeClr>
              </a:solidFill>
              <a:prstDash val="solid"/>
              <a:miter lim="800000"/>
              <a:headEnd type="none" w="med" len="med"/>
              <a:tailEnd type="none" w="med" len="med"/>
            </a:ln>
          </p:spPr>
          <p:txBody>
            <a:bodyPr/>
            <a:lstStyle/>
            <a:p>
              <a:endParaRPr lang="zh-CN" altLang="en-US" dirty="0"/>
            </a:p>
          </p:txBody>
        </p:sp>
        <p:sp>
          <p:nvSpPr>
            <p:cNvPr id="10" name="Rectangle 287">
              <a:extLst>
                <a:ext uri="{FF2B5EF4-FFF2-40B4-BE49-F238E27FC236}">
                  <a16:creationId xmlns:a16="http://schemas.microsoft.com/office/drawing/2014/main" id="{538CFF70-D0F7-4538-BBFE-A0FC5E58DC6A}"/>
                </a:ext>
              </a:extLst>
            </p:cNvPr>
            <p:cNvSpPr>
              <a:spLocks noChangeArrowheads="1"/>
            </p:cNvSpPr>
            <p:nvPr/>
          </p:nvSpPr>
          <p:spPr bwMode="auto">
            <a:xfrm>
              <a:off x="2135" y="2838"/>
              <a:ext cx="1502" cy="1247"/>
            </a:xfrm>
            <a:prstGeom prst="rect">
              <a:avLst/>
            </a:prstGeom>
            <a:solidFill>
              <a:srgbClr val="FFFF00"/>
            </a:solidFill>
            <a:ln w="27051" cap="flat" algn="ctr">
              <a:solidFill>
                <a:schemeClr val="accent2">
                  <a:lumMod val="75000"/>
                </a:schemeClr>
              </a:solidFill>
              <a:prstDash val="solid"/>
              <a:miter lim="800000"/>
              <a:headEnd type="none" w="med" len="med"/>
              <a:tailEnd type="none" w="med" len="med"/>
            </a:ln>
          </p:spPr>
          <p:txBody>
            <a:bodyPr/>
            <a:lstStyle/>
            <a:p>
              <a:endParaRPr lang="zh-CN" altLang="en-US" dirty="0"/>
            </a:p>
          </p:txBody>
        </p:sp>
        <p:sp>
          <p:nvSpPr>
            <p:cNvPr id="11" name="Rectangle 288">
              <a:extLst>
                <a:ext uri="{FF2B5EF4-FFF2-40B4-BE49-F238E27FC236}">
                  <a16:creationId xmlns:a16="http://schemas.microsoft.com/office/drawing/2014/main" id="{AFE8DB21-AF28-4A21-8C9F-9631E030AA6A}"/>
                </a:ext>
              </a:extLst>
            </p:cNvPr>
            <p:cNvSpPr>
              <a:spLocks noChangeArrowheads="1"/>
            </p:cNvSpPr>
            <p:nvPr/>
          </p:nvSpPr>
          <p:spPr bwMode="auto">
            <a:xfrm>
              <a:off x="2320" y="3132"/>
              <a:ext cx="1133" cy="384"/>
            </a:xfrm>
            <a:prstGeom prst="rect">
              <a:avLst/>
            </a:prstGeom>
            <a:solidFill>
              <a:srgbClr val="00B050"/>
            </a:solidFill>
            <a:ln w="27051" cap="flat" algn="ctr">
              <a:solidFill>
                <a:schemeClr val="accent2">
                  <a:lumMod val="75000"/>
                </a:schemeClr>
              </a:solidFill>
              <a:prstDash val="solid"/>
              <a:miter lim="800000"/>
              <a:headEnd type="none" w="med" len="med"/>
              <a:tailEnd type="none" w="med" len="med"/>
            </a:ln>
          </p:spPr>
          <p:txBody>
            <a:bodyPr tIns="54000"/>
            <a:lstStyle/>
            <a:p>
              <a:pPr algn="ctr">
                <a:spcBef>
                  <a:spcPct val="20000"/>
                </a:spcBef>
              </a:pPr>
              <a:r>
                <a:rPr kumimoji="1" lang="zh-CN" altLang="en-US" sz="2800" b="1" dirty="0">
                  <a:latin typeface="宋体" panose="02010600030101010101" pitchFamily="2" charset="-122"/>
                </a:rPr>
                <a:t>运算器</a:t>
              </a:r>
              <a:endParaRPr kumimoji="1" lang="en-US" altLang="zh-CN" sz="2800" b="1" dirty="0">
                <a:latin typeface="宋体" panose="02010600030101010101" pitchFamily="2" charset="-122"/>
              </a:endParaRPr>
            </a:p>
          </p:txBody>
        </p:sp>
        <p:sp>
          <p:nvSpPr>
            <p:cNvPr id="12" name="Rectangle 289">
              <a:extLst>
                <a:ext uri="{FF2B5EF4-FFF2-40B4-BE49-F238E27FC236}">
                  <a16:creationId xmlns:a16="http://schemas.microsoft.com/office/drawing/2014/main" id="{79FB948E-F81E-476F-9FA4-BD40700A065B}"/>
                </a:ext>
              </a:extLst>
            </p:cNvPr>
            <p:cNvSpPr>
              <a:spLocks noChangeArrowheads="1"/>
            </p:cNvSpPr>
            <p:nvPr/>
          </p:nvSpPr>
          <p:spPr bwMode="auto">
            <a:xfrm>
              <a:off x="2045" y="2848"/>
              <a:ext cx="1687" cy="233"/>
            </a:xfrm>
            <a:prstGeom prst="rect">
              <a:avLst/>
            </a:prstGeom>
            <a:noFill/>
            <a:ln w="9525" cap="flat" algn="ctr">
              <a:noFill/>
              <a:prstDash val="solid"/>
              <a:miter lim="8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ctr">
                <a:spcBef>
                  <a:spcPct val="20000"/>
                </a:spcBef>
              </a:pPr>
              <a:r>
                <a:rPr kumimoji="1" lang="zh-CN" altLang="en-US" sz="2400" b="1" dirty="0">
                  <a:latin typeface="Times New Roman" panose="02020603050405020304" pitchFamily="18" charset="0"/>
                  <a:cs typeface="Times New Roman" panose="02020603050405020304" pitchFamily="18" charset="0"/>
                </a:rPr>
                <a:t>中央处理器</a:t>
              </a:r>
              <a:r>
                <a:rPr kumimoji="1" lang="en-US" altLang="zh-CN" sz="2400" b="1" dirty="0">
                  <a:latin typeface="Times New Roman" panose="02020603050405020304" pitchFamily="18" charset="0"/>
                  <a:cs typeface="Times New Roman" panose="02020603050405020304" pitchFamily="18" charset="0"/>
                </a:rPr>
                <a:t>CPU</a:t>
              </a:r>
            </a:p>
          </p:txBody>
        </p:sp>
        <p:sp>
          <p:nvSpPr>
            <p:cNvPr id="14" name="Rectangle 291">
              <a:extLst>
                <a:ext uri="{FF2B5EF4-FFF2-40B4-BE49-F238E27FC236}">
                  <a16:creationId xmlns:a16="http://schemas.microsoft.com/office/drawing/2014/main" id="{396B5243-8137-491E-AEF1-F8632846AE41}"/>
                </a:ext>
              </a:extLst>
            </p:cNvPr>
            <p:cNvSpPr>
              <a:spLocks noChangeArrowheads="1"/>
            </p:cNvSpPr>
            <p:nvPr/>
          </p:nvSpPr>
          <p:spPr bwMode="auto">
            <a:xfrm>
              <a:off x="973" y="2680"/>
              <a:ext cx="943" cy="233"/>
            </a:xfrm>
            <a:prstGeom prst="rect">
              <a:avLst/>
            </a:prstGeom>
            <a:noFill/>
            <a:ln w="9525" cap="flat" algn="ctr">
              <a:noFill/>
              <a:prstDash val="solid"/>
              <a:miter lim="8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spcBef>
                  <a:spcPct val="20000"/>
                </a:spcBef>
              </a:pPr>
              <a:r>
                <a:rPr kumimoji="1" lang="zh-CN" altLang="en-US" sz="2400" b="1" dirty="0">
                  <a:latin typeface="Times New Roman" panose="02020603050405020304" pitchFamily="18" charset="0"/>
                  <a:ea typeface="+mn-ea"/>
                  <a:cs typeface="Times New Roman" panose="02020603050405020304" pitchFamily="18" charset="0"/>
                </a:rPr>
                <a:t>主机 </a:t>
              </a:r>
              <a:r>
                <a:rPr kumimoji="1" lang="en-US" altLang="zh-CN" sz="2400" b="1" dirty="0">
                  <a:latin typeface="Times New Roman" panose="02020603050405020304" pitchFamily="18" charset="0"/>
                  <a:ea typeface="+mn-ea"/>
                  <a:cs typeface="Times New Roman" panose="02020603050405020304" pitchFamily="18" charset="0"/>
                </a:rPr>
                <a:t>Host</a:t>
              </a:r>
              <a:endParaRPr kumimoji="1" lang="zh-CN" altLang="en-US" sz="2400" b="1" dirty="0">
                <a:latin typeface="Times New Roman" panose="02020603050405020304" pitchFamily="18" charset="0"/>
                <a:ea typeface="+mn-ea"/>
                <a:cs typeface="Times New Roman" panose="02020603050405020304" pitchFamily="18" charset="0"/>
              </a:endParaRPr>
            </a:p>
          </p:txBody>
        </p:sp>
        <p:sp>
          <p:nvSpPr>
            <p:cNvPr id="15" name="Rectangle 292">
              <a:extLst>
                <a:ext uri="{FF2B5EF4-FFF2-40B4-BE49-F238E27FC236}">
                  <a16:creationId xmlns:a16="http://schemas.microsoft.com/office/drawing/2014/main" id="{90823282-9D70-48B2-8D49-9FE3A9F9C977}"/>
                </a:ext>
              </a:extLst>
            </p:cNvPr>
            <p:cNvSpPr>
              <a:spLocks noChangeArrowheads="1"/>
            </p:cNvSpPr>
            <p:nvPr/>
          </p:nvSpPr>
          <p:spPr bwMode="auto">
            <a:xfrm>
              <a:off x="4251" y="2639"/>
              <a:ext cx="639" cy="1530"/>
            </a:xfrm>
            <a:prstGeom prst="rect">
              <a:avLst/>
            </a:prstGeom>
            <a:solidFill>
              <a:schemeClr val="accent2">
                <a:lumMod val="40000"/>
                <a:lumOff val="60000"/>
              </a:schemeClr>
            </a:solidFill>
            <a:ln w="27051" cap="flat" algn="ctr">
              <a:solidFill>
                <a:schemeClr val="accent2">
                  <a:lumMod val="75000"/>
                </a:schemeClr>
              </a:solidFill>
              <a:prstDash val="solid"/>
              <a:miter lim="800000"/>
              <a:headEnd type="none" w="med" len="med"/>
              <a:tailEnd type="none" w="med" len="med"/>
            </a:ln>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16" name="Rectangle 293">
              <a:extLst>
                <a:ext uri="{FF2B5EF4-FFF2-40B4-BE49-F238E27FC236}">
                  <a16:creationId xmlns:a16="http://schemas.microsoft.com/office/drawing/2014/main" id="{639A3C04-372B-4150-8552-77C5D2E58E5B}"/>
                </a:ext>
              </a:extLst>
            </p:cNvPr>
            <p:cNvSpPr>
              <a:spLocks noChangeArrowheads="1"/>
            </p:cNvSpPr>
            <p:nvPr/>
          </p:nvSpPr>
          <p:spPr bwMode="auto">
            <a:xfrm>
              <a:off x="4286" y="2929"/>
              <a:ext cx="626" cy="872"/>
            </a:xfrm>
            <a:prstGeom prst="rect">
              <a:avLst/>
            </a:prstGeom>
            <a:noFill/>
            <a:ln w="9525" cap="flat" algn="ctr">
              <a:noFill/>
              <a:prstDash val="solid"/>
              <a:miter lim="800000"/>
              <a:headEnd type="none" w="med" len="med"/>
              <a:tailEnd type="none"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b="1" dirty="0">
                  <a:latin typeface="Times New Roman" panose="02020603050405020304" pitchFamily="18" charset="0"/>
                  <a:ea typeface="+mn-ea"/>
                  <a:cs typeface="Times New Roman" panose="02020603050405020304" pitchFamily="18" charset="0"/>
                </a:rPr>
                <a:t>输入输出设备</a:t>
              </a:r>
            </a:p>
          </p:txBody>
        </p:sp>
        <p:sp>
          <p:nvSpPr>
            <p:cNvPr id="17" name="Rectangle 294">
              <a:extLst>
                <a:ext uri="{FF2B5EF4-FFF2-40B4-BE49-F238E27FC236}">
                  <a16:creationId xmlns:a16="http://schemas.microsoft.com/office/drawing/2014/main" id="{CEE192AE-2E37-4FD9-BD9D-7D1B40A280F3}"/>
                </a:ext>
              </a:extLst>
            </p:cNvPr>
            <p:cNvSpPr>
              <a:spLocks noChangeArrowheads="1"/>
            </p:cNvSpPr>
            <p:nvPr/>
          </p:nvSpPr>
          <p:spPr bwMode="auto">
            <a:xfrm>
              <a:off x="2320" y="3618"/>
              <a:ext cx="1133" cy="384"/>
            </a:xfrm>
            <a:prstGeom prst="rect">
              <a:avLst/>
            </a:prstGeom>
            <a:solidFill>
              <a:srgbClr val="00B050"/>
            </a:solidFill>
            <a:ln w="27051" cap="flat" algn="ctr">
              <a:solidFill>
                <a:schemeClr val="accent2">
                  <a:lumMod val="75000"/>
                </a:schemeClr>
              </a:solidFill>
              <a:prstDash val="solid"/>
              <a:miter lim="800000"/>
              <a:headEnd type="none" w="med" len="med"/>
              <a:tailEnd type="none" w="med" len="med"/>
            </a:ln>
          </p:spPr>
          <p:txBody>
            <a:bodyPr tIns="54000"/>
            <a:lstStyle/>
            <a:p>
              <a:pPr algn="ctr">
                <a:spcBef>
                  <a:spcPct val="20000"/>
                </a:spcBef>
              </a:pPr>
              <a:r>
                <a:rPr kumimoji="1" lang="zh-CN" altLang="en-US" sz="2800" b="1" dirty="0">
                  <a:latin typeface="宋体" panose="02010600030101010101" pitchFamily="2" charset="-122"/>
                </a:rPr>
                <a:t>控制器</a:t>
              </a:r>
              <a:endParaRPr kumimoji="1" lang="en-US" altLang="zh-CN" sz="2800" b="1" dirty="0">
                <a:latin typeface="宋体" panose="02010600030101010101" pitchFamily="2" charset="-122"/>
              </a:endParaRPr>
            </a:p>
          </p:txBody>
        </p:sp>
        <p:sp>
          <p:nvSpPr>
            <p:cNvPr id="19" name="Rectangle 296">
              <a:extLst>
                <a:ext uri="{FF2B5EF4-FFF2-40B4-BE49-F238E27FC236}">
                  <a16:creationId xmlns:a16="http://schemas.microsoft.com/office/drawing/2014/main" id="{F876B76A-D9D8-411B-A002-8726798CDEC9}"/>
                </a:ext>
              </a:extLst>
            </p:cNvPr>
            <p:cNvSpPr>
              <a:spLocks noChangeArrowheads="1"/>
            </p:cNvSpPr>
            <p:nvPr/>
          </p:nvSpPr>
          <p:spPr bwMode="auto">
            <a:xfrm>
              <a:off x="1026" y="2980"/>
              <a:ext cx="525" cy="1105"/>
            </a:xfrm>
            <a:prstGeom prst="rect">
              <a:avLst/>
            </a:prstGeom>
            <a:solidFill>
              <a:srgbClr val="FFC000"/>
            </a:solidFill>
            <a:ln w="27051" cap="flat" algn="ctr">
              <a:solidFill>
                <a:schemeClr val="accent2">
                  <a:lumMod val="75000"/>
                </a:schemeClr>
              </a:solidFill>
              <a:prstDash val="solid"/>
              <a:miter lim="800000"/>
              <a:headEnd type="none" w="med" len="med"/>
              <a:tailEnd type="none" w="med" len="med"/>
            </a:ln>
          </p:spPr>
          <p:txBody>
            <a:bodyPr/>
            <a:lstStyle/>
            <a:p>
              <a:pPr algn="ctr">
                <a:spcBef>
                  <a:spcPct val="20000"/>
                </a:spcBef>
              </a:pPr>
              <a:endParaRPr kumimoji="1" lang="zh-CN" altLang="en-US" sz="3200">
                <a:ea typeface="华文仿宋" panose="02010600040101010101" pitchFamily="2" charset="-122"/>
              </a:endParaRPr>
            </a:p>
          </p:txBody>
        </p:sp>
        <p:sp>
          <p:nvSpPr>
            <p:cNvPr id="20" name="Rectangle 297">
              <a:extLst>
                <a:ext uri="{FF2B5EF4-FFF2-40B4-BE49-F238E27FC236}">
                  <a16:creationId xmlns:a16="http://schemas.microsoft.com/office/drawing/2014/main" id="{005C33EC-39BC-4052-829B-65A2C2B552B9}"/>
                </a:ext>
              </a:extLst>
            </p:cNvPr>
            <p:cNvSpPr>
              <a:spLocks noChangeArrowheads="1"/>
            </p:cNvSpPr>
            <p:nvPr/>
          </p:nvSpPr>
          <p:spPr bwMode="auto">
            <a:xfrm>
              <a:off x="1110" y="3045"/>
              <a:ext cx="383" cy="872"/>
            </a:xfrm>
            <a:prstGeom prst="rect">
              <a:avLst/>
            </a:prstGeom>
            <a:noFill/>
            <a:ln w="9525" cap="flat" algn="ctr">
              <a:noFill/>
              <a:prstDash val="solid"/>
              <a:miter lim="800000"/>
              <a:headEnd type="none" w="med" len="med"/>
              <a:tailEnd type="none"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20000"/>
                </a:spcBef>
              </a:pPr>
              <a:r>
                <a:rPr kumimoji="1" lang="zh-CN" altLang="en-US" sz="2800" b="1" dirty="0">
                  <a:latin typeface="+mn-ea"/>
                  <a:ea typeface="+mn-ea"/>
                </a:rPr>
                <a:t>存储器</a:t>
              </a:r>
            </a:p>
          </p:txBody>
        </p:sp>
        <p:sp>
          <p:nvSpPr>
            <p:cNvPr id="23" name="AutoShape 300">
              <a:extLst>
                <a:ext uri="{FF2B5EF4-FFF2-40B4-BE49-F238E27FC236}">
                  <a16:creationId xmlns:a16="http://schemas.microsoft.com/office/drawing/2014/main" id="{7308977F-F7A1-40B8-ADFA-E695FFCF57DE}"/>
                </a:ext>
              </a:extLst>
            </p:cNvPr>
            <p:cNvSpPr>
              <a:spLocks noChangeArrowheads="1"/>
            </p:cNvSpPr>
            <p:nvPr/>
          </p:nvSpPr>
          <p:spPr bwMode="auto">
            <a:xfrm>
              <a:off x="1569" y="3360"/>
              <a:ext cx="566" cy="224"/>
            </a:xfrm>
            <a:prstGeom prst="leftRightArrow">
              <a:avLst>
                <a:gd name="adj1" fmla="val 50000"/>
                <a:gd name="adj2" fmla="val 68017"/>
              </a:avLst>
            </a:prstGeom>
            <a:noFill/>
            <a:ln w="38100" cap="flat" algn="ctr">
              <a:solidFill>
                <a:schemeClr val="accent2">
                  <a:lumMod val="75000"/>
                </a:schemeClr>
              </a:solidFill>
              <a:prstDash val="solid"/>
              <a:miter lim="800000"/>
              <a:headEnd type="none" w="med" len="med"/>
              <a:tailEnd type="none" w="med" len="med"/>
            </a:ln>
            <a:extLst>
              <a:ext uri="{909E8E84-426E-40DD-AFC4-6F175D3DCCD1}">
                <a14:hiddenFill xmlns:a14="http://schemas.microsoft.com/office/drawing/2010/main">
                  <a:solidFill>
                    <a:schemeClr val="tx1"/>
                  </a:solidFill>
                </a14:hiddenFill>
              </a:ext>
            </a:extLst>
          </p:spPr>
          <p:txBody>
            <a:bodyPr wrap="square">
              <a:spAutoFit/>
            </a:bodyPr>
            <a:lstStyle/>
            <a:p>
              <a:endParaRPr lang="zh-CN" altLang="en-US"/>
            </a:p>
          </p:txBody>
        </p:sp>
        <p:sp>
          <p:nvSpPr>
            <p:cNvPr id="24" name="AutoShape 301">
              <a:extLst>
                <a:ext uri="{FF2B5EF4-FFF2-40B4-BE49-F238E27FC236}">
                  <a16:creationId xmlns:a16="http://schemas.microsoft.com/office/drawing/2014/main" id="{D452095E-F8F9-4614-BE03-1A4F1BCC1CB3}"/>
                </a:ext>
              </a:extLst>
            </p:cNvPr>
            <p:cNvSpPr>
              <a:spLocks noChangeArrowheads="1"/>
            </p:cNvSpPr>
            <p:nvPr/>
          </p:nvSpPr>
          <p:spPr bwMode="auto">
            <a:xfrm>
              <a:off x="3788" y="3440"/>
              <a:ext cx="480" cy="144"/>
            </a:xfrm>
            <a:prstGeom prst="leftRightArrow">
              <a:avLst>
                <a:gd name="adj1" fmla="val 50000"/>
                <a:gd name="adj2" fmla="val 66358"/>
              </a:avLst>
            </a:prstGeom>
            <a:noFill/>
            <a:ln w="38100" cap="flat" algn="ctr">
              <a:solidFill>
                <a:schemeClr val="accent2">
                  <a:lumMod val="75000"/>
                </a:schemeClr>
              </a:solidFill>
              <a:prstDash val="solid"/>
              <a:miter lim="800000"/>
              <a:headEnd type="none" w="med" len="med"/>
              <a:tailEnd type="none" w="med" len="med"/>
            </a:ln>
            <a:extLst>
              <a:ext uri="{909E8E84-426E-40DD-AFC4-6F175D3DCCD1}">
                <a14:hiddenFill xmlns:a14="http://schemas.microsoft.com/office/drawing/2010/main">
                  <a:solidFill>
                    <a:schemeClr val="tx1"/>
                  </a:solidFill>
                </a14:hiddenFill>
              </a:ext>
            </a:extLst>
          </p:spPr>
          <p:txBody>
            <a:bodyPr>
              <a:spAutoFit/>
            </a:bodyPr>
            <a:lstStyle/>
            <a:p>
              <a:endParaRPr lang="zh-CN" altLang="en-US"/>
            </a:p>
          </p:txBody>
        </p:sp>
      </p:grpSp>
      <p:sp>
        <p:nvSpPr>
          <p:cNvPr id="18" name="文本框 17">
            <a:extLst>
              <a:ext uri="{FF2B5EF4-FFF2-40B4-BE49-F238E27FC236}">
                <a16:creationId xmlns:a16="http://schemas.microsoft.com/office/drawing/2014/main" id="{3A28BE64-6AAA-4D96-934A-2AC4C1EB244D}"/>
              </a:ext>
            </a:extLst>
          </p:cNvPr>
          <p:cNvSpPr txBox="1"/>
          <p:nvPr/>
        </p:nvSpPr>
        <p:spPr>
          <a:xfrm>
            <a:off x="2977364" y="6417406"/>
            <a:ext cx="3594523" cy="369332"/>
          </a:xfrm>
          <a:prstGeom prst="rect">
            <a:avLst/>
          </a:prstGeom>
          <a:noFill/>
        </p:spPr>
        <p:txBody>
          <a:bodyPr wrap="square" rtlCol="0">
            <a:spAutoFit/>
          </a:bodyPr>
          <a:lstStyle/>
          <a:p>
            <a:pPr algn="ctr"/>
            <a:r>
              <a:rPr lang="zh-CN" altLang="en-US" b="1" dirty="0">
                <a:solidFill>
                  <a:srgbClr val="002060"/>
                </a:solidFill>
                <a:latin typeface="Times New Roman" panose="02020603050405020304" pitchFamily="18" charset="0"/>
                <a:cs typeface="Times New Roman" panose="02020603050405020304" pitchFamily="18" charset="0"/>
              </a:rPr>
              <a:t>图</a:t>
            </a:r>
            <a:r>
              <a:rPr lang="en-US" altLang="zh-CN" b="1" dirty="0">
                <a:solidFill>
                  <a:srgbClr val="002060"/>
                </a:solidFill>
                <a:latin typeface="Times New Roman" panose="02020603050405020304" pitchFamily="18" charset="0"/>
                <a:cs typeface="Times New Roman" panose="02020603050405020304" pitchFamily="18" charset="0"/>
              </a:rPr>
              <a:t>1.10</a:t>
            </a:r>
            <a:r>
              <a:rPr lang="zh-CN" altLang="en-US" b="1" dirty="0">
                <a:solidFill>
                  <a:srgbClr val="002060"/>
                </a:solidFill>
                <a:latin typeface="Times New Roman" panose="02020603050405020304" pitchFamily="18" charset="0"/>
                <a:cs typeface="Times New Roman" panose="02020603050405020304" pitchFamily="18" charset="0"/>
              </a:rPr>
              <a:t> 计算机的硬件系统</a:t>
            </a:r>
          </a:p>
        </p:txBody>
      </p:sp>
    </p:spTree>
    <p:extLst>
      <p:ext uri="{BB962C8B-B14F-4D97-AF65-F5344CB8AC3E}">
        <p14:creationId xmlns:p14="http://schemas.microsoft.com/office/powerpoint/2010/main" val="113587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08A898D1-18FE-4FC5-3797-7A97B818E273}"/>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15" name="文本框 14">
            <a:extLst>
              <a:ext uri="{FF2B5EF4-FFF2-40B4-BE49-F238E27FC236}">
                <a16:creationId xmlns:a16="http://schemas.microsoft.com/office/drawing/2014/main" id="{7AB73D5C-778B-4A3D-B594-C57C9335CA67}"/>
              </a:ext>
            </a:extLst>
          </p:cNvPr>
          <p:cNvSpPr txBox="1"/>
          <p:nvPr/>
        </p:nvSpPr>
        <p:spPr>
          <a:xfrm>
            <a:off x="107504" y="813132"/>
            <a:ext cx="8811556" cy="461665"/>
          </a:xfrm>
          <a:prstGeom prst="rect">
            <a:avLst/>
          </a:prstGeom>
          <a:noFill/>
        </p:spPr>
        <p:txBody>
          <a:bodyPr wrap="squar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1</a:t>
            </a:r>
            <a:r>
              <a:rPr lang="zh-CN" altLang="en-US" sz="2400" b="1" dirty="0">
                <a:solidFill>
                  <a:srgbClr val="FF0000"/>
                </a:solidFill>
                <a:latin typeface="Times New Roman" panose="02020603050405020304" pitchFamily="18" charset="0"/>
                <a:cs typeface="Times New Roman" panose="02020603050405020304" pitchFamily="18" charset="0"/>
              </a:rPr>
              <a:t>）存储器</a:t>
            </a:r>
          </a:p>
        </p:txBody>
      </p:sp>
      <p:sp>
        <p:nvSpPr>
          <p:cNvPr id="39" name="文本框 38">
            <a:extLst>
              <a:ext uri="{FF2B5EF4-FFF2-40B4-BE49-F238E27FC236}">
                <a16:creationId xmlns:a16="http://schemas.microsoft.com/office/drawing/2014/main" id="{975C2C27-5487-4185-8DCD-3E4EFD958B7E}"/>
              </a:ext>
            </a:extLst>
          </p:cNvPr>
          <p:cNvSpPr txBox="1"/>
          <p:nvPr/>
        </p:nvSpPr>
        <p:spPr>
          <a:xfrm>
            <a:off x="12741" y="1175226"/>
            <a:ext cx="5558455" cy="3250185"/>
          </a:xfrm>
          <a:prstGeom prst="rect">
            <a:avLst/>
          </a:prstGeom>
          <a:noFill/>
        </p:spPr>
        <p:txBody>
          <a:bodyPr wrap="square">
            <a:spAutoFit/>
          </a:bodyPr>
          <a:lstStyle/>
          <a:p>
            <a:pPr marL="381000" marR="254000" indent="-342900" algn="just">
              <a:lnSpc>
                <a:spcPct val="130000"/>
              </a:lnSpc>
              <a:spcAft>
                <a:spcPts val="0"/>
              </a:spcAft>
              <a:buFont typeface="Arial" panose="020B0604020202020204" pitchFamily="34" charset="0"/>
              <a:buChar char="•"/>
            </a:pPr>
            <a:r>
              <a:rPr lang="zh-CN" altLang="zh-CN" sz="2000" b="1" kern="100" dirty="0">
                <a:solidFill>
                  <a:srgbClr val="000000"/>
                </a:solidFill>
                <a:effectLst/>
                <a:latin typeface="Times New Roman" panose="02020603050405020304" pitchFamily="18" charset="0"/>
                <a:cs typeface="Times New Roman" panose="02020603050405020304" pitchFamily="18" charset="0"/>
              </a:rPr>
              <a:t>存储器的主要功能是</a:t>
            </a:r>
            <a:r>
              <a:rPr lang="zh-CN" altLang="zh-CN" sz="2000" b="1" kern="100" dirty="0">
                <a:solidFill>
                  <a:srgbClr val="0000FF"/>
                </a:solidFill>
                <a:effectLst/>
                <a:latin typeface="Times New Roman" panose="02020603050405020304" pitchFamily="18" charset="0"/>
                <a:cs typeface="Times New Roman" panose="02020603050405020304" pitchFamily="18" charset="0"/>
              </a:rPr>
              <a:t>存放二进制形式表示的程序和数据</a:t>
            </a:r>
            <a:r>
              <a:rPr lang="zh-CN" altLang="zh-CN" sz="2000" b="1" kern="100" dirty="0">
                <a:solidFill>
                  <a:srgbClr val="000000"/>
                </a:solidFill>
                <a:effectLst/>
                <a:latin typeface="Times New Roman" panose="02020603050405020304" pitchFamily="18" charset="0"/>
                <a:cs typeface="Times New Roman" panose="02020603050405020304" pitchFamily="18" charset="0"/>
              </a:rPr>
              <a:t>。</a:t>
            </a:r>
            <a:endParaRPr lang="en-US" altLang="zh-CN" sz="2000" b="1" kern="100" dirty="0">
              <a:solidFill>
                <a:srgbClr val="000000"/>
              </a:solidFill>
              <a:effectLst/>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zh-CN" sz="2000" b="1" kern="100" dirty="0">
                <a:solidFill>
                  <a:srgbClr val="0000FF"/>
                </a:solidFill>
                <a:effectLst/>
                <a:latin typeface="Times New Roman" panose="02020603050405020304" pitchFamily="18" charset="0"/>
                <a:cs typeface="Times New Roman" panose="02020603050405020304" pitchFamily="18" charset="0"/>
              </a:rPr>
              <a:t>计算机的主存储器都是半导体存储器</a:t>
            </a:r>
            <a:r>
              <a:rPr lang="zh-CN" altLang="zh-CN" sz="2000" b="1" kern="100" dirty="0">
                <a:solidFill>
                  <a:srgbClr val="000000"/>
                </a:solidFill>
                <a:effectLst/>
                <a:latin typeface="Times New Roman" panose="02020603050405020304" pitchFamily="18" charset="0"/>
                <a:cs typeface="Times New Roman" panose="02020603050405020304" pitchFamily="18" charset="0"/>
              </a:rPr>
              <a:t>。存储体由许多个存储单元组成。每个存储单元都对应一个编号，称为单元地址。</a:t>
            </a:r>
            <a:endParaRPr lang="en-US" altLang="zh-CN" sz="2000" b="1" kern="100" dirty="0">
              <a:solidFill>
                <a:srgbClr val="000000"/>
              </a:solidFill>
              <a:effectLst/>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kern="100" dirty="0">
                <a:solidFill>
                  <a:srgbClr val="000000"/>
                </a:solidFill>
                <a:effectLst/>
                <a:latin typeface="Times New Roman" panose="02020603050405020304" pitchFamily="18" charset="0"/>
                <a:cs typeface="Times New Roman" panose="02020603050405020304" pitchFamily="18" charset="0"/>
              </a:rPr>
              <a:t>存储单元地址与存储在其中的信息一一对应。每个存储单元的单元地址只有一个且固定不变，而存储在其中的信息则可改变。</a:t>
            </a:r>
            <a:endParaRPr lang="en-US" altLang="zh-CN" sz="2000" b="1" kern="100" dirty="0">
              <a:solidFill>
                <a:srgbClr val="000000"/>
              </a:solidFill>
              <a:effectLst/>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F68CA753-82BA-4623-9F60-B8B132AAA2FD}"/>
              </a:ext>
            </a:extLst>
          </p:cNvPr>
          <p:cNvSpPr txBox="1"/>
          <p:nvPr/>
        </p:nvSpPr>
        <p:spPr>
          <a:xfrm>
            <a:off x="5932936" y="3509630"/>
            <a:ext cx="2808312" cy="338554"/>
          </a:xfrm>
          <a:prstGeom prst="rect">
            <a:avLst/>
          </a:prstGeom>
          <a:noFill/>
        </p:spPr>
        <p:txBody>
          <a:bodyPr wrap="square" rtlCol="0">
            <a:spAutoFit/>
          </a:bodyPr>
          <a:lstStyle/>
          <a:p>
            <a:pPr algn="ctr"/>
            <a:r>
              <a:rPr lang="zh-CN" altLang="en-US" sz="1600" b="1" dirty="0">
                <a:solidFill>
                  <a:srgbClr val="002060"/>
                </a:solidFill>
                <a:latin typeface="Times New Roman" panose="02020603050405020304" pitchFamily="18" charset="0"/>
                <a:cs typeface="Times New Roman" panose="02020603050405020304" pitchFamily="18" charset="0"/>
              </a:rPr>
              <a:t>图</a:t>
            </a:r>
            <a:r>
              <a:rPr lang="en-US" altLang="zh-CN" sz="1600" b="1" dirty="0">
                <a:solidFill>
                  <a:srgbClr val="002060"/>
                </a:solidFill>
                <a:latin typeface="Times New Roman" panose="02020603050405020304" pitchFamily="18" charset="0"/>
                <a:cs typeface="Times New Roman" panose="02020603050405020304" pitchFamily="18" charset="0"/>
              </a:rPr>
              <a:t>1.11 </a:t>
            </a:r>
            <a:r>
              <a:rPr lang="zh-CN" altLang="en-US" sz="1600" b="1" dirty="0">
                <a:solidFill>
                  <a:srgbClr val="002060"/>
                </a:solidFill>
                <a:latin typeface="Times New Roman" panose="02020603050405020304" pitchFamily="18" charset="0"/>
                <a:cs typeface="Times New Roman" panose="02020603050405020304" pitchFamily="18" charset="0"/>
              </a:rPr>
              <a:t>存储器组成框图</a:t>
            </a:r>
          </a:p>
        </p:txBody>
      </p:sp>
      <p:pic>
        <p:nvPicPr>
          <p:cNvPr id="42" name="图片 41">
            <a:extLst>
              <a:ext uri="{FF2B5EF4-FFF2-40B4-BE49-F238E27FC236}">
                <a16:creationId xmlns:a16="http://schemas.microsoft.com/office/drawing/2014/main" id="{2FE32900-64BA-47F9-B3BA-F4B42F0F3795}"/>
              </a:ext>
            </a:extLst>
          </p:cNvPr>
          <p:cNvPicPr>
            <a:picLocks noChangeAspect="1"/>
          </p:cNvPicPr>
          <p:nvPr/>
        </p:nvPicPr>
        <p:blipFill>
          <a:blip r:embed="rId4"/>
          <a:stretch>
            <a:fillRect/>
          </a:stretch>
        </p:blipFill>
        <p:spPr>
          <a:xfrm>
            <a:off x="5490210" y="1319989"/>
            <a:ext cx="3755346" cy="2005197"/>
          </a:xfrm>
          <a:prstGeom prst="rect">
            <a:avLst/>
          </a:prstGeom>
        </p:spPr>
      </p:pic>
      <p:sp>
        <p:nvSpPr>
          <p:cNvPr id="44" name="文本框 43">
            <a:extLst>
              <a:ext uri="{FF2B5EF4-FFF2-40B4-BE49-F238E27FC236}">
                <a16:creationId xmlns:a16="http://schemas.microsoft.com/office/drawing/2014/main" id="{F6B55A4D-EA2F-4CD7-AF9D-B257309ED423}"/>
              </a:ext>
            </a:extLst>
          </p:cNvPr>
          <p:cNvSpPr txBox="1"/>
          <p:nvPr/>
        </p:nvSpPr>
        <p:spPr>
          <a:xfrm>
            <a:off x="12741" y="4425411"/>
            <a:ext cx="9090248" cy="2449966"/>
          </a:xfrm>
          <a:prstGeom prst="rect">
            <a:avLst/>
          </a:prstGeom>
          <a:solidFill>
            <a:srgbClr val="FFFFCC"/>
          </a:solidFill>
        </p:spPr>
        <p:txBody>
          <a:bodyPr wrap="square">
            <a:spAutoFit/>
          </a:bodyPr>
          <a:lstStyle/>
          <a:p>
            <a:pPr marL="393700" marR="254000" indent="-342900">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向存储单元存入或从存储单元取出信息，都称为</a:t>
            </a:r>
            <a:r>
              <a:rPr lang="zh-CN" altLang="en-US" sz="2000" b="1" dirty="0">
                <a:solidFill>
                  <a:srgbClr val="0000FF"/>
                </a:solidFill>
                <a:latin typeface="Times New Roman" panose="02020603050405020304" pitchFamily="18" charset="0"/>
                <a:cs typeface="Times New Roman" panose="02020603050405020304" pitchFamily="18" charset="0"/>
              </a:rPr>
              <a:t>访问存储器</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93700" marR="254000" indent="-342900">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访问存储器时，先</a:t>
            </a:r>
            <a:r>
              <a:rPr lang="zh-CN" altLang="en-US" sz="2000" b="1" dirty="0">
                <a:solidFill>
                  <a:srgbClr val="0000FF"/>
                </a:solidFill>
                <a:latin typeface="Times New Roman" panose="02020603050405020304" pitchFamily="18" charset="0"/>
                <a:cs typeface="Times New Roman" panose="02020603050405020304" pitchFamily="18" charset="0"/>
              </a:rPr>
              <a:t>由地址译码器将送来的单元地址进行译码</a:t>
            </a:r>
            <a:r>
              <a:rPr lang="zh-CN" altLang="en-US" sz="2000" b="1" dirty="0">
                <a:latin typeface="Times New Roman" panose="02020603050405020304" pitchFamily="18" charset="0"/>
                <a:cs typeface="Times New Roman" panose="02020603050405020304" pitchFamily="18" charset="0"/>
              </a:rPr>
              <a:t>，找到相应的存储单元；然后</a:t>
            </a:r>
            <a:r>
              <a:rPr lang="zh-CN" altLang="en-US" sz="2000" b="1" dirty="0">
                <a:solidFill>
                  <a:srgbClr val="0000FF"/>
                </a:solidFill>
                <a:latin typeface="Times New Roman" panose="02020603050405020304" pitchFamily="18" charset="0"/>
                <a:cs typeface="Times New Roman" panose="02020603050405020304" pitchFamily="18" charset="0"/>
              </a:rPr>
              <a:t>由读</a:t>
            </a:r>
            <a:r>
              <a:rPr lang="en-US" altLang="zh-CN" sz="2000" b="1" dirty="0">
                <a:solidFill>
                  <a:srgbClr val="0000FF"/>
                </a:solidFill>
                <a:latin typeface="Times New Roman" panose="02020603050405020304" pitchFamily="18" charset="0"/>
                <a:cs typeface="Times New Roman" panose="02020603050405020304" pitchFamily="18" charset="0"/>
              </a:rPr>
              <a:t>/</a:t>
            </a:r>
            <a:r>
              <a:rPr lang="zh-CN" altLang="en-US" sz="2000" b="1" dirty="0">
                <a:solidFill>
                  <a:srgbClr val="0000FF"/>
                </a:solidFill>
                <a:latin typeface="Times New Roman" panose="02020603050405020304" pitchFamily="18" charset="0"/>
                <a:cs typeface="Times New Roman" panose="02020603050405020304" pitchFamily="18" charset="0"/>
              </a:rPr>
              <a:t>写控制电路确定访问存储器的方式</a:t>
            </a:r>
            <a:r>
              <a:rPr lang="zh-CN" altLang="en-US" sz="2000" b="1" dirty="0">
                <a:latin typeface="Times New Roman" panose="02020603050405020304" pitchFamily="18" charset="0"/>
                <a:cs typeface="Times New Roman" panose="02020603050405020304" pitchFamily="18" charset="0"/>
              </a:rPr>
              <a:t>，即取出（读）或存入（写）；再</a:t>
            </a:r>
            <a:r>
              <a:rPr lang="zh-CN" altLang="en-US" sz="2000" b="1" dirty="0">
                <a:solidFill>
                  <a:srgbClr val="0000FF"/>
                </a:solidFill>
                <a:latin typeface="Times New Roman" panose="02020603050405020304" pitchFamily="18" charset="0"/>
                <a:cs typeface="Times New Roman" panose="02020603050405020304" pitchFamily="18" charset="0"/>
              </a:rPr>
              <a:t>按规定的方式完成取出或存入操作</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93700" marR="254000" indent="-342900">
              <a:lnSpc>
                <a:spcPct val="130000"/>
              </a:lnSpc>
              <a:spcAft>
                <a:spcPts val="0"/>
              </a:spcAft>
              <a:buFont typeface="Arial" panose="020B0604020202020204" pitchFamily="34" charset="0"/>
              <a:buChar char="•"/>
            </a:pPr>
            <a:r>
              <a:rPr lang="zh-CN" altLang="zh-CN" sz="2000" b="1" dirty="0">
                <a:latin typeface="Times New Roman" panose="02020603050405020304" pitchFamily="18" charset="0"/>
                <a:cs typeface="Times New Roman" panose="02020603050405020304" pitchFamily="18" charset="0"/>
              </a:rPr>
              <a:t>与存储器有关的部件还有地址总线与数据总线。它们分别为访问存储器传递地址信息和数据信息，地址总线是单向的，数据总线是双向的。</a:t>
            </a:r>
            <a:endParaRPr lang="zh-CN" alt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394704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08A898D1-18FE-4FC5-3797-7A97B818E273}"/>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15" name="文本框 14">
            <a:extLst>
              <a:ext uri="{FF2B5EF4-FFF2-40B4-BE49-F238E27FC236}">
                <a16:creationId xmlns:a16="http://schemas.microsoft.com/office/drawing/2014/main" id="{7AB73D5C-778B-4A3D-B594-C57C9335CA67}"/>
              </a:ext>
            </a:extLst>
          </p:cNvPr>
          <p:cNvSpPr txBox="1"/>
          <p:nvPr/>
        </p:nvSpPr>
        <p:spPr>
          <a:xfrm>
            <a:off x="-81940" y="813132"/>
            <a:ext cx="9001000" cy="461665"/>
          </a:xfrm>
          <a:prstGeom prst="rect">
            <a:avLst/>
          </a:prstGeom>
          <a:noFill/>
        </p:spPr>
        <p:txBody>
          <a:bodyPr wrap="squar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2</a:t>
            </a:r>
            <a:r>
              <a:rPr lang="zh-CN" altLang="en-US" sz="2400" b="1" dirty="0">
                <a:solidFill>
                  <a:srgbClr val="FF0000"/>
                </a:solidFill>
                <a:latin typeface="Times New Roman" panose="02020603050405020304" pitchFamily="18" charset="0"/>
                <a:cs typeface="Times New Roman" panose="02020603050405020304" pitchFamily="18" charset="0"/>
              </a:rPr>
              <a:t>）运算器</a:t>
            </a:r>
          </a:p>
        </p:txBody>
      </p:sp>
      <p:sp>
        <p:nvSpPr>
          <p:cNvPr id="39" name="文本框 38">
            <a:extLst>
              <a:ext uri="{FF2B5EF4-FFF2-40B4-BE49-F238E27FC236}">
                <a16:creationId xmlns:a16="http://schemas.microsoft.com/office/drawing/2014/main" id="{975C2C27-5487-4185-8DCD-3E4EFD958B7E}"/>
              </a:ext>
            </a:extLst>
          </p:cNvPr>
          <p:cNvSpPr txBox="1"/>
          <p:nvPr/>
        </p:nvSpPr>
        <p:spPr>
          <a:xfrm>
            <a:off x="39404" y="1211874"/>
            <a:ext cx="6241937" cy="2449966"/>
          </a:xfrm>
          <a:prstGeom prst="rect">
            <a:avLst/>
          </a:prstGeom>
          <a:noFill/>
        </p:spPr>
        <p:txBody>
          <a:bodyPr wrap="square">
            <a:spAutoFit/>
          </a:bodyPr>
          <a:lstStyle/>
          <a:p>
            <a:pPr marL="381000" marR="254000" indent="-342900" algn="just">
              <a:lnSpc>
                <a:spcPct val="130000"/>
              </a:lnSpc>
              <a:spcAft>
                <a:spcPts val="0"/>
              </a:spcAft>
              <a:buFont typeface="Arial" panose="020B0604020202020204" pitchFamily="34" charset="0"/>
              <a:buChar char="•"/>
            </a:pPr>
            <a:r>
              <a:rPr lang="zh-CN" altLang="en-US" sz="2000" b="1" kern="100" dirty="0">
                <a:solidFill>
                  <a:srgbClr val="000000"/>
                </a:solidFill>
                <a:effectLst/>
                <a:latin typeface="Times New Roman" panose="02020603050405020304" pitchFamily="18" charset="0"/>
                <a:cs typeface="Times New Roman" panose="02020603050405020304" pitchFamily="18" charset="0"/>
              </a:rPr>
              <a:t>运算器是</a:t>
            </a:r>
            <a:r>
              <a:rPr lang="zh-CN" altLang="en-US" sz="2000" b="1" kern="100" dirty="0">
                <a:solidFill>
                  <a:srgbClr val="0000FF"/>
                </a:solidFill>
                <a:effectLst/>
                <a:latin typeface="Times New Roman" panose="02020603050405020304" pitchFamily="18" charset="0"/>
                <a:cs typeface="Times New Roman" panose="02020603050405020304" pitchFamily="18" charset="0"/>
              </a:rPr>
              <a:t>用于信息加工处理的部件</a:t>
            </a:r>
            <a:r>
              <a:rPr lang="zh-CN" altLang="en-US" sz="2000" b="1" kern="100" dirty="0">
                <a:solidFill>
                  <a:srgbClr val="000000"/>
                </a:solidFill>
                <a:effectLst/>
                <a:latin typeface="Times New Roman" panose="02020603050405020304" pitchFamily="18" charset="0"/>
                <a:cs typeface="Times New Roman" panose="02020603050405020304" pitchFamily="18" charset="0"/>
              </a:rPr>
              <a:t>，它对数据进行算术运算和逻辑运算。</a:t>
            </a:r>
            <a:endParaRPr lang="en-US" altLang="zh-CN" sz="2000" b="1" kern="100" dirty="0">
              <a:solidFill>
                <a:srgbClr val="000000"/>
              </a:solidFill>
              <a:effectLst/>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kern="100" dirty="0">
                <a:solidFill>
                  <a:srgbClr val="0000FF"/>
                </a:solidFill>
                <a:effectLst/>
                <a:latin typeface="Times New Roman" panose="02020603050405020304" pitchFamily="18" charset="0"/>
                <a:cs typeface="Times New Roman" panose="02020603050405020304" pitchFamily="18" charset="0"/>
              </a:rPr>
              <a:t>算术运算</a:t>
            </a:r>
            <a:r>
              <a:rPr lang="zh-CN" altLang="en-US" sz="2000" b="1" kern="100" dirty="0">
                <a:solidFill>
                  <a:srgbClr val="000000"/>
                </a:solidFill>
                <a:effectLst/>
                <a:latin typeface="Times New Roman" panose="02020603050405020304" pitchFamily="18" charset="0"/>
                <a:cs typeface="Times New Roman" panose="02020603050405020304" pitchFamily="18" charset="0"/>
              </a:rPr>
              <a:t>是按照算术规则进行的加、减、乘、除等运算。</a:t>
            </a:r>
            <a:endParaRPr lang="en-US" altLang="zh-CN" sz="2000" b="1" kern="100" dirty="0">
              <a:solidFill>
                <a:srgbClr val="000000"/>
              </a:solidFill>
              <a:effectLst/>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kern="100" dirty="0">
                <a:solidFill>
                  <a:srgbClr val="0000FF"/>
                </a:solidFill>
                <a:effectLst/>
                <a:latin typeface="Times New Roman" panose="02020603050405020304" pitchFamily="18" charset="0"/>
                <a:cs typeface="Times New Roman" panose="02020603050405020304" pitchFamily="18" charset="0"/>
              </a:rPr>
              <a:t>逻辑运算</a:t>
            </a:r>
            <a:r>
              <a:rPr lang="zh-CN" altLang="en-US" sz="2000" b="1" kern="100" dirty="0">
                <a:solidFill>
                  <a:srgbClr val="000000"/>
                </a:solidFill>
                <a:effectLst/>
                <a:latin typeface="Times New Roman" panose="02020603050405020304" pitchFamily="18" charset="0"/>
                <a:cs typeface="Times New Roman" panose="02020603050405020304" pitchFamily="18" charset="0"/>
              </a:rPr>
              <a:t>一般泛指非算术运算，如比较、移位、逻辑加、逻辑乘、逻辑取反及异或等。</a:t>
            </a:r>
            <a:endParaRPr lang="en-US" altLang="zh-CN" sz="2000" b="1" kern="100" dirty="0">
              <a:solidFill>
                <a:srgbClr val="000000"/>
              </a:solidFill>
              <a:effectLst/>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F68CA753-82BA-4623-9F60-B8B132AAA2FD}"/>
              </a:ext>
            </a:extLst>
          </p:cNvPr>
          <p:cNvSpPr txBox="1"/>
          <p:nvPr/>
        </p:nvSpPr>
        <p:spPr>
          <a:xfrm>
            <a:off x="6192769" y="3148557"/>
            <a:ext cx="2808312" cy="338554"/>
          </a:xfrm>
          <a:prstGeom prst="rect">
            <a:avLst/>
          </a:prstGeom>
          <a:noFill/>
        </p:spPr>
        <p:txBody>
          <a:bodyPr wrap="square" rtlCol="0">
            <a:spAutoFit/>
          </a:bodyPr>
          <a:lstStyle/>
          <a:p>
            <a:pPr algn="ctr"/>
            <a:r>
              <a:rPr lang="zh-CN" altLang="en-US" sz="1600" b="1" dirty="0">
                <a:solidFill>
                  <a:srgbClr val="002060"/>
                </a:solidFill>
                <a:latin typeface="Times New Roman" panose="02020603050405020304" pitchFamily="18" charset="0"/>
                <a:cs typeface="Times New Roman" panose="02020603050405020304" pitchFamily="18" charset="0"/>
              </a:rPr>
              <a:t>图</a:t>
            </a:r>
            <a:r>
              <a:rPr lang="en-US" altLang="zh-CN" sz="1600" b="1" dirty="0">
                <a:solidFill>
                  <a:srgbClr val="002060"/>
                </a:solidFill>
                <a:latin typeface="Times New Roman" panose="02020603050405020304" pitchFamily="18" charset="0"/>
                <a:cs typeface="Times New Roman" panose="02020603050405020304" pitchFamily="18" charset="0"/>
              </a:rPr>
              <a:t>1.12 </a:t>
            </a:r>
            <a:r>
              <a:rPr lang="zh-CN" altLang="en-US" sz="1600" b="1" dirty="0">
                <a:solidFill>
                  <a:srgbClr val="002060"/>
                </a:solidFill>
                <a:latin typeface="Times New Roman" panose="02020603050405020304" pitchFamily="18" charset="0"/>
                <a:cs typeface="Times New Roman" panose="02020603050405020304" pitchFamily="18" charset="0"/>
              </a:rPr>
              <a:t>运算器示意图</a:t>
            </a:r>
          </a:p>
        </p:txBody>
      </p:sp>
      <p:pic>
        <p:nvPicPr>
          <p:cNvPr id="3" name="图片 2">
            <a:extLst>
              <a:ext uri="{FF2B5EF4-FFF2-40B4-BE49-F238E27FC236}">
                <a16:creationId xmlns:a16="http://schemas.microsoft.com/office/drawing/2014/main" id="{2D9F3BCE-107E-44AE-ADB5-5DF282B3F7BC}"/>
              </a:ext>
            </a:extLst>
          </p:cNvPr>
          <p:cNvPicPr>
            <a:picLocks noChangeAspect="1"/>
          </p:cNvPicPr>
          <p:nvPr/>
        </p:nvPicPr>
        <p:blipFill>
          <a:blip r:embed="rId4"/>
          <a:stretch>
            <a:fillRect/>
          </a:stretch>
        </p:blipFill>
        <p:spPr>
          <a:xfrm>
            <a:off x="6452531" y="793247"/>
            <a:ext cx="2520280" cy="2226248"/>
          </a:xfrm>
          <a:prstGeom prst="rect">
            <a:avLst/>
          </a:prstGeom>
        </p:spPr>
      </p:pic>
      <p:sp>
        <p:nvSpPr>
          <p:cNvPr id="10" name="文本框 9">
            <a:extLst>
              <a:ext uri="{FF2B5EF4-FFF2-40B4-BE49-F238E27FC236}">
                <a16:creationId xmlns:a16="http://schemas.microsoft.com/office/drawing/2014/main" id="{8060A98B-FAC4-438C-91D0-000BFBA4A38E}"/>
              </a:ext>
            </a:extLst>
          </p:cNvPr>
          <p:cNvSpPr txBox="1"/>
          <p:nvPr/>
        </p:nvSpPr>
        <p:spPr>
          <a:xfrm>
            <a:off x="150323" y="3947572"/>
            <a:ext cx="8876654" cy="2449966"/>
          </a:xfrm>
          <a:prstGeom prst="rect">
            <a:avLst/>
          </a:prstGeom>
          <a:solidFill>
            <a:srgbClr val="FFFFCC"/>
          </a:solidFill>
        </p:spPr>
        <p:txBody>
          <a:bodyPr wrap="square">
            <a:spAutoFit/>
          </a:bodyPr>
          <a:lstStyle/>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运算器通常由算术逻辑单元（</a:t>
            </a:r>
            <a:r>
              <a:rPr lang="en-US" altLang="zh-CN" sz="2000" b="1" dirty="0">
                <a:latin typeface="Times New Roman" panose="02020603050405020304" pitchFamily="18" charset="0"/>
                <a:cs typeface="Times New Roman" panose="02020603050405020304" pitchFamily="18" charset="0"/>
              </a:rPr>
              <a:t>ALU</a:t>
            </a:r>
            <a:r>
              <a:rPr lang="zh-CN" altLang="en-US" sz="2000" b="1" dirty="0">
                <a:latin typeface="Times New Roman" panose="02020603050405020304" pitchFamily="18" charset="0"/>
                <a:cs typeface="Times New Roman" panose="02020603050405020304" pitchFamily="18" charset="0"/>
              </a:rPr>
              <a:t>）和一系列寄存器组成。</a:t>
            </a:r>
            <a:r>
              <a:rPr lang="en-US" altLang="zh-CN" sz="2000" b="1" dirty="0">
                <a:solidFill>
                  <a:srgbClr val="0000FF"/>
                </a:solidFill>
                <a:latin typeface="Times New Roman" panose="02020603050405020304" pitchFamily="18" charset="0"/>
                <a:cs typeface="Times New Roman" panose="02020603050405020304" pitchFamily="18" charset="0"/>
              </a:rPr>
              <a:t>ALU</a:t>
            </a:r>
            <a:r>
              <a:rPr lang="zh-CN" altLang="en-US" sz="2000" b="1" dirty="0">
                <a:solidFill>
                  <a:srgbClr val="0000FF"/>
                </a:solidFill>
                <a:latin typeface="Times New Roman" panose="02020603050405020304" pitchFamily="18" charset="0"/>
                <a:cs typeface="Times New Roman" panose="02020603050405020304" pitchFamily="18" charset="0"/>
              </a:rPr>
              <a:t>是具体完成算术与逻辑运算的部件</a:t>
            </a:r>
            <a:r>
              <a:rPr lang="zh-CN" altLang="en-US" sz="2000" b="1" dirty="0">
                <a:latin typeface="Times New Roman" panose="02020603050405020304" pitchFamily="18" charset="0"/>
                <a:cs typeface="Times New Roman" panose="02020603050405020304" pitchFamily="18" charset="0"/>
              </a:rPr>
              <a:t>；</a:t>
            </a:r>
            <a:r>
              <a:rPr lang="zh-CN" altLang="en-US" sz="2000" b="1" dirty="0">
                <a:solidFill>
                  <a:srgbClr val="0000FF"/>
                </a:solidFill>
                <a:latin typeface="Times New Roman" panose="02020603050405020304" pitchFamily="18" charset="0"/>
                <a:cs typeface="Times New Roman" panose="02020603050405020304" pitchFamily="18" charset="0"/>
              </a:rPr>
              <a:t>寄存器用于存放运算操作数</a:t>
            </a:r>
            <a:r>
              <a:rPr lang="zh-CN" altLang="en-US" sz="2000" b="1" dirty="0">
                <a:latin typeface="Times New Roman" panose="02020603050405020304" pitchFamily="18" charset="0"/>
                <a:cs typeface="Times New Roman" panose="02020603050405020304" pitchFamily="18" charset="0"/>
              </a:rPr>
              <a:t>；</a:t>
            </a:r>
            <a:r>
              <a:rPr lang="zh-CN" altLang="en-US" sz="2000" b="1" dirty="0">
                <a:solidFill>
                  <a:srgbClr val="0000FF"/>
                </a:solidFill>
                <a:latin typeface="Times New Roman" panose="02020603050405020304" pitchFamily="18" charset="0"/>
                <a:cs typeface="Times New Roman" panose="02020603050405020304" pitchFamily="18" charset="0"/>
              </a:rPr>
              <a:t>累加器除存放运算操作数外</a:t>
            </a:r>
            <a:r>
              <a:rPr lang="zh-CN" altLang="en-US" sz="2000" b="1" dirty="0">
                <a:latin typeface="Times New Roman" panose="02020603050405020304" pitchFamily="18" charset="0"/>
                <a:cs typeface="Times New Roman" panose="02020603050405020304" pitchFamily="18" charset="0"/>
              </a:rPr>
              <a:t>，在连续运算中，还用于</a:t>
            </a:r>
            <a:r>
              <a:rPr lang="zh-CN" altLang="en-US" sz="2000" b="1" dirty="0">
                <a:solidFill>
                  <a:srgbClr val="0000FF"/>
                </a:solidFill>
                <a:latin typeface="Times New Roman" panose="02020603050405020304" pitchFamily="18" charset="0"/>
                <a:cs typeface="Times New Roman" panose="02020603050405020304" pitchFamily="18" charset="0"/>
              </a:rPr>
              <a:t>存放中间结果和最后结果</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一般将</a:t>
            </a:r>
            <a:r>
              <a:rPr lang="zh-CN" altLang="en-US" sz="2000" b="1" dirty="0">
                <a:solidFill>
                  <a:srgbClr val="0000FF"/>
                </a:solidFill>
                <a:latin typeface="Times New Roman" panose="02020603050405020304" pitchFamily="18" charset="0"/>
                <a:cs typeface="Times New Roman" panose="02020603050405020304" pitchFamily="18" charset="0"/>
              </a:rPr>
              <a:t>运算器一次运算能处理的二进制位数称为机器字长</a:t>
            </a:r>
            <a:r>
              <a:rPr lang="zh-CN" altLang="en-US" sz="2000" b="1" dirty="0">
                <a:latin typeface="Times New Roman" panose="02020603050405020304" pitchFamily="18" charset="0"/>
                <a:cs typeface="Times New Roman" panose="02020603050405020304" pitchFamily="18" charset="0"/>
              </a:rPr>
              <a:t>，它是计算机的重要性能指标。</a:t>
            </a:r>
            <a:r>
              <a:rPr lang="zh-CN" altLang="en-US" sz="2000" b="1" dirty="0">
                <a:solidFill>
                  <a:srgbClr val="0000FF"/>
                </a:solidFill>
                <a:latin typeface="Times New Roman" panose="02020603050405020304" pitchFamily="18" charset="0"/>
                <a:cs typeface="Times New Roman" panose="02020603050405020304" pitchFamily="18" charset="0"/>
              </a:rPr>
              <a:t>寄存器、累加器及存储单元的长度一般与机器字长相等。</a:t>
            </a:r>
          </a:p>
        </p:txBody>
      </p:sp>
    </p:spTree>
    <p:extLst>
      <p:ext uri="{BB962C8B-B14F-4D97-AF65-F5344CB8AC3E}">
        <p14:creationId xmlns:p14="http://schemas.microsoft.com/office/powerpoint/2010/main" val="373550887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08A898D1-18FE-4FC5-3797-7A97B818E273}"/>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15" name="文本框 14">
            <a:extLst>
              <a:ext uri="{FF2B5EF4-FFF2-40B4-BE49-F238E27FC236}">
                <a16:creationId xmlns:a16="http://schemas.microsoft.com/office/drawing/2014/main" id="{7AB73D5C-778B-4A3D-B594-C57C9335CA67}"/>
              </a:ext>
            </a:extLst>
          </p:cNvPr>
          <p:cNvSpPr txBox="1"/>
          <p:nvPr/>
        </p:nvSpPr>
        <p:spPr>
          <a:xfrm>
            <a:off x="-81940" y="813132"/>
            <a:ext cx="9001000" cy="461665"/>
          </a:xfrm>
          <a:prstGeom prst="rect">
            <a:avLst/>
          </a:prstGeom>
          <a:noFill/>
        </p:spPr>
        <p:txBody>
          <a:bodyPr wrap="squar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3</a:t>
            </a:r>
            <a:r>
              <a:rPr lang="zh-CN" altLang="en-US" sz="2400" b="1" dirty="0">
                <a:solidFill>
                  <a:srgbClr val="FF0000"/>
                </a:solidFill>
                <a:latin typeface="Times New Roman" panose="02020603050405020304" pitchFamily="18" charset="0"/>
                <a:cs typeface="Times New Roman" panose="02020603050405020304" pitchFamily="18" charset="0"/>
              </a:rPr>
              <a:t>）控制器</a:t>
            </a:r>
          </a:p>
        </p:txBody>
      </p:sp>
      <p:sp>
        <p:nvSpPr>
          <p:cNvPr id="39" name="文本框 38">
            <a:extLst>
              <a:ext uri="{FF2B5EF4-FFF2-40B4-BE49-F238E27FC236}">
                <a16:creationId xmlns:a16="http://schemas.microsoft.com/office/drawing/2014/main" id="{975C2C27-5487-4185-8DCD-3E4EFD958B7E}"/>
              </a:ext>
            </a:extLst>
          </p:cNvPr>
          <p:cNvSpPr txBox="1"/>
          <p:nvPr/>
        </p:nvSpPr>
        <p:spPr>
          <a:xfrm>
            <a:off x="0" y="1255032"/>
            <a:ext cx="5896734" cy="2850076"/>
          </a:xfrm>
          <a:prstGeom prst="rect">
            <a:avLst/>
          </a:prstGeom>
          <a:noFill/>
        </p:spPr>
        <p:txBody>
          <a:bodyPr wrap="square">
            <a:spAutoFit/>
          </a:bodyPr>
          <a:lstStyle/>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控制器是</a:t>
            </a:r>
            <a:r>
              <a:rPr lang="zh-CN" altLang="en-US" sz="2000" b="1" dirty="0">
                <a:solidFill>
                  <a:srgbClr val="0000FF"/>
                </a:solidFill>
                <a:latin typeface="Times New Roman" panose="02020603050405020304" pitchFamily="18" charset="0"/>
                <a:cs typeface="Times New Roman" panose="02020603050405020304" pitchFamily="18" charset="0"/>
              </a:rPr>
              <a:t>整个计算机的指挥中心</a:t>
            </a:r>
            <a:r>
              <a:rPr lang="zh-CN" altLang="en-US" sz="2000" b="1" dirty="0">
                <a:latin typeface="Times New Roman" panose="02020603050405020304" pitchFamily="18" charset="0"/>
                <a:cs typeface="Times New Roman" panose="02020603050405020304" pitchFamily="18" charset="0"/>
              </a:rPr>
              <a:t>，它可</a:t>
            </a:r>
            <a:r>
              <a:rPr lang="zh-CN" altLang="en-US" sz="2000" b="1" dirty="0">
                <a:solidFill>
                  <a:srgbClr val="0000FF"/>
                </a:solidFill>
                <a:latin typeface="Times New Roman" panose="02020603050405020304" pitchFamily="18" charset="0"/>
                <a:cs typeface="Times New Roman" panose="02020603050405020304" pitchFamily="18" charset="0"/>
              </a:rPr>
              <a:t>使计算机各部件协调的工作</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控制器工作的实质就是</a:t>
            </a:r>
            <a:r>
              <a:rPr lang="zh-CN" altLang="en-US" sz="2000" b="1" dirty="0">
                <a:solidFill>
                  <a:srgbClr val="0000FF"/>
                </a:solidFill>
                <a:latin typeface="Times New Roman" panose="02020603050405020304" pitchFamily="18" charset="0"/>
                <a:cs typeface="Times New Roman" panose="02020603050405020304" pitchFamily="18" charset="0"/>
              </a:rPr>
              <a:t>解释程序</a:t>
            </a:r>
            <a:r>
              <a:rPr lang="zh-CN" altLang="en-US" sz="2000" b="1" dirty="0">
                <a:latin typeface="Times New Roman" panose="02020603050405020304" pitchFamily="18" charset="0"/>
                <a:cs typeface="Times New Roman" panose="02020603050405020304" pitchFamily="18" charset="0"/>
              </a:rPr>
              <a:t>，它每次从存储器读取一条指令，经过分析译码产生一串操作命令，再发给各功能部件控制各部件动作，使整个机器连续地、有条不紊的运行，以实现指令和程序的功能。</a:t>
            </a:r>
            <a:endParaRPr lang="en-US" altLang="zh-CN" sz="2000" b="1"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F68CA753-82BA-4623-9F60-B8B132AAA2FD}"/>
              </a:ext>
            </a:extLst>
          </p:cNvPr>
          <p:cNvSpPr txBox="1"/>
          <p:nvPr/>
        </p:nvSpPr>
        <p:spPr>
          <a:xfrm>
            <a:off x="6166096" y="3498530"/>
            <a:ext cx="2808312" cy="338554"/>
          </a:xfrm>
          <a:prstGeom prst="rect">
            <a:avLst/>
          </a:prstGeom>
          <a:noFill/>
        </p:spPr>
        <p:txBody>
          <a:bodyPr wrap="square" rtlCol="0">
            <a:spAutoFit/>
          </a:bodyPr>
          <a:lstStyle/>
          <a:p>
            <a:pPr algn="ctr"/>
            <a:r>
              <a:rPr lang="zh-CN" altLang="en-US" sz="1600" b="1" dirty="0">
                <a:solidFill>
                  <a:srgbClr val="002060"/>
                </a:solidFill>
                <a:latin typeface="Times New Roman" panose="02020603050405020304" pitchFamily="18" charset="0"/>
                <a:cs typeface="Times New Roman" panose="02020603050405020304" pitchFamily="18" charset="0"/>
              </a:rPr>
              <a:t>图</a:t>
            </a:r>
            <a:r>
              <a:rPr lang="en-US" altLang="zh-CN" sz="1600" b="1" dirty="0">
                <a:solidFill>
                  <a:srgbClr val="002060"/>
                </a:solidFill>
                <a:latin typeface="Times New Roman" panose="02020603050405020304" pitchFamily="18" charset="0"/>
                <a:cs typeface="Times New Roman" panose="02020603050405020304" pitchFamily="18" charset="0"/>
              </a:rPr>
              <a:t>1.13 </a:t>
            </a:r>
            <a:r>
              <a:rPr lang="zh-CN" altLang="en-US" sz="1600" b="1" dirty="0">
                <a:solidFill>
                  <a:srgbClr val="002060"/>
                </a:solidFill>
                <a:latin typeface="Times New Roman" panose="02020603050405020304" pitchFamily="18" charset="0"/>
                <a:cs typeface="Times New Roman" panose="02020603050405020304" pitchFamily="18" charset="0"/>
              </a:rPr>
              <a:t> 控制器结构图</a:t>
            </a:r>
          </a:p>
        </p:txBody>
      </p:sp>
      <p:pic>
        <p:nvPicPr>
          <p:cNvPr id="4" name="图片 3">
            <a:extLst>
              <a:ext uri="{FF2B5EF4-FFF2-40B4-BE49-F238E27FC236}">
                <a16:creationId xmlns:a16="http://schemas.microsoft.com/office/drawing/2014/main" id="{52C66A15-0027-460E-9AE6-028D3A653658}"/>
              </a:ext>
            </a:extLst>
          </p:cNvPr>
          <p:cNvPicPr>
            <a:picLocks noChangeAspect="1"/>
          </p:cNvPicPr>
          <p:nvPr/>
        </p:nvPicPr>
        <p:blipFill>
          <a:blip r:embed="rId4"/>
          <a:stretch>
            <a:fillRect/>
          </a:stretch>
        </p:blipFill>
        <p:spPr>
          <a:xfrm>
            <a:off x="6061994" y="1128872"/>
            <a:ext cx="3016516" cy="2223195"/>
          </a:xfrm>
          <a:prstGeom prst="rect">
            <a:avLst/>
          </a:prstGeom>
        </p:spPr>
      </p:pic>
      <p:sp>
        <p:nvSpPr>
          <p:cNvPr id="10" name="文本框 9">
            <a:extLst>
              <a:ext uri="{FF2B5EF4-FFF2-40B4-BE49-F238E27FC236}">
                <a16:creationId xmlns:a16="http://schemas.microsoft.com/office/drawing/2014/main" id="{7DCB98F3-14A4-46BA-A68F-57977E9FDCF9}"/>
              </a:ext>
            </a:extLst>
          </p:cNvPr>
          <p:cNvSpPr txBox="1"/>
          <p:nvPr/>
        </p:nvSpPr>
        <p:spPr>
          <a:xfrm>
            <a:off x="141123" y="4337136"/>
            <a:ext cx="8861754" cy="2342244"/>
          </a:xfrm>
          <a:prstGeom prst="rect">
            <a:avLst/>
          </a:prstGeom>
          <a:solidFill>
            <a:srgbClr val="FFFFCC"/>
          </a:solidFill>
        </p:spPr>
        <p:txBody>
          <a:bodyPr wrap="square">
            <a:spAutoFit/>
          </a:bodyPr>
          <a:lstStyle/>
          <a:p>
            <a:pPr marL="381000" marR="254000" indent="-342900" algn="just">
              <a:lnSpc>
                <a:spcPct val="15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计算机中有两股信息在流动：</a:t>
            </a:r>
            <a:endParaRPr lang="en-US" altLang="zh-CN" sz="2000" b="1" dirty="0">
              <a:latin typeface="Times New Roman" panose="02020603050405020304" pitchFamily="18" charset="0"/>
              <a:cs typeface="Times New Roman" panose="02020603050405020304" pitchFamily="18" charset="0"/>
            </a:endParaRPr>
          </a:p>
          <a:p>
            <a:pPr marL="838200" marR="254000" lvl="1" indent="-342900" algn="just">
              <a:lnSpc>
                <a:spcPct val="15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一股是控制流信息，即操作命令，它分散流向各个功能部件；</a:t>
            </a:r>
            <a:endParaRPr lang="en-US" altLang="zh-CN" sz="2000" b="1" dirty="0">
              <a:latin typeface="Times New Roman" panose="02020603050405020304" pitchFamily="18" charset="0"/>
              <a:cs typeface="Times New Roman" panose="02020603050405020304" pitchFamily="18" charset="0"/>
            </a:endParaRPr>
          </a:p>
          <a:p>
            <a:pPr marL="838200" marR="254000" lvl="1" indent="-342900" algn="just">
              <a:lnSpc>
                <a:spcPct val="15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另一股是数据流信息，它受控制流信息的控制，从一个部件流向另一个部件，在流动的过程中被相应的部件加工处理。</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50000"/>
              </a:lnSpc>
              <a:spcAft>
                <a:spcPts val="0"/>
              </a:spcAft>
              <a:buFont typeface="Arial" panose="020B0604020202020204" pitchFamily="34" charset="0"/>
              <a:buChar char="•"/>
            </a:pPr>
            <a:r>
              <a:rPr lang="zh-CN" altLang="zh-CN" sz="2000" b="1" dirty="0">
                <a:solidFill>
                  <a:srgbClr val="000000"/>
                </a:solidFill>
                <a:effectLst/>
                <a:ea typeface="宋体" panose="02010600030101010101" pitchFamily="2" charset="-122"/>
                <a:cs typeface="Times New Roman" panose="02020603050405020304" pitchFamily="18" charset="0"/>
              </a:rPr>
              <a:t>控制流信息的发源地是控制器。</a:t>
            </a:r>
            <a:endParaRPr lang="zh-CN" alt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912164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08A898D1-18FE-4FC5-3797-7A97B818E273}"/>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15" name="文本框 14">
            <a:extLst>
              <a:ext uri="{FF2B5EF4-FFF2-40B4-BE49-F238E27FC236}">
                <a16:creationId xmlns:a16="http://schemas.microsoft.com/office/drawing/2014/main" id="{7AB73D5C-778B-4A3D-B594-C57C9335CA67}"/>
              </a:ext>
            </a:extLst>
          </p:cNvPr>
          <p:cNvSpPr txBox="1"/>
          <p:nvPr/>
        </p:nvSpPr>
        <p:spPr>
          <a:xfrm>
            <a:off x="-81940" y="813132"/>
            <a:ext cx="9001000" cy="461665"/>
          </a:xfrm>
          <a:prstGeom prst="rect">
            <a:avLst/>
          </a:prstGeom>
          <a:noFill/>
        </p:spPr>
        <p:txBody>
          <a:bodyPr wrap="squar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4</a:t>
            </a:r>
            <a:r>
              <a:rPr lang="zh-CN" altLang="en-US" sz="2400" b="1" dirty="0">
                <a:solidFill>
                  <a:srgbClr val="FF0000"/>
                </a:solidFill>
                <a:latin typeface="Times New Roman" panose="02020603050405020304" pitchFamily="18" charset="0"/>
                <a:cs typeface="Times New Roman" panose="02020603050405020304" pitchFamily="18" charset="0"/>
              </a:rPr>
              <a:t>）输入设备</a:t>
            </a:r>
          </a:p>
        </p:txBody>
      </p:sp>
      <p:sp>
        <p:nvSpPr>
          <p:cNvPr id="39" name="文本框 38">
            <a:extLst>
              <a:ext uri="{FF2B5EF4-FFF2-40B4-BE49-F238E27FC236}">
                <a16:creationId xmlns:a16="http://schemas.microsoft.com/office/drawing/2014/main" id="{975C2C27-5487-4185-8DCD-3E4EFD958B7E}"/>
              </a:ext>
            </a:extLst>
          </p:cNvPr>
          <p:cNvSpPr txBox="1"/>
          <p:nvPr/>
        </p:nvSpPr>
        <p:spPr>
          <a:xfrm>
            <a:off x="71500" y="1313904"/>
            <a:ext cx="9000999" cy="5250733"/>
          </a:xfrm>
          <a:prstGeom prst="rect">
            <a:avLst/>
          </a:prstGeom>
          <a:noFill/>
        </p:spPr>
        <p:txBody>
          <a:bodyPr wrap="square">
            <a:spAutoFit/>
          </a:bodyPr>
          <a:lstStyle/>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输入设备就是</a:t>
            </a:r>
            <a:r>
              <a:rPr lang="zh-CN" altLang="en-US" sz="2000" b="1" dirty="0">
                <a:solidFill>
                  <a:srgbClr val="0000FF"/>
                </a:solidFill>
                <a:latin typeface="Times New Roman" panose="02020603050405020304" pitchFamily="18" charset="0"/>
                <a:cs typeface="Times New Roman" panose="02020603050405020304" pitchFamily="18" charset="0"/>
              </a:rPr>
              <a:t>将信息输入计算机的外部设备</a:t>
            </a:r>
            <a:r>
              <a:rPr lang="zh-CN" altLang="en-US" sz="2000" b="1" dirty="0">
                <a:latin typeface="Times New Roman" panose="02020603050405020304" pitchFamily="18" charset="0"/>
                <a:cs typeface="Times New Roman" panose="02020603050405020304" pitchFamily="18" charset="0"/>
              </a:rPr>
              <a:t>，它将人们熟悉的信息形式</a:t>
            </a:r>
            <a:r>
              <a:rPr lang="zh-CN" altLang="en-US" sz="2000" b="1" dirty="0">
                <a:solidFill>
                  <a:srgbClr val="0000FF"/>
                </a:solidFill>
                <a:latin typeface="Times New Roman" panose="02020603050405020304" pitchFamily="18" charset="0"/>
                <a:cs typeface="Times New Roman" panose="02020603050405020304" pitchFamily="18" charset="0"/>
              </a:rPr>
              <a:t>转换成计算机能接收并识别的信息形式</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solidFill>
                  <a:srgbClr val="FF0000"/>
                </a:solidFill>
                <a:latin typeface="Times New Roman" panose="02020603050405020304" pitchFamily="18" charset="0"/>
                <a:cs typeface="Times New Roman" panose="02020603050405020304" pitchFamily="18" charset="0"/>
              </a:rPr>
              <a:t>输入的信息</a:t>
            </a:r>
            <a:r>
              <a:rPr lang="zh-CN" altLang="en-US" sz="2000" b="1" dirty="0">
                <a:solidFill>
                  <a:srgbClr val="0000FF"/>
                </a:solidFill>
                <a:latin typeface="Times New Roman" panose="02020603050405020304" pitchFamily="18" charset="0"/>
                <a:cs typeface="Times New Roman" panose="02020603050405020304" pitchFamily="18" charset="0"/>
              </a:rPr>
              <a:t>有数字、字母、符号、文字、图形、图像、声音等多种形式</a:t>
            </a:r>
            <a:r>
              <a:rPr lang="zh-CN" altLang="en-US" sz="2000" b="1" dirty="0">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送入计算机的只有一种形式</a:t>
            </a:r>
            <a:r>
              <a:rPr lang="zh-CN" altLang="en-US" sz="2000" b="1" dirty="0">
                <a:latin typeface="Times New Roman" panose="02020603050405020304" pitchFamily="18" charset="0"/>
                <a:cs typeface="Times New Roman" panose="02020603050405020304" pitchFamily="18" charset="0"/>
              </a:rPr>
              <a:t>，就是</a:t>
            </a:r>
            <a:r>
              <a:rPr lang="zh-CN" altLang="en-US" sz="2000" b="1" dirty="0">
                <a:solidFill>
                  <a:srgbClr val="FF0000"/>
                </a:solidFill>
                <a:latin typeface="Times New Roman" panose="02020603050405020304" pitchFamily="18" charset="0"/>
                <a:cs typeface="Times New Roman" panose="02020603050405020304" pitchFamily="18" charset="0"/>
              </a:rPr>
              <a:t>二进制数据</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一般输入设备用于原始数据和程序的输入。</a:t>
            </a:r>
          </a:p>
          <a:p>
            <a:pPr marL="381000" marR="254000" indent="-342900" algn="just">
              <a:lnSpc>
                <a:spcPct val="130000"/>
              </a:lnSpc>
              <a:spcAft>
                <a:spcPts val="0"/>
              </a:spcAft>
              <a:buFont typeface="Arial" panose="020B0604020202020204" pitchFamily="34" charset="0"/>
              <a:buChar char="•"/>
            </a:pPr>
            <a:r>
              <a:rPr lang="zh-CN" altLang="en-US" sz="2000" b="1" dirty="0">
                <a:solidFill>
                  <a:srgbClr val="0000FF"/>
                </a:solidFill>
                <a:latin typeface="Times New Roman" panose="02020603050405020304" pitchFamily="18" charset="0"/>
                <a:cs typeface="Times New Roman" panose="02020603050405020304" pitchFamily="18" charset="0"/>
              </a:rPr>
              <a:t>常用的输入设备有键盘、鼠标、扫描仪及模</a:t>
            </a:r>
            <a:r>
              <a:rPr lang="en-US" altLang="zh-CN" sz="2000" b="1" dirty="0">
                <a:solidFill>
                  <a:srgbClr val="0000FF"/>
                </a:solidFill>
                <a:latin typeface="Times New Roman" panose="02020603050405020304" pitchFamily="18" charset="0"/>
                <a:cs typeface="Times New Roman" panose="02020603050405020304" pitchFamily="18" charset="0"/>
              </a:rPr>
              <a:t>/</a:t>
            </a:r>
            <a:r>
              <a:rPr lang="zh-CN" altLang="en-US" sz="2000" b="1" dirty="0">
                <a:solidFill>
                  <a:srgbClr val="0000FF"/>
                </a:solidFill>
                <a:latin typeface="Times New Roman" panose="02020603050405020304" pitchFamily="18" charset="0"/>
                <a:cs typeface="Times New Roman" panose="02020603050405020304" pitchFamily="18" charset="0"/>
              </a:rPr>
              <a:t>数（</a:t>
            </a:r>
            <a:r>
              <a:rPr lang="en-US" altLang="zh-CN" sz="2000" b="1" dirty="0">
                <a:solidFill>
                  <a:srgbClr val="0000FF"/>
                </a:solidFill>
                <a:latin typeface="Times New Roman" panose="02020603050405020304" pitchFamily="18" charset="0"/>
                <a:cs typeface="Times New Roman" panose="02020603050405020304" pitchFamily="18" charset="0"/>
              </a:rPr>
              <a:t>A/D</a:t>
            </a:r>
            <a:r>
              <a:rPr lang="zh-CN" altLang="en-US" sz="2000" b="1" dirty="0">
                <a:solidFill>
                  <a:srgbClr val="0000FF"/>
                </a:solidFill>
                <a:latin typeface="Times New Roman" panose="02020603050405020304" pitchFamily="18" charset="0"/>
                <a:cs typeface="Times New Roman" panose="02020603050405020304" pitchFamily="18" charset="0"/>
              </a:rPr>
              <a:t>）转换器等。</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solidFill>
                  <a:srgbClr val="FF0000"/>
                </a:solidFill>
                <a:latin typeface="Times New Roman" panose="02020603050405020304" pitchFamily="18" charset="0"/>
                <a:cs typeface="Times New Roman" panose="02020603050405020304" pitchFamily="18" charset="0"/>
              </a:rPr>
              <a:t>输入设备与主机之间通过接口连接。</a:t>
            </a:r>
            <a:r>
              <a:rPr lang="zh-CN" altLang="en-US" sz="2000" b="1" dirty="0">
                <a:latin typeface="Times New Roman" panose="02020603050405020304" pitchFamily="18" charset="0"/>
                <a:cs typeface="Times New Roman" panose="02020603050405020304" pitchFamily="18" charset="0"/>
              </a:rPr>
              <a:t>设置接口主要有以下几个方面的原因。</a:t>
            </a:r>
            <a:endParaRPr lang="en-US" altLang="zh-CN" sz="2000" b="1" dirty="0">
              <a:latin typeface="Times New Roman" panose="02020603050405020304" pitchFamily="18" charset="0"/>
              <a:cs typeface="Times New Roman" panose="02020603050405020304" pitchFamily="18" charset="0"/>
            </a:endParaRPr>
          </a:p>
          <a:p>
            <a:pPr marL="838200" marR="254000" lvl="1"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一是输入设备大多数是机电设备，传送数据的速度远远低于主机，因此需用接口</a:t>
            </a:r>
            <a:r>
              <a:rPr lang="zh-CN" altLang="en-US" sz="2000" b="1" dirty="0">
                <a:solidFill>
                  <a:srgbClr val="0000FF"/>
                </a:solidFill>
                <a:latin typeface="Times New Roman" panose="02020603050405020304" pitchFamily="18" charset="0"/>
                <a:cs typeface="Times New Roman" panose="02020603050405020304" pitchFamily="18" charset="0"/>
              </a:rPr>
              <a:t>进行数据缓冲</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838200" marR="254000" lvl="1"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二是输入设备所用的信息格式与主机不同，例如，通过键盘输入的字母、数字先由键盘接口转换成</a:t>
            </a:r>
            <a:r>
              <a:rPr lang="en-US" altLang="zh-CN" sz="2000" b="1" dirty="0">
                <a:latin typeface="Times New Roman" panose="02020603050405020304" pitchFamily="18" charset="0"/>
                <a:cs typeface="Times New Roman" panose="02020603050405020304" pitchFamily="18" charset="0"/>
              </a:rPr>
              <a:t>8</a:t>
            </a:r>
            <a:r>
              <a:rPr lang="zh-CN" altLang="en-US" sz="2000" b="1" dirty="0">
                <a:latin typeface="Times New Roman" panose="02020603050405020304" pitchFamily="18" charset="0"/>
                <a:cs typeface="Times New Roman" panose="02020603050405020304" pitchFamily="18" charset="0"/>
              </a:rPr>
              <a:t>位二进制码（</a:t>
            </a:r>
            <a:r>
              <a:rPr lang="en-US" altLang="zh-CN" sz="2000" b="1" dirty="0">
                <a:latin typeface="Times New Roman" panose="02020603050405020304" pitchFamily="18" charset="0"/>
                <a:cs typeface="Times New Roman" panose="02020603050405020304" pitchFamily="18" charset="0"/>
              </a:rPr>
              <a:t>ASCII</a:t>
            </a:r>
            <a:r>
              <a:rPr lang="zh-CN" altLang="en-US" sz="2000" b="1" dirty="0">
                <a:latin typeface="Times New Roman" panose="02020603050405020304" pitchFamily="18" charset="0"/>
                <a:cs typeface="Times New Roman" panose="02020603050405020304" pitchFamily="18" charset="0"/>
              </a:rPr>
              <a:t>码），再拼接成主机认可的字长送入主机。因此，需用接口</a:t>
            </a:r>
            <a:r>
              <a:rPr lang="zh-CN" altLang="en-US" sz="2000" b="1" dirty="0">
                <a:solidFill>
                  <a:srgbClr val="0000FF"/>
                </a:solidFill>
                <a:latin typeface="Times New Roman" panose="02020603050405020304" pitchFamily="18" charset="0"/>
                <a:cs typeface="Times New Roman" panose="02020603050405020304" pitchFamily="18" charset="0"/>
              </a:rPr>
              <a:t>进行信息格式的转换</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838200" marR="254000" lvl="1"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三是接口还可以</a:t>
            </a:r>
            <a:r>
              <a:rPr lang="zh-CN" altLang="en-US" sz="2000" b="1" dirty="0">
                <a:solidFill>
                  <a:srgbClr val="0000FF"/>
                </a:solidFill>
                <a:latin typeface="Times New Roman" panose="02020603050405020304" pitchFamily="18" charset="0"/>
                <a:cs typeface="Times New Roman" panose="02020603050405020304" pitchFamily="18" charset="0"/>
              </a:rPr>
              <a:t>向主机报告设备运行的状态、传达主机的命令</a:t>
            </a:r>
            <a:r>
              <a:rPr lang="zh-CN" altLang="en-US" sz="2000" b="1" dirty="0">
                <a:latin typeface="Times New Roman" panose="02020603050405020304" pitchFamily="18" charset="0"/>
                <a:cs typeface="Times New Roman" panose="02020603050405020304" pitchFamily="18" charset="0"/>
              </a:rPr>
              <a:t>等。</a:t>
            </a:r>
            <a:endParaRPr lang="en-US" altLang="zh-C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467087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08A898D1-18FE-4FC5-3797-7A97B818E273}"/>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15" name="文本框 14">
            <a:extLst>
              <a:ext uri="{FF2B5EF4-FFF2-40B4-BE49-F238E27FC236}">
                <a16:creationId xmlns:a16="http://schemas.microsoft.com/office/drawing/2014/main" id="{7AB73D5C-778B-4A3D-B594-C57C9335CA67}"/>
              </a:ext>
            </a:extLst>
          </p:cNvPr>
          <p:cNvSpPr txBox="1"/>
          <p:nvPr/>
        </p:nvSpPr>
        <p:spPr>
          <a:xfrm>
            <a:off x="-81940" y="813132"/>
            <a:ext cx="9001000" cy="461665"/>
          </a:xfrm>
          <a:prstGeom prst="rect">
            <a:avLst/>
          </a:prstGeom>
          <a:noFill/>
        </p:spPr>
        <p:txBody>
          <a:bodyPr wrap="squar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5</a:t>
            </a:r>
            <a:r>
              <a:rPr lang="zh-CN" altLang="en-US" sz="2400" b="1" dirty="0">
                <a:solidFill>
                  <a:srgbClr val="FF0000"/>
                </a:solidFill>
                <a:latin typeface="Times New Roman" panose="02020603050405020304" pitchFamily="18" charset="0"/>
                <a:cs typeface="Times New Roman" panose="02020603050405020304" pitchFamily="18" charset="0"/>
              </a:rPr>
              <a:t>）输出设备</a:t>
            </a:r>
          </a:p>
        </p:txBody>
      </p:sp>
      <p:sp>
        <p:nvSpPr>
          <p:cNvPr id="39" name="文本框 38">
            <a:extLst>
              <a:ext uri="{FF2B5EF4-FFF2-40B4-BE49-F238E27FC236}">
                <a16:creationId xmlns:a16="http://schemas.microsoft.com/office/drawing/2014/main" id="{975C2C27-5487-4185-8DCD-3E4EFD958B7E}"/>
              </a:ext>
            </a:extLst>
          </p:cNvPr>
          <p:cNvSpPr txBox="1"/>
          <p:nvPr/>
        </p:nvSpPr>
        <p:spPr>
          <a:xfrm>
            <a:off x="71500" y="1313904"/>
            <a:ext cx="9001001" cy="3650295"/>
          </a:xfrm>
          <a:prstGeom prst="rect">
            <a:avLst/>
          </a:prstGeom>
          <a:noFill/>
        </p:spPr>
        <p:txBody>
          <a:bodyPr wrap="square">
            <a:spAutoFit/>
          </a:bodyPr>
          <a:lstStyle/>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输出设备就是</a:t>
            </a:r>
            <a:r>
              <a:rPr lang="zh-CN" altLang="en-US" sz="2000" b="1" dirty="0">
                <a:solidFill>
                  <a:srgbClr val="0000FF"/>
                </a:solidFill>
                <a:latin typeface="Times New Roman" panose="02020603050405020304" pitchFamily="18" charset="0"/>
                <a:cs typeface="Times New Roman" panose="02020603050405020304" pitchFamily="18" charset="0"/>
              </a:rPr>
              <a:t>将计算机运算结果转换成人们和其他设备能接收和识别的信息形式</a:t>
            </a:r>
            <a:r>
              <a:rPr lang="zh-CN" altLang="en-US" sz="2000" b="1" dirty="0">
                <a:latin typeface="Times New Roman" panose="02020603050405020304" pitchFamily="18" charset="0"/>
                <a:cs typeface="Times New Roman" panose="02020603050405020304" pitchFamily="18" charset="0"/>
              </a:rPr>
              <a:t>的设备，如字符、文字、图形、图像、声音等。</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输出设备与输入设备一样，</a:t>
            </a:r>
            <a:r>
              <a:rPr lang="zh-CN" altLang="en-US" sz="2000" b="1" dirty="0">
                <a:solidFill>
                  <a:srgbClr val="0000FF"/>
                </a:solidFill>
                <a:latin typeface="Times New Roman" panose="02020603050405020304" pitchFamily="18" charset="0"/>
                <a:cs typeface="Times New Roman" panose="02020603050405020304" pitchFamily="18" charset="0"/>
              </a:rPr>
              <a:t>需要通过接口与主机连接</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常用的输出设备有打印机、显示器、数</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模（</a:t>
            </a:r>
            <a:r>
              <a:rPr lang="en-US" altLang="zh-CN" sz="2000" b="1" dirty="0">
                <a:latin typeface="Times New Roman" panose="02020603050405020304" pitchFamily="18" charset="0"/>
                <a:cs typeface="Times New Roman" panose="02020603050405020304" pitchFamily="18" charset="0"/>
              </a:rPr>
              <a:t>D/A</a:t>
            </a:r>
            <a:r>
              <a:rPr lang="zh-CN" altLang="en-US" sz="2000" b="1" dirty="0">
                <a:latin typeface="Times New Roman" panose="02020603050405020304" pitchFamily="18" charset="0"/>
                <a:cs typeface="Times New Roman" panose="02020603050405020304" pitchFamily="18" charset="0"/>
              </a:rPr>
              <a:t>）转换器等。</a:t>
            </a:r>
          </a:p>
          <a:p>
            <a:pPr marL="381000" marR="254000" indent="-342900" algn="just">
              <a:lnSpc>
                <a:spcPct val="130000"/>
              </a:lnSpc>
              <a:spcAft>
                <a:spcPts val="0"/>
              </a:spcAft>
              <a:buFont typeface="Arial" panose="020B0604020202020204" pitchFamily="34" charset="0"/>
              <a:buChar char="•"/>
            </a:pPr>
            <a:r>
              <a:rPr lang="zh-CN" altLang="en-US" sz="2000" b="1" dirty="0">
                <a:solidFill>
                  <a:srgbClr val="0000FF"/>
                </a:solidFill>
                <a:latin typeface="Times New Roman" panose="02020603050405020304" pitchFamily="18" charset="0"/>
                <a:cs typeface="Times New Roman" panose="02020603050405020304" pitchFamily="18" charset="0"/>
              </a:rPr>
              <a:t>外存储器也是计算机中重要的外部设备</a:t>
            </a:r>
            <a:r>
              <a:rPr lang="zh-CN" altLang="en-US" sz="2000" b="1" dirty="0">
                <a:latin typeface="Times New Roman" panose="02020603050405020304" pitchFamily="18" charset="0"/>
                <a:cs typeface="Times New Roman" panose="02020603050405020304" pitchFamily="18" charset="0"/>
              </a:rPr>
              <a:t>，它既可以作为输入设备，也可以作为输出设备，此外，它还有存储信息的功能，因此，它常常作为辅存使用。计算机的存储管理软件将它与主存一起管理，作为主存的补充。</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solidFill>
                  <a:srgbClr val="0000FF"/>
                </a:solidFill>
                <a:latin typeface="Times New Roman" panose="02020603050405020304" pitchFamily="18" charset="0"/>
                <a:cs typeface="Times New Roman" panose="02020603050405020304" pitchFamily="18" charset="0"/>
              </a:rPr>
              <a:t>常见的外存储器有磁盘、光盘与磁带机</a:t>
            </a:r>
            <a:r>
              <a:rPr lang="zh-CN" altLang="en-US" sz="2000" b="1" dirty="0">
                <a:latin typeface="Times New Roman" panose="02020603050405020304" pitchFamily="18" charset="0"/>
                <a:cs typeface="Times New Roman" panose="02020603050405020304" pitchFamily="18" charset="0"/>
              </a:rPr>
              <a:t>，它们与输入输出设备一样，也要通过接口与主机相连。</a:t>
            </a:r>
          </a:p>
        </p:txBody>
      </p:sp>
    </p:spTree>
    <p:extLst>
      <p:ext uri="{BB962C8B-B14F-4D97-AF65-F5344CB8AC3E}">
        <p14:creationId xmlns:p14="http://schemas.microsoft.com/office/powerpoint/2010/main" val="107849100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08A898D1-18FE-4FC5-3797-7A97B818E273}"/>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15" name="文本框 14">
            <a:extLst>
              <a:ext uri="{FF2B5EF4-FFF2-40B4-BE49-F238E27FC236}">
                <a16:creationId xmlns:a16="http://schemas.microsoft.com/office/drawing/2014/main" id="{7AB73D5C-778B-4A3D-B594-C57C9335CA67}"/>
              </a:ext>
            </a:extLst>
          </p:cNvPr>
          <p:cNvSpPr txBox="1"/>
          <p:nvPr/>
        </p:nvSpPr>
        <p:spPr>
          <a:xfrm>
            <a:off x="-124872" y="779472"/>
            <a:ext cx="9001000" cy="461665"/>
          </a:xfrm>
          <a:prstGeom prst="rect">
            <a:avLst/>
          </a:prstGeom>
          <a:noFill/>
        </p:spPr>
        <p:txBody>
          <a:bodyPr wrap="squar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6</a:t>
            </a:r>
            <a:r>
              <a:rPr lang="zh-CN" altLang="en-US" sz="2400" b="1" dirty="0">
                <a:solidFill>
                  <a:srgbClr val="FF0000"/>
                </a:solidFill>
                <a:latin typeface="Times New Roman" panose="02020603050405020304" pitchFamily="18" charset="0"/>
                <a:cs typeface="Times New Roman" panose="02020603050405020304" pitchFamily="18" charset="0"/>
              </a:rPr>
              <a:t>）系统互连</a:t>
            </a:r>
          </a:p>
        </p:txBody>
      </p:sp>
      <p:sp>
        <p:nvSpPr>
          <p:cNvPr id="39" name="文本框 38">
            <a:extLst>
              <a:ext uri="{FF2B5EF4-FFF2-40B4-BE49-F238E27FC236}">
                <a16:creationId xmlns:a16="http://schemas.microsoft.com/office/drawing/2014/main" id="{975C2C27-5487-4185-8DCD-3E4EFD958B7E}"/>
              </a:ext>
            </a:extLst>
          </p:cNvPr>
          <p:cNvSpPr txBox="1"/>
          <p:nvPr/>
        </p:nvSpPr>
        <p:spPr>
          <a:xfrm>
            <a:off x="9063" y="1214790"/>
            <a:ext cx="9001001" cy="3250185"/>
          </a:xfrm>
          <a:prstGeom prst="rect">
            <a:avLst/>
          </a:prstGeom>
          <a:noFill/>
        </p:spPr>
        <p:txBody>
          <a:bodyPr wrap="square">
            <a:spAutoFit/>
          </a:bodyPr>
          <a:lstStyle/>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计算机硬件系统各功能部件还需要有组织地以某种方式连接起来，从而</a:t>
            </a:r>
            <a:r>
              <a:rPr lang="zh-CN" altLang="en-US" sz="2000" b="1" dirty="0">
                <a:solidFill>
                  <a:srgbClr val="0000FF"/>
                </a:solidFill>
                <a:latin typeface="Times New Roman" panose="02020603050405020304" pitchFamily="18" charset="0"/>
                <a:cs typeface="Times New Roman" panose="02020603050405020304" pitchFamily="18" charset="0"/>
              </a:rPr>
              <a:t>实现数据流信息和控制流信息在不同部件之间的流动及数据信息的加工处理</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在现代计算机中使用较多的就是</a:t>
            </a:r>
            <a:r>
              <a:rPr lang="zh-CN" altLang="en-US" sz="2000" b="1" dirty="0">
                <a:solidFill>
                  <a:srgbClr val="0000FF"/>
                </a:solidFill>
                <a:latin typeface="Times New Roman" panose="02020603050405020304" pitchFamily="18" charset="0"/>
                <a:cs typeface="Times New Roman" panose="02020603050405020304" pitchFamily="18" charset="0"/>
              </a:rPr>
              <a:t>总线互连方案</a:t>
            </a:r>
            <a:r>
              <a:rPr lang="zh-CN" altLang="en-US" sz="2000" b="1" dirty="0">
                <a:latin typeface="Times New Roman" panose="02020603050405020304" pitchFamily="18" charset="0"/>
                <a:cs typeface="Times New Roman" panose="02020603050405020304" pitchFamily="18" charset="0"/>
              </a:rPr>
              <a:t>，这种方式实现简单，扩展容易。</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solidFill>
                  <a:srgbClr val="0000FF"/>
                </a:solidFill>
                <a:latin typeface="Times New Roman" panose="02020603050405020304" pitchFamily="18" charset="0"/>
                <a:cs typeface="Times New Roman" panose="02020603050405020304" pitchFamily="18" charset="0"/>
              </a:rPr>
              <a:t>总线（</a:t>
            </a:r>
            <a:r>
              <a:rPr lang="en-US" altLang="zh-CN" sz="2000" b="1" dirty="0">
                <a:solidFill>
                  <a:srgbClr val="0000FF"/>
                </a:solidFill>
                <a:latin typeface="Times New Roman" panose="02020603050405020304" pitchFamily="18" charset="0"/>
                <a:cs typeface="Times New Roman" panose="02020603050405020304" pitchFamily="18" charset="0"/>
              </a:rPr>
              <a:t>Bus</a:t>
            </a:r>
            <a:r>
              <a:rPr lang="zh-CN" altLang="en-US" sz="2000" b="1" dirty="0">
                <a:solidFill>
                  <a:srgbClr val="0000FF"/>
                </a:solidFill>
                <a:latin typeface="Times New Roman" panose="02020603050405020304" pitchFamily="18" charset="0"/>
                <a:cs typeface="Times New Roman" panose="02020603050405020304" pitchFamily="18" charset="0"/>
              </a:rPr>
              <a:t>）是连接两个或多个设备（部件）的公共信息通路</a:t>
            </a:r>
            <a:r>
              <a:rPr lang="zh-CN" altLang="en-US" sz="2000" b="1" dirty="0">
                <a:latin typeface="Times New Roman" panose="02020603050405020304" pitchFamily="18" charset="0"/>
                <a:cs typeface="Times New Roman" panose="02020603050405020304" pitchFamily="18" charset="0"/>
              </a:rPr>
              <a:t>。它主要由</a:t>
            </a:r>
            <a:r>
              <a:rPr lang="zh-CN" altLang="en-US" sz="2000" b="1" dirty="0">
                <a:solidFill>
                  <a:srgbClr val="FF0000"/>
                </a:solidFill>
                <a:latin typeface="Times New Roman" panose="02020603050405020304" pitchFamily="18" charset="0"/>
                <a:cs typeface="Times New Roman" panose="02020603050405020304" pitchFamily="18" charset="0"/>
              </a:rPr>
              <a:t>数据线、地址线和控制线</a:t>
            </a:r>
            <a:r>
              <a:rPr lang="zh-CN" altLang="en-US" sz="2000" b="1" dirty="0">
                <a:latin typeface="Times New Roman" panose="02020603050405020304" pitchFamily="18" charset="0"/>
                <a:cs typeface="Times New Roman" panose="02020603050405020304" pitchFamily="18" charset="0"/>
              </a:rPr>
              <a:t>组成。</a:t>
            </a:r>
            <a:r>
              <a:rPr lang="en-US" altLang="zh-CN" sz="2000" b="1" dirty="0">
                <a:solidFill>
                  <a:srgbClr val="FF0000"/>
                </a:solidFill>
                <a:latin typeface="Times New Roman" panose="02020603050405020304" pitchFamily="18" charset="0"/>
                <a:cs typeface="Times New Roman" panose="02020603050405020304" pitchFamily="18" charset="0"/>
              </a:rPr>
              <a:t>CPU</a:t>
            </a:r>
            <a:r>
              <a:rPr lang="zh-CN" altLang="en-US" sz="2000" b="1" dirty="0">
                <a:solidFill>
                  <a:srgbClr val="FF0000"/>
                </a:solidFill>
                <a:latin typeface="Times New Roman" panose="02020603050405020304" pitchFamily="18" charset="0"/>
                <a:cs typeface="Times New Roman" panose="02020603050405020304" pitchFamily="18" charset="0"/>
              </a:rPr>
              <a:t>连接计算机中各主要部件的总线称为系统总线</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81000" marR="254000" indent="-342900" algn="just">
              <a:lnSpc>
                <a:spcPct val="130000"/>
              </a:lnSpc>
              <a:spcAft>
                <a:spcPts val="0"/>
              </a:spcAft>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基于单总线结构的系统互连如图</a:t>
            </a:r>
            <a:r>
              <a:rPr lang="en-US" altLang="zh-CN" sz="2000" b="1" dirty="0">
                <a:latin typeface="Times New Roman" panose="02020603050405020304" pitchFamily="18" charset="0"/>
                <a:cs typeface="Times New Roman" panose="02020603050405020304" pitchFamily="18" charset="0"/>
              </a:rPr>
              <a:t>1.14</a:t>
            </a:r>
            <a:r>
              <a:rPr lang="zh-CN" altLang="en-US" sz="2000" b="1" dirty="0">
                <a:latin typeface="Times New Roman" panose="02020603050405020304" pitchFamily="18" charset="0"/>
                <a:cs typeface="Times New Roman" panose="02020603050405020304" pitchFamily="18" charset="0"/>
              </a:rPr>
              <a:t>所示。</a:t>
            </a:r>
          </a:p>
        </p:txBody>
      </p:sp>
      <p:pic>
        <p:nvPicPr>
          <p:cNvPr id="3" name="图片 2">
            <a:extLst>
              <a:ext uri="{FF2B5EF4-FFF2-40B4-BE49-F238E27FC236}">
                <a16:creationId xmlns:a16="http://schemas.microsoft.com/office/drawing/2014/main" id="{2E190ADF-0381-463F-9E6D-F6E410832AB3}"/>
              </a:ext>
            </a:extLst>
          </p:cNvPr>
          <p:cNvPicPr>
            <a:picLocks noChangeAspect="1"/>
          </p:cNvPicPr>
          <p:nvPr/>
        </p:nvPicPr>
        <p:blipFill>
          <a:blip r:embed="rId4"/>
          <a:stretch>
            <a:fillRect/>
          </a:stretch>
        </p:blipFill>
        <p:spPr>
          <a:xfrm>
            <a:off x="2046865" y="4783919"/>
            <a:ext cx="4935848" cy="2074081"/>
          </a:xfrm>
          <a:prstGeom prst="rect">
            <a:avLst/>
          </a:prstGeom>
        </p:spPr>
      </p:pic>
      <p:sp>
        <p:nvSpPr>
          <p:cNvPr id="8" name="文本框 7">
            <a:extLst>
              <a:ext uri="{FF2B5EF4-FFF2-40B4-BE49-F238E27FC236}">
                <a16:creationId xmlns:a16="http://schemas.microsoft.com/office/drawing/2014/main" id="{9A2BC6A3-2DD7-4A41-ABE5-079A13F6FD1F}"/>
              </a:ext>
            </a:extLst>
          </p:cNvPr>
          <p:cNvSpPr txBox="1"/>
          <p:nvPr/>
        </p:nvSpPr>
        <p:spPr>
          <a:xfrm>
            <a:off x="5200102" y="6518888"/>
            <a:ext cx="3330624" cy="338554"/>
          </a:xfrm>
          <a:prstGeom prst="rect">
            <a:avLst/>
          </a:prstGeom>
          <a:noFill/>
        </p:spPr>
        <p:txBody>
          <a:bodyPr wrap="square" rtlCol="0">
            <a:spAutoFit/>
          </a:bodyPr>
          <a:lstStyle/>
          <a:p>
            <a:pPr algn="ctr"/>
            <a:r>
              <a:rPr lang="zh-CN" altLang="en-US" sz="1600" b="1" dirty="0">
                <a:solidFill>
                  <a:srgbClr val="002060"/>
                </a:solidFill>
                <a:latin typeface="Times New Roman" panose="02020603050405020304" pitchFamily="18" charset="0"/>
                <a:cs typeface="Times New Roman" panose="02020603050405020304" pitchFamily="18" charset="0"/>
              </a:rPr>
              <a:t>图</a:t>
            </a:r>
            <a:r>
              <a:rPr lang="en-US" altLang="zh-CN" sz="1600" b="1" dirty="0">
                <a:solidFill>
                  <a:srgbClr val="002060"/>
                </a:solidFill>
                <a:latin typeface="Times New Roman" panose="02020603050405020304" pitchFamily="18" charset="0"/>
                <a:cs typeface="Times New Roman" panose="02020603050405020304" pitchFamily="18" charset="0"/>
              </a:rPr>
              <a:t>1.14</a:t>
            </a:r>
            <a:r>
              <a:rPr lang="zh-CN" altLang="en-US" sz="1600" b="1" dirty="0">
                <a:solidFill>
                  <a:srgbClr val="002060"/>
                </a:solidFill>
                <a:latin typeface="Times New Roman" panose="02020603050405020304" pitchFamily="18" charset="0"/>
                <a:cs typeface="Times New Roman" panose="02020603050405020304" pitchFamily="18" charset="0"/>
              </a:rPr>
              <a:t>基于单总线结构的系统互连</a:t>
            </a:r>
          </a:p>
        </p:txBody>
      </p:sp>
    </p:spTree>
    <p:extLst>
      <p:ext uri="{BB962C8B-B14F-4D97-AF65-F5344CB8AC3E}">
        <p14:creationId xmlns:p14="http://schemas.microsoft.com/office/powerpoint/2010/main" val="206368094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48">
            <a:extLst>
              <a:ext uri="{FF2B5EF4-FFF2-40B4-BE49-F238E27FC236}">
                <a16:creationId xmlns:a16="http://schemas.microsoft.com/office/drawing/2014/main" id="{0D1A2EBB-5272-832A-030E-A99A6443FB31}"/>
              </a:ext>
            </a:extLst>
          </p:cNvPr>
          <p:cNvSpPr>
            <a:spLocks noChangeArrowheads="1"/>
          </p:cNvSpPr>
          <p:nvPr/>
        </p:nvSpPr>
        <p:spPr bwMode="auto">
          <a:xfrm>
            <a:off x="179512" y="980728"/>
            <a:ext cx="4886325" cy="579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200" b="1" dirty="0">
                <a:solidFill>
                  <a:srgbClr val="FF0000"/>
                </a:solidFill>
                <a:latin typeface="Times New Roman" panose="02020603050405020304" pitchFamily="18" charset="0"/>
                <a:cs typeface="Times New Roman" panose="02020603050405020304" pitchFamily="18" charset="0"/>
              </a:rPr>
              <a:t>2</a:t>
            </a:r>
            <a:r>
              <a:rPr kumimoji="1" lang="zh-CN" altLang="en-US" sz="3200" b="1" dirty="0">
                <a:solidFill>
                  <a:srgbClr val="FF0000"/>
                </a:solidFill>
                <a:latin typeface="Times New Roman" panose="02020603050405020304" pitchFamily="18" charset="0"/>
                <a:cs typeface="Times New Roman" panose="02020603050405020304" pitchFamily="18" charset="0"/>
              </a:rPr>
              <a:t>. 计算机软件系统</a:t>
            </a:r>
          </a:p>
        </p:txBody>
      </p:sp>
      <p:sp>
        <p:nvSpPr>
          <p:cNvPr id="2" name="Rectangle 2">
            <a:extLst>
              <a:ext uri="{FF2B5EF4-FFF2-40B4-BE49-F238E27FC236}">
                <a16:creationId xmlns:a16="http://schemas.microsoft.com/office/drawing/2014/main" id="{498A4AF9-A9E5-88CB-6614-AC9D5B96F97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6EF5578F-B608-438C-BBAB-90D9BC2E7A2E}"/>
              </a:ext>
            </a:extLst>
          </p:cNvPr>
          <p:cNvSpPr txBox="1"/>
          <p:nvPr/>
        </p:nvSpPr>
        <p:spPr>
          <a:xfrm>
            <a:off x="226343" y="1560165"/>
            <a:ext cx="8691314" cy="112857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zh-CN" altLang="en-US" sz="2400" b="1" dirty="0"/>
              <a:t>一台计算机中</a:t>
            </a:r>
            <a:r>
              <a:rPr lang="zh-CN" altLang="en-US" sz="2400" b="1" dirty="0">
                <a:solidFill>
                  <a:srgbClr val="0000FF"/>
                </a:solidFill>
              </a:rPr>
              <a:t>全部程序的集合</a:t>
            </a:r>
            <a:r>
              <a:rPr lang="zh-CN" altLang="en-US" sz="2400" b="1" dirty="0"/>
              <a:t>统称为这台</a:t>
            </a:r>
            <a:r>
              <a:rPr lang="zh-CN" altLang="en-US" sz="2400" b="1" dirty="0">
                <a:solidFill>
                  <a:srgbClr val="0000FF"/>
                </a:solidFill>
              </a:rPr>
              <a:t>计算机的软件系统</a:t>
            </a:r>
            <a:r>
              <a:rPr lang="zh-CN" altLang="en-US" sz="2400" b="1" dirty="0"/>
              <a:t>。</a:t>
            </a:r>
            <a:endParaRPr lang="en-US" altLang="zh-CN" sz="2400" b="1" dirty="0"/>
          </a:p>
          <a:p>
            <a:pPr marL="342900" indent="-342900" algn="just">
              <a:lnSpc>
                <a:spcPct val="150000"/>
              </a:lnSpc>
              <a:buFont typeface="Arial" panose="020B0604020202020204" pitchFamily="34" charset="0"/>
              <a:buChar char="•"/>
            </a:pPr>
            <a:r>
              <a:rPr lang="zh-CN" altLang="en-US" sz="2400" b="1" dirty="0"/>
              <a:t>计算机软件按其</a:t>
            </a:r>
            <a:r>
              <a:rPr lang="zh-CN" altLang="en-US" sz="2400" b="1" dirty="0">
                <a:solidFill>
                  <a:srgbClr val="FF0000"/>
                </a:solidFill>
              </a:rPr>
              <a:t>功能</a:t>
            </a:r>
            <a:r>
              <a:rPr lang="zh-CN" altLang="en-US" sz="2400" b="1" dirty="0"/>
              <a:t>分成</a:t>
            </a:r>
            <a:r>
              <a:rPr lang="zh-CN" altLang="en-US" sz="2400" b="1" dirty="0">
                <a:solidFill>
                  <a:srgbClr val="0000FF"/>
                </a:solidFill>
              </a:rPr>
              <a:t>应用软件</a:t>
            </a:r>
            <a:r>
              <a:rPr lang="zh-CN" altLang="en-US" sz="2400" b="1" dirty="0"/>
              <a:t>和</a:t>
            </a:r>
            <a:r>
              <a:rPr lang="zh-CN" altLang="en-US" sz="2400" b="1" dirty="0">
                <a:solidFill>
                  <a:srgbClr val="0000FF"/>
                </a:solidFill>
              </a:rPr>
              <a:t>系统软件</a:t>
            </a:r>
            <a:r>
              <a:rPr lang="zh-CN" altLang="en-US" sz="2400" b="1" dirty="0"/>
              <a:t>两大类。</a:t>
            </a:r>
            <a:endParaRPr lang="en-US" altLang="zh-CN" sz="2400" b="1" dirty="0"/>
          </a:p>
        </p:txBody>
      </p:sp>
      <p:sp>
        <p:nvSpPr>
          <p:cNvPr id="5" name="文本框 4">
            <a:extLst>
              <a:ext uri="{FF2B5EF4-FFF2-40B4-BE49-F238E27FC236}">
                <a16:creationId xmlns:a16="http://schemas.microsoft.com/office/drawing/2014/main" id="{23B198BD-6373-47CA-A773-EEEC235D7941}"/>
              </a:ext>
            </a:extLst>
          </p:cNvPr>
          <p:cNvSpPr txBox="1"/>
          <p:nvPr/>
        </p:nvSpPr>
        <p:spPr>
          <a:xfrm>
            <a:off x="683568" y="2996952"/>
            <a:ext cx="3456384" cy="3344570"/>
          </a:xfrm>
          <a:prstGeom prst="rect">
            <a:avLst/>
          </a:prstGeom>
          <a:solidFill>
            <a:schemeClr val="accent5"/>
          </a:solidFill>
          <a:ln w="38100">
            <a:solidFill>
              <a:schemeClr val="accent5">
                <a:lumMod val="75000"/>
              </a:schemeClr>
            </a:solidFill>
          </a:ln>
        </p:spPr>
        <p:txBody>
          <a:bodyPr wrap="square" rtlCol="0">
            <a:spAutoFit/>
          </a:bodyPr>
          <a:lstStyle/>
          <a:p>
            <a:pPr algn="just">
              <a:lnSpc>
                <a:spcPct val="150000"/>
              </a:lnSpc>
            </a:pPr>
            <a:r>
              <a:rPr lang="zh-CN" altLang="en-US" sz="2400" b="1" dirty="0">
                <a:solidFill>
                  <a:srgbClr val="FF0000"/>
                </a:solidFill>
              </a:rPr>
              <a:t>应用软件</a:t>
            </a:r>
            <a:r>
              <a:rPr lang="zh-CN" altLang="en-US" sz="2400" b="1" dirty="0"/>
              <a:t>是</a:t>
            </a:r>
            <a:r>
              <a:rPr lang="zh-CN" altLang="en-US" sz="2400" b="1" dirty="0">
                <a:solidFill>
                  <a:srgbClr val="0000FF"/>
                </a:solidFill>
              </a:rPr>
              <a:t>用户为解决某种应用问题而编制的一些程序</a:t>
            </a:r>
            <a:r>
              <a:rPr lang="zh-CN" altLang="en-US" sz="2400" b="1" dirty="0"/>
              <a:t>，如科学计算程序、自动控制程序、数据处理程序、情报检索程序等。</a:t>
            </a:r>
          </a:p>
        </p:txBody>
      </p:sp>
      <p:sp>
        <p:nvSpPr>
          <p:cNvPr id="9" name="文本框 8">
            <a:extLst>
              <a:ext uri="{FF2B5EF4-FFF2-40B4-BE49-F238E27FC236}">
                <a16:creationId xmlns:a16="http://schemas.microsoft.com/office/drawing/2014/main" id="{C73E6AC8-E1AD-46B0-B09F-D53363AA7066}"/>
              </a:ext>
            </a:extLst>
          </p:cNvPr>
          <p:cNvSpPr txBox="1"/>
          <p:nvPr/>
        </p:nvSpPr>
        <p:spPr>
          <a:xfrm>
            <a:off x="4788024" y="2996952"/>
            <a:ext cx="3456384" cy="3344570"/>
          </a:xfrm>
          <a:prstGeom prst="rect">
            <a:avLst/>
          </a:prstGeom>
          <a:solidFill>
            <a:schemeClr val="accent5"/>
          </a:solidFill>
          <a:ln w="38100">
            <a:solidFill>
              <a:schemeClr val="accent5">
                <a:lumMod val="75000"/>
              </a:schemeClr>
            </a:solidFill>
          </a:ln>
        </p:spPr>
        <p:txBody>
          <a:bodyPr wrap="square" rtlCol="0">
            <a:spAutoFit/>
          </a:bodyPr>
          <a:lstStyle/>
          <a:p>
            <a:pPr algn="just">
              <a:lnSpc>
                <a:spcPct val="150000"/>
              </a:lnSpc>
            </a:pPr>
            <a:r>
              <a:rPr lang="zh-CN" altLang="en-US" sz="2400" b="1" dirty="0">
                <a:solidFill>
                  <a:srgbClr val="FF0000"/>
                </a:solidFill>
              </a:rPr>
              <a:t>系统软件</a:t>
            </a:r>
            <a:r>
              <a:rPr lang="zh-CN" altLang="en-US" sz="2400" b="1" dirty="0"/>
              <a:t>用于</a:t>
            </a:r>
            <a:r>
              <a:rPr lang="zh-CN" altLang="en-US" sz="2400" b="1" dirty="0">
                <a:solidFill>
                  <a:srgbClr val="0000FF"/>
                </a:solidFill>
              </a:rPr>
              <a:t>对计算机系统进行管理、调度、监视和服务</a:t>
            </a:r>
            <a:r>
              <a:rPr lang="zh-CN" altLang="en-US" sz="2400" b="1" dirty="0"/>
              <a:t>等，其目的是方便用户、提高计算机使用效率、扩充系统的功能。</a:t>
            </a:r>
          </a:p>
        </p:txBody>
      </p:sp>
    </p:spTree>
    <p:extLst>
      <p:ext uri="{BB962C8B-B14F-4D97-AF65-F5344CB8AC3E}">
        <p14:creationId xmlns:p14="http://schemas.microsoft.com/office/powerpoint/2010/main" val="187984235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98A4AF9-A9E5-88CB-6614-AC9D5B96F97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6EF5578F-B608-438C-BBAB-90D9BC2E7A2E}"/>
              </a:ext>
            </a:extLst>
          </p:cNvPr>
          <p:cNvSpPr txBox="1"/>
          <p:nvPr/>
        </p:nvSpPr>
        <p:spPr>
          <a:xfrm>
            <a:off x="107504" y="836712"/>
            <a:ext cx="8928992" cy="5562228"/>
          </a:xfrm>
          <a:prstGeom prst="rect">
            <a:avLst/>
          </a:prstGeom>
          <a:noFill/>
        </p:spPr>
        <p:txBody>
          <a:bodyPr wrap="square">
            <a:spAutoFit/>
          </a:bodyPr>
          <a:lstStyle/>
          <a:p>
            <a:pPr algn="just">
              <a:lnSpc>
                <a:spcPct val="150000"/>
              </a:lnSpc>
            </a:pPr>
            <a:r>
              <a:rPr lang="zh-CN" altLang="en-US" sz="2400" b="1" dirty="0">
                <a:latin typeface="Times New Roman" panose="02020603050405020304" pitchFamily="18" charset="0"/>
                <a:cs typeface="Times New Roman" panose="02020603050405020304" pitchFamily="18" charset="0"/>
              </a:rPr>
              <a:t>通常将系统软件分为以下几类。</a:t>
            </a:r>
            <a:endParaRPr lang="en-US" altLang="zh-CN" sz="2400" b="1" dirty="0">
              <a:latin typeface="Times New Roman" panose="02020603050405020304" pitchFamily="18" charset="0"/>
              <a:cs typeface="Times New Roman" panose="02020603050405020304" pitchFamily="18" charset="0"/>
            </a:endParaRPr>
          </a:p>
          <a:p>
            <a:pPr algn="just">
              <a:lnSpc>
                <a:spcPct val="150000"/>
              </a:lnSpc>
            </a:pPr>
            <a:r>
              <a:rPr lang="en-US" altLang="zh-CN" sz="2400" b="1" dirty="0">
                <a:latin typeface="Times New Roman" panose="02020603050405020304" pitchFamily="18" charset="0"/>
                <a:cs typeface="Times New Roman" panose="02020603050405020304" pitchFamily="18" charset="0"/>
              </a:rPr>
              <a:t>1) </a:t>
            </a:r>
            <a:r>
              <a:rPr lang="zh-CN" altLang="en-US" sz="2400" b="1" dirty="0">
                <a:latin typeface="Times New Roman" panose="02020603050405020304" pitchFamily="18" charset="0"/>
                <a:cs typeface="Times New Roman" panose="02020603050405020304" pitchFamily="18" charset="0"/>
              </a:rPr>
              <a:t>操作系统</a:t>
            </a:r>
            <a:endParaRPr lang="en-US" altLang="zh-CN" sz="24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400" b="1" dirty="0">
                <a:solidFill>
                  <a:srgbClr val="0000FF"/>
                </a:solidFill>
                <a:latin typeface="Times New Roman" panose="02020603050405020304" pitchFamily="18" charset="0"/>
                <a:cs typeface="Times New Roman" panose="02020603050405020304" pitchFamily="18" charset="0"/>
              </a:rPr>
              <a:t>操作系统是管理计算机中各种资源、自动调度用户作业、处理各种中断的软件</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操作系统管理的资源通常有</a:t>
            </a:r>
            <a:r>
              <a:rPr lang="zh-CN" altLang="en-US" sz="2400" b="1" dirty="0">
                <a:solidFill>
                  <a:srgbClr val="0000FF"/>
                </a:solidFill>
                <a:latin typeface="Times New Roman" panose="02020603050405020304" pitchFamily="18" charset="0"/>
                <a:cs typeface="Times New Roman" panose="02020603050405020304" pitchFamily="18" charset="0"/>
              </a:rPr>
              <a:t>硬件、软件和数据信息</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常见操作系统包括</a:t>
            </a:r>
            <a:r>
              <a:rPr lang="en-US" altLang="zh-CN" sz="2400" b="1" dirty="0">
                <a:solidFill>
                  <a:srgbClr val="FF0000"/>
                </a:solidFill>
                <a:latin typeface="Times New Roman" panose="02020603050405020304" pitchFamily="18" charset="0"/>
                <a:cs typeface="Times New Roman" panose="02020603050405020304" pitchFamily="18" charset="0"/>
              </a:rPr>
              <a:t>UNIX</a:t>
            </a:r>
            <a:r>
              <a:rPr lang="zh-CN" altLang="en-US" sz="2400" b="1" dirty="0">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Windows</a:t>
            </a:r>
            <a:r>
              <a:rPr lang="zh-CN" altLang="en-US" sz="2400" b="1" dirty="0">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Linux</a:t>
            </a:r>
            <a:r>
              <a:rPr lang="zh-CN" altLang="en-US" sz="2400" b="1" dirty="0">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Android</a:t>
            </a:r>
            <a:r>
              <a:rPr lang="zh-CN" altLang="en-US" sz="2400" b="1" dirty="0">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iOS</a:t>
            </a:r>
            <a:r>
              <a:rPr lang="zh-CN" altLang="en-US" sz="2400" b="1" dirty="0">
                <a:latin typeface="Times New Roman" panose="02020603050405020304" pitchFamily="18" charset="0"/>
                <a:cs typeface="Times New Roman" panose="02020603050405020304" pitchFamily="18" charset="0"/>
              </a:rPr>
              <a:t>等。目前</a:t>
            </a:r>
            <a:r>
              <a:rPr lang="zh-CN" altLang="en-US" sz="2400" b="1" dirty="0">
                <a:solidFill>
                  <a:srgbClr val="FF0000"/>
                </a:solidFill>
                <a:latin typeface="Times New Roman" panose="02020603050405020304" pitchFamily="18" charset="0"/>
                <a:cs typeface="Times New Roman" panose="02020603050405020304" pitchFamily="18" charset="0"/>
              </a:rPr>
              <a:t>国产主流操作系统有深度系统（</a:t>
            </a:r>
            <a:r>
              <a:rPr lang="en-US" altLang="zh-CN" sz="2400" b="1" dirty="0" err="1">
                <a:solidFill>
                  <a:srgbClr val="FF0000"/>
                </a:solidFill>
                <a:latin typeface="Times New Roman" panose="02020603050405020304" pitchFamily="18" charset="0"/>
                <a:cs typeface="Times New Roman" panose="02020603050405020304" pitchFamily="18" charset="0"/>
              </a:rPr>
              <a:t>Deepin</a:t>
            </a:r>
            <a:r>
              <a:rPr lang="zh-CN" altLang="en-US" sz="2400" b="1" dirty="0">
                <a:solidFill>
                  <a:srgbClr val="FF0000"/>
                </a:solidFill>
                <a:latin typeface="Times New Roman" panose="02020603050405020304" pitchFamily="18" charset="0"/>
                <a:cs typeface="Times New Roman" panose="02020603050405020304" pitchFamily="18" charset="0"/>
              </a:rPr>
              <a:t>）、银河麒麟、中标麒麟和鸿蒙</a:t>
            </a:r>
            <a:r>
              <a:rPr lang="zh-CN" altLang="en-US" sz="2400" b="1" dirty="0">
                <a:latin typeface="Times New Roman" panose="02020603050405020304" pitchFamily="18" charset="0"/>
                <a:cs typeface="Times New Roman" panose="02020603050405020304" pitchFamily="18" charset="0"/>
              </a:rPr>
              <a:t>等。</a:t>
            </a:r>
            <a:r>
              <a:rPr lang="zh-CN" altLang="en-US" sz="2400" b="1" dirty="0">
                <a:solidFill>
                  <a:srgbClr val="FF0000"/>
                </a:solidFill>
                <a:latin typeface="Times New Roman" panose="02020603050405020304" pitchFamily="18" charset="0"/>
                <a:cs typeface="Times New Roman" panose="02020603050405020304" pitchFamily="18" charset="0"/>
              </a:rPr>
              <a:t>国产的嵌入式操作系统</a:t>
            </a:r>
            <a:r>
              <a:rPr lang="en-US" altLang="zh-CN" sz="2400" b="1" dirty="0">
                <a:solidFill>
                  <a:srgbClr val="FF0000"/>
                </a:solidFill>
                <a:latin typeface="Times New Roman" panose="02020603050405020304" pitchFamily="18" charset="0"/>
                <a:cs typeface="Times New Roman" panose="02020603050405020304" pitchFamily="18" charset="0"/>
              </a:rPr>
              <a:t>RT-Thread</a:t>
            </a:r>
            <a:r>
              <a:rPr lang="zh-CN" altLang="en-US" sz="2400" b="1" dirty="0">
                <a:latin typeface="Times New Roman" panose="02020603050405020304" pitchFamily="18" charset="0"/>
                <a:cs typeface="Times New Roman" panose="02020603050405020304" pitchFamily="18" charset="0"/>
              </a:rPr>
              <a:t>已经广泛应用于物联网设备（如租借充电宝的控制设备、网络摄像头、智能手环等），填补了我国在嵌入式操作系统方面的空白。</a:t>
            </a:r>
            <a:endParaRPr lang="en-US" altLang="zh-C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229731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98A4AF9-A9E5-88CB-6614-AC9D5B96F97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6EF5578F-B608-438C-BBAB-90D9BC2E7A2E}"/>
              </a:ext>
            </a:extLst>
          </p:cNvPr>
          <p:cNvSpPr txBox="1"/>
          <p:nvPr/>
        </p:nvSpPr>
        <p:spPr>
          <a:xfrm>
            <a:off x="107503" y="908720"/>
            <a:ext cx="4511279" cy="3349956"/>
          </a:xfrm>
          <a:prstGeom prst="rect">
            <a:avLst/>
          </a:prstGeom>
          <a:noFill/>
        </p:spPr>
        <p:txBody>
          <a:bodyPr wrap="square">
            <a:spAutoFit/>
          </a:bodyPr>
          <a:lstStyle/>
          <a:p>
            <a:pPr>
              <a:lnSpc>
                <a:spcPct val="150000"/>
              </a:lnSpc>
            </a:pPr>
            <a:r>
              <a:rPr lang="en-US" altLang="zh-CN" sz="2400" b="1" dirty="0">
                <a:latin typeface="Times New Roman" panose="02020603050405020304" pitchFamily="18" charset="0"/>
                <a:cs typeface="Times New Roman" panose="02020603050405020304" pitchFamily="18" charset="0"/>
              </a:rPr>
              <a:t>2) </a:t>
            </a:r>
            <a:r>
              <a:rPr lang="zh-CN" altLang="en-US" sz="2400" b="1" dirty="0">
                <a:latin typeface="Times New Roman" panose="02020603050405020304" pitchFamily="18" charset="0"/>
                <a:cs typeface="Times New Roman" panose="02020603050405020304" pitchFamily="18" charset="0"/>
              </a:rPr>
              <a:t>程序设计语言及语言处理程序</a:t>
            </a:r>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zh-CN" altLang="en-US" sz="2400" b="1" dirty="0">
                <a:solidFill>
                  <a:srgbClr val="0000FF"/>
                </a:solidFill>
                <a:latin typeface="Times New Roman" panose="02020603050405020304" pitchFamily="18" charset="0"/>
                <a:cs typeface="Times New Roman" panose="02020603050405020304" pitchFamily="18" charset="0"/>
              </a:rPr>
              <a:t>程序设计语言通常分为</a:t>
            </a:r>
            <a:r>
              <a:rPr lang="en-US" altLang="zh-CN" sz="2400" b="1" dirty="0">
                <a:solidFill>
                  <a:srgbClr val="0000FF"/>
                </a:solidFill>
                <a:latin typeface="Times New Roman" panose="02020603050405020304" pitchFamily="18" charset="0"/>
                <a:cs typeface="Times New Roman" panose="02020603050405020304" pitchFamily="18" charset="0"/>
              </a:rPr>
              <a:t>3</a:t>
            </a:r>
            <a:r>
              <a:rPr lang="zh-CN" altLang="en-US" sz="2400" b="1" dirty="0">
                <a:solidFill>
                  <a:srgbClr val="0000FF"/>
                </a:solidFill>
                <a:latin typeface="Times New Roman" panose="02020603050405020304" pitchFamily="18" charset="0"/>
                <a:cs typeface="Times New Roman" panose="02020603050405020304" pitchFamily="18" charset="0"/>
              </a:rPr>
              <a:t>类：</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b="1" dirty="0">
                <a:solidFill>
                  <a:srgbClr val="0000FF"/>
                </a:solidFill>
                <a:latin typeface="Times New Roman" panose="02020603050405020304" pitchFamily="18" charset="0"/>
                <a:cs typeface="Times New Roman" panose="02020603050405020304" pitchFamily="18" charset="0"/>
              </a:rPr>
              <a:t>机器语言</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b="1" dirty="0">
                <a:solidFill>
                  <a:srgbClr val="0000FF"/>
                </a:solidFill>
                <a:latin typeface="Times New Roman" panose="02020603050405020304" pitchFamily="18" charset="0"/>
                <a:cs typeface="Times New Roman" panose="02020603050405020304" pitchFamily="18" charset="0"/>
              </a:rPr>
              <a:t>汇编语言</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b="1" dirty="0">
                <a:solidFill>
                  <a:srgbClr val="0000FF"/>
                </a:solidFill>
                <a:latin typeface="Times New Roman" panose="02020603050405020304" pitchFamily="18" charset="0"/>
                <a:cs typeface="Times New Roman" panose="02020603050405020304" pitchFamily="18" charset="0"/>
              </a:rPr>
              <a:t>高级语言</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lnSpc>
                <a:spcPct val="150000"/>
              </a:lnSpc>
            </a:pPr>
            <a:endParaRPr lang="en-US" altLang="zh-CN" sz="2400" b="1" dirty="0">
              <a:solidFill>
                <a:srgbClr val="0000FF"/>
              </a:solidFill>
              <a:latin typeface="Times New Roman" panose="02020603050405020304" pitchFamily="18" charset="0"/>
              <a:cs typeface="Times New Roman" panose="02020603050405020304" pitchFamily="18" charset="0"/>
            </a:endParaRPr>
          </a:p>
        </p:txBody>
      </p:sp>
      <p:grpSp>
        <p:nvGrpSpPr>
          <p:cNvPr id="6" name="组合 5">
            <a:extLst>
              <a:ext uri="{FF2B5EF4-FFF2-40B4-BE49-F238E27FC236}">
                <a16:creationId xmlns:a16="http://schemas.microsoft.com/office/drawing/2014/main" id="{A6AD9443-7F8B-4E1B-A3C2-45138A17E8ED}"/>
              </a:ext>
            </a:extLst>
          </p:cNvPr>
          <p:cNvGrpSpPr/>
          <p:nvPr/>
        </p:nvGrpSpPr>
        <p:grpSpPr>
          <a:xfrm>
            <a:off x="4618783" y="713692"/>
            <a:ext cx="4417714" cy="5904656"/>
            <a:chOff x="4395831" y="116632"/>
            <a:chExt cx="4759452" cy="6858000"/>
          </a:xfrm>
        </p:grpSpPr>
        <p:pic>
          <p:nvPicPr>
            <p:cNvPr id="4" name="图片 3">
              <a:extLst>
                <a:ext uri="{FF2B5EF4-FFF2-40B4-BE49-F238E27FC236}">
                  <a16:creationId xmlns:a16="http://schemas.microsoft.com/office/drawing/2014/main" id="{ECD15261-CCA2-4B93-8199-8FD1DAE977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5831" y="116632"/>
              <a:ext cx="4759452" cy="6858000"/>
            </a:xfrm>
            <a:prstGeom prst="rect">
              <a:avLst/>
            </a:prstGeom>
          </p:spPr>
        </p:pic>
        <p:sp>
          <p:nvSpPr>
            <p:cNvPr id="5" name="椭圆 4">
              <a:extLst>
                <a:ext uri="{FF2B5EF4-FFF2-40B4-BE49-F238E27FC236}">
                  <a16:creationId xmlns:a16="http://schemas.microsoft.com/office/drawing/2014/main" id="{24D8A9E0-EA9E-4453-BBCB-387160A71E1D}"/>
                </a:ext>
              </a:extLst>
            </p:cNvPr>
            <p:cNvSpPr/>
            <p:nvPr/>
          </p:nvSpPr>
          <p:spPr>
            <a:xfrm>
              <a:off x="6588224" y="1733972"/>
              <a:ext cx="108012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rPr>
                <a:t>编译器</a:t>
              </a:r>
            </a:p>
          </p:txBody>
        </p:sp>
        <p:sp>
          <p:nvSpPr>
            <p:cNvPr id="10" name="椭圆 9">
              <a:extLst>
                <a:ext uri="{FF2B5EF4-FFF2-40B4-BE49-F238E27FC236}">
                  <a16:creationId xmlns:a16="http://schemas.microsoft.com/office/drawing/2014/main" id="{348DBA65-7049-4C34-B563-14DE345C3E47}"/>
                </a:ext>
              </a:extLst>
            </p:cNvPr>
            <p:cNvSpPr/>
            <p:nvPr/>
          </p:nvSpPr>
          <p:spPr>
            <a:xfrm>
              <a:off x="6588224" y="4619973"/>
              <a:ext cx="108012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rPr>
                <a:t>汇编器</a:t>
              </a:r>
            </a:p>
          </p:txBody>
        </p:sp>
      </p:grpSp>
      <p:sp>
        <p:nvSpPr>
          <p:cNvPr id="9" name="文本框 8">
            <a:extLst>
              <a:ext uri="{FF2B5EF4-FFF2-40B4-BE49-F238E27FC236}">
                <a16:creationId xmlns:a16="http://schemas.microsoft.com/office/drawing/2014/main" id="{574D4778-701F-42B7-B6EF-6BDC2C209072}"/>
              </a:ext>
            </a:extLst>
          </p:cNvPr>
          <p:cNvSpPr txBox="1"/>
          <p:nvPr/>
        </p:nvSpPr>
        <p:spPr>
          <a:xfrm>
            <a:off x="5652120" y="6552520"/>
            <a:ext cx="3330624" cy="338554"/>
          </a:xfrm>
          <a:prstGeom prst="rect">
            <a:avLst/>
          </a:prstGeom>
          <a:noFill/>
        </p:spPr>
        <p:txBody>
          <a:bodyPr wrap="square" rtlCol="0">
            <a:spAutoFit/>
          </a:bodyPr>
          <a:lstStyle/>
          <a:p>
            <a:pPr algn="ctr"/>
            <a:r>
              <a:rPr lang="zh-CN" altLang="en-US" sz="1600" b="1" dirty="0">
                <a:solidFill>
                  <a:srgbClr val="002060"/>
                </a:solidFill>
                <a:latin typeface="Times New Roman" panose="02020603050405020304" pitchFamily="18" charset="0"/>
                <a:cs typeface="Times New Roman" panose="02020603050405020304" pitchFamily="18" charset="0"/>
              </a:rPr>
              <a:t>图</a:t>
            </a:r>
            <a:r>
              <a:rPr lang="en-US" altLang="zh-CN" sz="1600" b="1" dirty="0">
                <a:solidFill>
                  <a:srgbClr val="002060"/>
                </a:solidFill>
                <a:latin typeface="Times New Roman" panose="02020603050405020304" pitchFamily="18" charset="0"/>
                <a:cs typeface="Times New Roman" panose="02020603050405020304" pitchFamily="18" charset="0"/>
              </a:rPr>
              <a:t>1.15</a:t>
            </a:r>
            <a:r>
              <a:rPr lang="zh-CN" altLang="en-US" sz="1600" b="1" dirty="0">
                <a:solidFill>
                  <a:srgbClr val="002060"/>
                </a:solidFill>
                <a:latin typeface="Times New Roman" panose="02020603050405020304" pitchFamily="18" charset="0"/>
                <a:cs typeface="Times New Roman" panose="02020603050405020304" pitchFamily="18" charset="0"/>
              </a:rPr>
              <a:t> 计算机中的不同语言</a:t>
            </a:r>
          </a:p>
        </p:txBody>
      </p:sp>
    </p:spTree>
    <p:extLst>
      <p:ext uri="{BB962C8B-B14F-4D97-AF65-F5344CB8AC3E}">
        <p14:creationId xmlns:p14="http://schemas.microsoft.com/office/powerpoint/2010/main" val="234014393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98A4AF9-A9E5-88CB-6614-AC9D5B96F97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6EF5578F-B608-438C-BBAB-90D9BC2E7A2E}"/>
              </a:ext>
            </a:extLst>
          </p:cNvPr>
          <p:cNvSpPr txBox="1"/>
          <p:nvPr/>
        </p:nvSpPr>
        <p:spPr>
          <a:xfrm>
            <a:off x="107504" y="769900"/>
            <a:ext cx="8928992" cy="4644733"/>
          </a:xfrm>
          <a:prstGeom prst="rect">
            <a:avLst/>
          </a:prstGeom>
          <a:noFill/>
        </p:spPr>
        <p:txBody>
          <a:bodyPr wrap="square">
            <a:spAutoFit/>
          </a:bodyPr>
          <a:lstStyle/>
          <a:p>
            <a:pPr algn="just">
              <a:lnSpc>
                <a:spcPct val="150000"/>
              </a:lnSpc>
            </a:pPr>
            <a:r>
              <a:rPr lang="zh-CN" altLang="en-US" sz="2400" b="1" dirty="0">
                <a:latin typeface="Times New Roman" panose="02020603050405020304" pitchFamily="18" charset="0"/>
                <a:cs typeface="Times New Roman" panose="02020603050405020304" pitchFamily="18" charset="0"/>
              </a:rPr>
              <a:t>① 机器语言</a:t>
            </a:r>
            <a:endParaRPr lang="en-US" altLang="zh-CN" sz="24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200" b="1" dirty="0">
                <a:solidFill>
                  <a:srgbClr val="FF0000"/>
                </a:solidFill>
                <a:latin typeface="Times New Roman" panose="02020603050405020304" pitchFamily="18" charset="0"/>
                <a:cs typeface="Times New Roman" panose="02020603050405020304" pitchFamily="18" charset="0"/>
              </a:rPr>
              <a:t>机器语言是用二进制代码表示的计算机能直接识别和执行的一种机器指令的集合</a:t>
            </a:r>
            <a:r>
              <a:rPr lang="zh-CN" altLang="en-US" sz="2200" b="1" dirty="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200" b="1" dirty="0">
                <a:latin typeface="Times New Roman" panose="02020603050405020304" pitchFamily="18" charset="0"/>
                <a:cs typeface="Times New Roman" panose="02020603050405020304" pitchFamily="18" charset="0"/>
              </a:rPr>
              <a:t>它是</a:t>
            </a:r>
            <a:r>
              <a:rPr lang="zh-CN" altLang="en-US" sz="2200" b="1" dirty="0">
                <a:solidFill>
                  <a:srgbClr val="0000FF"/>
                </a:solidFill>
                <a:latin typeface="Times New Roman" panose="02020603050405020304" pitchFamily="18" charset="0"/>
                <a:cs typeface="Times New Roman" panose="02020603050405020304" pitchFamily="18" charset="0"/>
              </a:rPr>
              <a:t>计算机设计者</a:t>
            </a:r>
            <a:r>
              <a:rPr lang="zh-CN" altLang="en-US" sz="2200" b="1" dirty="0">
                <a:latin typeface="Times New Roman" panose="02020603050405020304" pitchFamily="18" charset="0"/>
                <a:cs typeface="Times New Roman" panose="02020603050405020304" pitchFamily="18" charset="0"/>
              </a:rPr>
              <a:t>通过</a:t>
            </a:r>
            <a:r>
              <a:rPr lang="zh-CN" altLang="en-US" sz="2200" b="1" dirty="0">
                <a:solidFill>
                  <a:srgbClr val="FF0000"/>
                </a:solidFill>
                <a:latin typeface="Times New Roman" panose="02020603050405020304" pitchFamily="18" charset="0"/>
                <a:cs typeface="Times New Roman" panose="02020603050405020304" pitchFamily="18" charset="0"/>
              </a:rPr>
              <a:t>计算机硬件结构</a:t>
            </a:r>
            <a:r>
              <a:rPr lang="zh-CN" altLang="en-US" sz="2200" b="1" dirty="0">
                <a:latin typeface="Times New Roman" panose="02020603050405020304" pitchFamily="18" charset="0"/>
                <a:cs typeface="Times New Roman" panose="02020603050405020304" pitchFamily="18" charset="0"/>
              </a:rPr>
              <a:t>赋予计算机的操作功能。</a:t>
            </a:r>
            <a:endParaRPr lang="en-US" altLang="zh-CN" sz="22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200" b="1" dirty="0">
                <a:latin typeface="Times New Roman" panose="02020603050405020304" pitchFamily="18" charset="0"/>
                <a:cs typeface="Times New Roman" panose="02020603050405020304" pitchFamily="18" charset="0"/>
              </a:rPr>
              <a:t>每台机器的指令格式和代码所代表的含义都是事先规定好的，故机器语言也称为</a:t>
            </a:r>
            <a:r>
              <a:rPr lang="zh-CN" altLang="en-US" sz="2200" b="1" dirty="0">
                <a:solidFill>
                  <a:srgbClr val="FF0000"/>
                </a:solidFill>
                <a:latin typeface="Times New Roman" panose="02020603050405020304" pitchFamily="18" charset="0"/>
                <a:cs typeface="Times New Roman" panose="02020603050405020304" pitchFamily="18" charset="0"/>
              </a:rPr>
              <a:t>面向机器的语言</a:t>
            </a:r>
            <a:r>
              <a:rPr lang="zh-CN" altLang="en-US" sz="2200" b="1" dirty="0">
                <a:latin typeface="Times New Roman" panose="02020603050405020304" pitchFamily="18" charset="0"/>
                <a:cs typeface="Times New Roman" panose="02020603050405020304" pitchFamily="18" charset="0"/>
              </a:rPr>
              <a:t>，</a:t>
            </a:r>
            <a:r>
              <a:rPr lang="zh-CN" altLang="en-US" sz="2200" b="1" dirty="0">
                <a:solidFill>
                  <a:srgbClr val="FF0000"/>
                </a:solidFill>
                <a:latin typeface="Times New Roman" panose="02020603050405020304" pitchFamily="18" charset="0"/>
                <a:cs typeface="Times New Roman" panose="02020603050405020304" pitchFamily="18" charset="0"/>
              </a:rPr>
              <a:t>不同硬件结构的计算机的机器语言一般是不同的</a:t>
            </a:r>
            <a:r>
              <a:rPr lang="zh-CN" altLang="en-US" sz="2200" b="1" dirty="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200" b="1" dirty="0">
                <a:solidFill>
                  <a:srgbClr val="0000FF"/>
                </a:solidFill>
                <a:latin typeface="Times New Roman" panose="02020603050405020304" pitchFamily="18" charset="0"/>
                <a:cs typeface="Times New Roman" panose="02020603050405020304" pitchFamily="18" charset="0"/>
              </a:rPr>
              <a:t>机器语言程序执行速度快</a:t>
            </a:r>
            <a:r>
              <a:rPr lang="zh-CN" altLang="en-US" sz="2200" b="1" dirty="0">
                <a:latin typeface="Times New Roman" panose="02020603050405020304" pitchFamily="18" charset="0"/>
                <a:cs typeface="Times New Roman" panose="02020603050405020304" pitchFamily="18" charset="0"/>
              </a:rPr>
              <a:t>，但由于对机器的依赖程度高，因此</a:t>
            </a:r>
            <a:r>
              <a:rPr lang="zh-CN" altLang="en-US" sz="2200" b="1" dirty="0">
                <a:solidFill>
                  <a:srgbClr val="0000FF"/>
                </a:solidFill>
                <a:latin typeface="Times New Roman" panose="02020603050405020304" pitchFamily="18" charset="0"/>
                <a:cs typeface="Times New Roman" panose="02020603050405020304" pitchFamily="18" charset="0"/>
              </a:rPr>
              <a:t>编程烦琐、硬件透明性差、直观性差、容易出错</a:t>
            </a:r>
            <a:r>
              <a:rPr lang="zh-CN" altLang="en-US" sz="2200" b="1" dirty="0">
                <a:latin typeface="Times New Roman" panose="02020603050405020304" pitchFamily="18" charset="0"/>
                <a:cs typeface="Times New Roman" panose="02020603050405020304" pitchFamily="18" charset="0"/>
              </a:rPr>
              <a:t>。</a:t>
            </a:r>
            <a:endParaRPr lang="en-US" altLang="zh-CN" sz="2200" b="1" dirty="0">
              <a:solidFill>
                <a:srgbClr val="0000FF"/>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C8AF7375-103D-4370-8549-2A8FCF0102B2}"/>
              </a:ext>
            </a:extLst>
          </p:cNvPr>
          <p:cNvPicPr>
            <a:picLocks noChangeAspect="1"/>
          </p:cNvPicPr>
          <p:nvPr/>
        </p:nvPicPr>
        <p:blipFill rotWithShape="1">
          <a:blip r:embed="rId4">
            <a:extLst>
              <a:ext uri="{28A0092B-C50C-407E-A947-70E740481C1C}">
                <a14:useLocalDpi xmlns:a14="http://schemas.microsoft.com/office/drawing/2010/main" val="0"/>
              </a:ext>
            </a:extLst>
          </a:blip>
          <a:srcRect t="79592"/>
          <a:stretch/>
        </p:blipFill>
        <p:spPr>
          <a:xfrm>
            <a:off x="1403648" y="5388317"/>
            <a:ext cx="4759452" cy="1399565"/>
          </a:xfrm>
          <a:prstGeom prst="rect">
            <a:avLst/>
          </a:prstGeom>
        </p:spPr>
      </p:pic>
    </p:spTree>
    <p:extLst>
      <p:ext uri="{BB962C8B-B14F-4D97-AF65-F5344CB8AC3E}">
        <p14:creationId xmlns:p14="http://schemas.microsoft.com/office/powerpoint/2010/main" val="178297527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98A4AF9-A9E5-88CB-6614-AC9D5B96F97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6EF5578F-B608-438C-BBAB-90D9BC2E7A2E}"/>
              </a:ext>
            </a:extLst>
          </p:cNvPr>
          <p:cNvSpPr txBox="1"/>
          <p:nvPr/>
        </p:nvSpPr>
        <p:spPr>
          <a:xfrm>
            <a:off x="107504" y="836712"/>
            <a:ext cx="8928992" cy="3121239"/>
          </a:xfrm>
          <a:prstGeom prst="rect">
            <a:avLst/>
          </a:prstGeom>
          <a:noFill/>
        </p:spPr>
        <p:txBody>
          <a:bodyPr wrap="square">
            <a:spAutoFit/>
          </a:bodyPr>
          <a:lstStyle/>
          <a:p>
            <a:pPr algn="just">
              <a:lnSpc>
                <a:spcPct val="150000"/>
              </a:lnSpc>
            </a:pPr>
            <a:r>
              <a:rPr lang="zh-CN" altLang="en-US" sz="2400" b="1" dirty="0">
                <a:latin typeface="Times New Roman" panose="02020603050405020304" pitchFamily="18" charset="0"/>
                <a:cs typeface="Times New Roman" panose="02020603050405020304" pitchFamily="18" charset="0"/>
              </a:rPr>
              <a:t>② 汇编语言</a:t>
            </a:r>
            <a:endParaRPr lang="en-US" altLang="zh-CN" sz="24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200" b="1" dirty="0">
                <a:solidFill>
                  <a:srgbClr val="FF0000"/>
                </a:solidFill>
                <a:latin typeface="Times New Roman" panose="02020603050405020304" pitchFamily="18" charset="0"/>
                <a:cs typeface="Times New Roman" panose="02020603050405020304" pitchFamily="18" charset="0"/>
              </a:rPr>
              <a:t>汇编语言是一种用助记符表示的面向机器的计算机语言。</a:t>
            </a:r>
            <a:endParaRPr lang="en-US" altLang="zh-CN" sz="2200" b="1" dirty="0">
              <a:solidFill>
                <a:srgbClr val="FF0000"/>
              </a:solidFill>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200" b="1" dirty="0">
                <a:latin typeface="Times New Roman" panose="02020603050405020304" pitchFamily="18" charset="0"/>
                <a:cs typeface="Times New Roman" panose="02020603050405020304" pitchFamily="18" charset="0"/>
              </a:rPr>
              <a:t>相比机器语言编程，汇编语言编程</a:t>
            </a:r>
            <a:r>
              <a:rPr lang="zh-CN" altLang="en-US" sz="2200" b="1" dirty="0">
                <a:solidFill>
                  <a:srgbClr val="FF0000"/>
                </a:solidFill>
                <a:latin typeface="Times New Roman" panose="02020603050405020304" pitchFamily="18" charset="0"/>
                <a:cs typeface="Times New Roman" panose="02020603050405020304" pitchFamily="18" charset="0"/>
              </a:rPr>
              <a:t>更加灵活</a:t>
            </a:r>
            <a:r>
              <a:rPr lang="zh-CN" altLang="en-US" sz="2200" b="1" dirty="0">
                <a:latin typeface="Times New Roman" panose="02020603050405020304" pitchFamily="18" charset="0"/>
                <a:cs typeface="Times New Roman" panose="02020603050405020304" pitchFamily="18" charset="0"/>
              </a:rPr>
              <a:t>，在一定程度上简化了编程过程。</a:t>
            </a:r>
            <a:endParaRPr lang="en-US" altLang="zh-CN" sz="22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2200" b="1" dirty="0">
                <a:latin typeface="Times New Roman" panose="02020603050405020304" pitchFamily="18" charset="0"/>
                <a:cs typeface="Times New Roman" panose="02020603050405020304" pitchFamily="18" charset="0"/>
              </a:rPr>
              <a:t>使用汇编语言编程</a:t>
            </a:r>
            <a:r>
              <a:rPr lang="zh-CN" altLang="en-US" sz="2200" b="1" dirty="0">
                <a:solidFill>
                  <a:srgbClr val="0000FF"/>
                </a:solidFill>
                <a:latin typeface="Times New Roman" panose="02020603050405020304" pitchFamily="18" charset="0"/>
                <a:cs typeface="Times New Roman" panose="02020603050405020304" pitchFamily="18" charset="0"/>
              </a:rPr>
              <a:t>必须对处理器内部架构有充分的了解</a:t>
            </a:r>
            <a:r>
              <a:rPr lang="zh-CN" altLang="en-US" sz="2200" b="1" dirty="0">
                <a:latin typeface="Times New Roman" panose="02020603050405020304" pitchFamily="18" charset="0"/>
                <a:cs typeface="Times New Roman" panose="02020603050405020304" pitchFamily="18" charset="0"/>
              </a:rPr>
              <a:t>，汇编程序</a:t>
            </a:r>
            <a:r>
              <a:rPr lang="zh-CN" altLang="en-US" sz="2200" b="1" dirty="0">
                <a:solidFill>
                  <a:srgbClr val="0000FF"/>
                </a:solidFill>
                <a:latin typeface="Times New Roman" panose="02020603050405020304" pitchFamily="18" charset="0"/>
                <a:cs typeface="Times New Roman" panose="02020603050405020304" pitchFamily="18" charset="0"/>
              </a:rPr>
              <a:t>必须利用汇编器转换成机器指令才能执行</a:t>
            </a:r>
            <a:r>
              <a:rPr lang="zh-CN" altLang="en-US" sz="2200" b="1" dirty="0">
                <a:latin typeface="Times New Roman" panose="02020603050405020304" pitchFamily="18" charset="0"/>
                <a:cs typeface="Times New Roman" panose="02020603050405020304" pitchFamily="18" charset="0"/>
              </a:rPr>
              <a:t>。</a:t>
            </a:r>
            <a:endParaRPr lang="en-US" altLang="zh-CN" sz="2200" b="1" dirty="0">
              <a:solidFill>
                <a:srgbClr val="0000FF"/>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5D8C1B05-15C1-4C4A-9D7F-5506739394A0}"/>
              </a:ext>
            </a:extLst>
          </p:cNvPr>
          <p:cNvPicPr>
            <a:picLocks noChangeAspect="1"/>
          </p:cNvPicPr>
          <p:nvPr/>
        </p:nvPicPr>
        <p:blipFill rotWithShape="1">
          <a:blip r:embed="rId4">
            <a:extLst>
              <a:ext uri="{28A0092B-C50C-407E-A947-70E740481C1C}">
                <a14:useLocalDpi xmlns:a14="http://schemas.microsoft.com/office/drawing/2010/main" val="0"/>
              </a:ext>
            </a:extLst>
          </a:blip>
          <a:srcRect t="37065" b="40269"/>
          <a:stretch/>
        </p:blipFill>
        <p:spPr>
          <a:xfrm>
            <a:off x="1115616" y="3975328"/>
            <a:ext cx="6264409" cy="2045960"/>
          </a:xfrm>
          <a:prstGeom prst="rect">
            <a:avLst/>
          </a:prstGeom>
        </p:spPr>
      </p:pic>
    </p:spTree>
    <p:extLst>
      <p:ext uri="{BB962C8B-B14F-4D97-AF65-F5344CB8AC3E}">
        <p14:creationId xmlns:p14="http://schemas.microsoft.com/office/powerpoint/2010/main" val="251162479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98A4AF9-A9E5-88CB-6614-AC9D5B96F97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6EF5578F-B608-438C-BBAB-90D9BC2E7A2E}"/>
              </a:ext>
            </a:extLst>
          </p:cNvPr>
          <p:cNvSpPr txBox="1"/>
          <p:nvPr/>
        </p:nvSpPr>
        <p:spPr>
          <a:xfrm>
            <a:off x="107503" y="836712"/>
            <a:ext cx="8977229" cy="4656403"/>
          </a:xfrm>
          <a:prstGeom prst="rect">
            <a:avLst/>
          </a:prstGeom>
          <a:noFill/>
        </p:spPr>
        <p:txBody>
          <a:bodyPr wrap="square">
            <a:spAutoFit/>
          </a:bodyPr>
          <a:lstStyle/>
          <a:p>
            <a:pPr>
              <a:lnSpc>
                <a:spcPct val="150000"/>
              </a:lnSpc>
            </a:pPr>
            <a:r>
              <a:rPr lang="zh-CN" altLang="en-US" sz="2400" b="1" dirty="0">
                <a:latin typeface="Times New Roman" panose="02020603050405020304" pitchFamily="18" charset="0"/>
                <a:cs typeface="Times New Roman" panose="02020603050405020304" pitchFamily="18" charset="0"/>
              </a:rPr>
              <a:t>③高级语言</a:t>
            </a:r>
            <a:endParaRPr lang="en-US" altLang="zh-CN" sz="24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高级语言是</a:t>
            </a:r>
            <a:r>
              <a:rPr lang="zh-CN" altLang="en-US" sz="2000" b="1" dirty="0">
                <a:solidFill>
                  <a:srgbClr val="FF0000"/>
                </a:solidFill>
                <a:latin typeface="Times New Roman" panose="02020603050405020304" pitchFamily="18" charset="0"/>
                <a:cs typeface="Times New Roman" panose="02020603050405020304" pitchFamily="18" charset="0"/>
              </a:rPr>
              <a:t>与人类自然语言相接近且能为计算机所接受的</a:t>
            </a:r>
            <a:r>
              <a:rPr lang="zh-CN" altLang="en-US" sz="2000" b="1" dirty="0">
                <a:latin typeface="Times New Roman" panose="02020603050405020304" pitchFamily="18" charset="0"/>
                <a:cs typeface="Times New Roman" panose="02020603050405020304" pitchFamily="18" charset="0"/>
              </a:rPr>
              <a:t>，语意确定、规则明确、自然直观和</a:t>
            </a:r>
            <a:r>
              <a:rPr lang="zh-CN" altLang="en-US" sz="2000" b="1" dirty="0">
                <a:solidFill>
                  <a:srgbClr val="FF0000"/>
                </a:solidFill>
                <a:latin typeface="Times New Roman" panose="02020603050405020304" pitchFamily="18" charset="0"/>
                <a:cs typeface="Times New Roman" panose="02020603050405020304" pitchFamily="18" charset="0"/>
              </a:rPr>
              <a:t>通用易学</a:t>
            </a:r>
            <a:r>
              <a:rPr lang="zh-CN" altLang="en-US" sz="2000" b="1" dirty="0">
                <a:latin typeface="Times New Roman" panose="02020603050405020304" pitchFamily="18" charset="0"/>
                <a:cs typeface="Times New Roman" panose="02020603050405020304" pitchFamily="18" charset="0"/>
              </a:rPr>
              <a:t>的计算机语言。</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目前广泛使用的高级语言有</a:t>
            </a:r>
            <a:r>
              <a:rPr lang="en-US" altLang="zh-CN" sz="2000" b="1" dirty="0">
                <a:solidFill>
                  <a:srgbClr val="FF0000"/>
                </a:solidFill>
                <a:latin typeface="Times New Roman" panose="02020603050405020304" pitchFamily="18" charset="0"/>
                <a:cs typeface="Times New Roman" panose="02020603050405020304" pitchFamily="18" charset="0"/>
              </a:rPr>
              <a:t>Basic</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FORTRAN</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Pascal</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C / C + + </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Java</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Python</a:t>
            </a:r>
            <a:r>
              <a:rPr lang="zh-CN" altLang="en-US" sz="2000" b="1" dirty="0">
                <a:latin typeface="Times New Roman" panose="02020603050405020304" pitchFamily="18" charset="0"/>
                <a:cs typeface="Times New Roman" panose="02020603050405020304" pitchFamily="18" charset="0"/>
              </a:rPr>
              <a:t>等。</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高级语言是</a:t>
            </a:r>
            <a:r>
              <a:rPr lang="zh-CN" altLang="en-US" sz="2000" b="1" dirty="0">
                <a:solidFill>
                  <a:srgbClr val="FF0000"/>
                </a:solidFill>
                <a:latin typeface="Times New Roman" panose="02020603050405020304" pitchFamily="18" charset="0"/>
                <a:cs typeface="Times New Roman" panose="02020603050405020304" pitchFamily="18" charset="0"/>
              </a:rPr>
              <a:t>面向用户</a:t>
            </a:r>
            <a:r>
              <a:rPr lang="zh-CN" altLang="en-US" sz="2000" b="1" dirty="0">
                <a:latin typeface="Times New Roman" panose="02020603050405020304" pitchFamily="18" charset="0"/>
                <a:cs typeface="Times New Roman" panose="02020603050405020304" pitchFamily="18" charset="0"/>
              </a:rPr>
              <a:t>的程序设计语言，需要通过相应的</a:t>
            </a:r>
            <a:r>
              <a:rPr lang="zh-CN" altLang="en-US" sz="2000" b="1" dirty="0">
                <a:solidFill>
                  <a:srgbClr val="0000FF"/>
                </a:solidFill>
                <a:latin typeface="Times New Roman" panose="02020603050405020304" pitchFamily="18" charset="0"/>
                <a:cs typeface="Times New Roman" panose="02020603050405020304" pitchFamily="18" charset="0"/>
              </a:rPr>
              <a:t>语言翻译程序</a:t>
            </a:r>
            <a:r>
              <a:rPr lang="zh-CN" altLang="en-US" sz="2000" b="1" dirty="0">
                <a:latin typeface="Times New Roman" panose="02020603050405020304" pitchFamily="18" charset="0"/>
                <a:cs typeface="Times New Roman" panose="02020603050405020304" pitchFamily="18" charset="0"/>
              </a:rPr>
              <a:t>才可变成</a:t>
            </a:r>
            <a:r>
              <a:rPr lang="zh-CN" altLang="en-US" sz="2000" b="1" dirty="0">
                <a:solidFill>
                  <a:srgbClr val="0000FF"/>
                </a:solidFill>
                <a:latin typeface="Times New Roman" panose="02020603050405020304" pitchFamily="18" charset="0"/>
                <a:cs typeface="Times New Roman" panose="02020603050405020304" pitchFamily="18" charset="0"/>
              </a:rPr>
              <a:t>计算机硬件能识别并执行的目标程序</a:t>
            </a:r>
            <a:r>
              <a:rPr lang="zh-CN" altLang="en-US" sz="2000" b="1" dirty="0">
                <a:latin typeface="Times New Roman" panose="02020603050405020304" pitchFamily="18" charset="0"/>
                <a:cs typeface="Times New Roman" panose="02020603050405020304" pitchFamily="18" charset="0"/>
              </a:rPr>
              <a:t>。其根据执行方式可分为解释型与编译型两类。</a:t>
            </a:r>
            <a:endParaRPr lang="en-US" altLang="zh-CN" sz="2000" b="1"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解释型语言采用</a:t>
            </a:r>
            <a:r>
              <a:rPr lang="zh-CN" altLang="en-US" b="1" dirty="0">
                <a:solidFill>
                  <a:srgbClr val="FF0000"/>
                </a:solidFill>
                <a:latin typeface="Times New Roman" panose="02020603050405020304" pitchFamily="18" charset="0"/>
                <a:cs typeface="Times New Roman" panose="02020603050405020304" pitchFamily="18" charset="0"/>
              </a:rPr>
              <a:t>边解释、边执行</a:t>
            </a:r>
            <a:r>
              <a:rPr lang="zh-CN" altLang="en-US" b="1" dirty="0">
                <a:latin typeface="Times New Roman" panose="02020603050405020304" pitchFamily="18" charset="0"/>
                <a:cs typeface="Times New Roman" panose="02020603050405020304" pitchFamily="18" charset="0"/>
              </a:rPr>
              <a:t>的方法，</a:t>
            </a:r>
            <a:r>
              <a:rPr lang="zh-CN" altLang="en-US" b="1" dirty="0">
                <a:solidFill>
                  <a:srgbClr val="FF0000"/>
                </a:solidFill>
                <a:latin typeface="Times New Roman" panose="02020603050405020304" pitchFamily="18" charset="0"/>
                <a:cs typeface="Times New Roman" panose="02020603050405020304" pitchFamily="18" charset="0"/>
              </a:rPr>
              <a:t>不生成目标程序</a:t>
            </a:r>
            <a:r>
              <a:rPr lang="zh-CN" altLang="en-US" b="1" dirty="0">
                <a:latin typeface="Times New Roman" panose="02020603050405020304" pitchFamily="18" charset="0"/>
                <a:cs typeface="Times New Roman" panose="02020603050405020304" pitchFamily="18" charset="0"/>
              </a:rPr>
              <a:t>，如</a:t>
            </a:r>
            <a:r>
              <a:rPr lang="en-US" altLang="zh-CN" b="1" dirty="0">
                <a:latin typeface="Times New Roman" panose="02020603050405020304" pitchFamily="18" charset="0"/>
                <a:cs typeface="Times New Roman" panose="02020603050405020304" pitchFamily="18" charset="0"/>
              </a:rPr>
              <a:t>Basic</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Java</a:t>
            </a:r>
            <a:r>
              <a:rPr lang="zh-CN" altLang="en-US" b="1" dirty="0">
                <a:latin typeface="Times New Roman" panose="02020603050405020304" pitchFamily="18" charset="0"/>
                <a:cs typeface="Times New Roman" panose="02020603050405020304" pitchFamily="18" charset="0"/>
              </a:rPr>
              <a:t>语言；</a:t>
            </a:r>
            <a:endParaRPr lang="en-US" altLang="zh-CN" b="1"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编译型语言</a:t>
            </a:r>
            <a:r>
              <a:rPr lang="zh-CN" altLang="en-US" b="1" dirty="0">
                <a:solidFill>
                  <a:srgbClr val="FF0000"/>
                </a:solidFill>
                <a:latin typeface="Times New Roman" panose="02020603050405020304" pitchFamily="18" charset="0"/>
                <a:cs typeface="Times New Roman" panose="02020603050405020304" pitchFamily="18" charset="0"/>
              </a:rPr>
              <a:t>必须先将源程序翻译成目标程序</a:t>
            </a:r>
            <a:r>
              <a:rPr lang="zh-CN" altLang="en-US" b="1" dirty="0">
                <a:latin typeface="Times New Roman" panose="02020603050405020304" pitchFamily="18" charset="0"/>
                <a:cs typeface="Times New Roman" panose="02020603050405020304" pitchFamily="18" charset="0"/>
              </a:rPr>
              <a:t>才能执行，典型的如</a:t>
            </a:r>
            <a:r>
              <a:rPr lang="en-US" altLang="zh-CN" b="1" dirty="0">
                <a:latin typeface="Times New Roman" panose="02020603050405020304" pitchFamily="18" charset="0"/>
                <a:cs typeface="Times New Roman" panose="02020603050405020304" pitchFamily="18" charset="0"/>
              </a:rPr>
              <a:t>C</a:t>
            </a:r>
            <a:r>
              <a:rPr lang="zh-CN" altLang="en-US" b="1" dirty="0">
                <a:latin typeface="Times New Roman" panose="02020603050405020304" pitchFamily="18" charset="0"/>
                <a:cs typeface="Times New Roman" panose="02020603050405020304" pitchFamily="18" charset="0"/>
              </a:rPr>
              <a:t>语言等。</a:t>
            </a:r>
            <a:endParaRPr lang="en-US" altLang="zh-CN" b="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63980567-614B-41FA-A006-B6D367D8FC5F}"/>
              </a:ext>
            </a:extLst>
          </p:cNvPr>
          <p:cNvPicPr>
            <a:picLocks noChangeAspect="1"/>
          </p:cNvPicPr>
          <p:nvPr/>
        </p:nvPicPr>
        <p:blipFill rotWithShape="1">
          <a:blip r:embed="rId4">
            <a:extLst>
              <a:ext uri="{28A0092B-C50C-407E-A947-70E740481C1C}">
                <a14:useLocalDpi xmlns:a14="http://schemas.microsoft.com/office/drawing/2010/main" val="0"/>
              </a:ext>
            </a:extLst>
          </a:blip>
          <a:srcRect b="80433"/>
          <a:stretch/>
        </p:blipFill>
        <p:spPr>
          <a:xfrm>
            <a:off x="683568" y="5459500"/>
            <a:ext cx="4759452" cy="1341875"/>
          </a:xfrm>
          <a:prstGeom prst="rect">
            <a:avLst/>
          </a:prstGeom>
        </p:spPr>
      </p:pic>
    </p:spTree>
    <p:extLst>
      <p:ext uri="{BB962C8B-B14F-4D97-AF65-F5344CB8AC3E}">
        <p14:creationId xmlns:p14="http://schemas.microsoft.com/office/powerpoint/2010/main" val="56526347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98A4AF9-A9E5-88CB-6614-AC9D5B96F97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6EF5578F-B608-438C-BBAB-90D9BC2E7A2E}"/>
              </a:ext>
            </a:extLst>
          </p:cNvPr>
          <p:cNvSpPr txBox="1"/>
          <p:nvPr/>
        </p:nvSpPr>
        <p:spPr>
          <a:xfrm>
            <a:off x="35496" y="908720"/>
            <a:ext cx="9001000" cy="3911905"/>
          </a:xfrm>
          <a:prstGeom prst="rect">
            <a:avLst/>
          </a:prstGeom>
          <a:noFill/>
        </p:spPr>
        <p:txBody>
          <a:bodyPr wrap="square">
            <a:spAutoFit/>
          </a:bodyPr>
          <a:lstStyle/>
          <a:p>
            <a:pPr>
              <a:lnSpc>
                <a:spcPct val="150000"/>
              </a:lnSpc>
            </a:pPr>
            <a:r>
              <a:rPr lang="zh-CN" altLang="en-US" sz="2400" b="1" dirty="0">
                <a:solidFill>
                  <a:srgbClr val="0000FF"/>
                </a:solidFill>
                <a:highlight>
                  <a:srgbClr val="FFFF00"/>
                </a:highlight>
                <a:latin typeface="Times New Roman" panose="02020603050405020304" pitchFamily="18" charset="0"/>
                <a:cs typeface="Times New Roman" panose="02020603050405020304" pitchFamily="18" charset="0"/>
              </a:rPr>
              <a:t>语言翻译程序</a:t>
            </a:r>
            <a:r>
              <a:rPr lang="zh-CN" altLang="en-US" sz="2400" b="1" dirty="0">
                <a:solidFill>
                  <a:srgbClr val="0000FF"/>
                </a:solidFill>
                <a:latin typeface="Times New Roman" panose="02020603050405020304" pitchFamily="18" charset="0"/>
                <a:cs typeface="Times New Roman" panose="02020603050405020304" pitchFamily="18" charset="0"/>
              </a:rPr>
              <a:t>主要包括</a:t>
            </a:r>
            <a:r>
              <a:rPr lang="zh-CN" altLang="en-US" sz="2400" b="1" dirty="0">
                <a:solidFill>
                  <a:srgbClr val="FF0000"/>
                </a:solidFill>
                <a:latin typeface="Times New Roman" panose="02020603050405020304" pitchFamily="18" charset="0"/>
                <a:cs typeface="Times New Roman" panose="02020603050405020304" pitchFamily="18" charset="0"/>
              </a:rPr>
              <a:t>编译程序</a:t>
            </a:r>
            <a:r>
              <a:rPr lang="zh-CN" altLang="en-US" sz="2400" b="1" dirty="0">
                <a:solidFill>
                  <a:srgbClr val="0000FF"/>
                </a:solidFill>
                <a:latin typeface="Times New Roman" panose="02020603050405020304" pitchFamily="18" charset="0"/>
                <a:cs typeface="Times New Roman" panose="02020603050405020304" pitchFamily="18" charset="0"/>
              </a:rPr>
              <a:t>、</a:t>
            </a:r>
            <a:r>
              <a:rPr lang="zh-CN" altLang="en-US" sz="2400" b="1" dirty="0">
                <a:solidFill>
                  <a:srgbClr val="FF0000"/>
                </a:solidFill>
                <a:latin typeface="Times New Roman" panose="02020603050405020304" pitchFamily="18" charset="0"/>
                <a:cs typeface="Times New Roman" panose="02020603050405020304" pitchFamily="18" charset="0"/>
              </a:rPr>
              <a:t>汇编程序</a:t>
            </a:r>
            <a:r>
              <a:rPr lang="zh-CN" altLang="en-US" sz="2400" b="1" dirty="0">
                <a:solidFill>
                  <a:srgbClr val="0000FF"/>
                </a:solidFill>
                <a:latin typeface="Times New Roman" panose="02020603050405020304" pitchFamily="18" charset="0"/>
                <a:cs typeface="Times New Roman" panose="02020603050405020304" pitchFamily="18" charset="0"/>
              </a:rPr>
              <a:t>、</a:t>
            </a:r>
            <a:r>
              <a:rPr lang="zh-CN" altLang="en-US" sz="2400" b="1" dirty="0">
                <a:solidFill>
                  <a:srgbClr val="FF0000"/>
                </a:solidFill>
                <a:latin typeface="Times New Roman" panose="02020603050405020304" pitchFamily="18" charset="0"/>
                <a:cs typeface="Times New Roman" panose="02020603050405020304" pitchFamily="18" charset="0"/>
              </a:rPr>
              <a:t>解释程序</a:t>
            </a:r>
            <a:r>
              <a:rPr lang="zh-CN" altLang="en-US" sz="2400" b="1" dirty="0">
                <a:solidFill>
                  <a:srgbClr val="0000FF"/>
                </a:solidFill>
                <a:latin typeface="Times New Roman" panose="02020603050405020304" pitchFamily="18" charset="0"/>
                <a:cs typeface="Times New Roman" panose="02020603050405020304" pitchFamily="18" charset="0"/>
              </a:rPr>
              <a:t>和</a:t>
            </a:r>
            <a:r>
              <a:rPr lang="zh-CN" altLang="en-US" sz="2400" b="1" dirty="0">
                <a:solidFill>
                  <a:srgbClr val="FF0000"/>
                </a:solidFill>
                <a:latin typeface="Times New Roman" panose="02020603050405020304" pitchFamily="18" charset="0"/>
                <a:cs typeface="Times New Roman" panose="02020603050405020304" pitchFamily="18" charset="0"/>
              </a:rPr>
              <a:t>其他软件操作程序</a:t>
            </a:r>
            <a:r>
              <a:rPr lang="zh-CN" altLang="en-US" sz="2400" b="1" dirty="0">
                <a:solidFill>
                  <a:srgbClr val="0000FF"/>
                </a:solidFill>
                <a:latin typeface="Times New Roman" panose="02020603050405020304" pitchFamily="18" charset="0"/>
                <a:cs typeface="Times New Roman" panose="02020603050405020304" pitchFamily="18" charset="0"/>
              </a:rPr>
              <a:t>。</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编译程序负责</a:t>
            </a:r>
            <a:r>
              <a:rPr lang="zh-CN" altLang="en-US" sz="2000" b="1" dirty="0">
                <a:solidFill>
                  <a:srgbClr val="FF0000"/>
                </a:solidFill>
                <a:latin typeface="Times New Roman" panose="02020603050405020304" pitchFamily="18" charset="0"/>
                <a:cs typeface="Times New Roman" panose="02020603050405020304" pitchFamily="18" charset="0"/>
              </a:rPr>
              <a:t>将高级语言翻译成汇编代码</a:t>
            </a:r>
            <a:r>
              <a:rPr lang="zh-CN" altLang="en-US" sz="2000" b="1" dirty="0">
                <a:latin typeface="Times New Roman" panose="02020603050405020304" pitchFamily="18" charset="0"/>
                <a:cs typeface="Times New Roman" panose="02020603050405020304" pitchFamily="18" charset="0"/>
              </a:rPr>
              <a:t>，也称为</a:t>
            </a:r>
            <a:r>
              <a:rPr lang="zh-CN" altLang="en-US" sz="2000" b="1" dirty="0">
                <a:solidFill>
                  <a:srgbClr val="FF0000"/>
                </a:solidFill>
                <a:latin typeface="Times New Roman" panose="02020603050405020304" pitchFamily="18" charset="0"/>
                <a:cs typeface="Times New Roman" panose="02020603050405020304" pitchFamily="18" charset="0"/>
              </a:rPr>
              <a:t>编译器</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汇编程序负责</a:t>
            </a:r>
            <a:r>
              <a:rPr lang="zh-CN" altLang="en-US" sz="2000" b="1" dirty="0">
                <a:solidFill>
                  <a:srgbClr val="FF0000"/>
                </a:solidFill>
                <a:latin typeface="Times New Roman" panose="02020603050405020304" pitchFamily="18" charset="0"/>
                <a:cs typeface="Times New Roman" panose="02020603050405020304" pitchFamily="18" charset="0"/>
              </a:rPr>
              <a:t>将汇编语言翻译成机器语言目标程序</a:t>
            </a:r>
            <a:r>
              <a:rPr lang="zh-CN" altLang="en-US" sz="2000" b="1" dirty="0">
                <a:latin typeface="Times New Roman" panose="02020603050405020304" pitchFamily="18" charset="0"/>
                <a:cs typeface="Times New Roman" panose="02020603050405020304" pitchFamily="18" charset="0"/>
              </a:rPr>
              <a:t>，也称为</a:t>
            </a:r>
            <a:r>
              <a:rPr lang="zh-CN" altLang="en-US" sz="2000" b="1" dirty="0">
                <a:solidFill>
                  <a:srgbClr val="FF0000"/>
                </a:solidFill>
                <a:latin typeface="Times New Roman" panose="02020603050405020304" pitchFamily="18" charset="0"/>
                <a:cs typeface="Times New Roman" panose="02020603050405020304" pitchFamily="18" charset="0"/>
              </a:rPr>
              <a:t>汇编器</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解释程序用于</a:t>
            </a:r>
            <a:r>
              <a:rPr lang="zh-CN" altLang="en-US" sz="2000" b="1" dirty="0">
                <a:solidFill>
                  <a:srgbClr val="FF0000"/>
                </a:solidFill>
                <a:latin typeface="Times New Roman" panose="02020603050405020304" pitchFamily="18" charset="0"/>
                <a:cs typeface="Times New Roman" panose="02020603050405020304" pitchFamily="18" charset="0"/>
              </a:rPr>
              <a:t>将源程序中的语句按执行顺序逐条翻译成机器指令并执行，且不生成目标程序</a:t>
            </a:r>
            <a:r>
              <a:rPr lang="zh-CN" altLang="en-US" sz="2000" b="1" dirty="0">
                <a:latin typeface="Times New Roman" panose="02020603050405020304" pitchFamily="18" charset="0"/>
                <a:cs typeface="Times New Roman" panose="02020603050405020304" pitchFamily="18" charset="0"/>
              </a:rPr>
              <a:t>，也称为</a:t>
            </a:r>
            <a:r>
              <a:rPr lang="zh-CN" altLang="en-US" sz="2000" b="1" dirty="0">
                <a:solidFill>
                  <a:srgbClr val="FF0000"/>
                </a:solidFill>
                <a:latin typeface="Times New Roman" panose="02020603050405020304" pitchFamily="18" charset="0"/>
                <a:cs typeface="Times New Roman" panose="02020603050405020304" pitchFamily="18" charset="0"/>
              </a:rPr>
              <a:t>解释器</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下图所示为常见的</a:t>
            </a:r>
            <a:r>
              <a:rPr lang="en-US" altLang="zh-CN" sz="2000" b="1" dirty="0">
                <a:latin typeface="Times New Roman" panose="02020603050405020304" pitchFamily="18" charset="0"/>
                <a:cs typeface="Times New Roman" panose="02020603050405020304" pitchFamily="18" charset="0"/>
              </a:rPr>
              <a:t>C</a:t>
            </a:r>
            <a:r>
              <a:rPr lang="zh-CN" altLang="en-US" sz="2000" b="1" dirty="0">
                <a:latin typeface="Times New Roman" panose="02020603050405020304" pitchFamily="18" charset="0"/>
                <a:cs typeface="Times New Roman" panose="02020603050405020304" pitchFamily="18" charset="0"/>
              </a:rPr>
              <a:t>语言源程序转换成最终目标程序的过程，除了常见的编译和汇编以外，这里还增加了预处理和多目标程序链接的过程。</a:t>
            </a:r>
            <a:endParaRPr lang="en-US" altLang="zh-CN" sz="2000" b="1" dirty="0">
              <a:solidFill>
                <a:srgbClr val="0000FF"/>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3E0EAA0F-697D-4271-8DEE-656AF02C587B}"/>
              </a:ext>
            </a:extLst>
          </p:cNvPr>
          <p:cNvPicPr>
            <a:picLocks noChangeAspect="1"/>
          </p:cNvPicPr>
          <p:nvPr/>
        </p:nvPicPr>
        <p:blipFill rotWithShape="1">
          <a:blip r:embed="rId4"/>
          <a:srcRect b="20517"/>
          <a:stretch/>
        </p:blipFill>
        <p:spPr>
          <a:xfrm>
            <a:off x="570961" y="5111696"/>
            <a:ext cx="8002077" cy="1235297"/>
          </a:xfrm>
          <a:prstGeom prst="rect">
            <a:avLst/>
          </a:prstGeom>
        </p:spPr>
      </p:pic>
      <p:sp>
        <p:nvSpPr>
          <p:cNvPr id="9" name="文本框 8">
            <a:extLst>
              <a:ext uri="{FF2B5EF4-FFF2-40B4-BE49-F238E27FC236}">
                <a16:creationId xmlns:a16="http://schemas.microsoft.com/office/drawing/2014/main" id="{B585A0A8-BA06-4298-94B7-0DCB59996D88}"/>
              </a:ext>
            </a:extLst>
          </p:cNvPr>
          <p:cNvSpPr txBox="1"/>
          <p:nvPr/>
        </p:nvSpPr>
        <p:spPr>
          <a:xfrm>
            <a:off x="2195736" y="6417830"/>
            <a:ext cx="5157813" cy="369332"/>
          </a:xfrm>
          <a:prstGeom prst="rect">
            <a:avLst/>
          </a:prstGeom>
          <a:noFill/>
        </p:spPr>
        <p:txBody>
          <a:bodyPr wrap="square">
            <a:spAutoFit/>
          </a:bodyPr>
          <a:lstStyle/>
          <a:p>
            <a:r>
              <a:rPr lang="zh-CN" altLang="en-US" b="1" dirty="0">
                <a:solidFill>
                  <a:srgbClr val="002060"/>
                </a:solidFill>
                <a:latin typeface="Times New Roman" panose="02020603050405020304" pitchFamily="18" charset="0"/>
                <a:cs typeface="Times New Roman" panose="02020603050405020304" pitchFamily="18" charset="0"/>
              </a:rPr>
              <a:t>图 </a:t>
            </a:r>
            <a:r>
              <a:rPr lang="en-US" altLang="zh-CN" b="1" dirty="0">
                <a:solidFill>
                  <a:srgbClr val="002060"/>
                </a:solidFill>
                <a:latin typeface="Times New Roman" panose="02020603050405020304" pitchFamily="18" charset="0"/>
                <a:cs typeface="Times New Roman" panose="02020603050405020304" pitchFamily="18" charset="0"/>
              </a:rPr>
              <a:t>1.16 C</a:t>
            </a:r>
            <a:r>
              <a:rPr lang="zh-CN" altLang="en-US" b="1" dirty="0">
                <a:solidFill>
                  <a:srgbClr val="002060"/>
                </a:solidFill>
                <a:latin typeface="Times New Roman" panose="02020603050405020304" pitchFamily="18" charset="0"/>
                <a:cs typeface="Times New Roman" panose="02020603050405020304" pitchFamily="18" charset="0"/>
              </a:rPr>
              <a:t>语言源程序转换成最终目标程序的过程</a:t>
            </a:r>
          </a:p>
        </p:txBody>
      </p:sp>
    </p:spTree>
    <p:extLst>
      <p:ext uri="{BB962C8B-B14F-4D97-AF65-F5344CB8AC3E}">
        <p14:creationId xmlns:p14="http://schemas.microsoft.com/office/powerpoint/2010/main" val="211746634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98A4AF9-A9E5-88CB-6614-AC9D5B96F97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二、计算机系统的组成</a:t>
            </a:r>
          </a:p>
        </p:txBody>
      </p:sp>
      <p:sp>
        <p:nvSpPr>
          <p:cNvPr id="8" name="文本框 7">
            <a:extLst>
              <a:ext uri="{FF2B5EF4-FFF2-40B4-BE49-F238E27FC236}">
                <a16:creationId xmlns:a16="http://schemas.microsoft.com/office/drawing/2014/main" id="{6EF5578F-B608-438C-BBAB-90D9BC2E7A2E}"/>
              </a:ext>
            </a:extLst>
          </p:cNvPr>
          <p:cNvSpPr txBox="1"/>
          <p:nvPr/>
        </p:nvSpPr>
        <p:spPr>
          <a:xfrm>
            <a:off x="143000" y="908720"/>
            <a:ext cx="8749480" cy="4742901"/>
          </a:xfrm>
          <a:prstGeom prst="rect">
            <a:avLst/>
          </a:prstGeom>
          <a:noFill/>
        </p:spPr>
        <p:txBody>
          <a:bodyPr wrap="square">
            <a:spAutoFit/>
          </a:bodyPr>
          <a:lstStyle/>
          <a:p>
            <a:pPr>
              <a:lnSpc>
                <a:spcPct val="150000"/>
              </a:lnSpc>
            </a:pP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）数据库管理系统</a:t>
            </a:r>
            <a:endParaRPr lang="en-US" altLang="zh-CN" sz="24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solidFill>
                  <a:srgbClr val="0000FF"/>
                </a:solidFill>
                <a:latin typeface="Times New Roman" panose="02020603050405020304" pitchFamily="18" charset="0"/>
                <a:cs typeface="Times New Roman" panose="02020603050405020304" pitchFamily="18" charset="0"/>
              </a:rPr>
              <a:t>数据库管理系统（</a:t>
            </a:r>
            <a:r>
              <a:rPr lang="en-US" altLang="zh-CN" sz="2000" b="1" dirty="0">
                <a:solidFill>
                  <a:srgbClr val="0000FF"/>
                </a:solidFill>
                <a:latin typeface="Times New Roman" panose="02020603050405020304" pitchFamily="18" charset="0"/>
                <a:cs typeface="Times New Roman" panose="02020603050405020304" pitchFamily="18" charset="0"/>
              </a:rPr>
              <a:t>Data Base Management System</a:t>
            </a:r>
            <a:r>
              <a:rPr lang="zh-CN" altLang="en-US" sz="2000" b="1" dirty="0">
                <a:solidFill>
                  <a:srgbClr val="0000FF"/>
                </a:solidFill>
                <a:latin typeface="Times New Roman" panose="02020603050405020304" pitchFamily="18" charset="0"/>
                <a:cs typeface="Times New Roman" panose="02020603050405020304" pitchFamily="18" charset="0"/>
              </a:rPr>
              <a:t>，</a:t>
            </a:r>
            <a:r>
              <a:rPr lang="en-US" altLang="zh-CN" sz="2000" b="1" dirty="0">
                <a:solidFill>
                  <a:srgbClr val="0000FF"/>
                </a:solidFill>
                <a:latin typeface="Times New Roman" panose="02020603050405020304" pitchFamily="18" charset="0"/>
                <a:cs typeface="Times New Roman" panose="02020603050405020304" pitchFamily="18" charset="0"/>
              </a:rPr>
              <a:t>DBMS</a:t>
            </a:r>
            <a:r>
              <a:rPr lang="zh-CN" altLang="en-US" sz="2000" b="1" dirty="0">
                <a:solidFill>
                  <a:srgbClr val="0000FF"/>
                </a:solidFill>
                <a:latin typeface="Times New Roman" panose="02020603050405020304" pitchFamily="18" charset="0"/>
                <a:cs typeface="Times New Roman" panose="02020603050405020304" pitchFamily="18" charset="0"/>
              </a:rPr>
              <a:t>）又称数据库管理软件。</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数据库是为了满足数据处理和信息管理的需要，在文件系统的基础上发展起来的，在</a:t>
            </a:r>
            <a:r>
              <a:rPr lang="zh-CN" altLang="en-US" sz="2000" b="1" dirty="0">
                <a:solidFill>
                  <a:srgbClr val="FF0000"/>
                </a:solidFill>
                <a:latin typeface="Times New Roman" panose="02020603050405020304" pitchFamily="18" charset="0"/>
                <a:cs typeface="Times New Roman" panose="02020603050405020304" pitchFamily="18" charset="0"/>
              </a:rPr>
              <a:t>信息处理、情报检索、办公自动化和各种管理信息系统</a:t>
            </a:r>
            <a:r>
              <a:rPr lang="zh-CN" altLang="en-US" sz="2000" b="1" dirty="0">
                <a:latin typeface="Times New Roman" panose="02020603050405020304" pitchFamily="18" charset="0"/>
                <a:cs typeface="Times New Roman" panose="02020603050405020304" pitchFamily="18" charset="0"/>
              </a:rPr>
              <a:t>中起着重要的支撑作用。</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cs typeface="Times New Roman" panose="02020603050405020304" pitchFamily="18" charset="0"/>
              </a:rPr>
              <a:t>常见的数据库管理系统包括</a:t>
            </a:r>
            <a:r>
              <a:rPr lang="en-US" altLang="zh-CN" sz="2000" b="1" dirty="0">
                <a:solidFill>
                  <a:srgbClr val="FF0000"/>
                </a:solidFill>
                <a:latin typeface="Times New Roman" panose="02020603050405020304" pitchFamily="18" charset="0"/>
                <a:cs typeface="Times New Roman" panose="02020603050405020304" pitchFamily="18" charset="0"/>
              </a:rPr>
              <a:t>Oracle</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SQL Server</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DB2</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PostgreSQL</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MySQL</a:t>
            </a:r>
            <a:r>
              <a:rPr lang="zh-CN" altLang="en-US" sz="2000" b="1" dirty="0">
                <a:latin typeface="Times New Roman" panose="02020603050405020304" pitchFamily="18" charset="0"/>
                <a:cs typeface="Times New Roman" panose="02020603050405020304" pitchFamily="18" charset="0"/>
              </a:rPr>
              <a:t>等。常见的国产数据库包括华中科技大学的达梦数据库、中国人民大学的金仓数据库、天津南大通用数据技术有限公司的</a:t>
            </a:r>
            <a:r>
              <a:rPr lang="en-US" altLang="zh-CN" sz="2000" b="1" dirty="0" err="1">
                <a:latin typeface="Times New Roman" panose="02020603050405020304" pitchFamily="18" charset="0"/>
                <a:cs typeface="Times New Roman" panose="02020603050405020304" pitchFamily="18" charset="0"/>
              </a:rPr>
              <a:t>GBase</a:t>
            </a:r>
            <a:r>
              <a:rPr lang="zh-CN" altLang="en-US" sz="2000" b="1" dirty="0">
                <a:latin typeface="Times New Roman" panose="02020603050405020304" pitchFamily="18" charset="0"/>
                <a:cs typeface="Times New Roman" panose="02020603050405020304" pitchFamily="18" charset="0"/>
              </a:rPr>
              <a:t>、华为</a:t>
            </a:r>
            <a:r>
              <a:rPr lang="en-US" altLang="zh-CN" sz="2000" b="1" dirty="0" err="1">
                <a:latin typeface="Times New Roman" panose="02020603050405020304" pitchFamily="18" charset="0"/>
                <a:cs typeface="Times New Roman" panose="02020603050405020304" pitchFamily="18" charset="0"/>
              </a:rPr>
              <a:t>GaussDB</a:t>
            </a:r>
            <a:r>
              <a:rPr lang="zh-CN" altLang="en-US" sz="2000" b="1" dirty="0">
                <a:latin typeface="Times New Roman" panose="02020603050405020304" pitchFamily="18" charset="0"/>
                <a:cs typeface="Times New Roman" panose="02020603050405020304" pitchFamily="18" charset="0"/>
              </a:rPr>
              <a:t>等。</a:t>
            </a:r>
            <a:endParaRPr lang="en-US" altLang="zh-C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148179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84155-608D-3CD0-FA2B-62DE180FD3A0}"/>
            </a:ext>
          </a:extLst>
        </p:cNvPr>
        <p:cNvGrpSpPr/>
        <p:nvPr/>
      </p:nvGrpSpPr>
      <p:grpSpPr>
        <a:xfrm>
          <a:off x="0" y="0"/>
          <a:ext cx="0" cy="0"/>
          <a:chOff x="0" y="0"/>
          <a:chExt cx="0" cy="0"/>
        </a:xfrm>
      </p:grpSpPr>
      <p:pic>
        <p:nvPicPr>
          <p:cNvPr id="5" name="Picture 5">
            <a:extLst>
              <a:ext uri="{FF2B5EF4-FFF2-40B4-BE49-F238E27FC236}">
                <a16:creationId xmlns:a16="http://schemas.microsoft.com/office/drawing/2014/main" id="{3375F9BD-6B81-19B1-DD64-ABCE82E29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AB659B61-44CB-1584-C2C6-5993DB4F196F}"/>
              </a:ext>
            </a:extLst>
          </p:cNvPr>
          <p:cNvSpPr txBox="1">
            <a:spLocks noChangeArrowheads="1"/>
          </p:cNvSpPr>
          <p:nvPr/>
        </p:nvSpPr>
        <p:spPr bwMode="auto">
          <a:xfrm>
            <a:off x="2843808" y="0"/>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目录</a:t>
            </a:r>
          </a:p>
        </p:txBody>
      </p:sp>
      <p:sp>
        <p:nvSpPr>
          <p:cNvPr id="63490" name="Rectangle 3">
            <a:extLst>
              <a:ext uri="{FF2B5EF4-FFF2-40B4-BE49-F238E27FC236}">
                <a16:creationId xmlns:a16="http://schemas.microsoft.com/office/drawing/2014/main" id="{2A103200-5DA8-4625-74C6-1F896E1FF803}"/>
              </a:ext>
            </a:extLst>
          </p:cNvPr>
          <p:cNvSpPr>
            <a:spLocks noGrp="1" noChangeArrowheads="1"/>
          </p:cNvSpPr>
          <p:nvPr>
            <p:ph idx="1"/>
          </p:nvPr>
        </p:nvSpPr>
        <p:spPr>
          <a:xfrm>
            <a:off x="107504" y="836712"/>
            <a:ext cx="9036496" cy="5884762"/>
          </a:xfrm>
        </p:spPr>
        <p:txBody>
          <a:bodyPr numCol="2"/>
          <a:lstStyle/>
          <a:p>
            <a:pPr marL="0" indent="0" eaLnBrk="1" hangingPunct="1">
              <a:lnSpc>
                <a:spcPct val="150000"/>
              </a:lnSpc>
              <a:spcBef>
                <a:spcPts val="0"/>
              </a:spcBef>
              <a:buClr>
                <a:schemeClr val="tx2">
                  <a:lumMod val="60000"/>
                  <a:lumOff val="40000"/>
                </a:schemeClr>
              </a:buClr>
              <a:buSzPct val="100000"/>
              <a:buNone/>
            </a:pPr>
            <a:r>
              <a:rPr lang="zh-CN" altLang="en-US" sz="2400" b="1" dirty="0">
                <a:latin typeface="Times New Roman" panose="02020603050405020304" pitchFamily="18" charset="0"/>
                <a:cs typeface="Times New Roman" panose="02020603050405020304" pitchFamily="18" charset="0"/>
              </a:rPr>
              <a:t>一、计算机的发展简史</a:t>
            </a:r>
            <a:endParaRPr lang="en-US" altLang="zh-CN" sz="2400" b="1" dirty="0">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 计算机发展概况</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摩尔定律</a:t>
            </a:r>
          </a:p>
          <a:p>
            <a:pPr marL="0" indent="355600">
              <a:lnSpc>
                <a:spcPct val="150000"/>
              </a:lnSpc>
              <a:spcBef>
                <a:spcPts val="0"/>
              </a:spcBef>
              <a:buClr>
                <a:schemeClr val="tx2">
                  <a:lumMod val="60000"/>
                  <a:lumOff val="40000"/>
                </a:schemeClr>
              </a:buClr>
              <a:buSzPct val="100000"/>
              <a:buNone/>
              <a:tabLst>
                <a:tab pos="4122738" algn="l"/>
              </a:tabLst>
            </a:pPr>
            <a:r>
              <a:rPr lang="en-US" altLang="zh-CN" sz="2000" b="1" dirty="0">
                <a:latin typeface="Times New Roman" panose="02020603050405020304" pitchFamily="18" charset="0"/>
                <a:cs typeface="Times New Roman" panose="02020603050405020304" pitchFamily="18" charset="0"/>
              </a:rPr>
              <a:t>3. </a:t>
            </a:r>
            <a:r>
              <a:rPr lang="zh-CN" altLang="en-US" sz="2000" b="1" dirty="0">
                <a:latin typeface="Times New Roman" panose="02020603050405020304" pitchFamily="18" charset="0"/>
                <a:cs typeface="Times New Roman" panose="02020603050405020304" pitchFamily="18" charset="0"/>
              </a:rPr>
              <a:t>集成电路工艺发展概况</a:t>
            </a:r>
            <a:endParaRPr lang="en-US" altLang="zh-CN" sz="2000" b="1" dirty="0">
              <a:latin typeface="Times New Roman" panose="02020603050405020304" pitchFamily="18" charset="0"/>
              <a:cs typeface="Times New Roman" panose="02020603050405020304" pitchFamily="18" charset="0"/>
            </a:endParaRPr>
          </a:p>
          <a:p>
            <a:pPr marL="0" indent="0" eaLnBrk="1" hangingPunct="1">
              <a:lnSpc>
                <a:spcPct val="150000"/>
              </a:lnSpc>
              <a:spcBef>
                <a:spcPts val="0"/>
              </a:spcBef>
              <a:buClr>
                <a:schemeClr val="tx2">
                  <a:lumMod val="60000"/>
                  <a:lumOff val="40000"/>
                </a:schemeClr>
              </a:buClr>
              <a:buSzPct val="100000"/>
              <a:buNone/>
            </a:pPr>
            <a:r>
              <a:rPr lang="zh-CN" altLang="en-US" sz="2400" b="1" dirty="0">
                <a:latin typeface="Times New Roman" panose="02020603050405020304" pitchFamily="18" charset="0"/>
                <a:cs typeface="Times New Roman" panose="02020603050405020304" pitchFamily="18" charset="0"/>
              </a:rPr>
              <a:t>二、计算机系统的组成</a:t>
            </a:r>
            <a:endParaRPr lang="en-US" altLang="zh-CN" sz="2400" b="1" dirty="0">
              <a:latin typeface="Times New Roman" panose="02020603050405020304" pitchFamily="18" charset="0"/>
              <a:cs typeface="Times New Roman" panose="02020603050405020304" pitchFamily="18" charset="0"/>
            </a:endParaRPr>
          </a:p>
          <a:p>
            <a:pPr marL="0" indent="355600" eaLnBrk="1" hangingPunct="1">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计算机硬件系统</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pPr>
            <a:r>
              <a:rPr lang="en-US" altLang="zh-CN" sz="2000" b="1" dirty="0">
                <a:latin typeface="Times New Roman" panose="02020603050405020304" pitchFamily="18" charset="0"/>
                <a:cs typeface="Times New Roman" panose="02020603050405020304" pitchFamily="18" charset="0"/>
              </a:rPr>
              <a:t>2</a:t>
            </a:r>
            <a:r>
              <a:rPr lang="zh-CN" altLang="en-US" sz="2000" b="1" dirty="0">
                <a:latin typeface="Times New Roman" panose="02020603050405020304" pitchFamily="18" charset="0"/>
                <a:cs typeface="Times New Roman" panose="02020603050405020304" pitchFamily="18" charset="0"/>
              </a:rPr>
              <a:t>. 计算机软件系统</a:t>
            </a:r>
          </a:p>
          <a:p>
            <a:pPr marL="0" indent="0" eaLnBrk="1" hangingPunct="1">
              <a:lnSpc>
                <a:spcPct val="150000"/>
              </a:lnSpc>
              <a:spcBef>
                <a:spcPts val="0"/>
              </a:spcBef>
              <a:buClr>
                <a:schemeClr val="tx2">
                  <a:lumMod val="60000"/>
                  <a:lumOff val="40000"/>
                </a:schemeClr>
              </a:buClr>
              <a:buSzPct val="100000"/>
              <a:buNone/>
            </a:pPr>
            <a:r>
              <a:rPr lang="zh-CN" altLang="en-US" sz="2400" b="1" dirty="0">
                <a:solidFill>
                  <a:srgbClr val="0000FF"/>
                </a:solidFill>
                <a:latin typeface="Times New Roman" panose="02020603050405020304" pitchFamily="18" charset="0"/>
                <a:cs typeface="Times New Roman" panose="02020603050405020304" pitchFamily="18" charset="0"/>
              </a:rPr>
              <a:t>三、计算机系统的层次结构</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0" indent="355600">
              <a:lnSpc>
                <a:spcPct val="150000"/>
              </a:lnSpc>
              <a:spcBef>
                <a:spcPts val="0"/>
              </a:spcBef>
              <a:buClr>
                <a:schemeClr val="tx2">
                  <a:lumMod val="60000"/>
                  <a:lumOff val="40000"/>
                </a:schemeClr>
              </a:buClr>
              <a:buSzPct val="100000"/>
              <a:buNone/>
            </a:pPr>
            <a:r>
              <a:rPr lang="en-US" altLang="zh-CN" sz="2000" b="1" dirty="0">
                <a:solidFill>
                  <a:srgbClr val="0000FF"/>
                </a:solidFill>
                <a:latin typeface="Times New Roman" panose="02020603050405020304" pitchFamily="18" charset="0"/>
                <a:cs typeface="Times New Roman" panose="02020603050405020304" pitchFamily="18" charset="0"/>
              </a:rPr>
              <a:t>1. </a:t>
            </a:r>
            <a:r>
              <a:rPr lang="zh-CN" altLang="en-US" sz="2000" b="1" dirty="0">
                <a:solidFill>
                  <a:srgbClr val="0000FF"/>
                </a:solidFill>
                <a:latin typeface="Times New Roman" panose="02020603050405020304" pitchFamily="18" charset="0"/>
                <a:cs typeface="Times New Roman" panose="02020603050405020304" pitchFamily="18" charset="0"/>
              </a:rPr>
              <a:t>计算机系统的层次结构</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0" indent="355600" eaLnBrk="1" hangingPunct="1">
              <a:lnSpc>
                <a:spcPct val="150000"/>
              </a:lnSpc>
              <a:spcBef>
                <a:spcPts val="0"/>
              </a:spcBef>
              <a:buClr>
                <a:schemeClr val="tx2">
                  <a:lumMod val="60000"/>
                  <a:lumOff val="40000"/>
                </a:schemeClr>
              </a:buClr>
              <a:buSzPct val="100000"/>
              <a:buNone/>
            </a:pPr>
            <a:r>
              <a:rPr lang="en-US" altLang="zh-CN" sz="2000" b="1" dirty="0">
                <a:solidFill>
                  <a:srgbClr val="0000FF"/>
                </a:solidFill>
                <a:latin typeface="Times New Roman" panose="02020603050405020304" pitchFamily="18" charset="0"/>
                <a:cs typeface="Times New Roman" panose="02020603050405020304" pitchFamily="18" charset="0"/>
              </a:rPr>
              <a:t>2. </a:t>
            </a:r>
            <a:r>
              <a:rPr lang="zh-CN" altLang="en-US" sz="2000" b="1" dirty="0">
                <a:solidFill>
                  <a:srgbClr val="0000FF"/>
                </a:solidFill>
                <a:latin typeface="Times New Roman" panose="02020603050405020304" pitchFamily="18" charset="0"/>
                <a:cs typeface="Times New Roman" panose="02020603050405020304" pitchFamily="18" charset="0"/>
              </a:rPr>
              <a:t>层次间的关系</a:t>
            </a:r>
          </a:p>
          <a:p>
            <a:pPr marL="0" indent="0" eaLnBrk="1" hangingPunct="1">
              <a:lnSpc>
                <a:spcPct val="150000"/>
              </a:lnSpc>
              <a:spcBef>
                <a:spcPts val="0"/>
              </a:spcBef>
              <a:buNone/>
            </a:pPr>
            <a:endParaRPr lang="en-US" altLang="zh-CN" sz="2400" b="1" dirty="0">
              <a:solidFill>
                <a:schemeClr val="tx2"/>
              </a:solidFill>
              <a:latin typeface="Times New Roman" panose="02020603050405020304" pitchFamily="18" charset="0"/>
              <a:cs typeface="Times New Roman" panose="02020603050405020304" pitchFamily="18" charset="0"/>
            </a:endParaRPr>
          </a:p>
          <a:p>
            <a:pPr marL="0" indent="0" eaLnBrk="1" hangingPunct="1">
              <a:lnSpc>
                <a:spcPct val="150000"/>
              </a:lnSpc>
              <a:spcBef>
                <a:spcPts val="0"/>
              </a:spcBef>
              <a:buNone/>
            </a:pPr>
            <a:r>
              <a:rPr lang="zh-CN" altLang="en-US" sz="2400" b="1" dirty="0">
                <a:solidFill>
                  <a:schemeClr val="tx2"/>
                </a:solidFill>
                <a:latin typeface="Times New Roman" panose="02020603050405020304" pitchFamily="18" charset="0"/>
                <a:cs typeface="Times New Roman" panose="02020603050405020304" pitchFamily="18" charset="0"/>
              </a:rPr>
              <a:t>四、计算机性能指标和评价</a:t>
            </a:r>
          </a:p>
          <a:p>
            <a:pPr marL="0" indent="355600" eaLnBrk="1" hangingPunct="1">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1. </a:t>
            </a:r>
            <a:r>
              <a:rPr lang="zh-CN" altLang="en-US" sz="2000" b="1" dirty="0">
                <a:latin typeface="Times New Roman" panose="02020603050405020304" pitchFamily="18" charset="0"/>
                <a:cs typeface="Times New Roman" panose="02020603050405020304" pitchFamily="18" charset="0"/>
              </a:rPr>
              <a:t>基本性能指标</a:t>
            </a:r>
            <a:endParaRPr lang="en-US" altLang="zh-CN" sz="2000" b="1" dirty="0">
              <a:latin typeface="Times New Roman" panose="02020603050405020304" pitchFamily="18" charset="0"/>
              <a:cs typeface="Times New Roman" panose="02020603050405020304" pitchFamily="18" charset="0"/>
            </a:endParaRPr>
          </a:p>
          <a:p>
            <a:pPr marL="0" indent="355600" eaLnBrk="1" hangingPunct="1">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2. </a:t>
            </a:r>
            <a:r>
              <a:rPr lang="zh-CN" altLang="en-US" sz="2000" b="1" dirty="0">
                <a:latin typeface="Times New Roman" panose="02020603050405020304" pitchFamily="18" charset="0"/>
                <a:cs typeface="Times New Roman" panose="02020603050405020304" pitchFamily="18" charset="0"/>
              </a:rPr>
              <a:t>运算速度</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3. </a:t>
            </a:r>
            <a:r>
              <a:rPr lang="zh-CN" altLang="en-US" sz="2000" b="1" dirty="0">
                <a:latin typeface="Times New Roman" panose="02020603050405020304" pitchFamily="18" charset="0"/>
                <a:cs typeface="Times New Roman" panose="02020603050405020304" pitchFamily="18" charset="0"/>
              </a:rPr>
              <a:t>性能测试及其工具</a:t>
            </a:r>
            <a:endParaRPr lang="en-US" altLang="zh-CN" sz="2000" b="1" dirty="0">
              <a:latin typeface="Times New Roman" panose="02020603050405020304" pitchFamily="18" charset="0"/>
              <a:cs typeface="Times New Roman" panose="02020603050405020304" pitchFamily="18" charset="0"/>
            </a:endParaRPr>
          </a:p>
          <a:p>
            <a:pPr marL="0" indent="355600">
              <a:lnSpc>
                <a:spcPct val="150000"/>
              </a:lnSpc>
              <a:spcBef>
                <a:spcPct val="0"/>
              </a:spcBef>
              <a:buNone/>
            </a:pPr>
            <a:r>
              <a:rPr lang="en-US" altLang="zh-CN" sz="2000" b="1" dirty="0">
                <a:latin typeface="Times New Roman" panose="02020603050405020304" pitchFamily="18" charset="0"/>
                <a:cs typeface="Times New Roman" panose="02020603050405020304" pitchFamily="18" charset="0"/>
              </a:rPr>
              <a:t>4. Amdahl</a:t>
            </a:r>
            <a:r>
              <a:rPr lang="zh-CN" altLang="en-US" sz="2000" b="1" dirty="0">
                <a:latin typeface="Times New Roman" panose="02020603050405020304" pitchFamily="18" charset="0"/>
                <a:cs typeface="Times New Roman" panose="02020603050405020304" pitchFamily="18" charset="0"/>
              </a:rPr>
              <a:t>定律</a:t>
            </a:r>
          </a:p>
        </p:txBody>
      </p:sp>
    </p:spTree>
    <p:extLst>
      <p:ext uri="{BB962C8B-B14F-4D97-AF65-F5344CB8AC3E}">
        <p14:creationId xmlns:p14="http://schemas.microsoft.com/office/powerpoint/2010/main" val="382514309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7796118-5744-BF02-7801-660159496398}"/>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三、计算机系统的层次结构</a:t>
            </a:r>
          </a:p>
        </p:txBody>
      </p:sp>
      <p:sp>
        <p:nvSpPr>
          <p:cNvPr id="39" name="文本框 38">
            <a:extLst>
              <a:ext uri="{FF2B5EF4-FFF2-40B4-BE49-F238E27FC236}">
                <a16:creationId xmlns:a16="http://schemas.microsoft.com/office/drawing/2014/main" id="{9A8FFA87-F045-4995-8BE2-64C2ECF90FF9}"/>
              </a:ext>
            </a:extLst>
          </p:cNvPr>
          <p:cNvSpPr txBox="1"/>
          <p:nvPr/>
        </p:nvSpPr>
        <p:spPr>
          <a:xfrm>
            <a:off x="0" y="764704"/>
            <a:ext cx="8842775" cy="656846"/>
          </a:xfrm>
          <a:prstGeom prst="rect">
            <a:avLst/>
          </a:prstGeom>
          <a:noFill/>
        </p:spPr>
        <p:txBody>
          <a:bodyPr wrap="square">
            <a:spAutoFit/>
          </a:bodyPr>
          <a:lstStyle/>
          <a:p>
            <a:pPr marL="457200" indent="-457200">
              <a:lnSpc>
                <a:spcPct val="150000"/>
              </a:lnSpc>
              <a:buAutoNum type="arabicPeriod"/>
            </a:pPr>
            <a:r>
              <a:rPr lang="zh-CN" altLang="en-US" sz="2800" b="1" dirty="0">
                <a:latin typeface="Times New Roman" panose="02020603050405020304" pitchFamily="18" charset="0"/>
                <a:cs typeface="Times New Roman" panose="02020603050405020304" pitchFamily="18" charset="0"/>
              </a:rPr>
              <a:t>计算机系统的层次结构</a:t>
            </a:r>
            <a:endParaRPr lang="en-US" altLang="zh-CN" sz="2800" b="1" dirty="0">
              <a:latin typeface="Times New Roman" panose="02020603050405020304" pitchFamily="18" charset="0"/>
              <a:cs typeface="Times New Roman" panose="02020603050405020304" pitchFamily="18" charset="0"/>
            </a:endParaRPr>
          </a:p>
        </p:txBody>
      </p:sp>
      <p:pic>
        <p:nvPicPr>
          <p:cNvPr id="40" name="图片 39">
            <a:extLst>
              <a:ext uri="{FF2B5EF4-FFF2-40B4-BE49-F238E27FC236}">
                <a16:creationId xmlns:a16="http://schemas.microsoft.com/office/drawing/2014/main" id="{FF9CF2F1-053B-405E-9ABA-61D4C88CF86D}"/>
              </a:ext>
            </a:extLst>
          </p:cNvPr>
          <p:cNvPicPr/>
          <p:nvPr/>
        </p:nvPicPr>
        <p:blipFill rotWithShape="1">
          <a:blip r:embed="rId4" cstate="print">
            <a:extLst>
              <a:ext uri="{28A0092B-C50C-407E-A947-70E740481C1C}">
                <a14:useLocalDpi xmlns:a14="http://schemas.microsoft.com/office/drawing/2010/main" val="0"/>
              </a:ext>
            </a:extLst>
          </a:blip>
          <a:srcRect b="6816"/>
          <a:stretch/>
        </p:blipFill>
        <p:spPr bwMode="auto">
          <a:xfrm>
            <a:off x="1043608" y="1448045"/>
            <a:ext cx="6912768" cy="4904683"/>
          </a:xfrm>
          <a:prstGeom prst="rect">
            <a:avLst/>
          </a:prstGeom>
          <a:noFill/>
          <a:ln>
            <a:noFill/>
          </a:ln>
        </p:spPr>
      </p:pic>
      <p:sp>
        <p:nvSpPr>
          <p:cNvPr id="5" name="文本框 4">
            <a:extLst>
              <a:ext uri="{FF2B5EF4-FFF2-40B4-BE49-F238E27FC236}">
                <a16:creationId xmlns:a16="http://schemas.microsoft.com/office/drawing/2014/main" id="{44CE5D29-50FC-40F3-8EEE-06ABECDE4B7C}"/>
              </a:ext>
            </a:extLst>
          </p:cNvPr>
          <p:cNvSpPr txBox="1"/>
          <p:nvPr/>
        </p:nvSpPr>
        <p:spPr>
          <a:xfrm>
            <a:off x="2843808" y="6466928"/>
            <a:ext cx="3017739" cy="338554"/>
          </a:xfrm>
          <a:prstGeom prst="rect">
            <a:avLst/>
          </a:prstGeom>
          <a:noFill/>
        </p:spPr>
        <p:txBody>
          <a:bodyPr wrap="square" rtlCol="0">
            <a:spAutoFit/>
          </a:bodyPr>
          <a:lstStyle/>
          <a:p>
            <a:r>
              <a:rPr lang="zh-CN" altLang="en-US" sz="1600" b="1" dirty="0">
                <a:solidFill>
                  <a:srgbClr val="002060"/>
                </a:solidFill>
                <a:latin typeface="Times New Roman" panose="02020603050405020304" pitchFamily="18" charset="0"/>
                <a:cs typeface="Times New Roman" panose="02020603050405020304" pitchFamily="18" charset="0"/>
              </a:rPr>
              <a:t>图</a:t>
            </a:r>
            <a:r>
              <a:rPr lang="en-US" altLang="zh-CN" sz="1600" b="1" dirty="0">
                <a:solidFill>
                  <a:srgbClr val="002060"/>
                </a:solidFill>
                <a:latin typeface="Times New Roman" panose="02020603050405020304" pitchFamily="18" charset="0"/>
                <a:cs typeface="Times New Roman" panose="02020603050405020304" pitchFamily="18" charset="0"/>
              </a:rPr>
              <a:t>1.17 </a:t>
            </a:r>
            <a:r>
              <a:rPr lang="zh-CN" altLang="en-US" sz="1600" b="1" dirty="0">
                <a:solidFill>
                  <a:srgbClr val="002060"/>
                </a:solidFill>
                <a:latin typeface="Times New Roman" panose="02020603050405020304" pitchFamily="18" charset="0"/>
                <a:cs typeface="Times New Roman" panose="02020603050405020304" pitchFamily="18" charset="0"/>
              </a:rPr>
              <a:t>计算机系统的层次结构</a:t>
            </a:r>
          </a:p>
        </p:txBody>
      </p:sp>
    </p:spTree>
    <p:extLst>
      <p:ext uri="{BB962C8B-B14F-4D97-AF65-F5344CB8AC3E}">
        <p14:creationId xmlns:p14="http://schemas.microsoft.com/office/powerpoint/2010/main" val="5389522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2E8DFCB-DB74-4FD9-9E45-87C9E4A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47796118-5744-BF02-7801-660159496398}"/>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800" dirty="0">
                <a:solidFill>
                  <a:schemeClr val="bg1"/>
                </a:solidFill>
              </a:rPr>
              <a:t>三、计算机系统的层次结构</a:t>
            </a:r>
          </a:p>
        </p:txBody>
      </p:sp>
      <p:sp>
        <p:nvSpPr>
          <p:cNvPr id="39" name="文本框 38">
            <a:extLst>
              <a:ext uri="{FF2B5EF4-FFF2-40B4-BE49-F238E27FC236}">
                <a16:creationId xmlns:a16="http://schemas.microsoft.com/office/drawing/2014/main" id="{9A8FFA87-F045-4995-8BE2-64C2ECF90FF9}"/>
              </a:ext>
            </a:extLst>
          </p:cNvPr>
          <p:cNvSpPr txBox="1"/>
          <p:nvPr/>
        </p:nvSpPr>
        <p:spPr>
          <a:xfrm>
            <a:off x="150612" y="908070"/>
            <a:ext cx="8842775" cy="656846"/>
          </a:xfrm>
          <a:prstGeom prst="rect">
            <a:avLst/>
          </a:prstGeom>
          <a:noFill/>
        </p:spPr>
        <p:txBody>
          <a:bodyPr wrap="square">
            <a:spAutoFit/>
          </a:bodyPr>
          <a:lstStyle/>
          <a:p>
            <a:pPr>
              <a:lnSpc>
                <a:spcPct val="150000"/>
              </a:lnSpc>
            </a:pPr>
            <a:r>
              <a:rPr lang="en-US" altLang="zh-CN" sz="2800" b="1" dirty="0">
                <a:latin typeface="Times New Roman" panose="02020603050405020304" pitchFamily="18" charset="0"/>
                <a:cs typeface="Times New Roman" panose="02020603050405020304" pitchFamily="18" charset="0"/>
              </a:rPr>
              <a:t>2. </a:t>
            </a:r>
            <a:r>
              <a:rPr lang="zh-CN" altLang="en-US" sz="2800" b="1" dirty="0">
                <a:latin typeface="Times New Roman" panose="02020603050405020304" pitchFamily="18" charset="0"/>
                <a:cs typeface="Times New Roman" panose="02020603050405020304" pitchFamily="18" charset="0"/>
              </a:rPr>
              <a:t>层次间的关系</a:t>
            </a:r>
          </a:p>
        </p:txBody>
      </p:sp>
      <p:sp>
        <p:nvSpPr>
          <p:cNvPr id="8" name="文本框 7">
            <a:extLst>
              <a:ext uri="{FF2B5EF4-FFF2-40B4-BE49-F238E27FC236}">
                <a16:creationId xmlns:a16="http://schemas.microsoft.com/office/drawing/2014/main" id="{03DB5943-F401-4E60-91F6-E982107021C9}"/>
              </a:ext>
            </a:extLst>
          </p:cNvPr>
          <p:cNvSpPr txBox="1"/>
          <p:nvPr/>
        </p:nvSpPr>
        <p:spPr>
          <a:xfrm>
            <a:off x="251520" y="1764543"/>
            <a:ext cx="8424936" cy="390183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400" b="1" dirty="0"/>
              <a:t>高层是低层功能的扩展，低层是高层的基础。</a:t>
            </a:r>
            <a:endParaRPr lang="en-US" altLang="zh-CN" sz="2400" b="1" dirty="0"/>
          </a:p>
          <a:p>
            <a:pPr marL="342900" indent="-342900">
              <a:lnSpc>
                <a:spcPct val="150000"/>
              </a:lnSpc>
              <a:buFont typeface="Arial" panose="020B0604020202020204" pitchFamily="34" charset="0"/>
              <a:buChar char="•"/>
            </a:pPr>
            <a:r>
              <a:rPr lang="zh-CN" altLang="en-US" sz="2400" b="1" dirty="0"/>
              <a:t>站在不同的层次观察计算机系统会得到不同的概念。</a:t>
            </a:r>
            <a:endParaRPr lang="en-US" altLang="zh-CN" sz="2400" b="1" dirty="0"/>
          </a:p>
          <a:p>
            <a:pPr marL="342900" indent="-342900">
              <a:lnSpc>
                <a:spcPct val="150000"/>
              </a:lnSpc>
              <a:buFont typeface="Arial" panose="020B0604020202020204" pitchFamily="34" charset="0"/>
              <a:buChar char="•"/>
            </a:pPr>
            <a:r>
              <a:rPr lang="zh-CN" altLang="en-US" sz="2400" b="1" dirty="0"/>
              <a:t>层次越高越抽象，层次越低所需了解的技术细节就越多。</a:t>
            </a:r>
            <a:endParaRPr lang="en-US" altLang="zh-CN" sz="2400" b="1" dirty="0"/>
          </a:p>
          <a:p>
            <a:pPr marL="342900" indent="-342900">
              <a:lnSpc>
                <a:spcPct val="150000"/>
              </a:lnSpc>
              <a:buFont typeface="Arial" panose="020B0604020202020204" pitchFamily="34" charset="0"/>
              <a:buChar char="•"/>
            </a:pPr>
            <a:r>
              <a:rPr lang="zh-CN" altLang="en-US" sz="2400" b="1" dirty="0"/>
              <a:t>从用户的角度来看，硬件和软件在功能上具有等价性，软硬件的逻辑等价性原理是计算机系统设计的重要依据。</a:t>
            </a:r>
            <a:endParaRPr lang="en-US" altLang="zh-CN" sz="2400" b="1" dirty="0"/>
          </a:p>
          <a:p>
            <a:pPr marL="342900" indent="-342900">
              <a:lnSpc>
                <a:spcPct val="150000"/>
              </a:lnSpc>
              <a:buFont typeface="Arial" panose="020B0604020202020204" pitchFamily="34" charset="0"/>
              <a:buChar char="•"/>
            </a:pPr>
            <a:endParaRPr lang="en-US" altLang="zh-CN" sz="2400" b="1" dirty="0"/>
          </a:p>
          <a:p>
            <a:pPr marL="342900" indent="-342900">
              <a:lnSpc>
                <a:spcPct val="150000"/>
              </a:lnSpc>
              <a:buFont typeface="Arial" panose="020B0604020202020204" pitchFamily="34" charset="0"/>
              <a:buChar char="•"/>
            </a:pPr>
            <a:endParaRPr lang="zh-CN" altLang="en-US" sz="2400" b="1" dirty="0"/>
          </a:p>
        </p:txBody>
      </p:sp>
    </p:spTree>
    <p:extLst>
      <p:ext uri="{BB962C8B-B14F-4D97-AF65-F5344CB8AC3E}">
        <p14:creationId xmlns:p14="http://schemas.microsoft.com/office/powerpoint/2010/main" val="143269835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96B1098C-8D5D-4E24-8C02-D1313DC149B2}"/>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86018" name="Rectangle 3"/>
          <p:cNvSpPr>
            <a:spLocks noGrp="1" noChangeArrowheads="1"/>
          </p:cNvSpPr>
          <p:nvPr>
            <p:ph idx="1"/>
          </p:nvPr>
        </p:nvSpPr>
        <p:spPr>
          <a:xfrm>
            <a:off x="107504" y="756015"/>
            <a:ext cx="8928992" cy="6021288"/>
          </a:xfrm>
        </p:spPr>
        <p:txBody>
          <a:bodyPr/>
          <a:lstStyle/>
          <a:p>
            <a:pPr marL="0" indent="0" eaLnBrk="1" hangingPunct="1">
              <a:lnSpc>
                <a:spcPct val="150000"/>
              </a:lnSpc>
              <a:spcBef>
                <a:spcPct val="0"/>
              </a:spcBef>
              <a:buNone/>
            </a:pPr>
            <a:r>
              <a:rPr lang="zh-CN" altLang="en-US" sz="2000" b="1" dirty="0">
                <a:solidFill>
                  <a:srgbClr val="0000FF"/>
                </a:solidFill>
                <a:latin typeface="Times New Roman" panose="02020603050405020304" pitchFamily="18" charset="0"/>
                <a:cs typeface="Times New Roman" panose="02020603050405020304" pitchFamily="18" charset="0"/>
              </a:rPr>
              <a:t>四、计算机性能指标和评价</a:t>
            </a:r>
          </a:p>
          <a:p>
            <a:pPr marL="0" indent="0" eaLnBrk="1" hangingPunct="1">
              <a:lnSpc>
                <a:spcPct val="150000"/>
              </a:lnSpc>
              <a:spcBef>
                <a:spcPct val="0"/>
              </a:spcBef>
              <a:buNone/>
            </a:pPr>
            <a:r>
              <a:rPr lang="en-US" altLang="zh-CN" sz="2000" b="1" dirty="0">
                <a:solidFill>
                  <a:srgbClr val="0000FF"/>
                </a:solidFill>
                <a:latin typeface="Times New Roman" panose="02020603050405020304" pitchFamily="18" charset="0"/>
                <a:cs typeface="Times New Roman" panose="02020603050405020304" pitchFamily="18" charset="0"/>
              </a:rPr>
              <a:t>1. </a:t>
            </a:r>
            <a:r>
              <a:rPr lang="zh-CN" altLang="en-US" sz="2000" b="1" dirty="0">
                <a:solidFill>
                  <a:srgbClr val="0000FF"/>
                </a:solidFill>
                <a:latin typeface="Times New Roman" panose="02020603050405020304" pitchFamily="18" charset="0"/>
                <a:cs typeface="Times New Roman" panose="02020603050405020304" pitchFamily="18" charset="0"/>
              </a:rPr>
              <a:t>基本性能指标</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400050" lvl="1" indent="0">
              <a:lnSpc>
                <a:spcPct val="150000"/>
              </a:lnSpc>
              <a:spcBef>
                <a:spcPct val="0"/>
              </a:spcBef>
              <a:buNone/>
            </a:pPr>
            <a:r>
              <a:rPr lang="zh-CN" altLang="en-US" sz="1800" b="1" dirty="0">
                <a:solidFill>
                  <a:srgbClr val="0000FF"/>
                </a:solidFill>
                <a:latin typeface="Times New Roman" panose="02020603050405020304" pitchFamily="18" charset="0"/>
                <a:cs typeface="Times New Roman" panose="02020603050405020304" pitchFamily="18" charset="0"/>
              </a:rPr>
              <a:t>（</a:t>
            </a:r>
            <a:r>
              <a:rPr lang="en-US" altLang="zh-CN" sz="1800" b="1" dirty="0">
                <a:solidFill>
                  <a:srgbClr val="0000FF"/>
                </a:solidFill>
                <a:latin typeface="Times New Roman" panose="02020603050405020304" pitchFamily="18" charset="0"/>
                <a:cs typeface="Times New Roman" panose="02020603050405020304" pitchFamily="18" charset="0"/>
              </a:rPr>
              <a:t>1</a:t>
            </a:r>
            <a:r>
              <a:rPr lang="zh-CN" altLang="en-US" sz="1800" b="1" dirty="0">
                <a:solidFill>
                  <a:srgbClr val="0000FF"/>
                </a:solidFill>
                <a:latin typeface="Times New Roman" panose="02020603050405020304" pitchFamily="18" charset="0"/>
                <a:cs typeface="Times New Roman" panose="02020603050405020304" pitchFamily="18" charset="0"/>
              </a:rPr>
              <a:t>）（机器）字长</a:t>
            </a:r>
            <a:endParaRPr lang="en-US" altLang="zh-CN" sz="1800" b="1" dirty="0">
              <a:solidFill>
                <a:srgbClr val="0000FF"/>
              </a:solidFill>
              <a:latin typeface="Times New Roman" panose="02020603050405020304" pitchFamily="18" charset="0"/>
              <a:cs typeface="Times New Roman" panose="02020603050405020304" pitchFamily="18" charset="0"/>
            </a:endParaRPr>
          </a:p>
          <a:p>
            <a:pPr marL="400050" lvl="1" indent="0">
              <a:lnSpc>
                <a:spcPct val="150000"/>
              </a:lnSpc>
              <a:spcBef>
                <a:spcPct val="0"/>
              </a:spcBef>
              <a:buNone/>
            </a:pPr>
            <a:r>
              <a:rPr lang="zh-CN" altLang="en-US" sz="1800" b="1" dirty="0">
                <a:solidFill>
                  <a:srgbClr val="0000FF"/>
                </a:solidFill>
                <a:latin typeface="Times New Roman" panose="02020603050405020304" pitchFamily="18" charset="0"/>
                <a:cs typeface="Times New Roman" panose="02020603050405020304" pitchFamily="18" charset="0"/>
              </a:rPr>
              <a:t>（</a:t>
            </a:r>
            <a:r>
              <a:rPr lang="en-US" altLang="zh-CN" sz="1800" b="1" dirty="0">
                <a:solidFill>
                  <a:srgbClr val="0000FF"/>
                </a:solidFill>
                <a:latin typeface="Times New Roman" panose="02020603050405020304" pitchFamily="18" charset="0"/>
                <a:cs typeface="Times New Roman" panose="02020603050405020304" pitchFamily="18" charset="0"/>
              </a:rPr>
              <a:t>2</a:t>
            </a:r>
            <a:r>
              <a:rPr lang="zh-CN" altLang="en-US" sz="1800" b="1" dirty="0">
                <a:solidFill>
                  <a:srgbClr val="0000FF"/>
                </a:solidFill>
                <a:latin typeface="Times New Roman" panose="02020603050405020304" pitchFamily="18" charset="0"/>
                <a:cs typeface="Times New Roman" panose="02020603050405020304" pitchFamily="18" charset="0"/>
              </a:rPr>
              <a:t>）存储容量</a:t>
            </a:r>
            <a:endParaRPr lang="en-US" altLang="zh-CN" sz="1800" b="1" dirty="0">
              <a:solidFill>
                <a:srgbClr val="0000FF"/>
              </a:solidFill>
              <a:latin typeface="Times New Roman" panose="02020603050405020304" pitchFamily="18" charset="0"/>
              <a:cs typeface="Times New Roman" panose="02020603050405020304" pitchFamily="18" charset="0"/>
            </a:endParaRPr>
          </a:p>
          <a:p>
            <a:pPr marL="0" indent="0" eaLnBrk="1" hangingPunct="1">
              <a:lnSpc>
                <a:spcPct val="150000"/>
              </a:lnSpc>
              <a:spcBef>
                <a:spcPct val="0"/>
              </a:spcBef>
              <a:buNone/>
            </a:pPr>
            <a:r>
              <a:rPr lang="en-US" altLang="zh-CN" sz="2000" b="1" dirty="0">
                <a:solidFill>
                  <a:srgbClr val="0000FF"/>
                </a:solidFill>
                <a:latin typeface="Times New Roman" panose="02020603050405020304" pitchFamily="18" charset="0"/>
                <a:cs typeface="Times New Roman" panose="02020603050405020304" pitchFamily="18" charset="0"/>
              </a:rPr>
              <a:t>2. </a:t>
            </a:r>
            <a:r>
              <a:rPr lang="zh-CN" altLang="en-US" sz="2000" b="1" dirty="0">
                <a:solidFill>
                  <a:srgbClr val="0000FF"/>
                </a:solidFill>
                <a:latin typeface="Times New Roman" panose="02020603050405020304" pitchFamily="18" charset="0"/>
                <a:cs typeface="Times New Roman" panose="02020603050405020304" pitchFamily="18" charset="0"/>
              </a:rPr>
              <a:t>运算速度</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400050" lvl="1" indent="0">
              <a:lnSpc>
                <a:spcPct val="150000"/>
              </a:lnSpc>
              <a:spcBef>
                <a:spcPct val="0"/>
              </a:spcBef>
              <a:buNone/>
            </a:pP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1</a:t>
            </a:r>
            <a:r>
              <a:rPr lang="zh-CN" altLang="en-US" sz="1600" b="1" dirty="0">
                <a:solidFill>
                  <a:srgbClr val="0000FF"/>
                </a:solidFill>
                <a:latin typeface="Times New Roman" panose="02020603050405020304" pitchFamily="18" charset="0"/>
                <a:cs typeface="Times New Roman" panose="02020603050405020304" pitchFamily="18" charset="0"/>
              </a:rPr>
              <a:t>）主频（时钟频率）</a:t>
            </a:r>
          </a:p>
          <a:p>
            <a:pPr marL="400050" lvl="1" indent="0">
              <a:lnSpc>
                <a:spcPct val="150000"/>
              </a:lnSpc>
              <a:spcBef>
                <a:spcPct val="0"/>
              </a:spcBef>
              <a:buNone/>
            </a:pP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2</a:t>
            </a: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CPI</a:t>
            </a: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Cycles Per Instruction</a:t>
            </a:r>
            <a:r>
              <a:rPr lang="zh-CN" altLang="en-US" sz="1600" b="1" dirty="0">
                <a:solidFill>
                  <a:srgbClr val="0000FF"/>
                </a:solidFill>
                <a:latin typeface="Times New Roman" panose="02020603050405020304" pitchFamily="18" charset="0"/>
                <a:cs typeface="Times New Roman" panose="02020603050405020304" pitchFamily="18" charset="0"/>
              </a:rPr>
              <a:t>）</a:t>
            </a:r>
            <a:endParaRPr lang="en-US" altLang="zh-CN" sz="1600" b="1" dirty="0">
              <a:solidFill>
                <a:srgbClr val="0000FF"/>
              </a:solidFill>
              <a:latin typeface="Times New Roman" panose="02020603050405020304" pitchFamily="18" charset="0"/>
              <a:cs typeface="Times New Roman" panose="02020603050405020304" pitchFamily="18" charset="0"/>
            </a:endParaRPr>
          </a:p>
          <a:p>
            <a:pPr marL="400050" lvl="1" indent="0">
              <a:lnSpc>
                <a:spcPct val="150000"/>
              </a:lnSpc>
              <a:spcBef>
                <a:spcPct val="0"/>
              </a:spcBef>
              <a:buNone/>
            </a:pP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3</a:t>
            </a: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CPU</a:t>
            </a:r>
            <a:r>
              <a:rPr lang="zh-CN" altLang="en-US" sz="1600" b="1" dirty="0">
                <a:solidFill>
                  <a:srgbClr val="0000FF"/>
                </a:solidFill>
                <a:latin typeface="Times New Roman" panose="02020603050405020304" pitchFamily="18" charset="0"/>
                <a:cs typeface="Times New Roman" panose="02020603050405020304" pitchFamily="18" charset="0"/>
              </a:rPr>
              <a:t>时间（执行时间）</a:t>
            </a:r>
            <a:endParaRPr lang="en-US" altLang="zh-CN" sz="1600" b="1" dirty="0">
              <a:solidFill>
                <a:srgbClr val="0000FF"/>
              </a:solidFill>
              <a:latin typeface="Times New Roman" panose="02020603050405020304" pitchFamily="18" charset="0"/>
              <a:cs typeface="Times New Roman" panose="02020603050405020304" pitchFamily="18" charset="0"/>
            </a:endParaRPr>
          </a:p>
          <a:p>
            <a:pPr marL="400050" lvl="1" indent="0">
              <a:lnSpc>
                <a:spcPct val="150000"/>
              </a:lnSpc>
              <a:spcBef>
                <a:spcPct val="0"/>
              </a:spcBef>
              <a:buNone/>
            </a:pP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4</a:t>
            </a: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IPC </a:t>
            </a: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Instructions Per Cycle</a:t>
            </a:r>
            <a:r>
              <a:rPr lang="zh-CN" altLang="en-US" sz="1600" b="1" dirty="0">
                <a:solidFill>
                  <a:srgbClr val="0000FF"/>
                </a:solidFill>
                <a:latin typeface="Times New Roman" panose="02020603050405020304" pitchFamily="18" charset="0"/>
                <a:cs typeface="Times New Roman" panose="02020603050405020304" pitchFamily="18" charset="0"/>
              </a:rPr>
              <a:t>）</a:t>
            </a:r>
            <a:endParaRPr lang="en-US" altLang="zh-CN" sz="1600" b="1" dirty="0">
              <a:solidFill>
                <a:srgbClr val="0000FF"/>
              </a:solidFill>
              <a:latin typeface="Times New Roman" panose="02020603050405020304" pitchFamily="18" charset="0"/>
              <a:cs typeface="Times New Roman" panose="02020603050405020304" pitchFamily="18" charset="0"/>
            </a:endParaRPr>
          </a:p>
          <a:p>
            <a:pPr marL="400050" lvl="1" indent="0">
              <a:lnSpc>
                <a:spcPct val="150000"/>
              </a:lnSpc>
              <a:spcBef>
                <a:spcPct val="0"/>
              </a:spcBef>
              <a:buNone/>
            </a:pP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5</a:t>
            </a: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MIPS</a:t>
            </a: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Million Instructions Per Second</a:t>
            </a:r>
            <a:r>
              <a:rPr lang="zh-CN" altLang="en-US" sz="1600" b="1" dirty="0">
                <a:solidFill>
                  <a:srgbClr val="0000FF"/>
                </a:solidFill>
                <a:latin typeface="Times New Roman" panose="02020603050405020304" pitchFamily="18" charset="0"/>
                <a:cs typeface="Times New Roman" panose="02020603050405020304" pitchFamily="18" charset="0"/>
              </a:rPr>
              <a:t>）</a:t>
            </a:r>
            <a:endParaRPr lang="en-US" altLang="zh-CN" sz="1600" b="1" dirty="0">
              <a:solidFill>
                <a:srgbClr val="0000FF"/>
              </a:solidFill>
              <a:latin typeface="Times New Roman" panose="02020603050405020304" pitchFamily="18" charset="0"/>
              <a:cs typeface="Times New Roman" panose="02020603050405020304" pitchFamily="18" charset="0"/>
            </a:endParaRPr>
          </a:p>
          <a:p>
            <a:pPr marL="400050" lvl="1" indent="0">
              <a:lnSpc>
                <a:spcPct val="150000"/>
              </a:lnSpc>
              <a:spcBef>
                <a:spcPct val="0"/>
              </a:spcBef>
              <a:buNone/>
            </a:pP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6</a:t>
            </a: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FLOPS</a:t>
            </a: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Floating-Point Operations Per Second</a:t>
            </a:r>
            <a:r>
              <a:rPr lang="zh-CN" altLang="en-US" sz="1600" b="1" dirty="0">
                <a:solidFill>
                  <a:srgbClr val="0000FF"/>
                </a:solidFill>
                <a:latin typeface="Times New Roman" panose="02020603050405020304" pitchFamily="18" charset="0"/>
                <a:cs typeface="Times New Roman" panose="02020603050405020304" pitchFamily="18" charset="0"/>
              </a:rPr>
              <a:t>）</a:t>
            </a:r>
            <a:endParaRPr lang="en-US" altLang="zh-CN" sz="1600" b="1" dirty="0">
              <a:solidFill>
                <a:srgbClr val="0000FF"/>
              </a:solidFill>
              <a:latin typeface="Times New Roman" panose="02020603050405020304" pitchFamily="18" charset="0"/>
              <a:cs typeface="Times New Roman" panose="02020603050405020304" pitchFamily="18" charset="0"/>
            </a:endParaRPr>
          </a:p>
          <a:p>
            <a:pPr marL="400050" lvl="1" indent="0">
              <a:lnSpc>
                <a:spcPct val="150000"/>
              </a:lnSpc>
              <a:spcBef>
                <a:spcPct val="0"/>
              </a:spcBef>
              <a:buNone/>
            </a:pP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7</a:t>
            </a:r>
            <a:r>
              <a:rPr lang="zh-CN" altLang="en-US" sz="1600" b="1" dirty="0">
                <a:solidFill>
                  <a:srgbClr val="0000FF"/>
                </a:solidFill>
                <a:latin typeface="Times New Roman" panose="02020603050405020304" pitchFamily="18" charset="0"/>
                <a:cs typeface="Times New Roman" panose="02020603050405020304" pitchFamily="18" charset="0"/>
              </a:rPr>
              <a:t>）吞吐量（</a:t>
            </a:r>
            <a:r>
              <a:rPr lang="en-US" altLang="zh-CN" sz="1600" b="1" dirty="0">
                <a:solidFill>
                  <a:srgbClr val="0000FF"/>
                </a:solidFill>
                <a:latin typeface="Times New Roman" panose="02020603050405020304" pitchFamily="18" charset="0"/>
                <a:cs typeface="Times New Roman" panose="02020603050405020304" pitchFamily="18" charset="0"/>
              </a:rPr>
              <a:t>Throughput</a:t>
            </a:r>
            <a:r>
              <a:rPr lang="zh-CN" altLang="en-US" sz="1600" b="1" dirty="0">
                <a:solidFill>
                  <a:srgbClr val="0000FF"/>
                </a:solidFill>
                <a:latin typeface="Times New Roman" panose="02020603050405020304" pitchFamily="18" charset="0"/>
                <a:cs typeface="Times New Roman" panose="02020603050405020304" pitchFamily="18" charset="0"/>
              </a:rPr>
              <a:t>）</a:t>
            </a:r>
          </a:p>
          <a:p>
            <a:pPr marL="400050" lvl="1" indent="0">
              <a:lnSpc>
                <a:spcPct val="150000"/>
              </a:lnSpc>
              <a:spcBef>
                <a:spcPct val="0"/>
              </a:spcBef>
              <a:buNone/>
            </a:pPr>
            <a:r>
              <a:rPr lang="zh-CN" altLang="en-US" sz="1600" b="1" dirty="0">
                <a:solidFill>
                  <a:srgbClr val="0000FF"/>
                </a:solidFill>
                <a:latin typeface="Times New Roman" panose="02020603050405020304" pitchFamily="18" charset="0"/>
                <a:cs typeface="Times New Roman" panose="02020603050405020304" pitchFamily="18" charset="0"/>
              </a:rPr>
              <a:t>（</a:t>
            </a:r>
            <a:r>
              <a:rPr lang="en-US" altLang="zh-CN" sz="1600" b="1" dirty="0">
                <a:solidFill>
                  <a:srgbClr val="0000FF"/>
                </a:solidFill>
                <a:latin typeface="Times New Roman" panose="02020603050405020304" pitchFamily="18" charset="0"/>
                <a:cs typeface="Times New Roman" panose="02020603050405020304" pitchFamily="18" charset="0"/>
              </a:rPr>
              <a:t>8</a:t>
            </a:r>
            <a:r>
              <a:rPr lang="zh-CN" altLang="en-US" sz="1600" b="1" dirty="0">
                <a:solidFill>
                  <a:srgbClr val="0000FF"/>
                </a:solidFill>
                <a:latin typeface="Times New Roman" panose="02020603050405020304" pitchFamily="18" charset="0"/>
                <a:cs typeface="Times New Roman" panose="02020603050405020304" pitchFamily="18" charset="0"/>
              </a:rPr>
              <a:t>）响应时间（</a:t>
            </a:r>
            <a:r>
              <a:rPr lang="en-US" altLang="zh-CN" sz="1600" b="1" dirty="0">
                <a:solidFill>
                  <a:srgbClr val="0000FF"/>
                </a:solidFill>
                <a:latin typeface="Times New Roman" panose="02020603050405020304" pitchFamily="18" charset="0"/>
                <a:cs typeface="Times New Roman" panose="02020603050405020304" pitchFamily="18" charset="0"/>
              </a:rPr>
              <a:t>Response Time</a:t>
            </a:r>
            <a:r>
              <a:rPr lang="zh-CN" altLang="en-US" sz="1600" b="1" dirty="0">
                <a:solidFill>
                  <a:srgbClr val="0000FF"/>
                </a:solidFill>
                <a:latin typeface="Times New Roman" panose="02020603050405020304" pitchFamily="18" charset="0"/>
                <a:cs typeface="Times New Roman" panose="02020603050405020304" pitchFamily="18" charset="0"/>
              </a:rPr>
              <a:t>）</a:t>
            </a:r>
          </a:p>
          <a:p>
            <a:pPr marL="0" indent="0">
              <a:lnSpc>
                <a:spcPct val="150000"/>
              </a:lnSpc>
              <a:spcBef>
                <a:spcPct val="0"/>
              </a:spcBef>
              <a:buNone/>
            </a:pPr>
            <a:r>
              <a:rPr lang="en-US" altLang="zh-CN" sz="2000" b="1" dirty="0">
                <a:solidFill>
                  <a:srgbClr val="0000FF"/>
                </a:solidFill>
                <a:latin typeface="Times New Roman" panose="02020603050405020304" pitchFamily="18" charset="0"/>
                <a:cs typeface="Times New Roman" panose="02020603050405020304" pitchFamily="18" charset="0"/>
              </a:rPr>
              <a:t>3. </a:t>
            </a:r>
            <a:r>
              <a:rPr lang="zh-CN" altLang="en-US" sz="2000" b="1" dirty="0">
                <a:solidFill>
                  <a:srgbClr val="0000FF"/>
                </a:solidFill>
                <a:latin typeface="Times New Roman" panose="02020603050405020304" pitchFamily="18" charset="0"/>
                <a:cs typeface="Times New Roman" panose="02020603050405020304" pitchFamily="18" charset="0"/>
              </a:rPr>
              <a:t>性能测试及其工具</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0" indent="0">
              <a:lnSpc>
                <a:spcPct val="150000"/>
              </a:lnSpc>
              <a:spcBef>
                <a:spcPct val="0"/>
              </a:spcBef>
              <a:buNone/>
            </a:pPr>
            <a:r>
              <a:rPr lang="en-US" altLang="zh-CN" sz="2000" b="1" dirty="0">
                <a:solidFill>
                  <a:srgbClr val="0000FF"/>
                </a:solidFill>
                <a:latin typeface="Times New Roman" panose="02020603050405020304" pitchFamily="18" charset="0"/>
                <a:cs typeface="Times New Roman" panose="02020603050405020304" pitchFamily="18" charset="0"/>
              </a:rPr>
              <a:t>4. Amdahl</a:t>
            </a:r>
            <a:r>
              <a:rPr lang="zh-CN" altLang="en-US" sz="2000" b="1" dirty="0">
                <a:solidFill>
                  <a:srgbClr val="0000FF"/>
                </a:solidFill>
                <a:latin typeface="Times New Roman" panose="02020603050405020304" pitchFamily="18" charset="0"/>
                <a:cs typeface="Times New Roman" panose="02020603050405020304" pitchFamily="18" charset="0"/>
              </a:rPr>
              <a:t>定律</a:t>
            </a:r>
            <a:endParaRPr lang="en-US" altLang="zh-CN" sz="2000" b="1" dirty="0">
              <a:solidFill>
                <a:srgbClr val="0000FF"/>
              </a:solidFill>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C67572A7-05AE-4F8F-B6F1-96EEC042AFB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96B1098C-8D5D-4E24-8C02-D1313DC149B2}"/>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86024" name="标题 10"/>
          <p:cNvSpPr>
            <a:spLocks noGrp="1"/>
          </p:cNvSpPr>
          <p:nvPr>
            <p:ph type="title"/>
          </p:nvPr>
        </p:nvSpPr>
        <p:spPr>
          <a:xfrm>
            <a:off x="0" y="795443"/>
            <a:ext cx="8134438" cy="473317"/>
          </a:xfrm>
        </p:spPr>
        <p:txBody>
          <a:bodyPr/>
          <a:lstStyle/>
          <a:p>
            <a:pPr algn="l"/>
            <a:r>
              <a:rPr lang="en-US" altLang="zh-CN" sz="2400" b="1" dirty="0">
                <a:solidFill>
                  <a:srgbClr val="FF0000"/>
                </a:solidFill>
                <a:latin typeface="Times New Roman" panose="02020603050405020304" pitchFamily="18" charset="0"/>
                <a:cs typeface="Times New Roman" panose="02020603050405020304" pitchFamily="18" charset="0"/>
              </a:rPr>
              <a:t>1. </a:t>
            </a:r>
            <a:r>
              <a:rPr lang="zh-CN" altLang="en-US" sz="2400" b="1" dirty="0">
                <a:solidFill>
                  <a:srgbClr val="FF0000"/>
                </a:solidFill>
                <a:latin typeface="Times New Roman" panose="02020603050405020304" pitchFamily="18" charset="0"/>
                <a:cs typeface="Times New Roman" panose="02020603050405020304" pitchFamily="18" charset="0"/>
              </a:rPr>
              <a:t>基本性能指标</a:t>
            </a:r>
          </a:p>
        </p:txBody>
      </p:sp>
      <p:sp>
        <p:nvSpPr>
          <p:cNvPr id="86018" name="Rectangle 3"/>
          <p:cNvSpPr>
            <a:spLocks noGrp="1" noChangeArrowheads="1"/>
          </p:cNvSpPr>
          <p:nvPr>
            <p:ph idx="1"/>
          </p:nvPr>
        </p:nvSpPr>
        <p:spPr>
          <a:xfrm>
            <a:off x="47581" y="1171766"/>
            <a:ext cx="9048838" cy="3492689"/>
          </a:xfrm>
        </p:spPr>
        <p:txBody>
          <a:bodyPr/>
          <a:lstStyle/>
          <a:p>
            <a:pPr marL="0" indent="0" eaLnBrk="1" hangingPunct="1">
              <a:lnSpc>
                <a:spcPct val="150000"/>
              </a:lnSpc>
              <a:spcBef>
                <a:spcPts val="0"/>
              </a:spcBef>
              <a:buNone/>
            </a:pP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1</a:t>
            </a:r>
            <a:r>
              <a:rPr lang="zh-CN" altLang="en-US" sz="2000" b="1" dirty="0">
                <a:solidFill>
                  <a:srgbClr val="FF0000"/>
                </a:solidFill>
                <a:latin typeface="Times New Roman" panose="02020603050405020304" pitchFamily="18" charset="0"/>
                <a:cs typeface="Times New Roman" panose="02020603050405020304" pitchFamily="18" charset="0"/>
              </a:rPr>
              <a:t>）（机器）字长</a:t>
            </a:r>
            <a:endParaRPr lang="en-US" altLang="zh-CN" sz="20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ts val="0"/>
              </a:spcBef>
            </a:pPr>
            <a:r>
              <a:rPr lang="zh-CN" altLang="en-US" sz="2000" b="1" dirty="0">
                <a:solidFill>
                  <a:srgbClr val="0000FF"/>
                </a:solidFill>
                <a:latin typeface="Times New Roman" panose="02020603050405020304" pitchFamily="18" charset="0"/>
                <a:cs typeface="Times New Roman" panose="02020603050405020304" pitchFamily="18" charset="0"/>
              </a:rPr>
              <a:t>指</a:t>
            </a:r>
            <a:r>
              <a:rPr lang="en-US" altLang="zh-CN" sz="2000" b="1" dirty="0">
                <a:solidFill>
                  <a:srgbClr val="0000FF"/>
                </a:solidFill>
                <a:latin typeface="Times New Roman" panose="02020603050405020304" pitchFamily="18" charset="0"/>
                <a:cs typeface="Times New Roman" panose="02020603050405020304" pitchFamily="18" charset="0"/>
              </a:rPr>
              <a:t>CPU</a:t>
            </a:r>
            <a:r>
              <a:rPr lang="zh-CN" altLang="en-US" sz="2000" b="1" dirty="0">
                <a:solidFill>
                  <a:srgbClr val="0000FF"/>
                </a:solidFill>
                <a:latin typeface="Times New Roman" panose="02020603050405020304" pitchFamily="18" charset="0"/>
                <a:cs typeface="Times New Roman" panose="02020603050405020304" pitchFamily="18" charset="0"/>
              </a:rPr>
              <a:t>一次能处理的二进制位数。通常以位（</a:t>
            </a:r>
            <a:r>
              <a:rPr lang="en-US" altLang="zh-CN" sz="2000" b="1" dirty="0">
                <a:solidFill>
                  <a:srgbClr val="0000FF"/>
                </a:solidFill>
                <a:latin typeface="Times New Roman" panose="02020603050405020304" pitchFamily="18" charset="0"/>
                <a:cs typeface="Times New Roman" panose="02020603050405020304" pitchFamily="18" charset="0"/>
              </a:rPr>
              <a:t>bit</a:t>
            </a:r>
            <a:r>
              <a:rPr lang="zh-CN" altLang="en-US" sz="2000" b="1" dirty="0">
                <a:solidFill>
                  <a:srgbClr val="0000FF"/>
                </a:solidFill>
                <a:latin typeface="Times New Roman" panose="02020603050405020304" pitchFamily="18" charset="0"/>
                <a:cs typeface="Times New Roman" panose="02020603050405020304" pitchFamily="18" charset="0"/>
              </a:rPr>
              <a:t>）为单位。</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342900" indent="-342900">
              <a:lnSpc>
                <a:spcPct val="150000"/>
              </a:lnSpc>
              <a:spcBef>
                <a:spcPts val="0"/>
              </a:spcBef>
              <a:buFont typeface="Arial" panose="020B0604020202020204" pitchFamily="34" charset="0"/>
              <a:buChar char="•"/>
              <a:defRPr/>
            </a:pPr>
            <a:r>
              <a:rPr kumimoji="0" lang="zh-CN" altLang="en-US" sz="2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rPr>
              <a:t>一般与</a:t>
            </a:r>
            <a:r>
              <a:rPr kumimoji="0" lang="en-US" altLang="zh-CN" sz="2000" b="1"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cs typeface="Times New Roman" panose="02020603050405020304" pitchFamily="18" charset="0"/>
              </a:rPr>
              <a:t>CPU</a:t>
            </a:r>
            <a:r>
              <a:rPr kumimoji="0" lang="zh-CN" altLang="en-US" sz="2000" b="1"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cs typeface="Times New Roman" panose="02020603050405020304" pitchFamily="18" charset="0"/>
              </a:rPr>
              <a:t>的寄存器位数</a:t>
            </a:r>
            <a:r>
              <a:rPr kumimoji="0" lang="zh-CN" altLang="en-US" sz="2000" b="1"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cs typeface="Times New Roman" panose="02020603050405020304" pitchFamily="18" charset="0"/>
              </a:rPr>
              <a:t>相等</a:t>
            </a:r>
            <a:r>
              <a:rPr lang="zh-CN" altLang="en-US" sz="2000" b="1" dirty="0">
                <a:solidFill>
                  <a:srgbClr val="000000"/>
                </a:solidFill>
                <a:latin typeface="Times New Roman" panose="02020603050405020304" pitchFamily="18" charset="0"/>
                <a:cs typeface="Times New Roman" panose="02020603050405020304" pitchFamily="18" charset="0"/>
              </a:rPr>
              <a:t>。目前常见的有</a:t>
            </a:r>
            <a:r>
              <a:rPr lang="en-US" altLang="zh-CN" sz="2000" b="1" dirty="0">
                <a:solidFill>
                  <a:srgbClr val="000000"/>
                </a:solidFill>
                <a:latin typeface="Times New Roman" panose="02020603050405020304" pitchFamily="18" charset="0"/>
                <a:cs typeface="Times New Roman" panose="02020603050405020304" pitchFamily="18" charset="0"/>
              </a:rPr>
              <a:t>32</a:t>
            </a:r>
            <a:r>
              <a:rPr lang="zh-CN" altLang="en-US" sz="2000" b="1" dirty="0">
                <a:solidFill>
                  <a:srgbClr val="000000"/>
                </a:solidFill>
                <a:latin typeface="Times New Roman" panose="02020603050405020304" pitchFamily="18" charset="0"/>
                <a:cs typeface="Times New Roman" panose="02020603050405020304" pitchFamily="18" charset="0"/>
              </a:rPr>
              <a:t>位和</a:t>
            </a:r>
            <a:r>
              <a:rPr lang="en-US" altLang="zh-CN" sz="2000" b="1" dirty="0">
                <a:solidFill>
                  <a:srgbClr val="000000"/>
                </a:solidFill>
                <a:latin typeface="Times New Roman" panose="02020603050405020304" pitchFamily="18" charset="0"/>
                <a:cs typeface="Times New Roman" panose="02020603050405020304" pitchFamily="18" charset="0"/>
              </a:rPr>
              <a:t>64</a:t>
            </a:r>
            <a:r>
              <a:rPr lang="zh-CN" altLang="en-US" sz="2000" b="1" dirty="0">
                <a:solidFill>
                  <a:srgbClr val="000000"/>
                </a:solidFill>
                <a:latin typeface="Times New Roman" panose="02020603050405020304" pitchFamily="18" charset="0"/>
                <a:cs typeface="Times New Roman" panose="02020603050405020304" pitchFamily="18" charset="0"/>
              </a:rPr>
              <a:t>位。</a:t>
            </a:r>
            <a:endParaRPr lang="en-US" altLang="zh-CN" sz="2000" b="1"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spcBef>
                <a:spcPts val="0"/>
              </a:spcBef>
              <a:buFont typeface="Arial" panose="020B0604020202020204" pitchFamily="34" charset="0"/>
              <a:buChar char="•"/>
              <a:defRPr/>
            </a:pPr>
            <a:r>
              <a:rPr kumimoji="0" lang="zh-CN" altLang="en-US" sz="2000" b="1" i="0" u="none" strike="noStrike" kern="1200" cap="none" spc="0" normalizeH="0" baseline="0" noProof="0" dirty="0">
                <a:ln>
                  <a:noFill/>
                </a:ln>
                <a:solidFill>
                  <a:srgbClr val="0000FF"/>
                </a:solidFill>
                <a:effectLst/>
                <a:highlight>
                  <a:srgbClr val="FFFF00"/>
                </a:highlight>
                <a:uLnTx/>
                <a:uFillTx/>
                <a:latin typeface="Times New Roman" panose="02020603050405020304" pitchFamily="18" charset="0"/>
                <a:cs typeface="Times New Roman" panose="02020603050405020304" pitchFamily="18" charset="0"/>
              </a:rPr>
              <a:t>字长越长，</a:t>
            </a:r>
            <a:r>
              <a:rPr lang="en-US" altLang="zh-CN" sz="2000" b="1" dirty="0">
                <a:solidFill>
                  <a:srgbClr val="0000FF"/>
                </a:solidFill>
                <a:highlight>
                  <a:srgbClr val="FFFF00"/>
                </a:highlight>
                <a:latin typeface="Times New Roman" panose="02020603050405020304" pitchFamily="18" charset="0"/>
                <a:cs typeface="Times New Roman" panose="02020603050405020304" pitchFamily="18" charset="0"/>
              </a:rPr>
              <a:t>CPU</a:t>
            </a:r>
            <a:r>
              <a:rPr lang="zh-CN" altLang="en-US" sz="2000" b="1" dirty="0">
                <a:solidFill>
                  <a:srgbClr val="0000FF"/>
                </a:solidFill>
                <a:highlight>
                  <a:srgbClr val="FFFF00"/>
                </a:highlight>
                <a:latin typeface="Times New Roman" panose="02020603050405020304" pitchFamily="18" charset="0"/>
                <a:cs typeface="Times New Roman" panose="02020603050405020304" pitchFamily="18" charset="0"/>
              </a:rPr>
              <a:t>单次处理的数据量越大，计算能力越强</a:t>
            </a:r>
            <a:r>
              <a:rPr lang="zh-CN" altLang="en-US" sz="2000" b="1" dirty="0">
                <a:solidFill>
                  <a:srgbClr val="000000"/>
                </a:solidFill>
                <a:latin typeface="Times New Roman" panose="02020603050405020304" pitchFamily="18" charset="0"/>
                <a:cs typeface="Times New Roman" panose="02020603050405020304" pitchFamily="18" charset="0"/>
              </a:rPr>
              <a:t>。</a:t>
            </a:r>
            <a:endParaRPr lang="en-US" altLang="zh-CN" sz="2000" b="1" dirty="0">
              <a:solidFill>
                <a:srgbClr val="000000"/>
              </a:solidFill>
              <a:latin typeface="Times New Roman" panose="02020603050405020304" pitchFamily="18" charset="0"/>
              <a:cs typeface="Times New Roman" panose="02020603050405020304" pitchFamily="18" charset="0"/>
            </a:endParaRPr>
          </a:p>
          <a:p>
            <a:pPr marL="342900" lvl="0" indent="-342900">
              <a:lnSpc>
                <a:spcPct val="150000"/>
              </a:lnSpc>
              <a:spcBef>
                <a:spcPts val="0"/>
              </a:spcBef>
              <a:buFont typeface="Arial" panose="020B0604020202020204" pitchFamily="34" charset="0"/>
              <a:buChar char="•"/>
              <a:defRPr/>
            </a:pPr>
            <a:r>
              <a:rPr lang="zh-CN" altLang="en-US" sz="2000" b="1" dirty="0">
                <a:solidFill>
                  <a:srgbClr val="000000"/>
                </a:solidFill>
                <a:latin typeface="Times New Roman" panose="02020603050405020304" pitchFamily="18" charset="0"/>
                <a:cs typeface="Times New Roman" panose="02020603050405020304" pitchFamily="18" charset="0"/>
              </a:rPr>
              <a:t>字长决定了</a:t>
            </a:r>
            <a:r>
              <a:rPr lang="en-US" altLang="zh-CN" sz="2000" b="1" dirty="0">
                <a:solidFill>
                  <a:srgbClr val="000000"/>
                </a:solidFill>
                <a:latin typeface="Times New Roman" panose="02020603050405020304" pitchFamily="18" charset="0"/>
                <a:cs typeface="Times New Roman" panose="02020603050405020304" pitchFamily="18" charset="0"/>
              </a:rPr>
              <a:t>CPU</a:t>
            </a:r>
            <a:r>
              <a:rPr lang="zh-CN" altLang="en-US" sz="2000" b="1" dirty="0">
                <a:solidFill>
                  <a:srgbClr val="000000"/>
                </a:solidFill>
                <a:latin typeface="Times New Roman" panose="02020603050405020304" pitchFamily="18" charset="0"/>
                <a:cs typeface="Times New Roman" panose="02020603050405020304" pitchFamily="18" charset="0"/>
              </a:rPr>
              <a:t>能直接寻址的内存空间大小。例如，</a:t>
            </a:r>
            <a:r>
              <a:rPr lang="en-US" altLang="zh-CN" sz="2000" b="1" dirty="0">
                <a:solidFill>
                  <a:srgbClr val="000000"/>
                </a:solidFill>
                <a:latin typeface="Times New Roman" panose="02020603050405020304" pitchFamily="18" charset="0"/>
                <a:cs typeface="Times New Roman" panose="02020603050405020304" pitchFamily="18" charset="0"/>
              </a:rPr>
              <a:t>32</a:t>
            </a:r>
            <a:r>
              <a:rPr lang="zh-CN" altLang="en-US" sz="2000" b="1" dirty="0">
                <a:solidFill>
                  <a:srgbClr val="000000"/>
                </a:solidFill>
                <a:latin typeface="Times New Roman" panose="02020603050405020304" pitchFamily="18" charset="0"/>
                <a:cs typeface="Times New Roman" panose="02020603050405020304" pitchFamily="18" charset="0"/>
              </a:rPr>
              <a:t>位</a:t>
            </a:r>
            <a:r>
              <a:rPr lang="en-US" altLang="zh-CN" sz="2000" b="1" dirty="0">
                <a:solidFill>
                  <a:srgbClr val="000000"/>
                </a:solidFill>
                <a:latin typeface="Times New Roman" panose="02020603050405020304" pitchFamily="18" charset="0"/>
                <a:cs typeface="Times New Roman" panose="02020603050405020304" pitchFamily="18" charset="0"/>
              </a:rPr>
              <a:t>CPU</a:t>
            </a:r>
            <a:r>
              <a:rPr lang="zh-CN" altLang="en-US" sz="2000" b="1" dirty="0">
                <a:solidFill>
                  <a:srgbClr val="000000"/>
                </a:solidFill>
                <a:latin typeface="Times New Roman" panose="02020603050405020304" pitchFamily="18" charset="0"/>
                <a:cs typeface="Times New Roman" panose="02020603050405020304" pitchFamily="18" charset="0"/>
              </a:rPr>
              <a:t>最大寻址</a:t>
            </a:r>
            <a:r>
              <a:rPr lang="en-US" altLang="zh-CN" sz="2000" b="1" dirty="0">
                <a:solidFill>
                  <a:srgbClr val="000000"/>
                </a:solidFill>
                <a:latin typeface="Times New Roman" panose="02020603050405020304" pitchFamily="18" charset="0"/>
                <a:cs typeface="Times New Roman" panose="02020603050405020304" pitchFamily="18" charset="0"/>
              </a:rPr>
              <a:t>4GB</a:t>
            </a:r>
            <a:r>
              <a:rPr lang="zh-CN" altLang="en-US" sz="2000" b="1" dirty="0">
                <a:solidFill>
                  <a:srgbClr val="000000"/>
                </a:solidFill>
                <a:latin typeface="Times New Roman" panose="02020603050405020304" pitchFamily="18" charset="0"/>
                <a:cs typeface="Times New Roman" panose="02020603050405020304" pitchFamily="18" charset="0"/>
              </a:rPr>
              <a:t>内存，</a:t>
            </a:r>
            <a:r>
              <a:rPr lang="en-US" altLang="zh-CN" sz="2000" b="1" dirty="0">
                <a:solidFill>
                  <a:srgbClr val="000000"/>
                </a:solidFill>
                <a:latin typeface="Times New Roman" panose="02020603050405020304" pitchFamily="18" charset="0"/>
                <a:cs typeface="Times New Roman" panose="02020603050405020304" pitchFamily="18" charset="0"/>
              </a:rPr>
              <a:t>64</a:t>
            </a:r>
            <a:r>
              <a:rPr lang="zh-CN" altLang="en-US" sz="2000" b="1" dirty="0">
                <a:solidFill>
                  <a:srgbClr val="000000"/>
                </a:solidFill>
                <a:latin typeface="Times New Roman" panose="02020603050405020304" pitchFamily="18" charset="0"/>
                <a:cs typeface="Times New Roman" panose="02020603050405020304" pitchFamily="18" charset="0"/>
              </a:rPr>
              <a:t>位</a:t>
            </a:r>
            <a:r>
              <a:rPr lang="en-US" altLang="zh-CN" sz="2000" b="1" dirty="0">
                <a:solidFill>
                  <a:srgbClr val="000000"/>
                </a:solidFill>
                <a:latin typeface="Times New Roman" panose="02020603050405020304" pitchFamily="18" charset="0"/>
                <a:cs typeface="Times New Roman" panose="02020603050405020304" pitchFamily="18" charset="0"/>
              </a:rPr>
              <a:t>CPU</a:t>
            </a:r>
            <a:r>
              <a:rPr lang="zh-CN" altLang="en-US" sz="2000" b="1" dirty="0">
                <a:solidFill>
                  <a:srgbClr val="000000"/>
                </a:solidFill>
                <a:latin typeface="Times New Roman" panose="02020603050405020304" pitchFamily="18" charset="0"/>
                <a:cs typeface="Times New Roman" panose="02020603050405020304" pitchFamily="18" charset="0"/>
              </a:rPr>
              <a:t>则大得多。</a:t>
            </a: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indent="-342900">
              <a:lnSpc>
                <a:spcPct val="150000"/>
              </a:lnSpc>
              <a:spcBef>
                <a:spcPts val="0"/>
              </a:spcBef>
              <a:buFont typeface="Arial" panose="020B0604020202020204" pitchFamily="34" charset="0"/>
              <a:buChar char="•"/>
              <a:defRPr/>
            </a:pPr>
            <a:r>
              <a:rPr lang="zh-CN" altLang="en-US" sz="2000" b="1" dirty="0">
                <a:solidFill>
                  <a:srgbClr val="000000"/>
                </a:solidFill>
                <a:latin typeface="Times New Roman" panose="02020603050405020304" pitchFamily="18" charset="0"/>
                <a:cs typeface="Times New Roman" panose="02020603050405020304" pitchFamily="18" charset="0"/>
              </a:rPr>
              <a:t>直接</a:t>
            </a:r>
            <a:r>
              <a:rPr lang="zh-CN" altLang="en-US" sz="2000" b="1" dirty="0">
                <a:solidFill>
                  <a:srgbClr val="FF0000"/>
                </a:solidFill>
                <a:latin typeface="Times New Roman" panose="02020603050405020304" pitchFamily="18" charset="0"/>
                <a:cs typeface="Times New Roman" panose="02020603050405020304" pitchFamily="18" charset="0"/>
              </a:rPr>
              <a:t>影响</a:t>
            </a:r>
            <a:r>
              <a:rPr lang="zh-CN" altLang="en-US" sz="2000" b="1" dirty="0">
                <a:solidFill>
                  <a:srgbClr val="0000FF"/>
                </a:solidFill>
                <a:latin typeface="Times New Roman" panose="02020603050405020304" pitchFamily="18" charset="0"/>
                <a:cs typeface="Times New Roman" panose="02020603050405020304" pitchFamily="18" charset="0"/>
              </a:rPr>
              <a:t>加法器（或</a:t>
            </a:r>
            <a:r>
              <a:rPr lang="en-US" altLang="zh-CN" sz="2000" b="1" dirty="0">
                <a:solidFill>
                  <a:srgbClr val="0000FF"/>
                </a:solidFill>
                <a:latin typeface="Times New Roman" panose="02020603050405020304" pitchFamily="18" charset="0"/>
                <a:cs typeface="Times New Roman" panose="02020603050405020304" pitchFamily="18" charset="0"/>
              </a:rPr>
              <a:t>ALU</a:t>
            </a:r>
            <a:r>
              <a:rPr lang="zh-CN" altLang="en-US" sz="2000" b="1" dirty="0">
                <a:solidFill>
                  <a:srgbClr val="0000FF"/>
                </a:solidFill>
                <a:latin typeface="Times New Roman" panose="02020603050405020304" pitchFamily="18" charset="0"/>
                <a:cs typeface="Times New Roman" panose="02020603050405020304" pitchFamily="18" charset="0"/>
              </a:rPr>
              <a:t>）、数据总线以及存储字长的位数。</a:t>
            </a:r>
            <a:endParaRPr lang="en-US" altLang="zh-CN" sz="2000" b="1"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C67572A7-05AE-4F8F-B6F1-96EEC042AFB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文本框 1">
            <a:extLst>
              <a:ext uri="{FF2B5EF4-FFF2-40B4-BE49-F238E27FC236}">
                <a16:creationId xmlns:a16="http://schemas.microsoft.com/office/drawing/2014/main" id="{D43286E5-B70F-424F-86D2-06F3C2BF37EE}"/>
              </a:ext>
            </a:extLst>
          </p:cNvPr>
          <p:cNvSpPr txBox="1"/>
          <p:nvPr/>
        </p:nvSpPr>
        <p:spPr>
          <a:xfrm>
            <a:off x="185554" y="4710866"/>
            <a:ext cx="8772891" cy="1879232"/>
          </a:xfrm>
          <a:prstGeom prst="rect">
            <a:avLst/>
          </a:prstGeom>
          <a:solidFill>
            <a:schemeClr val="accent5">
              <a:lumMod val="90000"/>
            </a:schemeClr>
          </a:solidFill>
        </p:spPr>
        <p:txBody>
          <a:bodyPr wrap="square" rtlCol="0">
            <a:spAutoFit/>
          </a:bodyPr>
          <a:lstStyle/>
          <a:p>
            <a:pPr>
              <a:lnSpc>
                <a:spcPct val="150000"/>
              </a:lnSpc>
            </a:pPr>
            <a:r>
              <a:rPr lang="zh-CN" altLang="en-US" sz="2000" b="1" dirty="0">
                <a:solidFill>
                  <a:srgbClr val="0000FF"/>
                </a:solidFill>
              </a:rPr>
              <a:t>机器字长、寄存器位数、数据总线宽度、存储字长的关系</a:t>
            </a:r>
            <a:endParaRPr lang="en-US" altLang="zh-CN" sz="2000" b="1" dirty="0">
              <a:solidFill>
                <a:srgbClr val="0000FF"/>
              </a:solidFill>
            </a:endParaRPr>
          </a:p>
          <a:p>
            <a:pPr marL="342900" indent="-342900">
              <a:lnSpc>
                <a:spcPct val="150000"/>
              </a:lnSpc>
              <a:buFont typeface="Arial" panose="020B0604020202020204" pitchFamily="34" charset="0"/>
              <a:buChar char="•"/>
            </a:pPr>
            <a:r>
              <a:rPr lang="zh-CN" altLang="en-US" sz="2000" b="1" dirty="0">
                <a:solidFill>
                  <a:srgbClr val="FF0000"/>
                </a:solidFill>
              </a:rPr>
              <a:t>机器字长通常与寄存器位数相同</a:t>
            </a:r>
            <a:r>
              <a:rPr lang="zh-CN" altLang="en-US" sz="2000" b="1" dirty="0"/>
              <a:t>。</a:t>
            </a:r>
          </a:p>
          <a:p>
            <a:pPr marL="342900" indent="-342900">
              <a:lnSpc>
                <a:spcPct val="150000"/>
              </a:lnSpc>
              <a:buFont typeface="Arial" panose="020B0604020202020204" pitchFamily="34" charset="0"/>
              <a:buChar char="•"/>
            </a:pPr>
            <a:r>
              <a:rPr lang="zh-CN" altLang="en-US" sz="2000" b="1" dirty="0">
                <a:solidFill>
                  <a:srgbClr val="FF0000"/>
                </a:solidFill>
              </a:rPr>
              <a:t>数据总线宽度通常与机器字长相同</a:t>
            </a:r>
            <a:r>
              <a:rPr lang="zh-CN" altLang="en-US" sz="2000" b="1" dirty="0"/>
              <a:t>，但也可以是机器字长的倍数或因数。</a:t>
            </a:r>
          </a:p>
          <a:p>
            <a:pPr marL="342900" indent="-342900">
              <a:lnSpc>
                <a:spcPct val="150000"/>
              </a:lnSpc>
              <a:buFont typeface="Arial" panose="020B0604020202020204" pitchFamily="34" charset="0"/>
              <a:buChar char="•"/>
            </a:pPr>
            <a:r>
              <a:rPr lang="zh-CN" altLang="en-US" sz="2000" b="1" dirty="0">
                <a:solidFill>
                  <a:srgbClr val="FF0000"/>
                </a:solidFill>
              </a:rPr>
              <a:t>存储字长通常与机器字长相同</a:t>
            </a:r>
            <a:r>
              <a:rPr lang="zh-CN" altLang="en-US" sz="2000" b="1" dirty="0"/>
              <a:t>，但也可以是机器字长的倍数或因数。</a:t>
            </a:r>
          </a:p>
        </p:txBody>
      </p:sp>
    </p:spTree>
    <p:extLst>
      <p:ext uri="{BB962C8B-B14F-4D97-AF65-F5344CB8AC3E}">
        <p14:creationId xmlns:p14="http://schemas.microsoft.com/office/powerpoint/2010/main" val="146772039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90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6018" name="Rectangle 3"/>
          <p:cNvSpPr>
            <a:spLocks noGrp="1" noChangeArrowheads="1"/>
          </p:cNvSpPr>
          <p:nvPr>
            <p:ph idx="1"/>
          </p:nvPr>
        </p:nvSpPr>
        <p:spPr>
          <a:xfrm>
            <a:off x="55157" y="836712"/>
            <a:ext cx="9109638" cy="5884763"/>
          </a:xfrm>
        </p:spPr>
        <p:txBody>
          <a:bodyPr/>
          <a:lstStyle/>
          <a:p>
            <a:pPr marL="0" indent="0" eaLnBrk="1" hangingPunct="1">
              <a:lnSpc>
                <a:spcPct val="130000"/>
              </a:lnSpc>
              <a:spcBef>
                <a:spcPct val="0"/>
              </a:spcBef>
              <a:buNone/>
            </a:pPr>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2</a:t>
            </a:r>
            <a:r>
              <a:rPr lang="zh-CN" altLang="en-US" sz="2400" b="1" dirty="0">
                <a:solidFill>
                  <a:srgbClr val="FF0000"/>
                </a:solidFill>
                <a:latin typeface="Times New Roman" panose="02020603050405020304" pitchFamily="18" charset="0"/>
                <a:cs typeface="Times New Roman" panose="02020603050405020304" pitchFamily="18" charset="0"/>
              </a:rPr>
              <a:t>）存储容量</a:t>
            </a:r>
            <a:endParaRPr lang="en-US" altLang="zh-CN" sz="2400" b="1" dirty="0">
              <a:solidFill>
                <a:srgbClr val="FF0000"/>
              </a:solidFill>
              <a:latin typeface="Times New Roman" panose="02020603050405020304" pitchFamily="18" charset="0"/>
              <a:cs typeface="Times New Roman" panose="02020603050405020304" pitchFamily="18" charset="0"/>
            </a:endParaRPr>
          </a:p>
          <a:p>
            <a:pPr>
              <a:lnSpc>
                <a:spcPct val="130000"/>
              </a:lnSpc>
              <a:spcBef>
                <a:spcPct val="0"/>
              </a:spcBef>
            </a:pPr>
            <a:r>
              <a:rPr lang="zh-CN" altLang="en-US" sz="2400" b="1" dirty="0">
                <a:solidFill>
                  <a:srgbClr val="FF0000"/>
                </a:solidFill>
                <a:highlight>
                  <a:srgbClr val="FFFF00"/>
                </a:highlight>
                <a:latin typeface="Times New Roman" panose="02020603050405020304" pitchFamily="18" charset="0"/>
                <a:cs typeface="Times New Roman" panose="02020603050405020304" pitchFamily="18" charset="0"/>
              </a:rPr>
              <a:t>指存储设备中存放二进制的总位数</a:t>
            </a:r>
            <a:r>
              <a:rPr lang="zh-CN" altLang="en-US" sz="2400" b="1" dirty="0">
                <a:latin typeface="Times New Roman" panose="02020603050405020304" pitchFamily="18" charset="0"/>
                <a:cs typeface="Times New Roman" panose="02020603050405020304" pitchFamily="18" charset="0"/>
              </a:rPr>
              <a:t>。通常以字节为单位。</a:t>
            </a:r>
            <a:endParaRPr lang="en-US" altLang="zh-CN" sz="2400" b="1" dirty="0">
              <a:latin typeface="Times New Roman" panose="02020603050405020304" pitchFamily="18" charset="0"/>
              <a:cs typeface="Times New Roman" panose="02020603050405020304" pitchFamily="18" charset="0"/>
            </a:endParaRPr>
          </a:p>
          <a:p>
            <a:pPr marL="0" indent="0" algn="ctr" eaLnBrk="1" hangingPunct="1">
              <a:lnSpc>
                <a:spcPct val="130000"/>
              </a:lnSpc>
              <a:spcBef>
                <a:spcPct val="0"/>
              </a:spcBef>
              <a:buNone/>
            </a:pPr>
            <a:r>
              <a:rPr lang="zh-CN" altLang="en-US" sz="2400" b="1" dirty="0">
                <a:solidFill>
                  <a:srgbClr val="0000FF"/>
                </a:solidFill>
                <a:latin typeface="Times New Roman" panose="02020603050405020304" pitchFamily="18" charset="0"/>
                <a:cs typeface="Times New Roman" panose="02020603050405020304" pitchFamily="18" charset="0"/>
              </a:rPr>
              <a:t>存储容量</a:t>
            </a:r>
            <a:r>
              <a:rPr lang="en-US" altLang="zh-CN" sz="2400" b="1" dirty="0">
                <a:solidFill>
                  <a:srgbClr val="0000FF"/>
                </a:solidFill>
                <a:latin typeface="Times New Roman" panose="02020603050405020304" pitchFamily="18" charset="0"/>
                <a:cs typeface="Times New Roman" panose="02020603050405020304" pitchFamily="18" charset="0"/>
              </a:rPr>
              <a:t>=</a:t>
            </a:r>
            <a:r>
              <a:rPr lang="zh-CN" altLang="en-US" sz="2400" b="1" dirty="0">
                <a:solidFill>
                  <a:srgbClr val="0000FF"/>
                </a:solidFill>
                <a:latin typeface="Times New Roman" panose="02020603050405020304" pitchFamily="18" charset="0"/>
                <a:cs typeface="Times New Roman" panose="02020603050405020304" pitchFamily="18" charset="0"/>
              </a:rPr>
              <a:t>存储单元的数量</a:t>
            </a:r>
            <a:r>
              <a:rPr lang="en-US" altLang="zh-CN" sz="2400" b="1" dirty="0">
                <a:solidFill>
                  <a:srgbClr val="0000FF"/>
                </a:solidFill>
                <a:latin typeface="Times New Roman" panose="02020603050405020304" pitchFamily="18" charset="0"/>
                <a:cs typeface="Times New Roman" panose="02020603050405020304" pitchFamily="18" charset="0"/>
              </a:rPr>
              <a:t>×</a:t>
            </a:r>
            <a:r>
              <a:rPr lang="zh-CN" altLang="en-US" sz="2400" b="1" dirty="0">
                <a:solidFill>
                  <a:srgbClr val="0000FF"/>
                </a:solidFill>
                <a:latin typeface="Times New Roman" panose="02020603050405020304" pitchFamily="18" charset="0"/>
                <a:cs typeface="Times New Roman" panose="02020603050405020304" pitchFamily="18" charset="0"/>
              </a:rPr>
              <a:t>每个存储单元的位数</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lnSpc>
                <a:spcPct val="130000"/>
              </a:lnSpc>
              <a:spcBef>
                <a:spcPct val="0"/>
              </a:spcBef>
            </a:pPr>
            <a:r>
              <a:rPr lang="zh-CN" altLang="en-US" sz="2000" b="1" dirty="0">
                <a:latin typeface="Times New Roman" panose="02020603050405020304" pitchFamily="18" charset="0"/>
                <a:cs typeface="Times New Roman" panose="02020603050405020304" pitchFamily="18" charset="0"/>
              </a:rPr>
              <a:t>对于</a:t>
            </a:r>
            <a:r>
              <a:rPr lang="zh-CN" altLang="en-US" sz="2000" b="1" dirty="0">
                <a:solidFill>
                  <a:srgbClr val="FF0000"/>
                </a:solidFill>
                <a:latin typeface="Times New Roman" panose="02020603050405020304" pitchFamily="18" charset="0"/>
                <a:cs typeface="Times New Roman" panose="02020603050405020304" pitchFamily="18" charset="0"/>
              </a:rPr>
              <a:t>主存</a:t>
            </a:r>
            <a:r>
              <a:rPr lang="zh-CN" altLang="en-US" sz="2000" b="1" dirty="0">
                <a:latin typeface="Times New Roman" panose="02020603050405020304" pitchFamily="18" charset="0"/>
                <a:cs typeface="Times New Roman" panose="02020603050405020304" pitchFamily="18" charset="0"/>
              </a:rPr>
              <a:t>来说，存储器地址寄存器（</a:t>
            </a:r>
            <a:r>
              <a:rPr lang="en-US" altLang="zh-CN" sz="2000" b="1" dirty="0">
                <a:latin typeface="Times New Roman" panose="02020603050405020304" pitchFamily="18" charset="0"/>
                <a:cs typeface="Times New Roman" panose="02020603050405020304" pitchFamily="18" charset="0"/>
              </a:rPr>
              <a:t>MAR</a:t>
            </a:r>
            <a:r>
              <a:rPr lang="zh-CN" altLang="en-US" sz="2000" b="1" dirty="0">
                <a:latin typeface="Times New Roman" panose="02020603050405020304" pitchFamily="18" charset="0"/>
                <a:cs typeface="Times New Roman" panose="02020603050405020304" pitchFamily="18" charset="0"/>
              </a:rPr>
              <a:t>）的位数反映了存储单元的个数，存储器数据寄存器（</a:t>
            </a:r>
            <a:r>
              <a:rPr lang="en-US" altLang="zh-CN" sz="2000" b="1" dirty="0">
                <a:latin typeface="Times New Roman" panose="02020603050405020304" pitchFamily="18" charset="0"/>
                <a:cs typeface="Times New Roman" panose="02020603050405020304" pitchFamily="18" charset="0"/>
              </a:rPr>
              <a:t>MDR</a:t>
            </a:r>
            <a:r>
              <a:rPr lang="zh-CN" altLang="en-US" sz="2000" b="1" dirty="0">
                <a:latin typeface="Times New Roman" panose="02020603050405020304" pitchFamily="18" charset="0"/>
                <a:cs typeface="Times New Roman" panose="02020603050405020304" pitchFamily="18" charset="0"/>
              </a:rPr>
              <a:t>）的位数反映了存储字长。</a:t>
            </a:r>
            <a:endParaRPr lang="en-US" altLang="zh-CN" sz="2000" b="1" dirty="0">
              <a:latin typeface="Times New Roman" panose="02020603050405020304" pitchFamily="18" charset="0"/>
              <a:cs typeface="Times New Roman" panose="02020603050405020304" pitchFamily="18" charset="0"/>
            </a:endParaRPr>
          </a:p>
          <a:p>
            <a:pPr lvl="1">
              <a:lnSpc>
                <a:spcPct val="130000"/>
              </a:lnSpc>
              <a:spcBef>
                <a:spcPct val="0"/>
              </a:spcBef>
            </a:pPr>
            <a:r>
              <a:rPr lang="en-US" altLang="zh-CN" sz="2000" b="1" dirty="0">
                <a:latin typeface="Times New Roman" panose="02020603050405020304" pitchFamily="18" charset="0"/>
                <a:cs typeface="Times New Roman" panose="02020603050405020304" pitchFamily="18" charset="0"/>
              </a:rPr>
              <a:t>MAR</a:t>
            </a:r>
            <a:r>
              <a:rPr lang="zh-CN" altLang="en-US" sz="2000" b="1" dirty="0">
                <a:latin typeface="Times New Roman" panose="02020603050405020304" pitchFamily="18" charset="0"/>
                <a:cs typeface="Times New Roman" panose="02020603050405020304" pitchFamily="18" charset="0"/>
              </a:rPr>
              <a:t>为</a:t>
            </a:r>
            <a:r>
              <a:rPr lang="en-US" altLang="zh-CN" sz="2000" b="1" dirty="0">
                <a:latin typeface="Times New Roman" panose="02020603050405020304" pitchFamily="18" charset="0"/>
                <a:cs typeface="Times New Roman" panose="02020603050405020304" pitchFamily="18" charset="0"/>
              </a:rPr>
              <a:t>16</a:t>
            </a:r>
            <a:r>
              <a:rPr lang="zh-CN" altLang="en-US" sz="2000" b="1" dirty="0">
                <a:latin typeface="Times New Roman" panose="02020603050405020304" pitchFamily="18" charset="0"/>
                <a:cs typeface="Times New Roman" panose="02020603050405020304" pitchFamily="18" charset="0"/>
              </a:rPr>
              <a:t>位，表示此存储体内有</a:t>
            </a:r>
            <a:r>
              <a:rPr lang="en-US" altLang="zh-CN" sz="2000" b="1" dirty="0">
                <a:latin typeface="Times New Roman" panose="02020603050405020304" pitchFamily="18" charset="0"/>
                <a:cs typeface="Times New Roman" panose="02020603050405020304" pitchFamily="18" charset="0"/>
              </a:rPr>
              <a:t>2</a:t>
            </a:r>
            <a:r>
              <a:rPr lang="en-US" altLang="zh-CN" sz="2000" b="1" baseline="30000" dirty="0">
                <a:latin typeface="Times New Roman" panose="02020603050405020304" pitchFamily="18" charset="0"/>
                <a:cs typeface="Times New Roman" panose="02020603050405020304" pitchFamily="18" charset="0"/>
              </a:rPr>
              <a:t>16</a:t>
            </a:r>
            <a:r>
              <a:rPr lang="en-US" altLang="zh-CN" sz="2000" b="1" dirty="0">
                <a:latin typeface="Times New Roman" panose="02020603050405020304" pitchFamily="18" charset="0"/>
                <a:cs typeface="Times New Roman" panose="02020603050405020304" pitchFamily="18" charset="0"/>
              </a:rPr>
              <a:t>=65536</a:t>
            </a:r>
            <a:r>
              <a:rPr lang="zh-CN" altLang="en-US" sz="2000" b="1" dirty="0">
                <a:latin typeface="Times New Roman" panose="02020603050405020304" pitchFamily="18" charset="0"/>
                <a:cs typeface="Times New Roman" panose="02020603050405020304" pitchFamily="18" charset="0"/>
              </a:rPr>
              <a:t>个存储单元（即</a:t>
            </a:r>
            <a:r>
              <a:rPr lang="en-US" altLang="zh-CN" sz="2000" b="1" dirty="0">
                <a:latin typeface="Times New Roman" panose="02020603050405020304" pitchFamily="18" charset="0"/>
                <a:cs typeface="Times New Roman" panose="02020603050405020304" pitchFamily="18" charset="0"/>
              </a:rPr>
              <a:t>2</a:t>
            </a:r>
            <a:r>
              <a:rPr lang="en-US" altLang="zh-CN" sz="2000" b="1" baseline="30000" dirty="0">
                <a:latin typeface="Times New Roman" panose="02020603050405020304" pitchFamily="18" charset="0"/>
                <a:cs typeface="Times New Roman" panose="02020603050405020304" pitchFamily="18" charset="0"/>
              </a:rPr>
              <a:t>6</a:t>
            </a:r>
            <a:r>
              <a:rPr lang="en-US" altLang="zh-CN" sz="2000" b="1" dirty="0">
                <a:latin typeface="Times New Roman" panose="02020603050405020304" pitchFamily="18" charset="0"/>
                <a:cs typeface="Times New Roman" panose="02020603050405020304" pitchFamily="18" charset="0"/>
              </a:rPr>
              <a:t>K</a:t>
            </a:r>
            <a:r>
              <a:rPr lang="zh-CN" altLang="en-US" sz="2000" b="1" dirty="0">
                <a:latin typeface="Times New Roman" panose="02020603050405020304" pitchFamily="18" charset="0"/>
                <a:cs typeface="Times New Roman" panose="02020603050405020304" pitchFamily="18" charset="0"/>
              </a:rPr>
              <a:t>个存储字，</a:t>
            </a:r>
            <a:r>
              <a:rPr lang="en-US" altLang="zh-CN" sz="2000" b="1" dirty="0">
                <a:latin typeface="Times New Roman" panose="02020603050405020304" pitchFamily="18" charset="0"/>
                <a:cs typeface="Times New Roman" panose="02020603050405020304" pitchFamily="18" charset="0"/>
              </a:rPr>
              <a:t>1K=1024=2</a:t>
            </a:r>
            <a:r>
              <a:rPr lang="en-US" altLang="zh-CN" sz="2000" b="1" baseline="30000" dirty="0">
                <a:latin typeface="Times New Roman" panose="02020603050405020304" pitchFamily="18" charset="0"/>
                <a:cs typeface="Times New Roman" panose="02020603050405020304" pitchFamily="18" charset="0"/>
              </a:rPr>
              <a:t>10</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lvl="1">
              <a:lnSpc>
                <a:spcPct val="130000"/>
              </a:lnSpc>
              <a:spcBef>
                <a:spcPct val="0"/>
              </a:spcBef>
            </a:pPr>
            <a:r>
              <a:rPr lang="en-US" altLang="zh-CN" sz="2000" b="1" dirty="0">
                <a:latin typeface="Times New Roman" panose="02020603050405020304" pitchFamily="18" charset="0"/>
                <a:cs typeface="Times New Roman" panose="02020603050405020304" pitchFamily="18" charset="0"/>
              </a:rPr>
              <a:t>MDR</a:t>
            </a:r>
            <a:r>
              <a:rPr lang="zh-CN" altLang="en-US" sz="2000" b="1" dirty="0">
                <a:latin typeface="Times New Roman" panose="02020603050405020304" pitchFamily="18" charset="0"/>
                <a:cs typeface="Times New Roman" panose="02020603050405020304" pitchFamily="18" charset="0"/>
              </a:rPr>
              <a:t>为</a:t>
            </a:r>
            <a:r>
              <a:rPr lang="en-US" altLang="zh-CN" sz="2000" b="1" dirty="0">
                <a:latin typeface="Times New Roman" panose="02020603050405020304" pitchFamily="18" charset="0"/>
                <a:cs typeface="Times New Roman" panose="02020603050405020304" pitchFamily="18" charset="0"/>
              </a:rPr>
              <a:t>32</a:t>
            </a:r>
            <a:r>
              <a:rPr lang="zh-CN" altLang="en-US" sz="2000" b="1" dirty="0">
                <a:latin typeface="Times New Roman" panose="02020603050405020304" pitchFamily="18" charset="0"/>
                <a:cs typeface="Times New Roman" panose="02020603050405020304" pitchFamily="18" charset="0"/>
              </a:rPr>
              <a:t>位，表示主存的存储容量为：</a:t>
            </a:r>
            <a:r>
              <a:rPr lang="en-US" altLang="zh-CN" sz="2000" b="1" dirty="0">
                <a:latin typeface="Times New Roman" panose="02020603050405020304" pitchFamily="18" charset="0"/>
                <a:cs typeface="Times New Roman" panose="02020603050405020304" pitchFamily="18" charset="0"/>
              </a:rPr>
              <a:t>2</a:t>
            </a:r>
            <a:r>
              <a:rPr lang="en-US" altLang="zh-CN" sz="2000" b="1" baseline="30000" dirty="0">
                <a:latin typeface="Times New Roman" panose="02020603050405020304" pitchFamily="18" charset="0"/>
                <a:cs typeface="Times New Roman" panose="02020603050405020304" pitchFamily="18" charset="0"/>
              </a:rPr>
              <a:t>16</a:t>
            </a:r>
            <a:r>
              <a:rPr lang="en-US" altLang="zh-CN" sz="2000" b="1" dirty="0">
                <a:latin typeface="Times New Roman" panose="02020603050405020304" pitchFamily="18" charset="0"/>
                <a:cs typeface="Times New Roman" panose="02020603050405020304" pitchFamily="18" charset="0"/>
              </a:rPr>
              <a:t>×32=2Mb=256KB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1M=2</a:t>
            </a:r>
            <a:r>
              <a:rPr lang="en-US" altLang="zh-CN" sz="2000" b="1" baseline="30000" dirty="0">
                <a:latin typeface="Times New Roman" panose="02020603050405020304" pitchFamily="18" charset="0"/>
                <a:cs typeface="Times New Roman" panose="02020603050405020304" pitchFamily="18" charset="0"/>
              </a:rPr>
              <a:t>20</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nSpc>
                <a:spcPct val="130000"/>
              </a:lnSpc>
              <a:spcBef>
                <a:spcPct val="0"/>
              </a:spcBef>
            </a:pPr>
            <a:r>
              <a:rPr lang="zh-CN" altLang="en-US" sz="2000" b="1" dirty="0">
                <a:latin typeface="Times New Roman" panose="02020603050405020304" pitchFamily="18" charset="0"/>
                <a:cs typeface="Times New Roman" panose="02020603050405020304" pitchFamily="18" charset="0"/>
              </a:rPr>
              <a:t>对于</a:t>
            </a:r>
            <a:r>
              <a:rPr lang="zh-CN" altLang="en-US" sz="2000" b="1" dirty="0">
                <a:solidFill>
                  <a:srgbClr val="FF0000"/>
                </a:solidFill>
                <a:latin typeface="Times New Roman" panose="02020603050405020304" pitchFamily="18" charset="0"/>
                <a:cs typeface="Times New Roman" panose="02020603050405020304" pitchFamily="18" charset="0"/>
              </a:rPr>
              <a:t>硬盘</a:t>
            </a:r>
            <a:r>
              <a:rPr lang="zh-CN" altLang="en-US" sz="2000" b="1" dirty="0">
                <a:latin typeface="Times New Roman" panose="02020603050405020304" pitchFamily="18" charset="0"/>
                <a:cs typeface="Times New Roman" panose="02020603050405020304" pitchFamily="18" charset="0"/>
              </a:rPr>
              <a:t>来说，如果硬盘有</a:t>
            </a:r>
            <a:r>
              <a:rPr lang="en-US" altLang="zh-CN" sz="2000" b="1" dirty="0">
                <a:latin typeface="Times New Roman" panose="02020603050405020304" pitchFamily="18" charset="0"/>
                <a:cs typeface="Times New Roman" panose="02020603050405020304" pitchFamily="18" charset="0"/>
              </a:rPr>
              <a:t>10</a:t>
            </a:r>
            <a:r>
              <a:rPr lang="en-US" altLang="zh-CN" sz="2000" b="1" baseline="30000" dirty="0">
                <a:latin typeface="Times New Roman" panose="02020603050405020304" pitchFamily="18" charset="0"/>
                <a:cs typeface="Times New Roman" panose="02020603050405020304" pitchFamily="18" charset="0"/>
              </a:rPr>
              <a:t>9</a:t>
            </a:r>
            <a:r>
              <a:rPr lang="zh-CN" altLang="en-US" sz="2000" b="1" dirty="0">
                <a:latin typeface="Times New Roman" panose="02020603050405020304" pitchFamily="18" charset="0"/>
                <a:cs typeface="Times New Roman" panose="02020603050405020304" pitchFamily="18" charset="0"/>
              </a:rPr>
              <a:t>个扇区，每个扇区有</a:t>
            </a:r>
            <a:r>
              <a:rPr lang="en-US" altLang="zh-CN" sz="2000" b="1" dirty="0">
                <a:latin typeface="Times New Roman" panose="02020603050405020304" pitchFamily="18" charset="0"/>
                <a:cs typeface="Times New Roman" panose="02020603050405020304" pitchFamily="18" charset="0"/>
              </a:rPr>
              <a:t>512</a:t>
            </a:r>
            <a:r>
              <a:rPr lang="zh-CN" altLang="en-US" sz="2000" b="1" dirty="0">
                <a:latin typeface="Times New Roman" panose="02020603050405020304" pitchFamily="18" charset="0"/>
                <a:cs typeface="Times New Roman" panose="02020603050405020304" pitchFamily="18" charset="0"/>
              </a:rPr>
              <a:t>字节，则：</a:t>
            </a:r>
            <a:endParaRPr lang="en-US" altLang="zh-CN" sz="2000" b="1" dirty="0">
              <a:latin typeface="Times New Roman" panose="02020603050405020304" pitchFamily="18" charset="0"/>
              <a:cs typeface="Times New Roman" panose="02020603050405020304" pitchFamily="18" charset="0"/>
            </a:endParaRPr>
          </a:p>
          <a:p>
            <a:pPr marL="0" indent="0" algn="ctr">
              <a:lnSpc>
                <a:spcPct val="130000"/>
              </a:lnSpc>
              <a:spcBef>
                <a:spcPct val="0"/>
              </a:spcBef>
              <a:buNone/>
            </a:pPr>
            <a:r>
              <a:rPr lang="zh-CN" altLang="en-US" sz="2000" b="1" dirty="0">
                <a:latin typeface="Times New Roman" panose="02020603050405020304" pitchFamily="18" charset="0"/>
                <a:cs typeface="Times New Roman" panose="02020603050405020304" pitchFamily="18" charset="0"/>
              </a:rPr>
              <a:t>存储容量</a:t>
            </a:r>
            <a:r>
              <a:rPr lang="en-US" altLang="zh-CN" sz="2000" b="1" dirty="0">
                <a:latin typeface="Times New Roman" panose="02020603050405020304" pitchFamily="18" charset="0"/>
                <a:cs typeface="Times New Roman" panose="02020603050405020304" pitchFamily="18" charset="0"/>
              </a:rPr>
              <a:t>=10</a:t>
            </a:r>
            <a:r>
              <a:rPr lang="en-US" altLang="zh-CN" sz="2000" b="1" baseline="30000" dirty="0">
                <a:latin typeface="Times New Roman" panose="02020603050405020304" pitchFamily="18" charset="0"/>
                <a:cs typeface="Times New Roman" panose="02020603050405020304" pitchFamily="18" charset="0"/>
              </a:rPr>
              <a:t>9</a:t>
            </a:r>
            <a:r>
              <a:rPr lang="en-US" altLang="zh-CN" sz="2000" b="1" dirty="0">
                <a:latin typeface="Times New Roman" panose="02020603050405020304" pitchFamily="18" charset="0"/>
                <a:cs typeface="Times New Roman" panose="02020603050405020304" pitchFamily="18" charset="0"/>
              </a:rPr>
              <a:t>×512B=512 GB</a:t>
            </a:r>
          </a:p>
          <a:p>
            <a:pPr>
              <a:lnSpc>
                <a:spcPct val="130000"/>
              </a:lnSpc>
              <a:spcBef>
                <a:spcPct val="0"/>
              </a:spcBef>
            </a:pPr>
            <a:r>
              <a:rPr lang="zh-CN" altLang="en-US" sz="2000" b="1" dirty="0">
                <a:latin typeface="Times New Roman" panose="02020603050405020304" pitchFamily="18" charset="0"/>
                <a:cs typeface="Times New Roman" panose="02020603050405020304" pitchFamily="18" charset="0"/>
              </a:rPr>
              <a:t>实际容量与标称容量存在差异，原因是计算方式不同（实际容量</a:t>
            </a:r>
            <a:r>
              <a:rPr lang="en-US" altLang="zh-CN" sz="2000" b="1" dirty="0">
                <a:latin typeface="Times New Roman" panose="02020603050405020304" pitchFamily="18" charset="0"/>
                <a:cs typeface="Times New Roman" panose="02020603050405020304" pitchFamily="18" charset="0"/>
              </a:rPr>
              <a:t>1GB = 2</a:t>
            </a:r>
            <a:r>
              <a:rPr lang="en-US" altLang="zh-CN" sz="2000" b="1" baseline="30000" dirty="0">
                <a:latin typeface="Times New Roman" panose="02020603050405020304" pitchFamily="18" charset="0"/>
                <a:cs typeface="Times New Roman" panose="02020603050405020304" pitchFamily="18" charset="0"/>
              </a:rPr>
              <a:t>30</a:t>
            </a:r>
            <a:r>
              <a:rPr lang="en-US" altLang="zh-CN" sz="2000" b="1" dirty="0">
                <a:latin typeface="Times New Roman" panose="02020603050405020304" pitchFamily="18" charset="0"/>
                <a:cs typeface="Times New Roman" panose="02020603050405020304" pitchFamily="18" charset="0"/>
              </a:rPr>
              <a:t> = 1,073,741,824 </a:t>
            </a:r>
            <a:r>
              <a:rPr lang="zh-CN" altLang="en-US" sz="2000" b="1" dirty="0">
                <a:latin typeface="Times New Roman" panose="02020603050405020304" pitchFamily="18" charset="0"/>
                <a:cs typeface="Times New Roman" panose="02020603050405020304" pitchFamily="18" charset="0"/>
              </a:rPr>
              <a:t>字节 </a:t>
            </a:r>
            <a:r>
              <a:rPr lang="en-US" altLang="zh-CN" sz="2000" b="1" dirty="0">
                <a:latin typeface="Times New Roman" panose="02020603050405020304" pitchFamily="18" charset="0"/>
                <a:cs typeface="Times New Roman" panose="02020603050405020304" pitchFamily="18" charset="0"/>
              </a:rPr>
              <a:t>vs </a:t>
            </a:r>
            <a:r>
              <a:rPr lang="zh-CN" altLang="en-US" sz="2000" b="1" dirty="0">
                <a:latin typeface="Times New Roman" panose="02020603050405020304" pitchFamily="18" charset="0"/>
                <a:cs typeface="Times New Roman" panose="02020603050405020304" pitchFamily="18" charset="0"/>
              </a:rPr>
              <a:t>标称容量</a:t>
            </a:r>
            <a:r>
              <a:rPr lang="en-US" altLang="zh-CN" sz="2000" b="1" dirty="0">
                <a:latin typeface="Times New Roman" panose="02020603050405020304" pitchFamily="18" charset="0"/>
                <a:cs typeface="Times New Roman" panose="02020603050405020304" pitchFamily="18" charset="0"/>
              </a:rPr>
              <a:t>1GB = 10</a:t>
            </a:r>
            <a:r>
              <a:rPr lang="en-US" altLang="zh-CN" sz="2000" b="1" baseline="30000" dirty="0">
                <a:latin typeface="Times New Roman" panose="02020603050405020304" pitchFamily="18" charset="0"/>
                <a:cs typeface="Times New Roman" panose="02020603050405020304" pitchFamily="18" charset="0"/>
              </a:rPr>
              <a:t>9</a:t>
            </a:r>
            <a:r>
              <a:rPr lang="zh-CN" altLang="en-US" sz="2000" b="1" dirty="0">
                <a:latin typeface="Times New Roman" panose="02020603050405020304" pitchFamily="18" charset="0"/>
                <a:cs typeface="Times New Roman" panose="02020603050405020304" pitchFamily="18" charset="0"/>
              </a:rPr>
              <a:t>字节）。</a:t>
            </a:r>
            <a:endParaRPr lang="en-US" altLang="zh-CN" sz="2000" b="1" dirty="0">
              <a:latin typeface="Times New Roman" panose="02020603050405020304" pitchFamily="18" charset="0"/>
              <a:cs typeface="Times New Roman" panose="02020603050405020304" pitchFamily="18" charset="0"/>
            </a:endParaRPr>
          </a:p>
          <a:p>
            <a:pPr>
              <a:lnSpc>
                <a:spcPct val="130000"/>
              </a:lnSpc>
              <a:spcBef>
                <a:spcPct val="0"/>
              </a:spcBef>
            </a:pPr>
            <a:r>
              <a:rPr lang="zh-CN" altLang="en-US" sz="2000" b="1" dirty="0">
                <a:latin typeface="Times New Roman" panose="02020603050405020304" pitchFamily="18" charset="0"/>
                <a:cs typeface="Times New Roman" panose="02020603050405020304" pitchFamily="18" charset="0"/>
              </a:rPr>
              <a:t>标称容量为 </a:t>
            </a:r>
            <a:r>
              <a:rPr lang="en-US" altLang="zh-CN" sz="2000" b="1" dirty="0">
                <a:latin typeface="Times New Roman" panose="02020603050405020304" pitchFamily="18" charset="0"/>
                <a:cs typeface="Times New Roman" panose="02020603050405020304" pitchFamily="18" charset="0"/>
              </a:rPr>
              <a:t>1TB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10</a:t>
            </a:r>
            <a:r>
              <a:rPr lang="en-US" altLang="zh-CN" sz="2000" b="1" baseline="30000" dirty="0">
                <a:latin typeface="Times New Roman" panose="02020603050405020304" pitchFamily="18" charset="0"/>
                <a:cs typeface="Times New Roman" panose="02020603050405020304" pitchFamily="18" charset="0"/>
              </a:rPr>
              <a:t>12</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字节）的硬盘，实际容量为</a:t>
            </a:r>
            <a:endParaRPr lang="en-US" altLang="zh-CN" sz="2000" b="1" dirty="0">
              <a:latin typeface="Times New Roman" panose="02020603050405020304" pitchFamily="18" charset="0"/>
              <a:cs typeface="Times New Roman" panose="02020603050405020304" pitchFamily="18" charset="0"/>
            </a:endParaRPr>
          </a:p>
          <a:p>
            <a:pPr marL="0" indent="0" algn="ctr">
              <a:lnSpc>
                <a:spcPct val="130000"/>
              </a:lnSpc>
              <a:spcBef>
                <a:spcPct val="0"/>
              </a:spcBef>
              <a:buNone/>
            </a:pPr>
            <a:r>
              <a:rPr lang="en-US" altLang="zh-CN" sz="2000" b="1" dirty="0">
                <a:latin typeface="Times New Roman" panose="02020603050405020304" pitchFamily="18" charset="0"/>
                <a:cs typeface="Times New Roman" panose="02020603050405020304" pitchFamily="18" charset="0"/>
              </a:rPr>
              <a:t>10</a:t>
            </a:r>
            <a:r>
              <a:rPr lang="en-US" altLang="zh-CN" sz="2000" b="1" baseline="30000" dirty="0">
                <a:latin typeface="Times New Roman" panose="02020603050405020304" pitchFamily="18" charset="0"/>
                <a:cs typeface="Times New Roman" panose="02020603050405020304" pitchFamily="18" charset="0"/>
              </a:rPr>
              <a:t>12</a:t>
            </a:r>
            <a:r>
              <a:rPr lang="en-US" altLang="zh-CN" sz="2000" b="1" dirty="0">
                <a:latin typeface="Times New Roman" panose="02020603050405020304" pitchFamily="18" charset="0"/>
                <a:cs typeface="Times New Roman" panose="02020603050405020304" pitchFamily="18" charset="0"/>
              </a:rPr>
              <a:t>/2</a:t>
            </a:r>
            <a:r>
              <a:rPr lang="en-US" altLang="zh-CN" sz="2000" b="1" baseline="30000" dirty="0">
                <a:latin typeface="Times New Roman" panose="02020603050405020304" pitchFamily="18" charset="0"/>
                <a:cs typeface="Times New Roman" panose="02020603050405020304" pitchFamily="18" charset="0"/>
              </a:rPr>
              <a:t>40 </a:t>
            </a: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0.9095 TB</a:t>
            </a:r>
          </a:p>
        </p:txBody>
      </p:sp>
      <p:sp>
        <p:nvSpPr>
          <p:cNvPr id="4" name="灯片编号占位符 3">
            <a:extLst>
              <a:ext uri="{FF2B5EF4-FFF2-40B4-BE49-F238E27FC236}">
                <a16:creationId xmlns:a16="http://schemas.microsoft.com/office/drawing/2014/main" id="{624B1707-4F85-42FE-A8F6-E623830F67A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DD33602A-8754-0EBA-AC91-7C22B160D68A}"/>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Tree>
    <p:extLst>
      <p:ext uri="{BB962C8B-B14F-4D97-AF65-F5344CB8AC3E}">
        <p14:creationId xmlns:p14="http://schemas.microsoft.com/office/powerpoint/2010/main" val="260326806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6018">
                                            <p:txEl>
                                              <p:pRg st="1" end="1"/>
                                            </p:txEl>
                                          </p:spTgt>
                                        </p:tgtEl>
                                        <p:attrNameLst>
                                          <p:attrName>style.visibility</p:attrName>
                                        </p:attrNameLst>
                                      </p:cBhvr>
                                      <p:to>
                                        <p:strVal val="visible"/>
                                      </p:to>
                                    </p:set>
                                    <p:animEffect transition="in" filter="randombar(horizontal)">
                                      <p:cBhvr>
                                        <p:cTn id="7" dur="500"/>
                                        <p:tgtEl>
                                          <p:spTgt spid="8601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6018">
                                            <p:txEl>
                                              <p:pRg st="2" end="2"/>
                                            </p:txEl>
                                          </p:spTgt>
                                        </p:tgtEl>
                                        <p:attrNameLst>
                                          <p:attrName>style.visibility</p:attrName>
                                        </p:attrNameLst>
                                      </p:cBhvr>
                                      <p:to>
                                        <p:strVal val="visible"/>
                                      </p:to>
                                    </p:set>
                                    <p:animEffect transition="in" filter="randombar(horizontal)">
                                      <p:cBhvr>
                                        <p:cTn id="12" dur="500"/>
                                        <p:tgtEl>
                                          <p:spTgt spid="860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6018">
                                            <p:txEl>
                                              <p:pRg st="3" end="3"/>
                                            </p:txEl>
                                          </p:spTgt>
                                        </p:tgtEl>
                                        <p:attrNameLst>
                                          <p:attrName>style.visibility</p:attrName>
                                        </p:attrNameLst>
                                      </p:cBhvr>
                                      <p:to>
                                        <p:strVal val="visible"/>
                                      </p:to>
                                    </p:set>
                                    <p:animEffect transition="in" filter="randombar(horizontal)">
                                      <p:cBhvr>
                                        <p:cTn id="17" dur="500"/>
                                        <p:tgtEl>
                                          <p:spTgt spid="86018">
                                            <p:txEl>
                                              <p:pRg st="3" end="3"/>
                                            </p:txEl>
                                          </p:spTgt>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86018">
                                            <p:txEl>
                                              <p:pRg st="4" end="4"/>
                                            </p:txEl>
                                          </p:spTgt>
                                        </p:tgtEl>
                                        <p:attrNameLst>
                                          <p:attrName>style.visibility</p:attrName>
                                        </p:attrNameLst>
                                      </p:cBhvr>
                                      <p:to>
                                        <p:strVal val="visible"/>
                                      </p:to>
                                    </p:set>
                                    <p:animEffect transition="in" filter="randombar(horizontal)">
                                      <p:cBhvr>
                                        <p:cTn id="20" dur="500"/>
                                        <p:tgtEl>
                                          <p:spTgt spid="86018">
                                            <p:txEl>
                                              <p:pRg st="4" end="4"/>
                                            </p:txEl>
                                          </p:spTgt>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86018">
                                            <p:txEl>
                                              <p:pRg st="5" end="5"/>
                                            </p:txEl>
                                          </p:spTgt>
                                        </p:tgtEl>
                                        <p:attrNameLst>
                                          <p:attrName>style.visibility</p:attrName>
                                        </p:attrNameLst>
                                      </p:cBhvr>
                                      <p:to>
                                        <p:strVal val="visible"/>
                                      </p:to>
                                    </p:set>
                                    <p:animEffect transition="in" filter="randombar(horizontal)">
                                      <p:cBhvr>
                                        <p:cTn id="23" dur="500"/>
                                        <p:tgtEl>
                                          <p:spTgt spid="86018">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86018">
                                            <p:txEl>
                                              <p:pRg st="6" end="6"/>
                                            </p:txEl>
                                          </p:spTgt>
                                        </p:tgtEl>
                                        <p:attrNameLst>
                                          <p:attrName>style.visibility</p:attrName>
                                        </p:attrNameLst>
                                      </p:cBhvr>
                                      <p:to>
                                        <p:strVal val="visible"/>
                                      </p:to>
                                    </p:set>
                                    <p:animEffect transition="in" filter="randombar(horizontal)">
                                      <p:cBhvr>
                                        <p:cTn id="28" dur="500"/>
                                        <p:tgtEl>
                                          <p:spTgt spid="86018">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86018">
                                            <p:txEl>
                                              <p:pRg st="7" end="7"/>
                                            </p:txEl>
                                          </p:spTgt>
                                        </p:tgtEl>
                                        <p:attrNameLst>
                                          <p:attrName>style.visibility</p:attrName>
                                        </p:attrNameLst>
                                      </p:cBhvr>
                                      <p:to>
                                        <p:strVal val="visible"/>
                                      </p:to>
                                    </p:set>
                                    <p:animEffect transition="in" filter="randombar(horizontal)">
                                      <p:cBhvr>
                                        <p:cTn id="33" dur="500"/>
                                        <p:tgtEl>
                                          <p:spTgt spid="86018">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86018">
                                            <p:txEl>
                                              <p:pRg st="8" end="8"/>
                                            </p:txEl>
                                          </p:spTgt>
                                        </p:tgtEl>
                                        <p:attrNameLst>
                                          <p:attrName>style.visibility</p:attrName>
                                        </p:attrNameLst>
                                      </p:cBhvr>
                                      <p:to>
                                        <p:strVal val="visible"/>
                                      </p:to>
                                    </p:set>
                                    <p:animEffect transition="in" filter="randombar(horizontal)">
                                      <p:cBhvr>
                                        <p:cTn id="38" dur="500"/>
                                        <p:tgtEl>
                                          <p:spTgt spid="86018">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86018">
                                            <p:txEl>
                                              <p:pRg st="9" end="9"/>
                                            </p:txEl>
                                          </p:spTgt>
                                        </p:tgtEl>
                                        <p:attrNameLst>
                                          <p:attrName>style.visibility</p:attrName>
                                        </p:attrNameLst>
                                      </p:cBhvr>
                                      <p:to>
                                        <p:strVal val="visible"/>
                                      </p:to>
                                    </p:set>
                                    <p:animEffect transition="in" filter="randombar(horizontal)">
                                      <p:cBhvr>
                                        <p:cTn id="43" dur="500"/>
                                        <p:tgtEl>
                                          <p:spTgt spid="86018">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86018">
                                            <p:txEl>
                                              <p:pRg st="10" end="10"/>
                                            </p:txEl>
                                          </p:spTgt>
                                        </p:tgtEl>
                                        <p:attrNameLst>
                                          <p:attrName>style.visibility</p:attrName>
                                        </p:attrNameLst>
                                      </p:cBhvr>
                                      <p:to>
                                        <p:strVal val="visible"/>
                                      </p:to>
                                    </p:set>
                                    <p:animEffect transition="in" filter="randombar(horizontal)">
                                      <p:cBhvr>
                                        <p:cTn id="48" dur="500"/>
                                        <p:tgtEl>
                                          <p:spTgt spid="8601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90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6018" name="Rectangle 3"/>
          <p:cNvSpPr>
            <a:spLocks noGrp="1" noChangeArrowheads="1"/>
          </p:cNvSpPr>
          <p:nvPr>
            <p:ph idx="1"/>
          </p:nvPr>
        </p:nvSpPr>
        <p:spPr>
          <a:xfrm>
            <a:off x="107504" y="980727"/>
            <a:ext cx="8579296" cy="4907097"/>
          </a:xfrm>
        </p:spPr>
        <p:txBody>
          <a:bodyPr/>
          <a:lstStyle/>
          <a:p>
            <a:pPr>
              <a:lnSpc>
                <a:spcPct val="150000"/>
              </a:lnSpc>
              <a:spcBef>
                <a:spcPct val="0"/>
              </a:spcBef>
            </a:pPr>
            <a:r>
              <a:rPr lang="zh-CN" altLang="en-US" sz="2400" b="1" dirty="0">
                <a:latin typeface="Times New Roman" panose="02020603050405020304" pitchFamily="18" charset="0"/>
                <a:cs typeface="Times New Roman" panose="02020603050405020304" pitchFamily="18" charset="0"/>
              </a:rPr>
              <a:t>主存容量常用单位的定义：</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800" b="1" dirty="0">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800" b="1" dirty="0">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800" b="1" dirty="0">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800" b="1" dirty="0">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latin typeface="Times New Roman" panose="02020603050405020304" pitchFamily="18" charset="0"/>
                <a:cs typeface="Times New Roman" panose="02020603050405020304" pitchFamily="18" charset="0"/>
              </a:rPr>
              <a:t>增加主存容量能减少程序运行期间访问辅存的次数，有利于提高程序的执行速度，也有利于计算机性能的提高。</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800" b="1" dirty="0">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624B1707-4F85-42FE-A8F6-E623830F67A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13A225F6-3CDE-A1E4-087B-9A157DC75687}"/>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graphicFrame>
        <p:nvGraphicFramePr>
          <p:cNvPr id="3" name="表格 4">
            <a:extLst>
              <a:ext uri="{FF2B5EF4-FFF2-40B4-BE49-F238E27FC236}">
                <a16:creationId xmlns:a16="http://schemas.microsoft.com/office/drawing/2014/main" id="{1D5CAD05-0496-46A7-A546-4CF6308E896C}"/>
              </a:ext>
            </a:extLst>
          </p:cNvPr>
          <p:cNvGraphicFramePr>
            <a:graphicFrameLocks noGrp="1"/>
          </p:cNvGraphicFramePr>
          <p:nvPr>
            <p:extLst>
              <p:ext uri="{D42A27DB-BD31-4B8C-83A1-F6EECF244321}">
                <p14:modId xmlns:p14="http://schemas.microsoft.com/office/powerpoint/2010/main" val="1328642453"/>
              </p:ext>
            </p:extLst>
          </p:nvPr>
        </p:nvGraphicFramePr>
        <p:xfrm>
          <a:off x="457200" y="1668946"/>
          <a:ext cx="8075241" cy="2377440"/>
        </p:xfrm>
        <a:graphic>
          <a:graphicData uri="http://schemas.openxmlformats.org/drawingml/2006/table">
            <a:tbl>
              <a:tblPr firstRow="1" bandRow="1"/>
              <a:tblGrid>
                <a:gridCol w="2691747">
                  <a:extLst>
                    <a:ext uri="{9D8B030D-6E8A-4147-A177-3AD203B41FA5}">
                      <a16:colId xmlns:a16="http://schemas.microsoft.com/office/drawing/2014/main" val="3208399132"/>
                    </a:ext>
                  </a:extLst>
                </a:gridCol>
                <a:gridCol w="2691747">
                  <a:extLst>
                    <a:ext uri="{9D8B030D-6E8A-4147-A177-3AD203B41FA5}">
                      <a16:colId xmlns:a16="http://schemas.microsoft.com/office/drawing/2014/main" val="1967775110"/>
                    </a:ext>
                  </a:extLst>
                </a:gridCol>
                <a:gridCol w="2691747">
                  <a:extLst>
                    <a:ext uri="{9D8B030D-6E8A-4147-A177-3AD203B41FA5}">
                      <a16:colId xmlns:a16="http://schemas.microsoft.com/office/drawing/2014/main" val="4130605526"/>
                    </a:ext>
                  </a:extLst>
                </a:gridCol>
              </a:tblGrid>
              <a:tr h="0">
                <a:tc>
                  <a:txBody>
                    <a:bodyPr/>
                    <a:lstStyle/>
                    <a:p>
                      <a:pPr algn="ctr"/>
                      <a:r>
                        <a:rPr lang="zh-CN" altLang="en-US" sz="2000" b="1" dirty="0">
                          <a:latin typeface="Times New Roman" panose="02020603050405020304" pitchFamily="18" charset="0"/>
                          <a:cs typeface="Times New Roman" panose="02020603050405020304" pitchFamily="18" charset="0"/>
                        </a:rPr>
                        <a:t>单位</a:t>
                      </a:r>
                    </a:p>
                  </a:txBody>
                  <a:tcPr/>
                </a:tc>
                <a:tc>
                  <a:txBody>
                    <a:bodyPr/>
                    <a:lstStyle/>
                    <a:p>
                      <a:pPr algn="ctr"/>
                      <a:r>
                        <a:rPr lang="zh-CN" altLang="en-US" sz="2000" b="1" dirty="0">
                          <a:latin typeface="Times New Roman" panose="02020603050405020304" pitchFamily="18" charset="0"/>
                          <a:cs typeface="Times New Roman" panose="02020603050405020304" pitchFamily="18" charset="0"/>
                        </a:rPr>
                        <a:t>存储容量</a:t>
                      </a:r>
                    </a:p>
                  </a:txBody>
                  <a:tcPr/>
                </a:tc>
                <a:tc>
                  <a:txBody>
                    <a:bodyPr/>
                    <a:lstStyle/>
                    <a:p>
                      <a:pPr algn="ctr"/>
                      <a:r>
                        <a:rPr lang="zh-CN" altLang="en-US" sz="2000" b="1" dirty="0">
                          <a:latin typeface="Times New Roman" panose="02020603050405020304" pitchFamily="18" charset="0"/>
                          <a:cs typeface="Times New Roman" panose="02020603050405020304" pitchFamily="18" charset="0"/>
                        </a:rPr>
                        <a:t>最少地址线</a:t>
                      </a:r>
                    </a:p>
                  </a:txBody>
                  <a:tcPr/>
                </a:tc>
                <a:extLst>
                  <a:ext uri="{0D108BD9-81ED-4DB2-BD59-A6C34878D82A}">
                    <a16:rowId xmlns:a16="http://schemas.microsoft.com/office/drawing/2014/main" val="1491244954"/>
                  </a:ext>
                </a:extLst>
              </a:tr>
              <a:tr h="394843">
                <a:tc>
                  <a:txBody>
                    <a:bodyPr/>
                    <a:lstStyle/>
                    <a:p>
                      <a:pPr algn="ctr"/>
                      <a:r>
                        <a:rPr lang="en-US" altLang="zh-CN" sz="2000" b="1" dirty="0">
                          <a:latin typeface="Times New Roman" panose="02020603050405020304" pitchFamily="18" charset="0"/>
                          <a:cs typeface="Times New Roman" panose="02020603050405020304" pitchFamily="18" charset="0"/>
                        </a:rPr>
                        <a:t>KB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Kilobyte</a:t>
                      </a:r>
                      <a:r>
                        <a:rPr lang="zh-CN" altLang="en-US" sz="2000" b="1" dirty="0">
                          <a:latin typeface="Times New Roman" panose="02020603050405020304" pitchFamily="18" charset="0"/>
                          <a:cs typeface="Times New Roman" panose="02020603050405020304" pitchFamily="18" charset="0"/>
                        </a:rPr>
                        <a:t>）</a:t>
                      </a: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1024B </a:t>
                      </a:r>
                      <a:endParaRPr lang="zh-CN" altLang="en-US" sz="20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10</a:t>
                      </a:r>
                      <a:r>
                        <a:rPr lang="zh-CN" altLang="en-US" sz="2000" b="1" dirty="0">
                          <a:latin typeface="Times New Roman" panose="02020603050405020304" pitchFamily="18" charset="0"/>
                          <a:cs typeface="Times New Roman" panose="02020603050405020304" pitchFamily="18" charset="0"/>
                        </a:rPr>
                        <a:t>根</a:t>
                      </a:r>
                    </a:p>
                  </a:txBody>
                  <a:tcPr/>
                </a:tc>
                <a:extLst>
                  <a:ext uri="{0D108BD9-81ED-4DB2-BD59-A6C34878D82A}">
                    <a16:rowId xmlns:a16="http://schemas.microsoft.com/office/drawing/2014/main" val="2649255282"/>
                  </a:ext>
                </a:extLst>
              </a:tr>
              <a:tr h="394843">
                <a:tc>
                  <a:txBody>
                    <a:bodyPr/>
                    <a:lstStyle/>
                    <a:p>
                      <a:pPr algn="ctr"/>
                      <a:r>
                        <a:rPr lang="en-US" altLang="zh-CN" sz="2000" b="1" dirty="0">
                          <a:latin typeface="Times New Roman" panose="02020603050405020304" pitchFamily="18" charset="0"/>
                          <a:cs typeface="Times New Roman" panose="02020603050405020304" pitchFamily="18" charset="0"/>
                        </a:rPr>
                        <a:t>MB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Megabyte</a:t>
                      </a:r>
                      <a:r>
                        <a:rPr lang="zh-CN" altLang="en-US" sz="2000" b="1" dirty="0">
                          <a:latin typeface="Times New Roman" panose="02020603050405020304" pitchFamily="18" charset="0"/>
                          <a:cs typeface="Times New Roman" panose="02020603050405020304" pitchFamily="18" charset="0"/>
                        </a:rPr>
                        <a:t>）</a:t>
                      </a: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1024KB </a:t>
                      </a:r>
                      <a:endParaRPr lang="zh-CN" altLang="en-US" sz="20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20</a:t>
                      </a:r>
                      <a:r>
                        <a:rPr lang="zh-CN" altLang="en-US" sz="2000" b="1" dirty="0">
                          <a:latin typeface="Times New Roman" panose="02020603050405020304" pitchFamily="18" charset="0"/>
                          <a:cs typeface="Times New Roman" panose="02020603050405020304" pitchFamily="18" charset="0"/>
                        </a:rPr>
                        <a:t>根</a:t>
                      </a:r>
                    </a:p>
                  </a:txBody>
                  <a:tcPr/>
                </a:tc>
                <a:extLst>
                  <a:ext uri="{0D108BD9-81ED-4DB2-BD59-A6C34878D82A}">
                    <a16:rowId xmlns:a16="http://schemas.microsoft.com/office/drawing/2014/main" val="2836567170"/>
                  </a:ext>
                </a:extLst>
              </a:tr>
              <a:tr h="394843">
                <a:tc>
                  <a:txBody>
                    <a:bodyPr/>
                    <a:lstStyle/>
                    <a:p>
                      <a:pPr algn="ctr"/>
                      <a:r>
                        <a:rPr lang="en-US" altLang="zh-CN" sz="2000" b="1" dirty="0">
                          <a:latin typeface="Times New Roman" panose="02020603050405020304" pitchFamily="18" charset="0"/>
                          <a:cs typeface="Times New Roman" panose="02020603050405020304" pitchFamily="18" charset="0"/>
                        </a:rPr>
                        <a:t>GB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Gigabyte</a:t>
                      </a:r>
                      <a:r>
                        <a:rPr lang="zh-CN" altLang="en-US" sz="2000" b="1" dirty="0">
                          <a:latin typeface="Times New Roman" panose="02020603050405020304" pitchFamily="18" charset="0"/>
                          <a:cs typeface="Times New Roman" panose="02020603050405020304" pitchFamily="18" charset="0"/>
                        </a:rPr>
                        <a:t>）</a:t>
                      </a: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1024MB </a:t>
                      </a:r>
                      <a:endParaRPr lang="zh-CN" altLang="en-US" sz="20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30</a:t>
                      </a:r>
                      <a:r>
                        <a:rPr lang="zh-CN" altLang="en-US" sz="2000" b="1" dirty="0">
                          <a:latin typeface="Times New Roman" panose="02020603050405020304" pitchFamily="18" charset="0"/>
                          <a:cs typeface="Times New Roman" panose="02020603050405020304" pitchFamily="18" charset="0"/>
                        </a:rPr>
                        <a:t>根</a:t>
                      </a:r>
                    </a:p>
                  </a:txBody>
                  <a:tcPr/>
                </a:tc>
                <a:extLst>
                  <a:ext uri="{0D108BD9-81ED-4DB2-BD59-A6C34878D82A}">
                    <a16:rowId xmlns:a16="http://schemas.microsoft.com/office/drawing/2014/main" val="568466929"/>
                  </a:ext>
                </a:extLst>
              </a:tr>
              <a:tr h="394843">
                <a:tc>
                  <a:txBody>
                    <a:bodyPr/>
                    <a:lstStyle/>
                    <a:p>
                      <a:pPr algn="ctr"/>
                      <a:r>
                        <a:rPr lang="en-US" altLang="zh-CN" sz="2000" b="1" dirty="0">
                          <a:latin typeface="Times New Roman" panose="02020603050405020304" pitchFamily="18" charset="0"/>
                          <a:cs typeface="Times New Roman" panose="02020603050405020304" pitchFamily="18" charset="0"/>
                        </a:rPr>
                        <a:t>TB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Terabyte</a:t>
                      </a:r>
                      <a:r>
                        <a:rPr lang="zh-CN" altLang="en-US" sz="2000" b="1" dirty="0">
                          <a:latin typeface="Times New Roman" panose="02020603050405020304" pitchFamily="18" charset="0"/>
                          <a:cs typeface="Times New Roman" panose="02020603050405020304" pitchFamily="18" charset="0"/>
                        </a:rPr>
                        <a:t>）</a:t>
                      </a: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1024GB </a:t>
                      </a:r>
                      <a:endParaRPr lang="zh-CN" altLang="en-US" sz="20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40</a:t>
                      </a:r>
                      <a:r>
                        <a:rPr lang="zh-CN" altLang="en-US" sz="2000" b="1" dirty="0">
                          <a:latin typeface="Times New Roman" panose="02020603050405020304" pitchFamily="18" charset="0"/>
                          <a:cs typeface="Times New Roman" panose="02020603050405020304" pitchFamily="18" charset="0"/>
                        </a:rPr>
                        <a:t>根</a:t>
                      </a:r>
                    </a:p>
                  </a:txBody>
                  <a:tcPr/>
                </a:tc>
                <a:extLst>
                  <a:ext uri="{0D108BD9-81ED-4DB2-BD59-A6C34878D82A}">
                    <a16:rowId xmlns:a16="http://schemas.microsoft.com/office/drawing/2014/main" val="3636715684"/>
                  </a:ext>
                </a:extLst>
              </a:tr>
              <a:tr h="394843">
                <a:tc>
                  <a:txBody>
                    <a:bodyPr/>
                    <a:lstStyle/>
                    <a:p>
                      <a:pPr algn="ctr"/>
                      <a:r>
                        <a:rPr lang="en-US" altLang="zh-CN" sz="2000" b="1" dirty="0">
                          <a:latin typeface="Times New Roman" panose="02020603050405020304" pitchFamily="18" charset="0"/>
                          <a:cs typeface="Times New Roman" panose="02020603050405020304" pitchFamily="18" charset="0"/>
                        </a:rPr>
                        <a:t>PB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Petabyte</a:t>
                      </a:r>
                      <a:r>
                        <a:rPr lang="zh-CN" altLang="en-US" sz="2000" b="1" dirty="0">
                          <a:latin typeface="Times New Roman" panose="02020603050405020304" pitchFamily="18" charset="0"/>
                          <a:cs typeface="Times New Roman" panose="02020603050405020304" pitchFamily="18" charset="0"/>
                        </a:rPr>
                        <a:t>）</a:t>
                      </a: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1024TB </a:t>
                      </a:r>
                      <a:endParaRPr lang="zh-CN" altLang="en-US" sz="20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b="1" dirty="0">
                          <a:latin typeface="Times New Roman" panose="02020603050405020304" pitchFamily="18" charset="0"/>
                          <a:cs typeface="Times New Roman" panose="02020603050405020304" pitchFamily="18" charset="0"/>
                        </a:rPr>
                        <a:t>50</a:t>
                      </a:r>
                      <a:r>
                        <a:rPr lang="zh-CN" altLang="en-US" sz="2000" b="1" dirty="0">
                          <a:latin typeface="Times New Roman" panose="02020603050405020304" pitchFamily="18" charset="0"/>
                          <a:cs typeface="Times New Roman" panose="02020603050405020304" pitchFamily="18" charset="0"/>
                        </a:rPr>
                        <a:t>根</a:t>
                      </a:r>
                    </a:p>
                  </a:txBody>
                  <a:tcPr/>
                </a:tc>
                <a:extLst>
                  <a:ext uri="{0D108BD9-81ED-4DB2-BD59-A6C34878D82A}">
                    <a16:rowId xmlns:a16="http://schemas.microsoft.com/office/drawing/2014/main" val="3256644355"/>
                  </a:ext>
                </a:extLst>
              </a:tr>
            </a:tbl>
          </a:graphicData>
        </a:graphic>
      </p:graphicFrame>
    </p:spTree>
    <p:extLst>
      <p:ext uri="{BB962C8B-B14F-4D97-AF65-F5344CB8AC3E}">
        <p14:creationId xmlns:p14="http://schemas.microsoft.com/office/powerpoint/2010/main" val="34553443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6018">
                                            <p:txEl>
                                              <p:pRg st="0" end="0"/>
                                            </p:txEl>
                                          </p:spTgt>
                                        </p:tgtEl>
                                        <p:attrNameLst>
                                          <p:attrName>style.visibility</p:attrName>
                                        </p:attrNameLst>
                                      </p:cBhvr>
                                      <p:to>
                                        <p:strVal val="visible"/>
                                      </p:to>
                                    </p:set>
                                    <p:animEffect transition="in" filter="randombar(horizontal)">
                                      <p:cBhvr>
                                        <p:cTn id="7" dur="500"/>
                                        <p:tgtEl>
                                          <p:spTgt spid="860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6018">
                                            <p:txEl>
                                              <p:pRg st="5" end="5"/>
                                            </p:txEl>
                                          </p:spTgt>
                                        </p:tgtEl>
                                        <p:attrNameLst>
                                          <p:attrName>style.visibility</p:attrName>
                                        </p:attrNameLst>
                                      </p:cBhvr>
                                      <p:to>
                                        <p:strVal val="visible"/>
                                      </p:to>
                                    </p:set>
                                    <p:animEffect transition="in" filter="randombar(horizontal)">
                                      <p:cBhvr>
                                        <p:cTn id="12" dur="500"/>
                                        <p:tgtEl>
                                          <p:spTgt spid="860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366F73E0-82A8-9F7C-4A69-106ABC33E674}"/>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86018" name="Rectangle 3"/>
          <p:cNvSpPr>
            <a:spLocks noGrp="1" noChangeArrowheads="1"/>
          </p:cNvSpPr>
          <p:nvPr>
            <p:ph idx="1"/>
          </p:nvPr>
        </p:nvSpPr>
        <p:spPr>
          <a:xfrm>
            <a:off x="107504" y="908720"/>
            <a:ext cx="8492148" cy="5091260"/>
          </a:xfrm>
        </p:spPr>
        <p:txBody>
          <a:bodyPr/>
          <a:lstStyle/>
          <a:p>
            <a:pPr marL="0" indent="0" eaLnBrk="1" hangingPunct="1">
              <a:lnSpc>
                <a:spcPct val="150000"/>
              </a:lnSpc>
              <a:spcBef>
                <a:spcPct val="0"/>
              </a:spcBef>
              <a:buNone/>
            </a:pPr>
            <a:r>
              <a:rPr lang="en-US" altLang="zh-CN" sz="2800" b="1" dirty="0">
                <a:solidFill>
                  <a:srgbClr val="FF0000"/>
                </a:solidFill>
                <a:latin typeface="Times New Roman" panose="02020603050405020304" pitchFamily="18" charset="0"/>
                <a:cs typeface="Times New Roman" panose="02020603050405020304" pitchFamily="18" charset="0"/>
              </a:rPr>
              <a:t>2. </a:t>
            </a:r>
            <a:r>
              <a:rPr lang="zh-CN" altLang="en-US" sz="2800" b="1" dirty="0">
                <a:solidFill>
                  <a:srgbClr val="FF0000"/>
                </a:solidFill>
                <a:latin typeface="Times New Roman" panose="02020603050405020304" pitchFamily="18" charset="0"/>
                <a:cs typeface="Times New Roman" panose="02020603050405020304" pitchFamily="18" charset="0"/>
              </a:rPr>
              <a:t>运算速度</a:t>
            </a:r>
            <a:endParaRPr lang="en-US" altLang="zh-CN" sz="2800" b="1" dirty="0">
              <a:solidFill>
                <a:srgbClr val="FF0000"/>
              </a:solidFill>
              <a:latin typeface="Times New Roman" panose="02020603050405020304" pitchFamily="18" charset="0"/>
              <a:cs typeface="Times New Roman" panose="02020603050405020304" pitchFamily="18" charset="0"/>
            </a:endParaRPr>
          </a:p>
          <a:p>
            <a:pPr marL="0" indent="0" eaLnBrk="1" hangingPunct="1">
              <a:lnSpc>
                <a:spcPct val="150000"/>
              </a:lnSpc>
              <a:spcBef>
                <a:spcPct val="0"/>
              </a:spcBef>
              <a:buNone/>
            </a:pPr>
            <a:r>
              <a:rPr lang="zh-CN" altLang="en-US" sz="2800" b="1" dirty="0">
                <a:solidFill>
                  <a:srgbClr val="0000FF"/>
                </a:solidFill>
                <a:latin typeface="Times New Roman" panose="02020603050405020304" pitchFamily="18" charset="0"/>
                <a:cs typeface="Times New Roman" panose="02020603050405020304" pitchFamily="18" charset="0"/>
              </a:rPr>
              <a:t>（</a:t>
            </a:r>
            <a:r>
              <a:rPr lang="en-US" altLang="zh-CN" sz="2800" b="1" dirty="0">
                <a:solidFill>
                  <a:srgbClr val="0000FF"/>
                </a:solidFill>
                <a:latin typeface="Times New Roman" panose="02020603050405020304" pitchFamily="18" charset="0"/>
                <a:cs typeface="Times New Roman" panose="02020603050405020304" pitchFamily="18" charset="0"/>
              </a:rPr>
              <a:t>1</a:t>
            </a:r>
            <a:r>
              <a:rPr lang="zh-CN" altLang="en-US" sz="2800" b="1" dirty="0">
                <a:solidFill>
                  <a:srgbClr val="0000FF"/>
                </a:solidFill>
                <a:latin typeface="Times New Roman" panose="02020603050405020304" pitchFamily="18" charset="0"/>
                <a:cs typeface="Times New Roman" panose="02020603050405020304" pitchFamily="18" charset="0"/>
              </a:rPr>
              <a:t>）主频（时钟频率）</a:t>
            </a:r>
            <a:endParaRPr lang="en-US" altLang="zh-CN" sz="2800" b="1" dirty="0">
              <a:solidFill>
                <a:srgbClr val="0000FF"/>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F70D26A4-C532-454B-9B1C-E62655B4B804}"/>
              </a:ext>
            </a:extLst>
          </p:cNvPr>
          <p:cNvSpPr txBox="1"/>
          <p:nvPr/>
        </p:nvSpPr>
        <p:spPr>
          <a:xfrm>
            <a:off x="66853" y="2245572"/>
            <a:ext cx="8957916" cy="2792239"/>
          </a:xfrm>
          <a:prstGeom prst="rect">
            <a:avLst/>
          </a:prstGeom>
          <a:noFill/>
        </p:spPr>
        <p:txBody>
          <a:bodyPr wrap="square">
            <a:spAutoFit/>
          </a:bodyPr>
          <a:lstStyle/>
          <a:p>
            <a:pPr marL="342900" lvl="0" indent="-342900">
              <a:lnSpc>
                <a:spcPct val="150000"/>
              </a:lnSpc>
              <a:buFont typeface="Arial" panose="020B0604020202020204" pitchFamily="34" charset="0"/>
              <a:buChar char="•"/>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主频 </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f</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a:t>
            </a:r>
            <a:r>
              <a:rPr lang="en-US" altLang="zh-CN" sz="2400" b="1" dirty="0">
                <a:latin typeface="Times New Roman" panose="02020603050405020304" pitchFamily="18" charset="0"/>
                <a:ea typeface="宋体"/>
                <a:cs typeface="Times New Roman" panose="02020603050405020304" pitchFamily="18" charset="0"/>
              </a:rPr>
              <a:t>CPU </a:t>
            </a:r>
            <a:r>
              <a:rPr lang="zh-CN" altLang="en-US" sz="2400" b="1" dirty="0">
                <a:latin typeface="Times New Roman" panose="02020603050405020304" pitchFamily="18" charset="0"/>
                <a:ea typeface="宋体"/>
                <a:cs typeface="Times New Roman" panose="02020603050405020304" pitchFamily="18" charset="0"/>
              </a:rPr>
              <a:t>的时钟频率，表示每秒的时钟周期数，单位为赫兹（</a:t>
            </a:r>
            <a:r>
              <a:rPr lang="en-US" altLang="zh-CN" sz="2400" b="1" dirty="0">
                <a:latin typeface="Times New Roman" panose="02020603050405020304" pitchFamily="18" charset="0"/>
                <a:ea typeface="宋体"/>
                <a:cs typeface="Times New Roman" panose="02020603050405020304" pitchFamily="18" charset="0"/>
              </a:rPr>
              <a:t>Hz</a:t>
            </a:r>
            <a:r>
              <a:rPr lang="zh-CN" altLang="en-US" sz="2400" b="1" dirty="0">
                <a:latin typeface="Times New Roman" panose="02020603050405020304" pitchFamily="18" charset="0"/>
                <a:ea typeface="宋体"/>
                <a:cs typeface="Times New Roman" panose="02020603050405020304" pitchFamily="18" charset="0"/>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p>
            <a:pPr marL="342900" marR="0" lvl="0"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f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与</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T</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的关系</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：互为倒数。</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p>
            <a:pPr marL="800100" marR="0" lvl="1" indent="-34290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如 </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f </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=100MHz</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时，</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T=10ns</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f </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=1GHz</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时，</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T=1ns</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 </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4GHz</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时，</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T=0.25ns</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endParaRPr>
          </a:p>
        </p:txBody>
      </p:sp>
      <p:sp>
        <p:nvSpPr>
          <p:cNvPr id="3" name="灯片编号占位符 2">
            <a:extLst>
              <a:ext uri="{FF2B5EF4-FFF2-40B4-BE49-F238E27FC236}">
                <a16:creationId xmlns:a16="http://schemas.microsoft.com/office/drawing/2014/main" id="{0B8FC6F2-0C35-429B-91B4-0039B8C3B39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对话气泡: 圆角矩形 1">
            <a:extLst>
              <a:ext uri="{FF2B5EF4-FFF2-40B4-BE49-F238E27FC236}">
                <a16:creationId xmlns:a16="http://schemas.microsoft.com/office/drawing/2014/main" id="{0A7A8876-2096-B308-6076-8038DE977E23}"/>
              </a:ext>
            </a:extLst>
          </p:cNvPr>
          <p:cNvSpPr/>
          <p:nvPr/>
        </p:nvSpPr>
        <p:spPr>
          <a:xfrm>
            <a:off x="251520" y="5473444"/>
            <a:ext cx="4032448" cy="1140599"/>
          </a:xfrm>
          <a:prstGeom prst="wedgeRoundRectCallout">
            <a:avLst>
              <a:gd name="adj1" fmla="val -4489"/>
              <a:gd name="adj2" fmla="val -87243"/>
              <a:gd name="adj3" fmla="val 16667"/>
            </a:avLst>
          </a:prstGeom>
          <a:solidFill>
            <a:srgbClr val="FFCC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latin typeface="Times New Roman" panose="02020603050405020304" pitchFamily="18" charset="0"/>
                <a:ea typeface="宋体"/>
                <a:cs typeface="Times New Roman" panose="02020603050405020304" pitchFamily="18" charset="0"/>
              </a:rPr>
              <a:t>决定</a:t>
            </a:r>
            <a:r>
              <a:rPr kumimoji="0" lang="en-US" altLang="zh-CN" sz="2400" b="1"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latin typeface="Times New Roman" panose="02020603050405020304" pitchFamily="18" charset="0"/>
                <a:ea typeface="宋体"/>
                <a:cs typeface="Times New Roman" panose="02020603050405020304" pitchFamily="18" charset="0"/>
              </a:rPr>
              <a:t>CPU</a:t>
            </a:r>
            <a:r>
              <a:rPr kumimoji="0" lang="zh-CN" altLang="en-US" sz="2400" b="1"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latin typeface="Times New Roman" panose="02020603050405020304" pitchFamily="18" charset="0"/>
                <a:ea typeface="宋体"/>
                <a:cs typeface="Times New Roman" panose="02020603050405020304" pitchFamily="18" charset="0"/>
              </a:rPr>
              <a:t>的运算能力大小的因素包括哪些？</a:t>
            </a:r>
            <a:endParaRPr kumimoji="0" lang="en-US" altLang="zh-CN" sz="2400" b="1"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latin typeface="Times New Roman" panose="02020603050405020304" pitchFamily="18" charset="0"/>
              <a:ea typeface="宋体"/>
              <a:cs typeface="Times New Roman" panose="02020603050405020304" pitchFamily="18" charset="0"/>
            </a:endParaRPr>
          </a:p>
        </p:txBody>
      </p:sp>
      <p:sp>
        <p:nvSpPr>
          <p:cNvPr id="9" name="卷形: 垂直 8">
            <a:extLst>
              <a:ext uri="{FF2B5EF4-FFF2-40B4-BE49-F238E27FC236}">
                <a16:creationId xmlns:a16="http://schemas.microsoft.com/office/drawing/2014/main" id="{34BD33B2-7F13-55AD-461E-3F310754A93D}"/>
              </a:ext>
            </a:extLst>
          </p:cNvPr>
          <p:cNvSpPr/>
          <p:nvPr/>
        </p:nvSpPr>
        <p:spPr>
          <a:xfrm>
            <a:off x="5729468" y="4902446"/>
            <a:ext cx="2133599" cy="1819029"/>
          </a:xfrm>
          <a:prstGeom prst="verticalScroll">
            <a:avLst/>
          </a:prstGeom>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CPU</a:t>
            </a:r>
            <a:r>
              <a:rPr kumimoji="0" lang="zh-CN" altLang="en-US"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的主频</a:t>
            </a:r>
            <a:endParaRPr kumimoji="0" lang="en-US" altLang="zh-CN"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CPU</a:t>
            </a:r>
            <a:r>
              <a:rPr kumimoji="0" lang="zh-CN" altLang="en-US"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的核数</a:t>
            </a:r>
            <a:endParaRPr kumimoji="0" lang="en-US" altLang="zh-CN"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CPU</a:t>
            </a:r>
            <a:r>
              <a:rPr kumimoji="0" lang="zh-CN" altLang="en-US"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的缓存</a:t>
            </a:r>
          </a:p>
        </p:txBody>
      </p:sp>
    </p:spTree>
    <p:extLst>
      <p:ext uri="{BB962C8B-B14F-4D97-AF65-F5344CB8AC3E}">
        <p14:creationId xmlns:p14="http://schemas.microsoft.com/office/powerpoint/2010/main" val="170580387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17" dur="500"/>
                                        <p:tgtEl>
                                          <p:spTgt spid="1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2">
                                            <p:txEl>
                                              <p:pRg st="1" end="1"/>
                                            </p:txEl>
                                          </p:spTgt>
                                        </p:tgtEl>
                                        <p:attrNameLst>
                                          <p:attrName>style.visibility</p:attrName>
                                        </p:attrNameLst>
                                      </p:cBhvr>
                                      <p:to>
                                        <p:strVal val="visible"/>
                                      </p:to>
                                    </p:set>
                                    <p:animEffect transition="in" filter="randombar(horizontal)">
                                      <p:cBhvr>
                                        <p:cTn id="22" dur="500"/>
                                        <p:tgtEl>
                                          <p:spTgt spid="12">
                                            <p:txEl>
                                              <p:pRg st="1" end="1"/>
                                            </p:txEl>
                                          </p:spTgt>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25"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6018" name="Rectangle 3"/>
              <p:cNvSpPr>
                <a:spLocks noGrp="1" noChangeArrowheads="1"/>
              </p:cNvSpPr>
              <p:nvPr>
                <p:ph idx="1"/>
              </p:nvPr>
            </p:nvSpPr>
            <p:spPr>
              <a:xfrm>
                <a:off x="107504" y="908720"/>
                <a:ext cx="8982744" cy="4948174"/>
              </a:xfrm>
            </p:spPr>
            <p:txBody>
              <a:bodyPr/>
              <a:lstStyle/>
              <a:p>
                <a:pPr marL="0" indent="0" eaLnBrk="1" hangingPunct="1">
                  <a:lnSpc>
                    <a:spcPct val="150000"/>
                  </a:lnSpc>
                  <a:spcBef>
                    <a:spcPct val="0"/>
                  </a:spcBef>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2</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CPI</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Cycles Per Instruction</a:t>
                </a:r>
                <a:r>
                  <a:rPr lang="zh-CN" altLang="en-US" sz="2400" b="1" dirty="0">
                    <a:solidFill>
                      <a:srgbClr val="0000FF"/>
                    </a:solidFill>
                    <a:latin typeface="Times New Roman" panose="02020603050405020304" pitchFamily="18" charset="0"/>
                    <a:cs typeface="Times New Roman" panose="02020603050405020304" pitchFamily="18" charset="0"/>
                  </a:rPr>
                  <a:t>，每条指令的时钟周期数）</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latin typeface="Times New Roman" panose="02020603050405020304" pitchFamily="18" charset="0"/>
                    <a:cs typeface="Times New Roman" panose="02020603050405020304" pitchFamily="18" charset="0"/>
                  </a:rPr>
                  <a:t>执行一条指令需要的平均时钟周期数。</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400" b="1" dirty="0">
                    <a:latin typeface="Times New Roman" panose="02020603050405020304" pitchFamily="18" charset="0"/>
                    <a:cs typeface="Times New Roman" panose="02020603050405020304" pitchFamily="18" charset="0"/>
                  </a:rPr>
                  <a:t>CPI </a:t>
                </a:r>
                <a:r>
                  <a:rPr lang="zh-CN" altLang="en-US" sz="2400" b="1" dirty="0">
                    <a:latin typeface="Times New Roman" panose="02020603050405020304" pitchFamily="18" charset="0"/>
                    <a:cs typeface="Times New Roman" panose="02020603050405020304" pitchFamily="18" charset="0"/>
                  </a:rPr>
                  <a:t>越低，</a:t>
                </a:r>
                <a:r>
                  <a:rPr lang="en-US" altLang="zh-CN" sz="2400" b="1" dirty="0">
                    <a:latin typeface="Times New Roman" panose="02020603050405020304" pitchFamily="18" charset="0"/>
                    <a:cs typeface="Times New Roman" panose="02020603050405020304" pitchFamily="18" charset="0"/>
                  </a:rPr>
                  <a:t>CPU </a:t>
                </a:r>
                <a:r>
                  <a:rPr lang="zh-CN" altLang="en-US" sz="2400" b="1" dirty="0">
                    <a:latin typeface="Times New Roman" panose="02020603050405020304" pitchFamily="18" charset="0"/>
                    <a:cs typeface="Times New Roman" panose="02020603050405020304" pitchFamily="18" charset="0"/>
                  </a:rPr>
                  <a:t>执行指令的效率越高。</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solidFill>
                      <a:srgbClr val="FF0000"/>
                    </a:solidFill>
                    <a:latin typeface="Times New Roman" panose="02020603050405020304" pitchFamily="18" charset="0"/>
                    <a:cs typeface="Times New Roman" panose="02020603050405020304" pitchFamily="18" charset="0"/>
                  </a:rPr>
                  <a:t>假设程序中包含的指令总条数用</a:t>
                </a:r>
                <a:r>
                  <a:rPr lang="en-US" altLang="zh-CN" sz="2400" b="1" dirty="0">
                    <a:solidFill>
                      <a:srgbClr val="FF0000"/>
                    </a:solidFill>
                    <a:latin typeface="Times New Roman" panose="02020603050405020304" pitchFamily="18" charset="0"/>
                    <a:cs typeface="Times New Roman" panose="02020603050405020304" pitchFamily="18" charset="0"/>
                  </a:rPr>
                  <a:t>IC</a:t>
                </a:r>
                <a:r>
                  <a:rPr lang="zh-CN" altLang="en-US" sz="2400" b="1" dirty="0">
                    <a:solidFill>
                      <a:srgbClr val="FF0000"/>
                    </a:solidFill>
                    <a:latin typeface="Times New Roman" panose="02020603050405020304" pitchFamily="18" charset="0"/>
                    <a:cs typeface="Times New Roman" panose="02020603050405020304" pitchFamily="18" charset="0"/>
                  </a:rPr>
                  <a:t>表示，程序执行所需时钟周期数为</a:t>
                </a:r>
                <a:r>
                  <a:rPr lang="en-US" altLang="zh-CN" sz="2400" b="1" dirty="0">
                    <a:solidFill>
                      <a:srgbClr val="FF0000"/>
                    </a:solidFill>
                    <a:latin typeface="Times New Roman" panose="02020603050405020304" pitchFamily="18" charset="0"/>
                    <a:cs typeface="Times New Roman" panose="02020603050405020304" pitchFamily="18" charset="0"/>
                  </a:rPr>
                  <a:t>m</a:t>
                </a:r>
                <a:r>
                  <a:rPr lang="zh-CN" altLang="en-US" sz="2400" b="1" dirty="0">
                    <a:solidFill>
                      <a:srgbClr val="FF0000"/>
                    </a:solidFill>
                    <a:latin typeface="Times New Roman" panose="02020603050405020304" pitchFamily="18" charset="0"/>
                    <a:cs typeface="Times New Roman" panose="02020603050405020304" pitchFamily="18" charset="0"/>
                  </a:rPr>
                  <a:t>，</a:t>
                </a:r>
                <a:endParaRPr lang="en-US" altLang="zh-CN" sz="2400" b="1" dirty="0">
                  <a:solidFill>
                    <a:srgbClr val="FF0000"/>
                  </a:solidFill>
                  <a:latin typeface="Times New Roman" panose="02020603050405020304" pitchFamily="18" charset="0"/>
                  <a:cs typeface="Times New Roman" panose="02020603050405020304" pitchFamily="18" charset="0"/>
                </a:endParaRPr>
              </a:p>
              <a:p>
                <a:pPr marL="0" indent="0">
                  <a:lnSpc>
                    <a:spcPct val="150000"/>
                  </a:lnSpc>
                  <a:spcBef>
                    <a:spcPct val="0"/>
                  </a:spcBef>
                  <a:buNone/>
                </a:pPr>
                <a14:m>
                  <m:oMathPara xmlns:m="http://schemas.openxmlformats.org/officeDocument/2006/math">
                    <m:oMathParaPr>
                      <m:jc m:val="centerGroup"/>
                    </m:oMathParaPr>
                    <m:oMath xmlns:m="http://schemas.openxmlformats.org/officeDocument/2006/math">
                      <m:r>
                        <m:rPr>
                          <m:nor/>
                        </m:rPr>
                        <a:rPr lang="en-US" altLang="zh-CN" sz="2400" b="1" dirty="0">
                          <a:solidFill>
                            <a:srgbClr val="FF0000"/>
                          </a:solidFill>
                          <a:latin typeface="Times New Roman" panose="02020603050405020304" pitchFamily="18" charset="0"/>
                          <a:cs typeface="Times New Roman" panose="02020603050405020304" pitchFamily="18" charset="0"/>
                        </a:rPr>
                        <m:t>CPI</m:t>
                      </m:r>
                      <m:r>
                        <a:rPr lang="en-US" altLang="zh-CN" sz="2400" b="1" i="1" smtClean="0">
                          <a:solidFill>
                            <a:srgbClr val="FF0000"/>
                          </a:solidFill>
                          <a:latin typeface="Cambria Math" panose="02040503050406030204" pitchFamily="18" charset="0"/>
                          <a:cs typeface="Times New Roman" panose="02020603050405020304" pitchFamily="18" charset="0"/>
                        </a:rPr>
                        <m:t>=</m:t>
                      </m:r>
                      <m:f>
                        <m:fPr>
                          <m:ctrlPr>
                            <a:rPr lang="en-US" altLang="zh-CN" sz="2400" b="1" i="1" smtClean="0">
                              <a:solidFill>
                                <a:srgbClr val="FF0000"/>
                              </a:solidFill>
                              <a:latin typeface="Cambria Math" panose="02040503050406030204" pitchFamily="18" charset="0"/>
                              <a:cs typeface="Times New Roman" panose="02020603050405020304" pitchFamily="18" charset="0"/>
                            </a:rPr>
                          </m:ctrlPr>
                        </m:fPr>
                        <m:num>
                          <m:r>
                            <a:rPr lang="zh-CN" altLang="en-US" sz="2400" b="1" i="1">
                              <a:solidFill>
                                <a:srgbClr val="FF0000"/>
                              </a:solidFill>
                              <a:latin typeface="Cambria Math" panose="02040503050406030204" pitchFamily="18" charset="0"/>
                              <a:cs typeface="Times New Roman" panose="02020603050405020304" pitchFamily="18" charset="0"/>
                            </a:rPr>
                            <m:t>总时钟周期数</m:t>
                          </m:r>
                          <m:r>
                            <a:rPr lang="zh-CN" altLang="en-US" sz="2400" b="1" i="1">
                              <a:solidFill>
                                <a:srgbClr val="FF0000"/>
                              </a:solidFill>
                              <a:latin typeface="Cambria Math" panose="02040503050406030204" pitchFamily="18" charset="0"/>
                              <a:cs typeface="Times New Roman" panose="02020603050405020304" pitchFamily="18" charset="0"/>
                            </a:rPr>
                            <m:t> ​</m:t>
                          </m:r>
                        </m:num>
                        <m:den>
                          <m:r>
                            <a:rPr lang="zh-CN" altLang="en-US" sz="2400" b="1" i="1">
                              <a:solidFill>
                                <a:srgbClr val="FF0000"/>
                              </a:solidFill>
                              <a:latin typeface="Cambria Math" panose="02040503050406030204" pitchFamily="18" charset="0"/>
                              <a:cs typeface="Times New Roman" panose="02020603050405020304" pitchFamily="18" charset="0"/>
                            </a:rPr>
                            <m:t>执行</m:t>
                          </m:r>
                          <m:r>
                            <a:rPr lang="zh-CN" altLang="en-US" sz="2400" b="1" i="1" smtClean="0">
                              <a:solidFill>
                                <a:srgbClr val="FF0000"/>
                              </a:solidFill>
                              <a:latin typeface="Cambria Math" panose="02040503050406030204" pitchFamily="18" charset="0"/>
                              <a:cs typeface="Times New Roman" panose="02020603050405020304" pitchFamily="18" charset="0"/>
                            </a:rPr>
                            <m:t>的</m:t>
                          </m:r>
                          <m:r>
                            <a:rPr lang="zh-CN" altLang="en-US" sz="2400" b="1" i="1">
                              <a:solidFill>
                                <a:srgbClr val="FF0000"/>
                              </a:solidFill>
                              <a:latin typeface="Cambria Math" panose="02040503050406030204" pitchFamily="18" charset="0"/>
                              <a:cs typeface="Times New Roman" panose="02020603050405020304" pitchFamily="18" charset="0"/>
                            </a:rPr>
                            <m:t>指令数</m:t>
                          </m:r>
                        </m:den>
                      </m:f>
                      <m:r>
                        <a:rPr lang="en-US" altLang="zh-CN" sz="2400" b="1" i="1" smtClean="0">
                          <a:solidFill>
                            <a:srgbClr val="FF0000"/>
                          </a:solidFill>
                          <a:latin typeface="Cambria Math" panose="02040503050406030204" pitchFamily="18" charset="0"/>
                          <a:cs typeface="Times New Roman" panose="02020603050405020304" pitchFamily="18" charset="0"/>
                        </a:rPr>
                        <m:t>=</m:t>
                      </m:r>
                      <m:f>
                        <m:fPr>
                          <m:ctrlPr>
                            <a:rPr lang="en-US" altLang="zh-CN" sz="2400" b="1" i="1" smtClean="0">
                              <a:solidFill>
                                <a:srgbClr val="FF0000"/>
                              </a:solidFill>
                              <a:latin typeface="Cambria Math" panose="02040503050406030204" pitchFamily="18" charset="0"/>
                              <a:cs typeface="Times New Roman" panose="02020603050405020304" pitchFamily="18" charset="0"/>
                            </a:rPr>
                          </m:ctrlPr>
                        </m:fPr>
                        <m:num>
                          <m:r>
                            <m:rPr>
                              <m:sty m:val="p"/>
                            </m:rPr>
                            <a:rPr lang="en-US" altLang="zh-CN" sz="2400" b="1" i="1" dirty="0">
                              <a:solidFill>
                                <a:srgbClr val="FF0000"/>
                              </a:solidFill>
                              <a:latin typeface="Cambria Math" panose="02040503050406030204" pitchFamily="18" charset="0"/>
                              <a:cs typeface="Times New Roman" panose="02020603050405020304" pitchFamily="18" charset="0"/>
                            </a:rPr>
                            <m:t>m</m:t>
                          </m:r>
                        </m:num>
                        <m:den>
                          <m:r>
                            <m:rPr>
                              <m:sty m:val="p"/>
                            </m:rPr>
                            <a:rPr lang="en-US" altLang="zh-CN" sz="2400" b="1" i="1" dirty="0">
                              <a:solidFill>
                                <a:srgbClr val="FF0000"/>
                              </a:solidFill>
                              <a:latin typeface="Cambria Math" panose="02040503050406030204" pitchFamily="18" charset="0"/>
                              <a:cs typeface="Times New Roman" panose="02020603050405020304" pitchFamily="18" charset="0"/>
                            </a:rPr>
                            <m:t>IC</m:t>
                          </m:r>
                        </m:den>
                      </m:f>
                    </m:oMath>
                  </m:oMathPara>
                </a14:m>
                <a:endParaRPr lang="en-US" altLang="zh-CN" sz="2400" b="1" dirty="0">
                  <a:solidFill>
                    <a:srgbClr val="FF0000"/>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solidFill>
                      <a:srgbClr val="0000FF"/>
                    </a:solidFill>
                    <a:latin typeface="Times New Roman" panose="02020603050405020304" pitchFamily="18" charset="0"/>
                    <a:cs typeface="Times New Roman" panose="02020603050405020304" pitchFamily="18" charset="0"/>
                  </a:rPr>
                  <a:t>若知道程序中每类指令的使用频率（</a:t>
                </a:r>
                <a:r>
                  <a:rPr lang="en-US" altLang="zh-CN" sz="2400" b="1" dirty="0">
                    <a:solidFill>
                      <a:srgbClr val="0000FF"/>
                    </a:solidFill>
                    <a:latin typeface="Times New Roman" panose="02020603050405020304" pitchFamily="18" charset="0"/>
                    <a:cs typeface="Times New Roman" panose="02020603050405020304" pitchFamily="18" charset="0"/>
                  </a:rPr>
                  <a:t>P</a:t>
                </a:r>
                <a:r>
                  <a:rPr lang="en-US" altLang="zh-CN" sz="2400" b="1" baseline="-25000" dirty="0">
                    <a:solidFill>
                      <a:srgbClr val="0000FF"/>
                    </a:solidFill>
                    <a:latin typeface="Times New Roman" panose="02020603050405020304" pitchFamily="18" charset="0"/>
                    <a:cs typeface="Times New Roman" panose="02020603050405020304" pitchFamily="18" charset="0"/>
                  </a:rPr>
                  <a:t>i</a:t>
                </a:r>
                <a:r>
                  <a:rPr lang="zh-CN" altLang="en-US" sz="2400" b="1" dirty="0">
                    <a:solidFill>
                      <a:srgbClr val="0000FF"/>
                    </a:solidFill>
                    <a:latin typeface="Times New Roman" panose="02020603050405020304" pitchFamily="18" charset="0"/>
                    <a:cs typeface="Times New Roman" panose="02020603050405020304" pitchFamily="18" charset="0"/>
                  </a:rPr>
                  <a:t>）和每类指令的</a:t>
                </a:r>
                <a:r>
                  <a:rPr lang="en-US" altLang="zh-CN" sz="2400" b="1" dirty="0">
                    <a:solidFill>
                      <a:srgbClr val="0000FF"/>
                    </a:solidFill>
                    <a:latin typeface="Times New Roman" panose="02020603050405020304" pitchFamily="18" charset="0"/>
                    <a:cs typeface="Times New Roman" panose="02020603050405020304" pitchFamily="18" charset="0"/>
                  </a:rPr>
                  <a:t>CPI</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err="1">
                    <a:solidFill>
                      <a:srgbClr val="0000FF"/>
                    </a:solidFill>
                    <a:latin typeface="Times New Roman" panose="02020603050405020304" pitchFamily="18" charset="0"/>
                    <a:cs typeface="Times New Roman" panose="02020603050405020304" pitchFamily="18" charset="0"/>
                  </a:rPr>
                  <a:t>CPI</a:t>
                </a:r>
                <a:r>
                  <a:rPr lang="en-US" altLang="zh-CN" sz="2400" b="1" baseline="-25000" dirty="0" err="1">
                    <a:solidFill>
                      <a:srgbClr val="0000FF"/>
                    </a:solidFill>
                    <a:latin typeface="Times New Roman" panose="02020603050405020304" pitchFamily="18" charset="0"/>
                    <a:cs typeface="Times New Roman" panose="02020603050405020304" pitchFamily="18" charset="0"/>
                  </a:rPr>
                  <a:t>i</a:t>
                </a:r>
                <a:r>
                  <a:rPr lang="zh-CN" altLang="en-US" sz="2400" b="1" dirty="0">
                    <a:solidFill>
                      <a:srgbClr val="0000FF"/>
                    </a:solidFill>
                    <a:latin typeface="Times New Roman" panose="02020603050405020304" pitchFamily="18" charset="0"/>
                    <a:cs typeface="Times New Roman" panose="02020603050405020304" pitchFamily="18" charset="0"/>
                  </a:rPr>
                  <a:t>），则：</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0" indent="0">
                  <a:lnSpc>
                    <a:spcPct val="150000"/>
                  </a:lnSpc>
                  <a:spcBef>
                    <a:spcPct val="0"/>
                  </a:spcBef>
                  <a:buNone/>
                </a:pPr>
                <a:r>
                  <a:rPr lang="en-US" altLang="zh-CN" sz="2400" b="1" dirty="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r>
                      <m:rPr>
                        <m:nor/>
                      </m:rPr>
                      <a:rPr lang="en-US" altLang="zh-CN" sz="2400" b="1" dirty="0">
                        <a:solidFill>
                          <a:srgbClr val="FF0000"/>
                        </a:solidFill>
                        <a:latin typeface="Times New Roman" panose="02020603050405020304" pitchFamily="18" charset="0"/>
                        <a:cs typeface="Times New Roman" panose="02020603050405020304" pitchFamily="18" charset="0"/>
                      </a:rPr>
                      <m:t>CPI</m:t>
                    </m:r>
                    <m:r>
                      <a:rPr lang="en-US" altLang="zh-CN" sz="2400" b="1" i="1">
                        <a:solidFill>
                          <a:srgbClr val="FF0000"/>
                        </a:solidFill>
                        <a:latin typeface="Cambria Math" panose="02040503050406030204" pitchFamily="18" charset="0"/>
                        <a:cs typeface="Times New Roman" panose="02020603050405020304" pitchFamily="18" charset="0"/>
                      </a:rPr>
                      <m:t>=</m:t>
                    </m:r>
                    <m:nary>
                      <m:naryPr>
                        <m:chr m:val="∑"/>
                        <m:subHide m:val="on"/>
                        <m:supHide m:val="on"/>
                        <m:ctrlPr>
                          <a:rPr lang="en-US" altLang="zh-CN" sz="2400" b="1" i="1" smtClean="0">
                            <a:solidFill>
                              <a:srgbClr val="FF0000"/>
                            </a:solidFill>
                            <a:latin typeface="Cambria Math" panose="02040503050406030204" pitchFamily="18" charset="0"/>
                            <a:cs typeface="Times New Roman" panose="02020603050405020304" pitchFamily="18" charset="0"/>
                          </a:rPr>
                        </m:ctrlPr>
                      </m:naryPr>
                      <m:sub/>
                      <m:sup/>
                      <m:e>
                        <m:r>
                          <m:rPr>
                            <m:nor/>
                          </m:rPr>
                          <a:rPr lang="en-US" altLang="zh-CN" sz="2400" b="1" i="0" smtClean="0">
                            <a:solidFill>
                              <a:srgbClr val="FF0000"/>
                            </a:solidFill>
                            <a:latin typeface="Cambria Math" panose="02040503050406030204" pitchFamily="18" charset="0"/>
                            <a:cs typeface="Times New Roman" panose="02020603050405020304" pitchFamily="18" charset="0"/>
                          </a:rPr>
                          <m:t>(</m:t>
                        </m:r>
                        <m:r>
                          <m:rPr>
                            <m:nor/>
                          </m:rPr>
                          <a:rPr lang="en-US" altLang="zh-CN" sz="2400" b="1" dirty="0">
                            <a:solidFill>
                              <a:srgbClr val="FF0000"/>
                            </a:solidFill>
                            <a:latin typeface="Times New Roman" panose="02020603050405020304" pitchFamily="18" charset="0"/>
                            <a:cs typeface="Times New Roman" panose="02020603050405020304" pitchFamily="18" charset="0"/>
                          </a:rPr>
                          <m:t>CPI</m:t>
                        </m:r>
                        <m:r>
                          <m:rPr>
                            <m:nor/>
                          </m:rPr>
                          <a:rPr lang="en-US" altLang="zh-CN" sz="2400" b="1" baseline="-25000" dirty="0">
                            <a:solidFill>
                              <a:srgbClr val="FF0000"/>
                            </a:solidFill>
                            <a:latin typeface="Times New Roman" panose="02020603050405020304" pitchFamily="18" charset="0"/>
                            <a:cs typeface="Times New Roman" panose="02020603050405020304" pitchFamily="18" charset="0"/>
                          </a:rPr>
                          <m:t>i</m:t>
                        </m:r>
                        <m:r>
                          <m:rPr>
                            <m:nor/>
                          </m:rPr>
                          <a:rPr lang="en-US" altLang="zh-CN" sz="2400" b="1" dirty="0">
                            <a:solidFill>
                              <a:srgbClr val="FF0000"/>
                            </a:solidFill>
                            <a:latin typeface="Times New Roman" panose="02020603050405020304" pitchFamily="18" charset="0"/>
                            <a:cs typeface="Times New Roman" panose="02020603050405020304" pitchFamily="18" charset="0"/>
                          </a:rPr>
                          <m:t>×</m:t>
                        </m:r>
                        <m:sSub>
                          <m:sSubPr>
                            <m:ctrlPr>
                              <a:rPr lang="en-US" altLang="zh-CN" sz="2400" b="1" i="1" dirty="0" smtClean="0">
                                <a:solidFill>
                                  <a:srgbClr val="FF0000"/>
                                </a:solidFill>
                                <a:latin typeface="Cambria Math" panose="02040503050406030204" pitchFamily="18" charset="0"/>
                                <a:cs typeface="Times New Roman" panose="02020603050405020304" pitchFamily="18" charset="0"/>
                              </a:rPr>
                            </m:ctrlPr>
                          </m:sSubPr>
                          <m:e>
                            <m:r>
                              <a:rPr lang="en-US" altLang="zh-CN" sz="2400" b="1" i="1" dirty="0" smtClean="0">
                                <a:solidFill>
                                  <a:srgbClr val="FF0000"/>
                                </a:solidFill>
                                <a:latin typeface="Cambria Math" panose="02040503050406030204" pitchFamily="18" charset="0"/>
                                <a:cs typeface="Times New Roman" panose="02020603050405020304" pitchFamily="18" charset="0"/>
                              </a:rPr>
                              <m:t>𝑷</m:t>
                            </m:r>
                          </m:e>
                          <m:sub>
                            <m:r>
                              <a:rPr lang="en-US" altLang="zh-CN" sz="2400" b="1" i="1" dirty="0" smtClean="0">
                                <a:solidFill>
                                  <a:srgbClr val="FF0000"/>
                                </a:solidFill>
                                <a:latin typeface="Cambria Math" panose="02040503050406030204" pitchFamily="18" charset="0"/>
                                <a:cs typeface="Times New Roman" panose="02020603050405020304" pitchFamily="18" charset="0"/>
                              </a:rPr>
                              <m:t>𝒊</m:t>
                            </m:r>
                          </m:sub>
                        </m:sSub>
                        <m:r>
                          <m:rPr>
                            <m:nor/>
                          </m:rPr>
                          <a:rPr lang="en-US" altLang="zh-CN" sz="2400" b="1" i="0" dirty="0" smtClean="0">
                            <a:solidFill>
                              <a:srgbClr val="FF0000"/>
                            </a:solidFill>
                            <a:latin typeface="Times New Roman" panose="02020603050405020304" pitchFamily="18" charset="0"/>
                            <a:cs typeface="Times New Roman" panose="02020603050405020304" pitchFamily="18" charset="0"/>
                          </a:rPr>
                          <m:t>)</m:t>
                        </m:r>
                      </m:e>
                    </m:nary>
                    <m:r>
                      <a:rPr lang="en-US" altLang="zh-CN" sz="2400" b="1" i="1" dirty="0" smtClean="0">
                        <a:solidFill>
                          <a:srgbClr val="FF0000"/>
                        </a:solidFill>
                        <a:latin typeface="Cambria Math" panose="02040503050406030204" pitchFamily="18" charset="0"/>
                        <a:cs typeface="Times New Roman" panose="02020603050405020304" pitchFamily="18" charset="0"/>
                      </a:rPr>
                      <m:t>=</m:t>
                    </m:r>
                    <m:nary>
                      <m:naryPr>
                        <m:chr m:val="∑"/>
                        <m:subHide m:val="on"/>
                        <m:supHide m:val="on"/>
                        <m:ctrlPr>
                          <a:rPr lang="en-US" altLang="zh-CN" sz="2400" b="1" i="1">
                            <a:solidFill>
                              <a:srgbClr val="FF0000"/>
                            </a:solidFill>
                            <a:latin typeface="Cambria Math" panose="02040503050406030204" pitchFamily="18" charset="0"/>
                            <a:cs typeface="Times New Roman" panose="02020603050405020304" pitchFamily="18" charset="0"/>
                          </a:rPr>
                        </m:ctrlPr>
                      </m:naryPr>
                      <m:sub/>
                      <m:sup/>
                      <m:e>
                        <m:r>
                          <m:rPr>
                            <m:nor/>
                          </m:rPr>
                          <a:rPr lang="en-US" altLang="zh-CN" sz="2400" b="1">
                            <a:solidFill>
                              <a:srgbClr val="FF0000"/>
                            </a:solidFill>
                            <a:latin typeface="Cambria Math" panose="02040503050406030204" pitchFamily="18" charset="0"/>
                            <a:cs typeface="Times New Roman" panose="02020603050405020304" pitchFamily="18" charset="0"/>
                          </a:rPr>
                          <m:t>(</m:t>
                        </m:r>
                        <m:r>
                          <m:rPr>
                            <m:nor/>
                          </m:rPr>
                          <a:rPr lang="en-US" altLang="zh-CN" sz="2400" b="1" dirty="0">
                            <a:solidFill>
                              <a:srgbClr val="FF0000"/>
                            </a:solidFill>
                            <a:latin typeface="Times New Roman" panose="02020603050405020304" pitchFamily="18" charset="0"/>
                            <a:cs typeface="Times New Roman" panose="02020603050405020304" pitchFamily="18" charset="0"/>
                          </a:rPr>
                          <m:t>CPI</m:t>
                        </m:r>
                        <m:r>
                          <m:rPr>
                            <m:nor/>
                          </m:rPr>
                          <a:rPr lang="en-US" altLang="zh-CN" sz="2400" b="1" baseline="-25000" dirty="0">
                            <a:solidFill>
                              <a:srgbClr val="FF0000"/>
                            </a:solidFill>
                            <a:latin typeface="Times New Roman" panose="02020603050405020304" pitchFamily="18" charset="0"/>
                            <a:cs typeface="Times New Roman" panose="02020603050405020304" pitchFamily="18" charset="0"/>
                          </a:rPr>
                          <m:t>i</m:t>
                        </m:r>
                        <m:r>
                          <m:rPr>
                            <m:nor/>
                          </m:rPr>
                          <a:rPr lang="en-US" altLang="zh-CN" sz="2400" b="1" dirty="0">
                            <a:solidFill>
                              <a:srgbClr val="FF0000"/>
                            </a:solidFill>
                            <a:latin typeface="Times New Roman" panose="02020603050405020304" pitchFamily="18" charset="0"/>
                            <a:cs typeface="Times New Roman" panose="02020603050405020304" pitchFamily="18" charset="0"/>
                          </a:rPr>
                          <m:t>×</m:t>
                        </m:r>
                        <m:f>
                          <m:fPr>
                            <m:ctrlPr>
                              <a:rPr lang="en-US" altLang="zh-CN" sz="2400" b="1" i="1" dirty="0" smtClean="0">
                                <a:solidFill>
                                  <a:srgbClr val="FF0000"/>
                                </a:solidFill>
                                <a:latin typeface="Cambria Math" panose="02040503050406030204" pitchFamily="18" charset="0"/>
                                <a:cs typeface="Times New Roman" panose="02020603050405020304" pitchFamily="18" charset="0"/>
                              </a:rPr>
                            </m:ctrlPr>
                          </m:fPr>
                          <m:num>
                            <m:sSub>
                              <m:sSubPr>
                                <m:ctrlPr>
                                  <a:rPr lang="en-US" altLang="zh-CN" sz="2400" b="1" i="1" dirty="0" smtClean="0">
                                    <a:solidFill>
                                      <a:srgbClr val="FF0000"/>
                                    </a:solidFill>
                                    <a:latin typeface="Cambria Math" panose="02040503050406030204" pitchFamily="18" charset="0"/>
                                    <a:cs typeface="Times New Roman" panose="02020603050405020304" pitchFamily="18" charset="0"/>
                                  </a:rPr>
                                </m:ctrlPr>
                              </m:sSubPr>
                              <m:e>
                                <m:r>
                                  <a:rPr lang="en-US" altLang="zh-CN" sz="2400" b="1" i="0" dirty="0">
                                    <a:solidFill>
                                      <a:srgbClr val="FF0000"/>
                                    </a:solidFill>
                                    <a:latin typeface="Cambria Math" panose="02040503050406030204" pitchFamily="18" charset="0"/>
                                    <a:cs typeface="Times New Roman" panose="02020603050405020304" pitchFamily="18" charset="0"/>
                                  </a:rPr>
                                  <m:t>𝐈𝐂</m:t>
                                </m:r>
                              </m:e>
                              <m:sub>
                                <m:r>
                                  <a:rPr lang="en-US" altLang="zh-CN" sz="2400" b="1" i="0" dirty="0" smtClean="0">
                                    <a:solidFill>
                                      <a:srgbClr val="FF0000"/>
                                    </a:solidFill>
                                    <a:latin typeface="Cambria Math" panose="02040503050406030204" pitchFamily="18" charset="0"/>
                                    <a:cs typeface="Times New Roman" panose="02020603050405020304" pitchFamily="18" charset="0"/>
                                  </a:rPr>
                                  <m:t>𝐢</m:t>
                                </m:r>
                              </m:sub>
                            </m:sSub>
                          </m:num>
                          <m:den>
                            <m:r>
                              <a:rPr lang="en-US" altLang="zh-CN" sz="2400" b="1" i="0" dirty="0" smtClean="0">
                                <a:solidFill>
                                  <a:srgbClr val="FF0000"/>
                                </a:solidFill>
                                <a:latin typeface="Cambria Math" panose="02040503050406030204" pitchFamily="18" charset="0"/>
                                <a:cs typeface="Times New Roman" panose="02020603050405020304" pitchFamily="18" charset="0"/>
                              </a:rPr>
                              <m:t>𝐈𝐂</m:t>
                            </m:r>
                          </m:den>
                        </m:f>
                        <m:r>
                          <m:rPr>
                            <m:nor/>
                          </m:rPr>
                          <a:rPr lang="en-US" altLang="zh-CN" sz="2400" b="1" dirty="0">
                            <a:solidFill>
                              <a:srgbClr val="FF0000"/>
                            </a:solidFill>
                            <a:latin typeface="Times New Roman" panose="02020603050405020304" pitchFamily="18" charset="0"/>
                            <a:cs typeface="Times New Roman" panose="02020603050405020304" pitchFamily="18" charset="0"/>
                          </a:rPr>
                          <m:t>)</m:t>
                        </m:r>
                      </m:e>
                    </m:nary>
                  </m:oMath>
                </a14:m>
                <a:endParaRPr lang="en-US" altLang="zh-CN" sz="2400" b="1" dirty="0">
                  <a:solidFill>
                    <a:srgbClr val="FF0000"/>
                  </a:solidFill>
                  <a:latin typeface="Times New Roman" panose="02020603050405020304" pitchFamily="18" charset="0"/>
                  <a:cs typeface="Times New Roman" panose="02020603050405020304" pitchFamily="18" charset="0"/>
                </a:endParaRPr>
              </a:p>
              <a:p>
                <a:pPr marL="0" indent="0">
                  <a:lnSpc>
                    <a:spcPct val="150000"/>
                  </a:lnSpc>
                  <a:spcBef>
                    <a:spcPct val="0"/>
                  </a:spcBef>
                  <a:buNone/>
                </a:pPr>
                <a:endParaRPr lang="en-US" altLang="zh-C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6018" name="Rectangle 3"/>
              <p:cNvSpPr>
                <a:spLocks noGrp="1" noRot="1" noChangeAspect="1" noMove="1" noResize="1" noEditPoints="1" noAdjustHandles="1" noChangeArrowheads="1" noChangeShapeType="1" noTextEdit="1"/>
              </p:cNvSpPr>
              <p:nvPr>
                <p:ph idx="1"/>
              </p:nvPr>
            </p:nvSpPr>
            <p:spPr>
              <a:xfrm>
                <a:off x="107504" y="908720"/>
                <a:ext cx="8982744" cy="4948174"/>
              </a:xfrm>
              <a:blipFill>
                <a:blip r:embed="rId4"/>
                <a:stretch>
                  <a:fillRect l="-1086" b="-1650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CB00E487-D6B3-4595-9B51-9B809903ECE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 name="Rectangle 2">
            <a:extLst>
              <a:ext uri="{FF2B5EF4-FFF2-40B4-BE49-F238E27FC236}">
                <a16:creationId xmlns:a16="http://schemas.microsoft.com/office/drawing/2014/main" id="{9746AAC5-B36E-BA26-47E8-6808569F54E3}"/>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2" name="文本框 1">
            <a:extLst>
              <a:ext uri="{FF2B5EF4-FFF2-40B4-BE49-F238E27FC236}">
                <a16:creationId xmlns:a16="http://schemas.microsoft.com/office/drawing/2014/main" id="{40F9D3B9-60D1-48E9-9112-5E8C38BCA566}"/>
              </a:ext>
            </a:extLst>
          </p:cNvPr>
          <p:cNvSpPr txBox="1"/>
          <p:nvPr/>
        </p:nvSpPr>
        <p:spPr>
          <a:xfrm>
            <a:off x="7620000" y="4005064"/>
            <a:ext cx="94644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(1-1)</a:t>
            </a:r>
            <a:endParaRPr lang="zh-CN" altLang="en-US"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9F79FF16-1BE9-4215-A85D-065CA54544E1}"/>
              </a:ext>
            </a:extLst>
          </p:cNvPr>
          <p:cNvSpPr txBox="1"/>
          <p:nvPr/>
        </p:nvSpPr>
        <p:spPr>
          <a:xfrm>
            <a:off x="7620000" y="6162217"/>
            <a:ext cx="94644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(1-2)</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676715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6018">
                                            <p:txEl>
                                              <p:pRg st="0" end="0"/>
                                            </p:txEl>
                                          </p:spTgt>
                                        </p:tgtEl>
                                        <p:attrNameLst>
                                          <p:attrName>style.visibility</p:attrName>
                                        </p:attrNameLst>
                                      </p:cBhvr>
                                      <p:to>
                                        <p:strVal val="visible"/>
                                      </p:to>
                                    </p:set>
                                    <p:animEffect transition="in" filter="randombar(horizontal)">
                                      <p:cBhvr>
                                        <p:cTn id="7" dur="500"/>
                                        <p:tgtEl>
                                          <p:spTgt spid="860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6018">
                                            <p:txEl>
                                              <p:pRg st="1" end="1"/>
                                            </p:txEl>
                                          </p:spTgt>
                                        </p:tgtEl>
                                        <p:attrNameLst>
                                          <p:attrName>style.visibility</p:attrName>
                                        </p:attrNameLst>
                                      </p:cBhvr>
                                      <p:to>
                                        <p:strVal val="visible"/>
                                      </p:to>
                                    </p:set>
                                    <p:animEffect transition="in" filter="randombar(horizontal)">
                                      <p:cBhvr>
                                        <p:cTn id="12" dur="500"/>
                                        <p:tgtEl>
                                          <p:spTgt spid="860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6018">
                                            <p:txEl>
                                              <p:pRg st="2" end="2"/>
                                            </p:txEl>
                                          </p:spTgt>
                                        </p:tgtEl>
                                        <p:attrNameLst>
                                          <p:attrName>style.visibility</p:attrName>
                                        </p:attrNameLst>
                                      </p:cBhvr>
                                      <p:to>
                                        <p:strVal val="visible"/>
                                      </p:to>
                                    </p:set>
                                    <p:animEffect transition="in" filter="randombar(horizontal)">
                                      <p:cBhvr>
                                        <p:cTn id="17" dur="500"/>
                                        <p:tgtEl>
                                          <p:spTgt spid="860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86018">
                                            <p:txEl>
                                              <p:pRg st="3" end="3"/>
                                            </p:txEl>
                                          </p:spTgt>
                                        </p:tgtEl>
                                        <p:attrNameLst>
                                          <p:attrName>style.visibility</p:attrName>
                                        </p:attrNameLst>
                                      </p:cBhvr>
                                      <p:to>
                                        <p:strVal val="visible"/>
                                      </p:to>
                                    </p:set>
                                    <p:animEffect transition="in" filter="randombar(horizontal)">
                                      <p:cBhvr>
                                        <p:cTn id="22" dur="500"/>
                                        <p:tgtEl>
                                          <p:spTgt spid="860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6018">
                                            <p:txEl>
                                              <p:pRg st="4" end="4"/>
                                            </p:txEl>
                                          </p:spTgt>
                                        </p:tgtEl>
                                        <p:attrNameLst>
                                          <p:attrName>style.visibility</p:attrName>
                                        </p:attrNameLst>
                                      </p:cBhvr>
                                      <p:to>
                                        <p:strVal val="visible"/>
                                      </p:to>
                                    </p:set>
                                    <p:animEffect transition="in" filter="randombar(horizontal)">
                                      <p:cBhvr>
                                        <p:cTn id="27" dur="500"/>
                                        <p:tgtEl>
                                          <p:spTgt spid="860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86018">
                                            <p:txEl>
                                              <p:pRg st="5" end="5"/>
                                            </p:txEl>
                                          </p:spTgt>
                                        </p:tgtEl>
                                        <p:attrNameLst>
                                          <p:attrName>style.visibility</p:attrName>
                                        </p:attrNameLst>
                                      </p:cBhvr>
                                      <p:to>
                                        <p:strVal val="visible"/>
                                      </p:to>
                                    </p:set>
                                    <p:animEffect transition="in" filter="randombar(horizontal)">
                                      <p:cBhvr>
                                        <p:cTn id="32" dur="500"/>
                                        <p:tgtEl>
                                          <p:spTgt spid="860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86018">
                                            <p:txEl>
                                              <p:pRg st="6" end="6"/>
                                            </p:txEl>
                                          </p:spTgt>
                                        </p:tgtEl>
                                        <p:attrNameLst>
                                          <p:attrName>style.visibility</p:attrName>
                                        </p:attrNameLst>
                                      </p:cBhvr>
                                      <p:to>
                                        <p:strVal val="visible"/>
                                      </p:to>
                                    </p:set>
                                    <p:animEffect transition="in" filter="randombar(horizontal)">
                                      <p:cBhvr>
                                        <p:cTn id="37" dur="500"/>
                                        <p:tgtEl>
                                          <p:spTgt spid="860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6018" name="Rectangle 3"/>
          <p:cNvSpPr>
            <a:spLocks noGrp="1" noChangeArrowheads="1"/>
          </p:cNvSpPr>
          <p:nvPr>
            <p:ph idx="1"/>
          </p:nvPr>
        </p:nvSpPr>
        <p:spPr>
          <a:xfrm>
            <a:off x="179513" y="908720"/>
            <a:ext cx="8640960" cy="1368152"/>
          </a:xfrm>
        </p:spPr>
        <p:txBody>
          <a:bodyPr/>
          <a:lstStyle/>
          <a:p>
            <a:pPr marL="0" indent="0">
              <a:lnSpc>
                <a:spcPct val="150000"/>
              </a:lnSpc>
              <a:spcBef>
                <a:spcPct val="0"/>
              </a:spcBef>
              <a:buNone/>
            </a:pPr>
            <a:r>
              <a:rPr lang="zh-CN" altLang="en-US" sz="2400" b="1" dirty="0">
                <a:latin typeface="Times New Roman" panose="02020603050405020304" pitchFamily="18" charset="0"/>
                <a:cs typeface="Times New Roman" panose="02020603050405020304" pitchFamily="18" charset="0"/>
              </a:rPr>
              <a:t>例</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 某计算机指令系统中各类指令所占比例及</a:t>
            </a:r>
            <a:r>
              <a:rPr lang="en-US" altLang="zh-CN" sz="2400" b="1" dirty="0">
                <a:latin typeface="Times New Roman" panose="02020603050405020304" pitchFamily="18" charset="0"/>
                <a:cs typeface="Times New Roman" panose="02020603050405020304" pitchFamily="18" charset="0"/>
              </a:rPr>
              <a:t>CPI</a:t>
            </a:r>
            <a:r>
              <a:rPr lang="zh-CN" altLang="en-US" sz="2400" b="1" dirty="0">
                <a:latin typeface="Times New Roman" panose="02020603050405020304" pitchFamily="18" charset="0"/>
                <a:cs typeface="Times New Roman" panose="02020603050405020304" pitchFamily="18" charset="0"/>
              </a:rPr>
              <a:t>如下表所示，求程序的</a:t>
            </a:r>
            <a:r>
              <a:rPr lang="en-US" altLang="zh-CN" sz="2400" b="1" dirty="0">
                <a:latin typeface="Times New Roman" panose="02020603050405020304" pitchFamily="18" charset="0"/>
                <a:cs typeface="Times New Roman" panose="02020603050405020304" pitchFamily="18" charset="0"/>
              </a:rPr>
              <a:t>CPI</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800" b="1" dirty="0">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800" b="1" dirty="0">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8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CF3F8906-E973-40EE-A88D-8463A534A2B2}"/>
              </a:ext>
            </a:extLst>
          </p:cNvPr>
          <p:cNvPicPr>
            <a:picLocks noChangeAspect="1"/>
          </p:cNvPicPr>
          <p:nvPr/>
        </p:nvPicPr>
        <p:blipFill>
          <a:blip r:embed="rId4"/>
          <a:stretch>
            <a:fillRect/>
          </a:stretch>
        </p:blipFill>
        <p:spPr>
          <a:xfrm>
            <a:off x="2771800" y="1988840"/>
            <a:ext cx="3384376" cy="2097417"/>
          </a:xfrm>
          <a:prstGeom prst="rect">
            <a:avLst/>
          </a:prstGeom>
        </p:spPr>
      </p:pic>
      <p:sp>
        <p:nvSpPr>
          <p:cNvPr id="3" name="灯片编号占位符 2">
            <a:extLst>
              <a:ext uri="{FF2B5EF4-FFF2-40B4-BE49-F238E27FC236}">
                <a16:creationId xmlns:a16="http://schemas.microsoft.com/office/drawing/2014/main" id="{B1565963-9463-42CE-85C2-8210ED96B8A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2635990F-C0C6-84D5-8646-83BA5D86D93B}"/>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8" name="文本框 7">
            <a:extLst>
              <a:ext uri="{FF2B5EF4-FFF2-40B4-BE49-F238E27FC236}">
                <a16:creationId xmlns:a16="http://schemas.microsoft.com/office/drawing/2014/main" id="{4062BBA1-44C8-438F-BB1E-21E149B31A17}"/>
              </a:ext>
            </a:extLst>
          </p:cNvPr>
          <p:cNvSpPr txBox="1"/>
          <p:nvPr/>
        </p:nvSpPr>
        <p:spPr>
          <a:xfrm>
            <a:off x="179512" y="4416045"/>
            <a:ext cx="8352927" cy="576248"/>
          </a:xfrm>
          <a:prstGeom prst="rect">
            <a:avLst/>
          </a:prstGeom>
          <a:noFill/>
        </p:spPr>
        <p:txBody>
          <a:bodyPr wrap="square">
            <a:spAutoFit/>
          </a:bodyPr>
          <a:lstStyle/>
          <a:p>
            <a:pPr marL="0" indent="0">
              <a:lnSpc>
                <a:spcPct val="150000"/>
              </a:lnSpc>
              <a:spcBef>
                <a:spcPct val="0"/>
              </a:spcBef>
              <a:buNone/>
            </a:pPr>
            <a:r>
              <a:rPr lang="zh-CN" altLang="en-US" sz="2400" b="1" dirty="0">
                <a:latin typeface="Times New Roman" panose="02020603050405020304" pitchFamily="18" charset="0"/>
                <a:cs typeface="Times New Roman" panose="02020603050405020304" pitchFamily="18" charset="0"/>
              </a:rPr>
              <a:t>解：</a:t>
            </a:r>
            <a:r>
              <a:rPr lang="en-US" altLang="zh-CN" sz="2400" b="1" dirty="0">
                <a:latin typeface="Times New Roman" panose="02020603050405020304" pitchFamily="18" charset="0"/>
                <a:cs typeface="Times New Roman" panose="02020603050405020304" pitchFamily="18" charset="0"/>
              </a:rPr>
              <a:t>CPI=1×60%+2×18%+4×12%+8×10%=2.24</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443641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6018" name="Rectangle 3"/>
              <p:cNvSpPr>
                <a:spLocks noGrp="1" noChangeArrowheads="1"/>
              </p:cNvSpPr>
              <p:nvPr>
                <p:ph idx="1"/>
              </p:nvPr>
            </p:nvSpPr>
            <p:spPr>
              <a:xfrm>
                <a:off x="80876" y="801381"/>
                <a:ext cx="8943958" cy="5271988"/>
              </a:xfrm>
            </p:spPr>
            <p:txBody>
              <a:bodyPr/>
              <a:lstStyle/>
              <a:p>
                <a:pPr marL="0" indent="0" eaLnBrk="1" hangingPunct="1">
                  <a:lnSpc>
                    <a:spcPct val="150000"/>
                  </a:lnSpc>
                  <a:spcBef>
                    <a:spcPct val="0"/>
                  </a:spcBef>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3</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CPU</a:t>
                </a:r>
                <a:r>
                  <a:rPr lang="zh-CN" altLang="en-US" sz="2400" b="1" dirty="0">
                    <a:solidFill>
                      <a:srgbClr val="0000FF"/>
                    </a:solidFill>
                    <a:latin typeface="Times New Roman" panose="02020603050405020304" pitchFamily="18" charset="0"/>
                    <a:cs typeface="Times New Roman" panose="02020603050405020304" pitchFamily="18" charset="0"/>
                  </a:rPr>
                  <a:t>时间（执行时间）</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latin typeface="Times New Roman" panose="02020603050405020304" pitchFamily="18" charset="0"/>
                    <a:cs typeface="Times New Roman" panose="02020603050405020304" pitchFamily="18" charset="0"/>
                  </a:rPr>
                  <a:t>某段程序的</a:t>
                </a:r>
                <a:r>
                  <a:rPr lang="en-US" altLang="zh-CN" sz="2400" b="1" dirty="0">
                    <a:latin typeface="Times New Roman" panose="02020603050405020304" pitchFamily="18" charset="0"/>
                    <a:cs typeface="Times New Roman" panose="02020603050405020304" pitchFamily="18" charset="0"/>
                  </a:rPr>
                  <a:t>CPU</a:t>
                </a:r>
                <a:r>
                  <a:rPr lang="zh-CN" altLang="en-US" sz="2400" b="1" dirty="0">
                    <a:latin typeface="Times New Roman" panose="02020603050405020304" pitchFamily="18" charset="0"/>
                    <a:cs typeface="Times New Roman" panose="02020603050405020304" pitchFamily="18" charset="0"/>
                  </a:rPr>
                  <a:t>时间</a:t>
                </a:r>
                <a:r>
                  <a:rPr lang="en-US" altLang="zh-CN" sz="2400" b="1" dirty="0">
                    <a:latin typeface="Times New Roman" panose="02020603050405020304" pitchFamily="18" charset="0"/>
                    <a:cs typeface="Times New Roman" panose="02020603050405020304" pitchFamily="18" charset="0"/>
                  </a:rPr>
                  <a:t>T</a:t>
                </a:r>
                <a:r>
                  <a:rPr lang="en-US" altLang="zh-CN" sz="2400" b="1" baseline="-25000" dirty="0">
                    <a:latin typeface="Times New Roman" panose="02020603050405020304" pitchFamily="18" charset="0"/>
                    <a:cs typeface="Times New Roman" panose="02020603050405020304" pitchFamily="18" charset="0"/>
                  </a:rPr>
                  <a:t>CPU</a:t>
                </a:r>
                <a:r>
                  <a:rPr lang="zh-CN" altLang="en-US" sz="2400" b="1" dirty="0">
                    <a:latin typeface="Times New Roman" panose="02020603050405020304" pitchFamily="18" charset="0"/>
                    <a:cs typeface="Times New Roman" panose="02020603050405020304" pitchFamily="18" charset="0"/>
                  </a:rPr>
                  <a:t>可表示为：</a:t>
                </a:r>
                <a:endParaRPr lang="en-US" altLang="zh-CN" sz="2400" b="1" dirty="0">
                  <a:latin typeface="Times New Roman" panose="02020603050405020304" pitchFamily="18" charset="0"/>
                  <a:cs typeface="Times New Roman" panose="02020603050405020304" pitchFamily="18" charset="0"/>
                </a:endParaRPr>
              </a:p>
              <a:p>
                <a:pPr marL="0" indent="0" algn="ctr">
                  <a:spcBef>
                    <a:spcPct val="0"/>
                  </a:spcBef>
                  <a:buNone/>
                </a:pPr>
                <a14:m>
                  <m:oMathPara xmlns:m="http://schemas.openxmlformats.org/officeDocument/2006/math">
                    <m:oMathParaPr>
                      <m:jc m:val="centerGroup"/>
                    </m:oMathParaPr>
                    <m:oMath xmlns:m="http://schemas.openxmlformats.org/officeDocument/2006/math">
                      <m:sSub>
                        <m:sSubPr>
                          <m:ctrlPr>
                            <a:rPr lang="en-US" altLang="zh-CN" sz="2400" b="1" i="1" smtClean="0">
                              <a:solidFill>
                                <a:srgbClr val="FF0000"/>
                              </a:solidFill>
                              <a:latin typeface="Cambria Math" panose="02040503050406030204" pitchFamily="18" charset="0"/>
                              <a:cs typeface="Times New Roman" panose="02020603050405020304" pitchFamily="18" charset="0"/>
                            </a:rPr>
                          </m:ctrlPr>
                        </m:sSubPr>
                        <m:e>
                          <m:r>
                            <m:rPr>
                              <m:sty m:val="p"/>
                            </m:rPr>
                            <a:rPr lang="en-US" altLang="zh-CN" sz="2400" b="1" i="1">
                              <a:solidFill>
                                <a:srgbClr val="FF0000"/>
                              </a:solidFill>
                              <a:latin typeface="Cambria Math" panose="02040503050406030204" pitchFamily="18" charset="0"/>
                              <a:cs typeface="Times New Roman" panose="02020603050405020304" pitchFamily="18" charset="0"/>
                            </a:rPr>
                            <m:t>T</m:t>
                          </m:r>
                        </m:e>
                        <m:sub>
                          <m:r>
                            <m:rPr>
                              <m:sty m:val="p"/>
                            </m:rPr>
                            <a:rPr lang="en-US" altLang="zh-CN" sz="2400" b="1" i="1">
                              <a:solidFill>
                                <a:srgbClr val="FF0000"/>
                              </a:solidFill>
                              <a:latin typeface="Cambria Math" panose="02040503050406030204" pitchFamily="18" charset="0"/>
                              <a:cs typeface="Times New Roman" panose="02020603050405020304" pitchFamily="18" charset="0"/>
                            </a:rPr>
                            <m:t>CPU</m:t>
                          </m:r>
                        </m:sub>
                      </m:sSub>
                      <m:r>
                        <a:rPr lang="en-US" altLang="zh-CN" sz="2400" b="1" i="1" smtClean="0">
                          <a:solidFill>
                            <a:srgbClr val="FF0000"/>
                          </a:solidFill>
                          <a:latin typeface="Cambria Math" panose="02040503050406030204" pitchFamily="18" charset="0"/>
                          <a:cs typeface="Times New Roman" panose="02020603050405020304" pitchFamily="18" charset="0"/>
                        </a:rPr>
                        <m:t>=</m:t>
                      </m:r>
                      <m:r>
                        <m:rPr>
                          <m:sty m:val="p"/>
                        </m:rPr>
                        <a:rPr lang="en-US" altLang="zh-CN" sz="2400" b="0" i="0" smtClean="0">
                          <a:solidFill>
                            <a:srgbClr val="FF0000"/>
                          </a:solidFill>
                          <a:latin typeface="Cambria Math" panose="02040503050406030204" pitchFamily="18" charset="0"/>
                          <a:cs typeface="Times New Roman" panose="02020603050405020304" pitchFamily="18" charset="0"/>
                        </a:rPr>
                        <m:t>m</m:t>
                      </m:r>
                      <m:r>
                        <a:rPr lang="en-US" altLang="zh-CN" sz="2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𝑇</m:t>
                      </m:r>
                      <m:r>
                        <a:rPr lang="en-US" altLang="zh-CN" sz="2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𝑚</m:t>
                          </m:r>
                        </m:num>
                        <m:den>
                          <m:r>
                            <a:rPr lang="en-US" altLang="zh-CN" sz="2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𝑓</m:t>
                          </m:r>
                        </m:den>
                      </m:f>
                    </m:oMath>
                  </m:oMathPara>
                </a14:m>
                <a:endParaRPr lang="en-US" altLang="zh-CN" sz="2400" dirty="0">
                  <a:solidFill>
                    <a:srgbClr val="FF0000"/>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latin typeface="Times New Roman" panose="02020603050405020304" pitchFamily="18" charset="0"/>
                    <a:cs typeface="Times New Roman" panose="02020603050405020304" pitchFamily="18" charset="0"/>
                  </a:rPr>
                  <a:t>考虑</a:t>
                </a:r>
                <a:r>
                  <a:rPr lang="en-US" altLang="zh-CN" sz="2400" b="1" dirty="0">
                    <a:latin typeface="Times New Roman" panose="02020603050405020304" pitchFamily="18" charset="0"/>
                    <a:cs typeface="Times New Roman" panose="02020603050405020304" pitchFamily="18" charset="0"/>
                  </a:rPr>
                  <a:t>CPI</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CPU</a:t>
                </a:r>
                <a:r>
                  <a:rPr lang="zh-CN" altLang="en-US" sz="2400" b="1" dirty="0">
                    <a:latin typeface="Times New Roman" panose="02020603050405020304" pitchFamily="18" charset="0"/>
                    <a:cs typeface="Times New Roman" panose="02020603050405020304" pitchFamily="18" charset="0"/>
                  </a:rPr>
                  <a:t>时间可以表示为：</a:t>
                </a:r>
                <a:endParaRPr lang="en-US" altLang="zh-CN" sz="2400" b="1" dirty="0">
                  <a:latin typeface="Times New Roman" panose="02020603050405020304" pitchFamily="18" charset="0"/>
                  <a:cs typeface="Times New Roman" panose="02020603050405020304" pitchFamily="18" charset="0"/>
                </a:endParaRPr>
              </a:p>
              <a:p>
                <a:pPr marL="0" indent="0">
                  <a:spcBef>
                    <a:spcPct val="0"/>
                  </a:spcBef>
                  <a:buNone/>
                </a:pPr>
                <a14:m>
                  <m:oMathPara xmlns:m="http://schemas.openxmlformats.org/officeDocument/2006/math">
                    <m:oMathParaPr>
                      <m:jc m:val="centerGroup"/>
                    </m:oMathParaPr>
                    <m:oMath xmlns:m="http://schemas.openxmlformats.org/officeDocument/2006/math">
                      <m:sSub>
                        <m:sSubPr>
                          <m:ctrlPr>
                            <a:rPr lang="en-US" altLang="zh-CN" sz="2400" b="1" i="1">
                              <a:solidFill>
                                <a:srgbClr val="FF0000"/>
                              </a:solidFill>
                              <a:latin typeface="Cambria Math" panose="02040503050406030204" pitchFamily="18" charset="0"/>
                              <a:cs typeface="Times New Roman" panose="02020603050405020304" pitchFamily="18" charset="0"/>
                            </a:rPr>
                          </m:ctrlPr>
                        </m:sSubPr>
                        <m:e>
                          <m:r>
                            <m:rPr>
                              <m:sty m:val="p"/>
                            </m:rPr>
                            <a:rPr lang="en-US" altLang="zh-CN" sz="2400" b="1" i="1">
                              <a:solidFill>
                                <a:srgbClr val="FF0000"/>
                              </a:solidFill>
                              <a:latin typeface="Cambria Math" panose="02040503050406030204" pitchFamily="18" charset="0"/>
                              <a:cs typeface="Times New Roman" panose="02020603050405020304" pitchFamily="18" charset="0"/>
                            </a:rPr>
                            <m:t>T</m:t>
                          </m:r>
                        </m:e>
                        <m:sub>
                          <m:r>
                            <m:rPr>
                              <m:sty m:val="p"/>
                            </m:rPr>
                            <a:rPr lang="en-US" altLang="zh-CN" sz="2400" b="1" i="1">
                              <a:solidFill>
                                <a:srgbClr val="FF0000"/>
                              </a:solidFill>
                              <a:latin typeface="Cambria Math" panose="02040503050406030204" pitchFamily="18" charset="0"/>
                              <a:cs typeface="Times New Roman" panose="02020603050405020304" pitchFamily="18" charset="0"/>
                            </a:rPr>
                            <m:t>CPU</m:t>
                          </m:r>
                        </m:sub>
                      </m:sSub>
                      <m:r>
                        <a:rPr lang="en-US" altLang="zh-CN" sz="2400" b="1" i="1">
                          <a:solidFill>
                            <a:srgbClr val="FF0000"/>
                          </a:solidFill>
                          <a:latin typeface="Cambria Math" panose="02040503050406030204" pitchFamily="18" charset="0"/>
                          <a:cs typeface="Times New Roman" panose="02020603050405020304" pitchFamily="18" charset="0"/>
                        </a:rPr>
                        <m:t>=</m:t>
                      </m:r>
                      <m:r>
                        <m:rPr>
                          <m:sty m:val="p"/>
                        </m:rPr>
                        <a:rPr lang="en-US" altLang="zh-CN" sz="2400" b="1" i="1" smtClean="0">
                          <a:solidFill>
                            <a:srgbClr val="FF0000"/>
                          </a:solidFill>
                          <a:latin typeface="Cambria Math" panose="02040503050406030204" pitchFamily="18" charset="0"/>
                          <a:cs typeface="Times New Roman" panose="02020603050405020304" pitchFamily="18" charset="0"/>
                        </a:rPr>
                        <m:t>CPI</m:t>
                      </m:r>
                      <m:r>
                        <a:rPr lang="en-US" altLang="zh-CN"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4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IC</m:t>
                      </m:r>
                      <m:r>
                        <a:rPr lang="en-US" altLang="zh-CN"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4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T</m:t>
                      </m:r>
                      <m:r>
                        <a:rPr lang="en-US" altLang="zh-CN"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4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0" i="1">
                              <a:solidFill>
                                <a:srgbClr val="FF0000"/>
                              </a:solidFill>
                              <a:latin typeface="Cambria Math" panose="02040503050406030204" pitchFamily="18" charset="0"/>
                              <a:cs typeface="Times New Roman" panose="02020603050405020304" pitchFamily="18" charset="0"/>
                            </a:rPr>
                            <m:t>𝐶𝑃𝐼</m:t>
                          </m:r>
                          <m:r>
                            <a:rPr lang="en-US" altLang="zh-CN" sz="2400" b="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𝐼𝐶</m:t>
                          </m:r>
                        </m:num>
                        <m:den>
                          <m:r>
                            <a:rPr lang="en-US" altLang="zh-CN" sz="2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𝑓</m:t>
                          </m:r>
                        </m:den>
                      </m:f>
                    </m:oMath>
                  </m:oMathPara>
                </a14:m>
                <a:endParaRPr lang="en-US" altLang="zh-CN" sz="28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6018" name="Rectangle 3"/>
              <p:cNvSpPr>
                <a:spLocks noGrp="1" noRot="1" noChangeAspect="1" noMove="1" noResize="1" noEditPoints="1" noAdjustHandles="1" noChangeArrowheads="1" noChangeShapeType="1" noTextEdit="1"/>
              </p:cNvSpPr>
              <p:nvPr>
                <p:ph idx="1"/>
              </p:nvPr>
            </p:nvSpPr>
            <p:spPr>
              <a:xfrm>
                <a:off x="80876" y="801381"/>
                <a:ext cx="8943958" cy="5271988"/>
              </a:xfrm>
              <a:blipFill>
                <a:blip r:embed="rId4"/>
                <a:stretch>
                  <a:fillRect l="-102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B1565963-9463-42CE-85C2-8210ED96B8A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2635990F-C0C6-84D5-8646-83BA5D86D93B}"/>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8" name="文本框 7">
            <a:extLst>
              <a:ext uri="{FF2B5EF4-FFF2-40B4-BE49-F238E27FC236}">
                <a16:creationId xmlns:a16="http://schemas.microsoft.com/office/drawing/2014/main" id="{BC1C53A9-3BA0-47C9-A7D7-13CBBC1220CF}"/>
              </a:ext>
            </a:extLst>
          </p:cNvPr>
          <p:cNvSpPr txBox="1"/>
          <p:nvPr/>
        </p:nvSpPr>
        <p:spPr>
          <a:xfrm>
            <a:off x="40552" y="4083681"/>
            <a:ext cx="9016809" cy="2685735"/>
          </a:xfrm>
          <a:prstGeom prst="rect">
            <a:avLst/>
          </a:prstGeom>
          <a:solidFill>
            <a:srgbClr val="FFFFCC"/>
          </a:solidFill>
        </p:spPr>
        <p:txBody>
          <a:bodyPr wrap="square">
            <a:spAutoFit/>
          </a:bodyPr>
          <a:lstStyle/>
          <a:p>
            <a:pPr>
              <a:lnSpc>
                <a:spcPct val="130000"/>
              </a:lnSpc>
            </a:pPr>
            <a:r>
              <a:rPr lang="zh-CN" altLang="en-US" sz="2200" b="1" dirty="0">
                <a:latin typeface="Times New Roman" panose="02020603050405020304" pitchFamily="18" charset="0"/>
                <a:cs typeface="Times New Roman" panose="02020603050405020304" pitchFamily="18" charset="0"/>
              </a:rPr>
              <a:t>可以看出</a:t>
            </a:r>
            <a:r>
              <a:rPr lang="en-US" altLang="zh-CN" sz="2200" b="1" dirty="0">
                <a:latin typeface="Times New Roman" panose="02020603050405020304" pitchFamily="18" charset="0"/>
                <a:cs typeface="Times New Roman" panose="02020603050405020304" pitchFamily="18" charset="0"/>
              </a:rPr>
              <a:t>CPU</a:t>
            </a:r>
            <a:r>
              <a:rPr lang="zh-CN" altLang="en-US" sz="2200" b="1" dirty="0">
                <a:latin typeface="Times New Roman" panose="02020603050405020304" pitchFamily="18" charset="0"/>
                <a:cs typeface="Times New Roman" panose="02020603050405020304" pitchFamily="18" charset="0"/>
              </a:rPr>
              <a:t>时间与下列</a:t>
            </a:r>
            <a:r>
              <a:rPr lang="en-US" altLang="zh-CN" sz="2200" b="1" dirty="0">
                <a:latin typeface="Times New Roman" panose="02020603050405020304" pitchFamily="18" charset="0"/>
                <a:cs typeface="Times New Roman" panose="02020603050405020304" pitchFamily="18" charset="0"/>
              </a:rPr>
              <a:t>3</a:t>
            </a:r>
            <a:r>
              <a:rPr lang="zh-CN" altLang="en-US" sz="2200" b="1" dirty="0">
                <a:latin typeface="Times New Roman" panose="02020603050405020304" pitchFamily="18" charset="0"/>
                <a:cs typeface="Times New Roman" panose="02020603050405020304" pitchFamily="18" charset="0"/>
              </a:rPr>
              <a:t>个因素紧密相关。</a:t>
            </a:r>
            <a:endParaRPr lang="en-US" altLang="zh-CN" sz="2200" b="1" dirty="0">
              <a:latin typeface="Times New Roman" panose="02020603050405020304" pitchFamily="18" charset="0"/>
              <a:cs typeface="Times New Roman" panose="02020603050405020304" pitchFamily="18" charset="0"/>
            </a:endParaRPr>
          </a:p>
          <a:p>
            <a:pPr>
              <a:lnSpc>
                <a:spcPct val="130000"/>
              </a:lnSpc>
            </a:pP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a:solidFill>
                  <a:srgbClr val="FF0000"/>
                </a:solidFill>
                <a:latin typeface="Times New Roman" panose="02020603050405020304" pitchFamily="18" charset="0"/>
                <a:cs typeface="Times New Roman" panose="02020603050405020304" pitchFamily="18" charset="0"/>
              </a:rPr>
              <a:t>1</a:t>
            </a:r>
            <a:r>
              <a:rPr lang="zh-CN" altLang="en-US" sz="2200" b="1" dirty="0">
                <a:solidFill>
                  <a:srgbClr val="FF0000"/>
                </a:solidFill>
                <a:latin typeface="Times New Roman" panose="02020603050405020304" pitchFamily="18" charset="0"/>
                <a:cs typeface="Times New Roman" panose="02020603050405020304" pitchFamily="18" charset="0"/>
              </a:rPr>
              <a:t>）时钟频率。</a:t>
            </a:r>
            <a:r>
              <a:rPr lang="zh-CN" altLang="en-US" sz="2200" b="1" dirty="0">
                <a:latin typeface="Times New Roman" panose="02020603050405020304" pitchFamily="18" charset="0"/>
                <a:cs typeface="Times New Roman" panose="02020603050405020304" pitchFamily="18" charset="0"/>
              </a:rPr>
              <a:t>时钟频率取决于</a:t>
            </a:r>
            <a:r>
              <a:rPr lang="en-US" altLang="zh-CN" sz="2200" b="1" dirty="0">
                <a:solidFill>
                  <a:srgbClr val="0000FF"/>
                </a:solidFill>
                <a:latin typeface="Times New Roman" panose="02020603050405020304" pitchFamily="18" charset="0"/>
                <a:cs typeface="Times New Roman" panose="02020603050405020304" pitchFamily="18" charset="0"/>
              </a:rPr>
              <a:t>CPU</a:t>
            </a:r>
            <a:r>
              <a:rPr lang="zh-CN" altLang="en-US" sz="2200" b="1" dirty="0">
                <a:solidFill>
                  <a:srgbClr val="0000FF"/>
                </a:solidFill>
                <a:latin typeface="Times New Roman" panose="02020603050405020304" pitchFamily="18" charset="0"/>
                <a:cs typeface="Times New Roman" panose="02020603050405020304" pitchFamily="18" charset="0"/>
              </a:rPr>
              <a:t>的实现技术和工艺</a:t>
            </a:r>
            <a:r>
              <a:rPr lang="zh-CN" altLang="en-US" sz="2200" b="1" dirty="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pPr>
              <a:lnSpc>
                <a:spcPct val="130000"/>
              </a:lnSpc>
            </a:pP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a:solidFill>
                  <a:srgbClr val="FF0000"/>
                </a:solidFill>
                <a:latin typeface="Times New Roman" panose="02020603050405020304" pitchFamily="18" charset="0"/>
                <a:cs typeface="Times New Roman" panose="02020603050405020304" pitchFamily="18" charset="0"/>
              </a:rPr>
              <a:t>2</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a:solidFill>
                  <a:srgbClr val="FF0000"/>
                </a:solidFill>
                <a:latin typeface="Times New Roman" panose="02020603050405020304" pitchFamily="18" charset="0"/>
                <a:cs typeface="Times New Roman" panose="02020603050405020304" pitchFamily="18" charset="0"/>
              </a:rPr>
              <a:t>CPI</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a:latin typeface="Times New Roman" panose="02020603050405020304" pitchFamily="18" charset="0"/>
                <a:cs typeface="Times New Roman" panose="02020603050405020304" pitchFamily="18" charset="0"/>
              </a:rPr>
              <a:t>CPI</a:t>
            </a:r>
            <a:r>
              <a:rPr lang="zh-CN" altLang="en-US" sz="2200" b="1" dirty="0">
                <a:latin typeface="Times New Roman" panose="02020603050405020304" pitchFamily="18" charset="0"/>
                <a:cs typeface="Times New Roman" panose="02020603050405020304" pitchFamily="18" charset="0"/>
              </a:rPr>
              <a:t>取决于</a:t>
            </a:r>
            <a:r>
              <a:rPr lang="zh-CN" altLang="en-US" sz="2200" b="1" dirty="0">
                <a:solidFill>
                  <a:srgbClr val="0000FF"/>
                </a:solidFill>
                <a:latin typeface="Times New Roman" panose="02020603050405020304" pitchFamily="18" charset="0"/>
                <a:cs typeface="Times New Roman" panose="02020603050405020304" pitchFamily="18" charset="0"/>
              </a:rPr>
              <a:t>计算机的实现技术和指令集结构</a:t>
            </a:r>
            <a:r>
              <a:rPr lang="zh-CN" altLang="en-US" sz="2200" b="1" dirty="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pPr>
              <a:lnSpc>
                <a:spcPct val="130000"/>
              </a:lnSpc>
            </a:pP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a:solidFill>
                  <a:srgbClr val="FF0000"/>
                </a:solidFill>
                <a:latin typeface="Times New Roman" panose="02020603050405020304" pitchFamily="18" charset="0"/>
                <a:cs typeface="Times New Roman" panose="02020603050405020304" pitchFamily="18" charset="0"/>
              </a:rPr>
              <a:t>3</a:t>
            </a:r>
            <a:r>
              <a:rPr lang="zh-CN" altLang="en-US" sz="2200" b="1" dirty="0">
                <a:solidFill>
                  <a:srgbClr val="FF0000"/>
                </a:solidFill>
                <a:latin typeface="Times New Roman" panose="02020603050405020304" pitchFamily="18" charset="0"/>
                <a:cs typeface="Times New Roman" panose="02020603050405020304" pitchFamily="18" charset="0"/>
              </a:rPr>
              <a:t>）指令条数</a:t>
            </a:r>
            <a:r>
              <a:rPr lang="en-US" altLang="zh-CN" sz="2200" b="1" dirty="0">
                <a:solidFill>
                  <a:srgbClr val="FF0000"/>
                </a:solidFill>
                <a:latin typeface="Times New Roman" panose="02020603050405020304" pitchFamily="18" charset="0"/>
                <a:cs typeface="Times New Roman" panose="02020603050405020304" pitchFamily="18" charset="0"/>
              </a:rPr>
              <a:t>IC</a:t>
            </a:r>
            <a:r>
              <a:rPr lang="zh-CN" altLang="en-US" sz="2200" b="1" dirty="0">
                <a:solidFill>
                  <a:srgbClr val="FF0000"/>
                </a:solidFill>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当</a:t>
            </a:r>
            <a:r>
              <a:rPr lang="en-US" altLang="zh-CN" sz="2200" b="1" dirty="0">
                <a:latin typeface="Times New Roman" panose="02020603050405020304" pitchFamily="18" charset="0"/>
                <a:cs typeface="Times New Roman" panose="02020603050405020304" pitchFamily="18" charset="0"/>
              </a:rPr>
              <a:t>CPI</a:t>
            </a:r>
            <a:r>
              <a:rPr lang="zh-CN" altLang="en-US" sz="2200" b="1" dirty="0">
                <a:latin typeface="Times New Roman" panose="02020603050405020304" pitchFamily="18" charset="0"/>
                <a:cs typeface="Times New Roman" panose="02020603050405020304" pitchFamily="18" charset="0"/>
              </a:rPr>
              <a:t>和时钟周期固定时，程序指令条数越少，执行速度就越快。完成相同功能的程序所包含的指令条数主要与</a:t>
            </a:r>
            <a:r>
              <a:rPr lang="zh-CN" altLang="en-US" sz="2200" b="1" dirty="0">
                <a:solidFill>
                  <a:srgbClr val="0000FF"/>
                </a:solidFill>
                <a:latin typeface="Times New Roman" panose="02020603050405020304" pitchFamily="18" charset="0"/>
                <a:cs typeface="Times New Roman" panose="02020603050405020304" pitchFamily="18" charset="0"/>
              </a:rPr>
              <a:t>指令系统的设计和编译技术有关</a:t>
            </a:r>
            <a:r>
              <a:rPr lang="zh-CN" altLang="en-US" sz="2200" b="1" dirty="0">
                <a:latin typeface="Times New Roman" panose="02020603050405020304" pitchFamily="18" charset="0"/>
                <a:cs typeface="Times New Roman" panose="02020603050405020304" pitchFamily="18" charset="0"/>
              </a:rPr>
              <a:t>。</a:t>
            </a:r>
          </a:p>
        </p:txBody>
      </p:sp>
      <p:sp>
        <p:nvSpPr>
          <p:cNvPr id="9" name="文本框 8">
            <a:extLst>
              <a:ext uri="{FF2B5EF4-FFF2-40B4-BE49-F238E27FC236}">
                <a16:creationId xmlns:a16="http://schemas.microsoft.com/office/drawing/2014/main" id="{39DE6921-99F3-406B-8AD0-690D73B6A032}"/>
              </a:ext>
            </a:extLst>
          </p:cNvPr>
          <p:cNvSpPr txBox="1"/>
          <p:nvPr/>
        </p:nvSpPr>
        <p:spPr>
          <a:xfrm>
            <a:off x="7946675" y="1763279"/>
            <a:ext cx="94644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(1-3)</a:t>
            </a:r>
            <a:endParaRPr lang="zh-CN" altLang="en-US"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2BE15D69-EB32-455A-8B21-82A911064A1D}"/>
              </a:ext>
            </a:extLst>
          </p:cNvPr>
          <p:cNvSpPr txBox="1"/>
          <p:nvPr/>
        </p:nvSpPr>
        <p:spPr>
          <a:xfrm>
            <a:off x="7941991" y="2975710"/>
            <a:ext cx="94644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(1-4)</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798977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6018" name="Rectangle 3"/>
              <p:cNvSpPr>
                <a:spLocks noGrp="1" noChangeArrowheads="1"/>
              </p:cNvSpPr>
              <p:nvPr>
                <p:ph idx="1"/>
              </p:nvPr>
            </p:nvSpPr>
            <p:spPr>
              <a:xfrm>
                <a:off x="35496" y="859003"/>
                <a:ext cx="9001000" cy="5954373"/>
              </a:xfrm>
            </p:spPr>
            <p:txBody>
              <a:bodyPr/>
              <a:lstStyle/>
              <a:p>
                <a:pPr marL="0" indent="0" eaLnBrk="1" hangingPunct="1">
                  <a:lnSpc>
                    <a:spcPct val="150000"/>
                  </a:lnSpc>
                  <a:spcBef>
                    <a:spcPct val="0"/>
                  </a:spcBef>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4</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IPC </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Instructions Per Cycle</a:t>
                </a:r>
                <a:r>
                  <a:rPr lang="zh-CN" altLang="en-US" sz="2400" b="1" dirty="0">
                    <a:solidFill>
                      <a:srgbClr val="0000FF"/>
                    </a:solidFill>
                    <a:latin typeface="Times New Roman" panose="02020603050405020304" pitchFamily="18" charset="0"/>
                    <a:cs typeface="Times New Roman" panose="02020603050405020304" pitchFamily="18" charset="0"/>
                  </a:rPr>
                  <a:t>，，每时钟周期执行的指令数）</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400" b="1" dirty="0">
                    <a:solidFill>
                      <a:srgbClr val="0000FF"/>
                    </a:solidFill>
                    <a:latin typeface="Times New Roman" panose="02020603050405020304" pitchFamily="18" charset="0"/>
                    <a:cs typeface="Times New Roman" panose="02020603050405020304" pitchFamily="18" charset="0"/>
                  </a:rPr>
                  <a:t>IPC</a:t>
                </a:r>
                <a:r>
                  <a:rPr lang="zh-CN" altLang="en-US" sz="2400" b="1" dirty="0">
                    <a:solidFill>
                      <a:srgbClr val="0000FF"/>
                    </a:solidFill>
                    <a:latin typeface="Times New Roman" panose="02020603050405020304" pitchFamily="18" charset="0"/>
                    <a:cs typeface="Times New Roman" panose="02020603050405020304" pitchFamily="18" charset="0"/>
                  </a:rPr>
                  <a:t>是指每个时钟周期</a:t>
                </a:r>
                <a:r>
                  <a:rPr lang="en-US" altLang="zh-CN" sz="2400" b="1" dirty="0">
                    <a:solidFill>
                      <a:srgbClr val="0000FF"/>
                    </a:solidFill>
                    <a:latin typeface="Times New Roman" panose="02020603050405020304" pitchFamily="18" charset="0"/>
                    <a:cs typeface="Times New Roman" panose="02020603050405020304" pitchFamily="18" charset="0"/>
                  </a:rPr>
                  <a:t>CPU</a:t>
                </a:r>
                <a:r>
                  <a:rPr lang="zh-CN" altLang="en-US" sz="2400" b="1" dirty="0">
                    <a:solidFill>
                      <a:srgbClr val="0000FF"/>
                    </a:solidFill>
                    <a:latin typeface="Times New Roman" panose="02020603050405020304" pitchFamily="18" charset="0"/>
                    <a:cs typeface="Times New Roman" panose="02020603050405020304" pitchFamily="18" charset="0"/>
                  </a:rPr>
                  <a:t>能执行的指令条数，是</a:t>
                </a:r>
                <a:r>
                  <a:rPr lang="en-US" altLang="zh-CN" sz="2400" b="1" dirty="0">
                    <a:solidFill>
                      <a:srgbClr val="0000FF"/>
                    </a:solidFill>
                    <a:latin typeface="Times New Roman" panose="02020603050405020304" pitchFamily="18" charset="0"/>
                    <a:cs typeface="Times New Roman" panose="02020603050405020304" pitchFamily="18" charset="0"/>
                  </a:rPr>
                  <a:t>CPI</a:t>
                </a:r>
                <a:r>
                  <a:rPr lang="zh-CN" altLang="en-US" sz="2400" b="1" dirty="0">
                    <a:solidFill>
                      <a:srgbClr val="0000FF"/>
                    </a:solidFill>
                    <a:latin typeface="Times New Roman" panose="02020603050405020304" pitchFamily="18" charset="0"/>
                    <a:cs typeface="Times New Roman" panose="02020603050405020304" pitchFamily="18" charset="0"/>
                  </a:rPr>
                  <a:t>的倒数。</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0" indent="0">
                  <a:spcBef>
                    <a:spcPct val="0"/>
                  </a:spcBef>
                  <a:buNone/>
                </a:pPr>
                <a14:m>
                  <m:oMathPara xmlns:m="http://schemas.openxmlformats.org/officeDocument/2006/math">
                    <m:oMathParaPr>
                      <m:jc m:val="centerGroup"/>
                    </m:oMathParaPr>
                    <m:oMath xmlns:m="http://schemas.openxmlformats.org/officeDocument/2006/math">
                      <m:r>
                        <a:rPr lang="en-US" altLang="zh-CN" sz="2400" b="1" i="1" dirty="0" smtClean="0">
                          <a:latin typeface="Cambria Math" panose="02040503050406030204" pitchFamily="18" charset="0"/>
                          <a:cs typeface="Times New Roman" panose="02020603050405020304" pitchFamily="18" charset="0"/>
                        </a:rPr>
                        <m:t>𝑰𝑷𝑪</m:t>
                      </m:r>
                      <m:r>
                        <a:rPr lang="en-US" altLang="zh-CN" sz="2400" b="1" i="1" dirty="0" smtClean="0">
                          <a:latin typeface="Cambria Math" panose="02040503050406030204" pitchFamily="18" charset="0"/>
                          <a:cs typeface="Times New Roman" panose="02020603050405020304" pitchFamily="18" charset="0"/>
                        </a:rPr>
                        <m:t>=</m:t>
                      </m:r>
                      <m:f>
                        <m:fPr>
                          <m:ctrlPr>
                            <a:rPr lang="en-US" altLang="zh-CN" sz="2400" b="1" i="1" dirty="0" smtClean="0">
                              <a:latin typeface="Cambria Math" panose="02040503050406030204" pitchFamily="18" charset="0"/>
                              <a:cs typeface="Times New Roman" panose="02020603050405020304" pitchFamily="18" charset="0"/>
                            </a:rPr>
                          </m:ctrlPr>
                        </m:fPr>
                        <m:num>
                          <m:r>
                            <a:rPr lang="en-US" altLang="zh-CN" sz="2400" b="1" i="1" dirty="0">
                              <a:latin typeface="Cambria Math" panose="02040503050406030204" pitchFamily="18" charset="0"/>
                              <a:cs typeface="Times New Roman" panose="02020603050405020304" pitchFamily="18" charset="0"/>
                            </a:rPr>
                            <m:t>𝟏</m:t>
                          </m:r>
                        </m:num>
                        <m:den>
                          <m:r>
                            <a:rPr lang="en-US" altLang="zh-CN" sz="2400" b="1" i="1" dirty="0">
                              <a:latin typeface="Cambria Math" panose="02040503050406030204" pitchFamily="18" charset="0"/>
                              <a:cs typeface="Times New Roman" panose="02020603050405020304" pitchFamily="18" charset="0"/>
                            </a:rPr>
                            <m:t>𝑪𝑷𝑰</m:t>
                          </m:r>
                        </m:den>
                      </m:f>
                    </m:oMath>
                  </m:oMathPara>
                </a14:m>
                <a:endParaRPr lang="en-US" altLang="zh-CN" sz="2400" b="1" dirty="0">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400" b="1" dirty="0">
                    <a:latin typeface="Times New Roman" panose="02020603050405020304" pitchFamily="18" charset="0"/>
                    <a:cs typeface="Times New Roman" panose="02020603050405020304" pitchFamily="18" charset="0"/>
                  </a:rPr>
                  <a:t>IPC </a:t>
                </a:r>
                <a:r>
                  <a:rPr lang="zh-CN" altLang="en-US" sz="2400" b="1" dirty="0">
                    <a:latin typeface="Times New Roman" panose="02020603050405020304" pitchFamily="18" charset="0"/>
                    <a:cs typeface="Times New Roman" panose="02020603050405020304" pitchFamily="18" charset="0"/>
                  </a:rPr>
                  <a:t>越高，</a:t>
                </a:r>
                <a:r>
                  <a:rPr lang="en-US" altLang="zh-CN" sz="2400" b="1" dirty="0">
                    <a:latin typeface="Times New Roman" panose="02020603050405020304" pitchFamily="18" charset="0"/>
                    <a:cs typeface="Times New Roman" panose="02020603050405020304" pitchFamily="18" charset="0"/>
                  </a:rPr>
                  <a:t>CPU </a:t>
                </a:r>
                <a:r>
                  <a:rPr lang="zh-CN" altLang="en-US" sz="2400" b="1" dirty="0">
                    <a:latin typeface="Times New Roman" panose="02020603050405020304" pitchFamily="18" charset="0"/>
                    <a:cs typeface="Times New Roman" panose="02020603050405020304" pitchFamily="18" charset="0"/>
                  </a:rPr>
                  <a:t>的并行处理能力越强。</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latin typeface="Times New Roman" panose="02020603050405020304" pitchFamily="18" charset="0"/>
                    <a:cs typeface="Times New Roman" panose="02020603050405020304" pitchFamily="18" charset="0"/>
                  </a:rPr>
                  <a:t>由于</a:t>
                </a:r>
                <a:r>
                  <a:rPr lang="zh-CN" altLang="en-US" sz="2400" b="1" dirty="0">
                    <a:solidFill>
                      <a:srgbClr val="FF0000"/>
                    </a:solidFill>
                    <a:latin typeface="Times New Roman" panose="02020603050405020304" pitchFamily="18" charset="0"/>
                    <a:cs typeface="Times New Roman" panose="02020603050405020304" pitchFamily="18" charset="0"/>
                  </a:rPr>
                  <a:t>指令流水线技术</a:t>
                </a:r>
                <a:r>
                  <a:rPr lang="zh-CN" altLang="en-US" sz="2400" b="1" dirty="0">
                    <a:latin typeface="Times New Roman" panose="02020603050405020304" pitchFamily="18" charset="0"/>
                    <a:cs typeface="Times New Roman" panose="02020603050405020304" pitchFamily="18" charset="0"/>
                  </a:rPr>
                  <a:t>以及</a:t>
                </a:r>
                <a:r>
                  <a:rPr lang="zh-CN" altLang="en-US" sz="2400" b="1" dirty="0">
                    <a:solidFill>
                      <a:srgbClr val="FF0000"/>
                    </a:solidFill>
                    <a:latin typeface="Times New Roman" panose="02020603050405020304" pitchFamily="18" charset="0"/>
                    <a:cs typeface="Times New Roman" panose="02020603050405020304" pitchFamily="18" charset="0"/>
                  </a:rPr>
                  <a:t>多核技术</a:t>
                </a:r>
                <a:r>
                  <a:rPr lang="zh-CN" altLang="en-US" sz="2400" b="1" dirty="0">
                    <a:latin typeface="Times New Roman" panose="02020603050405020304" pitchFamily="18" charset="0"/>
                    <a:cs typeface="Times New Roman" panose="02020603050405020304" pitchFamily="18" charset="0"/>
                  </a:rPr>
                  <a:t>的发展，目前</a:t>
                </a:r>
                <a:r>
                  <a:rPr lang="en-US" altLang="zh-CN" sz="2400" b="1" dirty="0">
                    <a:latin typeface="Times New Roman" panose="02020603050405020304" pitchFamily="18" charset="0"/>
                    <a:cs typeface="Times New Roman" panose="02020603050405020304" pitchFamily="18" charset="0"/>
                  </a:rPr>
                  <a:t>IPC</a:t>
                </a:r>
                <a:r>
                  <a:rPr lang="zh-CN" altLang="en-US" sz="2400" b="1" dirty="0">
                    <a:latin typeface="Times New Roman" panose="02020603050405020304" pitchFamily="18" charset="0"/>
                    <a:cs typeface="Times New Roman" panose="02020603050405020304" pitchFamily="18" charset="0"/>
                  </a:rPr>
                  <a:t>的值已经可以大于</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，反过来</a:t>
                </a:r>
                <a:r>
                  <a:rPr lang="en-US" altLang="zh-CN" sz="2400" b="1" dirty="0">
                    <a:latin typeface="Times New Roman" panose="02020603050405020304" pitchFamily="18" charset="0"/>
                    <a:cs typeface="Times New Roman" panose="02020603050405020304" pitchFamily="18" charset="0"/>
                  </a:rPr>
                  <a:t>CPI</a:t>
                </a:r>
                <a:r>
                  <a:rPr lang="zh-CN" altLang="en-US" sz="2400" b="1" dirty="0">
                    <a:latin typeface="Times New Roman" panose="02020603050405020304" pitchFamily="18" charset="0"/>
                    <a:cs typeface="Times New Roman" panose="02020603050405020304" pitchFamily="18" charset="0"/>
                  </a:rPr>
                  <a:t>的值也可以小于</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p:txBody>
          </p:sp>
        </mc:Choice>
        <mc:Fallback xmlns="">
          <p:sp>
            <p:nvSpPr>
              <p:cNvPr id="86018" name="Rectangle 3"/>
              <p:cNvSpPr>
                <a:spLocks noGrp="1" noRot="1" noChangeAspect="1" noMove="1" noResize="1" noEditPoints="1" noAdjustHandles="1" noChangeArrowheads="1" noChangeShapeType="1" noTextEdit="1"/>
              </p:cNvSpPr>
              <p:nvPr>
                <p:ph idx="1"/>
              </p:nvPr>
            </p:nvSpPr>
            <p:spPr>
              <a:xfrm>
                <a:off x="35496" y="859003"/>
                <a:ext cx="9001000" cy="5954373"/>
              </a:xfrm>
              <a:blipFill>
                <a:blip r:embed="rId4"/>
                <a:stretch>
                  <a:fillRect l="-1084" r="-1558"/>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B1565963-9463-42CE-85C2-8210ED96B8A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2635990F-C0C6-84D5-8646-83BA5D86D93B}"/>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8" name="文本框 7">
            <a:extLst>
              <a:ext uri="{FF2B5EF4-FFF2-40B4-BE49-F238E27FC236}">
                <a16:creationId xmlns:a16="http://schemas.microsoft.com/office/drawing/2014/main" id="{48C8CDE5-3174-45ED-8035-28F14C3B7757}"/>
              </a:ext>
            </a:extLst>
          </p:cNvPr>
          <p:cNvSpPr txBox="1"/>
          <p:nvPr/>
        </p:nvSpPr>
        <p:spPr>
          <a:xfrm>
            <a:off x="125760" y="4522107"/>
            <a:ext cx="8820472" cy="1961243"/>
          </a:xfrm>
          <a:prstGeom prst="rect">
            <a:avLst/>
          </a:prstGeom>
          <a:solidFill>
            <a:schemeClr val="accent5"/>
          </a:solidFill>
        </p:spPr>
        <p:txBody>
          <a:bodyPr wrap="square">
            <a:spAutoFit/>
          </a:bodyPr>
          <a:lstStyle/>
          <a:p>
            <a:pPr>
              <a:lnSpc>
                <a:spcPct val="130000"/>
              </a:lnSpc>
              <a:spcBef>
                <a:spcPct val="0"/>
              </a:spcBef>
            </a:pPr>
            <a:r>
              <a:rPr lang="en-US" altLang="zh-CN" sz="2400" b="1" dirty="0">
                <a:solidFill>
                  <a:srgbClr val="FF0000"/>
                </a:solidFill>
                <a:latin typeface="Times New Roman" panose="02020603050405020304" pitchFamily="18" charset="0"/>
                <a:cs typeface="Times New Roman" panose="02020603050405020304" pitchFamily="18" charset="0"/>
              </a:rPr>
              <a:t>IPC</a:t>
            </a:r>
            <a:r>
              <a:rPr lang="zh-CN" altLang="en-US" sz="2400" b="1" dirty="0">
                <a:solidFill>
                  <a:srgbClr val="FF0000"/>
                </a:solidFill>
                <a:latin typeface="Times New Roman" panose="02020603050405020304" pitchFamily="18" charset="0"/>
                <a:cs typeface="Times New Roman" panose="02020603050405020304" pitchFamily="18" charset="0"/>
              </a:rPr>
              <a:t>和</a:t>
            </a:r>
            <a:r>
              <a:rPr lang="en-US" altLang="zh-CN" sz="2400" b="1" dirty="0">
                <a:solidFill>
                  <a:srgbClr val="FF0000"/>
                </a:solidFill>
                <a:latin typeface="Times New Roman" panose="02020603050405020304" pitchFamily="18" charset="0"/>
                <a:cs typeface="Times New Roman" panose="02020603050405020304" pitchFamily="18" charset="0"/>
              </a:rPr>
              <a:t>CPI</a:t>
            </a:r>
            <a:r>
              <a:rPr lang="zh-CN" altLang="en-US" sz="2400" b="1" dirty="0">
                <a:solidFill>
                  <a:srgbClr val="FF0000"/>
                </a:solidFill>
                <a:latin typeface="Times New Roman" panose="02020603050405020304" pitchFamily="18" charset="0"/>
                <a:cs typeface="Times New Roman" panose="02020603050405020304" pitchFamily="18" charset="0"/>
              </a:rPr>
              <a:t>指标与</a:t>
            </a:r>
            <a:r>
              <a:rPr lang="en-US" altLang="zh-CN" sz="2400" b="1" dirty="0">
                <a:solidFill>
                  <a:srgbClr val="FF0000"/>
                </a:solidFill>
                <a:latin typeface="Times New Roman" panose="02020603050405020304" pitchFamily="18" charset="0"/>
                <a:cs typeface="Times New Roman" panose="02020603050405020304" pitchFamily="18" charset="0"/>
              </a:rPr>
              <a:t>ISA</a:t>
            </a:r>
            <a:r>
              <a:rPr lang="zh-CN" altLang="en-US" sz="2400" b="1" dirty="0">
                <a:solidFill>
                  <a:srgbClr val="FF0000"/>
                </a:solidFill>
                <a:latin typeface="Times New Roman" panose="02020603050405020304" pitchFamily="18" charset="0"/>
                <a:cs typeface="Times New Roman" panose="02020603050405020304" pitchFamily="18" charset="0"/>
              </a:rPr>
              <a:t>指令集、处理器微体系结构、计算机系统组成、操作系统效率以及应用软件的设计紧密相关</a:t>
            </a:r>
            <a:r>
              <a:rPr lang="zh-CN" altLang="en-US" sz="2400" b="1" dirty="0">
                <a:latin typeface="Times New Roman" panose="02020603050405020304" pitchFamily="18" charset="0"/>
                <a:cs typeface="Times New Roman" panose="02020603050405020304" pitchFamily="18" charset="0"/>
              </a:rPr>
              <a:t>，其</a:t>
            </a:r>
            <a:r>
              <a:rPr lang="zh-CN" altLang="en-US" sz="2400" b="1" dirty="0">
                <a:solidFill>
                  <a:srgbClr val="0000FF"/>
                </a:solidFill>
                <a:latin typeface="Times New Roman" panose="02020603050405020304" pitchFamily="18" charset="0"/>
                <a:cs typeface="Times New Roman" panose="02020603050405020304" pitchFamily="18" charset="0"/>
              </a:rPr>
              <a:t>具体值并不能用于直接比较计算机的性能</a:t>
            </a:r>
            <a:r>
              <a:rPr lang="zh-CN" altLang="en-US" sz="2400" b="1" dirty="0">
                <a:latin typeface="Times New Roman" panose="02020603050405020304" pitchFamily="18" charset="0"/>
                <a:cs typeface="Times New Roman" panose="02020603050405020304" pitchFamily="18" charset="0"/>
              </a:rPr>
              <a:t>，</a:t>
            </a:r>
            <a:r>
              <a:rPr lang="zh-CN" altLang="en-US" sz="2400" b="1" dirty="0">
                <a:highlight>
                  <a:srgbClr val="FFFF00"/>
                </a:highlight>
                <a:latin typeface="Times New Roman" panose="02020603050405020304" pitchFamily="18" charset="0"/>
                <a:cs typeface="Times New Roman" panose="02020603050405020304" pitchFamily="18" charset="0"/>
              </a:rPr>
              <a:t>基于真实场景负载的应用性能测试结果更能反映计算机的性能</a:t>
            </a:r>
            <a:r>
              <a:rPr lang="zh-CN" altLang="en-US" sz="2400" b="1" dirty="0">
                <a:latin typeface="Times New Roman" panose="02020603050405020304" pitchFamily="18" charset="0"/>
                <a:cs typeface="Times New Roman" panose="02020603050405020304" pitchFamily="18" charset="0"/>
              </a:rPr>
              <a:t>。</a:t>
            </a:r>
            <a:endParaRPr lang="en-US" altLang="zh-CN" sz="2800" dirty="0">
              <a:solidFill>
                <a:srgbClr val="FF0000"/>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CE09EE05-A793-44EC-A312-0231DF952EF5}"/>
              </a:ext>
            </a:extLst>
          </p:cNvPr>
          <p:cNvSpPr txBox="1"/>
          <p:nvPr/>
        </p:nvSpPr>
        <p:spPr>
          <a:xfrm>
            <a:off x="7999784" y="2167604"/>
            <a:ext cx="94644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(1-5)</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314452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6018" name="Rectangle 3"/>
              <p:cNvSpPr>
                <a:spLocks noGrp="1" noChangeArrowheads="1"/>
              </p:cNvSpPr>
              <p:nvPr>
                <p:ph idx="1"/>
              </p:nvPr>
            </p:nvSpPr>
            <p:spPr>
              <a:xfrm>
                <a:off x="79704" y="838212"/>
                <a:ext cx="8984592" cy="5181575"/>
              </a:xfrm>
            </p:spPr>
            <p:txBody>
              <a:bodyPr/>
              <a:lstStyle/>
              <a:p>
                <a:pPr marL="0" indent="0">
                  <a:lnSpc>
                    <a:spcPct val="150000"/>
                  </a:lnSpc>
                  <a:spcBef>
                    <a:spcPct val="0"/>
                  </a:spcBef>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5</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MIPS</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Million Instructions Per Second</a:t>
                </a:r>
                <a:r>
                  <a:rPr lang="zh-CN" altLang="en-US" sz="2400" b="1" dirty="0">
                    <a:solidFill>
                      <a:srgbClr val="0000FF"/>
                    </a:solidFill>
                  </a:rPr>
                  <a:t>，每秒百万条指令</a:t>
                </a:r>
                <a:r>
                  <a:rPr lang="zh-CN" altLang="en-US" sz="2400" b="1" dirty="0">
                    <a:solidFill>
                      <a:srgbClr val="0000FF"/>
                    </a:solidFill>
                    <a:latin typeface="Times New Roman" panose="02020603050405020304" pitchFamily="18" charset="0"/>
                    <a:cs typeface="Times New Roman" panose="02020603050405020304" pitchFamily="18" charset="0"/>
                  </a:rPr>
                  <a:t>）</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latin typeface="Times New Roman" panose="02020603050405020304" pitchFamily="18" charset="0"/>
                    <a:cs typeface="Times New Roman" panose="02020603050405020304" pitchFamily="18" charset="0"/>
                  </a:rPr>
                  <a:t>每秒钟</a:t>
                </a:r>
                <a:r>
                  <a:rPr lang="en-US" altLang="zh-CN" sz="2400" b="1" dirty="0">
                    <a:latin typeface="Times New Roman" panose="02020603050405020304" pitchFamily="18" charset="0"/>
                    <a:cs typeface="Times New Roman" panose="02020603050405020304" pitchFamily="18" charset="0"/>
                  </a:rPr>
                  <a:t>CPU</a:t>
                </a:r>
                <a:r>
                  <a:rPr lang="zh-CN" altLang="en-US" sz="2400" b="1" dirty="0">
                    <a:latin typeface="Times New Roman" panose="02020603050405020304" pitchFamily="18" charset="0"/>
                    <a:cs typeface="Times New Roman" panose="02020603050405020304" pitchFamily="18" charset="0"/>
                  </a:rPr>
                  <a:t>能执行的指令总条数（单位：百万条</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秒）</a:t>
                </a:r>
                <a:endParaRPr lang="en-US" altLang="zh-CN" sz="2400" b="1" dirty="0">
                  <a:latin typeface="Times New Roman" panose="02020603050405020304" pitchFamily="18" charset="0"/>
                  <a:cs typeface="Times New Roman" panose="02020603050405020304" pitchFamily="18" charset="0"/>
                </a:endParaRPr>
              </a:p>
              <a:p>
                <a:pPr marL="0" indent="0" algn="ctr">
                  <a:spcBef>
                    <a:spcPct val="0"/>
                  </a:spcBef>
                  <a:buNone/>
                </a:pPr>
                <a:r>
                  <a:rPr lang="en-US" altLang="zh-CN" sz="2400" b="1" dirty="0">
                    <a:solidFill>
                      <a:srgbClr val="0000FF"/>
                    </a:solidFill>
                    <a:cs typeface="Times New Roman" panose="02020603050405020304" pitchFamily="18" charset="0"/>
                  </a:rPr>
                  <a:t>	</a:t>
                </a:r>
                <a14:m>
                  <m:oMath xmlns:m="http://schemas.openxmlformats.org/officeDocument/2006/math">
                    <m:r>
                      <a:rPr lang="en-US" altLang="zh-CN" sz="2400" b="1" i="0" smtClean="0">
                        <a:solidFill>
                          <a:srgbClr val="FF0000"/>
                        </a:solidFill>
                        <a:latin typeface="Cambria Math" panose="02040503050406030204" pitchFamily="18" charset="0"/>
                        <a:cs typeface="Times New Roman" panose="02020603050405020304" pitchFamily="18" charset="0"/>
                      </a:rPr>
                      <m:t>𝐌𝐈𝐏𝐒</m:t>
                    </m:r>
                    <m:r>
                      <a:rPr lang="en-US" altLang="zh-CN" sz="2400" b="1" i="1" smtClean="0">
                        <a:solidFill>
                          <a:srgbClr val="FF0000"/>
                        </a:solidFill>
                        <a:latin typeface="Cambria Math" panose="02040503050406030204" pitchFamily="18" charset="0"/>
                        <a:cs typeface="Times New Roman" panose="02020603050405020304" pitchFamily="18" charset="0"/>
                      </a:rPr>
                      <m:t>=</m:t>
                    </m:r>
                    <m:f>
                      <m:fPr>
                        <m:ctrlPr>
                          <a:rPr lang="en-US" altLang="zh-CN" sz="2400" b="1" i="1" smtClean="0">
                            <a:solidFill>
                              <a:srgbClr val="FF0000"/>
                            </a:solidFill>
                            <a:latin typeface="Cambria Math" panose="02040503050406030204" pitchFamily="18" charset="0"/>
                            <a:cs typeface="Times New Roman" panose="02020603050405020304" pitchFamily="18" charset="0"/>
                          </a:rPr>
                        </m:ctrlPr>
                      </m:fPr>
                      <m:num>
                        <m:r>
                          <m:rPr>
                            <m:sty m:val="p"/>
                          </m:rPr>
                          <a:rPr lang="en-US" altLang="zh-CN" sz="2400" b="0" i="0" smtClean="0">
                            <a:solidFill>
                              <a:srgbClr val="FF0000"/>
                            </a:solidFill>
                            <a:latin typeface="Cambria Math" panose="02040503050406030204" pitchFamily="18" charset="0"/>
                            <a:cs typeface="Times New Roman" panose="02020603050405020304" pitchFamily="18" charset="0"/>
                          </a:rPr>
                          <m:t>IC</m:t>
                        </m:r>
                      </m:num>
                      <m:den>
                        <m:sSub>
                          <m:sSubPr>
                            <m:ctrlPr>
                              <a:rPr lang="en-US" altLang="zh-CN" sz="2400" b="1" i="1" smtClean="0">
                                <a:solidFill>
                                  <a:srgbClr val="FF0000"/>
                                </a:solidFill>
                                <a:latin typeface="Cambria Math" panose="02040503050406030204" pitchFamily="18" charset="0"/>
                                <a:cs typeface="Times New Roman" panose="02020603050405020304" pitchFamily="18" charset="0"/>
                              </a:rPr>
                            </m:ctrlPr>
                          </m:sSubPr>
                          <m:e>
                            <m:r>
                              <a:rPr lang="en-US" altLang="zh-CN" sz="2400" b="1" i="0">
                                <a:solidFill>
                                  <a:srgbClr val="FF0000"/>
                                </a:solidFill>
                                <a:latin typeface="Cambria Math" panose="02040503050406030204" pitchFamily="18" charset="0"/>
                                <a:cs typeface="Times New Roman" panose="02020603050405020304" pitchFamily="18" charset="0"/>
                              </a:rPr>
                              <m:t>𝐓</m:t>
                            </m:r>
                          </m:e>
                          <m:sub>
                            <m:r>
                              <a:rPr lang="en-US" altLang="zh-CN" sz="2400" b="1" i="0" smtClean="0">
                                <a:solidFill>
                                  <a:srgbClr val="FF0000"/>
                                </a:solidFill>
                                <a:latin typeface="Cambria Math" panose="02040503050406030204" pitchFamily="18" charset="0"/>
                                <a:cs typeface="Times New Roman" panose="02020603050405020304" pitchFamily="18" charset="0"/>
                              </a:rPr>
                              <m:t>𝐂𝐏𝐔</m:t>
                            </m:r>
                          </m:sub>
                        </m:sSub>
                        <m:r>
                          <a:rPr lang="en-US" altLang="zh-CN" sz="2400" b="1" i="1">
                            <a:solidFill>
                              <a:srgbClr val="FF0000"/>
                            </a:solidFill>
                            <a:latin typeface="Cambria Math" panose="02040503050406030204" pitchFamily="18" charset="0"/>
                            <a:cs typeface="Times New Roman" panose="02020603050405020304" pitchFamily="18" charset="0"/>
                          </a:rPr>
                          <m:t>×</m:t>
                        </m:r>
                        <m:r>
                          <a:rPr lang="en-US" altLang="zh-CN" sz="2400" b="1" i="1" smtClean="0">
                            <a:solidFill>
                              <a:srgbClr val="FF0000"/>
                            </a:solidFill>
                            <a:latin typeface="Cambria Math" panose="02040503050406030204" pitchFamily="18" charset="0"/>
                            <a:cs typeface="Times New Roman" panose="02020603050405020304" pitchFamily="18" charset="0"/>
                          </a:rPr>
                          <m:t>𝟏𝟎</m:t>
                        </m:r>
                        <m:r>
                          <a:rPr lang="en-US" altLang="zh-CN" sz="2400" b="1" i="1" baseline="30000" smtClean="0">
                            <a:solidFill>
                              <a:srgbClr val="FF0000"/>
                            </a:solidFill>
                            <a:latin typeface="Cambria Math" panose="02040503050406030204" pitchFamily="18" charset="0"/>
                            <a:cs typeface="Times New Roman" panose="02020603050405020304" pitchFamily="18" charset="0"/>
                          </a:rPr>
                          <m:t>𝟔</m:t>
                        </m:r>
                      </m:den>
                    </m:f>
                  </m:oMath>
                </a14:m>
                <a:r>
                  <a:rPr lang="en-US" altLang="zh-CN" sz="2400" b="1" dirty="0">
                    <a:solidFill>
                      <a:srgbClr val="FF0000"/>
                    </a:solidFill>
                    <a:latin typeface="Times New Roman" panose="02020603050405020304" pitchFamily="18" charset="0"/>
                    <a:cs typeface="Times New Roman" panose="02020603050405020304" pitchFamily="18" charset="0"/>
                  </a:rPr>
                  <a:t>  </a:t>
                </a:r>
              </a:p>
              <a:p>
                <a:pPr marL="400050" lvl="1" indent="0">
                  <a:lnSpc>
                    <a:spcPct val="150000"/>
                  </a:lnSpc>
                  <a:spcBef>
                    <a:spcPct val="0"/>
                  </a:spcBef>
                  <a:buNone/>
                </a:pPr>
                <a:r>
                  <a:rPr lang="zh-CN" altLang="en-US" sz="2400" b="1" dirty="0">
                    <a:latin typeface="Times New Roman" panose="02020603050405020304" pitchFamily="18" charset="0"/>
                    <a:cs typeface="Times New Roman" panose="02020603050405020304" pitchFamily="18" charset="0"/>
                  </a:rPr>
                  <a:t>将（</a:t>
                </a:r>
                <a:r>
                  <a:rPr lang="en-US" altLang="zh-CN" sz="2400" b="1" dirty="0">
                    <a:latin typeface="Times New Roman" panose="02020603050405020304" pitchFamily="18" charset="0"/>
                    <a:cs typeface="Times New Roman" panose="02020603050405020304" pitchFamily="18" charset="0"/>
                  </a:rPr>
                  <a:t>1-4</a:t>
                </a:r>
                <a:r>
                  <a:rPr lang="zh-CN" altLang="en-US" sz="2400" b="1" dirty="0">
                    <a:latin typeface="Times New Roman" panose="02020603050405020304" pitchFamily="18" charset="0"/>
                    <a:cs typeface="Times New Roman" panose="02020603050405020304" pitchFamily="18" charset="0"/>
                  </a:rPr>
                  <a:t>）代入（</a:t>
                </a:r>
                <a:r>
                  <a:rPr lang="en-US" altLang="zh-CN" sz="2400" b="1" dirty="0">
                    <a:latin typeface="Times New Roman" panose="02020603050405020304" pitchFamily="18" charset="0"/>
                    <a:cs typeface="Times New Roman" panose="02020603050405020304" pitchFamily="18" charset="0"/>
                  </a:rPr>
                  <a:t>1-5</a:t>
                </a:r>
                <a:r>
                  <a:rPr lang="zh-CN" altLang="en-US" sz="2400" b="1" dirty="0">
                    <a:latin typeface="Times New Roman" panose="02020603050405020304" pitchFamily="18" charset="0"/>
                    <a:cs typeface="Times New Roman" panose="02020603050405020304" pitchFamily="18" charset="0"/>
                  </a:rPr>
                  <a:t>），可得：</a:t>
                </a:r>
                <a:endParaRPr lang="en-US" altLang="zh-CN" sz="2400" b="1" dirty="0">
                  <a:latin typeface="Times New Roman" panose="02020603050405020304" pitchFamily="18" charset="0"/>
                  <a:cs typeface="Times New Roman" panose="02020603050405020304" pitchFamily="18" charset="0"/>
                </a:endParaRPr>
              </a:p>
              <a:p>
                <a:pPr marL="0" indent="0" algn="ctr">
                  <a:spcBef>
                    <a:spcPct val="0"/>
                  </a:spcBef>
                  <a:buNone/>
                </a:pPr>
                <a14:m>
                  <m:oMathPara xmlns:m="http://schemas.openxmlformats.org/officeDocument/2006/math">
                    <m:oMathParaPr>
                      <m:jc m:val="centerGroup"/>
                    </m:oMathParaPr>
                    <m:oMath xmlns:m="http://schemas.openxmlformats.org/officeDocument/2006/math">
                      <m:r>
                        <a:rPr lang="en-US" altLang="zh-CN" sz="2400" b="1">
                          <a:solidFill>
                            <a:srgbClr val="FF0000"/>
                          </a:solidFill>
                          <a:latin typeface="Cambria Math" panose="02040503050406030204" pitchFamily="18" charset="0"/>
                          <a:cs typeface="Times New Roman" panose="02020603050405020304" pitchFamily="18" charset="0"/>
                        </a:rPr>
                        <m:t>𝐌𝐈𝐏𝐒</m:t>
                      </m:r>
                      <m:r>
                        <a:rPr lang="en-US" altLang="zh-CN" sz="2400" b="1" i="0" smtClean="0">
                          <a:solidFill>
                            <a:srgbClr val="FF0000"/>
                          </a:solidFill>
                          <a:latin typeface="Cambria Math" panose="02040503050406030204" pitchFamily="18" charset="0"/>
                          <a:cs typeface="Times New Roman" panose="02020603050405020304" pitchFamily="18" charset="0"/>
                        </a:rPr>
                        <m:t>=</m:t>
                      </m:r>
                      <m:f>
                        <m:fPr>
                          <m:ctrlPr>
                            <a:rPr lang="en-US" altLang="zh-CN" sz="2400" b="1" i="1" smtClean="0">
                              <a:solidFill>
                                <a:srgbClr val="FF0000"/>
                              </a:solidFill>
                              <a:latin typeface="Cambria Math" panose="02040503050406030204" pitchFamily="18" charset="0"/>
                              <a:cs typeface="Times New Roman" panose="02020603050405020304" pitchFamily="18" charset="0"/>
                            </a:rPr>
                          </m:ctrlPr>
                        </m:fPr>
                        <m:num>
                          <m:r>
                            <a:rPr lang="en-US" altLang="zh-CN" sz="2400" b="1" i="1" smtClean="0">
                              <a:solidFill>
                                <a:srgbClr val="FF0000"/>
                              </a:solidFill>
                              <a:latin typeface="Cambria Math" panose="02040503050406030204" pitchFamily="18" charset="0"/>
                              <a:cs typeface="Times New Roman" panose="02020603050405020304" pitchFamily="18" charset="0"/>
                            </a:rPr>
                            <m:t>𝒇</m:t>
                          </m:r>
                          <m:r>
                            <a:rPr lang="en-US" altLang="zh-CN" sz="2400" b="1" i="1" smtClean="0">
                              <a:solidFill>
                                <a:srgbClr val="FF0000"/>
                              </a:solidFill>
                              <a:latin typeface="Cambria Math" panose="02040503050406030204" pitchFamily="18" charset="0"/>
                              <a:cs typeface="Times New Roman" panose="02020603050405020304" pitchFamily="18" charset="0"/>
                            </a:rPr>
                            <m:t>(</m:t>
                          </m:r>
                          <m:r>
                            <a:rPr lang="en-US" altLang="zh-CN" sz="2400" b="1" i="1" smtClean="0">
                              <a:solidFill>
                                <a:srgbClr val="FF0000"/>
                              </a:solidFill>
                              <a:latin typeface="Cambria Math" panose="02040503050406030204" pitchFamily="18" charset="0"/>
                              <a:cs typeface="Times New Roman" panose="02020603050405020304" pitchFamily="18" charset="0"/>
                            </a:rPr>
                            <m:t>𝑴𝑯𝒛</m:t>
                          </m:r>
                          <m:r>
                            <a:rPr lang="en-US" altLang="zh-CN" sz="2400" b="1" i="1" smtClean="0">
                              <a:solidFill>
                                <a:srgbClr val="FF0000"/>
                              </a:solidFill>
                              <a:latin typeface="Cambria Math" panose="02040503050406030204" pitchFamily="18" charset="0"/>
                              <a:cs typeface="Times New Roman" panose="02020603050405020304" pitchFamily="18" charset="0"/>
                            </a:rPr>
                            <m:t>)</m:t>
                          </m:r>
                        </m:num>
                        <m:den>
                          <m:r>
                            <a:rPr lang="en-US" altLang="zh-CN" sz="2400" b="1" i="1" smtClean="0">
                              <a:solidFill>
                                <a:srgbClr val="FF0000"/>
                              </a:solidFill>
                              <a:latin typeface="Cambria Math" panose="02040503050406030204" pitchFamily="18" charset="0"/>
                              <a:cs typeface="Times New Roman" panose="02020603050405020304" pitchFamily="18" charset="0"/>
                            </a:rPr>
                            <m:t>𝑪𝑷𝑰</m:t>
                          </m:r>
                        </m:den>
                      </m:f>
                      <m:r>
                        <a:rPr lang="en-US" altLang="zh-CN" sz="2400" b="1" i="1" smtClean="0">
                          <a:solidFill>
                            <a:srgbClr val="FF0000"/>
                          </a:solidFill>
                          <a:latin typeface="Cambria Math" panose="02040503050406030204" pitchFamily="18" charset="0"/>
                          <a:cs typeface="Times New Roman" panose="02020603050405020304" pitchFamily="18" charset="0"/>
                        </a:rPr>
                        <m:t>=</m:t>
                      </m:r>
                      <m:r>
                        <a:rPr lang="en-US" altLang="zh-CN" sz="2400" b="1" i="1" smtClean="0">
                          <a:solidFill>
                            <a:srgbClr val="FF0000"/>
                          </a:solidFill>
                          <a:latin typeface="Cambria Math" panose="02040503050406030204" pitchFamily="18" charset="0"/>
                          <a:cs typeface="Times New Roman" panose="02020603050405020304" pitchFamily="18" charset="0"/>
                        </a:rPr>
                        <m:t>𝑰𝑷𝑪</m:t>
                      </m:r>
                      <m:r>
                        <a:rPr lang="en-US" altLang="zh-CN"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𝒇</m:t>
                      </m:r>
                      <m:r>
                        <a:rPr lang="en-US" altLang="zh-CN" sz="2400" b="1" i="1">
                          <a:solidFill>
                            <a:srgbClr val="FF0000"/>
                          </a:solidFill>
                          <a:latin typeface="Cambria Math" panose="02040503050406030204" pitchFamily="18" charset="0"/>
                          <a:cs typeface="Times New Roman" panose="02020603050405020304" pitchFamily="18" charset="0"/>
                        </a:rPr>
                        <m:t>(</m:t>
                      </m:r>
                      <m:r>
                        <a:rPr lang="en-US" altLang="zh-CN" sz="2400" b="1" i="1">
                          <a:solidFill>
                            <a:srgbClr val="FF0000"/>
                          </a:solidFill>
                          <a:latin typeface="Cambria Math" panose="02040503050406030204" pitchFamily="18" charset="0"/>
                          <a:cs typeface="Times New Roman" panose="02020603050405020304" pitchFamily="18" charset="0"/>
                        </a:rPr>
                        <m:t>𝑴𝑯𝒛</m:t>
                      </m:r>
                      <m:r>
                        <a:rPr lang="en-US" altLang="zh-CN" sz="2400" b="1" i="1">
                          <a:solidFill>
                            <a:srgbClr val="FF0000"/>
                          </a:solidFill>
                          <a:latin typeface="Cambria Math" panose="02040503050406030204" pitchFamily="18" charset="0"/>
                          <a:cs typeface="Times New Roman" panose="02020603050405020304" pitchFamily="18" charset="0"/>
                        </a:rPr>
                        <m:t>)</m:t>
                      </m:r>
                    </m:oMath>
                  </m:oMathPara>
                </a14:m>
                <a:endParaRPr lang="en-US" altLang="zh-CN" sz="2400" b="1" dirty="0">
                  <a:solidFill>
                    <a:srgbClr val="FF0000"/>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latin typeface="Times New Roman" panose="02020603050405020304" pitchFamily="18" charset="0"/>
                    <a:cs typeface="Times New Roman" panose="02020603050405020304" pitchFamily="18" charset="0"/>
                  </a:rPr>
                  <a:t>计算机性能与指令的</a:t>
                </a:r>
                <a:r>
                  <a:rPr lang="en-US" altLang="zh-CN" sz="2400" b="1" dirty="0">
                    <a:latin typeface="Times New Roman" panose="02020603050405020304" pitchFamily="18" charset="0"/>
                    <a:cs typeface="Times New Roman" panose="02020603050405020304" pitchFamily="18" charset="0"/>
                  </a:rPr>
                  <a:t>CPI</a:t>
                </a:r>
                <a:r>
                  <a:rPr lang="zh-CN" altLang="en-US" sz="2400" b="1" dirty="0">
                    <a:latin typeface="Times New Roman" panose="02020603050405020304" pitchFamily="18" charset="0"/>
                    <a:cs typeface="Times New Roman" panose="02020603050405020304" pitchFamily="18" charset="0"/>
                  </a:rPr>
                  <a:t>和主频有直接的关系，主频越高，</a:t>
                </a:r>
                <a:r>
                  <a:rPr lang="en-US" altLang="zh-CN" sz="2400" b="1" dirty="0">
                    <a:latin typeface="Times New Roman" panose="02020603050405020304" pitchFamily="18" charset="0"/>
                    <a:cs typeface="Times New Roman" panose="02020603050405020304" pitchFamily="18" charset="0"/>
                  </a:rPr>
                  <a:t>MIPS</a:t>
                </a:r>
                <a:r>
                  <a:rPr lang="zh-CN" altLang="en-US" sz="2400" b="1" dirty="0">
                    <a:latin typeface="Times New Roman" panose="02020603050405020304" pitchFamily="18" charset="0"/>
                    <a:cs typeface="Times New Roman" panose="02020603050405020304" pitchFamily="18" charset="0"/>
                  </a:rPr>
                  <a:t>值越高；</a:t>
                </a:r>
                <a:r>
                  <a:rPr lang="en-US" altLang="zh-CN" sz="2400" b="1" dirty="0">
                    <a:latin typeface="Times New Roman" panose="02020603050405020304" pitchFamily="18" charset="0"/>
                    <a:cs typeface="Times New Roman" panose="02020603050405020304" pitchFamily="18" charset="0"/>
                  </a:rPr>
                  <a:t>CPI</a:t>
                </a:r>
                <a:r>
                  <a:rPr lang="zh-CN" altLang="en-US" sz="2400" b="1" dirty="0">
                    <a:latin typeface="Times New Roman" panose="02020603050405020304" pitchFamily="18" charset="0"/>
                    <a:cs typeface="Times New Roman" panose="02020603050405020304" pitchFamily="18" charset="0"/>
                  </a:rPr>
                  <a:t>越小，</a:t>
                </a:r>
                <a:r>
                  <a:rPr lang="en-US" altLang="zh-CN" sz="2400" b="1" dirty="0">
                    <a:latin typeface="Times New Roman" panose="02020603050405020304" pitchFamily="18" charset="0"/>
                    <a:cs typeface="Times New Roman" panose="02020603050405020304" pitchFamily="18" charset="0"/>
                  </a:rPr>
                  <a:t>MIPS</a:t>
                </a:r>
                <a:r>
                  <a:rPr lang="zh-CN" altLang="en-US" sz="2400" b="1" dirty="0">
                    <a:latin typeface="Times New Roman" panose="02020603050405020304" pitchFamily="18" charset="0"/>
                    <a:cs typeface="Times New Roman" panose="02020603050405020304" pitchFamily="18" charset="0"/>
                  </a:rPr>
                  <a:t>值越高。</a:t>
                </a:r>
                <a:endParaRPr lang="en-US" altLang="zh-CN" sz="2400" b="1" dirty="0">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solidFill>
                      <a:srgbClr val="0000FF"/>
                    </a:solidFill>
                    <a:latin typeface="Times New Roman" panose="02020603050405020304" pitchFamily="18" charset="0"/>
                    <a:cs typeface="Times New Roman" panose="02020603050405020304" pitchFamily="18" charset="0"/>
                  </a:rPr>
                  <a:t>计算机厂家给出的</a:t>
                </a:r>
                <a:r>
                  <a:rPr lang="zh-CN" altLang="en-US" sz="2400" b="1" dirty="0">
                    <a:solidFill>
                      <a:srgbClr val="FF0000"/>
                    </a:solidFill>
                    <a:latin typeface="Times New Roman" panose="02020603050405020304" pitchFamily="18" charset="0"/>
                    <a:cs typeface="Times New Roman" panose="02020603050405020304" pitchFamily="18" charset="0"/>
                  </a:rPr>
                  <a:t>峰值</a:t>
                </a:r>
                <a:r>
                  <a:rPr lang="en-US" altLang="zh-CN" sz="2400" b="1" dirty="0">
                    <a:solidFill>
                      <a:srgbClr val="FF0000"/>
                    </a:solidFill>
                    <a:latin typeface="Times New Roman" panose="02020603050405020304" pitchFamily="18" charset="0"/>
                    <a:cs typeface="Times New Roman" panose="02020603050405020304" pitchFamily="18" charset="0"/>
                  </a:rPr>
                  <a:t>MIPS</a:t>
                </a:r>
                <a:r>
                  <a:rPr lang="zh-CN" altLang="en-US" sz="2400" b="1" dirty="0">
                    <a:solidFill>
                      <a:srgbClr val="FF0000"/>
                    </a:solidFill>
                    <a:latin typeface="Times New Roman" panose="02020603050405020304" pitchFamily="18" charset="0"/>
                    <a:cs typeface="Times New Roman" panose="02020603050405020304" pitchFamily="18" charset="0"/>
                  </a:rPr>
                  <a:t>值</a:t>
                </a:r>
                <a:r>
                  <a:rPr lang="zh-CN" altLang="en-US" sz="2400" b="1" dirty="0">
                    <a:solidFill>
                      <a:srgbClr val="0000FF"/>
                    </a:solidFill>
                    <a:latin typeface="Times New Roman" panose="02020603050405020304" pitchFamily="18" charset="0"/>
                    <a:cs typeface="Times New Roman" panose="02020603050405020304" pitchFamily="18" charset="0"/>
                  </a:rPr>
                  <a:t>不能反映计算机的性能。</a:t>
                </a:r>
                <a:endParaRPr lang="en-US" altLang="zh-CN" sz="2400" b="1" dirty="0">
                  <a:solidFill>
                    <a:srgbClr val="0000FF"/>
                  </a:solidFill>
                  <a:latin typeface="Times New Roman" panose="02020603050405020304" pitchFamily="18" charset="0"/>
                  <a:cs typeface="Times New Roman" panose="02020603050405020304" pitchFamily="18" charset="0"/>
                </a:endParaRPr>
              </a:p>
              <a:p>
                <a:pPr lvl="1">
                  <a:lnSpc>
                    <a:spcPct val="150000"/>
                  </a:lnSpc>
                  <a:spcBef>
                    <a:spcPct val="0"/>
                  </a:spcBef>
                </a:pPr>
                <a:r>
                  <a:rPr lang="zh-CN" altLang="en-US" sz="2000" b="1" dirty="0">
                    <a:solidFill>
                      <a:srgbClr val="FF0000"/>
                    </a:solidFill>
                    <a:latin typeface="Times New Roman" panose="02020603050405020304" pitchFamily="18" charset="0"/>
                    <a:cs typeface="Times New Roman" panose="02020603050405020304" pitchFamily="18" charset="0"/>
                  </a:rPr>
                  <a:t>第三方的基准测试程序能较好地反映计算机实际应用的工作负载。</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0" indent="0">
                  <a:spcBef>
                    <a:spcPct val="0"/>
                  </a:spcBef>
                  <a:buNone/>
                </a:pPr>
                <a:endParaRPr lang="en-US" altLang="zh-CN" sz="28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6018" name="Rectangle 3"/>
              <p:cNvSpPr>
                <a:spLocks noGrp="1" noRot="1" noChangeAspect="1" noMove="1" noResize="1" noEditPoints="1" noAdjustHandles="1" noChangeArrowheads="1" noChangeShapeType="1" noTextEdit="1"/>
              </p:cNvSpPr>
              <p:nvPr>
                <p:ph idx="1"/>
              </p:nvPr>
            </p:nvSpPr>
            <p:spPr>
              <a:xfrm>
                <a:off x="79704" y="838212"/>
                <a:ext cx="8984592" cy="5181575"/>
              </a:xfrm>
              <a:blipFill>
                <a:blip r:embed="rId4"/>
                <a:stretch>
                  <a:fillRect l="-1018" r="-407"/>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71F65251-4996-464D-918C-DCF080B167F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524A0F72-DE43-7290-83B1-FB93C2D55044}"/>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4" name="对话气泡: 矩形 3">
            <a:extLst>
              <a:ext uri="{FF2B5EF4-FFF2-40B4-BE49-F238E27FC236}">
                <a16:creationId xmlns:a16="http://schemas.microsoft.com/office/drawing/2014/main" id="{678B9F09-61EB-0C61-39BF-41AD6CE89A8B}"/>
              </a:ext>
            </a:extLst>
          </p:cNvPr>
          <p:cNvSpPr/>
          <p:nvPr/>
        </p:nvSpPr>
        <p:spPr>
          <a:xfrm>
            <a:off x="6760040" y="2727308"/>
            <a:ext cx="2304256" cy="461665"/>
          </a:xfrm>
          <a:prstGeom prst="wedgeRectCallout">
            <a:avLst>
              <a:gd name="adj1" fmla="val -46782"/>
              <a:gd name="adj2" fmla="val 129463"/>
            </a:avLst>
          </a:prstGeom>
          <a:solidFill>
            <a:srgbClr val="FFCC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a:ea typeface="宋体"/>
                <a:cs typeface="+mn-cs"/>
              </a:rPr>
              <a:t>全性能公式</a:t>
            </a:r>
          </a:p>
        </p:txBody>
      </p:sp>
      <p:sp>
        <p:nvSpPr>
          <p:cNvPr id="8" name="文本框 7">
            <a:extLst>
              <a:ext uri="{FF2B5EF4-FFF2-40B4-BE49-F238E27FC236}">
                <a16:creationId xmlns:a16="http://schemas.microsoft.com/office/drawing/2014/main" id="{9FA7AA8D-A35E-435A-83B3-FC32CB564860}"/>
              </a:ext>
            </a:extLst>
          </p:cNvPr>
          <p:cNvSpPr txBox="1"/>
          <p:nvPr/>
        </p:nvSpPr>
        <p:spPr>
          <a:xfrm>
            <a:off x="8121557" y="1935617"/>
            <a:ext cx="94644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(1-6)</a:t>
            </a:r>
            <a:endParaRPr lang="zh-CN" altLang="en-US" sz="2400"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08E0B421-DE89-4BE3-9291-41596CD75DD9}"/>
              </a:ext>
            </a:extLst>
          </p:cNvPr>
          <p:cNvSpPr txBox="1"/>
          <p:nvPr/>
        </p:nvSpPr>
        <p:spPr>
          <a:xfrm>
            <a:off x="8121557" y="3270420"/>
            <a:ext cx="946448"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(1-7)</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919926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6018">
                                            <p:txEl>
                                              <p:pRg st="0" end="0"/>
                                            </p:txEl>
                                          </p:spTgt>
                                        </p:tgtEl>
                                        <p:attrNameLst>
                                          <p:attrName>style.visibility</p:attrName>
                                        </p:attrNameLst>
                                      </p:cBhvr>
                                      <p:to>
                                        <p:strVal val="visible"/>
                                      </p:to>
                                    </p:set>
                                    <p:animEffect transition="in" filter="randombar(horizontal)">
                                      <p:cBhvr>
                                        <p:cTn id="7" dur="500"/>
                                        <p:tgtEl>
                                          <p:spTgt spid="860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6018">
                                            <p:txEl>
                                              <p:pRg st="1" end="1"/>
                                            </p:txEl>
                                          </p:spTgt>
                                        </p:tgtEl>
                                        <p:attrNameLst>
                                          <p:attrName>style.visibility</p:attrName>
                                        </p:attrNameLst>
                                      </p:cBhvr>
                                      <p:to>
                                        <p:strVal val="visible"/>
                                      </p:to>
                                    </p:set>
                                    <p:animEffect transition="in" filter="randombar(horizontal)">
                                      <p:cBhvr>
                                        <p:cTn id="12" dur="500"/>
                                        <p:tgtEl>
                                          <p:spTgt spid="860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6018">
                                            <p:txEl>
                                              <p:pRg st="2" end="2"/>
                                            </p:txEl>
                                          </p:spTgt>
                                        </p:tgtEl>
                                        <p:attrNameLst>
                                          <p:attrName>style.visibility</p:attrName>
                                        </p:attrNameLst>
                                      </p:cBhvr>
                                      <p:to>
                                        <p:strVal val="visible"/>
                                      </p:to>
                                    </p:set>
                                    <p:animEffect transition="in" filter="randombar(horizontal)">
                                      <p:cBhvr>
                                        <p:cTn id="17" dur="500"/>
                                        <p:tgtEl>
                                          <p:spTgt spid="86018">
                                            <p:txEl>
                                              <p:pRg st="2" end="2"/>
                                            </p:txEl>
                                          </p:spTgt>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86018">
                                            <p:txEl>
                                              <p:pRg st="3" end="3"/>
                                            </p:txEl>
                                          </p:spTgt>
                                        </p:tgtEl>
                                        <p:attrNameLst>
                                          <p:attrName>style.visibility</p:attrName>
                                        </p:attrNameLst>
                                      </p:cBhvr>
                                      <p:to>
                                        <p:strVal val="visible"/>
                                      </p:to>
                                    </p:set>
                                    <p:animEffect transition="in" filter="randombar(horizontal)">
                                      <p:cBhvr>
                                        <p:cTn id="20" dur="500"/>
                                        <p:tgtEl>
                                          <p:spTgt spid="8601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86018">
                                            <p:txEl>
                                              <p:pRg st="4" end="4"/>
                                            </p:txEl>
                                          </p:spTgt>
                                        </p:tgtEl>
                                        <p:attrNameLst>
                                          <p:attrName>style.visibility</p:attrName>
                                        </p:attrNameLst>
                                      </p:cBhvr>
                                      <p:to>
                                        <p:strVal val="visible"/>
                                      </p:to>
                                    </p:set>
                                    <p:animEffect transition="in" filter="randombar(horizontal)">
                                      <p:cBhvr>
                                        <p:cTn id="25" dur="500"/>
                                        <p:tgtEl>
                                          <p:spTgt spid="8601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86018">
                                            <p:txEl>
                                              <p:pRg st="5" end="5"/>
                                            </p:txEl>
                                          </p:spTgt>
                                        </p:tgtEl>
                                        <p:attrNameLst>
                                          <p:attrName>style.visibility</p:attrName>
                                        </p:attrNameLst>
                                      </p:cBhvr>
                                      <p:to>
                                        <p:strVal val="visible"/>
                                      </p:to>
                                    </p:set>
                                    <p:animEffect transition="in" filter="randombar(horizontal)">
                                      <p:cBhvr>
                                        <p:cTn id="30" dur="500"/>
                                        <p:tgtEl>
                                          <p:spTgt spid="86018">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86018">
                                            <p:txEl>
                                              <p:pRg st="6" end="6"/>
                                            </p:txEl>
                                          </p:spTgt>
                                        </p:tgtEl>
                                        <p:attrNameLst>
                                          <p:attrName>style.visibility</p:attrName>
                                        </p:attrNameLst>
                                      </p:cBhvr>
                                      <p:to>
                                        <p:strVal val="visible"/>
                                      </p:to>
                                    </p:set>
                                    <p:animEffect transition="in" filter="randombar(horizontal)">
                                      <p:cBhvr>
                                        <p:cTn id="35" dur="500"/>
                                        <p:tgtEl>
                                          <p:spTgt spid="86018">
                                            <p:txEl>
                                              <p:pRg st="6" end="6"/>
                                            </p:txEl>
                                          </p:spTgt>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6018">
                                            <p:txEl>
                                              <p:pRg st="7" end="7"/>
                                            </p:txEl>
                                          </p:spTgt>
                                        </p:tgtEl>
                                        <p:attrNameLst>
                                          <p:attrName>style.visibility</p:attrName>
                                        </p:attrNameLst>
                                      </p:cBhvr>
                                      <p:to>
                                        <p:strVal val="visible"/>
                                      </p:to>
                                    </p:set>
                                    <p:animEffect transition="in" filter="randombar(horizontal)">
                                      <p:cBhvr>
                                        <p:cTn id="38" dur="500"/>
                                        <p:tgtEl>
                                          <p:spTgt spid="86018">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randombar(horizontal)">
                                      <p:cBhvr>
                                        <p:cTn id="4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build="p"/>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6018" name="Rectangle 3"/>
          <p:cNvSpPr>
            <a:spLocks noGrp="1" noChangeArrowheads="1"/>
          </p:cNvSpPr>
          <p:nvPr>
            <p:ph idx="1"/>
          </p:nvPr>
        </p:nvSpPr>
        <p:spPr>
          <a:xfrm>
            <a:off x="107505" y="955906"/>
            <a:ext cx="8856984" cy="5641445"/>
          </a:xfrm>
        </p:spPr>
        <p:txBody>
          <a:bodyPr/>
          <a:lstStyle/>
          <a:p>
            <a:pPr marL="0" indent="0">
              <a:lnSpc>
                <a:spcPct val="150000"/>
              </a:lnSpc>
              <a:spcBef>
                <a:spcPct val="0"/>
              </a:spcBef>
              <a:buNone/>
            </a:pPr>
            <a:r>
              <a:rPr lang="zh-CN" altLang="en-US" sz="2800" b="1" dirty="0">
                <a:solidFill>
                  <a:schemeClr val="tx1"/>
                </a:solidFill>
                <a:latin typeface="Times New Roman" panose="02020603050405020304" pitchFamily="18" charset="0"/>
                <a:cs typeface="Times New Roman" panose="02020603050405020304" pitchFamily="18" charset="0"/>
              </a:rPr>
              <a:t>常见的基准测试程序有</a:t>
            </a:r>
            <a:r>
              <a:rPr lang="en-US" altLang="zh-CN" sz="2800" b="1" dirty="0">
                <a:solidFill>
                  <a:srgbClr val="FF0000"/>
                </a:solidFill>
                <a:latin typeface="Times New Roman" panose="02020603050405020304" pitchFamily="18" charset="0"/>
                <a:cs typeface="Times New Roman" panose="02020603050405020304" pitchFamily="18" charset="0"/>
              </a:rPr>
              <a:t>Whetstone</a:t>
            </a:r>
            <a:r>
              <a:rPr lang="zh-CN" altLang="en-US" sz="2800" b="1" dirty="0">
                <a:solidFill>
                  <a:schemeClr val="tx1"/>
                </a:solidFill>
                <a:latin typeface="Times New Roman" panose="02020603050405020304" pitchFamily="18" charset="0"/>
                <a:cs typeface="Times New Roman" panose="02020603050405020304" pitchFamily="18" charset="0"/>
              </a:rPr>
              <a:t>、</a:t>
            </a:r>
            <a:r>
              <a:rPr lang="en-US" altLang="zh-CN" sz="2800" b="1" dirty="0">
                <a:solidFill>
                  <a:srgbClr val="FF0000"/>
                </a:solidFill>
                <a:latin typeface="Times New Roman" panose="02020603050405020304" pitchFamily="18" charset="0"/>
                <a:cs typeface="Times New Roman" panose="02020603050405020304" pitchFamily="18" charset="0"/>
              </a:rPr>
              <a:t>Dhrystone</a:t>
            </a:r>
            <a:endParaRPr lang="en-US" altLang="zh-CN" sz="28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400" b="1" dirty="0">
                <a:solidFill>
                  <a:srgbClr val="FF0000"/>
                </a:solidFill>
                <a:latin typeface="Times New Roman" panose="02020603050405020304" pitchFamily="18" charset="0"/>
                <a:cs typeface="Times New Roman" panose="02020603050405020304" pitchFamily="18" charset="0"/>
              </a:rPr>
              <a:t>Whetstone</a:t>
            </a:r>
            <a:r>
              <a:rPr lang="zh-CN" altLang="en-US" sz="2400" b="1" dirty="0">
                <a:solidFill>
                  <a:schemeClr val="tx1"/>
                </a:solidFill>
                <a:latin typeface="Times New Roman" panose="02020603050405020304" pitchFamily="18" charset="0"/>
                <a:cs typeface="Times New Roman" panose="02020603050405020304" pitchFamily="18" charset="0"/>
              </a:rPr>
              <a:t>前者主要用于测试</a:t>
            </a:r>
            <a:r>
              <a:rPr lang="zh-CN" altLang="en-US" sz="2400" b="1" dirty="0">
                <a:solidFill>
                  <a:srgbClr val="0000FF"/>
                </a:solidFill>
                <a:latin typeface="Times New Roman" panose="02020603050405020304" pitchFamily="18" charset="0"/>
                <a:cs typeface="Times New Roman" panose="02020603050405020304" pitchFamily="18" charset="0"/>
              </a:rPr>
              <a:t>浮点运算性能</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400" b="1" dirty="0">
                <a:solidFill>
                  <a:srgbClr val="FF0000"/>
                </a:solidFill>
                <a:latin typeface="Times New Roman" panose="02020603050405020304" pitchFamily="18" charset="0"/>
                <a:cs typeface="Times New Roman" panose="02020603050405020304" pitchFamily="18" charset="0"/>
              </a:rPr>
              <a:t>Dhrystone</a:t>
            </a:r>
            <a:r>
              <a:rPr lang="zh-CN" altLang="en-US" sz="2400" b="1" dirty="0">
                <a:solidFill>
                  <a:schemeClr val="tx1"/>
                </a:solidFill>
                <a:latin typeface="Times New Roman" panose="02020603050405020304" pitchFamily="18" charset="0"/>
                <a:cs typeface="Times New Roman" panose="02020603050405020304" pitchFamily="18" charset="0"/>
              </a:rPr>
              <a:t>而后者主要用于测试</a:t>
            </a:r>
            <a:r>
              <a:rPr lang="zh-CN" altLang="en-US" sz="2400" b="1" dirty="0">
                <a:solidFill>
                  <a:srgbClr val="0000FF"/>
                </a:solidFill>
                <a:latin typeface="Times New Roman" panose="02020603050405020304" pitchFamily="18" charset="0"/>
                <a:cs typeface="Times New Roman" panose="02020603050405020304" pitchFamily="18" charset="0"/>
              </a:rPr>
              <a:t>整数编译器及</a:t>
            </a:r>
            <a:r>
              <a:rPr lang="en-US" altLang="zh-CN" sz="2400" b="1" dirty="0">
                <a:solidFill>
                  <a:srgbClr val="0000FF"/>
                </a:solidFill>
                <a:latin typeface="Times New Roman" panose="02020603050405020304" pitchFamily="18" charset="0"/>
                <a:cs typeface="Times New Roman" panose="02020603050405020304" pitchFamily="18" charset="0"/>
              </a:rPr>
              <a:t>CPU</a:t>
            </a:r>
            <a:r>
              <a:rPr lang="zh-CN" altLang="en-US" sz="2400" b="1" dirty="0">
                <a:solidFill>
                  <a:srgbClr val="0000FF"/>
                </a:solidFill>
                <a:latin typeface="Times New Roman" panose="02020603050405020304" pitchFamily="18" charset="0"/>
                <a:cs typeface="Times New Roman" panose="02020603050405020304" pitchFamily="18" charset="0"/>
              </a:rPr>
              <a:t>处理整数指令和控制功能的有效性</a:t>
            </a:r>
            <a:r>
              <a:rPr lang="zh-CN" altLang="en-US" sz="2400" b="1" dirty="0">
                <a:solidFill>
                  <a:schemeClr val="tx1"/>
                </a:solidFill>
                <a:latin typeface="Times New Roman" panose="02020603050405020304" pitchFamily="18" charset="0"/>
                <a:cs typeface="Times New Roman" panose="02020603050405020304" pitchFamily="18" charset="0"/>
              </a:rPr>
              <a:t>，不能测试浮点运算性能。</a:t>
            </a:r>
            <a:endParaRPr lang="en-US" altLang="zh-CN" sz="24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400" b="1" dirty="0">
                <a:solidFill>
                  <a:schemeClr val="tx1"/>
                </a:solidFill>
                <a:latin typeface="Times New Roman" panose="02020603050405020304" pitchFamily="18" charset="0"/>
                <a:cs typeface="Times New Roman" panose="02020603050405020304" pitchFamily="18" charset="0"/>
              </a:rPr>
              <a:t>Dhrystone</a:t>
            </a:r>
            <a:r>
              <a:rPr lang="zh-CN" altLang="en-US" sz="2400" b="1" dirty="0">
                <a:solidFill>
                  <a:schemeClr val="tx1"/>
                </a:solidFill>
                <a:latin typeface="Times New Roman" panose="02020603050405020304" pitchFamily="18" charset="0"/>
                <a:cs typeface="Times New Roman" panose="02020603050405020304" pitchFamily="18" charset="0"/>
              </a:rPr>
              <a:t>用</a:t>
            </a:r>
            <a:r>
              <a:rPr lang="en-US" altLang="zh-CN" sz="2400" b="1" dirty="0">
                <a:solidFill>
                  <a:schemeClr val="tx1"/>
                </a:solidFill>
                <a:latin typeface="Times New Roman" panose="02020603050405020304" pitchFamily="18" charset="0"/>
                <a:cs typeface="Times New Roman" panose="02020603050405020304" pitchFamily="18" charset="0"/>
              </a:rPr>
              <a:t>C</a:t>
            </a:r>
            <a:r>
              <a:rPr lang="zh-CN" altLang="en-US" sz="2400" b="1" dirty="0">
                <a:solidFill>
                  <a:schemeClr val="tx1"/>
                </a:solidFill>
                <a:latin typeface="Times New Roman" panose="02020603050405020304" pitchFamily="18" charset="0"/>
                <a:cs typeface="Times New Roman" panose="02020603050405020304" pitchFamily="18" charset="0"/>
              </a:rPr>
              <a:t>语言编写，包括各种赋值语句、各种数据类型和数据区、各种控制语句、过程调用和参数传送、整数运算和逻辑操作。</a:t>
            </a:r>
            <a:endParaRPr lang="en-US" altLang="zh-CN" sz="2400" b="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8CA5E5B3-4BEF-4679-88CF-F7FC8A5A045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B8BBB843-8ED7-CA46-9E6A-4B4A53525D0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Tree>
    <p:extLst>
      <p:ext uri="{BB962C8B-B14F-4D97-AF65-F5344CB8AC3E}">
        <p14:creationId xmlns:p14="http://schemas.microsoft.com/office/powerpoint/2010/main" val="21271579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6018" name="Rectangle 3"/>
          <p:cNvSpPr>
            <a:spLocks noGrp="1" noChangeArrowheads="1"/>
          </p:cNvSpPr>
          <p:nvPr>
            <p:ph idx="1"/>
          </p:nvPr>
        </p:nvSpPr>
        <p:spPr>
          <a:xfrm>
            <a:off x="107505" y="955906"/>
            <a:ext cx="8856984" cy="5641445"/>
          </a:xfrm>
        </p:spPr>
        <p:txBody>
          <a:bodyPr/>
          <a:lstStyle/>
          <a:p>
            <a:pPr>
              <a:lnSpc>
                <a:spcPct val="150000"/>
              </a:lnSpc>
              <a:spcBef>
                <a:spcPct val="0"/>
              </a:spcBef>
            </a:pPr>
            <a:r>
              <a:rPr lang="zh-CN" altLang="en-US" sz="2000" b="1" dirty="0">
                <a:solidFill>
                  <a:schemeClr val="tx1"/>
                </a:solidFill>
                <a:latin typeface="Times New Roman" panose="02020603050405020304" pitchFamily="18" charset="0"/>
                <a:cs typeface="Times New Roman" panose="02020603050405020304" pitchFamily="18" charset="0"/>
              </a:rPr>
              <a:t>下表中所示为不同年份处理器或计算机的 </a:t>
            </a:r>
            <a:r>
              <a:rPr lang="en-US" altLang="zh-CN" sz="2000" b="1" dirty="0">
                <a:solidFill>
                  <a:schemeClr val="tx1"/>
                </a:solidFill>
                <a:latin typeface="Times New Roman" panose="02020603050405020304" pitchFamily="18" charset="0"/>
                <a:cs typeface="Times New Roman" panose="02020603050405020304" pitchFamily="18" charset="0"/>
              </a:rPr>
              <a:t>Dhrystone MIPS</a:t>
            </a:r>
            <a:r>
              <a:rPr lang="zh-CN" altLang="en-US" sz="2000" b="1" dirty="0">
                <a:solidFill>
                  <a:schemeClr val="tx1"/>
                </a:solidFill>
                <a:latin typeface="Times New Roman" panose="02020603050405020304" pitchFamily="18" charset="0"/>
                <a:cs typeface="Times New Roman" panose="02020603050405020304" pitchFamily="18" charset="0"/>
              </a:rPr>
              <a:t>性能参数以及相关制程工艺。</a:t>
            </a:r>
            <a:endParaRPr lang="en-US" altLang="zh-CN" sz="2000" b="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8CA5E5B3-4BEF-4679-88CF-F7FC8A5A045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B8BBB843-8ED7-CA46-9E6A-4B4A53525D0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pic>
        <p:nvPicPr>
          <p:cNvPr id="4" name="图片 3">
            <a:extLst>
              <a:ext uri="{FF2B5EF4-FFF2-40B4-BE49-F238E27FC236}">
                <a16:creationId xmlns:a16="http://schemas.microsoft.com/office/drawing/2014/main" id="{CC61DD7C-1414-4EC3-B1FC-2B74ADB18474}"/>
              </a:ext>
            </a:extLst>
          </p:cNvPr>
          <p:cNvPicPr>
            <a:picLocks noChangeAspect="1"/>
          </p:cNvPicPr>
          <p:nvPr/>
        </p:nvPicPr>
        <p:blipFill rotWithShape="1">
          <a:blip r:embed="rId4"/>
          <a:srcRect t="30050" b="31100"/>
          <a:stretch/>
        </p:blipFill>
        <p:spPr>
          <a:xfrm>
            <a:off x="694110" y="2103052"/>
            <a:ext cx="7979866" cy="4624623"/>
          </a:xfrm>
          <a:prstGeom prst="rect">
            <a:avLst/>
          </a:prstGeom>
        </p:spPr>
      </p:pic>
    </p:spTree>
    <p:extLst>
      <p:ext uri="{BB962C8B-B14F-4D97-AF65-F5344CB8AC3E}">
        <p14:creationId xmlns:p14="http://schemas.microsoft.com/office/powerpoint/2010/main" val="128762869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6018" name="Rectangle 3"/>
          <p:cNvSpPr>
            <a:spLocks noGrp="1" noChangeArrowheads="1"/>
          </p:cNvSpPr>
          <p:nvPr>
            <p:ph idx="1"/>
          </p:nvPr>
        </p:nvSpPr>
        <p:spPr>
          <a:xfrm>
            <a:off x="107505" y="955906"/>
            <a:ext cx="8856984" cy="5641445"/>
          </a:xfrm>
        </p:spPr>
        <p:txBody>
          <a:bodyPr/>
          <a:lstStyle/>
          <a:p>
            <a:pPr>
              <a:lnSpc>
                <a:spcPct val="150000"/>
              </a:lnSpc>
              <a:spcBef>
                <a:spcPct val="0"/>
              </a:spcBef>
            </a:pPr>
            <a:r>
              <a:rPr lang="zh-CN" altLang="en-US" sz="2400" b="1" dirty="0">
                <a:solidFill>
                  <a:schemeClr val="tx1"/>
                </a:solidFill>
                <a:latin typeface="Times New Roman" panose="02020603050405020304" pitchFamily="18" charset="0"/>
                <a:cs typeface="Times New Roman" panose="02020603050405020304" pitchFamily="18" charset="0"/>
              </a:rPr>
              <a:t>需要注意的是，</a:t>
            </a:r>
            <a:r>
              <a:rPr lang="zh-CN" altLang="en-US" sz="2400" b="1" dirty="0">
                <a:solidFill>
                  <a:srgbClr val="FF0000"/>
                </a:solidFill>
                <a:latin typeface="Times New Roman" panose="02020603050405020304" pitchFamily="18" charset="0"/>
                <a:cs typeface="Times New Roman" panose="02020603050405020304" pitchFamily="18" charset="0"/>
              </a:rPr>
              <a:t>就算是相同的基准测试程序，</a:t>
            </a:r>
            <a:r>
              <a:rPr lang="en-US" altLang="zh-CN" sz="2400" b="1" dirty="0">
                <a:solidFill>
                  <a:srgbClr val="FF0000"/>
                </a:solidFill>
                <a:latin typeface="Times New Roman" panose="02020603050405020304" pitchFamily="18" charset="0"/>
                <a:cs typeface="Times New Roman" panose="02020603050405020304" pitchFamily="18" charset="0"/>
              </a:rPr>
              <a:t>MIPS</a:t>
            </a:r>
            <a:r>
              <a:rPr lang="zh-CN" altLang="en-US" sz="2400" b="1" dirty="0">
                <a:solidFill>
                  <a:srgbClr val="FF0000"/>
                </a:solidFill>
                <a:latin typeface="Times New Roman" panose="02020603050405020304" pitchFamily="18" charset="0"/>
                <a:cs typeface="Times New Roman" panose="02020603050405020304" pitchFamily="18" charset="0"/>
              </a:rPr>
              <a:t>性能也可能不同，因为它还取决于基准测试程序的编程语言</a:t>
            </a:r>
            <a:r>
              <a:rPr lang="zh-CN" altLang="en-US" sz="2400" b="1" dirty="0">
                <a:solidFill>
                  <a:schemeClr val="tx1"/>
                </a:solidFill>
                <a:latin typeface="Times New Roman" panose="02020603050405020304" pitchFamily="18" charset="0"/>
                <a:cs typeface="Times New Roman" panose="02020603050405020304" pitchFamily="18" charset="0"/>
              </a:rPr>
              <a:t>。</a:t>
            </a:r>
            <a:endParaRPr lang="en-US" altLang="zh-CN" sz="24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solidFill>
                  <a:schemeClr val="tx1"/>
                </a:solidFill>
                <a:latin typeface="Times New Roman" panose="02020603050405020304" pitchFamily="18" charset="0"/>
                <a:cs typeface="Times New Roman" panose="02020603050405020304" pitchFamily="18" charset="0"/>
              </a:rPr>
              <a:t>表中所示为</a:t>
            </a:r>
            <a:r>
              <a:rPr lang="en-US" altLang="zh-CN" sz="2400" b="1" dirty="0">
                <a:solidFill>
                  <a:schemeClr val="tx1"/>
                </a:solidFill>
                <a:latin typeface="Times New Roman" panose="02020603050405020304" pitchFamily="18" charset="0"/>
                <a:cs typeface="Times New Roman" panose="02020603050405020304" pitchFamily="18" charset="0"/>
              </a:rPr>
              <a:t>2007</a:t>
            </a:r>
            <a:r>
              <a:rPr lang="zh-CN" altLang="en-US" sz="2400" b="1" dirty="0">
                <a:solidFill>
                  <a:schemeClr val="tx1"/>
                </a:solidFill>
                <a:latin typeface="Times New Roman" panose="02020603050405020304" pitchFamily="18" charset="0"/>
                <a:cs typeface="Times New Roman" panose="02020603050405020304" pitchFamily="18" charset="0"/>
              </a:rPr>
              <a:t>年英特尔生产的</a:t>
            </a:r>
            <a:r>
              <a:rPr lang="en-US" altLang="zh-CN" sz="2400" b="1" dirty="0">
                <a:solidFill>
                  <a:srgbClr val="FF0000"/>
                </a:solidFill>
                <a:latin typeface="Times New Roman" panose="02020603050405020304" pitchFamily="18" charset="0"/>
                <a:cs typeface="Times New Roman" panose="02020603050405020304" pitchFamily="18" charset="0"/>
              </a:rPr>
              <a:t>Intel Core2 CPU</a:t>
            </a:r>
            <a:r>
              <a:rPr lang="zh-CN" altLang="en-US" sz="2400" b="1" dirty="0">
                <a:solidFill>
                  <a:schemeClr val="tx1"/>
                </a:solidFill>
                <a:latin typeface="Times New Roman" panose="02020603050405020304" pitchFamily="18" charset="0"/>
                <a:cs typeface="Times New Roman" panose="02020603050405020304" pitchFamily="18" charset="0"/>
              </a:rPr>
              <a:t>使用不同编程语言得到的</a:t>
            </a:r>
            <a:r>
              <a:rPr lang="en-US" altLang="zh-CN" sz="2400" b="1" dirty="0">
                <a:solidFill>
                  <a:schemeClr val="tx1"/>
                </a:solidFill>
                <a:latin typeface="Times New Roman" panose="02020603050405020304" pitchFamily="18" charset="0"/>
                <a:cs typeface="Times New Roman" panose="02020603050405020304" pitchFamily="18" charset="0"/>
              </a:rPr>
              <a:t>Whetstone</a:t>
            </a:r>
            <a:r>
              <a:rPr lang="zh-CN" altLang="en-US" sz="2400" b="1" dirty="0">
                <a:solidFill>
                  <a:schemeClr val="tx1"/>
                </a:solidFill>
                <a:latin typeface="Times New Roman" panose="02020603050405020304" pitchFamily="18" charset="0"/>
                <a:cs typeface="Times New Roman" panose="02020603050405020304" pitchFamily="18" charset="0"/>
              </a:rPr>
              <a:t>测试结果。</a:t>
            </a:r>
            <a:endParaRPr lang="en-US" altLang="zh-CN" sz="24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400" b="1" dirty="0">
              <a:latin typeface="Times New Roman" panose="02020603050405020304" pitchFamily="18" charset="0"/>
              <a:cs typeface="Times New Roman" panose="02020603050405020304" pitchFamily="18" charset="0"/>
            </a:endParaRPr>
          </a:p>
          <a:p>
            <a:pPr>
              <a:lnSpc>
                <a:spcPct val="150000"/>
              </a:lnSpc>
              <a:spcBef>
                <a:spcPct val="0"/>
              </a:spcBef>
            </a:pPr>
            <a:endParaRPr lang="en-US" altLang="zh-CN" sz="24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400" b="1" dirty="0">
                <a:solidFill>
                  <a:schemeClr val="tx1"/>
                </a:solidFill>
                <a:latin typeface="Times New Roman" panose="02020603050405020304" pitchFamily="18" charset="0"/>
                <a:cs typeface="Times New Roman" panose="02020603050405020304" pitchFamily="18" charset="0"/>
              </a:rPr>
              <a:t>可以看出不同编译器之间存在较大的差异。即使是相同的编程语言，厂家也可以针对自身硬件特性进行针对性的编译优化，以得到最有利的测试结果。</a:t>
            </a:r>
            <a:endParaRPr lang="en-US" altLang="zh-CN" sz="2400" b="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8CA5E5B3-4BEF-4679-88CF-F7FC8A5A045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B8BBB843-8ED7-CA46-9E6A-4B4A53525D0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pic>
        <p:nvPicPr>
          <p:cNvPr id="5" name="图片 4">
            <a:extLst>
              <a:ext uri="{FF2B5EF4-FFF2-40B4-BE49-F238E27FC236}">
                <a16:creationId xmlns:a16="http://schemas.microsoft.com/office/drawing/2014/main" id="{ADE0095C-BBCB-4EC0-8BEC-4A3DCC266830}"/>
              </a:ext>
            </a:extLst>
          </p:cNvPr>
          <p:cNvPicPr>
            <a:picLocks noChangeAspect="1"/>
          </p:cNvPicPr>
          <p:nvPr/>
        </p:nvPicPr>
        <p:blipFill rotWithShape="1">
          <a:blip r:embed="rId4"/>
          <a:srcRect l="3010" t="81500" r="6905" b="13026"/>
          <a:stretch/>
        </p:blipFill>
        <p:spPr>
          <a:xfrm>
            <a:off x="315825" y="3429000"/>
            <a:ext cx="8738419" cy="792088"/>
          </a:xfrm>
          <a:prstGeom prst="rect">
            <a:avLst/>
          </a:prstGeom>
        </p:spPr>
      </p:pic>
    </p:spTree>
    <p:extLst>
      <p:ext uri="{BB962C8B-B14F-4D97-AF65-F5344CB8AC3E}">
        <p14:creationId xmlns:p14="http://schemas.microsoft.com/office/powerpoint/2010/main" val="189123224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6018" name="Rectangle 3"/>
          <p:cNvSpPr>
            <a:spLocks noGrp="1" noChangeArrowheads="1"/>
          </p:cNvSpPr>
          <p:nvPr>
            <p:ph idx="1"/>
          </p:nvPr>
        </p:nvSpPr>
        <p:spPr>
          <a:xfrm>
            <a:off x="107505" y="955907"/>
            <a:ext cx="5870006" cy="2257070"/>
          </a:xfrm>
        </p:spPr>
        <p:txBody>
          <a:bodyPr/>
          <a:lstStyle/>
          <a:p>
            <a:pPr marL="0" indent="0" eaLnBrk="1" hangingPunct="1">
              <a:lnSpc>
                <a:spcPct val="150000"/>
              </a:lnSpc>
              <a:spcBef>
                <a:spcPct val="0"/>
              </a:spcBef>
              <a:buNone/>
            </a:pPr>
            <a:r>
              <a:rPr lang="zh-CN" altLang="en-US" sz="2400" b="1" dirty="0">
                <a:solidFill>
                  <a:schemeClr val="tx1"/>
                </a:solidFill>
                <a:latin typeface="Times New Roman" panose="02020603050405020304" pitchFamily="18" charset="0"/>
                <a:cs typeface="Times New Roman" panose="02020603050405020304" pitchFamily="18" charset="0"/>
              </a:rPr>
              <a:t>例</a:t>
            </a:r>
            <a:r>
              <a:rPr lang="en-US" altLang="zh-CN" sz="2400" b="1" dirty="0">
                <a:solidFill>
                  <a:schemeClr val="tx1"/>
                </a:solidFill>
                <a:latin typeface="Times New Roman" panose="02020603050405020304" pitchFamily="18" charset="0"/>
                <a:cs typeface="Times New Roman" panose="02020603050405020304" pitchFamily="18" charset="0"/>
              </a:rPr>
              <a:t>2</a:t>
            </a:r>
            <a:r>
              <a:rPr lang="zh-CN" altLang="en-US" sz="2400" b="1" dirty="0">
                <a:solidFill>
                  <a:schemeClr val="tx1"/>
                </a:solidFill>
                <a:latin typeface="Times New Roman" panose="02020603050405020304" pitchFamily="18" charset="0"/>
                <a:cs typeface="Times New Roman" panose="02020603050405020304" pitchFamily="18" charset="0"/>
              </a:rPr>
              <a:t>：某计算机主频为</a:t>
            </a:r>
            <a:r>
              <a:rPr lang="en-US" altLang="zh-CN" sz="2400" b="1" dirty="0">
                <a:solidFill>
                  <a:schemeClr val="tx1"/>
                </a:solidFill>
                <a:latin typeface="Times New Roman" panose="02020603050405020304" pitchFamily="18" charset="0"/>
                <a:cs typeface="Times New Roman" panose="02020603050405020304" pitchFamily="18" charset="0"/>
              </a:rPr>
              <a:t>1GHz</a:t>
            </a:r>
            <a:r>
              <a:rPr lang="zh-CN" altLang="en-US" sz="2400" b="1" dirty="0">
                <a:solidFill>
                  <a:schemeClr val="tx1"/>
                </a:solidFill>
                <a:latin typeface="Times New Roman" panose="02020603050405020304" pitchFamily="18" charset="0"/>
                <a:cs typeface="Times New Roman" panose="02020603050405020304" pitchFamily="18" charset="0"/>
              </a:rPr>
              <a:t>，在其上运行的目标代码包含</a:t>
            </a:r>
            <a:r>
              <a:rPr lang="en-US" altLang="zh-CN" sz="2400" b="1" dirty="0">
                <a:solidFill>
                  <a:schemeClr val="tx1"/>
                </a:solidFill>
                <a:latin typeface="Times New Roman" panose="02020603050405020304" pitchFamily="18" charset="0"/>
                <a:cs typeface="Times New Roman" panose="02020603050405020304" pitchFamily="18" charset="0"/>
              </a:rPr>
              <a:t>2×10</a:t>
            </a:r>
            <a:r>
              <a:rPr lang="en-US" altLang="zh-CN" sz="2400" b="1" baseline="30000" dirty="0">
                <a:solidFill>
                  <a:schemeClr val="tx1"/>
                </a:solidFill>
                <a:latin typeface="Times New Roman" panose="02020603050405020304" pitchFamily="18" charset="0"/>
                <a:cs typeface="Times New Roman" panose="02020603050405020304" pitchFamily="18" charset="0"/>
              </a:rPr>
              <a:t>5</a:t>
            </a:r>
            <a:r>
              <a:rPr lang="zh-CN" altLang="en-US" sz="2400" b="1" dirty="0">
                <a:solidFill>
                  <a:schemeClr val="tx1"/>
                </a:solidFill>
                <a:latin typeface="Times New Roman" panose="02020603050405020304" pitchFamily="18" charset="0"/>
                <a:cs typeface="Times New Roman" panose="02020603050405020304" pitchFamily="18" charset="0"/>
              </a:rPr>
              <a:t>条指令，分</a:t>
            </a:r>
            <a:r>
              <a:rPr lang="en-US" altLang="zh-CN" sz="2400" b="1" dirty="0">
                <a:solidFill>
                  <a:schemeClr val="tx1"/>
                </a:solidFill>
                <a:latin typeface="Times New Roman" panose="02020603050405020304" pitchFamily="18" charset="0"/>
                <a:cs typeface="Times New Roman" panose="02020603050405020304" pitchFamily="18" charset="0"/>
              </a:rPr>
              <a:t>4</a:t>
            </a:r>
            <a:r>
              <a:rPr lang="zh-CN" altLang="en-US" sz="2400" b="1" dirty="0">
                <a:solidFill>
                  <a:schemeClr val="tx1"/>
                </a:solidFill>
                <a:latin typeface="Times New Roman" panose="02020603050405020304" pitchFamily="18" charset="0"/>
                <a:cs typeface="Times New Roman" panose="02020603050405020304" pitchFamily="18" charset="0"/>
              </a:rPr>
              <a:t>类，各类指令所知比例和各自</a:t>
            </a:r>
            <a:r>
              <a:rPr lang="en-US" altLang="zh-CN" sz="2400" b="1" dirty="0">
                <a:solidFill>
                  <a:schemeClr val="tx1"/>
                </a:solidFill>
                <a:latin typeface="Times New Roman" panose="02020603050405020304" pitchFamily="18" charset="0"/>
                <a:cs typeface="Times New Roman" panose="02020603050405020304" pitchFamily="18" charset="0"/>
              </a:rPr>
              <a:t>CPI</a:t>
            </a:r>
            <a:r>
              <a:rPr lang="zh-CN" altLang="en-US" sz="2400" b="1" dirty="0">
                <a:solidFill>
                  <a:schemeClr val="tx1"/>
                </a:solidFill>
                <a:latin typeface="Times New Roman" panose="02020603050405020304" pitchFamily="18" charset="0"/>
                <a:cs typeface="Times New Roman" panose="02020603050405020304" pitchFamily="18" charset="0"/>
              </a:rPr>
              <a:t>如下表示，求程序的</a:t>
            </a:r>
            <a:r>
              <a:rPr lang="en-US" altLang="zh-CN" sz="2400" b="1" dirty="0">
                <a:solidFill>
                  <a:schemeClr val="tx1"/>
                </a:solidFill>
                <a:latin typeface="Times New Roman" panose="02020603050405020304" pitchFamily="18" charset="0"/>
                <a:cs typeface="Times New Roman" panose="02020603050405020304" pitchFamily="18" charset="0"/>
              </a:rPr>
              <a:t>MIPS</a:t>
            </a:r>
            <a:r>
              <a:rPr lang="zh-CN" altLang="en-US" sz="2400" b="1" dirty="0">
                <a:solidFill>
                  <a:schemeClr val="tx1"/>
                </a:solidFill>
                <a:latin typeface="Times New Roman" panose="02020603050405020304" pitchFamily="18" charset="0"/>
                <a:cs typeface="Times New Roman" panose="02020603050405020304" pitchFamily="18" charset="0"/>
              </a:rPr>
              <a:t>。</a:t>
            </a:r>
            <a:endParaRPr lang="en-US" altLang="zh-CN" sz="2400" b="1" dirty="0">
              <a:solidFill>
                <a:schemeClr val="tx1"/>
              </a:solidFill>
              <a:latin typeface="Times New Roman" panose="02020603050405020304" pitchFamily="18" charset="0"/>
              <a:cs typeface="Times New Roman" panose="02020603050405020304" pitchFamily="18" charset="0"/>
            </a:endParaRPr>
          </a:p>
          <a:p>
            <a:pPr marL="0" indent="0" eaLnBrk="1" hangingPunct="1">
              <a:lnSpc>
                <a:spcPct val="150000"/>
              </a:lnSpc>
              <a:spcBef>
                <a:spcPct val="0"/>
              </a:spcBef>
              <a:buNone/>
            </a:pPr>
            <a:endParaRPr lang="en-US" altLang="zh-CN" sz="2400" b="1" dirty="0">
              <a:solidFill>
                <a:schemeClr val="tx1"/>
              </a:solidFill>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3728BD11-A6EF-463C-8E27-EAFEEEF6DA93}"/>
              </a:ext>
            </a:extLst>
          </p:cNvPr>
          <p:cNvPicPr>
            <a:picLocks noChangeAspect="1"/>
          </p:cNvPicPr>
          <p:nvPr/>
        </p:nvPicPr>
        <p:blipFill>
          <a:blip r:embed="rId4"/>
          <a:stretch>
            <a:fillRect/>
          </a:stretch>
        </p:blipFill>
        <p:spPr>
          <a:xfrm>
            <a:off x="5977511" y="1105649"/>
            <a:ext cx="3058984" cy="1895760"/>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4749483-32C0-4FF8-9CA6-97218FE8C42B}"/>
                  </a:ext>
                </a:extLst>
              </p:cNvPr>
              <p:cNvSpPr txBox="1"/>
              <p:nvPr/>
            </p:nvSpPr>
            <p:spPr>
              <a:xfrm>
                <a:off x="179512" y="3643307"/>
                <a:ext cx="8712968" cy="2197461"/>
              </a:xfrm>
              <a:prstGeom prst="rect">
                <a:avLst/>
              </a:prstGeom>
              <a:noFill/>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解：根据</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CPU</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全性能公式：</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MIPS=</a:t>
                </a: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Times New Roman" panose="02020603050405020304" pitchFamily="18" charset="0"/>
                  </a:rPr>
                  <a:t> </a:t>
                </a:r>
                <a14:m>
                  <m:oMath xmlns:m="http://schemas.openxmlformats.org/officeDocument/2006/math">
                    <m:f>
                      <m:fPr>
                        <m:ctrlPr>
                          <a:rPr kumimoji="0" lang="en-US" altLang="zh-CN" sz="2400" b="1" i="1" u="none" strike="noStrike" kern="1200" cap="none" spc="0" normalizeH="0" baseline="0" noProof="0">
                            <a:ln>
                              <a:noFill/>
                            </a:ln>
                            <a:solidFill>
                              <a:srgbClr val="000000"/>
                            </a:solidFill>
                            <a:effectLst/>
                            <a:uLnTx/>
                            <a:uFillTx/>
                            <a:latin typeface="Cambria Math" panose="02040503050406030204" pitchFamily="18" charset="0"/>
                            <a:cs typeface="Times New Roman" panose="02020603050405020304" pitchFamily="18" charset="0"/>
                          </a:rPr>
                        </m:ctrlPr>
                      </m:fPr>
                      <m:num>
                        <m:r>
                          <a:rPr kumimoji="0" lang="en-US" altLang="zh-CN" sz="2400" b="1" i="1" u="none" strike="noStrike" kern="120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𝒇</m:t>
                        </m:r>
                      </m:num>
                      <m:den>
                        <m:r>
                          <a:rPr kumimoji="0" lang="en-US" altLang="zh-CN" sz="2400" b="1" i="0" u="none" strike="noStrike" kern="120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𝐂𝐏𝐈</m:t>
                        </m:r>
                        <m:r>
                          <a:rPr kumimoji="0" lang="en-US" altLang="zh-CN" sz="2400" b="1" i="0" u="none" strike="noStrike" kern="120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 </m:t>
                        </m:r>
                      </m:den>
                    </m:f>
                  </m:oMath>
                </a14:m>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CPI=1×60%+2×18%+4×12%+8×10%=2.24</a:t>
                </a:r>
              </a:p>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MIPS=</a:t>
                </a: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Times New Roman" panose="02020603050405020304" pitchFamily="18" charset="0"/>
                  </a:rPr>
                  <a:t> </a:t>
                </a:r>
                <a14:m>
                  <m:oMath xmlns:m="http://schemas.openxmlformats.org/officeDocument/2006/math">
                    <m:f>
                      <m:fPr>
                        <m:ctrlPr>
                          <a:rPr kumimoji="0" lang="en-US" altLang="zh-CN" sz="2400" b="1" i="1" u="none" strike="noStrike" kern="1200" cap="none" spc="0" normalizeH="0" baseline="0" noProof="0">
                            <a:ln>
                              <a:noFill/>
                            </a:ln>
                            <a:solidFill>
                              <a:srgbClr val="000000"/>
                            </a:solidFill>
                            <a:effectLst/>
                            <a:uLnTx/>
                            <a:uFillTx/>
                            <a:latin typeface="Cambria Math" panose="02040503050406030204" pitchFamily="18" charset="0"/>
                            <a:cs typeface="Times New Roman" panose="02020603050405020304" pitchFamily="18" charset="0"/>
                          </a:rPr>
                        </m:ctrlPr>
                      </m:fPr>
                      <m:num>
                        <m:r>
                          <a:rPr kumimoji="0" lang="en-US" altLang="zh-CN" sz="2400" b="1" i="1" u="none" strike="noStrike" kern="120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𝒇</m:t>
                        </m:r>
                      </m:num>
                      <m:den>
                        <m:r>
                          <a:rPr kumimoji="0" lang="en-US" altLang="zh-CN" sz="2400" b="1" i="0" u="none" strike="noStrike" kern="120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𝐂𝐏𝐈</m:t>
                        </m:r>
                        <m:r>
                          <a:rPr kumimoji="0" lang="en-US" altLang="zh-CN" sz="2400" b="1" i="0" u="none" strike="noStrike" kern="120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 </m:t>
                        </m:r>
                      </m:den>
                    </m:f>
                  </m:oMath>
                </a14:m>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=1000/(2.24)=446.4</a:t>
                </a:r>
              </a:p>
            </p:txBody>
          </p:sp>
        </mc:Choice>
        <mc:Fallback xmlns="">
          <p:sp>
            <p:nvSpPr>
              <p:cNvPr id="10" name="文本框 9">
                <a:extLst>
                  <a:ext uri="{FF2B5EF4-FFF2-40B4-BE49-F238E27FC236}">
                    <a16:creationId xmlns:a16="http://schemas.microsoft.com/office/drawing/2014/main" id="{44749483-32C0-4FF8-9CA6-97218FE8C42B}"/>
                  </a:ext>
                </a:extLst>
              </p:cNvPr>
              <p:cNvSpPr txBox="1">
                <a:spLocks noRot="1" noChangeAspect="1" noMove="1" noResize="1" noEditPoints="1" noAdjustHandles="1" noChangeArrowheads="1" noChangeShapeType="1" noTextEdit="1"/>
              </p:cNvSpPr>
              <p:nvPr/>
            </p:nvSpPr>
            <p:spPr>
              <a:xfrm>
                <a:off x="179512" y="3643307"/>
                <a:ext cx="8712968" cy="2197461"/>
              </a:xfrm>
              <a:prstGeom prst="rect">
                <a:avLst/>
              </a:prstGeom>
              <a:blipFill>
                <a:blip r:embed="rId5"/>
                <a:stretch>
                  <a:fillRect l="-1049" b="-1944"/>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CA5E5B3-4BEF-4679-88CF-F7FC8A5A045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B8BBB843-8ED7-CA46-9E6A-4B4A53525D0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Tree>
    <p:extLst>
      <p:ext uri="{BB962C8B-B14F-4D97-AF65-F5344CB8AC3E}">
        <p14:creationId xmlns:p14="http://schemas.microsoft.com/office/powerpoint/2010/main" val="58100637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6018" name="Rectangle 3"/>
              <p:cNvSpPr>
                <a:spLocks noGrp="1" noChangeArrowheads="1"/>
              </p:cNvSpPr>
              <p:nvPr>
                <p:ph idx="1"/>
              </p:nvPr>
            </p:nvSpPr>
            <p:spPr>
              <a:xfrm>
                <a:off x="35496" y="836712"/>
                <a:ext cx="8928992" cy="5760639"/>
              </a:xfrm>
            </p:spPr>
            <p:txBody>
              <a:bodyPr/>
              <a:lstStyle/>
              <a:p>
                <a:pPr marL="0" indent="0">
                  <a:lnSpc>
                    <a:spcPct val="150000"/>
                  </a:lnSpc>
                  <a:spcBef>
                    <a:spcPct val="0"/>
                  </a:spcBef>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6</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FLOPS</a:t>
                </a: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1800" b="1" dirty="0">
                    <a:solidFill>
                      <a:srgbClr val="0000FF"/>
                    </a:solidFill>
                    <a:latin typeface="Times New Roman" panose="02020603050405020304" pitchFamily="18" charset="0"/>
                    <a:cs typeface="Times New Roman" panose="02020603050405020304" pitchFamily="18" charset="0"/>
                  </a:rPr>
                  <a:t>Floating-Point Operations Per Second</a:t>
                </a:r>
                <a:r>
                  <a:rPr lang="zh-CN" altLang="en-US" sz="2400" b="1" dirty="0">
                    <a:solidFill>
                      <a:srgbClr val="0000FF"/>
                    </a:solidFill>
                    <a:latin typeface="Times New Roman" panose="02020603050405020304" pitchFamily="18" charset="0"/>
                    <a:cs typeface="Times New Roman" panose="02020603050405020304" pitchFamily="18" charset="0"/>
                  </a:rPr>
                  <a:t>，每秒浮点运算次数）</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200" b="1" dirty="0">
                    <a:solidFill>
                      <a:srgbClr val="0000FF"/>
                    </a:solidFill>
                    <a:latin typeface="Times New Roman" panose="02020603050405020304" pitchFamily="18" charset="0"/>
                    <a:cs typeface="Times New Roman" panose="02020603050405020304" pitchFamily="18" charset="0"/>
                  </a:rPr>
                  <a:t>CPU </a:t>
                </a:r>
                <a:r>
                  <a:rPr lang="zh-CN" altLang="en-US" sz="2200" b="1" dirty="0">
                    <a:solidFill>
                      <a:srgbClr val="0000FF"/>
                    </a:solidFill>
                    <a:latin typeface="Times New Roman" panose="02020603050405020304" pitchFamily="18" charset="0"/>
                    <a:cs typeface="Times New Roman" panose="02020603050405020304" pitchFamily="18" charset="0"/>
                  </a:rPr>
                  <a:t>或 </a:t>
                </a:r>
                <a:r>
                  <a:rPr lang="en-US" altLang="zh-CN" sz="2200" b="1" dirty="0">
                    <a:solidFill>
                      <a:srgbClr val="0000FF"/>
                    </a:solidFill>
                    <a:latin typeface="Times New Roman" panose="02020603050405020304" pitchFamily="18" charset="0"/>
                    <a:cs typeface="Times New Roman" panose="02020603050405020304" pitchFamily="18" charset="0"/>
                  </a:rPr>
                  <a:t>GPU </a:t>
                </a:r>
                <a:r>
                  <a:rPr lang="zh-CN" altLang="en-US" sz="2200" b="1" dirty="0">
                    <a:solidFill>
                      <a:srgbClr val="0000FF"/>
                    </a:solidFill>
                    <a:latin typeface="Times New Roman" panose="02020603050405020304" pitchFamily="18" charset="0"/>
                    <a:cs typeface="Times New Roman" panose="02020603050405020304" pitchFamily="18" charset="0"/>
                  </a:rPr>
                  <a:t>每秒能执行的浮点运算次数</a:t>
                </a:r>
                <a:r>
                  <a:rPr lang="zh-CN" altLang="en-US" sz="2200" b="1" dirty="0">
                    <a:solidFill>
                      <a:schemeClr val="tx1"/>
                    </a:solidFill>
                    <a:latin typeface="Times New Roman" panose="02020603050405020304" pitchFamily="18" charset="0"/>
                    <a:cs typeface="Times New Roman" panose="02020603050405020304" pitchFamily="18" charset="0"/>
                  </a:rPr>
                  <a:t>。</a:t>
                </a:r>
                <a:endParaRPr lang="en-US" altLang="zh-CN" sz="22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200" b="1" dirty="0">
                    <a:solidFill>
                      <a:schemeClr val="tx1"/>
                    </a:solidFill>
                    <a:latin typeface="Times New Roman" panose="02020603050405020304" pitchFamily="18" charset="0"/>
                    <a:cs typeface="Times New Roman" panose="02020603050405020304" pitchFamily="18" charset="0"/>
                  </a:rPr>
                  <a:t>衡量科学计算和图形处理的性能。</a:t>
                </a:r>
                <a:endParaRPr lang="en-US" altLang="zh-CN" sz="22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200" b="1" dirty="0">
                    <a:solidFill>
                      <a:schemeClr val="tx1"/>
                    </a:solidFill>
                    <a:latin typeface="Times New Roman" panose="02020603050405020304" pitchFamily="18" charset="0"/>
                    <a:cs typeface="Times New Roman" panose="02020603050405020304" pitchFamily="18" charset="0"/>
                  </a:rPr>
                  <a:t>通常以 </a:t>
                </a:r>
                <a:r>
                  <a:rPr lang="en-US" altLang="zh-CN" sz="2200" b="1" dirty="0">
                    <a:solidFill>
                      <a:schemeClr val="tx1"/>
                    </a:solidFill>
                    <a:latin typeface="Times New Roman" panose="02020603050405020304" pitchFamily="18" charset="0"/>
                    <a:cs typeface="Times New Roman" panose="02020603050405020304" pitchFamily="18" charset="0"/>
                  </a:rPr>
                  <a:t>MFLOPS</a:t>
                </a:r>
                <a:r>
                  <a:rPr lang="zh-CN" altLang="en-US" sz="2200" b="1" dirty="0">
                    <a:solidFill>
                      <a:schemeClr val="tx1"/>
                    </a:solidFill>
                    <a:latin typeface="Times New Roman" panose="02020603050405020304" pitchFamily="18" charset="0"/>
                    <a:cs typeface="Times New Roman" panose="02020603050405020304" pitchFamily="18" charset="0"/>
                  </a:rPr>
                  <a:t>（百万次）、</a:t>
                </a:r>
                <a:r>
                  <a:rPr lang="en-US" altLang="zh-CN" sz="2200" b="1" dirty="0">
                    <a:solidFill>
                      <a:schemeClr val="tx1"/>
                    </a:solidFill>
                    <a:latin typeface="Times New Roman" panose="02020603050405020304" pitchFamily="18" charset="0"/>
                    <a:cs typeface="Times New Roman" panose="02020603050405020304" pitchFamily="18" charset="0"/>
                  </a:rPr>
                  <a:t>GFLOPS</a:t>
                </a:r>
                <a:r>
                  <a:rPr lang="zh-CN" altLang="en-US" sz="2200" b="1" dirty="0">
                    <a:solidFill>
                      <a:schemeClr val="tx1"/>
                    </a:solidFill>
                    <a:latin typeface="Times New Roman" panose="02020603050405020304" pitchFamily="18" charset="0"/>
                    <a:cs typeface="Times New Roman" panose="02020603050405020304" pitchFamily="18" charset="0"/>
                  </a:rPr>
                  <a:t>（十亿次）、</a:t>
                </a:r>
                <a:r>
                  <a:rPr lang="en-US" altLang="zh-CN" sz="2200" b="1" dirty="0">
                    <a:solidFill>
                      <a:schemeClr val="tx1"/>
                    </a:solidFill>
                    <a:latin typeface="Times New Roman" panose="02020603050405020304" pitchFamily="18" charset="0"/>
                    <a:cs typeface="Times New Roman" panose="02020603050405020304" pitchFamily="18" charset="0"/>
                  </a:rPr>
                  <a:t>TFLOPS</a:t>
                </a:r>
                <a:r>
                  <a:rPr lang="zh-CN" altLang="en-US" sz="2200" b="1" dirty="0">
                    <a:solidFill>
                      <a:schemeClr val="tx1"/>
                    </a:solidFill>
                    <a:latin typeface="Times New Roman" panose="02020603050405020304" pitchFamily="18" charset="0"/>
                    <a:cs typeface="Times New Roman" panose="02020603050405020304" pitchFamily="18" charset="0"/>
                  </a:rPr>
                  <a:t>（万亿次）表示。</a:t>
                </a:r>
                <a:endParaRPr lang="en-US" altLang="zh-CN" sz="22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200" b="1" dirty="0">
                    <a:solidFill>
                      <a:schemeClr val="tx1"/>
                    </a:solidFill>
                    <a:latin typeface="Times New Roman" panose="02020603050405020304" pitchFamily="18" charset="0"/>
                    <a:cs typeface="Times New Roman" panose="02020603050405020304" pitchFamily="18" charset="0"/>
                  </a:rPr>
                  <a:t>FLOPS</a:t>
                </a:r>
                <a:r>
                  <a:rPr lang="zh-CN" altLang="en-US" sz="2200" b="1" dirty="0">
                    <a:solidFill>
                      <a:schemeClr val="tx1"/>
                    </a:solidFill>
                    <a:latin typeface="Times New Roman" panose="02020603050405020304" pitchFamily="18" charset="0"/>
                    <a:cs typeface="Times New Roman" panose="02020603050405020304" pitchFamily="18" charset="0"/>
                  </a:rPr>
                  <a:t>不是计算机实际执行程序的速度，而是</a:t>
                </a:r>
                <a:r>
                  <a:rPr lang="zh-CN" altLang="en-US" sz="2200" b="1" dirty="0">
                    <a:solidFill>
                      <a:srgbClr val="FF0000"/>
                    </a:solidFill>
                    <a:latin typeface="Times New Roman" panose="02020603050405020304" pitchFamily="18" charset="0"/>
                    <a:cs typeface="Times New Roman" panose="02020603050405020304" pitchFamily="18" charset="0"/>
                  </a:rPr>
                  <a:t>计算机在理论上能达到的浮点运算处理速度</a:t>
                </a:r>
                <a:r>
                  <a:rPr lang="zh-CN" altLang="en-US" sz="2200" b="1" dirty="0">
                    <a:solidFill>
                      <a:schemeClr val="tx1"/>
                    </a:solidFill>
                    <a:latin typeface="Times New Roman" panose="02020603050405020304" pitchFamily="18" charset="0"/>
                    <a:cs typeface="Times New Roman" panose="02020603050405020304" pitchFamily="18" charset="0"/>
                  </a:rPr>
                  <a:t>。</a:t>
                </a:r>
                <a:endParaRPr lang="en-US" altLang="zh-CN" sz="22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200" b="1" dirty="0">
                    <a:solidFill>
                      <a:schemeClr val="tx1"/>
                    </a:solidFill>
                    <a:latin typeface="Times New Roman" panose="02020603050405020304" pitchFamily="18" charset="0"/>
                    <a:cs typeface="Times New Roman" panose="02020603050405020304" pitchFamily="18" charset="0"/>
                  </a:rPr>
                  <a:t>与</a:t>
                </a:r>
                <a:r>
                  <a:rPr lang="en-US" altLang="zh-CN" sz="2200" b="1" dirty="0">
                    <a:solidFill>
                      <a:schemeClr val="tx1"/>
                    </a:solidFill>
                    <a:latin typeface="Times New Roman" panose="02020603050405020304" pitchFamily="18" charset="0"/>
                    <a:cs typeface="Times New Roman" panose="02020603050405020304" pitchFamily="18" charset="0"/>
                  </a:rPr>
                  <a:t>MIPS</a:t>
                </a:r>
                <a:r>
                  <a:rPr lang="zh-CN" altLang="en-US" sz="2200" b="1" dirty="0">
                    <a:solidFill>
                      <a:schemeClr val="tx1"/>
                    </a:solidFill>
                    <a:latin typeface="Times New Roman" panose="02020603050405020304" pitchFamily="18" charset="0"/>
                    <a:cs typeface="Times New Roman" panose="02020603050405020304" pitchFamily="18" charset="0"/>
                  </a:rPr>
                  <a:t>类似，</a:t>
                </a:r>
                <a:r>
                  <a:rPr lang="en-US" altLang="zh-CN" sz="2200" b="1" dirty="0">
                    <a:solidFill>
                      <a:schemeClr val="tx1"/>
                    </a:solidFill>
                    <a:latin typeface="Times New Roman" panose="02020603050405020304" pitchFamily="18" charset="0"/>
                    <a:cs typeface="Times New Roman" panose="02020603050405020304" pitchFamily="18" charset="0"/>
                  </a:rPr>
                  <a:t>MFLOPS</a:t>
                </a:r>
                <a:r>
                  <a:rPr lang="zh-CN" altLang="en-US" sz="2200" b="1" dirty="0">
                    <a:solidFill>
                      <a:schemeClr val="tx1"/>
                    </a:solidFill>
                    <a:latin typeface="Times New Roman" panose="02020603050405020304" pitchFamily="18" charset="0"/>
                    <a:cs typeface="Times New Roman" panose="02020603050405020304" pitchFamily="18" charset="0"/>
                  </a:rPr>
                  <a:t>用程序中浮点运算次数除以程序在特定输入时的执行时间得到：</a:t>
                </a:r>
                <a:endParaRPr lang="en-US" altLang="zh-CN" sz="2200" b="1" dirty="0">
                  <a:solidFill>
                    <a:schemeClr val="tx1"/>
                  </a:solidFill>
                  <a:latin typeface="Times New Roman" panose="02020603050405020304" pitchFamily="18" charset="0"/>
                  <a:cs typeface="Times New Roman" panose="02020603050405020304" pitchFamily="18" charset="0"/>
                </a:endParaRPr>
              </a:p>
              <a:p>
                <a:pPr marL="0" indent="0">
                  <a:lnSpc>
                    <a:spcPct val="150000"/>
                  </a:lnSpc>
                  <a:spcBef>
                    <a:spcPct val="0"/>
                  </a:spcBef>
                  <a:buNone/>
                </a:pPr>
                <a14:m>
                  <m:oMathPara xmlns:m="http://schemas.openxmlformats.org/officeDocument/2006/math">
                    <m:oMathParaPr>
                      <m:jc m:val="center"/>
                    </m:oMathParaPr>
                    <m:oMath xmlns:m="http://schemas.openxmlformats.org/officeDocument/2006/math">
                      <m:r>
                        <m:rPr>
                          <m:sty m:val="p"/>
                        </m:rPr>
                        <a:rPr lang="en-US" altLang="zh-CN" sz="2200" b="1" i="1" dirty="0" smtClean="0">
                          <a:solidFill>
                            <a:srgbClr val="FF0000"/>
                          </a:solidFill>
                          <a:latin typeface="Cambria Math" panose="02040503050406030204" pitchFamily="18" charset="0"/>
                          <a:cs typeface="Times New Roman" panose="02020603050405020304" pitchFamily="18" charset="0"/>
                        </a:rPr>
                        <m:t>MFLOPS</m:t>
                      </m:r>
                      <m:r>
                        <a:rPr lang="en-US" altLang="zh-CN" sz="2200" b="1" i="1" dirty="0" smtClean="0">
                          <a:solidFill>
                            <a:srgbClr val="FF0000"/>
                          </a:solidFill>
                          <a:latin typeface="Cambria Math" panose="02040503050406030204" pitchFamily="18" charset="0"/>
                          <a:cs typeface="Times New Roman" panose="02020603050405020304" pitchFamily="18" charset="0"/>
                        </a:rPr>
                        <m:t>=</m:t>
                      </m:r>
                      <m:f>
                        <m:fPr>
                          <m:ctrlPr>
                            <a:rPr lang="en-US" altLang="zh-CN" sz="2200" b="1" i="1" dirty="0" smtClean="0">
                              <a:solidFill>
                                <a:srgbClr val="FF0000"/>
                              </a:solidFill>
                              <a:latin typeface="Cambria Math" panose="02040503050406030204" pitchFamily="18" charset="0"/>
                              <a:cs typeface="Times New Roman" panose="02020603050405020304" pitchFamily="18" charset="0"/>
                            </a:rPr>
                          </m:ctrlPr>
                        </m:fPr>
                        <m:num>
                          <m:sSub>
                            <m:sSubPr>
                              <m:ctrlPr>
                                <a:rPr lang="en-US" altLang="zh-CN" sz="2200" b="1" i="1" dirty="0" smtClean="0">
                                  <a:solidFill>
                                    <a:srgbClr val="FF0000"/>
                                  </a:solidFill>
                                  <a:latin typeface="Cambria Math" panose="02040503050406030204" pitchFamily="18" charset="0"/>
                                  <a:cs typeface="Times New Roman" panose="02020603050405020304" pitchFamily="18" charset="0"/>
                                </a:rPr>
                              </m:ctrlPr>
                            </m:sSubPr>
                            <m:e>
                              <m:r>
                                <m:rPr>
                                  <m:sty m:val="p"/>
                                </m:rPr>
                                <a:rPr lang="en-US" altLang="zh-CN" sz="2200" b="1" i="1" dirty="0">
                                  <a:solidFill>
                                    <a:srgbClr val="FF0000"/>
                                  </a:solidFill>
                                  <a:latin typeface="Cambria Math" panose="02040503050406030204" pitchFamily="18" charset="0"/>
                                  <a:cs typeface="Times New Roman" panose="02020603050405020304" pitchFamily="18" charset="0"/>
                                </a:rPr>
                                <m:t>IC</m:t>
                              </m:r>
                            </m:e>
                            <m:sub>
                              <m:r>
                                <m:rPr>
                                  <m:sty m:val="p"/>
                                </m:rPr>
                                <a:rPr lang="en-US" altLang="zh-CN" sz="2200" b="1" i="1" dirty="0">
                                  <a:solidFill>
                                    <a:srgbClr val="FF0000"/>
                                  </a:solidFill>
                                  <a:latin typeface="Cambria Math" panose="02040503050406030204" pitchFamily="18" charset="0"/>
                                  <a:cs typeface="Times New Roman" panose="02020603050405020304" pitchFamily="18" charset="0"/>
                                </a:rPr>
                                <m:t>flops</m:t>
                              </m:r>
                            </m:sub>
                          </m:sSub>
                        </m:num>
                        <m:den>
                          <m:sSub>
                            <m:sSubPr>
                              <m:ctrlPr>
                                <a:rPr lang="en-US" altLang="zh-CN" sz="2200" b="1" i="1" dirty="0" smtClean="0">
                                  <a:solidFill>
                                    <a:srgbClr val="FF0000"/>
                                  </a:solidFill>
                                  <a:latin typeface="Cambria Math" panose="02040503050406030204" pitchFamily="18" charset="0"/>
                                  <a:cs typeface="Times New Roman" panose="02020603050405020304" pitchFamily="18" charset="0"/>
                                </a:rPr>
                              </m:ctrlPr>
                            </m:sSubPr>
                            <m:e>
                              <m:r>
                                <m:rPr>
                                  <m:sty m:val="p"/>
                                </m:rPr>
                                <a:rPr lang="en-US" altLang="zh-CN" sz="2200" b="1" i="1" dirty="0">
                                  <a:solidFill>
                                    <a:srgbClr val="FF0000"/>
                                  </a:solidFill>
                                  <a:latin typeface="Cambria Math" panose="02040503050406030204" pitchFamily="18" charset="0"/>
                                  <a:cs typeface="Times New Roman" panose="02020603050405020304" pitchFamily="18" charset="0"/>
                                </a:rPr>
                                <m:t>T</m:t>
                              </m:r>
                            </m:e>
                            <m:sub>
                              <m:r>
                                <m:rPr>
                                  <m:sty m:val="p"/>
                                </m:rPr>
                                <a:rPr lang="en-US" altLang="zh-CN" sz="2200" b="1" i="1" dirty="0">
                                  <a:solidFill>
                                    <a:srgbClr val="FF0000"/>
                                  </a:solidFill>
                                  <a:latin typeface="Cambria Math" panose="02040503050406030204" pitchFamily="18" charset="0"/>
                                  <a:cs typeface="Times New Roman" panose="02020603050405020304" pitchFamily="18" charset="0"/>
                                </a:rPr>
                                <m:t>CPU</m:t>
                              </m:r>
                            </m:sub>
                          </m:sSub>
                          <m:r>
                            <a:rPr lang="en-US" altLang="zh-CN" sz="22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2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𝟏𝟎</m:t>
                              </m:r>
                            </m:e>
                            <m:sup>
                              <m:r>
                                <a:rPr lang="en-US" altLang="zh-CN" sz="2200" b="1"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𝟔</m:t>
                              </m:r>
                            </m:sup>
                          </m:sSup>
                        </m:den>
                      </m:f>
                    </m:oMath>
                  </m:oMathPara>
                </a14:m>
                <a:endParaRPr lang="en-US" altLang="zh-CN" sz="22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6018" name="Rectangle 3"/>
              <p:cNvSpPr>
                <a:spLocks noGrp="1" noRot="1" noChangeAspect="1" noMove="1" noResize="1" noEditPoints="1" noAdjustHandles="1" noChangeArrowheads="1" noChangeShapeType="1" noTextEdit="1"/>
              </p:cNvSpPr>
              <p:nvPr>
                <p:ph idx="1"/>
              </p:nvPr>
            </p:nvSpPr>
            <p:spPr>
              <a:xfrm>
                <a:off x="35496" y="836712"/>
                <a:ext cx="8928992" cy="5760639"/>
              </a:xfrm>
              <a:blipFill>
                <a:blip r:embed="rId4"/>
                <a:stretch>
                  <a:fillRect l="-1092" r="-1911"/>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8CA5E5B3-4BEF-4679-88CF-F7FC8A5A045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B8BBB843-8ED7-CA46-9E6A-4B4A53525D0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Tree>
    <p:extLst>
      <p:ext uri="{BB962C8B-B14F-4D97-AF65-F5344CB8AC3E}">
        <p14:creationId xmlns:p14="http://schemas.microsoft.com/office/powerpoint/2010/main" val="173599312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8CA5E5B3-4BEF-4679-88CF-F7FC8A5A045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B8BBB843-8ED7-CA46-9E6A-4B4A53525D0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11" name="文本框 10">
            <a:extLst>
              <a:ext uri="{FF2B5EF4-FFF2-40B4-BE49-F238E27FC236}">
                <a16:creationId xmlns:a16="http://schemas.microsoft.com/office/drawing/2014/main" id="{1765718D-52DA-4BB7-98DB-C31601F3749A}"/>
              </a:ext>
            </a:extLst>
          </p:cNvPr>
          <p:cNvSpPr txBox="1"/>
          <p:nvPr/>
        </p:nvSpPr>
        <p:spPr>
          <a:xfrm>
            <a:off x="107504" y="908720"/>
            <a:ext cx="8856984" cy="4454233"/>
          </a:xfrm>
          <a:prstGeom prst="rect">
            <a:avLst/>
          </a:prstGeom>
          <a:noFill/>
        </p:spPr>
        <p:txBody>
          <a:bodyPr wrap="square">
            <a:spAutoFit/>
          </a:bodyPr>
          <a:lstStyle/>
          <a:p>
            <a:pPr>
              <a:lnSpc>
                <a:spcPct val="150000"/>
              </a:lnSpc>
            </a:pPr>
            <a:r>
              <a:rPr lang="zh-CN" altLang="en-US" sz="2400" b="1" dirty="0">
                <a:latin typeface="Times New Roman" panose="02020603050405020304" pitchFamily="18" charset="0"/>
                <a:ea typeface="+mn-ea"/>
                <a:cs typeface="Times New Roman" panose="02020603050405020304" pitchFamily="18" charset="0"/>
              </a:rPr>
              <a:t>（</a:t>
            </a:r>
            <a:r>
              <a:rPr lang="en-US" altLang="zh-CN" sz="2400" b="1" dirty="0">
                <a:latin typeface="Times New Roman" panose="02020603050405020304" pitchFamily="18" charset="0"/>
                <a:ea typeface="+mn-ea"/>
                <a:cs typeface="Times New Roman" panose="02020603050405020304" pitchFamily="18" charset="0"/>
              </a:rPr>
              <a:t>7</a:t>
            </a:r>
            <a:r>
              <a:rPr lang="zh-CN" altLang="en-US" sz="2400" b="1" dirty="0">
                <a:latin typeface="Times New Roman" panose="02020603050405020304" pitchFamily="18" charset="0"/>
                <a:ea typeface="+mn-ea"/>
                <a:cs typeface="Times New Roman" panose="02020603050405020304" pitchFamily="18" charset="0"/>
              </a:rPr>
              <a:t>）吞吐量（</a:t>
            </a:r>
            <a:r>
              <a:rPr lang="en-US" altLang="zh-CN" sz="2400" b="1" dirty="0">
                <a:latin typeface="Times New Roman" panose="02020603050405020304" pitchFamily="18" charset="0"/>
                <a:ea typeface="+mn-ea"/>
                <a:cs typeface="Times New Roman" panose="02020603050405020304" pitchFamily="18" charset="0"/>
              </a:rPr>
              <a:t>Throughput</a:t>
            </a:r>
            <a:r>
              <a:rPr lang="zh-CN" altLang="en-US" sz="2400" b="1" dirty="0">
                <a:latin typeface="Times New Roman" panose="02020603050405020304" pitchFamily="18" charset="0"/>
                <a:ea typeface="+mn-ea"/>
                <a:cs typeface="Times New Roman" panose="02020603050405020304" pitchFamily="18" charset="0"/>
              </a:rPr>
              <a:t>）</a:t>
            </a:r>
          </a:p>
          <a:p>
            <a:pPr>
              <a:lnSpc>
                <a:spcPct val="150000"/>
              </a:lnSpc>
            </a:pPr>
            <a:r>
              <a:rPr lang="zh-CN" altLang="en-US" sz="2400" b="1" dirty="0">
                <a:latin typeface="Times New Roman" panose="02020603050405020304" pitchFamily="18" charset="0"/>
                <a:ea typeface="+mn-ea"/>
                <a:cs typeface="Times New Roman" panose="02020603050405020304" pitchFamily="18" charset="0"/>
              </a:rPr>
              <a:t>定义：单位时间内完成的任务量。</a:t>
            </a:r>
          </a:p>
          <a:p>
            <a:pPr>
              <a:lnSpc>
                <a:spcPct val="150000"/>
              </a:lnSpc>
            </a:pPr>
            <a:r>
              <a:rPr lang="zh-CN" altLang="en-US" sz="2400" b="1" dirty="0">
                <a:latin typeface="Times New Roman" panose="02020603050405020304" pitchFamily="18" charset="0"/>
                <a:ea typeface="+mn-ea"/>
                <a:cs typeface="Times New Roman" panose="02020603050405020304" pitchFamily="18" charset="0"/>
              </a:rPr>
              <a:t>意义：吞吐量越高，系统的整体性能越好。</a:t>
            </a:r>
          </a:p>
          <a:p>
            <a:pPr>
              <a:lnSpc>
                <a:spcPct val="150000"/>
              </a:lnSpc>
            </a:pPr>
            <a:r>
              <a:rPr lang="zh-CN" altLang="en-US" sz="2400" b="1" dirty="0">
                <a:latin typeface="Times New Roman" panose="02020603050405020304" pitchFamily="18" charset="0"/>
                <a:ea typeface="+mn-ea"/>
                <a:cs typeface="Times New Roman" panose="02020603050405020304" pitchFamily="18" charset="0"/>
              </a:rPr>
              <a:t>示例：数据库每秒处理的查询数。</a:t>
            </a:r>
          </a:p>
          <a:p>
            <a:pPr>
              <a:lnSpc>
                <a:spcPct val="150000"/>
              </a:lnSpc>
            </a:pPr>
            <a:r>
              <a:rPr lang="zh-CN" altLang="en-US" sz="2400" b="1" dirty="0">
                <a:latin typeface="Times New Roman" panose="02020603050405020304" pitchFamily="18" charset="0"/>
                <a:ea typeface="+mn-ea"/>
                <a:cs typeface="Times New Roman" panose="02020603050405020304" pitchFamily="18" charset="0"/>
              </a:rPr>
              <a:t>（</a:t>
            </a:r>
            <a:r>
              <a:rPr lang="en-US" altLang="zh-CN" sz="2400" b="1" dirty="0">
                <a:latin typeface="Times New Roman" panose="02020603050405020304" pitchFamily="18" charset="0"/>
                <a:ea typeface="+mn-ea"/>
                <a:cs typeface="Times New Roman" panose="02020603050405020304" pitchFamily="18" charset="0"/>
              </a:rPr>
              <a:t>8</a:t>
            </a:r>
            <a:r>
              <a:rPr lang="zh-CN" altLang="en-US" sz="2400" b="1" dirty="0">
                <a:latin typeface="Times New Roman" panose="02020603050405020304" pitchFamily="18" charset="0"/>
                <a:ea typeface="+mn-ea"/>
                <a:cs typeface="Times New Roman" panose="02020603050405020304" pitchFamily="18" charset="0"/>
              </a:rPr>
              <a:t>）响应时间（</a:t>
            </a:r>
            <a:r>
              <a:rPr lang="en-US" altLang="zh-CN" sz="2400" b="1" dirty="0">
                <a:latin typeface="Times New Roman" panose="02020603050405020304" pitchFamily="18" charset="0"/>
                <a:ea typeface="+mn-ea"/>
                <a:cs typeface="Times New Roman" panose="02020603050405020304" pitchFamily="18" charset="0"/>
              </a:rPr>
              <a:t>Response Time</a:t>
            </a:r>
            <a:r>
              <a:rPr lang="zh-CN" altLang="en-US" sz="2400" b="1" dirty="0">
                <a:latin typeface="Times New Roman" panose="02020603050405020304" pitchFamily="18" charset="0"/>
                <a:ea typeface="+mn-ea"/>
                <a:cs typeface="Times New Roman" panose="02020603050405020304" pitchFamily="18" charset="0"/>
              </a:rPr>
              <a:t>）</a:t>
            </a:r>
          </a:p>
          <a:p>
            <a:pPr>
              <a:lnSpc>
                <a:spcPct val="150000"/>
              </a:lnSpc>
            </a:pPr>
            <a:r>
              <a:rPr lang="zh-CN" altLang="en-US" sz="2400" b="1" dirty="0">
                <a:latin typeface="Times New Roman" panose="02020603050405020304" pitchFamily="18" charset="0"/>
                <a:ea typeface="+mn-ea"/>
                <a:cs typeface="Times New Roman" panose="02020603050405020304" pitchFamily="18" charset="0"/>
              </a:rPr>
              <a:t>定义：从发出请求到得到响应的时间。</a:t>
            </a:r>
          </a:p>
          <a:p>
            <a:pPr>
              <a:lnSpc>
                <a:spcPct val="150000"/>
              </a:lnSpc>
            </a:pPr>
            <a:r>
              <a:rPr lang="zh-CN" altLang="en-US" sz="2400" b="1" dirty="0">
                <a:latin typeface="Times New Roman" panose="02020603050405020304" pitchFamily="18" charset="0"/>
                <a:ea typeface="+mn-ea"/>
                <a:cs typeface="Times New Roman" panose="02020603050405020304" pitchFamily="18" charset="0"/>
              </a:rPr>
              <a:t>意义：响应时间越短，用户体验越好。</a:t>
            </a:r>
          </a:p>
          <a:p>
            <a:pPr>
              <a:lnSpc>
                <a:spcPct val="150000"/>
              </a:lnSpc>
            </a:pPr>
            <a:r>
              <a:rPr lang="zh-CN" altLang="en-US" sz="2400" b="1" dirty="0">
                <a:latin typeface="Times New Roman" panose="02020603050405020304" pitchFamily="18" charset="0"/>
                <a:ea typeface="+mn-ea"/>
                <a:cs typeface="Times New Roman" panose="02020603050405020304" pitchFamily="18" charset="0"/>
              </a:rPr>
              <a:t>示例：网页加载时间。</a:t>
            </a:r>
          </a:p>
        </p:txBody>
      </p:sp>
    </p:spTree>
    <p:extLst>
      <p:ext uri="{BB962C8B-B14F-4D97-AF65-F5344CB8AC3E}">
        <p14:creationId xmlns:p14="http://schemas.microsoft.com/office/powerpoint/2010/main" val="162128730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8CA5E5B3-4BEF-4679-88CF-F7FC8A5A045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B8BBB843-8ED7-CA46-9E6A-4B4A53525D0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11" name="文本框 10">
            <a:extLst>
              <a:ext uri="{FF2B5EF4-FFF2-40B4-BE49-F238E27FC236}">
                <a16:creationId xmlns:a16="http://schemas.microsoft.com/office/drawing/2014/main" id="{1765718D-52DA-4BB7-98DB-C31601F3749A}"/>
              </a:ext>
            </a:extLst>
          </p:cNvPr>
          <p:cNvSpPr txBox="1"/>
          <p:nvPr/>
        </p:nvSpPr>
        <p:spPr>
          <a:xfrm>
            <a:off x="143508" y="836712"/>
            <a:ext cx="8856984" cy="5008230"/>
          </a:xfrm>
          <a:prstGeom prst="rect">
            <a:avLst/>
          </a:prstGeom>
          <a:noFill/>
        </p:spPr>
        <p:txBody>
          <a:bodyPr wrap="square">
            <a:spAutoFit/>
          </a:bodyPr>
          <a:lstStyle/>
          <a:p>
            <a:pPr>
              <a:lnSpc>
                <a:spcPct val="150000"/>
              </a:lnSpc>
            </a:pPr>
            <a:r>
              <a:rPr lang="zh-CN" altLang="en-US" sz="2400" b="1" dirty="0">
                <a:latin typeface="Times New Roman" panose="02020603050405020304" pitchFamily="18" charset="0"/>
                <a:ea typeface="+mn-ea"/>
                <a:cs typeface="Times New Roman" panose="02020603050405020304" pitchFamily="18" charset="0"/>
              </a:rPr>
              <a:t>总结</a:t>
            </a:r>
          </a:p>
          <a:p>
            <a:pPr>
              <a:lnSpc>
                <a:spcPct val="150000"/>
              </a:lnSpc>
            </a:pPr>
            <a:r>
              <a:rPr lang="zh-CN" altLang="en-US" sz="2400" b="1" dirty="0">
                <a:latin typeface="Times New Roman" panose="02020603050405020304" pitchFamily="18" charset="0"/>
                <a:ea typeface="+mn-ea"/>
                <a:cs typeface="Times New Roman" panose="02020603050405020304" pitchFamily="18" charset="0"/>
              </a:rPr>
              <a:t>计算机运算速度的主要指标包括：</a:t>
            </a:r>
          </a:p>
          <a:p>
            <a:pPr marL="457200" indent="-457200">
              <a:lnSpc>
                <a:spcPct val="150000"/>
              </a:lnSpc>
              <a:buFont typeface="+mj-lt"/>
              <a:buAutoNum type="arabicPeriod"/>
            </a:pPr>
            <a:r>
              <a:rPr lang="zh-CN" altLang="en-US" sz="2400" b="1" dirty="0">
                <a:latin typeface="Times New Roman" panose="02020603050405020304" pitchFamily="18" charset="0"/>
                <a:ea typeface="+mn-ea"/>
                <a:cs typeface="Times New Roman" panose="02020603050405020304" pitchFamily="18" charset="0"/>
              </a:rPr>
              <a:t>主频：时钟频率，决定 </a:t>
            </a:r>
            <a:r>
              <a:rPr lang="en-US" altLang="zh-CN" sz="2400" b="1" dirty="0">
                <a:latin typeface="Times New Roman" panose="02020603050405020304" pitchFamily="18" charset="0"/>
                <a:ea typeface="+mn-ea"/>
                <a:cs typeface="Times New Roman" panose="02020603050405020304" pitchFamily="18" charset="0"/>
              </a:rPr>
              <a:t>CPU </a:t>
            </a:r>
            <a:r>
              <a:rPr lang="zh-CN" altLang="en-US" sz="2400" b="1" dirty="0">
                <a:latin typeface="Times New Roman" panose="02020603050405020304" pitchFamily="18" charset="0"/>
                <a:ea typeface="+mn-ea"/>
                <a:cs typeface="Times New Roman" panose="02020603050405020304" pitchFamily="18" charset="0"/>
              </a:rPr>
              <a:t>的基本速度。</a:t>
            </a:r>
          </a:p>
          <a:p>
            <a:pPr marL="457200" indent="-457200">
              <a:lnSpc>
                <a:spcPct val="150000"/>
              </a:lnSpc>
              <a:buFont typeface="+mj-lt"/>
              <a:buAutoNum type="arabicPeriod"/>
            </a:pPr>
            <a:r>
              <a:rPr lang="en-US" altLang="zh-CN" sz="2400" b="1" dirty="0">
                <a:latin typeface="Times New Roman" panose="02020603050405020304" pitchFamily="18" charset="0"/>
                <a:ea typeface="+mn-ea"/>
                <a:cs typeface="Times New Roman" panose="02020603050405020304" pitchFamily="18" charset="0"/>
              </a:rPr>
              <a:t>CPI </a:t>
            </a:r>
            <a:r>
              <a:rPr lang="zh-CN" altLang="en-US" sz="2400" b="1" dirty="0">
                <a:latin typeface="Times New Roman" panose="02020603050405020304" pitchFamily="18" charset="0"/>
                <a:ea typeface="+mn-ea"/>
                <a:cs typeface="Times New Roman" panose="02020603050405020304" pitchFamily="18" charset="0"/>
              </a:rPr>
              <a:t>和 </a:t>
            </a:r>
            <a:r>
              <a:rPr lang="en-US" altLang="zh-CN" sz="2400" b="1" dirty="0">
                <a:latin typeface="Times New Roman" panose="02020603050405020304" pitchFamily="18" charset="0"/>
                <a:ea typeface="+mn-ea"/>
                <a:cs typeface="Times New Roman" panose="02020603050405020304" pitchFamily="18" charset="0"/>
              </a:rPr>
              <a:t>IPC</a:t>
            </a:r>
            <a:r>
              <a:rPr lang="zh-CN" altLang="en-US" sz="2400" b="1" dirty="0">
                <a:latin typeface="Times New Roman" panose="02020603050405020304" pitchFamily="18" charset="0"/>
                <a:ea typeface="+mn-ea"/>
                <a:cs typeface="Times New Roman" panose="02020603050405020304" pitchFamily="18" charset="0"/>
              </a:rPr>
              <a:t>：衡量 </a:t>
            </a:r>
            <a:r>
              <a:rPr lang="en-US" altLang="zh-CN" sz="2400" b="1" dirty="0">
                <a:latin typeface="Times New Roman" panose="02020603050405020304" pitchFamily="18" charset="0"/>
                <a:ea typeface="+mn-ea"/>
                <a:cs typeface="Times New Roman" panose="02020603050405020304" pitchFamily="18" charset="0"/>
              </a:rPr>
              <a:t>CPU </a:t>
            </a:r>
            <a:r>
              <a:rPr lang="zh-CN" altLang="en-US" sz="2400" b="1" dirty="0">
                <a:latin typeface="Times New Roman" panose="02020603050405020304" pitchFamily="18" charset="0"/>
                <a:ea typeface="+mn-ea"/>
                <a:cs typeface="Times New Roman" panose="02020603050405020304" pitchFamily="18" charset="0"/>
              </a:rPr>
              <a:t>执行指令的效率。</a:t>
            </a:r>
          </a:p>
          <a:p>
            <a:pPr marL="457200" indent="-457200">
              <a:lnSpc>
                <a:spcPct val="150000"/>
              </a:lnSpc>
              <a:buFont typeface="+mj-lt"/>
              <a:buAutoNum type="arabicPeriod"/>
            </a:pPr>
            <a:r>
              <a:rPr lang="en-US" altLang="zh-CN" sz="2400" b="1" dirty="0">
                <a:latin typeface="Times New Roman" panose="02020603050405020304" pitchFamily="18" charset="0"/>
                <a:ea typeface="+mn-ea"/>
                <a:cs typeface="Times New Roman" panose="02020603050405020304" pitchFamily="18" charset="0"/>
              </a:rPr>
              <a:t>MIPS</a:t>
            </a:r>
            <a:r>
              <a:rPr lang="zh-CN" altLang="en-US" sz="2400" b="1" dirty="0">
                <a:latin typeface="Times New Roman" panose="02020603050405020304" pitchFamily="18" charset="0"/>
                <a:ea typeface="+mn-ea"/>
                <a:cs typeface="Times New Roman" panose="02020603050405020304" pitchFamily="18" charset="0"/>
              </a:rPr>
              <a:t>：每秒执行的百万条指令数。</a:t>
            </a:r>
          </a:p>
          <a:p>
            <a:pPr marL="457200" indent="-457200">
              <a:lnSpc>
                <a:spcPct val="150000"/>
              </a:lnSpc>
              <a:buFont typeface="+mj-lt"/>
              <a:buAutoNum type="arabicPeriod"/>
            </a:pPr>
            <a:r>
              <a:rPr lang="en-US" altLang="zh-CN" sz="2400" b="1" dirty="0">
                <a:latin typeface="Times New Roman" panose="02020603050405020304" pitchFamily="18" charset="0"/>
                <a:ea typeface="+mn-ea"/>
                <a:cs typeface="Times New Roman" panose="02020603050405020304" pitchFamily="18" charset="0"/>
              </a:rPr>
              <a:t>FLOPS</a:t>
            </a:r>
            <a:r>
              <a:rPr lang="zh-CN" altLang="en-US" sz="2400" b="1" dirty="0">
                <a:latin typeface="Times New Roman" panose="02020603050405020304" pitchFamily="18" charset="0"/>
                <a:ea typeface="+mn-ea"/>
                <a:cs typeface="Times New Roman" panose="02020603050405020304" pitchFamily="18" charset="0"/>
              </a:rPr>
              <a:t>：每秒浮点运算次数，适用于科学计算。</a:t>
            </a:r>
          </a:p>
          <a:p>
            <a:pPr marL="457200" indent="-457200">
              <a:lnSpc>
                <a:spcPct val="150000"/>
              </a:lnSpc>
              <a:buFont typeface="+mj-lt"/>
              <a:buAutoNum type="arabicPeriod"/>
            </a:pPr>
            <a:r>
              <a:rPr lang="zh-CN" altLang="en-US" sz="2400" b="1" dirty="0">
                <a:latin typeface="Times New Roman" panose="02020603050405020304" pitchFamily="18" charset="0"/>
                <a:ea typeface="+mn-ea"/>
                <a:cs typeface="Times New Roman" panose="02020603050405020304" pitchFamily="18" charset="0"/>
              </a:rPr>
              <a:t>执行时间：完成特定任务的时间。</a:t>
            </a:r>
          </a:p>
          <a:p>
            <a:pPr marL="457200" indent="-457200">
              <a:lnSpc>
                <a:spcPct val="150000"/>
              </a:lnSpc>
              <a:buFont typeface="+mj-lt"/>
              <a:buAutoNum type="arabicPeriod"/>
            </a:pPr>
            <a:r>
              <a:rPr lang="zh-CN" altLang="en-US" sz="2400" b="1" dirty="0">
                <a:latin typeface="Times New Roman" panose="02020603050405020304" pitchFamily="18" charset="0"/>
                <a:ea typeface="+mn-ea"/>
                <a:cs typeface="Times New Roman" panose="02020603050405020304" pitchFamily="18" charset="0"/>
              </a:rPr>
              <a:t>吞吐量：单位时间内完成的任务量。</a:t>
            </a:r>
          </a:p>
          <a:p>
            <a:pPr marL="457200" indent="-457200">
              <a:lnSpc>
                <a:spcPct val="150000"/>
              </a:lnSpc>
              <a:buFont typeface="+mj-lt"/>
              <a:buAutoNum type="arabicPeriod"/>
            </a:pPr>
            <a:r>
              <a:rPr lang="zh-CN" altLang="en-US" sz="2400" b="1" dirty="0">
                <a:latin typeface="Times New Roman" panose="02020603050405020304" pitchFamily="18" charset="0"/>
                <a:ea typeface="+mn-ea"/>
                <a:cs typeface="Times New Roman" panose="02020603050405020304" pitchFamily="18" charset="0"/>
              </a:rPr>
              <a:t>响应时间：系统对请求的反应速度。</a:t>
            </a:r>
          </a:p>
        </p:txBody>
      </p:sp>
    </p:spTree>
    <p:extLst>
      <p:ext uri="{BB962C8B-B14F-4D97-AF65-F5344CB8AC3E}">
        <p14:creationId xmlns:p14="http://schemas.microsoft.com/office/powerpoint/2010/main" val="423342496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6018" name="Rectangle 3"/>
          <p:cNvSpPr>
            <a:spLocks noGrp="1" noChangeArrowheads="1"/>
          </p:cNvSpPr>
          <p:nvPr>
            <p:ph idx="1"/>
          </p:nvPr>
        </p:nvSpPr>
        <p:spPr>
          <a:xfrm>
            <a:off x="35496" y="827758"/>
            <a:ext cx="9029352" cy="5893717"/>
          </a:xfrm>
        </p:spPr>
        <p:txBody>
          <a:bodyPr/>
          <a:lstStyle/>
          <a:p>
            <a:pPr marL="0" indent="0">
              <a:lnSpc>
                <a:spcPct val="150000"/>
              </a:lnSpc>
              <a:spcBef>
                <a:spcPct val="0"/>
              </a:spcBef>
              <a:buNone/>
            </a:pPr>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性能测试及其工具</a:t>
            </a:r>
            <a:endParaRPr lang="en-US" altLang="zh-CN" sz="2400" b="1" dirty="0">
              <a:solidFill>
                <a:srgbClr val="0000FF"/>
              </a:solidFill>
              <a:latin typeface="Times New Roman" panose="02020603050405020304" pitchFamily="18" charset="0"/>
              <a:cs typeface="Times New Roman" panose="02020603050405020304" pitchFamily="18" charset="0"/>
            </a:endParaRPr>
          </a:p>
          <a:p>
            <a:pPr marL="0" indent="0">
              <a:lnSpc>
                <a:spcPct val="150000"/>
              </a:lnSpc>
              <a:spcBef>
                <a:spcPct val="0"/>
              </a:spcBef>
              <a:buNone/>
            </a:pPr>
            <a:r>
              <a:rPr lang="zh-CN" altLang="en-US" sz="2000" b="1" dirty="0">
                <a:solidFill>
                  <a:schemeClr val="tx1"/>
                </a:solidFill>
                <a:latin typeface="Times New Roman" panose="02020603050405020304" pitchFamily="18" charset="0"/>
                <a:cs typeface="Times New Roman" panose="02020603050405020304" pitchFamily="18" charset="0"/>
              </a:rPr>
              <a:t>计算机的各功能部件都有相应的测试程序来测试其性能。</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000" b="1" dirty="0">
                <a:solidFill>
                  <a:schemeClr val="tx1"/>
                </a:solidFill>
                <a:latin typeface="Times New Roman" panose="02020603050405020304" pitchFamily="18" charset="0"/>
                <a:cs typeface="Times New Roman" panose="02020603050405020304" pitchFamily="18" charset="0"/>
              </a:rPr>
              <a:t>硬盘测试软件：</a:t>
            </a:r>
            <a:r>
              <a:rPr lang="en-US" altLang="zh-CN" sz="2000" b="1" dirty="0" err="1">
                <a:solidFill>
                  <a:schemeClr val="tx1"/>
                </a:solidFill>
                <a:latin typeface="Times New Roman" panose="02020603050405020304" pitchFamily="18" charset="0"/>
                <a:cs typeface="Times New Roman" panose="02020603050405020304" pitchFamily="18" charset="0"/>
              </a:rPr>
              <a:t>CrystalDiskMark</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ATTO Disk Benchmark</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HD Tune</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err="1">
                <a:solidFill>
                  <a:schemeClr val="tx1"/>
                </a:solidFill>
                <a:latin typeface="Times New Roman" panose="02020603050405020304" pitchFamily="18" charset="0"/>
                <a:cs typeface="Times New Roman" panose="02020603050405020304" pitchFamily="18" charset="0"/>
              </a:rPr>
              <a:t>IOmeter</a:t>
            </a:r>
            <a:r>
              <a:rPr lang="zh-CN" altLang="en-US" sz="2000" b="1" dirty="0">
                <a:solidFill>
                  <a:schemeClr val="tx1"/>
                </a:solidFill>
                <a:latin typeface="Times New Roman" panose="02020603050405020304" pitchFamily="18" charset="0"/>
                <a:cs typeface="Times New Roman" panose="02020603050405020304" pitchFamily="18" charset="0"/>
              </a:rPr>
              <a:t>等。</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000" b="1" dirty="0">
                <a:solidFill>
                  <a:schemeClr val="tx1"/>
                </a:solidFill>
                <a:latin typeface="Times New Roman" panose="02020603050405020304" pitchFamily="18" charset="0"/>
                <a:cs typeface="Times New Roman" panose="02020603050405020304" pitchFamily="18" charset="0"/>
              </a:rPr>
              <a:t>光驱测试软件：</a:t>
            </a:r>
            <a:r>
              <a:rPr lang="en-US" altLang="zh-CN" sz="2000" b="1" dirty="0">
                <a:solidFill>
                  <a:schemeClr val="tx1"/>
                </a:solidFill>
                <a:latin typeface="Times New Roman" panose="02020603050405020304" pitchFamily="18" charset="0"/>
                <a:cs typeface="Times New Roman" panose="02020603050405020304" pitchFamily="18" charset="0"/>
              </a:rPr>
              <a:t>Nero </a:t>
            </a:r>
            <a:r>
              <a:rPr lang="en-US" altLang="zh-CN" sz="2000" b="1" dirty="0" err="1">
                <a:solidFill>
                  <a:schemeClr val="tx1"/>
                </a:solidFill>
                <a:latin typeface="Times New Roman" panose="02020603050405020304" pitchFamily="18" charset="0"/>
                <a:cs typeface="Times New Roman" panose="02020603050405020304" pitchFamily="18" charset="0"/>
              </a:rPr>
              <a:t>InfoTool</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Nero CD-DVD Speed</a:t>
            </a:r>
            <a:r>
              <a:rPr lang="zh-CN" altLang="en-US" sz="2000" b="1" dirty="0">
                <a:solidFill>
                  <a:schemeClr val="tx1"/>
                </a:solidFill>
                <a:latin typeface="Times New Roman" panose="02020603050405020304" pitchFamily="18" charset="0"/>
                <a:cs typeface="Times New Roman" panose="02020603050405020304" pitchFamily="18" charset="0"/>
              </a:rPr>
              <a:t>等。</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000" b="1" dirty="0">
                <a:solidFill>
                  <a:schemeClr val="tx1"/>
                </a:solidFill>
                <a:latin typeface="Times New Roman" panose="02020603050405020304" pitchFamily="18" charset="0"/>
                <a:cs typeface="Times New Roman" panose="02020603050405020304" pitchFamily="18" charset="0"/>
              </a:rPr>
              <a:t>显卡测试软件：</a:t>
            </a:r>
            <a:r>
              <a:rPr lang="en-US" altLang="zh-CN" sz="2000" b="1" dirty="0">
                <a:solidFill>
                  <a:schemeClr val="tx1"/>
                </a:solidFill>
                <a:latin typeface="Times New Roman" panose="02020603050405020304" pitchFamily="18" charset="0"/>
                <a:cs typeface="Times New Roman" panose="02020603050405020304" pitchFamily="18" charset="0"/>
              </a:rPr>
              <a:t>3DMark</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err="1">
                <a:solidFill>
                  <a:schemeClr val="tx1"/>
                </a:solidFill>
                <a:latin typeface="Times New Roman" panose="02020603050405020304" pitchFamily="18" charset="0"/>
                <a:cs typeface="Times New Roman" panose="02020603050405020304" pitchFamily="18" charset="0"/>
              </a:rPr>
              <a:t>FurMark</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GPU-Z</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Fraps</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err="1">
                <a:solidFill>
                  <a:schemeClr val="tx1"/>
                </a:solidFill>
                <a:latin typeface="Times New Roman" panose="02020603050405020304" pitchFamily="18" charset="0"/>
                <a:cs typeface="Times New Roman" panose="02020603050405020304" pitchFamily="18" charset="0"/>
              </a:rPr>
              <a:t>SiSoftware</a:t>
            </a:r>
            <a:r>
              <a:rPr lang="en-US" altLang="zh-CN" sz="2000" b="1" dirty="0">
                <a:solidFill>
                  <a:schemeClr val="tx1"/>
                </a:solidFill>
                <a:latin typeface="Times New Roman" panose="02020603050405020304" pitchFamily="18" charset="0"/>
                <a:cs typeface="Times New Roman" panose="02020603050405020304" pitchFamily="18" charset="0"/>
              </a:rPr>
              <a:t> Sandra</a:t>
            </a:r>
            <a:r>
              <a:rPr lang="zh-CN" altLang="en-US" sz="2000" b="1" dirty="0">
                <a:solidFill>
                  <a:schemeClr val="tx1"/>
                </a:solidFill>
                <a:latin typeface="Times New Roman" panose="02020603050405020304" pitchFamily="18" charset="0"/>
                <a:cs typeface="Times New Roman" panose="02020603050405020304" pitchFamily="18" charset="0"/>
              </a:rPr>
              <a:t>等。</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000" b="1" dirty="0">
                <a:solidFill>
                  <a:schemeClr val="tx1"/>
                </a:solidFill>
                <a:latin typeface="Times New Roman" panose="02020603050405020304" pitchFamily="18" charset="0"/>
                <a:cs typeface="Times New Roman" panose="02020603050405020304" pitchFamily="18" charset="0"/>
              </a:rPr>
              <a:t>CPU</a:t>
            </a:r>
            <a:r>
              <a:rPr lang="zh-CN" altLang="en-US" sz="2000" b="1" dirty="0">
                <a:solidFill>
                  <a:schemeClr val="tx1"/>
                </a:solidFill>
                <a:latin typeface="Times New Roman" panose="02020603050405020304" pitchFamily="18" charset="0"/>
                <a:cs typeface="Times New Roman" panose="02020603050405020304" pitchFamily="18" charset="0"/>
              </a:rPr>
              <a:t>测试软件：</a:t>
            </a:r>
            <a:r>
              <a:rPr lang="en-US" altLang="zh-CN" sz="2000" b="1" dirty="0">
                <a:solidFill>
                  <a:schemeClr val="tx1"/>
                </a:solidFill>
                <a:latin typeface="Times New Roman" panose="02020603050405020304" pitchFamily="18" charset="0"/>
                <a:cs typeface="Times New Roman" panose="02020603050405020304" pitchFamily="18" charset="0"/>
              </a:rPr>
              <a:t>CPU-Z</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err="1">
                <a:solidFill>
                  <a:schemeClr val="tx1"/>
                </a:solidFill>
                <a:latin typeface="Times New Roman" panose="02020603050405020304" pitchFamily="18" charset="0"/>
                <a:cs typeface="Times New Roman" panose="02020603050405020304" pitchFamily="18" charset="0"/>
              </a:rPr>
              <a:t>SiSoftware</a:t>
            </a:r>
            <a:r>
              <a:rPr lang="en-US" altLang="zh-CN" sz="2000" b="1" dirty="0">
                <a:solidFill>
                  <a:schemeClr val="tx1"/>
                </a:solidFill>
                <a:latin typeface="Times New Roman" panose="02020603050405020304" pitchFamily="18" charset="0"/>
                <a:cs typeface="Times New Roman" panose="02020603050405020304" pitchFamily="18" charset="0"/>
              </a:rPr>
              <a:t> Sandra</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err="1">
                <a:solidFill>
                  <a:schemeClr val="tx1"/>
                </a:solidFill>
                <a:latin typeface="Times New Roman" panose="02020603050405020304" pitchFamily="18" charset="0"/>
                <a:cs typeface="Times New Roman" panose="02020603050405020304" pitchFamily="18" charset="0"/>
              </a:rPr>
              <a:t>Geekbench</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Fritz</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cs typeface="Times New Roman" panose="02020603050405020304" pitchFamily="18" charset="0"/>
              </a:rPr>
              <a:t>Super PI</a:t>
            </a:r>
            <a:r>
              <a:rPr lang="zh-CN" altLang="en-US" sz="2000" b="1" dirty="0">
                <a:solidFill>
                  <a:schemeClr val="tx1"/>
                </a:solidFill>
                <a:latin typeface="Times New Roman" panose="02020603050405020304" pitchFamily="18" charset="0"/>
                <a:cs typeface="Times New Roman" panose="02020603050405020304" pitchFamily="18" charset="0"/>
              </a:rPr>
              <a:t>等。</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en-US" altLang="zh-CN" sz="2000" b="1" dirty="0">
                <a:solidFill>
                  <a:schemeClr val="tx1"/>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内存测试软件：</a:t>
            </a:r>
            <a:r>
              <a:rPr lang="en-US" altLang="zh-CN" sz="2000" b="1" dirty="0" err="1">
                <a:solidFill>
                  <a:schemeClr val="tx1"/>
                </a:solidFill>
                <a:latin typeface="Times New Roman" panose="02020603050405020304" pitchFamily="18" charset="0"/>
                <a:cs typeface="Times New Roman" panose="02020603050405020304" pitchFamily="18" charset="0"/>
              </a:rPr>
              <a:t>SiSoftware</a:t>
            </a:r>
            <a:r>
              <a:rPr lang="en-US" altLang="zh-CN" sz="2000" b="1" dirty="0">
                <a:solidFill>
                  <a:schemeClr val="tx1"/>
                </a:solidFill>
                <a:latin typeface="Times New Roman" panose="02020603050405020304" pitchFamily="18" charset="0"/>
                <a:cs typeface="Times New Roman" panose="02020603050405020304" pitchFamily="18" charset="0"/>
              </a:rPr>
              <a:t> Sandra</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err="1">
                <a:solidFill>
                  <a:schemeClr val="tx1"/>
                </a:solidFill>
                <a:latin typeface="Times New Roman" panose="02020603050405020304" pitchFamily="18" charset="0"/>
                <a:cs typeface="Times New Roman" panose="02020603050405020304" pitchFamily="18" charset="0"/>
              </a:rPr>
              <a:t>MemTest</a:t>
            </a:r>
            <a:r>
              <a:rPr lang="zh-CN" altLang="en-US" sz="2000" b="1" dirty="0">
                <a:solidFill>
                  <a:schemeClr val="tx1"/>
                </a:solidFill>
                <a:latin typeface="Times New Roman" panose="02020603050405020304" pitchFamily="18" charset="0"/>
                <a:cs typeface="Times New Roman" panose="02020603050405020304" pitchFamily="18" charset="0"/>
              </a:rPr>
              <a:t>、</a:t>
            </a:r>
            <a:r>
              <a:rPr lang="en-US" altLang="zh-CN" sz="2000" b="1" dirty="0" err="1">
                <a:solidFill>
                  <a:schemeClr val="tx1"/>
                </a:solidFill>
                <a:latin typeface="Times New Roman" panose="02020603050405020304" pitchFamily="18" charset="0"/>
                <a:cs typeface="Times New Roman" panose="02020603050405020304" pitchFamily="18" charset="0"/>
              </a:rPr>
              <a:t>PassMark</a:t>
            </a:r>
            <a:r>
              <a:rPr lang="en-US" altLang="zh-CN" sz="2000" b="1" dirty="0">
                <a:solidFill>
                  <a:schemeClr val="tx1"/>
                </a:solidFill>
                <a:latin typeface="Times New Roman" panose="02020603050405020304" pitchFamily="18" charset="0"/>
                <a:cs typeface="Times New Roman" panose="02020603050405020304" pitchFamily="18" charset="0"/>
              </a:rPr>
              <a:t> </a:t>
            </a:r>
            <a:r>
              <a:rPr lang="en-US" altLang="zh-CN" sz="2000" b="1" dirty="0" err="1">
                <a:solidFill>
                  <a:schemeClr val="tx1"/>
                </a:solidFill>
                <a:latin typeface="Times New Roman" panose="02020603050405020304" pitchFamily="18" charset="0"/>
                <a:cs typeface="Times New Roman" panose="02020603050405020304" pitchFamily="18" charset="0"/>
              </a:rPr>
              <a:t>PerformanceTest</a:t>
            </a:r>
            <a:r>
              <a:rPr lang="zh-CN" altLang="en-US" sz="2000" b="1" dirty="0">
                <a:solidFill>
                  <a:schemeClr val="tx1"/>
                </a:solidFill>
                <a:latin typeface="Times New Roman" panose="02020603050405020304" pitchFamily="18" charset="0"/>
                <a:cs typeface="Times New Roman" panose="02020603050405020304" pitchFamily="18" charset="0"/>
              </a:rPr>
              <a:t>等。</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000" b="1" dirty="0">
                <a:solidFill>
                  <a:schemeClr val="tx1"/>
                </a:solidFill>
                <a:latin typeface="Times New Roman" panose="02020603050405020304" pitchFamily="18" charset="0"/>
                <a:cs typeface="Times New Roman" panose="02020603050405020304" pitchFamily="18" charset="0"/>
              </a:rPr>
              <a:t>综合性测试软件：</a:t>
            </a:r>
            <a:r>
              <a:rPr lang="en-US" altLang="zh-CN" sz="2000" b="1" dirty="0" err="1">
                <a:solidFill>
                  <a:schemeClr val="tx1"/>
                </a:solidFill>
                <a:latin typeface="Times New Roman" panose="02020603050405020304" pitchFamily="18" charset="0"/>
                <a:cs typeface="Times New Roman" panose="02020603050405020304" pitchFamily="18" charset="0"/>
              </a:rPr>
              <a:t>SiSoftware</a:t>
            </a:r>
            <a:r>
              <a:rPr lang="en-US" altLang="zh-CN" sz="2000" b="1" dirty="0">
                <a:solidFill>
                  <a:schemeClr val="tx1"/>
                </a:solidFill>
                <a:latin typeface="Times New Roman" panose="02020603050405020304" pitchFamily="18" charset="0"/>
                <a:cs typeface="Times New Roman" panose="02020603050405020304" pitchFamily="18" charset="0"/>
              </a:rPr>
              <a:t> Sandra</a:t>
            </a:r>
            <a:r>
              <a:rPr lang="zh-CN" altLang="en-US" sz="2000" b="1" dirty="0">
                <a:solidFill>
                  <a:schemeClr val="tx1"/>
                </a:solidFill>
                <a:latin typeface="Times New Roman" panose="02020603050405020304" pitchFamily="18" charset="0"/>
                <a:cs typeface="Times New Roman" panose="02020603050405020304" pitchFamily="18" charset="0"/>
              </a:rPr>
              <a:t>、鲁大师、安兔兔等。</a:t>
            </a:r>
            <a:endParaRPr lang="en-US" altLang="zh-CN" sz="2000" b="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8CA5E5B3-4BEF-4679-88CF-F7FC8A5A045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B8BBB843-8ED7-CA46-9E6A-4B4A53525D0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Tree>
    <p:extLst>
      <p:ext uri="{BB962C8B-B14F-4D97-AF65-F5344CB8AC3E}">
        <p14:creationId xmlns:p14="http://schemas.microsoft.com/office/powerpoint/2010/main" val="387527822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a:extLst>
              <a:ext uri="{FF2B5EF4-FFF2-40B4-BE49-F238E27FC236}">
                <a16:creationId xmlns:a16="http://schemas.microsoft.com/office/drawing/2014/main" id="{4461B9F3-462B-4907-8431-A552BD733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6018" name="Rectangle 3"/>
          <p:cNvSpPr>
            <a:spLocks noGrp="1" noChangeArrowheads="1"/>
          </p:cNvSpPr>
          <p:nvPr>
            <p:ph idx="1"/>
          </p:nvPr>
        </p:nvSpPr>
        <p:spPr>
          <a:xfrm>
            <a:off x="107504" y="874366"/>
            <a:ext cx="8928992" cy="5722986"/>
          </a:xfrm>
        </p:spPr>
        <p:txBody>
          <a:bodyPr/>
          <a:lstStyle/>
          <a:p>
            <a:pPr marL="0" indent="0">
              <a:lnSpc>
                <a:spcPct val="150000"/>
              </a:lnSpc>
              <a:spcBef>
                <a:spcPct val="0"/>
              </a:spcBef>
              <a:buNone/>
            </a:pPr>
            <a:r>
              <a:rPr lang="en-US" altLang="zh-CN" sz="2400" b="1" dirty="0">
                <a:solidFill>
                  <a:srgbClr val="0000FF"/>
                </a:solidFill>
                <a:latin typeface="Times New Roman" panose="02020603050405020304" pitchFamily="18" charset="0"/>
                <a:cs typeface="Times New Roman" panose="02020603050405020304" pitchFamily="18" charset="0"/>
              </a:rPr>
              <a:t>3. </a:t>
            </a:r>
            <a:r>
              <a:rPr lang="zh-CN" altLang="en-US" sz="2400" b="1" dirty="0">
                <a:solidFill>
                  <a:srgbClr val="0000FF"/>
                </a:solidFill>
                <a:latin typeface="Times New Roman" panose="02020603050405020304" pitchFamily="18" charset="0"/>
                <a:cs typeface="Times New Roman" panose="02020603050405020304" pitchFamily="18" charset="0"/>
              </a:rPr>
              <a:t>性能测试及其工具</a:t>
            </a:r>
            <a:endParaRPr lang="en-US" altLang="zh-CN" sz="24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000" b="1" dirty="0">
                <a:solidFill>
                  <a:schemeClr val="tx1"/>
                </a:solidFill>
                <a:latin typeface="Times New Roman" panose="02020603050405020304" pitchFamily="18" charset="0"/>
                <a:cs typeface="Times New Roman" panose="02020603050405020304" pitchFamily="18" charset="0"/>
              </a:rPr>
              <a:t>在</a:t>
            </a:r>
            <a:r>
              <a:rPr lang="en-US" altLang="zh-CN" sz="2000" b="1" dirty="0">
                <a:solidFill>
                  <a:schemeClr val="tx1"/>
                </a:solidFill>
                <a:latin typeface="Times New Roman" panose="02020603050405020304" pitchFamily="18" charset="0"/>
                <a:cs typeface="Times New Roman" panose="02020603050405020304" pitchFamily="18" charset="0"/>
              </a:rPr>
              <a:t>20</a:t>
            </a:r>
            <a:r>
              <a:rPr lang="zh-CN" altLang="en-US" sz="2000" b="1" dirty="0">
                <a:solidFill>
                  <a:schemeClr val="tx1"/>
                </a:solidFill>
                <a:latin typeface="Times New Roman" panose="02020603050405020304" pitchFamily="18" charset="0"/>
                <a:cs typeface="Times New Roman" panose="02020603050405020304" pitchFamily="18" charset="0"/>
              </a:rPr>
              <a:t>世纪</a:t>
            </a:r>
            <a:r>
              <a:rPr lang="en-US" altLang="zh-CN" sz="2000" b="1" dirty="0">
                <a:solidFill>
                  <a:schemeClr val="tx1"/>
                </a:solidFill>
                <a:latin typeface="Times New Roman" panose="02020603050405020304" pitchFamily="18" charset="0"/>
                <a:cs typeface="Times New Roman" panose="02020603050405020304" pitchFamily="18" charset="0"/>
              </a:rPr>
              <a:t>70</a:t>
            </a:r>
            <a:r>
              <a:rPr lang="zh-CN" altLang="en-US" sz="2000" b="1" dirty="0">
                <a:solidFill>
                  <a:schemeClr val="tx1"/>
                </a:solidFill>
                <a:latin typeface="Times New Roman" panose="02020603050405020304" pitchFamily="18" charset="0"/>
                <a:cs typeface="Times New Roman" panose="02020603050405020304" pitchFamily="18" charset="0"/>
              </a:rPr>
              <a:t>年代开始陆续出现了一些基准测试程序，把</a:t>
            </a:r>
            <a:r>
              <a:rPr lang="zh-CN" altLang="en-US" sz="2000" b="1" dirty="0">
                <a:solidFill>
                  <a:srgbClr val="FF0000"/>
                </a:solidFill>
                <a:latin typeface="Times New Roman" panose="02020603050405020304" pitchFamily="18" charset="0"/>
                <a:cs typeface="Times New Roman" panose="02020603050405020304" pitchFamily="18" charset="0"/>
              </a:rPr>
              <a:t>应用程序中使用频率最高的那些核心程序</a:t>
            </a:r>
            <a:r>
              <a:rPr lang="zh-CN" altLang="en-US" sz="2000" b="1" dirty="0">
                <a:solidFill>
                  <a:schemeClr val="tx1"/>
                </a:solidFill>
                <a:latin typeface="Times New Roman" panose="02020603050405020304" pitchFamily="18" charset="0"/>
                <a:cs typeface="Times New Roman" panose="02020603050405020304" pitchFamily="18" charset="0"/>
              </a:rPr>
              <a:t>作为评价计算机性能的标准程序，又称为</a:t>
            </a:r>
            <a:r>
              <a:rPr lang="zh-CN" altLang="en-US" sz="2000" b="1" dirty="0">
                <a:solidFill>
                  <a:srgbClr val="FF0000"/>
                </a:solidFill>
                <a:latin typeface="Times New Roman" panose="02020603050405020304" pitchFamily="18" charset="0"/>
                <a:cs typeface="Times New Roman" panose="02020603050405020304" pitchFamily="18" charset="0"/>
              </a:rPr>
              <a:t>基准程序（</a:t>
            </a:r>
            <a:r>
              <a:rPr lang="en-US" altLang="zh-CN" sz="2000" b="1" dirty="0">
                <a:solidFill>
                  <a:srgbClr val="FF0000"/>
                </a:solidFill>
                <a:latin typeface="Times New Roman" panose="02020603050405020304" pitchFamily="18" charset="0"/>
                <a:cs typeface="Times New Roman" panose="02020603050405020304" pitchFamily="18" charset="0"/>
              </a:rPr>
              <a:t>Benchmark</a:t>
            </a:r>
            <a:r>
              <a:rPr lang="zh-CN" altLang="en-US" sz="2000" b="1" dirty="0">
                <a:solidFill>
                  <a:srgbClr val="FF0000"/>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000" b="1" dirty="0">
                <a:solidFill>
                  <a:schemeClr val="tx1"/>
                </a:solidFill>
                <a:latin typeface="Times New Roman" panose="02020603050405020304" pitchFamily="18" charset="0"/>
                <a:cs typeface="Times New Roman" panose="02020603050405020304" pitchFamily="18" charset="0"/>
              </a:rPr>
              <a:t>不同的基准测试程序的侧重点不同：有的测试</a:t>
            </a:r>
            <a:r>
              <a:rPr lang="en-US" altLang="zh-CN" sz="2000" b="1" dirty="0">
                <a:solidFill>
                  <a:schemeClr val="tx1"/>
                </a:solidFill>
                <a:latin typeface="Times New Roman" panose="02020603050405020304" pitchFamily="18" charset="0"/>
                <a:cs typeface="Times New Roman" panose="02020603050405020304" pitchFamily="18" charset="0"/>
              </a:rPr>
              <a:t>CPU</a:t>
            </a:r>
            <a:r>
              <a:rPr lang="zh-CN" altLang="en-US" sz="2000" b="1" dirty="0">
                <a:solidFill>
                  <a:schemeClr val="tx1"/>
                </a:solidFill>
                <a:latin typeface="Times New Roman" panose="02020603050405020304" pitchFamily="18" charset="0"/>
                <a:cs typeface="Times New Roman" panose="02020603050405020304" pitchFamily="18" charset="0"/>
              </a:rPr>
              <a:t>性能，有的测试文件服务器性能，有的测试输入输出设备性能，有的测试网络通信速度等。</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pPr>
            <a:r>
              <a:rPr lang="zh-CN" altLang="en-US" sz="2000" b="1" dirty="0">
                <a:solidFill>
                  <a:srgbClr val="FF0000"/>
                </a:solidFill>
                <a:latin typeface="Times New Roman" panose="02020603050405020304" pitchFamily="18" charset="0"/>
                <a:cs typeface="Times New Roman" panose="02020603050405020304" pitchFamily="18" charset="0"/>
              </a:rPr>
              <a:t>目前国际上流行的基准测试程序主要有</a:t>
            </a:r>
            <a:r>
              <a:rPr lang="en-US" altLang="zh-CN" sz="2000" b="1" dirty="0">
                <a:solidFill>
                  <a:srgbClr val="FF0000"/>
                </a:solidFill>
                <a:latin typeface="Times New Roman" panose="02020603050405020304" pitchFamily="18" charset="0"/>
                <a:cs typeface="Times New Roman" panose="02020603050405020304" pitchFamily="18" charset="0"/>
              </a:rPr>
              <a:t>Dhrystone</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Whetstone</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err="1">
                <a:solidFill>
                  <a:srgbClr val="FF0000"/>
                </a:solidFill>
                <a:latin typeface="Times New Roman" panose="02020603050405020304" pitchFamily="18" charset="0"/>
                <a:cs typeface="Times New Roman" panose="02020603050405020304" pitchFamily="18" charset="0"/>
              </a:rPr>
              <a:t>Linpack</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SPEC</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NPB</a:t>
            </a:r>
            <a:r>
              <a:rPr lang="zh-CN" altLang="en-US" sz="2000" b="1" dirty="0">
                <a:solidFill>
                  <a:srgbClr val="FF0000"/>
                </a:solidFill>
                <a:latin typeface="Times New Roman" panose="02020603050405020304" pitchFamily="18" charset="0"/>
                <a:cs typeface="Times New Roman" panose="02020603050405020304" pitchFamily="18" charset="0"/>
              </a:rPr>
              <a:t>等</a:t>
            </a:r>
            <a:r>
              <a:rPr lang="zh-CN" altLang="en-US" sz="2000" b="1" dirty="0">
                <a:solidFill>
                  <a:schemeClr val="tx1"/>
                </a:solidFill>
                <a:latin typeface="Times New Roman" panose="02020603050405020304" pitchFamily="18" charset="0"/>
                <a:cs typeface="Times New Roman" panose="02020603050405020304" pitchFamily="18" charset="0"/>
              </a:rPr>
              <a:t>。</a:t>
            </a:r>
            <a:endParaRPr lang="en-US" altLang="zh-CN" sz="2000" b="1" dirty="0">
              <a:solidFill>
                <a:schemeClr val="tx1"/>
              </a:solidFill>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8CA5E5B3-4BEF-4679-88CF-F7FC8A5A045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65D52-00BC-4FD8-A2CA-0BB4FEB0F681}" type="slidenum">
              <a:rPr kumimoji="0" lang="en-US" altLang="zh-CN"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Rectangle 2">
            <a:extLst>
              <a:ext uri="{FF2B5EF4-FFF2-40B4-BE49-F238E27FC236}">
                <a16:creationId xmlns:a16="http://schemas.microsoft.com/office/drawing/2014/main" id="{B8BBB843-8ED7-CA46-9E6A-4B4A53525D00}"/>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Tree>
    <p:extLst>
      <p:ext uri="{BB962C8B-B14F-4D97-AF65-F5344CB8AC3E}">
        <p14:creationId xmlns:p14="http://schemas.microsoft.com/office/powerpoint/2010/main" val="395103954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CA91BE77-451C-4DD3-BC96-EB5A19098C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220" name="Rectangle 3"/>
          <p:cNvSpPr>
            <a:spLocks noGrp="1" noChangeArrowheads="1"/>
          </p:cNvSpPr>
          <p:nvPr>
            <p:ph idx="1"/>
          </p:nvPr>
        </p:nvSpPr>
        <p:spPr>
          <a:xfrm>
            <a:off x="36989" y="692696"/>
            <a:ext cx="8928992" cy="5472608"/>
          </a:xfrm>
        </p:spPr>
        <p:txBody>
          <a:bodyPr/>
          <a:lstStyle/>
          <a:p>
            <a:pPr eaLnBrk="1" hangingPunct="1">
              <a:lnSpc>
                <a:spcPct val="150000"/>
              </a:lnSpc>
              <a:spcBef>
                <a:spcPts val="0"/>
              </a:spcBef>
              <a:buFont typeface="Wingdings" pitchFamily="2" charset="2"/>
              <a:buNone/>
              <a:defRPr/>
            </a:pPr>
            <a:r>
              <a:rPr lang="en-US" altLang="zh-CN" sz="2400" b="1" dirty="0">
                <a:solidFill>
                  <a:srgbClr val="FF0000"/>
                </a:solidFill>
                <a:latin typeface="Times New Roman" panose="02020603050405020304" pitchFamily="18" charset="0"/>
                <a:cs typeface="Times New Roman" panose="02020603050405020304" pitchFamily="18" charset="0"/>
              </a:rPr>
              <a:t>4. Amdahl</a:t>
            </a:r>
            <a:r>
              <a:rPr lang="zh-CN" altLang="en-US" sz="2400" b="1" dirty="0">
                <a:solidFill>
                  <a:srgbClr val="FF0000"/>
                </a:solidFill>
                <a:latin typeface="Times New Roman" panose="02020603050405020304" pitchFamily="18" charset="0"/>
                <a:cs typeface="Times New Roman" panose="02020603050405020304" pitchFamily="18" charset="0"/>
              </a:rPr>
              <a:t>定律</a:t>
            </a:r>
            <a:endParaRPr lang="en-US" altLang="zh-CN" sz="2400" b="1" dirty="0">
              <a:solidFill>
                <a:srgbClr val="FF0000"/>
              </a:solidFill>
              <a:latin typeface="Times New Roman" panose="02020603050405020304" pitchFamily="18" charset="0"/>
              <a:cs typeface="Times New Roman" panose="02020603050405020304" pitchFamily="18" charset="0"/>
            </a:endParaRPr>
          </a:p>
          <a:p>
            <a:pPr indent="-324000">
              <a:lnSpc>
                <a:spcPct val="150000"/>
              </a:lnSpc>
              <a:spcBef>
                <a:spcPts val="0"/>
              </a:spcBef>
              <a:defRPr/>
            </a:pPr>
            <a:r>
              <a:rPr lang="zh-CN" altLang="en-US" sz="2000" b="1" dirty="0">
                <a:latin typeface="Times New Roman" panose="02020603050405020304" pitchFamily="18" charset="0"/>
                <a:cs typeface="Times New Roman" panose="02020603050405020304" pitchFamily="18" charset="0"/>
              </a:rPr>
              <a:t>计算机系统中</a:t>
            </a:r>
            <a:r>
              <a:rPr lang="zh-CN" altLang="en-US" sz="2000" b="1" dirty="0">
                <a:solidFill>
                  <a:srgbClr val="0000FF"/>
                </a:solidFill>
                <a:latin typeface="Times New Roman" panose="02020603050405020304" pitchFamily="18" charset="0"/>
                <a:cs typeface="Times New Roman" panose="02020603050405020304" pitchFamily="18" charset="0"/>
              </a:rPr>
              <a:t>某部件由于采用某种更快的执行方式</a:t>
            </a:r>
            <a:r>
              <a:rPr lang="zh-CN" altLang="en-US" sz="2000" b="1" dirty="0">
                <a:latin typeface="Times New Roman" panose="02020603050405020304" pitchFamily="18" charset="0"/>
                <a:cs typeface="Times New Roman" panose="02020603050405020304" pitchFamily="18" charset="0"/>
              </a:rPr>
              <a:t>使系统性能改进后，</a:t>
            </a:r>
            <a:r>
              <a:rPr lang="zh-CN" altLang="en-US" sz="2000" b="1" dirty="0">
                <a:solidFill>
                  <a:srgbClr val="FF0000"/>
                </a:solidFill>
                <a:latin typeface="Times New Roman" panose="02020603050405020304" pitchFamily="18" charset="0"/>
                <a:cs typeface="Times New Roman" panose="02020603050405020304" pitchFamily="18" charset="0"/>
              </a:rPr>
              <a:t>整个系统性能的提高</a:t>
            </a:r>
            <a:r>
              <a:rPr lang="zh-CN" altLang="en-US" sz="2000" b="1" dirty="0">
                <a:solidFill>
                  <a:srgbClr val="0000FF"/>
                </a:solidFill>
                <a:latin typeface="Times New Roman" panose="02020603050405020304" pitchFamily="18" charset="0"/>
                <a:cs typeface="Times New Roman" panose="02020603050405020304" pitchFamily="18" charset="0"/>
              </a:rPr>
              <a:t>与该执行方式的使用频率或占总执行时间的比例有关</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indent="-324000">
              <a:lnSpc>
                <a:spcPct val="150000"/>
              </a:lnSpc>
              <a:spcBef>
                <a:spcPts val="0"/>
              </a:spcBef>
              <a:defRPr/>
            </a:pPr>
            <a:r>
              <a:rPr lang="en-US" altLang="zh-CN" sz="2000" b="1" dirty="0">
                <a:latin typeface="Times New Roman" panose="02020603050405020304" pitchFamily="18" charset="0"/>
                <a:cs typeface="Times New Roman" panose="02020603050405020304" pitchFamily="18" charset="0"/>
              </a:rPr>
              <a:t>Amdahl</a:t>
            </a:r>
            <a:r>
              <a:rPr lang="zh-CN" altLang="en-US" sz="2000" b="1" dirty="0">
                <a:latin typeface="Times New Roman" panose="02020603050405020304" pitchFamily="18" charset="0"/>
                <a:cs typeface="Times New Roman" panose="02020603050405020304" pitchFamily="18" charset="0"/>
              </a:rPr>
              <a:t>定律定义了加速比</a:t>
            </a:r>
            <a:r>
              <a:rPr lang="en-US" altLang="zh-CN" sz="2000" b="1" dirty="0">
                <a:latin typeface="Times New Roman" panose="02020603050405020304" pitchFamily="18" charset="0"/>
                <a:cs typeface="Times New Roman" panose="02020603050405020304" pitchFamily="18" charset="0"/>
              </a:rPr>
              <a:t>(speedup)</a:t>
            </a:r>
            <a:r>
              <a:rPr lang="zh-CN" altLang="en-US" sz="2000" b="1" dirty="0">
                <a:latin typeface="Times New Roman" panose="02020603050405020304" pitchFamily="18" charset="0"/>
                <a:cs typeface="Times New Roman" panose="02020603050405020304" pitchFamily="18" charset="0"/>
              </a:rPr>
              <a:t>，即</a:t>
            </a:r>
          </a:p>
        </p:txBody>
      </p:sp>
      <p:sp>
        <p:nvSpPr>
          <p:cNvPr id="2" name="Rectangle 2">
            <a:extLst>
              <a:ext uri="{FF2B5EF4-FFF2-40B4-BE49-F238E27FC236}">
                <a16:creationId xmlns:a16="http://schemas.microsoft.com/office/drawing/2014/main" id="{F6B068A4-A85D-B358-7792-E12BC21B77F1}"/>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DAF75BC-7420-457C-9B04-35F6E08F411C}"/>
                  </a:ext>
                </a:extLst>
              </p:cNvPr>
              <p:cNvSpPr txBox="1"/>
              <p:nvPr/>
            </p:nvSpPr>
            <p:spPr>
              <a:xfrm>
                <a:off x="2628538" y="2828207"/>
                <a:ext cx="3745894" cy="736548"/>
              </a:xfrm>
              <a:prstGeom prst="rect">
                <a:avLst/>
              </a:prstGeom>
              <a:solidFill>
                <a:schemeClr val="accent5"/>
              </a:solid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000" b="1" smtClean="0">
                          <a:latin typeface="Cambria Math" panose="02040503050406030204" pitchFamily="18" charset="0"/>
                        </a:rPr>
                        <m:t>加</m:t>
                      </m:r>
                      <m:r>
                        <a:rPr lang="zh-CN" altLang="en-US" sz="2000" b="1" i="0">
                          <a:latin typeface="Cambria Math" panose="02040503050406030204" pitchFamily="18" charset="0"/>
                        </a:rPr>
                        <m:t>速比</m:t>
                      </m:r>
                      <m:sSub>
                        <m:sSubPr>
                          <m:ctrlPr>
                            <a:rPr lang="en-US" altLang="zh-CN" sz="2000" b="1" i="1" smtClean="0">
                              <a:latin typeface="Cambria Math" panose="02040503050406030204" pitchFamily="18" charset="0"/>
                            </a:rPr>
                          </m:ctrlPr>
                        </m:sSubPr>
                        <m:e>
                          <m:r>
                            <m:rPr>
                              <m:sty m:val="p"/>
                            </m:rPr>
                            <a:rPr lang="en-US" altLang="zh-CN" sz="2000" b="1" i="1">
                              <a:latin typeface="Cambria Math" panose="02040503050406030204" pitchFamily="18" charset="0"/>
                            </a:rPr>
                            <m:t>S</m:t>
                          </m:r>
                        </m:e>
                        <m:sub>
                          <m:r>
                            <m:rPr>
                              <m:sty m:val="p"/>
                            </m:rPr>
                            <a:rPr lang="en-US" altLang="zh-CN" sz="2000" b="1" i="1">
                              <a:latin typeface="Cambria Math" panose="02040503050406030204" pitchFamily="18" charset="0"/>
                            </a:rPr>
                            <m:t>p</m:t>
                          </m:r>
                        </m:sub>
                      </m:sSub>
                      <m:r>
                        <a:rPr lang="zh-CN" altLang="en-US" sz="2000" b="1" i="0">
                          <a:latin typeface="Cambria Math" panose="02040503050406030204" pitchFamily="18" charset="0"/>
                        </a:rPr>
                        <m:t>=</m:t>
                      </m:r>
                      <m:f>
                        <m:fPr>
                          <m:ctrlPr>
                            <a:rPr lang="zh-CN" altLang="en-US" sz="2000" b="1" i="1">
                              <a:solidFill>
                                <a:srgbClr val="836967"/>
                              </a:solidFill>
                              <a:latin typeface="Cambria Math" panose="02040503050406030204" pitchFamily="18" charset="0"/>
                            </a:rPr>
                          </m:ctrlPr>
                        </m:fPr>
                        <m:num>
                          <m:r>
                            <a:rPr lang="zh-CN" altLang="en-US" sz="2000" b="1" i="0">
                              <a:latin typeface="Cambria Math" panose="02040503050406030204" pitchFamily="18" charset="0"/>
                            </a:rPr>
                            <m:t>改进前的</m:t>
                          </m:r>
                          <m:r>
                            <m:rPr>
                              <m:sty m:val="p"/>
                            </m:rPr>
                            <a:rPr lang="en-US" altLang="zh-CN" sz="2000" b="1" i="1">
                              <a:latin typeface="Cambria Math" panose="02040503050406030204" pitchFamily="18" charset="0"/>
                            </a:rPr>
                            <m:t>CPU</m:t>
                          </m:r>
                          <m:r>
                            <a:rPr lang="zh-CN" altLang="en-US" sz="2000" b="1" i="0">
                              <a:latin typeface="Cambria Math" panose="02040503050406030204" pitchFamily="18" charset="0"/>
                            </a:rPr>
                            <m:t>时间</m:t>
                          </m:r>
                        </m:num>
                        <m:den>
                          <m:r>
                            <a:rPr lang="zh-CN" altLang="en-US" sz="2000" b="1" i="0">
                              <a:latin typeface="Cambria Math" panose="02040503050406030204" pitchFamily="18" charset="0"/>
                            </a:rPr>
                            <m:t>改进后的</m:t>
                          </m:r>
                          <m:r>
                            <m:rPr>
                              <m:sty m:val="p"/>
                            </m:rPr>
                            <a:rPr lang="en-US" altLang="zh-CN" sz="2000" b="1" i="1">
                              <a:latin typeface="Cambria Math" panose="02040503050406030204" pitchFamily="18" charset="0"/>
                            </a:rPr>
                            <m:t>CPU</m:t>
                          </m:r>
                          <m:r>
                            <a:rPr lang="zh-CN" altLang="en-US" sz="2000" b="1" i="0">
                              <a:latin typeface="Cambria Math" panose="02040503050406030204" pitchFamily="18" charset="0"/>
                            </a:rPr>
                            <m:t>时间</m:t>
                          </m:r>
                        </m:den>
                      </m:f>
                    </m:oMath>
                  </m:oMathPara>
                </a14:m>
                <a:endParaRPr lang="zh-CN" altLang="en-US" sz="2000" b="1" dirty="0"/>
              </a:p>
            </p:txBody>
          </p:sp>
        </mc:Choice>
        <mc:Fallback xmlns="">
          <p:sp>
            <p:nvSpPr>
              <p:cNvPr id="7" name="文本框 6">
                <a:extLst>
                  <a:ext uri="{FF2B5EF4-FFF2-40B4-BE49-F238E27FC236}">
                    <a16:creationId xmlns:a16="http://schemas.microsoft.com/office/drawing/2014/main" id="{DDAF75BC-7420-457C-9B04-35F6E08F411C}"/>
                  </a:ext>
                </a:extLst>
              </p:cNvPr>
              <p:cNvSpPr txBox="1">
                <a:spLocks noRot="1" noChangeAspect="1" noMove="1" noResize="1" noEditPoints="1" noAdjustHandles="1" noChangeArrowheads="1" noChangeShapeType="1" noTextEdit="1"/>
              </p:cNvSpPr>
              <p:nvPr/>
            </p:nvSpPr>
            <p:spPr>
              <a:xfrm>
                <a:off x="2628538" y="2828207"/>
                <a:ext cx="3745894" cy="736548"/>
              </a:xfrm>
              <a:prstGeom prst="rect">
                <a:avLst/>
              </a:prstGeom>
              <a:blipFill>
                <a:blip r:embed="rId4"/>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E9A94D95-8DC5-420F-9180-007FFCF731DA}"/>
              </a:ext>
            </a:extLst>
          </p:cNvPr>
          <p:cNvSpPr txBox="1"/>
          <p:nvPr/>
        </p:nvSpPr>
        <p:spPr>
          <a:xfrm>
            <a:off x="36989" y="3564755"/>
            <a:ext cx="9070022" cy="3265574"/>
          </a:xfrm>
          <a:prstGeom prst="rect">
            <a:avLst/>
          </a:prstGeom>
          <a:noFill/>
        </p:spPr>
        <p:txBody>
          <a:bodyPr wrap="square">
            <a:spAutoFit/>
          </a:bodyPr>
          <a:lstStyle/>
          <a:p>
            <a:pPr marL="18900" indent="-342900">
              <a:lnSpc>
                <a:spcPct val="150000"/>
              </a:lnSpc>
              <a:spcBef>
                <a:spcPts val="0"/>
              </a:spcBef>
              <a:buFont typeface="Arial" panose="020B0604020202020204" pitchFamily="34" charset="0"/>
              <a:buChar char="•"/>
              <a:defRPr/>
            </a:pPr>
            <a:r>
              <a:rPr lang="zh-CN" altLang="en-US" sz="2000" b="1" dirty="0">
                <a:latin typeface="Times New Roman" panose="02020603050405020304" pitchFamily="18" charset="0"/>
                <a:cs typeface="Times New Roman" panose="02020603050405020304" pitchFamily="18" charset="0"/>
              </a:rPr>
              <a:t>计算机系统的</a:t>
            </a:r>
            <a:r>
              <a:rPr lang="zh-CN" altLang="en-US" sz="2000" b="1" dirty="0">
                <a:solidFill>
                  <a:srgbClr val="FF0000"/>
                </a:solidFill>
                <a:latin typeface="Times New Roman" panose="02020603050405020304" pitchFamily="18" charset="0"/>
                <a:cs typeface="Times New Roman" panose="02020603050405020304" pitchFamily="18" charset="0"/>
              </a:rPr>
              <a:t>加速比取决于两个因素</a:t>
            </a:r>
            <a:r>
              <a:rPr lang="zh-CN" altLang="en-US" sz="2000" b="1" dirty="0">
                <a:latin typeface="Times New Roman" panose="02020603050405020304" pitchFamily="18" charset="0"/>
                <a:cs typeface="Times New Roman" panose="02020603050405020304" pitchFamily="18" charset="0"/>
              </a:rPr>
              <a:t>：</a:t>
            </a:r>
          </a:p>
          <a:p>
            <a:pPr indent="-324000">
              <a:lnSpc>
                <a:spcPct val="150000"/>
              </a:lnSpc>
              <a:spcBef>
                <a:spcPts val="0"/>
              </a:spcBef>
              <a:defRPr/>
            </a:pPr>
            <a:r>
              <a:rPr lang="zh-CN" altLang="en-US" sz="2000" b="1" dirty="0">
                <a:solidFill>
                  <a:srgbClr val="0000FF"/>
                </a:solidFill>
                <a:latin typeface="Times New Roman" panose="02020603050405020304" pitchFamily="18" charset="0"/>
                <a:cs typeface="Times New Roman" panose="02020603050405020304" pitchFamily="18" charset="0"/>
              </a:rPr>
              <a:t>① 可改进比例 </a:t>
            </a:r>
            <a:r>
              <a:rPr lang="en-US" altLang="zh-CN" sz="2000" b="1" i="1" dirty="0" err="1">
                <a:solidFill>
                  <a:srgbClr val="0000FF"/>
                </a:solidFill>
                <a:latin typeface="Times New Roman" panose="02020603050405020304" pitchFamily="18" charset="0"/>
                <a:cs typeface="Times New Roman" panose="02020603050405020304" pitchFamily="18" charset="0"/>
              </a:rPr>
              <a:t>f</a:t>
            </a:r>
            <a:r>
              <a:rPr lang="en-US" altLang="zh-CN" sz="2000" b="1" baseline="-25000" dirty="0" err="1">
                <a:solidFill>
                  <a:srgbClr val="0000FF"/>
                </a:solidFill>
                <a:latin typeface="Times New Roman" panose="02020603050405020304" pitchFamily="18" charset="0"/>
                <a:cs typeface="Times New Roman" panose="02020603050405020304" pitchFamily="18" charset="0"/>
              </a:rPr>
              <a:t>e</a:t>
            </a:r>
            <a:r>
              <a:rPr lang="en-US" altLang="zh-CN" sz="2000" b="1" baseline="-25000" dirty="0">
                <a:solidFill>
                  <a:srgbClr val="0000FF"/>
                </a:solidFill>
                <a:latin typeface="Times New Roman" panose="02020603050405020304" pitchFamily="18" charset="0"/>
                <a:cs typeface="Times New Roman" panose="02020603050405020304" pitchFamily="18" charset="0"/>
              </a:rPr>
              <a:t> </a:t>
            </a:r>
            <a:r>
              <a:rPr lang="zh-CN" altLang="en-US" sz="2000" b="1" dirty="0">
                <a:solidFill>
                  <a:srgbClr val="0000FF"/>
                </a:solidFill>
                <a:latin typeface="Times New Roman" panose="02020603050405020304" pitchFamily="18" charset="0"/>
                <a:cs typeface="Times New Roman" panose="02020603050405020304" pitchFamily="18" charset="0"/>
              </a:rPr>
              <a:t>： 可改进部分在原系统执行时间中所占的比例</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176213" lvl="1">
              <a:lnSpc>
                <a:spcPct val="150000"/>
              </a:lnSpc>
              <a:spcBef>
                <a:spcPts val="0"/>
              </a:spcBef>
              <a:defRPr/>
            </a:pPr>
            <a:r>
              <a:rPr lang="zh-CN" altLang="en-US" sz="2000" b="1" dirty="0">
                <a:latin typeface="Times New Roman" panose="02020603050405020304" pitchFamily="18" charset="0"/>
                <a:cs typeface="Times New Roman" panose="02020603050405020304" pitchFamily="18" charset="0"/>
              </a:rPr>
              <a:t>例如，程序的执行时间为</a:t>
            </a:r>
            <a:r>
              <a:rPr lang="en-US" altLang="zh-CN" sz="2000" b="1" dirty="0">
                <a:latin typeface="Times New Roman" panose="02020603050405020304" pitchFamily="18" charset="0"/>
                <a:cs typeface="Times New Roman" panose="02020603050405020304" pitchFamily="18" charset="0"/>
              </a:rPr>
              <a:t>100s</a:t>
            </a:r>
            <a:r>
              <a:rPr lang="zh-CN" altLang="en-US" sz="2000" b="1" dirty="0">
                <a:latin typeface="Times New Roman" panose="02020603050405020304" pitchFamily="18" charset="0"/>
                <a:cs typeface="Times New Roman" panose="02020603050405020304" pitchFamily="18" charset="0"/>
              </a:rPr>
              <a:t>，可改进的部分是其中的</a:t>
            </a:r>
            <a:r>
              <a:rPr lang="en-US" altLang="zh-CN" sz="2000" b="1" dirty="0">
                <a:latin typeface="Times New Roman" panose="02020603050405020304" pitchFamily="18" charset="0"/>
                <a:cs typeface="Times New Roman" panose="02020603050405020304" pitchFamily="18" charset="0"/>
              </a:rPr>
              <a:t>20s</a:t>
            </a:r>
            <a:r>
              <a:rPr lang="zh-CN" altLang="en-US" sz="2000" b="1" dirty="0">
                <a:latin typeface="Times New Roman" panose="02020603050405020304" pitchFamily="18" charset="0"/>
                <a:cs typeface="Times New Roman" panose="02020603050405020304" pitchFamily="18" charset="0"/>
              </a:rPr>
              <a:t>，则</a:t>
            </a:r>
            <a:r>
              <a:rPr lang="en-US" altLang="zh-CN" sz="2000" b="1" i="1" dirty="0" err="1">
                <a:latin typeface="Times New Roman" panose="02020603050405020304" pitchFamily="18" charset="0"/>
                <a:cs typeface="Times New Roman" panose="02020603050405020304" pitchFamily="18" charset="0"/>
              </a:rPr>
              <a:t>f</a:t>
            </a:r>
            <a:r>
              <a:rPr lang="en-US" altLang="zh-CN" sz="2000" b="1" baseline="-25000" dirty="0" err="1">
                <a:latin typeface="Times New Roman" panose="02020603050405020304" pitchFamily="18" charset="0"/>
                <a:cs typeface="Times New Roman" panose="02020603050405020304" pitchFamily="18" charset="0"/>
              </a:rPr>
              <a:t>e</a:t>
            </a:r>
            <a:r>
              <a:rPr lang="en-US" altLang="zh-CN" sz="2000" b="1" baseline="-25000"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0.2</a:t>
            </a:r>
            <a:r>
              <a:rPr lang="zh-CN" altLang="en-US" sz="2000" b="1" dirty="0">
                <a:latin typeface="Times New Roman" panose="02020603050405020304" pitchFamily="18" charset="0"/>
                <a:cs typeface="Times New Roman" panose="02020603050405020304" pitchFamily="18" charset="0"/>
              </a:rPr>
              <a:t>。可见，</a:t>
            </a:r>
            <a:r>
              <a:rPr lang="en-US" altLang="zh-CN" sz="2000" b="1" i="1" dirty="0" err="1">
                <a:latin typeface="Times New Roman" panose="02020603050405020304" pitchFamily="18" charset="0"/>
                <a:cs typeface="Times New Roman" panose="02020603050405020304" pitchFamily="18" charset="0"/>
              </a:rPr>
              <a:t>f</a:t>
            </a:r>
            <a:r>
              <a:rPr lang="en-US" altLang="zh-CN" sz="2000" b="1" baseline="-25000" dirty="0" err="1">
                <a:latin typeface="Times New Roman" panose="02020603050405020304" pitchFamily="18" charset="0"/>
                <a:cs typeface="Times New Roman" panose="02020603050405020304" pitchFamily="18" charset="0"/>
              </a:rPr>
              <a:t>e</a:t>
            </a:r>
            <a:r>
              <a:rPr lang="zh-CN" altLang="en-US" sz="2000" b="1" dirty="0">
                <a:latin typeface="Times New Roman" panose="02020603050405020304" pitchFamily="18" charset="0"/>
                <a:cs typeface="Times New Roman" panose="02020603050405020304" pitchFamily="18" charset="0"/>
              </a:rPr>
              <a:t>总是小于或等</a:t>
            </a: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的。</a:t>
            </a:r>
          </a:p>
          <a:p>
            <a:pPr indent="-324000">
              <a:lnSpc>
                <a:spcPct val="150000"/>
              </a:lnSpc>
              <a:spcBef>
                <a:spcPts val="0"/>
              </a:spcBef>
              <a:defRPr/>
            </a:pPr>
            <a:r>
              <a:rPr lang="zh-CN" altLang="en-US" sz="2000" b="1" dirty="0">
                <a:solidFill>
                  <a:srgbClr val="0000FF"/>
                </a:solidFill>
                <a:latin typeface="Times New Roman" panose="02020603050405020304" pitchFamily="18" charset="0"/>
                <a:cs typeface="Times New Roman" panose="02020603050405020304" pitchFamily="18" charset="0"/>
              </a:rPr>
              <a:t>② 部件加速比 </a:t>
            </a:r>
            <a:r>
              <a:rPr lang="en-US" altLang="zh-CN" sz="2000" b="1" i="1" dirty="0">
                <a:solidFill>
                  <a:srgbClr val="0000FF"/>
                </a:solidFill>
                <a:latin typeface="Times New Roman" panose="02020603050405020304" pitchFamily="18" charset="0"/>
                <a:cs typeface="Times New Roman" panose="02020603050405020304" pitchFamily="18" charset="0"/>
              </a:rPr>
              <a:t>r</a:t>
            </a:r>
            <a:r>
              <a:rPr lang="en-US" altLang="zh-CN" sz="2000" b="1" baseline="-25000" dirty="0">
                <a:solidFill>
                  <a:srgbClr val="0000FF"/>
                </a:solidFill>
                <a:latin typeface="Times New Roman" panose="02020603050405020304" pitchFamily="18" charset="0"/>
                <a:cs typeface="Times New Roman" panose="02020603050405020304" pitchFamily="18" charset="0"/>
              </a:rPr>
              <a:t>e</a:t>
            </a:r>
            <a:r>
              <a:rPr lang="zh-CN" altLang="en-US" sz="2000" b="1" baseline="-25000" dirty="0">
                <a:solidFill>
                  <a:srgbClr val="0000FF"/>
                </a:solidFill>
                <a:latin typeface="Times New Roman" panose="02020603050405020304" pitchFamily="18" charset="0"/>
                <a:cs typeface="Times New Roman" panose="02020603050405020304" pitchFamily="18" charset="0"/>
              </a:rPr>
              <a:t>：</a:t>
            </a:r>
            <a:r>
              <a:rPr lang="zh-CN" altLang="en-US" sz="2000" b="1" dirty="0">
                <a:solidFill>
                  <a:srgbClr val="0000FF"/>
                </a:solidFill>
                <a:latin typeface="Times New Roman" panose="02020603050405020304" pitchFamily="18" charset="0"/>
                <a:cs typeface="Times New Roman" panose="02020603050405020304" pitchFamily="18" charset="0"/>
              </a:rPr>
              <a:t>可改进部分改进后性能提高的程度 </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176213" lvl="1">
              <a:lnSpc>
                <a:spcPct val="150000"/>
              </a:lnSpc>
              <a:spcBef>
                <a:spcPts val="0"/>
              </a:spcBef>
              <a:defRPr/>
            </a:pPr>
            <a:r>
              <a:rPr lang="zh-CN" altLang="en-US" sz="2000" b="1" dirty="0">
                <a:latin typeface="Times New Roman" panose="02020603050405020304" pitchFamily="18" charset="0"/>
                <a:cs typeface="Times New Roman" panose="02020603050405020304" pitchFamily="18" charset="0"/>
              </a:rPr>
              <a:t>例如，某部件改进后，执行时间由原来的</a:t>
            </a:r>
            <a:r>
              <a:rPr lang="en-US" altLang="en-US" sz="2000" b="1" dirty="0">
                <a:latin typeface="Times New Roman" panose="02020603050405020304" pitchFamily="18" charset="0"/>
                <a:cs typeface="Times New Roman" panose="02020603050405020304" pitchFamily="18" charset="0"/>
              </a:rPr>
              <a:t>20s</a:t>
            </a:r>
            <a:r>
              <a:rPr lang="zh-CN" altLang="en-US" sz="2000" b="1" dirty="0">
                <a:latin typeface="Times New Roman" panose="02020603050405020304" pitchFamily="18" charset="0"/>
                <a:cs typeface="Times New Roman" panose="02020603050405020304" pitchFamily="18" charset="0"/>
              </a:rPr>
              <a:t>减少到</a:t>
            </a:r>
            <a:r>
              <a:rPr lang="en-US" altLang="en-US" sz="2000" b="1" dirty="0">
                <a:latin typeface="Times New Roman" panose="02020603050405020304" pitchFamily="18" charset="0"/>
                <a:cs typeface="Times New Roman" panose="02020603050405020304" pitchFamily="18" charset="0"/>
              </a:rPr>
              <a:t>5s</a:t>
            </a:r>
            <a:r>
              <a:rPr lang="zh-CN" altLang="en-US" sz="2000" b="1" dirty="0">
                <a:latin typeface="Times New Roman" panose="02020603050405020304" pitchFamily="18" charset="0"/>
                <a:cs typeface="Times New Roman" panose="02020603050405020304" pitchFamily="18" charset="0"/>
              </a:rPr>
              <a:t>，则部件加速比</a:t>
            </a:r>
            <a:r>
              <a:rPr lang="en-US" altLang="en-US" sz="2000" b="1" i="1" dirty="0">
                <a:latin typeface="Times New Roman" panose="02020603050405020304" pitchFamily="18" charset="0"/>
                <a:cs typeface="Times New Roman" panose="02020603050405020304" pitchFamily="18" charset="0"/>
              </a:rPr>
              <a:t>r</a:t>
            </a:r>
            <a:r>
              <a:rPr lang="en-US" altLang="en-US" sz="2000" b="1" baseline="-25000" dirty="0">
                <a:latin typeface="Times New Roman" panose="02020603050405020304" pitchFamily="18" charset="0"/>
                <a:cs typeface="Times New Roman" panose="02020603050405020304" pitchFamily="18" charset="0"/>
              </a:rPr>
              <a:t>e</a:t>
            </a:r>
            <a:r>
              <a:rPr lang="zh-CN" altLang="en-US" sz="2000" b="1" dirty="0">
                <a:latin typeface="Times New Roman" panose="02020603050405020304" pitchFamily="18" charset="0"/>
                <a:cs typeface="Times New Roman" panose="02020603050405020304" pitchFamily="18" charset="0"/>
              </a:rPr>
              <a:t>＝</a:t>
            </a:r>
            <a:r>
              <a:rPr lang="en-US" altLang="en-US" sz="2000" b="1" dirty="0">
                <a:latin typeface="Times New Roman" panose="02020603050405020304" pitchFamily="18" charset="0"/>
                <a:cs typeface="Times New Roman" panose="02020603050405020304" pitchFamily="18" charset="0"/>
              </a:rPr>
              <a:t>20/5</a:t>
            </a:r>
            <a:r>
              <a:rPr lang="zh-CN" altLang="en-US" sz="2000" b="1" dirty="0">
                <a:latin typeface="Times New Roman" panose="02020603050405020304" pitchFamily="18" charset="0"/>
                <a:cs typeface="Times New Roman" panose="02020603050405020304" pitchFamily="18" charset="0"/>
              </a:rPr>
              <a:t>＝</a:t>
            </a:r>
            <a:r>
              <a:rPr lang="en-US" altLang="en-US" sz="2000" b="1" dirty="0">
                <a:latin typeface="Times New Roman" panose="02020603050405020304" pitchFamily="18" charset="0"/>
                <a:cs typeface="Times New Roman" panose="02020603050405020304" pitchFamily="18" charset="0"/>
              </a:rPr>
              <a:t>4</a:t>
            </a:r>
            <a:r>
              <a:rPr lang="zh-CN" altLang="en-US" sz="2000" b="1" dirty="0">
                <a:latin typeface="Times New Roman" panose="02020603050405020304" pitchFamily="18" charset="0"/>
                <a:cs typeface="Times New Roman" panose="02020603050405020304" pitchFamily="18" charset="0"/>
              </a:rPr>
              <a:t>。可见，</a:t>
            </a:r>
            <a:r>
              <a:rPr lang="en-US" altLang="en-US" sz="2000" b="1" i="1" dirty="0">
                <a:latin typeface="Times New Roman" panose="02020603050405020304" pitchFamily="18" charset="0"/>
                <a:cs typeface="Times New Roman" panose="02020603050405020304" pitchFamily="18" charset="0"/>
              </a:rPr>
              <a:t>r</a:t>
            </a:r>
            <a:r>
              <a:rPr lang="en-US" altLang="en-US" sz="2000" b="1" baseline="-25000" dirty="0">
                <a:latin typeface="Times New Roman" panose="02020603050405020304" pitchFamily="18" charset="0"/>
                <a:cs typeface="Times New Roman" panose="02020603050405020304" pitchFamily="18" charset="0"/>
              </a:rPr>
              <a:t>e</a:t>
            </a:r>
            <a:r>
              <a:rPr lang="zh-CN" altLang="en-US" sz="2000" b="1" dirty="0">
                <a:latin typeface="Times New Roman" panose="02020603050405020304" pitchFamily="18" charset="0"/>
                <a:cs typeface="Times New Roman" panose="02020603050405020304" pitchFamily="18" charset="0"/>
              </a:rPr>
              <a:t>一般是大于</a:t>
            </a:r>
            <a:r>
              <a:rPr lang="en-US" altLang="en-US"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的。</a:t>
            </a:r>
          </a:p>
        </p:txBody>
      </p:sp>
    </p:spTree>
    <p:extLst>
      <p:ext uri="{BB962C8B-B14F-4D97-AF65-F5344CB8AC3E}">
        <p14:creationId xmlns:p14="http://schemas.microsoft.com/office/powerpoint/2010/main" val="2644809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animEffect transition="in" filter="randombar(horizontal)">
                                      <p:cBhvr>
                                        <p:cTn id="7" dur="500"/>
                                        <p:tgtEl>
                                          <p:spTgt spid="92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220">
                                            <p:txEl>
                                              <p:pRg st="1" end="1"/>
                                            </p:txEl>
                                          </p:spTgt>
                                        </p:tgtEl>
                                        <p:attrNameLst>
                                          <p:attrName>style.visibility</p:attrName>
                                        </p:attrNameLst>
                                      </p:cBhvr>
                                      <p:to>
                                        <p:strVal val="visible"/>
                                      </p:to>
                                    </p:set>
                                    <p:animEffect transition="in" filter="randombar(horizontal)">
                                      <p:cBhvr>
                                        <p:cTn id="12" dur="500"/>
                                        <p:tgtEl>
                                          <p:spTgt spid="92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220">
                                            <p:txEl>
                                              <p:pRg st="2" end="2"/>
                                            </p:txEl>
                                          </p:spTgt>
                                        </p:tgtEl>
                                        <p:attrNameLst>
                                          <p:attrName>style.visibility</p:attrName>
                                        </p:attrNameLst>
                                      </p:cBhvr>
                                      <p:to>
                                        <p:strVal val="visible"/>
                                      </p:to>
                                    </p:set>
                                    <p:animEffect transition="in" filter="randombar(horizontal)">
                                      <p:cBhvr>
                                        <p:cTn id="17" dur="500"/>
                                        <p:tgtEl>
                                          <p:spTgt spid="92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a:extLst>
              <a:ext uri="{FF2B5EF4-FFF2-40B4-BE49-F238E27FC236}">
                <a16:creationId xmlns:a16="http://schemas.microsoft.com/office/drawing/2014/main" id="{5AA84D17-71C7-420E-86A1-5BCD373A56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220" name="Rectangle 3"/>
          <p:cNvSpPr>
            <a:spLocks noGrp="1" noChangeArrowheads="1"/>
          </p:cNvSpPr>
          <p:nvPr>
            <p:ph idx="1"/>
          </p:nvPr>
        </p:nvSpPr>
        <p:spPr>
          <a:xfrm>
            <a:off x="0" y="867972"/>
            <a:ext cx="9108504" cy="4547679"/>
          </a:xfrm>
        </p:spPr>
        <p:txBody>
          <a:bodyPr/>
          <a:lstStyle/>
          <a:p>
            <a:pPr marL="361800">
              <a:lnSpc>
                <a:spcPct val="150000"/>
              </a:lnSpc>
              <a:spcBef>
                <a:spcPts val="0"/>
              </a:spcBef>
              <a:defRPr/>
            </a:pPr>
            <a:r>
              <a:rPr lang="zh-CN" altLang="en-US" sz="2400" b="1" dirty="0">
                <a:latin typeface="Times New Roman" panose="02020603050405020304" pitchFamily="18" charset="0"/>
                <a:cs typeface="Times New Roman" panose="02020603050405020304" pitchFamily="18" charset="0"/>
              </a:rPr>
              <a:t>假设改进前的</a:t>
            </a:r>
            <a:r>
              <a:rPr lang="en-US" altLang="zh-CN" sz="2400" b="1" dirty="0">
                <a:latin typeface="Times New Roman" panose="02020603050405020304" pitchFamily="18" charset="0"/>
                <a:cs typeface="Times New Roman" panose="02020603050405020304" pitchFamily="18" charset="0"/>
              </a:rPr>
              <a:t>CPU</a:t>
            </a:r>
            <a:r>
              <a:rPr lang="zh-CN" altLang="en-US" sz="2400" b="1" dirty="0">
                <a:latin typeface="Times New Roman" panose="02020603050405020304" pitchFamily="18" charset="0"/>
                <a:cs typeface="Times New Roman" panose="02020603050405020304" pitchFamily="18" charset="0"/>
              </a:rPr>
              <a:t>时间为</a:t>
            </a:r>
            <a:r>
              <a:rPr lang="en-US" altLang="zh-CN" sz="2400" b="1" i="1" dirty="0">
                <a:latin typeface="Times New Roman" panose="02020603050405020304" pitchFamily="18" charset="0"/>
                <a:cs typeface="Times New Roman" panose="02020603050405020304" pitchFamily="18" charset="0"/>
              </a:rPr>
              <a:t>T</a:t>
            </a:r>
            <a:r>
              <a:rPr lang="en-US" altLang="zh-CN" sz="2400" b="1" baseline="-25000"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，改进后的</a:t>
            </a:r>
            <a:r>
              <a:rPr lang="en-US" altLang="zh-CN" sz="2400" b="1" dirty="0">
                <a:latin typeface="Times New Roman" panose="02020603050405020304" pitchFamily="18" charset="0"/>
                <a:cs typeface="Times New Roman" panose="02020603050405020304" pitchFamily="18" charset="0"/>
              </a:rPr>
              <a:t>CPU</a:t>
            </a:r>
            <a:r>
              <a:rPr lang="zh-CN" altLang="en-US" sz="2400" b="1" dirty="0">
                <a:latin typeface="Times New Roman" panose="02020603050405020304" pitchFamily="18" charset="0"/>
                <a:cs typeface="Times New Roman" panose="02020603050405020304" pitchFamily="18" charset="0"/>
              </a:rPr>
              <a:t>时间为</a:t>
            </a:r>
            <a:r>
              <a:rPr lang="en-US" altLang="zh-CN" sz="2400" b="1" i="1" dirty="0">
                <a:latin typeface="Times New Roman" panose="02020603050405020304" pitchFamily="18" charset="0"/>
                <a:cs typeface="Times New Roman" panose="02020603050405020304" pitchFamily="18" charset="0"/>
              </a:rPr>
              <a:t>T</a:t>
            </a:r>
            <a:r>
              <a:rPr lang="en-US" altLang="zh-CN" sz="2400" b="1" baseline="-25000" dirty="0">
                <a:latin typeface="Times New Roman" panose="02020603050405020304" pitchFamily="18" charset="0"/>
                <a:cs typeface="Times New Roman" panose="02020603050405020304" pitchFamily="18" charset="0"/>
              </a:rPr>
              <a:t>n</a:t>
            </a:r>
            <a:endParaRPr lang="zh-CN" altLang="en-US" sz="2400" b="1" dirty="0">
              <a:latin typeface="Times New Roman" panose="02020603050405020304" pitchFamily="18" charset="0"/>
              <a:cs typeface="Times New Roman" panose="02020603050405020304" pitchFamily="18" charset="0"/>
            </a:endParaRPr>
          </a:p>
          <a:p>
            <a:pPr indent="-324000">
              <a:lnSpc>
                <a:spcPct val="150000"/>
              </a:lnSpc>
              <a:spcBef>
                <a:spcPts val="0"/>
              </a:spcBef>
              <a:buFont typeface="Wingdings" pitchFamily="2" charset="2"/>
              <a:buNone/>
              <a:defRPr/>
            </a:pPr>
            <a:r>
              <a:rPr lang="en-US" altLang="zh-CN" sz="2400" b="1" dirty="0">
                <a:latin typeface="Times New Roman" panose="02020603050405020304" pitchFamily="18" charset="0"/>
                <a:cs typeface="Times New Roman" panose="02020603050405020304" pitchFamily="18" charset="0"/>
              </a:rPr>
              <a:t> </a:t>
            </a:r>
          </a:p>
          <a:p>
            <a:pPr marL="361800">
              <a:lnSpc>
                <a:spcPct val="150000"/>
              </a:lnSpc>
              <a:spcBef>
                <a:spcPts val="0"/>
              </a:spcBef>
              <a:defRPr/>
            </a:pPr>
            <a:endParaRPr lang="en-US" altLang="zh-CN" sz="2400" b="1" dirty="0">
              <a:latin typeface="Times New Roman" panose="02020603050405020304" pitchFamily="18" charset="0"/>
              <a:cs typeface="Times New Roman" panose="02020603050405020304" pitchFamily="18" charset="0"/>
            </a:endParaRPr>
          </a:p>
          <a:p>
            <a:pPr marL="361800">
              <a:lnSpc>
                <a:spcPct val="150000"/>
              </a:lnSpc>
              <a:spcBef>
                <a:spcPts val="0"/>
              </a:spcBef>
              <a:defRPr/>
            </a:pPr>
            <a:r>
              <a:rPr lang="zh-CN" altLang="en-US" sz="2400" b="1" dirty="0">
                <a:latin typeface="Times New Roman" panose="02020603050405020304" pitchFamily="18" charset="0"/>
                <a:cs typeface="Times New Roman" panose="02020603050405020304" pitchFamily="18" charset="0"/>
              </a:rPr>
              <a:t>若加速比用</a:t>
            </a:r>
            <a:r>
              <a:rPr lang="en-US" altLang="zh-CN" sz="2400" b="1" i="1" dirty="0">
                <a:latin typeface="Times New Roman" panose="02020603050405020304" pitchFamily="18" charset="0"/>
                <a:cs typeface="Times New Roman" panose="02020603050405020304" pitchFamily="18" charset="0"/>
              </a:rPr>
              <a:t>S</a:t>
            </a:r>
            <a:r>
              <a:rPr lang="en-US" altLang="zh-CN" sz="2400" b="1" baseline="-25000" dirty="0">
                <a:latin typeface="Times New Roman" panose="02020603050405020304" pitchFamily="18" charset="0"/>
                <a:cs typeface="Times New Roman" panose="02020603050405020304" pitchFamily="18" charset="0"/>
              </a:rPr>
              <a:t>p</a:t>
            </a:r>
            <a:r>
              <a:rPr lang="zh-CN" altLang="en-US" sz="2400" b="1" dirty="0">
                <a:latin typeface="Times New Roman" panose="02020603050405020304" pitchFamily="18" charset="0"/>
                <a:cs typeface="Times New Roman" panose="02020603050405020304" pitchFamily="18" charset="0"/>
              </a:rPr>
              <a:t>表示，则有</a:t>
            </a:r>
          </a:p>
          <a:p>
            <a:pPr indent="-324000">
              <a:lnSpc>
                <a:spcPct val="150000"/>
              </a:lnSpc>
              <a:spcBef>
                <a:spcPts val="0"/>
              </a:spcBef>
              <a:buFont typeface="Wingdings" pitchFamily="2" charset="2"/>
              <a:buNone/>
              <a:defRPr/>
            </a:pPr>
            <a:r>
              <a:rPr lang="en-US" altLang="zh-CN" sz="2400" b="1" dirty="0">
                <a:latin typeface="Times New Roman" panose="02020603050405020304" pitchFamily="18" charset="0"/>
                <a:cs typeface="Times New Roman" panose="02020603050405020304" pitchFamily="18" charset="0"/>
              </a:rPr>
              <a:t> </a:t>
            </a:r>
          </a:p>
          <a:p>
            <a:pPr lvl="1" indent="-324000">
              <a:lnSpc>
                <a:spcPct val="150000"/>
              </a:lnSpc>
              <a:spcBef>
                <a:spcPts val="0"/>
              </a:spcBef>
              <a:defRPr/>
            </a:pPr>
            <a:r>
              <a:rPr lang="zh-CN" altLang="en-US" sz="2000" b="1" dirty="0">
                <a:latin typeface="Times New Roman" panose="02020603050405020304" pitchFamily="18" charset="0"/>
                <a:cs typeface="Times New Roman" panose="02020603050405020304" pitchFamily="18" charset="0"/>
              </a:rPr>
              <a:t>当</a:t>
            </a:r>
            <a:r>
              <a:rPr lang="en-US" altLang="zh-CN" sz="2000" b="1" dirty="0">
                <a:latin typeface="Times New Roman" panose="02020603050405020304" pitchFamily="18" charset="0"/>
                <a:cs typeface="Times New Roman" panose="02020603050405020304" pitchFamily="18" charset="0"/>
              </a:rPr>
              <a:t>(1-</a:t>
            </a:r>
            <a:r>
              <a:rPr lang="en-US" altLang="zh-CN" sz="2000" b="1" i="1" dirty="0">
                <a:latin typeface="Times New Roman" panose="02020603050405020304" pitchFamily="18" charset="0"/>
                <a:cs typeface="Times New Roman" panose="02020603050405020304" pitchFamily="18" charset="0"/>
              </a:rPr>
              <a:t>f</a:t>
            </a:r>
            <a:r>
              <a:rPr lang="en-US" altLang="zh-CN" sz="2000" b="1" baseline="-25000" dirty="0">
                <a:latin typeface="Times New Roman" panose="02020603050405020304" pitchFamily="18" charset="0"/>
                <a:cs typeface="Times New Roman" panose="02020603050405020304" pitchFamily="18" charset="0"/>
              </a:rPr>
              <a:t>e</a:t>
            </a:r>
            <a:r>
              <a:rPr lang="en-US" altLang="zh-CN" sz="2000" b="1" dirty="0">
                <a:latin typeface="Times New Roman" panose="02020603050405020304" pitchFamily="18" charset="0"/>
                <a:cs typeface="Times New Roman" panose="02020603050405020304" pitchFamily="18" charset="0"/>
              </a:rPr>
              <a:t>)=0</a:t>
            </a:r>
            <a:r>
              <a:rPr lang="zh-CN" altLang="en-US" sz="2000" b="1" dirty="0">
                <a:latin typeface="Times New Roman" panose="02020603050405020304" pitchFamily="18" charset="0"/>
                <a:cs typeface="Times New Roman" panose="02020603050405020304" pitchFamily="18" charset="0"/>
              </a:rPr>
              <a:t>时，</a:t>
            </a:r>
            <a:r>
              <a:rPr lang="en-US" altLang="zh-CN" sz="2000" b="1" dirty="0">
                <a:latin typeface="Times New Roman" panose="02020603050405020304" pitchFamily="18" charset="0"/>
                <a:cs typeface="Times New Roman" panose="02020603050405020304" pitchFamily="18" charset="0"/>
              </a:rPr>
              <a:t>Max </a:t>
            </a:r>
            <a:r>
              <a:rPr lang="en-US" altLang="zh-CN" sz="2000" b="1" i="1" dirty="0" err="1">
                <a:latin typeface="Times New Roman" panose="02020603050405020304" pitchFamily="18" charset="0"/>
                <a:cs typeface="Times New Roman" panose="02020603050405020304" pitchFamily="18" charset="0"/>
              </a:rPr>
              <a:t>S</a:t>
            </a:r>
            <a:r>
              <a:rPr lang="en-US" altLang="zh-CN" sz="2000" b="1" baseline="-25000" dirty="0" err="1">
                <a:latin typeface="Times New Roman" panose="02020603050405020304" pitchFamily="18" charset="0"/>
                <a:cs typeface="Times New Roman" panose="02020603050405020304" pitchFamily="18" charset="0"/>
              </a:rPr>
              <a:t>p</a:t>
            </a:r>
            <a:r>
              <a:rPr lang="en-US" altLang="zh-CN" sz="2000" b="1" dirty="0">
                <a:latin typeface="Times New Roman" panose="02020603050405020304" pitchFamily="18" charset="0"/>
                <a:cs typeface="Times New Roman" panose="02020603050405020304" pitchFamily="18" charset="0"/>
              </a:rPr>
              <a:t>= n</a:t>
            </a:r>
            <a:r>
              <a:rPr lang="zh-CN" altLang="en-US" sz="2000" b="1" dirty="0">
                <a:latin typeface="Times New Roman" panose="02020603050405020304" pitchFamily="18" charset="0"/>
                <a:cs typeface="Times New Roman" panose="02020603050405020304" pitchFamily="18" charset="0"/>
              </a:rPr>
              <a:t>；当</a:t>
            </a:r>
            <a:r>
              <a:rPr lang="en-US" altLang="zh-CN" sz="2000" b="1" dirty="0">
                <a:latin typeface="Times New Roman" panose="02020603050405020304" pitchFamily="18" charset="0"/>
                <a:cs typeface="Times New Roman" panose="02020603050405020304" pitchFamily="18" charset="0"/>
              </a:rPr>
              <a:t>(1-</a:t>
            </a:r>
            <a:r>
              <a:rPr lang="en-US" altLang="zh-CN" sz="2000" b="1" i="1" dirty="0">
                <a:latin typeface="Times New Roman" panose="02020603050405020304" pitchFamily="18" charset="0"/>
                <a:cs typeface="Times New Roman" panose="02020603050405020304" pitchFamily="18" charset="0"/>
              </a:rPr>
              <a:t>f</a:t>
            </a:r>
            <a:r>
              <a:rPr lang="en-US" altLang="zh-CN" sz="2000" b="1" baseline="-25000" dirty="0">
                <a:latin typeface="Times New Roman" panose="02020603050405020304" pitchFamily="18" charset="0"/>
                <a:cs typeface="Times New Roman" panose="02020603050405020304" pitchFamily="18" charset="0"/>
              </a:rPr>
              <a:t>e</a:t>
            </a: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时，</a:t>
            </a:r>
            <a:r>
              <a:rPr lang="en-US" altLang="zh-CN" sz="2000" b="1" dirty="0">
                <a:latin typeface="Times New Roman" panose="02020603050405020304" pitchFamily="18" charset="0"/>
                <a:cs typeface="Times New Roman" panose="02020603050405020304" pitchFamily="18" charset="0"/>
              </a:rPr>
              <a:t>Min </a:t>
            </a:r>
            <a:r>
              <a:rPr lang="en-US" altLang="zh-CN" sz="2000" b="1" i="1" dirty="0" err="1">
                <a:latin typeface="Times New Roman" panose="02020603050405020304" pitchFamily="18" charset="0"/>
                <a:cs typeface="Times New Roman" panose="02020603050405020304" pitchFamily="18" charset="0"/>
              </a:rPr>
              <a:t>S</a:t>
            </a:r>
            <a:r>
              <a:rPr lang="en-US" altLang="zh-CN" sz="2000" b="1" baseline="-25000" dirty="0" err="1">
                <a:latin typeface="Times New Roman" panose="02020603050405020304" pitchFamily="18" charset="0"/>
                <a:cs typeface="Times New Roman" panose="02020603050405020304" pitchFamily="18" charset="0"/>
              </a:rPr>
              <a:t>p</a:t>
            </a: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lvl="1" indent="-324000">
              <a:lnSpc>
                <a:spcPct val="150000"/>
              </a:lnSpc>
              <a:spcBef>
                <a:spcPts val="0"/>
              </a:spcBef>
              <a:defRPr/>
            </a:pPr>
            <a:r>
              <a:rPr lang="zh-CN" altLang="en-US" sz="2000" b="1" dirty="0">
                <a:latin typeface="Times New Roman" panose="02020603050405020304" pitchFamily="18" charset="0"/>
                <a:cs typeface="Times New Roman" panose="02020603050405020304" pitchFamily="18" charset="0"/>
              </a:rPr>
              <a:t>当</a:t>
            </a:r>
            <a:r>
              <a:rPr lang="en-US" altLang="zh-CN" sz="2000" b="1" dirty="0">
                <a:latin typeface="Times New Roman" panose="02020603050405020304" pitchFamily="18" charset="0"/>
                <a:cs typeface="Times New Roman" panose="02020603050405020304" pitchFamily="18" charset="0"/>
              </a:rPr>
              <a:t>n→∞</a:t>
            </a:r>
            <a:r>
              <a:rPr lang="zh-CN" altLang="en-US" sz="2000" b="1" dirty="0">
                <a:latin typeface="Times New Roman" panose="02020603050405020304" pitchFamily="18" charset="0"/>
                <a:cs typeface="Times New Roman" panose="02020603050405020304" pitchFamily="18" charset="0"/>
              </a:rPr>
              <a:t>时，</a:t>
            </a:r>
            <a:r>
              <a:rPr lang="en-US" altLang="zh-CN" sz="2000" b="1" dirty="0" err="1">
                <a:latin typeface="Times New Roman" panose="02020603050405020304" pitchFamily="18" charset="0"/>
                <a:cs typeface="Times New Roman" panose="02020603050405020304" pitchFamily="18" charset="0"/>
              </a:rPr>
              <a:t>lim</a:t>
            </a:r>
            <a:r>
              <a:rPr lang="en-US" altLang="zh-CN" sz="2000" b="1" dirty="0">
                <a:latin typeface="Times New Roman" panose="02020603050405020304" pitchFamily="18" charset="0"/>
                <a:cs typeface="Times New Roman" panose="02020603050405020304" pitchFamily="18" charset="0"/>
              </a:rPr>
              <a:t> </a:t>
            </a:r>
            <a:r>
              <a:rPr lang="en-US" altLang="zh-CN" sz="2000" b="1" i="1" dirty="0" err="1">
                <a:latin typeface="Times New Roman" panose="02020603050405020304" pitchFamily="18" charset="0"/>
                <a:cs typeface="Times New Roman" panose="02020603050405020304" pitchFamily="18" charset="0"/>
              </a:rPr>
              <a:t>S</a:t>
            </a:r>
            <a:r>
              <a:rPr lang="en-US" altLang="zh-CN" sz="2000" b="1" baseline="-25000" dirty="0" err="1">
                <a:latin typeface="Times New Roman" panose="02020603050405020304" pitchFamily="18" charset="0"/>
                <a:cs typeface="Times New Roman" panose="02020603050405020304" pitchFamily="18" charset="0"/>
              </a:rPr>
              <a:t>p</a:t>
            </a:r>
            <a:r>
              <a:rPr lang="en-US" altLang="zh-CN" sz="2000" b="1" dirty="0">
                <a:latin typeface="Times New Roman" panose="02020603050405020304" pitchFamily="18" charset="0"/>
                <a:cs typeface="Times New Roman" panose="02020603050405020304" pitchFamily="18" charset="0"/>
              </a:rPr>
              <a:t>→ 1/(1-</a:t>
            </a:r>
            <a:r>
              <a:rPr lang="en-US" altLang="zh-CN" sz="2000" b="1" i="1" dirty="0">
                <a:latin typeface="Times New Roman" panose="02020603050405020304" pitchFamily="18" charset="0"/>
                <a:cs typeface="Times New Roman" panose="02020603050405020304" pitchFamily="18" charset="0"/>
              </a:rPr>
              <a:t>f</a:t>
            </a:r>
            <a:r>
              <a:rPr lang="en-US" altLang="zh-CN" sz="2000" b="1" baseline="-25000" dirty="0">
                <a:latin typeface="Times New Roman" panose="02020603050405020304" pitchFamily="18" charset="0"/>
                <a:cs typeface="Times New Roman" panose="02020603050405020304" pitchFamily="18" charset="0"/>
              </a:rPr>
              <a:t>e</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，这也是</a:t>
            </a:r>
            <a:r>
              <a:rPr lang="zh-CN" altLang="en-US" sz="2000" b="1" dirty="0">
                <a:solidFill>
                  <a:srgbClr val="FF0000"/>
                </a:solidFill>
                <a:latin typeface="Times New Roman" panose="02020603050405020304" pitchFamily="18" charset="0"/>
                <a:cs typeface="Times New Roman" panose="02020603050405020304" pitchFamily="18" charset="0"/>
              </a:rPr>
              <a:t>加速比上限</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lvl="1" indent="-324000">
              <a:lnSpc>
                <a:spcPct val="150000"/>
              </a:lnSpc>
              <a:spcBef>
                <a:spcPts val="0"/>
              </a:spcBef>
              <a:buFont typeface="Wingdings" pitchFamily="2" charset="2"/>
              <a:buNone/>
              <a:defRPr/>
            </a:pPr>
            <a:r>
              <a:rPr lang="en-US" altLang="zh-CN" sz="2000" b="1" baseline="-25000"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若串行代码占整个代码的</a:t>
            </a:r>
            <a:r>
              <a:rPr lang="en-US" altLang="zh-CN" sz="2000" b="1" dirty="0">
                <a:latin typeface="Times New Roman" panose="02020603050405020304" pitchFamily="18" charset="0"/>
                <a:cs typeface="Times New Roman" panose="02020603050405020304" pitchFamily="18" charset="0"/>
              </a:rPr>
              <a:t>20</a:t>
            </a:r>
            <a:r>
              <a:rPr lang="zh-CN" altLang="en-US" sz="2000" b="1" dirty="0">
                <a:latin typeface="Times New Roman" panose="02020603050405020304" pitchFamily="18" charset="0"/>
                <a:cs typeface="Times New Roman" panose="02020603050405020304" pitchFamily="18" charset="0"/>
              </a:rPr>
              <a:t>％，则并行处理的总体性能提高不可能超过</a:t>
            </a:r>
            <a:r>
              <a:rPr lang="en-US" altLang="zh-CN" sz="2000" b="1" dirty="0">
                <a:latin typeface="Times New Roman" panose="02020603050405020304" pitchFamily="18" charset="0"/>
                <a:cs typeface="Times New Roman" panose="02020603050405020304" pitchFamily="18" charset="0"/>
              </a:rPr>
              <a:t>5</a:t>
            </a:r>
            <a:r>
              <a:rPr lang="zh-CN" altLang="en-US" sz="2000" b="1" dirty="0">
                <a:latin typeface="Times New Roman" panose="02020603050405020304" pitchFamily="18" charset="0"/>
                <a:cs typeface="Times New Roman" panose="02020603050405020304" pitchFamily="18" charset="0"/>
              </a:rPr>
              <a:t>倍。</a:t>
            </a:r>
          </a:p>
          <a:p>
            <a:pPr marL="361800">
              <a:lnSpc>
                <a:spcPct val="150000"/>
              </a:lnSpc>
              <a:spcBef>
                <a:spcPts val="0"/>
              </a:spcBef>
              <a:defRPr/>
            </a:pPr>
            <a:r>
              <a:rPr lang="zh-CN" altLang="en-US" sz="2400" b="1" dirty="0">
                <a:latin typeface="Times New Roman" panose="02020603050405020304" pitchFamily="18" charset="0"/>
                <a:cs typeface="Times New Roman" panose="02020603050405020304" pitchFamily="18" charset="0"/>
              </a:rPr>
              <a:t>多个部件可同时改进的情况下，</a:t>
            </a:r>
            <a:r>
              <a:rPr lang="en-US" altLang="zh-CN" sz="2400" b="1" dirty="0">
                <a:latin typeface="Times New Roman" panose="02020603050405020304" pitchFamily="18" charset="0"/>
                <a:cs typeface="Times New Roman" panose="02020603050405020304" pitchFamily="18" charset="0"/>
              </a:rPr>
              <a:t>Amdahl</a:t>
            </a:r>
            <a:r>
              <a:rPr lang="zh-CN" altLang="en-US" sz="2400" b="1" dirty="0">
                <a:latin typeface="Times New Roman" panose="02020603050405020304" pitchFamily="18" charset="0"/>
                <a:cs typeface="Times New Roman" panose="02020603050405020304" pitchFamily="18" charset="0"/>
              </a:rPr>
              <a:t>定律可表示为</a:t>
            </a:r>
          </a:p>
        </p:txBody>
      </p:sp>
      <p:graphicFrame>
        <p:nvGraphicFramePr>
          <p:cNvPr id="97284" name="Object 12"/>
          <p:cNvGraphicFramePr>
            <a:graphicFrameLocks noChangeAspect="1"/>
          </p:cNvGraphicFramePr>
          <p:nvPr>
            <p:extLst>
              <p:ext uri="{D42A27DB-BD31-4B8C-83A1-F6EECF244321}">
                <p14:modId xmlns:p14="http://schemas.microsoft.com/office/powerpoint/2010/main" val="1449069619"/>
              </p:ext>
            </p:extLst>
          </p:nvPr>
        </p:nvGraphicFramePr>
        <p:xfrm>
          <a:off x="3909640" y="1442349"/>
          <a:ext cx="2102468" cy="1052258"/>
        </p:xfrm>
        <a:graphic>
          <a:graphicData uri="http://schemas.openxmlformats.org/presentationml/2006/ole">
            <mc:AlternateContent xmlns:mc="http://schemas.openxmlformats.org/markup-compatibility/2006">
              <mc:Choice xmlns:v="urn:schemas-microsoft-com:vml" Requires="v">
                <p:oleObj name="Equation" r:id="rId4" imgW="1282680" imgH="482400" progId="Equation.DSMT4">
                  <p:embed/>
                </p:oleObj>
              </mc:Choice>
              <mc:Fallback>
                <p:oleObj name="Equation" r:id="rId4" imgW="1282680" imgH="482400" progId="Equation.DSMT4">
                  <p:embed/>
                  <p:pic>
                    <p:nvPicPr>
                      <p:cNvPr id="97284" name="Object 12"/>
                      <p:cNvPicPr>
                        <a:picLocks noChangeAspect="1" noChangeArrowheads="1"/>
                      </p:cNvPicPr>
                      <p:nvPr/>
                    </p:nvPicPr>
                    <p:blipFill>
                      <a:blip r:embed="rId5"/>
                      <a:srcRect/>
                      <a:stretch>
                        <a:fillRect/>
                      </a:stretch>
                    </p:blipFill>
                    <p:spPr bwMode="auto">
                      <a:xfrm>
                        <a:off x="3909640" y="1442349"/>
                        <a:ext cx="2102468" cy="1052258"/>
                      </a:xfrm>
                      <a:prstGeom prst="rect">
                        <a:avLst/>
                      </a:prstGeom>
                      <a:noFill/>
                      <a:ln>
                        <a:noFill/>
                      </a:ln>
                    </p:spPr>
                  </p:pic>
                </p:oleObj>
              </mc:Fallback>
            </mc:AlternateContent>
          </a:graphicData>
        </a:graphic>
      </p:graphicFrame>
      <p:graphicFrame>
        <p:nvGraphicFramePr>
          <p:cNvPr id="97285" name="Object 13"/>
          <p:cNvGraphicFramePr>
            <a:graphicFrameLocks noChangeAspect="1"/>
          </p:cNvGraphicFramePr>
          <p:nvPr>
            <p:extLst>
              <p:ext uri="{D42A27DB-BD31-4B8C-83A1-F6EECF244321}">
                <p14:modId xmlns:p14="http://schemas.microsoft.com/office/powerpoint/2010/main" val="526109297"/>
              </p:ext>
            </p:extLst>
          </p:nvPr>
        </p:nvGraphicFramePr>
        <p:xfrm>
          <a:off x="3909640" y="2511984"/>
          <a:ext cx="2102468" cy="1231476"/>
        </p:xfrm>
        <a:graphic>
          <a:graphicData uri="http://schemas.openxmlformats.org/presentationml/2006/ole">
            <mc:AlternateContent xmlns:mc="http://schemas.openxmlformats.org/markup-compatibility/2006">
              <mc:Choice xmlns:v="urn:schemas-microsoft-com:vml" Requires="v">
                <p:oleObj name="Equation" r:id="rId6" imgW="1054080" imgH="622080" progId="Equation.DSMT4">
                  <p:embed/>
                </p:oleObj>
              </mc:Choice>
              <mc:Fallback>
                <p:oleObj name="Equation" r:id="rId6" imgW="1054080" imgH="622080" progId="Equation.DSMT4">
                  <p:embed/>
                  <p:pic>
                    <p:nvPicPr>
                      <p:cNvPr id="97285" name="Object 13"/>
                      <p:cNvPicPr>
                        <a:picLocks noChangeAspect="1" noChangeArrowheads="1"/>
                      </p:cNvPicPr>
                      <p:nvPr/>
                    </p:nvPicPr>
                    <p:blipFill>
                      <a:blip r:embed="rId7"/>
                      <a:srcRect/>
                      <a:stretch>
                        <a:fillRect/>
                      </a:stretch>
                    </p:blipFill>
                    <p:spPr bwMode="auto">
                      <a:xfrm>
                        <a:off x="3909640" y="2511984"/>
                        <a:ext cx="2102468" cy="1231476"/>
                      </a:xfrm>
                      <a:prstGeom prst="rect">
                        <a:avLst/>
                      </a:prstGeom>
                      <a:solidFill>
                        <a:schemeClr val="bg1"/>
                      </a:solidFill>
                      <a:ln>
                        <a:noFill/>
                      </a:ln>
                    </p:spPr>
                  </p:pic>
                </p:oleObj>
              </mc:Fallback>
            </mc:AlternateContent>
          </a:graphicData>
        </a:graphic>
      </p:graphicFrame>
      <p:graphicFrame>
        <p:nvGraphicFramePr>
          <p:cNvPr id="97286" name="Object 7"/>
          <p:cNvGraphicFramePr>
            <a:graphicFrameLocks noChangeAspect="1"/>
          </p:cNvGraphicFramePr>
          <p:nvPr>
            <p:extLst>
              <p:ext uri="{D42A27DB-BD31-4B8C-83A1-F6EECF244321}">
                <p14:modId xmlns:p14="http://schemas.microsoft.com/office/powerpoint/2010/main" val="3062318073"/>
              </p:ext>
            </p:extLst>
          </p:nvPr>
        </p:nvGraphicFramePr>
        <p:xfrm>
          <a:off x="3701490" y="5489523"/>
          <a:ext cx="2518767" cy="1328738"/>
        </p:xfrm>
        <a:graphic>
          <a:graphicData uri="http://schemas.openxmlformats.org/presentationml/2006/ole">
            <mc:AlternateContent xmlns:mc="http://schemas.openxmlformats.org/markup-compatibility/2006">
              <mc:Choice xmlns:v="urn:schemas-microsoft-com:vml" Requires="v">
                <p:oleObj name="Equation" r:id="rId8" imgW="1625400" imgH="672840" progId="Equation.DSMT4">
                  <p:embed/>
                </p:oleObj>
              </mc:Choice>
              <mc:Fallback>
                <p:oleObj name="Equation" r:id="rId8" imgW="1625400" imgH="672840" progId="Equation.DSMT4">
                  <p:embed/>
                  <p:pic>
                    <p:nvPicPr>
                      <p:cNvPr id="97286" name="Object 7"/>
                      <p:cNvPicPr>
                        <a:picLocks noChangeAspect="1" noChangeArrowheads="1"/>
                      </p:cNvPicPr>
                      <p:nvPr/>
                    </p:nvPicPr>
                    <p:blipFill>
                      <a:blip r:embed="rId9"/>
                      <a:srcRect/>
                      <a:stretch>
                        <a:fillRect/>
                      </a:stretch>
                    </p:blipFill>
                    <p:spPr bwMode="auto">
                      <a:xfrm>
                        <a:off x="3701490" y="5489523"/>
                        <a:ext cx="2518767" cy="1328738"/>
                      </a:xfrm>
                      <a:prstGeom prst="rect">
                        <a:avLst/>
                      </a:prstGeom>
                      <a:noFill/>
                      <a:ln>
                        <a:noFill/>
                      </a:ln>
                    </p:spPr>
                  </p:pic>
                </p:oleObj>
              </mc:Fallback>
            </mc:AlternateContent>
          </a:graphicData>
        </a:graphic>
      </p:graphicFrame>
      <p:sp>
        <p:nvSpPr>
          <p:cNvPr id="2" name="Rectangle 2">
            <a:extLst>
              <a:ext uri="{FF2B5EF4-FFF2-40B4-BE49-F238E27FC236}">
                <a16:creationId xmlns:a16="http://schemas.microsoft.com/office/drawing/2014/main" id="{4A09CB98-4B9D-8C7E-EA28-3AB2E54C470B}"/>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Tree>
    <p:extLst>
      <p:ext uri="{BB962C8B-B14F-4D97-AF65-F5344CB8AC3E}">
        <p14:creationId xmlns:p14="http://schemas.microsoft.com/office/powerpoint/2010/main" val="357271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animEffect transition="in" filter="randombar(horizontal)">
                                      <p:cBhvr>
                                        <p:cTn id="7" dur="500"/>
                                        <p:tgtEl>
                                          <p:spTgt spid="92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7284"/>
                                        </p:tgtEl>
                                        <p:attrNameLst>
                                          <p:attrName>style.visibility</p:attrName>
                                        </p:attrNameLst>
                                      </p:cBhvr>
                                      <p:to>
                                        <p:strVal val="visible"/>
                                      </p:to>
                                    </p:set>
                                    <p:animEffect transition="in" filter="randombar(horizontal)">
                                      <p:cBhvr>
                                        <p:cTn id="12" dur="500"/>
                                        <p:tgtEl>
                                          <p:spTgt spid="9728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220">
                                            <p:txEl>
                                              <p:pRg st="3" end="3"/>
                                            </p:txEl>
                                          </p:spTgt>
                                        </p:tgtEl>
                                        <p:attrNameLst>
                                          <p:attrName>style.visibility</p:attrName>
                                        </p:attrNameLst>
                                      </p:cBhvr>
                                      <p:to>
                                        <p:strVal val="visible"/>
                                      </p:to>
                                    </p:set>
                                    <p:animEffect transition="in" filter="randombar(horizontal)">
                                      <p:cBhvr>
                                        <p:cTn id="17" dur="500"/>
                                        <p:tgtEl>
                                          <p:spTgt spid="9220">
                                            <p:txEl>
                                              <p:pRg st="3" end="3"/>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97285"/>
                                        </p:tgtEl>
                                        <p:attrNameLst>
                                          <p:attrName>style.visibility</p:attrName>
                                        </p:attrNameLst>
                                      </p:cBhvr>
                                      <p:to>
                                        <p:strVal val="visible"/>
                                      </p:to>
                                    </p:set>
                                    <p:animEffect transition="in" filter="randombar(horizontal)">
                                      <p:cBhvr>
                                        <p:cTn id="20" dur="500"/>
                                        <p:tgtEl>
                                          <p:spTgt spid="97285"/>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9220">
                                            <p:txEl>
                                              <p:pRg st="5" end="5"/>
                                            </p:txEl>
                                          </p:spTgt>
                                        </p:tgtEl>
                                        <p:attrNameLst>
                                          <p:attrName>style.visibility</p:attrName>
                                        </p:attrNameLst>
                                      </p:cBhvr>
                                      <p:to>
                                        <p:strVal val="visible"/>
                                      </p:to>
                                    </p:set>
                                    <p:animEffect transition="in" filter="randombar(horizontal)">
                                      <p:cBhvr>
                                        <p:cTn id="23" dur="500"/>
                                        <p:tgtEl>
                                          <p:spTgt spid="9220">
                                            <p:txEl>
                                              <p:pRg st="5" end="5"/>
                                            </p:txEl>
                                          </p:spTgt>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9220">
                                            <p:txEl>
                                              <p:pRg st="6" end="6"/>
                                            </p:txEl>
                                          </p:spTgt>
                                        </p:tgtEl>
                                        <p:attrNameLst>
                                          <p:attrName>style.visibility</p:attrName>
                                        </p:attrNameLst>
                                      </p:cBhvr>
                                      <p:to>
                                        <p:strVal val="visible"/>
                                      </p:to>
                                    </p:set>
                                    <p:animEffect transition="in" filter="randombar(horizontal)">
                                      <p:cBhvr>
                                        <p:cTn id="26" dur="500"/>
                                        <p:tgtEl>
                                          <p:spTgt spid="9220">
                                            <p:txEl>
                                              <p:pRg st="6" end="6"/>
                                            </p:txEl>
                                          </p:spTgt>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9220">
                                            <p:txEl>
                                              <p:pRg st="7" end="7"/>
                                            </p:txEl>
                                          </p:spTgt>
                                        </p:tgtEl>
                                        <p:attrNameLst>
                                          <p:attrName>style.visibility</p:attrName>
                                        </p:attrNameLst>
                                      </p:cBhvr>
                                      <p:to>
                                        <p:strVal val="visible"/>
                                      </p:to>
                                    </p:set>
                                    <p:animEffect transition="in" filter="randombar(horizontal)">
                                      <p:cBhvr>
                                        <p:cTn id="29" dur="500"/>
                                        <p:tgtEl>
                                          <p:spTgt spid="9220">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9220">
                                            <p:txEl>
                                              <p:pRg st="8" end="8"/>
                                            </p:txEl>
                                          </p:spTgt>
                                        </p:tgtEl>
                                        <p:attrNameLst>
                                          <p:attrName>style.visibility</p:attrName>
                                        </p:attrNameLst>
                                      </p:cBhvr>
                                      <p:to>
                                        <p:strVal val="visible"/>
                                      </p:to>
                                    </p:set>
                                    <p:animEffect transition="in" filter="randombar(horizontal)">
                                      <p:cBhvr>
                                        <p:cTn id="34" dur="500"/>
                                        <p:tgtEl>
                                          <p:spTgt spid="9220">
                                            <p:txEl>
                                              <p:pRg st="8" end="8"/>
                                            </p:txEl>
                                          </p:spTgt>
                                        </p:tgtEl>
                                      </p:cBhvr>
                                    </p:animEffect>
                                  </p:childTnLst>
                                </p:cTn>
                              </p:par>
                              <p:par>
                                <p:cTn id="35" presetID="14" presetClass="entr" presetSubtype="10" fill="hold" nodeType="withEffect">
                                  <p:stCondLst>
                                    <p:cond delay="0"/>
                                  </p:stCondLst>
                                  <p:childTnLst>
                                    <p:set>
                                      <p:cBhvr>
                                        <p:cTn id="36" dur="1" fill="hold">
                                          <p:stCondLst>
                                            <p:cond delay="0"/>
                                          </p:stCondLst>
                                        </p:cTn>
                                        <p:tgtEl>
                                          <p:spTgt spid="97286"/>
                                        </p:tgtEl>
                                        <p:attrNameLst>
                                          <p:attrName>style.visibility</p:attrName>
                                        </p:attrNameLst>
                                      </p:cBhvr>
                                      <p:to>
                                        <p:strVal val="visible"/>
                                      </p:to>
                                    </p:set>
                                    <p:animEffect transition="in" filter="randombar(horizontal)">
                                      <p:cBhvr>
                                        <p:cTn id="37" dur="500"/>
                                        <p:tgtEl>
                                          <p:spTgt spid="97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E41834B-EA25-41A4-8042-6AC8A6211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220" name="Rectangle 3"/>
          <p:cNvSpPr>
            <a:spLocks noGrp="1" noChangeArrowheads="1"/>
          </p:cNvSpPr>
          <p:nvPr>
            <p:ph idx="1"/>
          </p:nvPr>
        </p:nvSpPr>
        <p:spPr>
          <a:xfrm>
            <a:off x="35496" y="790506"/>
            <a:ext cx="9108504" cy="1933192"/>
          </a:xfrm>
        </p:spPr>
        <p:txBody>
          <a:bodyPr/>
          <a:lstStyle/>
          <a:p>
            <a:pPr marL="0" indent="0">
              <a:lnSpc>
                <a:spcPct val="150000"/>
              </a:lnSpc>
              <a:spcBef>
                <a:spcPts val="1200"/>
              </a:spcBef>
              <a:buFont typeface="Wingdings" pitchFamily="2" charset="2"/>
              <a:buNone/>
              <a:defRPr/>
            </a:pPr>
            <a:r>
              <a:rPr lang="zh-CN" altLang="en-US" sz="2000" b="1" dirty="0">
                <a:latin typeface="Times New Roman" panose="02020603050405020304" pitchFamily="18" charset="0"/>
                <a:cs typeface="Times New Roman" panose="02020603050405020304" pitchFamily="18" charset="0"/>
              </a:rPr>
              <a:t>例</a:t>
            </a:r>
            <a:r>
              <a:rPr lang="en-US" altLang="zh-CN" sz="2000" b="1" dirty="0">
                <a:latin typeface="Times New Roman" panose="02020603050405020304" pitchFamily="18" charset="0"/>
                <a:cs typeface="Times New Roman" panose="02020603050405020304" pitchFamily="18" charset="0"/>
              </a:rPr>
              <a:t>3</a:t>
            </a:r>
            <a:r>
              <a:rPr lang="zh-CN" altLang="en-US" sz="2000" b="1" dirty="0">
                <a:latin typeface="Times New Roman" panose="02020603050405020304" pitchFamily="18" charset="0"/>
                <a:cs typeface="Times New Roman" panose="02020603050405020304" pitchFamily="18" charset="0"/>
              </a:rPr>
              <a:t>：某计算机系统的某一部件的处理时间为总处理时间的</a:t>
            </a:r>
            <a:r>
              <a:rPr lang="en-US" altLang="zh-CN" sz="2000" b="1" dirty="0">
                <a:latin typeface="Times New Roman" panose="02020603050405020304" pitchFamily="18" charset="0"/>
                <a:cs typeface="Times New Roman" panose="02020603050405020304" pitchFamily="18" charset="0"/>
              </a:rPr>
              <a:t>40</a:t>
            </a:r>
            <a:r>
              <a:rPr lang="zh-CN" altLang="en-US" sz="2000" b="1" dirty="0">
                <a:latin typeface="Times New Roman" panose="02020603050405020304" pitchFamily="18" charset="0"/>
                <a:cs typeface="Times New Roman" panose="02020603050405020304" pitchFamily="18" charset="0"/>
              </a:rPr>
              <a:t>％，该部件改进后的部件加速比为</a:t>
            </a:r>
            <a:r>
              <a:rPr lang="en-US" altLang="zh-CN" sz="2000" b="1" dirty="0">
                <a:latin typeface="Times New Roman" panose="02020603050405020304" pitchFamily="18" charset="0"/>
                <a:cs typeface="Times New Roman" panose="02020603050405020304" pitchFamily="18" charset="0"/>
              </a:rPr>
              <a:t>10</a:t>
            </a:r>
            <a:r>
              <a:rPr lang="zh-CN" altLang="en-US" sz="2000" b="1" dirty="0">
                <a:latin typeface="Times New Roman" panose="02020603050405020304" pitchFamily="18" charset="0"/>
                <a:cs typeface="Times New Roman" panose="02020603050405020304" pitchFamily="18" charset="0"/>
              </a:rPr>
              <a:t>，则改进后系统的加速比</a:t>
            </a:r>
            <a:r>
              <a:rPr lang="en-US" altLang="zh-CN" sz="2000" b="1" i="1" dirty="0">
                <a:latin typeface="Times New Roman" panose="02020603050405020304" pitchFamily="18" charset="0"/>
                <a:cs typeface="Times New Roman" panose="02020603050405020304" pitchFamily="18" charset="0"/>
              </a:rPr>
              <a:t>S</a:t>
            </a:r>
            <a:r>
              <a:rPr lang="en-US" altLang="zh-CN" sz="2000" b="1" baseline="-25000" dirty="0">
                <a:latin typeface="Times New Roman" panose="02020603050405020304" pitchFamily="18" charset="0"/>
                <a:cs typeface="Times New Roman" panose="02020603050405020304" pitchFamily="18" charset="0"/>
              </a:rPr>
              <a:t>p</a:t>
            </a:r>
            <a:r>
              <a:rPr lang="zh-CN" altLang="en-US" sz="2000" b="1" dirty="0">
                <a:latin typeface="Times New Roman" panose="02020603050405020304" pitchFamily="18" charset="0"/>
                <a:cs typeface="Times New Roman" panose="02020603050405020304" pitchFamily="18" charset="0"/>
              </a:rPr>
              <a:t>为多少？</a:t>
            </a:r>
          </a:p>
        </p:txBody>
      </p:sp>
      <p:sp>
        <p:nvSpPr>
          <p:cNvPr id="2" name="Rectangle 2">
            <a:extLst>
              <a:ext uri="{FF2B5EF4-FFF2-40B4-BE49-F238E27FC236}">
                <a16:creationId xmlns:a16="http://schemas.microsoft.com/office/drawing/2014/main" id="{3A3C2A6D-2835-BCFA-E3F6-A2CAE0CEA27B}"/>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j-cs"/>
              </a:rPr>
              <a:t>四、计算机性能指标和评价</a:t>
            </a:r>
          </a:p>
        </p:txBody>
      </p:sp>
      <p:sp>
        <p:nvSpPr>
          <p:cNvPr id="7" name="文本框 6">
            <a:extLst>
              <a:ext uri="{FF2B5EF4-FFF2-40B4-BE49-F238E27FC236}">
                <a16:creationId xmlns:a16="http://schemas.microsoft.com/office/drawing/2014/main" id="{F0C1C7F3-A299-4ED1-A9CC-783863948759}"/>
              </a:ext>
            </a:extLst>
          </p:cNvPr>
          <p:cNvSpPr txBox="1"/>
          <p:nvPr/>
        </p:nvSpPr>
        <p:spPr>
          <a:xfrm>
            <a:off x="107504" y="1679973"/>
            <a:ext cx="9001000" cy="1880579"/>
          </a:xfrm>
          <a:prstGeom prst="rect">
            <a:avLst/>
          </a:prstGeom>
          <a:noFill/>
        </p:spPr>
        <p:txBody>
          <a:bodyPr wrap="square">
            <a:spAutoFit/>
          </a:bodyPr>
          <a:lstStyle/>
          <a:p>
            <a:pPr indent="-324000">
              <a:lnSpc>
                <a:spcPct val="150000"/>
              </a:lnSpc>
              <a:spcBef>
                <a:spcPts val="0"/>
              </a:spcBef>
              <a:buFont typeface="Wingdings" pitchFamily="2" charset="2"/>
              <a:buNone/>
              <a:defRPr/>
            </a:pPr>
            <a:r>
              <a:rPr lang="zh-CN" altLang="en-US" sz="2000" b="1" dirty="0">
                <a:solidFill>
                  <a:srgbClr val="0000FF"/>
                </a:solidFill>
                <a:latin typeface="Times New Roman" panose="02020603050405020304" pitchFamily="18" charset="0"/>
                <a:cs typeface="Times New Roman" panose="02020603050405020304" pitchFamily="18" charset="0"/>
              </a:rPr>
              <a:t>解：由题意可知，</a:t>
            </a:r>
            <a:r>
              <a:rPr lang="en-US" altLang="zh-CN" sz="2000" b="1" i="1" dirty="0" err="1">
                <a:solidFill>
                  <a:srgbClr val="0000FF"/>
                </a:solidFill>
                <a:latin typeface="Times New Roman" panose="02020603050405020304" pitchFamily="18" charset="0"/>
                <a:cs typeface="Times New Roman" panose="02020603050405020304" pitchFamily="18" charset="0"/>
              </a:rPr>
              <a:t>f</a:t>
            </a:r>
            <a:r>
              <a:rPr lang="en-US" altLang="zh-CN" sz="2000" b="1" baseline="-25000" dirty="0" err="1">
                <a:solidFill>
                  <a:srgbClr val="0000FF"/>
                </a:solidFill>
                <a:latin typeface="Times New Roman" panose="02020603050405020304" pitchFamily="18" charset="0"/>
                <a:cs typeface="Times New Roman" panose="02020603050405020304" pitchFamily="18" charset="0"/>
              </a:rPr>
              <a:t>e</a:t>
            </a:r>
            <a:r>
              <a:rPr lang="zh-CN" altLang="en-US" sz="2000" b="1" dirty="0">
                <a:solidFill>
                  <a:srgbClr val="0000FF"/>
                </a:solidFill>
                <a:latin typeface="Times New Roman" panose="02020603050405020304" pitchFamily="18" charset="0"/>
                <a:cs typeface="Times New Roman" panose="02020603050405020304" pitchFamily="18" charset="0"/>
              </a:rPr>
              <a:t>＝</a:t>
            </a:r>
            <a:r>
              <a:rPr lang="en-US" altLang="zh-CN" sz="2000" b="1" dirty="0">
                <a:solidFill>
                  <a:srgbClr val="0000FF"/>
                </a:solidFill>
                <a:latin typeface="Times New Roman" panose="02020603050405020304" pitchFamily="18" charset="0"/>
                <a:cs typeface="Times New Roman" panose="02020603050405020304" pitchFamily="18" charset="0"/>
              </a:rPr>
              <a:t>0.4</a:t>
            </a:r>
            <a:r>
              <a:rPr lang="zh-CN" altLang="en-US" sz="2000" b="1" dirty="0">
                <a:solidFill>
                  <a:srgbClr val="0000FF"/>
                </a:solidFill>
                <a:latin typeface="Times New Roman" panose="02020603050405020304" pitchFamily="18" charset="0"/>
                <a:cs typeface="Times New Roman" panose="02020603050405020304" pitchFamily="18" charset="0"/>
              </a:rPr>
              <a:t>，</a:t>
            </a:r>
            <a:r>
              <a:rPr lang="en-US" altLang="zh-CN" sz="2000" b="1" i="1" dirty="0">
                <a:solidFill>
                  <a:srgbClr val="0000FF"/>
                </a:solidFill>
                <a:latin typeface="Times New Roman" panose="02020603050405020304" pitchFamily="18" charset="0"/>
                <a:cs typeface="Times New Roman" panose="02020603050405020304" pitchFamily="18" charset="0"/>
              </a:rPr>
              <a:t>r</a:t>
            </a:r>
            <a:r>
              <a:rPr lang="en-US" altLang="zh-CN" sz="2000" b="1" baseline="-25000" dirty="0">
                <a:solidFill>
                  <a:srgbClr val="0000FF"/>
                </a:solidFill>
                <a:latin typeface="Times New Roman" panose="02020603050405020304" pitchFamily="18" charset="0"/>
                <a:cs typeface="Times New Roman" panose="02020603050405020304" pitchFamily="18" charset="0"/>
              </a:rPr>
              <a:t>e</a:t>
            </a:r>
            <a:r>
              <a:rPr lang="zh-CN" altLang="en-US" sz="2000" b="1" dirty="0">
                <a:solidFill>
                  <a:srgbClr val="0000FF"/>
                </a:solidFill>
                <a:latin typeface="Times New Roman" panose="02020603050405020304" pitchFamily="18" charset="0"/>
                <a:cs typeface="Times New Roman" panose="02020603050405020304" pitchFamily="18" charset="0"/>
              </a:rPr>
              <a:t>＝</a:t>
            </a:r>
            <a:r>
              <a:rPr lang="en-US" altLang="zh-CN" sz="2000" b="1" dirty="0">
                <a:solidFill>
                  <a:srgbClr val="0000FF"/>
                </a:solidFill>
                <a:latin typeface="Times New Roman" panose="02020603050405020304" pitchFamily="18" charset="0"/>
                <a:cs typeface="Times New Roman" panose="02020603050405020304" pitchFamily="18" charset="0"/>
              </a:rPr>
              <a:t>10</a:t>
            </a:r>
            <a:r>
              <a:rPr lang="zh-CN" altLang="en-US" sz="2000" b="1" dirty="0">
                <a:solidFill>
                  <a:srgbClr val="0000FF"/>
                </a:solidFill>
                <a:latin typeface="Times New Roman" panose="02020603050405020304" pitchFamily="18" charset="0"/>
                <a:cs typeface="Times New Roman" panose="02020603050405020304" pitchFamily="18" charset="0"/>
              </a:rPr>
              <a:t>，则  </a:t>
            </a:r>
            <a:r>
              <a:rPr lang="en-US" altLang="zh-CN" sz="2000" b="1" i="1" dirty="0" err="1">
                <a:solidFill>
                  <a:srgbClr val="0000FF"/>
                </a:solidFill>
                <a:latin typeface="Times New Roman" panose="02020603050405020304" pitchFamily="18" charset="0"/>
                <a:cs typeface="Times New Roman" panose="02020603050405020304" pitchFamily="18" charset="0"/>
              </a:rPr>
              <a:t>S</a:t>
            </a:r>
            <a:r>
              <a:rPr lang="en-US" altLang="zh-CN" sz="2000" b="1" baseline="-25000" dirty="0" err="1">
                <a:solidFill>
                  <a:srgbClr val="0000FF"/>
                </a:solidFill>
                <a:latin typeface="Times New Roman" panose="02020603050405020304" pitchFamily="18" charset="0"/>
                <a:cs typeface="Times New Roman" panose="02020603050405020304" pitchFamily="18" charset="0"/>
              </a:rPr>
              <a:t>p</a:t>
            </a:r>
            <a:r>
              <a:rPr lang="zh-CN" altLang="en-US" sz="2000" b="1" dirty="0">
                <a:solidFill>
                  <a:srgbClr val="0000FF"/>
                </a:solidFill>
                <a:latin typeface="Times New Roman" panose="02020603050405020304" pitchFamily="18" charset="0"/>
                <a:cs typeface="Times New Roman" panose="02020603050405020304" pitchFamily="18" charset="0"/>
              </a:rPr>
              <a:t>＝</a:t>
            </a:r>
            <a:r>
              <a:rPr lang="en-US" altLang="zh-CN" sz="2000" b="1" dirty="0">
                <a:solidFill>
                  <a:srgbClr val="0000FF"/>
                </a:solidFill>
                <a:latin typeface="Times New Roman" panose="02020603050405020304" pitchFamily="18" charset="0"/>
                <a:cs typeface="Times New Roman" panose="02020603050405020304" pitchFamily="18" charset="0"/>
              </a:rPr>
              <a:t>1/[(1-0.4)+0.4/10]</a:t>
            </a:r>
            <a:r>
              <a:rPr lang="zh-CN" altLang="en-US" sz="2000" b="1" dirty="0">
                <a:solidFill>
                  <a:srgbClr val="0000FF"/>
                </a:solidFill>
                <a:latin typeface="Times New Roman" panose="02020603050405020304" pitchFamily="18" charset="0"/>
                <a:cs typeface="Times New Roman" panose="02020603050405020304" pitchFamily="18" charset="0"/>
              </a:rPr>
              <a:t>≈</a:t>
            </a:r>
            <a:r>
              <a:rPr lang="en-US" altLang="zh-CN" sz="2000" b="1" dirty="0">
                <a:solidFill>
                  <a:srgbClr val="0000FF"/>
                </a:solidFill>
                <a:latin typeface="Times New Roman" panose="02020603050405020304" pitchFamily="18" charset="0"/>
                <a:cs typeface="Times New Roman" panose="02020603050405020304" pitchFamily="18" charset="0"/>
              </a:rPr>
              <a:t>1.56</a:t>
            </a:r>
          </a:p>
          <a:p>
            <a:pPr indent="-324000">
              <a:lnSpc>
                <a:spcPct val="150000"/>
              </a:lnSpc>
              <a:spcBef>
                <a:spcPts val="0"/>
              </a:spcBef>
              <a:buFont typeface="Wingdings" pitchFamily="2" charset="2"/>
              <a:buNone/>
              <a:defRPr/>
            </a:pPr>
            <a:r>
              <a:rPr lang="zh-CN" altLang="en-US" sz="2000" b="1" dirty="0">
                <a:solidFill>
                  <a:srgbClr val="0000FF"/>
                </a:solidFill>
                <a:latin typeface="Times New Roman" panose="02020603050405020304" pitchFamily="18" charset="0"/>
                <a:cs typeface="Times New Roman" panose="02020603050405020304" pitchFamily="18" charset="0"/>
              </a:rPr>
              <a:t>由计算可见，既使某一部件改进后的加速比已达</a:t>
            </a:r>
            <a:r>
              <a:rPr lang="en-US" altLang="zh-CN" sz="2000" b="1" dirty="0">
                <a:solidFill>
                  <a:srgbClr val="0000FF"/>
                </a:solidFill>
                <a:latin typeface="Times New Roman" panose="02020603050405020304" pitchFamily="18" charset="0"/>
                <a:cs typeface="Times New Roman" panose="02020603050405020304" pitchFamily="18" charset="0"/>
              </a:rPr>
              <a:t>10</a:t>
            </a:r>
            <a:r>
              <a:rPr lang="zh-CN" altLang="en-US" sz="2000" b="1" dirty="0">
                <a:solidFill>
                  <a:srgbClr val="0000FF"/>
                </a:solidFill>
                <a:latin typeface="Times New Roman" panose="02020603050405020304" pitchFamily="18" charset="0"/>
                <a:cs typeface="Times New Roman" panose="02020603050405020304" pitchFamily="18" charset="0"/>
              </a:rPr>
              <a:t>倍，但该部件仅影响到系统执行时间的一部分，对整个计算机系统的贡献有限，所以，改进后系统的加速比只有</a:t>
            </a:r>
            <a:r>
              <a:rPr lang="en-US" altLang="zh-CN" sz="2000" b="1" dirty="0">
                <a:solidFill>
                  <a:srgbClr val="0000FF"/>
                </a:solidFill>
                <a:latin typeface="Times New Roman" panose="02020603050405020304" pitchFamily="18" charset="0"/>
                <a:cs typeface="Times New Roman" panose="02020603050405020304" pitchFamily="18" charset="0"/>
              </a:rPr>
              <a:t>1.5</a:t>
            </a:r>
            <a:r>
              <a:rPr lang="zh-CN" altLang="en-US" sz="2000" b="1" dirty="0">
                <a:solidFill>
                  <a:srgbClr val="0000FF"/>
                </a:solidFill>
                <a:latin typeface="Times New Roman" panose="02020603050405020304" pitchFamily="18" charset="0"/>
                <a:cs typeface="Times New Roman" panose="02020603050405020304" pitchFamily="18" charset="0"/>
              </a:rPr>
              <a:t>倍左右。</a:t>
            </a:r>
          </a:p>
        </p:txBody>
      </p:sp>
      <p:sp>
        <p:nvSpPr>
          <p:cNvPr id="8" name="Rectangle 3">
            <a:extLst>
              <a:ext uri="{FF2B5EF4-FFF2-40B4-BE49-F238E27FC236}">
                <a16:creationId xmlns:a16="http://schemas.microsoft.com/office/drawing/2014/main" id="{C3F9C759-A7C3-4C9C-9C80-FC585D657400}"/>
              </a:ext>
            </a:extLst>
          </p:cNvPr>
          <p:cNvSpPr txBox="1">
            <a:spLocks noChangeArrowheads="1"/>
          </p:cNvSpPr>
          <p:nvPr/>
        </p:nvSpPr>
        <p:spPr bwMode="auto">
          <a:xfrm>
            <a:off x="72008" y="3514204"/>
            <a:ext cx="8964488" cy="1498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itchFamily="2" charset="2"/>
              <a:buNone/>
            </a:pPr>
            <a:r>
              <a:rPr lang="zh-CN" altLang="en-US" sz="2000" b="1" dirty="0">
                <a:latin typeface="Times New Roman" panose="02020603050405020304" pitchFamily="18" charset="0"/>
                <a:cs typeface="Times New Roman" panose="02020603050405020304" pitchFamily="18" charset="0"/>
              </a:rPr>
              <a:t>例</a:t>
            </a:r>
            <a:r>
              <a:rPr lang="en-US" altLang="zh-CN" sz="2000" b="1" dirty="0">
                <a:latin typeface="Times New Roman" panose="02020603050405020304" pitchFamily="18" charset="0"/>
                <a:cs typeface="Times New Roman" panose="02020603050405020304" pitchFamily="18" charset="0"/>
              </a:rPr>
              <a:t>4</a:t>
            </a:r>
            <a:r>
              <a:rPr lang="zh-CN" altLang="en-US" sz="2000" b="1" dirty="0">
                <a:latin typeface="Times New Roman" panose="02020603050405020304" pitchFamily="18" charset="0"/>
                <a:cs typeface="Times New Roman" panose="02020603050405020304" pitchFamily="18" charset="0"/>
              </a:rPr>
              <a:t>：若计算机系统有三个部件</a:t>
            </a:r>
            <a:r>
              <a:rPr lang="en-US" altLang="zh-CN" sz="2000" b="1" dirty="0">
                <a:latin typeface="Times New Roman" panose="02020603050405020304" pitchFamily="18" charset="0"/>
                <a:cs typeface="Times New Roman" panose="02020603050405020304" pitchFamily="18" charset="0"/>
              </a:rPr>
              <a:t>a</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c</a:t>
            </a:r>
            <a:r>
              <a:rPr lang="zh-CN" altLang="en-US" sz="2000" b="1" dirty="0">
                <a:latin typeface="Times New Roman" panose="02020603050405020304" pitchFamily="18" charset="0"/>
                <a:cs typeface="Times New Roman" panose="02020603050405020304" pitchFamily="18" charset="0"/>
              </a:rPr>
              <a:t>是可改进的，它们的部件加速比分别为</a:t>
            </a:r>
            <a:r>
              <a:rPr lang="en-US" altLang="zh-CN" sz="2000" b="1" dirty="0">
                <a:latin typeface="Times New Roman" panose="02020603050405020304" pitchFamily="18" charset="0"/>
                <a:cs typeface="Times New Roman" panose="02020603050405020304" pitchFamily="18" charset="0"/>
              </a:rPr>
              <a:t>30</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30</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20</a:t>
            </a:r>
            <a:r>
              <a:rPr lang="zh-CN" altLang="en-US" sz="2000" b="1" dirty="0">
                <a:latin typeface="Times New Roman" panose="02020603050405020304" pitchFamily="18" charset="0"/>
                <a:cs typeface="Times New Roman" panose="02020603050405020304" pitchFamily="18" charset="0"/>
              </a:rPr>
              <a:t>。它们在总执行时间中所占的比例分别是</a:t>
            </a:r>
            <a:r>
              <a:rPr lang="en-US" altLang="zh-CN" sz="2000" b="1" dirty="0">
                <a:latin typeface="Times New Roman" panose="02020603050405020304" pitchFamily="18" charset="0"/>
                <a:cs typeface="Times New Roman" panose="02020603050405020304" pitchFamily="18" charset="0"/>
              </a:rPr>
              <a:t>30</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30</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20</a:t>
            </a:r>
            <a:r>
              <a:rPr lang="zh-CN" altLang="en-US" sz="2000" b="1" dirty="0">
                <a:latin typeface="Times New Roman" panose="02020603050405020304" pitchFamily="18" charset="0"/>
                <a:cs typeface="Times New Roman" panose="02020603050405020304" pitchFamily="18" charset="0"/>
              </a:rPr>
              <a:t>％。试计算这三部件同时改进后系统的加速比。</a:t>
            </a:r>
          </a:p>
        </p:txBody>
      </p:sp>
      <p:sp>
        <p:nvSpPr>
          <p:cNvPr id="9" name="文本框 8">
            <a:extLst>
              <a:ext uri="{FF2B5EF4-FFF2-40B4-BE49-F238E27FC236}">
                <a16:creationId xmlns:a16="http://schemas.microsoft.com/office/drawing/2014/main" id="{3D57076F-C5D7-4B29-BDE4-5B11652037C1}"/>
              </a:ext>
            </a:extLst>
          </p:cNvPr>
          <p:cNvSpPr txBox="1"/>
          <p:nvPr/>
        </p:nvSpPr>
        <p:spPr>
          <a:xfrm>
            <a:off x="35496" y="4918400"/>
            <a:ext cx="9073008" cy="1933192"/>
          </a:xfrm>
          <a:prstGeom prst="rect">
            <a:avLst/>
          </a:prstGeom>
          <a:noFill/>
        </p:spPr>
        <p:txBody>
          <a:bodyPr wrap="square">
            <a:spAutoFit/>
          </a:bodyPr>
          <a:lstStyle/>
          <a:p>
            <a:pPr>
              <a:lnSpc>
                <a:spcPct val="150000"/>
              </a:lnSpc>
              <a:spcBef>
                <a:spcPts val="0"/>
              </a:spcBef>
              <a:buFont typeface="Wingdings" pitchFamily="2" charset="2"/>
              <a:buNone/>
            </a:pPr>
            <a:r>
              <a:rPr lang="zh-CN" altLang="en-US" sz="2000" b="1" dirty="0">
                <a:solidFill>
                  <a:srgbClr val="0000FF"/>
                </a:solidFill>
                <a:latin typeface="Times New Roman" panose="02020603050405020304" pitchFamily="18" charset="0"/>
                <a:cs typeface="Times New Roman" panose="02020603050405020304" pitchFamily="18" charset="0"/>
              </a:rPr>
              <a:t>解：多个部件可同时改进的情况下，</a:t>
            </a:r>
            <a:r>
              <a:rPr lang="en-US" altLang="zh-CN" sz="2000" b="1" dirty="0">
                <a:solidFill>
                  <a:srgbClr val="0000FF"/>
                </a:solidFill>
                <a:latin typeface="Times New Roman" panose="02020603050405020304" pitchFamily="18" charset="0"/>
                <a:cs typeface="Times New Roman" panose="02020603050405020304" pitchFamily="18" charset="0"/>
              </a:rPr>
              <a:t>Amdahl</a:t>
            </a:r>
            <a:r>
              <a:rPr lang="zh-CN" altLang="en-US" sz="2000" b="1" dirty="0">
                <a:solidFill>
                  <a:srgbClr val="0000FF"/>
                </a:solidFill>
                <a:latin typeface="Times New Roman" panose="02020603050405020304" pitchFamily="18" charset="0"/>
                <a:cs typeface="Times New Roman" panose="02020603050405020304" pitchFamily="18" charset="0"/>
              </a:rPr>
              <a:t>定律可表示为：                                                                    </a:t>
            </a:r>
            <a:endParaRPr lang="en-US" altLang="zh-CN" sz="20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ts val="0"/>
              </a:spcBef>
              <a:buFont typeface="Wingdings" pitchFamily="2" charset="2"/>
              <a:buNone/>
            </a:pPr>
            <a:r>
              <a:rPr lang="zh-CN" altLang="en-US" sz="2000" b="1" dirty="0">
                <a:solidFill>
                  <a:srgbClr val="0000FF"/>
                </a:solidFill>
                <a:latin typeface="Times New Roman" panose="02020603050405020304" pitchFamily="18" charset="0"/>
                <a:cs typeface="Times New Roman" panose="02020603050405020304" pitchFamily="18" charset="0"/>
              </a:rPr>
              <a:t>                                                                     </a:t>
            </a:r>
          </a:p>
          <a:p>
            <a:pPr>
              <a:lnSpc>
                <a:spcPct val="150000"/>
              </a:lnSpc>
              <a:spcBef>
                <a:spcPts val="0"/>
              </a:spcBef>
              <a:buFont typeface="Wingdings" pitchFamily="2" charset="2"/>
              <a:buNone/>
            </a:pPr>
            <a:r>
              <a:rPr lang="zh-CN" altLang="en-US" sz="2000" b="1" dirty="0">
                <a:solidFill>
                  <a:srgbClr val="0000FF"/>
                </a:solidFill>
                <a:latin typeface="Times New Roman" panose="02020603050405020304" pitchFamily="18" charset="0"/>
                <a:cs typeface="Times New Roman" panose="02020603050405020304" pitchFamily="18" charset="0"/>
              </a:rPr>
              <a:t>         </a:t>
            </a:r>
            <a:endParaRPr lang="en-US" altLang="zh-CN" sz="2000" b="1" dirty="0">
              <a:solidFill>
                <a:srgbClr val="0000FF"/>
              </a:solidFill>
              <a:latin typeface="Times New Roman" panose="02020603050405020304" pitchFamily="18" charset="0"/>
              <a:cs typeface="Times New Roman" panose="02020603050405020304" pitchFamily="18" charset="0"/>
            </a:endParaRPr>
          </a:p>
          <a:p>
            <a:pPr>
              <a:lnSpc>
                <a:spcPct val="150000"/>
              </a:lnSpc>
              <a:spcBef>
                <a:spcPts val="0"/>
              </a:spcBef>
              <a:buFont typeface="Wingdings" pitchFamily="2" charset="2"/>
              <a:buNone/>
            </a:pPr>
            <a:r>
              <a:rPr lang="zh-CN" altLang="en-US" sz="2000" b="1" dirty="0">
                <a:solidFill>
                  <a:srgbClr val="0000FF"/>
                </a:solidFill>
                <a:latin typeface="Times New Roman" panose="02020603050405020304" pitchFamily="18" charset="0"/>
                <a:cs typeface="Times New Roman" panose="02020603050405020304" pitchFamily="18" charset="0"/>
              </a:rPr>
              <a:t>     将已知条件代入上式，计算出</a:t>
            </a:r>
            <a:r>
              <a:rPr lang="en-US" altLang="zh-CN" sz="2000" b="1" i="1" dirty="0">
                <a:solidFill>
                  <a:srgbClr val="0000FF"/>
                </a:solidFill>
                <a:latin typeface="Times New Roman" panose="02020603050405020304" pitchFamily="18" charset="0"/>
                <a:cs typeface="Times New Roman" panose="02020603050405020304" pitchFamily="18" charset="0"/>
              </a:rPr>
              <a:t>S</a:t>
            </a:r>
            <a:r>
              <a:rPr lang="en-US" altLang="zh-CN" sz="2000" b="1" baseline="-25000" dirty="0">
                <a:solidFill>
                  <a:srgbClr val="0000FF"/>
                </a:solidFill>
                <a:latin typeface="Times New Roman" panose="02020603050405020304" pitchFamily="18" charset="0"/>
                <a:cs typeface="Times New Roman" panose="02020603050405020304" pitchFamily="18" charset="0"/>
              </a:rPr>
              <a:t>p</a:t>
            </a:r>
            <a:r>
              <a:rPr lang="en-US" altLang="zh-CN" sz="2000" b="1" dirty="0">
                <a:solidFill>
                  <a:srgbClr val="0000FF"/>
                </a:solidFill>
                <a:latin typeface="Times New Roman" panose="02020603050405020304" pitchFamily="18" charset="0"/>
                <a:cs typeface="Times New Roman" panose="02020603050405020304" pitchFamily="18" charset="0"/>
              </a:rPr>
              <a:t>≈4.35</a:t>
            </a:r>
            <a:r>
              <a:rPr lang="zh-CN" altLang="en-US" sz="2000" b="1" dirty="0">
                <a:solidFill>
                  <a:srgbClr val="0000FF"/>
                </a:solidFill>
                <a:latin typeface="Times New Roman" panose="02020603050405020304" pitchFamily="18" charset="0"/>
                <a:cs typeface="Times New Roman" panose="02020603050405020304" pitchFamily="18" charset="0"/>
              </a:rPr>
              <a:t>。</a:t>
            </a:r>
          </a:p>
        </p:txBody>
      </p:sp>
      <p:graphicFrame>
        <p:nvGraphicFramePr>
          <p:cNvPr id="10" name="Object 7">
            <a:extLst>
              <a:ext uri="{FF2B5EF4-FFF2-40B4-BE49-F238E27FC236}">
                <a16:creationId xmlns:a16="http://schemas.microsoft.com/office/drawing/2014/main" id="{35EC90B6-A219-407A-A5A0-C1CD0C3681B9}"/>
              </a:ext>
            </a:extLst>
          </p:cNvPr>
          <p:cNvGraphicFramePr>
            <a:graphicFrameLocks noChangeAspect="1"/>
          </p:cNvGraphicFramePr>
          <p:nvPr>
            <p:extLst>
              <p:ext uri="{D42A27DB-BD31-4B8C-83A1-F6EECF244321}">
                <p14:modId xmlns:p14="http://schemas.microsoft.com/office/powerpoint/2010/main" val="949858624"/>
              </p:ext>
            </p:extLst>
          </p:nvPr>
        </p:nvGraphicFramePr>
        <p:xfrm>
          <a:off x="3707904" y="5388347"/>
          <a:ext cx="1950629" cy="1029025"/>
        </p:xfrm>
        <a:graphic>
          <a:graphicData uri="http://schemas.openxmlformats.org/presentationml/2006/ole">
            <mc:AlternateContent xmlns:mc="http://schemas.openxmlformats.org/markup-compatibility/2006">
              <mc:Choice xmlns:v="urn:schemas-microsoft-com:vml" Requires="v">
                <p:oleObj name="Equation" r:id="rId4" imgW="1625400" imgH="672840" progId="Equation.DSMT4">
                  <p:embed/>
                </p:oleObj>
              </mc:Choice>
              <mc:Fallback>
                <p:oleObj name="Equation" r:id="rId4" imgW="1625400" imgH="672840" progId="Equation.DSMT4">
                  <p:embed/>
                  <p:pic>
                    <p:nvPicPr>
                      <p:cNvPr id="97286" name="Object 7"/>
                      <p:cNvPicPr>
                        <a:picLocks noChangeAspect="1" noChangeArrowheads="1"/>
                      </p:cNvPicPr>
                      <p:nvPr/>
                    </p:nvPicPr>
                    <p:blipFill>
                      <a:blip r:embed="rId5"/>
                      <a:srcRect/>
                      <a:stretch>
                        <a:fillRect/>
                      </a:stretch>
                    </p:blipFill>
                    <p:spPr bwMode="auto">
                      <a:xfrm>
                        <a:off x="3707904" y="5388347"/>
                        <a:ext cx="1950629" cy="10290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81174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C64DD4-4208-44F0-8FDD-F2F06D0295F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FA75B9E-5B3E-4C4B-AD33-1DF56A4F48E4}"/>
              </a:ext>
            </a:extLst>
          </p:cNvPr>
          <p:cNvSpPr>
            <a:spLocks noGrp="1"/>
          </p:cNvSpPr>
          <p:nvPr>
            <p:ph idx="1"/>
          </p:nvPr>
        </p:nvSpPr>
        <p:spPr/>
        <p:txBody>
          <a:bodyPr/>
          <a:lstStyle/>
          <a:p>
            <a:endParaRPr lang="zh-CN" altLang="en-US"/>
          </a:p>
        </p:txBody>
      </p:sp>
      <p:pic>
        <p:nvPicPr>
          <p:cNvPr id="4" name="Picture 5">
            <a:extLst>
              <a:ext uri="{FF2B5EF4-FFF2-40B4-BE49-F238E27FC236}">
                <a16:creationId xmlns:a16="http://schemas.microsoft.com/office/drawing/2014/main" id="{BB5E39AA-8AE0-4814-8226-38F62BF4F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EAE1BA91-1FCF-4D0D-9A93-2BD6934C092E}"/>
              </a:ext>
            </a:extLst>
          </p:cNvPr>
          <p:cNvSpPr txBox="1">
            <a:spLocks noChangeArrowheads="1"/>
          </p:cNvSpPr>
          <p:nvPr/>
        </p:nvSpPr>
        <p:spPr bwMode="auto">
          <a:xfrm>
            <a:off x="2843808" y="-17377"/>
            <a:ext cx="6300192" cy="69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b="1" kern="1200">
                <a:solidFill>
                  <a:srgbClr val="0070C0"/>
                </a:solidFill>
                <a:latin typeface="微软雅黑" pitchFamily="34" charset="-122"/>
                <a:ea typeface="微软雅黑" pitchFamily="34" charset="-122"/>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endParaRPr lang="zh-CN" altLang="en-US" sz="2800" dirty="0">
              <a:solidFill>
                <a:schemeClr val="bg1"/>
              </a:solidFill>
            </a:endParaRPr>
          </a:p>
        </p:txBody>
      </p:sp>
      <p:sp>
        <p:nvSpPr>
          <p:cNvPr id="6" name="文本框 5">
            <a:extLst>
              <a:ext uri="{FF2B5EF4-FFF2-40B4-BE49-F238E27FC236}">
                <a16:creationId xmlns:a16="http://schemas.microsoft.com/office/drawing/2014/main" id="{8C446241-C24B-435F-83F7-3C6F221A4EC8}"/>
              </a:ext>
            </a:extLst>
          </p:cNvPr>
          <p:cNvSpPr txBox="1"/>
          <p:nvPr/>
        </p:nvSpPr>
        <p:spPr>
          <a:xfrm>
            <a:off x="2987824" y="2047492"/>
            <a:ext cx="4752528" cy="2431371"/>
          </a:xfrm>
          <a:prstGeom prst="rect">
            <a:avLst/>
          </a:prstGeom>
          <a:noFill/>
        </p:spPr>
        <p:txBody>
          <a:bodyPr wrap="square" rtlCol="0">
            <a:spAutoFit/>
          </a:bodyPr>
          <a:lstStyle/>
          <a:p>
            <a:pPr>
              <a:lnSpc>
                <a:spcPct val="150000"/>
              </a:lnSpc>
            </a:pPr>
            <a:r>
              <a:rPr lang="en-US" altLang="zh-CN" sz="5400" b="1" dirty="0">
                <a:latin typeface="Algerian" panose="04020705040A02060702" pitchFamily="82" charset="0"/>
                <a:cs typeface="Times New Roman" panose="02020603050405020304" pitchFamily="18" charset="0"/>
              </a:rPr>
              <a:t>The End</a:t>
            </a:r>
            <a:r>
              <a:rPr lang="zh-CN" altLang="en-US" sz="5400" b="1" dirty="0">
                <a:latin typeface="Algerian" panose="04020705040A02060702" pitchFamily="82" charset="0"/>
                <a:cs typeface="Times New Roman" panose="02020603050405020304" pitchFamily="18" charset="0"/>
              </a:rPr>
              <a:t>！</a:t>
            </a:r>
            <a:endParaRPr lang="en-US" altLang="zh-CN" sz="5400" b="1" dirty="0">
              <a:latin typeface="Algerian" panose="04020705040A02060702" pitchFamily="82" charset="0"/>
              <a:cs typeface="Times New Roman" panose="02020603050405020304" pitchFamily="18" charset="0"/>
            </a:endParaRPr>
          </a:p>
          <a:p>
            <a:pPr>
              <a:lnSpc>
                <a:spcPct val="150000"/>
              </a:lnSpc>
            </a:pPr>
            <a:r>
              <a:rPr lang="en-US" altLang="zh-CN" sz="5400" b="1" dirty="0">
                <a:latin typeface="Algerian" panose="04020705040A02060702" pitchFamily="82" charset="0"/>
                <a:cs typeface="Times New Roman" panose="02020603050405020304" pitchFamily="18" charset="0"/>
              </a:rPr>
              <a:t>Thanks</a:t>
            </a:r>
            <a:endParaRPr lang="zh-CN" altLang="en-US" sz="5400" b="1" dirty="0">
              <a:latin typeface="Algerian" panose="04020705040A02060702" pitchFamily="82" charset="0"/>
              <a:cs typeface="Times New Roman" panose="02020603050405020304" pitchFamily="18" charset="0"/>
            </a:endParaRPr>
          </a:p>
        </p:txBody>
      </p:sp>
    </p:spTree>
    <p:extLst>
      <p:ext uri="{BB962C8B-B14F-4D97-AF65-F5344CB8AC3E}">
        <p14:creationId xmlns:p14="http://schemas.microsoft.com/office/powerpoint/2010/main" val="362512876"/>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8934</TotalTime>
  <Words>11818</Words>
  <Application>Microsoft Macintosh PowerPoint</Application>
  <PresentationFormat>On-screen Show (4:3)</PresentationFormat>
  <Paragraphs>721</Paragraphs>
  <Slides>63</Slides>
  <Notes>60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63</vt:i4>
      </vt:variant>
    </vt:vector>
  </HeadingPairs>
  <TitlesOfParts>
    <vt:vector size="76" baseType="lpstr">
      <vt:lpstr>等线</vt:lpstr>
      <vt:lpstr>微软雅黑</vt:lpstr>
      <vt:lpstr>宋体</vt:lpstr>
      <vt:lpstr>华文仿宋</vt:lpstr>
      <vt:lpstr>system-ui</vt:lpstr>
      <vt:lpstr>Algerian</vt:lpstr>
      <vt:lpstr>Arial</vt:lpstr>
      <vt:lpstr>Cambria Math</vt:lpstr>
      <vt:lpstr>Times New Roman</vt:lpstr>
      <vt:lpstr>Wingdings</vt:lpstr>
      <vt:lpstr>默认设计模板</vt:lpstr>
      <vt:lpstr>Image</vt:lpstr>
      <vt:lpstr>Equation</vt:lpstr>
      <vt:lpstr>计算机组织与体系结构 第一章绪论</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计算机硬件系统</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基本性能指标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Microsoft Office User</cp:lastModifiedBy>
  <cp:revision>335</cp:revision>
  <cp:lastPrinted>2025-02-17T00:43:05Z</cp:lastPrinted>
  <dcterms:created xsi:type="dcterms:W3CDTF">2014-03-21T03:02:44Z</dcterms:created>
  <dcterms:modified xsi:type="dcterms:W3CDTF">2025-02-17T13:44:22Z</dcterms:modified>
</cp:coreProperties>
</file>
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395" r:id="rId2"/>
    <p:sldId id="717" r:id="rId3"/>
    <p:sldId id="962" r:id="rId4"/>
    <p:sldId id="963" r:id="rId5"/>
    <p:sldId id="964" r:id="rId6"/>
    <p:sldId id="965" r:id="rId7"/>
    <p:sldId id="966" r:id="rId8"/>
    <p:sldId id="927" r:id="rId9"/>
    <p:sldId id="928" r:id="rId10"/>
    <p:sldId id="929" r:id="rId11"/>
    <p:sldId id="930" r:id="rId12"/>
    <p:sldId id="931" r:id="rId13"/>
    <p:sldId id="932" r:id="rId14"/>
    <p:sldId id="644" r:id="rId15"/>
    <p:sldId id="645" r:id="rId16"/>
    <p:sldId id="646" r:id="rId17"/>
    <p:sldId id="647" r:id="rId18"/>
    <p:sldId id="648" r:id="rId19"/>
    <p:sldId id="649" r:id="rId20"/>
    <p:sldId id="650" r:id="rId21"/>
    <p:sldId id="651" r:id="rId22"/>
    <p:sldId id="652" r:id="rId23"/>
    <p:sldId id="653" r:id="rId24"/>
    <p:sldId id="654" r:id="rId25"/>
    <p:sldId id="655" r:id="rId26"/>
    <p:sldId id="656" r:id="rId27"/>
    <p:sldId id="657" r:id="rId28"/>
    <p:sldId id="658" r:id="rId29"/>
    <p:sldId id="659" r:id="rId30"/>
    <p:sldId id="660" r:id="rId31"/>
    <p:sldId id="661" r:id="rId32"/>
    <p:sldId id="662" r:id="rId33"/>
    <p:sldId id="663" r:id="rId34"/>
    <p:sldId id="664" r:id="rId35"/>
    <p:sldId id="665" r:id="rId36"/>
    <p:sldId id="666" r:id="rId37"/>
    <p:sldId id="938" r:id="rId38"/>
    <p:sldId id="667" r:id="rId39"/>
    <p:sldId id="668" r:id="rId40"/>
    <p:sldId id="939" r:id="rId41"/>
    <p:sldId id="935" r:id="rId42"/>
    <p:sldId id="936" r:id="rId43"/>
    <p:sldId id="960" r:id="rId44"/>
    <p:sldId id="940" r:id="rId45"/>
    <p:sldId id="941" r:id="rId46"/>
    <p:sldId id="942" r:id="rId47"/>
    <p:sldId id="947" r:id="rId48"/>
    <p:sldId id="943" r:id="rId49"/>
    <p:sldId id="944" r:id="rId50"/>
    <p:sldId id="945" r:id="rId51"/>
    <p:sldId id="946" r:id="rId52"/>
    <p:sldId id="948" r:id="rId53"/>
    <p:sldId id="949" r:id="rId54"/>
    <p:sldId id="950" r:id="rId55"/>
    <p:sldId id="951" r:id="rId56"/>
    <p:sldId id="952" r:id="rId57"/>
    <p:sldId id="953" r:id="rId58"/>
    <p:sldId id="954" r:id="rId59"/>
    <p:sldId id="955" r:id="rId60"/>
    <p:sldId id="956" r:id="rId61"/>
    <p:sldId id="971" r:id="rId62"/>
    <p:sldId id="957" r:id="rId63"/>
    <p:sldId id="958" r:id="rId64"/>
    <p:sldId id="961" r:id="rId65"/>
    <p:sldId id="967" r:id="rId66"/>
    <p:sldId id="968" r:id="rId67"/>
    <p:sldId id="969" r:id="rId68"/>
    <p:sldId id="970" r:id="rId69"/>
  </p:sldIdLst>
  <p:sldSz cx="9144000" cy="6858000" type="screen4x3"/>
  <p:notesSz cx="6797675" cy="992822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6B6B6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63" autoAdjust="0"/>
    <p:restoredTop sz="68079" autoAdjust="0"/>
  </p:normalViewPr>
  <p:slideViewPr>
    <p:cSldViewPr showGuides="1">
      <p:cViewPr>
        <p:scale>
          <a:sx n="66" d="100"/>
          <a:sy n="66" d="100"/>
        </p:scale>
        <p:origin x="448" y="32"/>
      </p:cViewPr>
      <p:guideLst>
        <p:guide orient="horz" pos="213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2652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>
              <a:defRPr sz="1200" smtClean="0"/>
            </a:lvl1pPr>
          </a:lstStyle>
          <a:p>
            <a:pPr defTabSz="882015" eaLnBrk="0" hangingPunct="0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r">
              <a:defRPr sz="1200" smtClean="0"/>
            </a:lvl1pPr>
          </a:lstStyle>
          <a:p>
            <a:pPr defTabSz="882015" eaLnBrk="0" hangingPunct="0">
              <a:defRPr/>
            </a:pPr>
            <a:fld id="{4BB3C76A-5825-4231-B0D3-9E855FBDE640}" type="datetimeFigureOut">
              <a:rPr lang="zh-CN" altLang="en-US"/>
              <a:t>2023/11/29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>
              <a:defRPr sz="1200" smtClean="0"/>
            </a:lvl1pPr>
          </a:lstStyle>
          <a:p>
            <a:pPr defTabSz="882015" eaLnBrk="0" hangingPunct="0"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noProof="1" dirty="0"/>
              <a:t>‹#›</a:t>
            </a:fld>
            <a:endParaRPr lang="zh-CN" altLang="en-US" sz="1200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fld id="{43AE81DF-FBE5-4EB3-A463-0AC46A2C5CC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9" tIns="47784" rIns="95569" bIns="47784" rtlCol="0" anchor="ctr"/>
          <a:lstStyle/>
          <a:p>
            <a:pPr marL="0" marR="0" lvl="0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160" y="4715406"/>
            <a:ext cx="5439355" cy="4467471"/>
          </a:xfrm>
          <a:prstGeom prst="rect">
            <a:avLst/>
          </a:prstGeom>
        </p:spPr>
        <p:txBody>
          <a:bodyPr vert="horz" lIns="95569" tIns="47784" rIns="95569" bIns="47784" rtlCol="0"/>
          <a:lstStyle/>
          <a:p>
            <a:pPr marL="0" marR="0" lvl="0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41325" marR="0" lvl="1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882015" marR="0" lvl="2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23340" marR="0" lvl="3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764030" marR="0" lvl="4" indent="0" algn="l" defTabSz="88201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015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wrap="square" lIns="95569" tIns="47784" rIns="95569" bIns="47784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5569" tIns="47784" rIns="95569" bIns="47784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5569" tIns="47784" rIns="95569" bIns="4778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1775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880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VC</a:t>
            </a:r>
            <a:r>
              <a:rPr lang="zh-CN" altLang="en-US" dirty="0"/>
              <a:t>维度的意义</a:t>
            </a:r>
            <a:r>
              <a:rPr lang="en-US" altLang="zh-CN" dirty="0"/>
              <a:t>1.VC</a:t>
            </a:r>
            <a:r>
              <a:rPr lang="zh-CN" altLang="en-US" dirty="0"/>
              <a:t>维度可以代表假设集合的复杂程度，这也是我们引出</a:t>
            </a:r>
            <a:r>
              <a:rPr lang="en-US" altLang="zh-CN" dirty="0"/>
              <a:t>VC</a:t>
            </a:r>
            <a:r>
              <a:rPr lang="zh-CN" altLang="en-US" dirty="0"/>
              <a:t>维度的初衷（我们试图解决</a:t>
            </a:r>
            <a:r>
              <a:rPr lang="en-US" altLang="zh-CN" dirty="0"/>
              <a:t>h</a:t>
            </a:r>
            <a:r>
              <a:rPr lang="zh-CN" altLang="en-US" dirty="0"/>
              <a:t>（</a:t>
            </a:r>
            <a:r>
              <a:rPr lang="en-US" altLang="zh-CN" dirty="0"/>
              <a:t>x</a:t>
            </a:r>
            <a:r>
              <a:rPr lang="zh-CN" altLang="en-US" dirty="0"/>
              <a:t>）集合太大给我们带来的坏资料的问题）。</a:t>
            </a:r>
            <a:r>
              <a:rPr lang="en-US" altLang="zh-CN" dirty="0"/>
              <a:t>VC</a:t>
            </a:r>
            <a:r>
              <a:rPr lang="zh-CN" altLang="en-US" dirty="0"/>
              <a:t>维度越大，一个假设集合大小的上限函数就会增加假设集合的复杂程度会增大。</a:t>
            </a:r>
            <a:r>
              <a:rPr lang="en-US" altLang="zh-CN" dirty="0"/>
              <a:t>2.VC</a:t>
            </a:r>
            <a:r>
              <a:rPr lang="zh-CN" altLang="en-US" dirty="0"/>
              <a:t>维度还可以代表假设本身的复杂性，简单的例子就是我们的</a:t>
            </a:r>
            <a:r>
              <a:rPr lang="en-US" altLang="zh-CN" dirty="0"/>
              <a:t>VC</a:t>
            </a:r>
            <a:r>
              <a:rPr lang="zh-CN" altLang="en-US" dirty="0"/>
              <a:t>维度越高如</a:t>
            </a:r>
            <a:r>
              <a:rPr lang="en-US" altLang="zh-CN" dirty="0"/>
              <a:t>2D</a:t>
            </a:r>
            <a:r>
              <a:rPr lang="zh-CN" altLang="en-US" dirty="0"/>
              <a:t>的</a:t>
            </a:r>
            <a:r>
              <a:rPr lang="en-US" altLang="zh-CN" dirty="0" err="1"/>
              <a:t>perceptrons</a:t>
            </a:r>
            <a:r>
              <a:rPr lang="zh-CN" altLang="en-US" dirty="0"/>
              <a:t>的</a:t>
            </a:r>
            <a:r>
              <a:rPr lang="en-US" altLang="zh-CN" dirty="0" err="1"/>
              <a:t>dvc</a:t>
            </a:r>
            <a:r>
              <a:rPr lang="en-US" altLang="zh-CN" dirty="0"/>
              <a:t>==3</a:t>
            </a:r>
            <a:r>
              <a:rPr lang="zh-CN" altLang="en-US" dirty="0"/>
              <a:t>而假设我们将</a:t>
            </a:r>
            <a:r>
              <a:rPr lang="en-US" altLang="zh-CN" dirty="0"/>
              <a:t>VC</a:t>
            </a:r>
            <a:r>
              <a:rPr lang="zh-CN" altLang="en-US" dirty="0"/>
              <a:t>维度上调为</a:t>
            </a:r>
            <a:r>
              <a:rPr lang="en-US" altLang="zh-CN" dirty="0"/>
              <a:t>4</a:t>
            </a:r>
            <a:r>
              <a:rPr lang="zh-CN" altLang="en-US" dirty="0"/>
              <a:t>的时候我们就能得到</a:t>
            </a:r>
            <a:r>
              <a:rPr lang="en-US" altLang="zh-CN" dirty="0"/>
              <a:t>4</a:t>
            </a:r>
            <a:r>
              <a:rPr lang="zh-CN" altLang="en-US" dirty="0"/>
              <a:t>个点的完全二分的集合。我们能够做出更为复杂的分割动作，也就是我们的单个模型拥有更为强大的分割能力！综上所述我们的假设集合与单个假设的复杂度都会随着</a:t>
            </a:r>
            <a:r>
              <a:rPr lang="en-US" altLang="zh-CN" dirty="0"/>
              <a:t>VC</a:t>
            </a:r>
            <a:r>
              <a:rPr lang="zh-CN" altLang="en-US" dirty="0"/>
              <a:t>维度的增加而增加从而变得更加的强大。</a:t>
            </a:r>
          </a:p>
          <a:p>
            <a:r>
              <a:rPr lang="en-US" altLang="zh-CN" dirty="0"/>
              <a:t>————————————————</a:t>
            </a:r>
          </a:p>
          <a:p>
            <a:r>
              <a:rPr lang="zh-CN" altLang="en-US" dirty="0"/>
              <a:t>版权声明：本文为</a:t>
            </a:r>
            <a:r>
              <a:rPr lang="en-US" altLang="zh-CN" dirty="0"/>
              <a:t>CSDN</a:t>
            </a:r>
            <a:r>
              <a:rPr lang="zh-CN" altLang="en-US" dirty="0"/>
              <a:t>博主「量子智能龙哥」的原创文章，遵循</a:t>
            </a:r>
            <a:r>
              <a:rPr lang="en-US" altLang="zh-CN" dirty="0"/>
              <a:t>CC 4.0 BY-SA</a:t>
            </a:r>
            <a:r>
              <a:rPr lang="zh-CN" altLang="en-US" dirty="0"/>
              <a:t>版权协议，转载请附上原文出处链接及本声明。</a:t>
            </a:r>
          </a:p>
          <a:p>
            <a:r>
              <a:rPr lang="zh-CN" altLang="en-US" dirty="0"/>
              <a:t>原文链接：</a:t>
            </a:r>
            <a:r>
              <a:rPr lang="en-US" altLang="zh-CN" dirty="0"/>
              <a:t>https://blog.csdn.net/qq_34993631/article/details/79200782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407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3300" kern="1200" dirty="0">
              <a:solidFill>
                <a:schemeClr val="tx1"/>
              </a:solidFill>
              <a:latin typeface="Segoe UI Symbol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254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altLang="zh-HK" strike="noStrike" noProof="1"/>
              <a:t>Click to edit Master subtitle style</a:t>
            </a:r>
            <a:endParaRPr lang="zh-HK" altLang="en-US" strike="noStrike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 lang="en-US" altLang="zh-HK" sz="20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>
              <a:defRPr lang="en-US" altLang="zh-HK" sz="18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>
              <a:defRPr lang="en-US" altLang="zh-HK" sz="16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>
              <a:defRPr lang="en-US" altLang="zh-HK" sz="1400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>
              <a:defRPr lang="zh-HK" altLang="en-US" sz="12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HK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650" y="692150"/>
            <a:ext cx="7880350" cy="30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9763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HK" dirty="0"/>
              <a:t>Click to edit Master title style</a:t>
            </a:r>
            <a:endParaRPr lang="zh-HK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557338"/>
            <a:ext cx="7886700" cy="4619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zh-HK" dirty="0"/>
              <a:t>Click to edit Master text styles</a:t>
            </a:r>
          </a:p>
          <a:p>
            <a:pPr lvl="1"/>
            <a:r>
              <a:rPr lang="en-US" altLang="zh-HK" dirty="0"/>
              <a:t>Second level</a:t>
            </a:r>
          </a:p>
          <a:p>
            <a:pPr lvl="2"/>
            <a:r>
              <a:rPr lang="en-US" altLang="zh-HK" dirty="0"/>
              <a:t>Third level</a:t>
            </a:r>
          </a:p>
          <a:p>
            <a:pPr lvl="3"/>
            <a:r>
              <a:rPr lang="en-US" altLang="zh-HK" dirty="0"/>
              <a:t>Fourth level</a:t>
            </a:r>
          </a:p>
          <a:p>
            <a:pPr lvl="4"/>
            <a:r>
              <a:rPr lang="en-US" altLang="zh-HK" dirty="0"/>
              <a:t>Fifth level</a:t>
            </a:r>
            <a:endParaRPr lang="zh-HK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95288" y="40481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Segoe UI Symbol" panose="020B0502040204020203" pitchFamily="34" charset="0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lang="en-US" altLang="zh-HK" sz="24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20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16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zh-HK" altLang="en-US" sz="14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87623" y="1844824"/>
            <a:ext cx="7632849" cy="1368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>
              <a:spcBef>
                <a:spcPct val="20000"/>
              </a:spcBef>
              <a:defRPr/>
            </a:pPr>
            <a:br>
              <a:rPr kumimoji="0" lang="en-US" altLang="zh-CN" sz="2800" b="1" kern="0" cap="none" spc="0" normalizeH="0" baseline="0" noProof="0" dirty="0">
                <a:solidFill>
                  <a:srgbClr val="3C230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</a:br>
            <a: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Machine Learning</a:t>
            </a:r>
            <a:b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4400" b="1" kern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 Learning Feasible?</a:t>
            </a:r>
            <a:endParaRPr kumimoji="0" lang="zh-CN" altLang="en-US" sz="4400" b="1" kern="0" cap="none" spc="0" normalizeH="0" baseline="0" noProof="0" dirty="0">
              <a:gradFill>
                <a:gsLst>
                  <a:gs pos="0">
                    <a:srgbClr val="B95C00">
                      <a:shade val="20000"/>
                      <a:satMod val="200000"/>
                    </a:srgbClr>
                  </a:gs>
                  <a:gs pos="78000">
                    <a:srgbClr val="B95C00">
                      <a:tint val="90000"/>
                      <a:shade val="89000"/>
                      <a:satMod val="220000"/>
                    </a:srgbClr>
                  </a:gs>
                  <a:gs pos="100000">
                    <a:srgbClr val="B95C00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66" name="文本框 1"/>
          <p:cNvSpPr txBox="1"/>
          <p:nvPr/>
        </p:nvSpPr>
        <p:spPr>
          <a:xfrm>
            <a:off x="1331913" y="3932238"/>
            <a:ext cx="3624262" cy="18462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SzPct val="75000"/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of.Shuyuan Yang, Zhixi Feng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E-mail</a:t>
            </a:r>
            <a:r>
              <a:rPr lang="zh-CN" altLang="en-US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syyang@xidianedu.cn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zxfeng@xidian.edu.cn</a:t>
            </a:r>
            <a:endParaRPr lang="en-US" altLang="zh-CN" b="1" dirty="0" err="1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913" y="3286125"/>
            <a:ext cx="7056438" cy="46038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268" name="图片 8"/>
          <p:cNvPicPr>
            <a:picLocks noChangeAspect="1"/>
          </p:cNvPicPr>
          <p:nvPr/>
        </p:nvPicPr>
        <p:blipFill>
          <a:blip r:embed="rId3"/>
          <a:srcRect t="33493" r="2518"/>
          <a:stretch>
            <a:fillRect/>
          </a:stretch>
        </p:blipFill>
        <p:spPr>
          <a:xfrm>
            <a:off x="5940425" y="4437063"/>
            <a:ext cx="2600325" cy="185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Contents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6766" y="1553681"/>
            <a:ext cx="7886700" cy="4619625"/>
          </a:xfrm>
        </p:spPr>
        <p:txBody>
          <a:bodyPr/>
          <a:lstStyle/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Is learning feasible? </a:t>
            </a:r>
          </a:p>
          <a:p>
            <a:pPr lvl="2">
              <a:lnSpc>
                <a:spcPct val="200000"/>
              </a:lnSpc>
            </a:pPr>
            <a:endParaRPr lang="zh-CN" altLang="en-US" sz="2800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1F17B-6F0B-4037-9FEC-0072D10A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F3B61-D8CB-4985-9DF5-14B8BF35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69F0DC-022B-4A0C-A84F-42B50E516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52" y="1371032"/>
            <a:ext cx="8119698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2856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D5EEC-9279-4CD3-9C3A-E7F35B75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5868E-CD19-4403-89B4-4678B92B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A6A723-6B06-4E12-8605-E6598B37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41438"/>
            <a:ext cx="7491647" cy="461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707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677E7-DBA1-43EF-97B9-79085A3A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FB685F0-789A-40F1-9B15-B9D753BCD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754" y="1391206"/>
            <a:ext cx="5095446" cy="245768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F5B763-B20B-426D-9A48-9279250A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7F3F7A-1207-4D7D-BB70-D092BB0C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30" y="4077054"/>
            <a:ext cx="6714728" cy="214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165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0FB59-71C8-4F76-ABEE-C06DE7EA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5BAA4D-CA98-442F-B704-4DBDAA27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39B079-C856-4D59-8F2F-10D84842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B0F68C-3CB5-4469-A1C9-2639DEBD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7338"/>
            <a:ext cx="7793244" cy="37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09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0C672-EDB0-44F4-837E-B5C6FD433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2A732-C7F9-4403-89AF-09E39E164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98D5F-A4B5-4A90-9295-E72B0235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040494-2437-461C-A29B-14E077102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41438"/>
            <a:ext cx="78486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500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89617"/>
            <a:ext cx="7063187" cy="4587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Central Questions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730" y="2492922"/>
            <a:ext cx="6500328" cy="194416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Trade-off on </a:t>
            </a:r>
            <a:r>
              <a:rPr lang="en-US" altLang="zh-CN" b="1" i="1" dirty="0">
                <a:solidFill>
                  <a:srgbClr val="FF0000"/>
                </a:solidFill>
              </a:rPr>
              <a:t>M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557338"/>
            <a:ext cx="7886700" cy="397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Preview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70" y="1557338"/>
            <a:ext cx="7541195" cy="4619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Did </a:t>
            </a:r>
            <a:r>
              <a:rPr lang="en-US" altLang="zh-CN" b="1" i="1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 Come From?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64" y="1557339"/>
            <a:ext cx="8084154" cy="4463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Where Did </a:t>
            </a:r>
            <a:r>
              <a:rPr lang="en-US" altLang="zh-CN" b="1" i="1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 Come From?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53" y="1557339"/>
            <a:ext cx="7793812" cy="424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557338"/>
            <a:ext cx="79629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39713" y="549275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Lines Are There? (1/2)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9713" y="549275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Lines Are There? (1/2)</a:t>
            </a:r>
            <a:endParaRPr lang="zh-CN" altLang="en-US" kern="0" dirty="0"/>
          </a:p>
        </p:txBody>
      </p:sp>
      <p:pic>
        <p:nvPicPr>
          <p:cNvPr id="48131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485900"/>
            <a:ext cx="81153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5900"/>
            <a:ext cx="7962900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39713" y="549275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Lines Are There? (2/2)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9713" y="549275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Lines Are There? (2/2)</a:t>
            </a:r>
            <a:endParaRPr lang="zh-CN" altLang="en-US" kern="0" dirty="0"/>
          </a:p>
        </p:txBody>
      </p:sp>
      <p:pic>
        <p:nvPicPr>
          <p:cNvPr id="5017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412875"/>
            <a:ext cx="8010525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28788"/>
            <a:ext cx="7770813" cy="512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Kinds of Lines for Three Inputs? (1/2)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12913"/>
            <a:ext cx="7939088" cy="512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How Many Kinds of Lines for Three Inputs? (2/2)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41438"/>
            <a:ext cx="8159750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Effective Number of Lines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70"/>
          <a:stretch>
            <a:fillRect/>
          </a:stretch>
        </p:blipFill>
        <p:spPr bwMode="auto">
          <a:xfrm>
            <a:off x="468313" y="1341438"/>
            <a:ext cx="8064500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341438"/>
            <a:ext cx="8064500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73250"/>
            <a:ext cx="7494588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3600" dirty="0"/>
              <a:t>How Many Kinds of Lines for Four Inputs?</a:t>
            </a:r>
            <a:br>
              <a:rPr lang="en-US" altLang="zh-CN" sz="3600" dirty="0"/>
            </a:br>
            <a:endParaRPr lang="zh-CN" altLang="en-US" sz="3600" kern="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940"/>
          <a:stretch>
            <a:fillRect/>
          </a:stretch>
        </p:blipFill>
        <p:spPr bwMode="auto">
          <a:xfrm>
            <a:off x="179388" y="1484313"/>
            <a:ext cx="88741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84313"/>
            <a:ext cx="8874125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70013"/>
            <a:ext cx="813752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Dichotomies: Mini-hypotheses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1484313"/>
            <a:ext cx="882967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Growth Function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96975"/>
            <a:ext cx="8497887" cy="559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279400" y="404813"/>
            <a:ext cx="956468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Growth Function for Positive Rays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76" y="1700856"/>
            <a:ext cx="7344408" cy="494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4000" dirty="0"/>
              <a:t>Growth Function for Positive Intervals</a:t>
            </a:r>
            <a:endParaRPr lang="zh-CN" altLang="en-US" sz="4000" kern="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913563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4000" dirty="0"/>
              <a:t>Growth Function for Convex Sets(1/2)</a:t>
            </a:r>
            <a:br>
              <a:rPr lang="en-US" altLang="zh-CN" sz="4000" dirty="0"/>
            </a:br>
            <a:endParaRPr lang="zh-CN" altLang="en-US" sz="4000" kern="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70" y="1844868"/>
            <a:ext cx="7707899" cy="4115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4000" dirty="0"/>
              <a:t>Growth Function for Convex Sets(2/2)</a:t>
            </a:r>
            <a:br>
              <a:rPr lang="en-US" altLang="zh-CN" sz="4000" dirty="0"/>
            </a:br>
            <a:endParaRPr lang="zh-CN" altLang="en-US" sz="4000" kern="0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93"/>
          <a:stretch>
            <a:fillRect/>
          </a:stretch>
        </p:blipFill>
        <p:spPr bwMode="auto">
          <a:xfrm>
            <a:off x="141288" y="1557338"/>
            <a:ext cx="889317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1557338"/>
            <a:ext cx="8893175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41438"/>
            <a:ext cx="8886825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The Four Growth Functions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84313"/>
            <a:ext cx="8713787" cy="442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Break Point of </a:t>
            </a:r>
            <a:r>
              <a:rPr lang="en-US" altLang="zh-CN" i="1" dirty="0"/>
              <a:t>H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196975"/>
            <a:ext cx="8866188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The Four Break Points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BEDA85-C981-4263-811B-FBC87126BB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2161433-2176-4410-B353-7A17FBEE7B45}"/>
              </a:ext>
            </a:extLst>
          </p:cNvPr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The Four Break Points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kern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63279B-C80F-4016-B872-4774E389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94" y="1647286"/>
            <a:ext cx="6740922" cy="440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8899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60"/>
          <a:stretch>
            <a:fillRect/>
          </a:stretch>
        </p:blipFill>
        <p:spPr bwMode="auto">
          <a:xfrm>
            <a:off x="250825" y="1484313"/>
            <a:ext cx="88042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84313"/>
            <a:ext cx="880427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1"/>
          <p:cNvSpPr txBox="1"/>
          <p:nvPr/>
        </p:nvSpPr>
        <p:spPr>
          <a:xfrm>
            <a:off x="-323850" y="404813"/>
            <a:ext cx="9825038" cy="936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/>
              <a:t>Fun Time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3FDD2-4A7D-484F-92C7-2A403CFA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Bounding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495B9D-1491-4F6C-AA23-57A11E039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ABFD6-2470-4992-88A3-F42A8A8F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47454221-4E61-437C-AB46-79E429AB9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04" y="1567283"/>
            <a:ext cx="8029575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565183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 of Bounding Function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2610C234-5557-46C4-8D9A-435CE0F3C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20825"/>
            <a:ext cx="802005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 of Bounding Function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6AFCDBDA-00AA-4C8A-A6B5-8D2C9844A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520825"/>
            <a:ext cx="7327632" cy="472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DB6E5-55F4-453A-9451-7DB20CBF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 of Bounding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CC2F2C-72A4-454E-8B8B-88158CB6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4B3F8-8176-4BCE-9972-2C4A7900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B5BFE021-BB7A-4D7D-92F2-15245C27D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00200"/>
            <a:ext cx="6967602" cy="458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000421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17E1F-B1FF-4152-BB6E-599F6FF9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182A2-4044-42F4-8EEF-E1607280C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247AD-F0B5-4CDD-B066-3AAC3D6E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017374-89B0-4C33-9AC8-260D7480F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93162"/>
            <a:ext cx="79724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34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5F33D-5E72-471F-B8FD-4FA3A9BB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Bounding Function: The Theorem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E6E8EC-CE6E-4ECC-B740-5414BEED0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D4C92-6693-4857-B8F7-E8E744B7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BA8728DD-BE87-4ED1-819F-737FAA504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62366"/>
            <a:ext cx="804862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735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4F1E7-F0C7-47AD-A7B5-684F3014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Three Break Points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5BB58B-7E61-492D-AEB9-DB623C23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23C16-C660-43B1-818D-5C89752B7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4B5E21DB-4186-4076-84AF-1CBD9E951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557338"/>
            <a:ext cx="7255626" cy="466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11541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F663-35F7-471D-864C-12E116C7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BAD Bound for General </a:t>
            </a:r>
            <a:r>
              <a:rPr lang="en-US" altLang="zh-CN" i="1" dirty="0"/>
              <a:t>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491E9D-5049-4160-AD73-0E05A34C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4F365-91CE-4196-892E-52276B0B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7AF26974-4710-41AB-B6F1-BE4A0E4FF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57338"/>
            <a:ext cx="7831674" cy="3995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2662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8FFFA-95AA-411B-8A94-8CC9F748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1: Replace </a:t>
            </a:r>
            <a:r>
              <a:rPr lang="en-US" altLang="zh-CN" i="1" dirty="0" err="1"/>
              <a:t>E</a:t>
            </a:r>
            <a:r>
              <a:rPr lang="en-US" altLang="zh-CN" sz="2400" dirty="0" err="1"/>
              <a:t>out</a:t>
            </a:r>
            <a:r>
              <a:rPr lang="en-US" altLang="zh-CN" sz="4400" dirty="0"/>
              <a:t> </a:t>
            </a:r>
            <a:r>
              <a:rPr lang="en-US" altLang="zh-CN" dirty="0"/>
              <a:t>by </a:t>
            </a:r>
            <a:r>
              <a:rPr lang="en-US" altLang="zh-CN" i="1" dirty="0"/>
              <a:t>E</a:t>
            </a:r>
            <a:r>
              <a:rPr lang="en-US" altLang="zh-CN" sz="2000" dirty="0"/>
              <a:t>i</a:t>
            </a:r>
            <a:r>
              <a:rPr lang="en-US" altLang="zh-CN" sz="2400" dirty="0"/>
              <a:t>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0D1CF4-9F49-423A-B12E-C4DF5CAB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874F09-5537-40C2-8BA1-A58A5B1F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5D3FBB4F-0D46-4AC9-89F4-B48AA18A7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69" y="1557338"/>
            <a:ext cx="7150902" cy="461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77415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15D13-3E19-46E9-BD80-87FE3909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2: Decompose </a:t>
            </a:r>
            <a:r>
              <a:rPr lang="en-US" altLang="zh-CN" i="1" dirty="0"/>
              <a:t>H </a:t>
            </a:r>
            <a:r>
              <a:rPr lang="en-US" altLang="zh-CN" dirty="0"/>
              <a:t>by Kind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E8305-D599-4CD5-95EE-118132A81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B31F4-F581-4CB8-B450-3976F6F0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D66ED027-AD1A-4255-80F5-79D44C454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57338"/>
            <a:ext cx="7399638" cy="4576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25978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981D1-460D-4198-9F9A-77C02A067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Step 3:Use </a:t>
            </a:r>
            <a:r>
              <a:rPr lang="en-US" altLang="zh-CN" sz="3200" dirty="0" err="1"/>
              <a:t>Hoeffding</a:t>
            </a:r>
            <a:r>
              <a:rPr lang="en-US" altLang="zh-CN" sz="3200" dirty="0"/>
              <a:t> without Replacement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8FF6C-B4EA-4AE5-844D-10CA9AE9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2455C-D359-4E60-8A93-46D9F4FF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458E0E9D-6C63-49A3-AC95-F8CD7ADA7F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/>
          <a:stretch/>
        </p:blipFill>
        <p:spPr bwMode="auto">
          <a:xfrm>
            <a:off x="628650" y="1557338"/>
            <a:ext cx="6965189" cy="454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9840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264E1-162A-4AF7-A839-A5C0E8BC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5CE62-6C64-42E5-B544-77E89DA51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C1307-1FE6-4A8F-82AF-E96902F6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06722E62-4CB3-4137-9A4C-F9FE4FF1A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77" y="1571625"/>
            <a:ext cx="6912576" cy="456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62596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49986-4DE5-49A2-A818-AEA277EB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VC Dimension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BC5C0-6FF9-4AA3-B042-76ADF1DBC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022F2-A501-4AFE-9264-C6DBDD3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3C828431-0361-4DA5-9DF1-E7190F53C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"/>
          <a:stretch/>
        </p:blipFill>
        <p:spPr bwMode="auto">
          <a:xfrm>
            <a:off x="628650" y="1520825"/>
            <a:ext cx="6967602" cy="454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00978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89F81-DE60-42A7-96EC-5E2E2039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Four VC Dimensions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801FA-057B-44EA-B5B6-AC93874C7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F8EF9-D8F0-4355-8542-D6C15627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AF41E299-1B3A-484B-BF48-53EF194A9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576268"/>
            <a:ext cx="7111614" cy="445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8662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71439-65B8-4E89-8F5E-F77E14F4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VC Dimension and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0C5F9-C6E6-4DBB-90FD-CA95F2CA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C5F16-334D-44E5-AE26-3FC9F557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820DA9EE-F7A7-46CD-84BB-03C4A2F9B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37" y="1567283"/>
            <a:ext cx="6815903" cy="450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53328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7A7EE-7399-49FF-97E3-03988B30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2D PLA </a:t>
            </a:r>
            <a:r>
              <a:rPr lang="en-US" altLang="zh-CN" b="1" dirty="0">
                <a:solidFill>
                  <a:srgbClr val="C00000"/>
                </a:solidFill>
              </a:rPr>
              <a:t>Revisited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37621-0FEF-4161-95C9-28E31538B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28688-2C38-4A49-A237-FB183AAD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74387179-AC46-431E-A451-34536FBDE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15" y="1572915"/>
            <a:ext cx="7609891" cy="4653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322309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1A63A-7F4F-4DFB-A371-F8C25D5F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VC Dimension of </a:t>
            </a:r>
            <a:r>
              <a:rPr lang="en-US" altLang="zh-CN" dirty="0" err="1"/>
              <a:t>Perceptrons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181E7-A836-41A0-9A02-2B89A968D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CE9DA-59DD-4767-9652-CA910F08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FDCE3E7C-05E7-4E83-B7D1-592DBB417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31" y="1561652"/>
            <a:ext cx="7560769" cy="4090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8569677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BC945-1536-4965-87B0-E0FDB98D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/>
              <a:t>M </a:t>
            </a:r>
            <a:r>
              <a:rPr lang="en-US" altLang="zh-CN" dirty="0"/>
              <a:t>and </a:t>
            </a:r>
            <a:r>
              <a:rPr lang="en-US" altLang="zh-CN" i="1" dirty="0" err="1"/>
              <a:t>d</a:t>
            </a:r>
            <a:r>
              <a:rPr lang="en-US" altLang="zh-CN" sz="1800" dirty="0" err="1"/>
              <a:t>VC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E2731-BB0F-412C-A962-35366050E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096D2-A89C-4C36-A259-9DD8D141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69F27612-F4FE-4E61-A9B3-D5F07F003F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0"/>
          <a:stretch/>
        </p:blipFill>
        <p:spPr bwMode="auto">
          <a:xfrm>
            <a:off x="619125" y="1557338"/>
            <a:ext cx="7337157" cy="447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355286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A1E26-B968-49A2-840E-B500508D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VC Bound Rephrase: Penalty for Model Complexity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FDFB2-8861-4583-A19B-6E7A8F01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765B0-FE93-4466-99CC-EE0ACBBD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02047D6D-7949-4782-AE05-3273F529F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72371"/>
            <a:ext cx="6912205" cy="4520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8123479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0A26C-E0F4-4E02-9961-262869B5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prstClr val="black"/>
                </a:solidFill>
              </a:rPr>
              <a:t>VC Bound Rephrase: Penalty for Model Complexity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6F172-1D98-49C6-B20E-90E4DB2C6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B93EE-51E3-40C5-A824-181C2884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1FDBEF0F-0CB4-4E00-B1D7-B28A550B3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59" y="1543106"/>
            <a:ext cx="6913788" cy="462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788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0281E-7004-4515-A467-0717DFDA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THE </a:t>
            </a:r>
            <a:r>
              <a:rPr lang="en-US" altLang="zh-CN" dirty="0"/>
              <a:t>VC Message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6E42D-E4D4-44C4-BB3D-4B650894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BC511-9C45-4753-A62D-14A2EF2B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53DE821A-300D-45B4-AA1B-9C8E6881C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76" y="1599353"/>
            <a:ext cx="6840033" cy="4535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999544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BBF9B-428D-4A39-BC3E-31F1465B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22D1A-C1F3-459C-9431-BEC37378E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2023/12/6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5DDDFD-9602-4527-AAD4-88FF1A0A2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1484838"/>
            <a:ext cx="5518434" cy="22543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DB27F0-00CE-4AF4-9A95-E9D3207A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21" y="3882604"/>
            <a:ext cx="6007221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1508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5D688-E8DC-4796-96F7-CC633962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VC Bound Rephrase: Sample Complexity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00AD74-E9F9-4F86-8822-B4BCCC4A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E9132-D9F6-4586-928D-5BB0600E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63ECBE0-34D7-4F85-957A-DD50A66F4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57339"/>
            <a:ext cx="7039608" cy="4529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143649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32E6D-35FE-4E04-835E-B2159401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Looseness of VC Bound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985E99-6973-4E66-8C53-B75BBD06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74B93-3555-4CC8-9490-4B12A2BE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B61B10E5-6464-4382-9952-2FB440AA8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" y="1557338"/>
            <a:ext cx="6823590" cy="451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39589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9D271-61B2-4DC8-B0A5-FED07B58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B5E10-6A9F-4704-82E6-9A99D9C3A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C3E16-79B0-4079-8199-EF7BD4D2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2023/11/29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ACFAFC-1B71-47F9-8ED2-B72E8C48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23" y="1557338"/>
            <a:ext cx="7174947" cy="328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2863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02246-AB83-4F8A-8C09-C3503695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7215E-FDC4-402B-AA5F-35A96572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F8740-F437-4871-A8C0-0A84A88E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2023/12/6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03525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A84FB-1A21-4F76-B748-F55F1D4C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机器学习项目流程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7240A-9BC7-4EA2-8152-67AF41CEC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1BD02-7CB4-42DE-80CC-B2768CF0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2023/12/6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2F1861-051D-428F-8DBC-6840118C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88" y="1557338"/>
            <a:ext cx="7153098" cy="399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8190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B9292-3CA2-4ED9-ACAE-8D9ABC49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机器学习一般步骤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31918-23A9-44B9-B144-5A425509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2023/12/6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8E3596-5CCA-4B68-9F33-FC6221A8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1484838"/>
            <a:ext cx="7716837" cy="44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32520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61D35-6279-4DCE-9D3F-CE1F1858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机器学习一般步骤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CC34B-E1D8-48A4-A066-4608272E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2023/12/6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2C8EBF-A5F3-4F2B-B247-53EA37A77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82" y="1772862"/>
            <a:ext cx="7187425" cy="10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67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10634</TotalTime>
  <Words>601</Words>
  <Application>Microsoft Office PowerPoint</Application>
  <PresentationFormat>全屏显示(4:3)</PresentationFormat>
  <Paragraphs>117</Paragraphs>
  <Slides>68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5" baseType="lpstr">
      <vt:lpstr>黑体</vt:lpstr>
      <vt:lpstr>Arial</vt:lpstr>
      <vt:lpstr>Calibri</vt:lpstr>
      <vt:lpstr>Calibri Light</vt:lpstr>
      <vt:lpstr>Segoe UI Light</vt:lpstr>
      <vt:lpstr>Segoe UI Symbol</vt:lpstr>
      <vt:lpstr>Office Theme</vt:lpstr>
      <vt:lpstr>PowerPoint 演示文稿</vt:lpstr>
      <vt:lpstr>Contents</vt:lpstr>
      <vt:lpstr>Learning？</vt:lpstr>
      <vt:lpstr>Learning？</vt:lpstr>
      <vt:lpstr>Learning？</vt:lpstr>
      <vt:lpstr>Learning？</vt:lpstr>
      <vt:lpstr>Learning？</vt:lpstr>
      <vt:lpstr>Learning？</vt:lpstr>
      <vt:lpstr>Two Central Questions</vt:lpstr>
      <vt:lpstr>Trade-off on M</vt:lpstr>
      <vt:lpstr>Preview</vt:lpstr>
      <vt:lpstr>Where Did M Come From?</vt:lpstr>
      <vt:lpstr>Where Did M Come From?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Bounding Function</vt:lpstr>
      <vt:lpstr>Table of Bounding Function</vt:lpstr>
      <vt:lpstr>Table of Bounding Function</vt:lpstr>
      <vt:lpstr>Table of Bounding Function</vt:lpstr>
      <vt:lpstr>Q？</vt:lpstr>
      <vt:lpstr>Bounding Function: The Theorem</vt:lpstr>
      <vt:lpstr>The Three Break Points</vt:lpstr>
      <vt:lpstr>BAD Bound for General H</vt:lpstr>
      <vt:lpstr>Step 1: Replace Eout by Ein</vt:lpstr>
      <vt:lpstr>Step 2: Decompose H by Kind</vt:lpstr>
      <vt:lpstr>Step 3:Use Hoeffding without Replacement</vt:lpstr>
      <vt:lpstr>PowerPoint 演示文稿</vt:lpstr>
      <vt:lpstr>VC Dimension</vt:lpstr>
      <vt:lpstr>The Four VC Dimensions</vt:lpstr>
      <vt:lpstr>VC Dimension and Learning</vt:lpstr>
      <vt:lpstr>2D PLA Revisited</vt:lpstr>
      <vt:lpstr>VC Dimension of Perceptrons</vt:lpstr>
      <vt:lpstr>M and dVC</vt:lpstr>
      <vt:lpstr>VC Bound Rephrase: Penalty for Model Complexity</vt:lpstr>
      <vt:lpstr>VC Bound Rephrase: Penalty for Model Complexity</vt:lpstr>
      <vt:lpstr>THE VC Message</vt:lpstr>
      <vt:lpstr>PowerPoint 演示文稿</vt:lpstr>
      <vt:lpstr>VC Bound Rephrase: Sample Complexity</vt:lpstr>
      <vt:lpstr>Looseness of VC Bound</vt:lpstr>
      <vt:lpstr>Q？</vt:lpstr>
      <vt:lpstr>PowerPoint 演示文稿</vt:lpstr>
      <vt:lpstr>机器学习项目流程</vt:lpstr>
      <vt:lpstr>机器学习一般步骤</vt:lpstr>
      <vt:lpstr>机器学习一般步骤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Snowden to Big Data</dc:title>
  <dc:creator>hytan</dc:creator>
  <cp:lastModifiedBy>Zhixi Feng</cp:lastModifiedBy>
  <cp:revision>1926</cp:revision>
  <cp:lastPrinted>2021-10-28T04:26:00Z</cp:lastPrinted>
  <dcterms:created xsi:type="dcterms:W3CDTF">2012-06-06T01:30:00Z</dcterms:created>
  <dcterms:modified xsi:type="dcterms:W3CDTF">2023-12-06T13:45:45Z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67A9819ED46D4C83A56ECA158F8A50BD</vt:lpwstr>
  </property>
</Properties>
</file>
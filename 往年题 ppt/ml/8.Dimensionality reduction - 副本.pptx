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395" r:id="rId2"/>
    <p:sldId id="975" r:id="rId3"/>
    <p:sldId id="717" r:id="rId4"/>
    <p:sldId id="943" r:id="rId5"/>
    <p:sldId id="944" r:id="rId6"/>
    <p:sldId id="950" r:id="rId7"/>
    <p:sldId id="976" r:id="rId8"/>
    <p:sldId id="951" r:id="rId9"/>
    <p:sldId id="952" r:id="rId10"/>
    <p:sldId id="953" r:id="rId11"/>
    <p:sldId id="954" r:id="rId12"/>
    <p:sldId id="955" r:id="rId13"/>
    <p:sldId id="956" r:id="rId14"/>
    <p:sldId id="957" r:id="rId15"/>
    <p:sldId id="958" r:id="rId16"/>
    <p:sldId id="959" r:id="rId17"/>
    <p:sldId id="977" r:id="rId18"/>
    <p:sldId id="967" r:id="rId19"/>
    <p:sldId id="960" r:id="rId20"/>
    <p:sldId id="979" r:id="rId21"/>
    <p:sldId id="968" r:id="rId22"/>
    <p:sldId id="980" r:id="rId23"/>
    <p:sldId id="981" r:id="rId24"/>
    <p:sldId id="969" r:id="rId25"/>
    <p:sldId id="978" r:id="rId26"/>
    <p:sldId id="927" r:id="rId27"/>
    <p:sldId id="982" r:id="rId28"/>
    <p:sldId id="970" r:id="rId29"/>
    <p:sldId id="931" r:id="rId30"/>
    <p:sldId id="932" r:id="rId31"/>
    <p:sldId id="933" r:id="rId32"/>
    <p:sldId id="934" r:id="rId33"/>
    <p:sldId id="935" r:id="rId34"/>
    <p:sldId id="938" r:id="rId35"/>
    <p:sldId id="936" r:id="rId36"/>
    <p:sldId id="937" r:id="rId37"/>
    <p:sldId id="972" r:id="rId38"/>
    <p:sldId id="973" r:id="rId39"/>
    <p:sldId id="974" r:id="rId40"/>
    <p:sldId id="939" r:id="rId41"/>
    <p:sldId id="1006" r:id="rId42"/>
    <p:sldId id="940" r:id="rId43"/>
    <p:sldId id="942" r:id="rId44"/>
    <p:sldId id="983" r:id="rId45"/>
    <p:sldId id="1005" r:id="rId46"/>
    <p:sldId id="989" r:id="rId47"/>
    <p:sldId id="990" r:id="rId48"/>
    <p:sldId id="984" r:id="rId49"/>
    <p:sldId id="985" r:id="rId50"/>
    <p:sldId id="993" r:id="rId51"/>
    <p:sldId id="986" r:id="rId52"/>
    <p:sldId id="991" r:id="rId53"/>
    <p:sldId id="992" r:id="rId54"/>
    <p:sldId id="987" r:id="rId55"/>
    <p:sldId id="988" r:id="rId56"/>
    <p:sldId id="994" r:id="rId57"/>
    <p:sldId id="995" r:id="rId58"/>
    <p:sldId id="996" r:id="rId59"/>
    <p:sldId id="997" r:id="rId60"/>
    <p:sldId id="998" r:id="rId61"/>
    <p:sldId id="999" r:id="rId62"/>
    <p:sldId id="1000" r:id="rId63"/>
    <p:sldId id="1001" r:id="rId64"/>
    <p:sldId id="1004" r:id="rId65"/>
    <p:sldId id="1002" r:id="rId66"/>
    <p:sldId id="1003" r:id="rId67"/>
  </p:sldIdLst>
  <p:sldSz cx="9144000" cy="6858000" type="screen4x3"/>
  <p:notesSz cx="6797675" cy="9928225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6B6B6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6" autoAdjust="0"/>
    <p:restoredTop sz="86078" autoAdjust="0"/>
  </p:normalViewPr>
  <p:slideViewPr>
    <p:cSldViewPr showGuides="1">
      <p:cViewPr varScale="1">
        <p:scale>
          <a:sx n="82" d="100"/>
          <a:sy n="82" d="100"/>
        </p:scale>
        <p:origin x="380" y="48"/>
      </p:cViewPr>
      <p:guideLst>
        <p:guide orient="horz" pos="213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2652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>
              <a:defRPr sz="1200" smtClean="0"/>
            </a:lvl1pPr>
          </a:lstStyle>
          <a:p>
            <a:pPr defTabSz="882015" eaLnBrk="0" hangingPunct="0"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092" y="1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r">
              <a:defRPr sz="1200" smtClean="0"/>
            </a:lvl1pPr>
          </a:lstStyle>
          <a:p>
            <a:pPr defTabSz="882015" eaLnBrk="0" hangingPunct="0">
              <a:defRPr/>
            </a:pPr>
            <a:fld id="{4BB3C76A-5825-4231-B0D3-9E855FBDE640}" type="datetimeFigureOut">
              <a:rPr lang="zh-CN" altLang="en-US"/>
              <a:t>2024/4/25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813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>
              <a:defRPr sz="1200" smtClean="0"/>
            </a:lvl1pPr>
          </a:lstStyle>
          <a:p>
            <a:pPr defTabSz="882015" eaLnBrk="0" hangingPunct="0"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092" y="9430813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 anchor="b"/>
          <a:lstStyle/>
          <a:p>
            <a:pPr lvl="0" algn="r" fontAlgn="base">
              <a:buNone/>
            </a:pPr>
            <a:fld id="{9A0DB2DC-4C9A-4742-B13C-FB6460FD3503}" type="slidenum">
              <a:rPr lang="zh-CN" altLang="en-US" sz="1200" noProof="1" dirty="0"/>
              <a:t>‹#›</a:t>
            </a:fld>
            <a:endParaRPr lang="zh-CN" altLang="en-US" sz="1200" noProof="1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65" cy="495872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l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defTabSz="882015"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092" y="1"/>
            <a:ext cx="2946065" cy="495872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defTabSz="882015">
              <a:defRPr/>
            </a:pPr>
            <a:fld id="{43AE81DF-FBE5-4EB3-A463-0AC46A2C5CCC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9" tIns="47784" rIns="95569" bIns="47784" rtlCol="0" anchor="ctr"/>
          <a:lstStyle/>
          <a:p>
            <a:pPr marL="0" marR="0" lvl="0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160" y="4715406"/>
            <a:ext cx="5439355" cy="4467471"/>
          </a:xfrm>
          <a:prstGeom prst="rect">
            <a:avLst/>
          </a:prstGeom>
        </p:spPr>
        <p:txBody>
          <a:bodyPr vert="horz" lIns="95569" tIns="47784" rIns="95569" bIns="47784" rtlCol="0"/>
          <a:lstStyle/>
          <a:p>
            <a:pPr marL="0" marR="0" lvl="0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41325" marR="0" lvl="1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882015" marR="0" lvl="2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23340" marR="0" lvl="3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764030" marR="0" lvl="4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813"/>
            <a:ext cx="2946065" cy="49587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l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defTabSz="882015"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092" y="9430813"/>
            <a:ext cx="2946065" cy="495872"/>
          </a:xfrm>
          <a:prstGeom prst="rect">
            <a:avLst/>
          </a:prstGeom>
        </p:spPr>
        <p:txBody>
          <a:bodyPr vert="horz" wrap="square" lIns="95569" tIns="47784" rIns="95569" bIns="47784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3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3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5569" tIns="47784" rIns="95569" bIns="47784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092" y="9430813"/>
            <a:ext cx="2946065" cy="49587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5569" tIns="47784" rIns="95569" bIns="4778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  <a:t>1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5438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6725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7293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5855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9535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4234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7858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1316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8855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9737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1843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210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7628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570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9815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5246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9798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99486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69919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76111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34301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06766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63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altLang="zh-HK" strike="noStrike" noProof="1"/>
              <a:t>Click to edit Master subtitle style</a:t>
            </a:r>
            <a:endParaRPr lang="zh-HK" altLang="en-US" strike="noStrike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01013" y="6356350"/>
            <a:ext cx="9191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 lang="en-US" altLang="zh-HK" sz="2000" b="1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>
              <a:defRPr lang="en-US" altLang="zh-HK" sz="1800" b="1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>
              <a:defRPr lang="en-US" altLang="zh-HK" sz="1600" b="1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>
              <a:defRPr lang="en-US" altLang="zh-HK" sz="1400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>
              <a:defRPr lang="zh-HK" altLang="en-US" sz="1200" kern="1200" dirty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01013" y="6356350"/>
            <a:ext cx="9191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/>
          </a:p>
        </p:txBody>
      </p:sp>
    </p:spTree>
  </p:cSld>
  <p:clrMapOvr>
    <a:masterClrMapping/>
  </p:clrMapOvr>
  <p:transition/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HK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3650" y="692150"/>
            <a:ext cx="7880350" cy="30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056563" y="6356350"/>
            <a:ext cx="917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9763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HK" dirty="0"/>
              <a:t>Click to edit Master title style</a:t>
            </a:r>
            <a:endParaRPr lang="zh-HK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557338"/>
            <a:ext cx="7886700" cy="4619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zh-HK" dirty="0"/>
              <a:t>Click to edit Master text styles</a:t>
            </a:r>
          </a:p>
          <a:p>
            <a:pPr lvl="1"/>
            <a:r>
              <a:rPr lang="en-US" altLang="zh-HK" dirty="0"/>
              <a:t>Second level</a:t>
            </a:r>
          </a:p>
          <a:p>
            <a:pPr lvl="2"/>
            <a:r>
              <a:rPr lang="en-US" altLang="zh-HK" dirty="0"/>
              <a:t>Third level</a:t>
            </a:r>
          </a:p>
          <a:p>
            <a:pPr lvl="3"/>
            <a:r>
              <a:rPr lang="en-US" altLang="zh-HK" dirty="0"/>
              <a:t>Fourth level</a:t>
            </a:r>
          </a:p>
          <a:p>
            <a:pPr lvl="4"/>
            <a:r>
              <a:rPr lang="en-US" altLang="zh-HK" dirty="0"/>
              <a:t>Fifth level</a:t>
            </a:r>
            <a:endParaRPr lang="zh-HK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6563" y="6356350"/>
            <a:ext cx="917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95288" y="40481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sldNum="0" hdr="0" ft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Segoe UI Symbol" panose="020B0502040204020203" pitchFamily="34" charset="0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lang="en-US" altLang="zh-HK" sz="2400" b="1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altLang="zh-HK" sz="2000" b="1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altLang="zh-HK" b="1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altLang="zh-HK" sz="1600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zh-HK" altLang="en-US" sz="1400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gif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187623" y="1844824"/>
            <a:ext cx="7632849" cy="1368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ctr">
              <a:spcBef>
                <a:spcPct val="20000"/>
              </a:spcBef>
              <a:defRPr/>
            </a:pPr>
            <a:br>
              <a:rPr kumimoji="0" lang="en-US" altLang="zh-CN" sz="2800" b="1" kern="0" cap="none" spc="0" normalizeH="0" baseline="0" noProof="0" dirty="0">
                <a:solidFill>
                  <a:srgbClr val="3C230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</a:br>
            <a:r>
              <a:rPr kumimoji="0" lang="zh-CN" altLang="en-US" sz="4400" b="1" kern="0" cap="none" spc="0" normalizeH="0" baseline="0" noProof="0" dirty="0">
                <a:gradFill>
                  <a:gsLst>
                    <a:gs pos="0">
                      <a:srgbClr val="B95C00">
                        <a:shade val="20000"/>
                        <a:satMod val="200000"/>
                      </a:srgbClr>
                    </a:gs>
                    <a:gs pos="78000">
                      <a:srgbClr val="B95C00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B95C00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Machine Learning</a:t>
            </a:r>
            <a:br>
              <a:rPr kumimoji="0" lang="zh-CN" altLang="en-US" sz="4400" b="1" kern="0" cap="none" spc="0" normalizeH="0" baseline="0" noProof="0" dirty="0">
                <a:gradFill>
                  <a:gsLst>
                    <a:gs pos="0">
                      <a:srgbClr val="B95C00">
                        <a:shade val="20000"/>
                        <a:satMod val="200000"/>
                      </a:srgbClr>
                    </a:gs>
                    <a:gs pos="78000">
                      <a:srgbClr val="B95C00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B95C00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kumimoji="0" lang="en-US" altLang="zh-CN" sz="3200" b="1" kern="0" cap="none" spc="0" normalizeH="0" baseline="0" noProof="0" dirty="0">
                <a:gradFill>
                  <a:gsLst>
                    <a:gs pos="0">
                      <a:srgbClr val="B95C00">
                        <a:shade val="20000"/>
                        <a:satMod val="200000"/>
                      </a:srgbClr>
                    </a:gs>
                    <a:gs pos="78000">
                      <a:srgbClr val="B95C00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B95C00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Dimensionality Reduction</a:t>
            </a:r>
            <a:endParaRPr kumimoji="0" lang="zh-CN" altLang="en-US" sz="4400" b="1" kern="0" cap="none" spc="0" normalizeH="0" baseline="0" noProof="0" dirty="0">
              <a:gradFill>
                <a:gsLst>
                  <a:gs pos="0">
                    <a:srgbClr val="B95C00">
                      <a:shade val="20000"/>
                      <a:satMod val="200000"/>
                    </a:srgbClr>
                  </a:gs>
                  <a:gs pos="78000">
                    <a:srgbClr val="B95C00">
                      <a:tint val="90000"/>
                      <a:shade val="89000"/>
                      <a:satMod val="220000"/>
                    </a:srgbClr>
                  </a:gs>
                  <a:gs pos="100000">
                    <a:srgbClr val="B95C00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266" name="文本框 1"/>
          <p:cNvSpPr txBox="1"/>
          <p:nvPr/>
        </p:nvSpPr>
        <p:spPr>
          <a:xfrm>
            <a:off x="1331913" y="3932238"/>
            <a:ext cx="3624262" cy="18462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SzPct val="75000"/>
            </a:pP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  <a:buSzPct val="75000"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Pr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of.Shuyuan Yang, Zhixi Feng</a:t>
            </a:r>
            <a:endParaRPr lang="en-US" altLang="zh-CN" b="1" dirty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SzPct val="75000"/>
            </a:pPr>
            <a:r>
              <a:rPr lang="en-US" altLang="zh-CN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E-mail</a:t>
            </a:r>
            <a:r>
              <a:rPr lang="zh-CN" altLang="en-US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en-US" altLang="zh-CN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syyang@xidianedu.cn</a:t>
            </a:r>
          </a:p>
          <a:p>
            <a:pPr>
              <a:lnSpc>
                <a:spcPct val="150000"/>
              </a:lnSpc>
              <a:buSzPct val="75000"/>
            </a:pPr>
            <a:r>
              <a:rPr lang="en-US" altLang="zh-CN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 zxfeng@xidian.edu.cn</a:t>
            </a:r>
            <a:endParaRPr lang="en-US" altLang="zh-CN" b="1" dirty="0" err="1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31913" y="3286125"/>
            <a:ext cx="7056438" cy="46038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1268" name="图片 8"/>
          <p:cNvPicPr>
            <a:picLocks noChangeAspect="1"/>
          </p:cNvPicPr>
          <p:nvPr/>
        </p:nvPicPr>
        <p:blipFill>
          <a:blip r:embed="rId3"/>
          <a:srcRect t="33493" r="2518"/>
          <a:stretch>
            <a:fillRect/>
          </a:stretch>
        </p:blipFill>
        <p:spPr>
          <a:xfrm>
            <a:off x="5940425" y="4437063"/>
            <a:ext cx="2600325" cy="1854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0C34B-4712-4B0D-93CA-B9527AFFB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我们是否应该讲授深度学习之前的传统方法？还是直接通过深度学习解决所有的问题？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B7B8C4-F332-44E6-860E-25D9F38CB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FD5896-92F7-47A5-8A21-DD96C8E8C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421087"/>
            <a:ext cx="4646066" cy="351287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9C1BE2F-6E1E-433B-A97C-09695F3F4F48}"/>
              </a:ext>
            </a:extLst>
          </p:cNvPr>
          <p:cNvSpPr/>
          <p:nvPr/>
        </p:nvSpPr>
        <p:spPr>
          <a:xfrm>
            <a:off x="359649" y="4967149"/>
            <a:ext cx="842470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333333"/>
                </a:solidFill>
                <a:latin typeface="-apple-system"/>
              </a:rPr>
              <a:t>A discussion about deep learning vs classical methods and their roles in computer vision</a:t>
            </a:r>
          </a:p>
          <a:p>
            <a:pPr algn="ctr"/>
            <a:endParaRPr lang="en-US" altLang="zh-CN" sz="1600" b="1" dirty="0">
              <a:solidFill>
                <a:srgbClr val="333333"/>
              </a:solidFill>
              <a:latin typeface="-apple-system"/>
            </a:endParaRPr>
          </a:p>
          <a:p>
            <a:pPr algn="just"/>
            <a:r>
              <a:rPr lang="en-US" altLang="zh-CN" sz="1600" dirty="0">
                <a:solidFill>
                  <a:srgbClr val="333333"/>
                </a:solidFill>
                <a:latin typeface="+mn-lt"/>
                <a:ea typeface="+mn-ea"/>
              </a:rPr>
              <a:t>Aude Oliva</a:t>
            </a:r>
            <a:r>
              <a:rPr lang="zh-CN" altLang="en-US" sz="1600" dirty="0">
                <a:solidFill>
                  <a:srgbClr val="333333"/>
                </a:solidFill>
                <a:latin typeface="+mn-lt"/>
                <a:ea typeface="+mn-ea"/>
              </a:rPr>
              <a:t>（</a:t>
            </a:r>
            <a:r>
              <a:rPr lang="en-US" altLang="zh-CN" sz="1600" dirty="0">
                <a:solidFill>
                  <a:srgbClr val="333333"/>
                </a:solidFill>
                <a:latin typeface="+mn-lt"/>
                <a:ea typeface="+mn-ea"/>
              </a:rPr>
              <a:t>MIT-IBM Watson </a:t>
            </a:r>
            <a:r>
              <a:rPr lang="zh-CN" altLang="en-US" sz="1600" dirty="0">
                <a:solidFill>
                  <a:srgbClr val="333333"/>
                </a:solidFill>
                <a:latin typeface="+mn-lt"/>
                <a:ea typeface="+mn-ea"/>
              </a:rPr>
              <a:t>人工智能实验室）、</a:t>
            </a:r>
            <a:r>
              <a:rPr lang="en-US" altLang="zh-CN" sz="1600" dirty="0">
                <a:solidFill>
                  <a:srgbClr val="333333"/>
                </a:solidFill>
                <a:latin typeface="+mn-lt"/>
                <a:ea typeface="+mn-ea"/>
              </a:rPr>
              <a:t>Svetlana </a:t>
            </a:r>
            <a:r>
              <a:rPr lang="en-US" altLang="zh-CN" sz="1600" dirty="0" err="1">
                <a:solidFill>
                  <a:srgbClr val="333333"/>
                </a:solidFill>
                <a:latin typeface="+mn-lt"/>
                <a:ea typeface="+mn-ea"/>
              </a:rPr>
              <a:t>Lazebnik</a:t>
            </a:r>
            <a:r>
              <a:rPr lang="zh-CN" altLang="en-US" sz="1600" dirty="0">
                <a:solidFill>
                  <a:srgbClr val="333333"/>
                </a:solidFill>
                <a:latin typeface="+mn-lt"/>
                <a:ea typeface="+mn-ea"/>
              </a:rPr>
              <a:t>（伊利诺伊大学香槟分校）、</a:t>
            </a:r>
            <a:r>
              <a:rPr lang="en-US" altLang="zh-CN" sz="1600" dirty="0">
                <a:solidFill>
                  <a:srgbClr val="333333"/>
                </a:solidFill>
                <a:latin typeface="+mn-lt"/>
                <a:ea typeface="+mn-ea"/>
              </a:rPr>
              <a:t>Jitendra Malik</a:t>
            </a:r>
            <a:r>
              <a:rPr lang="zh-CN" altLang="en-US" sz="1600" dirty="0">
                <a:solidFill>
                  <a:srgbClr val="333333"/>
                </a:solidFill>
                <a:latin typeface="+mn-lt"/>
                <a:ea typeface="+mn-ea"/>
              </a:rPr>
              <a:t>（加州大学伯克利分校）、</a:t>
            </a:r>
            <a:r>
              <a:rPr lang="en-US" altLang="zh-CN" sz="1600" dirty="0">
                <a:solidFill>
                  <a:srgbClr val="333333"/>
                </a:solidFill>
                <a:latin typeface="+mn-lt"/>
                <a:ea typeface="+mn-ea"/>
              </a:rPr>
              <a:t>Andrew Davison</a:t>
            </a:r>
            <a:r>
              <a:rPr lang="zh-CN" altLang="en-US" sz="1600" dirty="0">
                <a:solidFill>
                  <a:srgbClr val="333333"/>
                </a:solidFill>
                <a:latin typeface="+mn-lt"/>
                <a:ea typeface="+mn-ea"/>
              </a:rPr>
              <a:t>（帝国理工大学）、</a:t>
            </a:r>
            <a:r>
              <a:rPr lang="en-US" altLang="zh-CN" sz="1600" dirty="0">
                <a:solidFill>
                  <a:srgbClr val="333333"/>
                </a:solidFill>
                <a:latin typeface="+mn-lt"/>
                <a:ea typeface="+mn-ea"/>
              </a:rPr>
              <a:t>Richard </a:t>
            </a:r>
            <a:r>
              <a:rPr lang="en-US" altLang="zh-CN" sz="1600" dirty="0" err="1">
                <a:solidFill>
                  <a:srgbClr val="333333"/>
                </a:solidFill>
                <a:latin typeface="+mn-lt"/>
                <a:ea typeface="+mn-ea"/>
              </a:rPr>
              <a:t>Szeliski</a:t>
            </a:r>
            <a:r>
              <a:rPr lang="zh-CN" altLang="en-US" sz="1600" dirty="0">
                <a:solidFill>
                  <a:srgbClr val="333333"/>
                </a:solidFill>
                <a:latin typeface="+mn-lt"/>
                <a:ea typeface="+mn-ea"/>
              </a:rPr>
              <a:t>（华盛顿大学）、</a:t>
            </a:r>
            <a:r>
              <a:rPr lang="en-US" altLang="zh-CN" sz="1600" dirty="0">
                <a:solidFill>
                  <a:srgbClr val="333333"/>
                </a:solidFill>
                <a:latin typeface="+mn-lt"/>
                <a:ea typeface="+mn-ea"/>
              </a:rPr>
              <a:t>Alexei </a:t>
            </a:r>
            <a:r>
              <a:rPr lang="en-US" altLang="zh-CN" sz="1600" dirty="0" err="1">
                <a:solidFill>
                  <a:srgbClr val="333333"/>
                </a:solidFill>
                <a:latin typeface="+mn-lt"/>
                <a:ea typeface="+mn-ea"/>
              </a:rPr>
              <a:t>Efros</a:t>
            </a:r>
            <a:r>
              <a:rPr lang="zh-CN" altLang="en-US" sz="1600" dirty="0">
                <a:solidFill>
                  <a:srgbClr val="333333"/>
                </a:solidFill>
                <a:latin typeface="+mn-lt"/>
                <a:ea typeface="+mn-ea"/>
              </a:rPr>
              <a:t>（加州大学伯克利分校）。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C1BB7D-7B0C-4FCF-9C29-FF6B0768A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532" y="1700856"/>
            <a:ext cx="3633788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3479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Contents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6766" y="1553681"/>
            <a:ext cx="7886700" cy="4619625"/>
          </a:xfrm>
        </p:spPr>
        <p:txBody>
          <a:bodyPr/>
          <a:lstStyle/>
          <a:p>
            <a:pPr lvl="2">
              <a:lnSpc>
                <a:spcPct val="200000"/>
              </a:lnSpc>
            </a:pPr>
            <a:r>
              <a:rPr lang="en-US" altLang="zh-CN" sz="28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Dataset</a:t>
            </a:r>
          </a:p>
          <a:p>
            <a:pPr lvl="2">
              <a:lnSpc>
                <a:spcPct val="200000"/>
              </a:lnSpc>
            </a:pPr>
            <a:r>
              <a:rPr lang="en-US" altLang="zh-CN" sz="28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Preprocessing</a:t>
            </a:r>
          </a:p>
          <a:p>
            <a:pPr lvl="2">
              <a:lnSpc>
                <a:spcPct val="200000"/>
              </a:lnSpc>
            </a:pPr>
            <a:r>
              <a:rPr lang="en-US" altLang="zh-CN" sz="28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Dimensionality Reduction</a:t>
            </a:r>
            <a:endParaRPr lang="zh-CN" altLang="en-US" sz="2800" noProof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DC5B9-EDE2-4748-9D38-BF550C18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You need datasets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02E898-6D71-4263-963D-66D3A61F3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2F3B0E-E1FA-4857-A1FD-C6A584C39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8BD3E0-AD41-4C33-A8AF-C817E1E0F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58" y="2348910"/>
            <a:ext cx="7992666" cy="2765552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57B46F78-F669-4531-A052-E6A5A049519E}"/>
              </a:ext>
            </a:extLst>
          </p:cNvPr>
          <p:cNvSpPr/>
          <p:nvPr/>
        </p:nvSpPr>
        <p:spPr>
          <a:xfrm>
            <a:off x="1043706" y="4509090"/>
            <a:ext cx="6408534" cy="36003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45298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30815-CB7A-4846-A492-28B40B23B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Some available datasets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427E78-32A1-4DBE-BCDB-33AEF93B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50E92A-6099-48F9-AD57-DD315C592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64" y="1522495"/>
            <a:ext cx="4032336" cy="2218342"/>
          </a:xfrm>
          <a:prstGeom prst="rect">
            <a:avLst/>
          </a:prstGeom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6E12D77-BBC2-407B-8308-BCC63EFCC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572000" y="1522917"/>
            <a:ext cx="4032336" cy="22307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F2A7DD-AF2E-4342-92F8-1652D0E73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64" y="3880759"/>
            <a:ext cx="4032336" cy="22307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641ED22-C928-4A73-A7DB-FCEBCFF04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006" y="3910436"/>
            <a:ext cx="3960330" cy="214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30761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8CEBB-595B-4E80-9B41-E5E2E4DF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You need datasets </a:t>
            </a:r>
            <a:r>
              <a:rPr lang="zh-CN" altLang="en-US" b="1" dirty="0">
                <a:solidFill>
                  <a:srgbClr val="C00000"/>
                </a:solidFill>
              </a:rPr>
              <a:t>！！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0265A8-B2E2-47F3-B3DB-38F646AA1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09148-3B46-4750-A8E9-66DE60C0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B1AD18-E017-468E-8C49-ED8DB82F9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34" y="1843087"/>
            <a:ext cx="8008601" cy="2822079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117666D1-F662-465E-AABE-0A1046D6D195}"/>
              </a:ext>
            </a:extLst>
          </p:cNvPr>
          <p:cNvSpPr/>
          <p:nvPr/>
        </p:nvSpPr>
        <p:spPr>
          <a:xfrm>
            <a:off x="3686465" y="4047525"/>
            <a:ext cx="2272503" cy="34583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0169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39CB507-92D0-4550-A79A-30E17AAFC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64" y="3789030"/>
            <a:ext cx="2882271" cy="2160859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1E33B4-F5C5-48DB-AE6F-0018C3F88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2A4D1F-9DCA-457D-B891-C54D208E9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63" y="1662581"/>
            <a:ext cx="2882271" cy="192270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875A9C-D7C5-4000-9EB4-4C7AA51C8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9753" y="1671678"/>
            <a:ext cx="4160541" cy="1922708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865670E2-C3C5-4524-892E-27AAEA02E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976313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You need datasets </a:t>
            </a:r>
            <a:r>
              <a:rPr lang="zh-CN" altLang="en-US" b="1" dirty="0">
                <a:solidFill>
                  <a:srgbClr val="C00000"/>
                </a:solidFill>
              </a:rPr>
              <a:t>！！</a:t>
            </a:r>
          </a:p>
        </p:txBody>
      </p:sp>
    </p:spTree>
    <p:extLst>
      <p:ext uri="{BB962C8B-B14F-4D97-AF65-F5344CB8AC3E}">
        <p14:creationId xmlns:p14="http://schemas.microsoft.com/office/powerpoint/2010/main" val="324174886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90E77F-78EE-4E5B-A96C-C235E8B6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Preprocessing data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BC6B83-D3E6-415D-81CD-62F186400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31DEA-5133-4DDA-AE1D-8FA21F652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C66C9B-B9BE-4432-8CB8-BB146C47E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57339"/>
            <a:ext cx="7944681" cy="395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6176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A4F53-59B7-4EA4-A42F-7CCA0BFA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Preprocessing data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0651F1-A0B3-4DDD-97D5-E71157E44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Your data might not be vectorial data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598477-9996-44C9-ADC6-5E2291626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C7AE96-3CBF-4904-9ECF-A75290AE2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204898"/>
            <a:ext cx="7886700" cy="338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0021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A7ACC-624D-4327-AB2D-3FCF5CDC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Preprocessing data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9CF8E-5853-45A2-A0C1-01322CA8E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51921-4351-4F3A-8DC0-AF68FB59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870965-00AA-4FD8-BB66-106980423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57338"/>
            <a:ext cx="7975686" cy="394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4164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82492-3FC7-4A4B-891D-782856862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Preprocessing data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198D2B-6C6F-41E2-96AF-3CED6B924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1DCD98-44CD-416C-A563-BF9F62E8B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975415-99A9-40FB-830B-485D7CF08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64" y="1520825"/>
            <a:ext cx="7975686" cy="418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1604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364DD8-4453-4C8E-BEFD-8E85EA57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Preprocessing data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0D6E5F-F2EE-4213-9E48-0D4F4331D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7338"/>
            <a:ext cx="7886700" cy="4619625"/>
          </a:xfrm>
        </p:spPr>
        <p:txBody>
          <a:bodyPr/>
          <a:lstStyle/>
          <a:p>
            <a:r>
              <a:rPr lang="en-US" altLang="zh-CN" b="0" dirty="0"/>
              <a:t>Some features might be missing</a:t>
            </a:r>
            <a:br>
              <a:rPr lang="en-US" altLang="zh-CN" b="0" dirty="0"/>
            </a:b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47CF74-37C6-43DD-A651-5E95CB6C9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D9AB0C5-BC36-4417-83F2-00C012EEFE81}"/>
              </a:ext>
            </a:extLst>
          </p:cNvPr>
          <p:cNvSpPr/>
          <p:nvPr/>
        </p:nvSpPr>
        <p:spPr>
          <a:xfrm>
            <a:off x="944474" y="4175435"/>
            <a:ext cx="1152096" cy="37850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813C94-5AA3-4FF9-B7E1-661626A82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82" y="2132892"/>
            <a:ext cx="6480540" cy="364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9831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5E00A-8258-42FA-A6C6-F9CDDD3B3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Preprocessing data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6E483E-62E9-43EC-8918-4B465ABD0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Some </a:t>
            </a:r>
            <a:r>
              <a:rPr lang="en-US" altLang="zh-CN" dirty="0" err="1"/>
              <a:t>vectorial</a:t>
            </a:r>
            <a:r>
              <a:rPr lang="en-US" altLang="zh-CN" dirty="0"/>
              <a:t> data might not be appropriately scaled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3D80C6-3ACD-41AC-87C4-080FCA2E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A81A29-1B44-4CCD-9316-FE613657B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52" y="2399507"/>
            <a:ext cx="7798972" cy="334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9641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1DAC8-455E-42D9-9418-42FBEFF32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Preprocessing data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3B7B2C-04E5-4C34-8D98-00A6DD13F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3478CC-AE12-4204-BCBF-63C889E48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B272C9-7187-4A2E-9592-B421191F5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13" y="1557338"/>
            <a:ext cx="7338259" cy="435320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28C130E-6603-44BE-A741-82F73D0ABCAB}"/>
              </a:ext>
            </a:extLst>
          </p:cNvPr>
          <p:cNvSpPr/>
          <p:nvPr/>
        </p:nvSpPr>
        <p:spPr>
          <a:xfrm>
            <a:off x="683676" y="4650830"/>
            <a:ext cx="3137281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16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Your statistics must be computed from the training set and applied also to test data</a:t>
            </a:r>
            <a:endParaRPr lang="zh-CN" altLang="en-US" sz="16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800126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635F4-7F7D-4B67-B0D1-A76B1E22B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Dimensionality reduction : what/why/how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D0D06-28D5-4AD1-B43C-5BA0BB1DE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45E0AC-42EE-4ECA-971B-534C47ADC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D98479-C752-4889-9ACC-8B726E32E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65" y="1559089"/>
            <a:ext cx="7749753" cy="443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0629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AC642-90E7-4FE5-8875-85A1F6FC4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Dimensionality reduction: why 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80506F-E600-4690-B597-DE4059D11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FD11E7-E645-4274-BC85-7B47600D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4C6C91-DBA9-45BC-A43D-342122E6C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65207"/>
            <a:ext cx="7399638" cy="461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7399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55A4-73D6-41EA-848F-0965A972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Dimensionality reduction: why 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B3960C-9C1C-4E8B-AAEC-4E31F31D3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2EDDC-90E7-4CF6-AEAA-CDBE39A51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601591-FFFF-49CC-9B7E-A60EBF975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74633"/>
            <a:ext cx="7496175" cy="42386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063081D-41F6-4640-93D5-979A9F464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492923"/>
            <a:ext cx="7327632" cy="224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06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C8278-5CD5-45F7-91FD-C04B0324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Dimensionality reduction: why ?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C85AA-9D3C-4900-BA9F-60E9DACC5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A71C2F-110B-4023-A139-FA0A7F9A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A22628-AF96-4F4F-9E1E-5E8DA6021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420916"/>
            <a:ext cx="7886700" cy="2648271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8D367A3-226F-4573-91EE-FFBB2DA607BA}"/>
              </a:ext>
            </a:extLst>
          </p:cNvPr>
          <p:cNvSpPr/>
          <p:nvPr/>
        </p:nvSpPr>
        <p:spPr>
          <a:xfrm>
            <a:off x="628650" y="4581096"/>
            <a:ext cx="5239458" cy="36003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51606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90546-6951-4F12-86E2-897AFAA1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Dimensionality reduction: why ?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056FEF-D93A-48B6-9CDD-F0A0B33CA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F34761-EE01-41F9-B363-839CD17E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8ACC84-EE17-4A92-B6C0-A7688E4DB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64" y="1557338"/>
            <a:ext cx="765810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8212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5BA36C-922F-4C9A-96EE-EA605F59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Dimensionality reduction: why ?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64FE7D-4A06-4312-AF9B-4E93B80C1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CE4B55-9EE5-477F-8EED-CC2A6D9FC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010E35-8E26-463D-A215-DA272AFDB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37" y="1500819"/>
            <a:ext cx="8009925" cy="273936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8FE0D1-B745-48D7-AAC0-94D382E0D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50" y="3933042"/>
            <a:ext cx="3384282" cy="258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0279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51236-6E5C-4D85-BAAF-FFD76ADF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Dimensionality reduction: why ?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765311-317C-4485-91F1-B70496435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8894BC-76C9-4467-8407-5195E822C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CC6CAA-F537-4F78-B7B8-2FF0FB505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35" y="2083615"/>
            <a:ext cx="7959752" cy="29295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04C61BF-9C25-443B-919D-EC0FA0144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" y="1433512"/>
            <a:ext cx="904875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3217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69F1A-B1C2-48B7-B701-47950D45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Dimensionality reduction: why ?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B0C6B9-F645-4731-85F8-10A19024E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851B3C-29BB-44D6-B3AE-AF11DADB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D5CCFE-3152-416C-ABFC-52A6F1FA5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60" y="2275682"/>
            <a:ext cx="7886700" cy="347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21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27E6B-C7CA-4293-B078-7397EC30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Dimensionality reduction: why ? 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E39F68F-7ABA-4A86-84F7-62D6EB32B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665" y="1628851"/>
            <a:ext cx="7488624" cy="4409624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D4CB0B-4017-4C37-A573-8C355E15F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106176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7E99E-BB95-4879-95E4-F71BA9AB6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Dimensionality reduction : what/why/how ? </a:t>
            </a:r>
            <a:endParaRPr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8F526A-081B-4AEB-B86C-BF97ACF89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AF6E06-EF35-4564-A009-893F6C88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D56CAE-7569-4C90-A6DD-4A37F5B5A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64" y="2060887"/>
            <a:ext cx="8143949" cy="338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14779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926F9-3BB8-4CA2-9545-08592186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Dimensionality reduction : what/why/how ? </a:t>
            </a:r>
            <a:endParaRPr lang="zh-CN" altLang="en-US" sz="28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FE49C-A8A0-464C-B196-9F99C529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543048-EDB7-4F2A-B8FA-386AF95DB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742" y="1700856"/>
            <a:ext cx="59436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2509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</a:t>
            </a:r>
            <a:r>
              <a:rPr lang="zh-CN" altLang="en-US" dirty="0"/>
              <a:t>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3A4269-61AB-4759-B906-4486F177A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57338"/>
            <a:ext cx="6751584" cy="462755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005B4C-22BA-4EC3-B778-8CAFE24A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Feature extraction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CF44E-552B-4BB6-BCD7-33156B306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F7D6BE-5955-4FA6-BE03-E767B5EA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E08CD3-F036-47D4-92CE-A61035029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82" y="1988880"/>
            <a:ext cx="6840570" cy="350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3382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43080-B1BC-437B-BCD2-99E3D039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Principal Component Analysis (PCA)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7C19B1-1FB7-45A2-9471-94C25113D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DE6B88-231A-4B59-93C3-B7BA65966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C5E211-7CF0-4254-BCA6-C59DF4A8F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2052637"/>
            <a:ext cx="78200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2889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7A841-1781-4285-8BB4-D75074629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Principal Component Analysis (PCA)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684436-2A70-4E18-87F9-E4C13D7C3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97D4AE-40AB-49D8-A49D-9BB02FEA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90" y="1557338"/>
            <a:ext cx="4686300" cy="42386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934C6EC-D867-47F4-8052-0168B86A245F}"/>
              </a:ext>
            </a:extLst>
          </p:cNvPr>
          <p:cNvSpPr/>
          <p:nvPr/>
        </p:nvSpPr>
        <p:spPr>
          <a:xfrm>
            <a:off x="731124" y="5589180"/>
            <a:ext cx="7327632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  <a:latin typeface="CMSS10"/>
              </a:rPr>
              <a:t>Find an affine transformation of the data minimizing</a:t>
            </a:r>
            <a:br>
              <a:rPr lang="en-US" altLang="zh-CN" dirty="0">
                <a:solidFill>
                  <a:srgbClr val="C00000"/>
                </a:solidFill>
                <a:latin typeface="CMSS10"/>
              </a:rPr>
            </a:br>
            <a:r>
              <a:rPr lang="en-US" altLang="zh-CN" dirty="0">
                <a:solidFill>
                  <a:srgbClr val="C00000"/>
                </a:solidFill>
                <a:latin typeface="CMSS10"/>
              </a:rPr>
              <a:t>the reconstruction error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114026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7D19C-824F-40C2-9EAE-B8E78D30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Principal Component Analysis (PCA)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05166B-ADD7-4078-85EA-D98D275F3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F1890B-CC86-4343-B577-A383EE9B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6FDDDA-00F6-4E1E-B81B-5C3850228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73036"/>
            <a:ext cx="7831674" cy="408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4774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D61D38-5832-4D33-9727-BADB9D03F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Principal Component Analysis (PCA)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16E86-20EE-44AA-B6D8-6EA50E3BD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0AC22F-834B-4659-990B-E23D65253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587748-A2C0-4F58-97B5-BF94773F6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57338"/>
            <a:ext cx="7183620" cy="412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2631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E2806-5814-407A-9B09-60E9F6BB9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Principal Component Analysis (PCA)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0F81A3-7718-42BD-B2E0-FC74EFD49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69B09-779B-471D-9969-8CE8E047C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A3E0BF-B67E-453D-A461-F00548229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43" y="2276904"/>
            <a:ext cx="7339240" cy="251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0613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F89F6-D34F-46E5-A0AC-EB90D0C34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Principal Component Analysis (PCA)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96FFBA-3DB1-40F0-AA00-70C8FE6BD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7338"/>
            <a:ext cx="7886700" cy="4619625"/>
          </a:xfrm>
        </p:spPr>
        <p:txBody>
          <a:bodyPr/>
          <a:lstStyle/>
          <a:p>
            <a:r>
              <a:rPr lang="en-US" altLang="zh-CN"/>
              <a:t>Two approaches to solve PCA (on standardized data): </a:t>
            </a:r>
          </a:p>
          <a:p>
            <a:endParaRPr lang="en-US" altLang="zh-CN"/>
          </a:p>
          <a:p>
            <a:br>
              <a:rPr lang="en-US" altLang="zh-CN"/>
            </a:br>
            <a:r>
              <a:rPr lang="en-US" altLang="zh-CN"/>
              <a:t>1. </a:t>
            </a:r>
            <a:r>
              <a:rPr lang="en-US" altLang="zh-CN">
                <a:solidFill>
                  <a:srgbClr val="0070C0"/>
                </a:solidFill>
              </a:rPr>
              <a:t>Constrained maximization </a:t>
            </a:r>
            <a:r>
              <a:rPr lang="en-US" altLang="zh-CN"/>
              <a:t>(e.g., Lagrange multipliers)</a:t>
            </a:r>
          </a:p>
          <a:p>
            <a:br>
              <a:rPr lang="en-US" altLang="zh-CN"/>
            </a:br>
            <a:r>
              <a:rPr lang="en-US" altLang="zh-CN"/>
              <a:t>2</a:t>
            </a:r>
            <a:r>
              <a:rPr lang="en-US" altLang="zh-CN">
                <a:solidFill>
                  <a:srgbClr val="0070C0"/>
                </a:solidFill>
              </a:rPr>
              <a:t>. Eigen-decomposition of covariance matrix directly </a:t>
            </a:r>
            <a:br>
              <a:rPr lang="en-US" altLang="zh-CN"/>
            </a:b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186693-2B56-4346-9506-62DB8BA43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255A974-8088-4DED-98B6-7FCDE0608911}"/>
              </a:ext>
            </a:extLst>
          </p:cNvPr>
          <p:cNvSpPr/>
          <p:nvPr/>
        </p:nvSpPr>
        <p:spPr>
          <a:xfrm>
            <a:off x="899694" y="3861036"/>
            <a:ext cx="6552546" cy="24482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DED593-7DF6-4755-8332-12A455253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718" y="4077054"/>
            <a:ext cx="5681608" cy="198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0854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982C0-BD24-4A00-BD51-728D1234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936228-6955-4B20-910D-F3461BED5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1E434-B117-4F3C-B9C9-BE854E8E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DCDC6E-8A98-4483-889C-B2FA60152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2" y="1557338"/>
            <a:ext cx="7416618" cy="363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6172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21621-0F25-46B2-8DA6-98ECA6221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Principal Component Analysis (PCA)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DCBFAC-7D56-48AF-88EB-F69458518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F501D-6186-4B54-8E80-28862DD5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67FC76-92C6-49DF-B174-F0EC10BB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581665"/>
            <a:ext cx="7572225" cy="415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58604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7A2CDA-5F26-4583-AE12-CE25C70A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Principal Component Analysis (PCA)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DF4AF-6948-44D2-9D93-2106C9718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985286-E465-4CB1-8A6B-A645A1C21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A49110-E849-4594-BFD9-3292DD548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754" y="1721099"/>
            <a:ext cx="5286375" cy="35909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3946E6C-C957-4967-B5FE-D5175D43BE21}"/>
              </a:ext>
            </a:extLst>
          </p:cNvPr>
          <p:cNvSpPr/>
          <p:nvPr/>
        </p:nvSpPr>
        <p:spPr>
          <a:xfrm>
            <a:off x="2237871" y="529716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HelveticaNeue"/>
              </a:rPr>
              <a:t>Keep in mind that PCA is </a:t>
            </a:r>
            <a:r>
              <a:rPr lang="en-US" altLang="zh-CN" b="1" i="1" dirty="0">
                <a:solidFill>
                  <a:srgbClr val="C00000"/>
                </a:solidFill>
                <a:latin typeface="HelveticaNeue"/>
              </a:rPr>
              <a:t>unsupervised</a:t>
            </a:r>
            <a:r>
              <a:rPr lang="en-US" altLang="zh-CN" dirty="0">
                <a:solidFill>
                  <a:srgbClr val="0070C0"/>
                </a:solidFill>
                <a:latin typeface="HelveticaNeue"/>
              </a:rPr>
              <a:t>!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br>
              <a:rPr lang="en-US" altLang="zh-CN" dirty="0">
                <a:solidFill>
                  <a:srgbClr val="0070C0"/>
                </a:solidFill>
              </a:rPr>
            </a:b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54313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0BFB7-6BAC-46C0-909E-E915A1861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Feature extraction : Manifold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22A70F-B4EA-4F03-A696-17F5F301E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F7D9D6-C243-4892-BE61-125F1676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749CA1-9531-45B9-A57A-4B54734FC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54" y="2564928"/>
            <a:ext cx="8047692" cy="2132699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6C94127D-D4E1-4B91-8F16-8AAF50E44FAB}"/>
              </a:ext>
            </a:extLst>
          </p:cNvPr>
          <p:cNvSpPr/>
          <p:nvPr/>
        </p:nvSpPr>
        <p:spPr>
          <a:xfrm>
            <a:off x="2987868" y="3212982"/>
            <a:ext cx="2376198" cy="21601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02A982E-8D32-4F7A-B56B-21AF8BA1EF28}"/>
              </a:ext>
            </a:extLst>
          </p:cNvPr>
          <p:cNvSpPr/>
          <p:nvPr/>
        </p:nvSpPr>
        <p:spPr>
          <a:xfrm>
            <a:off x="2051790" y="4980095"/>
            <a:ext cx="4608437" cy="914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</a:rPr>
              <a:t>Nearby point remain nearby</a:t>
            </a:r>
          </a:p>
          <a:p>
            <a:pPr algn="ctr"/>
            <a:r>
              <a:rPr lang="en-US" altLang="zh-CN" sz="2400" dirty="0">
                <a:solidFill>
                  <a:srgbClr val="C00000"/>
                </a:solidFill>
              </a:rPr>
              <a:t>Distant points remain distant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005282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AF9D9-5896-4CA9-A079-82302BD5A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Manifold learning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8A89A6-8888-469A-8355-6004C7D48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B28725-F97F-4AC6-BC93-D17000CB2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5947BA-72ED-48F9-8521-168444368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35675"/>
            <a:ext cx="8150527" cy="273102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A3C48E3-69C6-411B-814C-A50866291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596" y="3867150"/>
            <a:ext cx="2880240" cy="279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24716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F4489-A895-45C2-B2FF-3B64D3E5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Manifold learning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D1B4DA-7C39-45BA-B11F-F8F8EC37E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45180F-9A0B-417A-B8FE-F24479D4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81AAA0-4988-4B9A-B9DA-19AA52A6B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06" y="1700856"/>
            <a:ext cx="6336528" cy="397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5682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CD8D3-0D6A-4DF9-9709-34B2183A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t-Distributed Stochastic Neighbor Embedding </a:t>
            </a:r>
            <a:r>
              <a:rPr lang="en-US" altLang="zh-CN" b="1" i="1" dirty="0">
                <a:solidFill>
                  <a:srgbClr val="C00000"/>
                </a:solidFill>
              </a:rPr>
              <a:t>(t-SNE)</a:t>
            </a:r>
            <a:endParaRPr lang="zh-CN" altLang="en-US" b="1" i="1" dirty="0">
              <a:solidFill>
                <a:srgbClr val="C0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F3AB51-6B15-4147-B315-7E80EC4FF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2233C4-49C0-4D0E-AA2C-6722D41D8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8F9B17-C00B-43B6-BDF8-31C4B1D84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57338"/>
            <a:ext cx="6939810" cy="421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9848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3B783-C169-4CE1-9368-1E9EC862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ABDE3A-4FA2-4D50-962A-2DE08421D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F910F5-6704-489C-873A-5401BC535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868994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B59AC-1926-469E-8417-76FC7B2B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t-Distributed Stochastic Neighbor Embedding </a:t>
            </a:r>
            <a:r>
              <a:rPr lang="en-US" altLang="zh-CN" b="1" i="1" dirty="0">
                <a:solidFill>
                  <a:srgbClr val="C00000"/>
                </a:solidFill>
              </a:rPr>
              <a:t>(t-SNE)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980636-E03B-497F-AE10-981CA2E48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505075-ABE2-4387-8B6B-BC2498C8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2E9530-1369-4658-A265-093D64533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91" y="1557591"/>
            <a:ext cx="7924580" cy="302350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23A0915-53CD-4F3E-830F-2E0E6969C55B}"/>
              </a:ext>
            </a:extLst>
          </p:cNvPr>
          <p:cNvSpPr/>
          <p:nvPr/>
        </p:nvSpPr>
        <p:spPr>
          <a:xfrm>
            <a:off x="827688" y="4838744"/>
            <a:ext cx="70565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HelveticaNeue-Bold"/>
              </a:rPr>
              <a:t>Main Idea: Map points near on a manifold to a near position in low-dimensional space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br>
              <a:rPr lang="en-US" altLang="zh-CN" dirty="0">
                <a:solidFill>
                  <a:srgbClr val="C00000"/>
                </a:solidFill>
              </a:rPr>
            </a:b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5736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5D3F4-8489-4211-9407-B2F3A6AD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Feature selection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D67CFE-FA90-4CA1-81F8-8F7B21BC8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11C07B-E06C-4CED-BE27-27D85C09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C87345-7F34-40C9-8466-F2B36AD69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56" y="1557338"/>
            <a:ext cx="7179413" cy="362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76925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B13A58-D404-42D5-8750-DBDA2316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 feature selection is important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E17587-EE8E-41D0-AE59-84E6BA76B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0B0DC1-8E71-4922-92F5-C2A4EA32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A6B382-21FF-4BFF-93B2-26D68515B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98" y="1642911"/>
            <a:ext cx="6934801" cy="35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74844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F76AA40-854E-4B02-9789-F5E348389B7A}"/>
              </a:ext>
            </a:extLst>
          </p:cNvPr>
          <p:cNvSpPr/>
          <p:nvPr/>
        </p:nvSpPr>
        <p:spPr>
          <a:xfrm>
            <a:off x="539664" y="1341439"/>
            <a:ext cx="7975686" cy="9751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BA5687-8641-41E6-85E6-CB5A3D63AEBB}"/>
              </a:ext>
            </a:extLst>
          </p:cNvPr>
          <p:cNvSpPr/>
          <p:nvPr/>
        </p:nvSpPr>
        <p:spPr>
          <a:xfrm>
            <a:off x="539664" y="2416224"/>
            <a:ext cx="7975686" cy="20208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347809-A7D8-4860-B380-E336D996615E}"/>
              </a:ext>
            </a:extLst>
          </p:cNvPr>
          <p:cNvSpPr/>
          <p:nvPr/>
        </p:nvSpPr>
        <p:spPr>
          <a:xfrm>
            <a:off x="539664" y="4501427"/>
            <a:ext cx="7975686" cy="1976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51F29CB-0286-4CBA-B1F3-2248B99F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8E69C4E-3849-4F61-A473-925CBC6D7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380" y="2456180"/>
            <a:ext cx="7369179" cy="1940947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C6F71D-BC29-4786-B4CD-3783717C4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5D3203-3078-4073-9637-23E16BE5E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23" y="1390160"/>
            <a:ext cx="7338696" cy="8687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A0D2E22-0FCD-4EF5-94AF-F968F0AEA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89" y="4628235"/>
            <a:ext cx="7382169" cy="172811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DBA8BF0-6332-496B-BAA9-545C49D175A0}"/>
              </a:ext>
            </a:extLst>
          </p:cNvPr>
          <p:cNvSpPr txBox="1"/>
          <p:nvPr/>
        </p:nvSpPr>
        <p:spPr>
          <a:xfrm>
            <a:off x="723523" y="4628235"/>
            <a:ext cx="2264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嵌入法(Embedded)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BF337A2-0DF3-4DD6-80E7-AFDB7F3DDB0E}"/>
              </a:ext>
            </a:extLst>
          </p:cNvPr>
          <p:cNvSpPr txBox="1"/>
          <p:nvPr/>
        </p:nvSpPr>
        <p:spPr>
          <a:xfrm>
            <a:off x="628650" y="2432230"/>
            <a:ext cx="2264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包裹法</a:t>
            </a:r>
            <a:r>
              <a:rPr lang="en-US" altLang="zh-CN" b="1" dirty="0">
                <a:solidFill>
                  <a:srgbClr val="FF0000"/>
                </a:solidFill>
              </a:rPr>
              <a:t>(Wrapper)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152590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50FD3-5457-40C5-B1C8-FC543A89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 No.(samples)/No.(feature) is large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16449-88E2-4CDD-B3DE-55D4AA42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5D13C76-3F57-4414-B225-6DE42A30B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4456B1B-6F8C-4381-8A0A-E87482E40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20825"/>
            <a:ext cx="6797629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69836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E62CD-6213-4B46-82B9-9515160C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 No(samples) equals to No(feature)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F1D83A-26A0-499D-900E-C04A415C4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13E485-5D60-417C-BA4D-16868777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6AD5D9-4492-4F88-B000-45301E11C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24091"/>
            <a:ext cx="6736664" cy="42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7339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243933-2E01-49CF-BBD9-FDD58F95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Typical methods for feature selection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6E9D1E-6452-455B-B101-2A4C6F2F5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A5239-4C84-4CBB-9DD0-6F38D8A3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172B05-102A-4C54-A646-3D584C5D2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05848"/>
            <a:ext cx="8009314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94931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32A75-F1DB-4343-80EF-9806F255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 feature evaluation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985ACB9-6A05-4E89-894A-E84E062AF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844868"/>
            <a:ext cx="7011008" cy="2758679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5824FD-66A1-4002-B000-1C9D596F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71822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80706-846B-4919-A548-1D6E55672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Frequency based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7753A9-3907-4F62-B5E5-C8CD29F9A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0F999F-7873-4895-B66C-AF4C3D48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154F3A-58F2-45F1-8802-BA7EA15AB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58090"/>
            <a:ext cx="7369179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5592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04E7E-A69F-419F-92F0-C04A87BEC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Mutual information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70CAF3-0279-4BD5-8B33-CE5EB544C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59FCC9-ABBF-47A5-89CB-E47D852D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7F9239-D0BA-4848-B7C6-FA1617EB9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59352"/>
            <a:ext cx="6965284" cy="28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29687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E50BE-3975-4D82-9F2B-110B0DBE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Chi Square Statistic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E097B9-CB33-4BAD-86C8-DE6D33F79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5C1224-AB45-4702-BF6F-582C9FD93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968433-877D-45C1-A7DC-FB2B4BA8F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76" y="1578256"/>
            <a:ext cx="6744284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4075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7DF49-E027-43F2-B562-CF5188D53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Entropy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208CBA-BEB8-4F8A-8380-8133BB9D4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D66278-CE0A-4A4B-83C3-76525658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15E01F-35CC-4862-BF34-9B4AF4320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28850"/>
            <a:ext cx="6264183" cy="41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70470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DBEA1-105C-4493-BC62-01798A6B9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Information Gain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011AC6-A536-405F-97FD-02CC463D3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C4969-CB46-473E-BDE4-00F43111A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D84941-B72F-47C0-8DFC-13098AE87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86" y="1562013"/>
            <a:ext cx="7315834" cy="269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31694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5CE54-157E-458D-AE2F-650A472E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KL divergence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C9CD9-02F2-44F0-A61C-75CEB7BB2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DBE5D-A804-45ED-8BB2-A7C6197E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CAE0BB-CC89-4180-BDD9-FB010D5DD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75" y="1520825"/>
            <a:ext cx="6530906" cy="45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67496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6DEF7-A7E9-4F97-8BF8-AB550D308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Gini indexing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AEE4B1-054B-49D3-BB1D-E4CD98A39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613C8E-2D7A-4465-8176-A2D3C5C3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A61353-2F70-4B1A-93B4-951FBACDF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67" y="1486748"/>
            <a:ext cx="7445385" cy="486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13291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763C8-49DB-4B86-AACA-388A2B2F8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Shortages of single feature evaluation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8EDFD-32DD-4F0F-8F45-1EEC535A1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C95726-A620-4933-9E34-0472C956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18E13A-F879-4F2D-B585-6A6171391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61" y="1557338"/>
            <a:ext cx="7453006" cy="2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79485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C5A08-4B2D-4BE6-96DC-D0D8E6D9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Shortages of single feature evaluation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A6FFA5-286E-4AAB-9F83-68C155120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73A49-0D75-491E-8F85-C11657E5B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4CDE88-7A1F-4723-BC13-EF01130A5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15" y="1520825"/>
            <a:ext cx="6683319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17135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48D04-7590-4A90-8D61-F594F25B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Shortages of single feature evaluation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899C47-EBF5-4C88-8014-7E601CC5B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F476F5-894C-4B37-A8EA-A32A0176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E05077-EF6F-4E9C-868A-3297B4195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42945"/>
            <a:ext cx="6828112" cy="40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54922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02F0C-348A-400D-9598-FEDF5D74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Subset selection methods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AAF688-9E6B-4600-B56C-7AD72D15A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C6D1D-B77B-4C10-8329-A8990CAD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684A5C-7A49-40D6-94D5-BB6714D4D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38919"/>
            <a:ext cx="7041490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34560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CD9E9-11CA-43C2-8871-1BCE1F52B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7C861E-0526-47D4-BE40-94C442195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DDD670-8153-4F70-9CE9-228FAEAE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4F33FC-B14F-440A-8AB1-AC8C3122A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57338"/>
            <a:ext cx="7117697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79687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A61ED-BC28-474C-8975-2C29E848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Wrapper methods for logistic regression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3175FB-5067-466A-A46F-38D2C3C1F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ACAE93-065A-4618-8D0A-AA1EB6FB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4F7531-8C6D-4547-A4C9-0ADC2484A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53384"/>
            <a:ext cx="6294665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47388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9501B-EC4B-4D05-A980-3F1C0517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0D4489-8D1F-4C5B-885F-686705944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398146-2EA6-40F0-BA33-0CF2862A6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D42295-4251-49F3-9E78-BE77D42CC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18683"/>
            <a:ext cx="6271803" cy="410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28156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FC9F7-081D-4BA4-8684-5DC2DC70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FFEE88-C4E2-4785-B2FE-9B07D31F7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7AA7B9-279B-4652-B685-D06CD89B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830BC5-7F9B-4CF1-9672-DC4DE7154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11" y="2377349"/>
            <a:ext cx="6995766" cy="21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22109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3069C-71D3-4B02-82AD-728FD78E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Embedded feature selection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6D87E0D-F351-4627-96BB-62B598E88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657" y="1577936"/>
            <a:ext cx="8705583" cy="2571124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0C79B2-7193-4E9F-812D-F39D4BC6E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238134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E03DF-34F0-4802-8149-6EE4489E9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Embedded feature selection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1EC44C-FED1-4129-9DCB-4150956CD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05812E-153D-47DF-9DCA-6FFA9B1BC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2024/4/25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B959C2-381A-418E-879B-3C632C714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54" y="1570641"/>
            <a:ext cx="7079593" cy="29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0749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564</Words>
  <Application>Microsoft Office PowerPoint</Application>
  <PresentationFormat>全屏显示(4:3)</PresentationFormat>
  <Paragraphs>154</Paragraphs>
  <Slides>66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7" baseType="lpstr">
      <vt:lpstr>-apple-system</vt:lpstr>
      <vt:lpstr>CMSS10</vt:lpstr>
      <vt:lpstr>HelveticaNeue</vt:lpstr>
      <vt:lpstr>HelveticaNeue-Bold</vt:lpstr>
      <vt:lpstr>黑体</vt:lpstr>
      <vt:lpstr>楷体</vt:lpstr>
      <vt:lpstr>Arial</vt:lpstr>
      <vt:lpstr>Calibri</vt:lpstr>
      <vt:lpstr>Segoe UI Light</vt:lpstr>
      <vt:lpstr>Segoe UI Symbol</vt:lpstr>
      <vt:lpstr>Office Theme</vt:lpstr>
      <vt:lpstr>PowerPoint 演示文稿</vt:lpstr>
      <vt:lpstr>我们是否应该讲授深度学习之前的传统方法？还是直接通过深度学习解决所有的问题？</vt:lpstr>
      <vt:lpstr>Contents</vt:lpstr>
      <vt:lpstr>You need datasets</vt:lpstr>
      <vt:lpstr>Some available datasets</vt:lpstr>
      <vt:lpstr>You need datasets ！！</vt:lpstr>
      <vt:lpstr>You need datasets ！！</vt:lpstr>
      <vt:lpstr>Preprocessing data</vt:lpstr>
      <vt:lpstr>Preprocessing data</vt:lpstr>
      <vt:lpstr>Preprocessing data</vt:lpstr>
      <vt:lpstr>Preprocessing data</vt:lpstr>
      <vt:lpstr>Preprocessing data</vt:lpstr>
      <vt:lpstr>Preprocessing data</vt:lpstr>
      <vt:lpstr>Preprocessing data</vt:lpstr>
      <vt:lpstr>Dimensionality reduction : what/why/how </vt:lpstr>
      <vt:lpstr>Dimensionality reduction: why ?</vt:lpstr>
      <vt:lpstr>Dimensionality reduction: why ?</vt:lpstr>
      <vt:lpstr>Dimensionality reduction: why ? </vt:lpstr>
      <vt:lpstr>Dimensionality reduction: why ? </vt:lpstr>
      <vt:lpstr>Dimensionality reduction: why ? </vt:lpstr>
      <vt:lpstr>Dimensionality reduction: why ? </vt:lpstr>
      <vt:lpstr>Dimensionality reduction: why ? </vt:lpstr>
      <vt:lpstr>Dimensionality reduction: why ? </vt:lpstr>
      <vt:lpstr>Dimensionality reduction : what/why/how ? </vt:lpstr>
      <vt:lpstr>Dimensionality reduction : what/why/how ? </vt:lpstr>
      <vt:lpstr>Learning？</vt:lpstr>
      <vt:lpstr>Feature extraction</vt:lpstr>
      <vt:lpstr>Principal Component Analysis (PCA)</vt:lpstr>
      <vt:lpstr>Principal Component Analysis (PCA)</vt:lpstr>
      <vt:lpstr>Principal Component Analysis (PCA)</vt:lpstr>
      <vt:lpstr>Principal Component Analysis (PCA)</vt:lpstr>
      <vt:lpstr>Principal Component Analysis (PCA)</vt:lpstr>
      <vt:lpstr>Principal Component Analysis (PCA)</vt:lpstr>
      <vt:lpstr>PowerPoint 演示文稿</vt:lpstr>
      <vt:lpstr>Principal Component Analysis (PCA)</vt:lpstr>
      <vt:lpstr>Principal Component Analysis (PCA)</vt:lpstr>
      <vt:lpstr>Feature extraction : Manifold learning</vt:lpstr>
      <vt:lpstr>Manifold learning </vt:lpstr>
      <vt:lpstr>Manifold learning </vt:lpstr>
      <vt:lpstr>t-Distributed Stochastic Neighbor Embedding (t-SNE)</vt:lpstr>
      <vt:lpstr>PowerPoint 演示文稿</vt:lpstr>
      <vt:lpstr>t-Distributed Stochastic Neighbor Embedding (t-SNE)</vt:lpstr>
      <vt:lpstr>Feature selection</vt:lpstr>
      <vt:lpstr>When feature selection is important</vt:lpstr>
      <vt:lpstr>PowerPoint 演示文稿</vt:lpstr>
      <vt:lpstr>When No.(samples)/No.(feature) is large</vt:lpstr>
      <vt:lpstr>When No(samples) equals to No(feature)</vt:lpstr>
      <vt:lpstr>Typical methods for feature selection</vt:lpstr>
      <vt:lpstr>Single feature evaluation</vt:lpstr>
      <vt:lpstr>Frequency based</vt:lpstr>
      <vt:lpstr>Mutual information</vt:lpstr>
      <vt:lpstr>Chi Square Statistic</vt:lpstr>
      <vt:lpstr>Entropy</vt:lpstr>
      <vt:lpstr>Information Gain</vt:lpstr>
      <vt:lpstr>KL divergence</vt:lpstr>
      <vt:lpstr>Gini indexing</vt:lpstr>
      <vt:lpstr>Shortages of single feature evaluation</vt:lpstr>
      <vt:lpstr>Shortages of single feature evaluation</vt:lpstr>
      <vt:lpstr>Shortages of single feature evaluation</vt:lpstr>
      <vt:lpstr>Subset selection methods</vt:lpstr>
      <vt:lpstr>PowerPoint 演示文稿</vt:lpstr>
      <vt:lpstr>Wrapper methods for logistic regression</vt:lpstr>
      <vt:lpstr>PowerPoint 演示文稿</vt:lpstr>
      <vt:lpstr>PowerPoint 演示文稿</vt:lpstr>
      <vt:lpstr>Embedded feature selection</vt:lpstr>
      <vt:lpstr>Embedded feature selection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Snowden to Big Data</dc:title>
  <dc:creator>hytan</dc:creator>
  <cp:lastModifiedBy>Zhixi Feng</cp:lastModifiedBy>
  <cp:revision>1951</cp:revision>
  <cp:lastPrinted>2021-10-28T04:26:00Z</cp:lastPrinted>
  <dcterms:created xsi:type="dcterms:W3CDTF">2012-06-06T01:30:00Z</dcterms:created>
  <dcterms:modified xsi:type="dcterms:W3CDTF">2024-04-25T09:48:56Z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2052-11.1.0.11045</vt:lpwstr>
  </property>
  <property fmtid="{D5CDD505-2E9C-101B-9397-08002B2CF9AE}" pid="3" name="ICV">
    <vt:lpwstr>67A9819ED46D4C83A56ECA158F8A50BD</vt:lpwstr>
  </property>
</Properties>
</file>
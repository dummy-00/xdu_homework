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95" r:id="rId2"/>
    <p:sldId id="717" r:id="rId3"/>
    <p:sldId id="905" r:id="rId4"/>
    <p:sldId id="904" r:id="rId5"/>
    <p:sldId id="906" r:id="rId6"/>
    <p:sldId id="907" r:id="rId7"/>
    <p:sldId id="909" r:id="rId8"/>
    <p:sldId id="910" r:id="rId9"/>
    <p:sldId id="911" r:id="rId10"/>
    <p:sldId id="912" r:id="rId11"/>
    <p:sldId id="913" r:id="rId12"/>
    <p:sldId id="914" r:id="rId13"/>
    <p:sldId id="915" r:id="rId14"/>
    <p:sldId id="916" r:id="rId15"/>
    <p:sldId id="917" r:id="rId16"/>
    <p:sldId id="918" r:id="rId17"/>
    <p:sldId id="919" r:id="rId18"/>
    <p:sldId id="908" r:id="rId19"/>
    <p:sldId id="877" r:id="rId20"/>
    <p:sldId id="879" r:id="rId21"/>
    <p:sldId id="880" r:id="rId22"/>
    <p:sldId id="881" r:id="rId23"/>
    <p:sldId id="882" r:id="rId24"/>
    <p:sldId id="883" r:id="rId25"/>
    <p:sldId id="885" r:id="rId26"/>
    <p:sldId id="884" r:id="rId27"/>
    <p:sldId id="886" r:id="rId28"/>
    <p:sldId id="887" r:id="rId29"/>
    <p:sldId id="888" r:id="rId30"/>
    <p:sldId id="889" r:id="rId31"/>
    <p:sldId id="894" r:id="rId32"/>
    <p:sldId id="895" r:id="rId33"/>
    <p:sldId id="890" r:id="rId34"/>
    <p:sldId id="896" r:id="rId35"/>
    <p:sldId id="897" r:id="rId36"/>
    <p:sldId id="899" r:id="rId37"/>
    <p:sldId id="898" r:id="rId38"/>
    <p:sldId id="900" r:id="rId39"/>
    <p:sldId id="901" r:id="rId40"/>
    <p:sldId id="902" r:id="rId41"/>
    <p:sldId id="903" r:id="rId42"/>
  </p:sldIdLst>
  <p:sldSz cx="9144000" cy="6858000" type="screen4x3"/>
  <p:notesSz cx="6797675" cy="9928225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6B6B6A"/>
    <a:srgbClr val="FF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45" autoAdjust="0"/>
    <p:restoredTop sz="75113" autoAdjust="0"/>
  </p:normalViewPr>
  <p:slideViewPr>
    <p:cSldViewPr showGuides="1">
      <p:cViewPr varScale="1">
        <p:scale>
          <a:sx n="75" d="100"/>
          <a:sy n="75" d="100"/>
        </p:scale>
        <p:origin x="3712" y="52"/>
      </p:cViewPr>
      <p:guideLst>
        <p:guide orient="horz" pos="213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00" d="100"/>
        <a:sy n="100" d="100"/>
      </p:scale>
      <p:origin x="0" y="2652"/>
    </p:cViewPr>
  </p:sorterViewPr>
  <p:gridSpacing cx="72006" cy="72006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065" cy="495872"/>
          </a:xfrm>
          <a:prstGeom prst="rect">
            <a:avLst/>
          </a:prstGeom>
        </p:spPr>
        <p:txBody>
          <a:bodyPr vert="horz" lIns="88212" tIns="44106" rIns="88212" bIns="44106" rtlCol="0"/>
          <a:lstStyle>
            <a:lvl1pPr algn="l">
              <a:defRPr sz="1200" smtClean="0"/>
            </a:lvl1pPr>
          </a:lstStyle>
          <a:p>
            <a:pPr defTabSz="882122" eaLnBrk="0" hangingPunct="0"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092" y="1"/>
            <a:ext cx="2946065" cy="495872"/>
          </a:xfrm>
          <a:prstGeom prst="rect">
            <a:avLst/>
          </a:prstGeom>
        </p:spPr>
        <p:txBody>
          <a:bodyPr vert="horz" lIns="88212" tIns="44106" rIns="88212" bIns="44106" rtlCol="0"/>
          <a:lstStyle>
            <a:lvl1pPr algn="r">
              <a:defRPr sz="1200" smtClean="0"/>
            </a:lvl1pPr>
          </a:lstStyle>
          <a:p>
            <a:pPr defTabSz="882122" eaLnBrk="0" hangingPunct="0">
              <a:defRPr/>
            </a:pPr>
            <a:fld id="{4BB3C76A-5825-4231-B0D3-9E855FBDE640}" type="datetimeFigureOut">
              <a:rPr lang="zh-CN" altLang="en-US"/>
              <a:pPr defTabSz="882122" eaLnBrk="0" hangingPunct="0">
                <a:defRPr/>
              </a:pPr>
              <a:t>2021/10/28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0813"/>
            <a:ext cx="2946065" cy="495872"/>
          </a:xfrm>
          <a:prstGeom prst="rect">
            <a:avLst/>
          </a:prstGeom>
        </p:spPr>
        <p:txBody>
          <a:bodyPr vert="horz" lIns="88212" tIns="44106" rIns="88212" bIns="44106" rtlCol="0" anchor="b"/>
          <a:lstStyle>
            <a:lvl1pPr algn="l">
              <a:defRPr sz="1200" smtClean="0"/>
            </a:lvl1pPr>
          </a:lstStyle>
          <a:p>
            <a:pPr defTabSz="882122" eaLnBrk="0" hangingPunct="0"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092" y="9430813"/>
            <a:ext cx="2946065" cy="495872"/>
          </a:xfrm>
          <a:prstGeom prst="rect">
            <a:avLst/>
          </a:prstGeom>
        </p:spPr>
        <p:txBody>
          <a:bodyPr vert="horz" lIns="88212" tIns="44106" rIns="88212" bIns="44106" rtlCol="0" anchor="b"/>
          <a:lstStyle/>
          <a:p>
            <a:pPr lvl="0" algn="r" fontAlgn="base">
              <a:buNone/>
            </a:pPr>
            <a:fld id="{9A0DB2DC-4C9A-4742-B13C-FB6460FD3503}" type="slidenum">
              <a:rPr lang="zh-CN" altLang="en-US" sz="1200" noProof="1" dirty="0"/>
              <a:t>‹#›</a:t>
            </a:fld>
            <a:endParaRPr lang="zh-CN" altLang="en-US" sz="1200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065" cy="495872"/>
          </a:xfrm>
          <a:prstGeom prst="rect">
            <a:avLst/>
          </a:prstGeom>
        </p:spPr>
        <p:txBody>
          <a:bodyPr vert="horz" lIns="95569" tIns="47784" rIns="95569" bIns="47784" rtlCol="0"/>
          <a:lstStyle>
            <a:lvl1pPr algn="l" eaLnBrk="1" hangingPunct="1">
              <a:defRPr sz="1300">
                <a:latin typeface="Arial" panose="020B0604020202020204" pitchFamily="34" charset="0"/>
              </a:defRPr>
            </a:lvl1pPr>
          </a:lstStyle>
          <a:p>
            <a:pPr defTabSz="882122"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092" y="1"/>
            <a:ext cx="2946065" cy="495872"/>
          </a:xfrm>
          <a:prstGeom prst="rect">
            <a:avLst/>
          </a:prstGeom>
        </p:spPr>
        <p:txBody>
          <a:bodyPr vert="horz" lIns="95569" tIns="47784" rIns="95569" bIns="47784" rtlCol="0"/>
          <a:lstStyle>
            <a:lvl1pPr algn="r" eaLnBrk="1" hangingPunct="1">
              <a:defRPr sz="1300">
                <a:latin typeface="Arial" panose="020B0604020202020204" pitchFamily="34" charset="0"/>
              </a:defRPr>
            </a:lvl1pPr>
          </a:lstStyle>
          <a:p>
            <a:pPr defTabSz="882122">
              <a:defRPr/>
            </a:pPr>
            <a:fld id="{43AE81DF-FBE5-4EB3-A463-0AC46A2C5CCC}" type="datetimeFigureOut">
              <a:rPr lang="zh-CN" altLang="en-US" smtClean="0"/>
              <a:pPr defTabSz="882122">
                <a:defRPr/>
              </a:pPr>
              <a:t>2021/10/28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6125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9" tIns="47784" rIns="95569" bIns="47784" rtlCol="0" anchor="ctr"/>
          <a:lstStyle/>
          <a:p>
            <a:pPr marL="0" marR="0" lvl="0" indent="0" algn="l" defTabSz="882122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160" y="4715406"/>
            <a:ext cx="5439355" cy="4467471"/>
          </a:xfrm>
          <a:prstGeom prst="rect">
            <a:avLst/>
          </a:prstGeom>
        </p:spPr>
        <p:txBody>
          <a:bodyPr vert="horz" lIns="95569" tIns="47784" rIns="95569" bIns="47784" rtlCol="0"/>
          <a:lstStyle/>
          <a:p>
            <a:pPr marL="0" marR="0" lvl="0" indent="0" algn="l" defTabSz="882122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41061" marR="0" lvl="1" indent="0" algn="l" defTabSz="882122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882122" marR="0" lvl="2" indent="0" algn="l" defTabSz="882122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23183" marR="0" lvl="3" indent="0" algn="l" defTabSz="882122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764243" marR="0" lvl="4" indent="0" algn="l" defTabSz="882122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813"/>
            <a:ext cx="2946065" cy="495872"/>
          </a:xfrm>
          <a:prstGeom prst="rect">
            <a:avLst/>
          </a:prstGeom>
        </p:spPr>
        <p:txBody>
          <a:bodyPr vert="horz" lIns="95569" tIns="47784" rIns="95569" bIns="47784" rtlCol="0" anchor="b"/>
          <a:lstStyle>
            <a:lvl1pPr algn="l" eaLnBrk="1" hangingPunct="1">
              <a:defRPr sz="1300">
                <a:latin typeface="Arial" panose="020B0604020202020204" pitchFamily="34" charset="0"/>
              </a:defRPr>
            </a:lvl1pPr>
          </a:lstStyle>
          <a:p>
            <a:pPr defTabSz="882122"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092" y="9430813"/>
            <a:ext cx="2946065" cy="495872"/>
          </a:xfrm>
          <a:prstGeom prst="rect">
            <a:avLst/>
          </a:prstGeom>
        </p:spPr>
        <p:txBody>
          <a:bodyPr vert="horz" wrap="square" lIns="95569" tIns="47784" rIns="95569" bIns="47784" numCol="1" anchor="b" anchorCtr="0" compatLnSpc="1"/>
          <a:lstStyle/>
          <a:p>
            <a:pPr lvl="0" algn="r" eaLnBrk="1" fontAlgn="base" hangingPunct="1">
              <a:buNone/>
            </a:pPr>
            <a:fld id="{9A0DB2DC-4C9A-4742-B13C-FB6460FD3503}" type="slidenum">
              <a:rPr lang="zh-CN" altLang="en-US" sz="13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z="13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229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5569" tIns="47784" rIns="95569" bIns="47784" anchor="t" anchorCtr="0"/>
          <a:lstStyle/>
          <a:p>
            <a:pPr lvl="0" eaLnBrk="1" hangingPunct="1"/>
            <a:endParaRPr lang="zh-CN" altLang="en-US" dirty="0"/>
          </a:p>
        </p:txBody>
      </p:sp>
      <p:sp>
        <p:nvSpPr>
          <p:cNvPr id="1229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50092" y="9430813"/>
            <a:ext cx="2946065" cy="49587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5569" tIns="47784" rIns="95569" bIns="47784" anchor="b" anchorCtr="0"/>
          <a:lstStyle/>
          <a:p>
            <a:pPr lvl="0" algn="r" eaLnBrk="1" hangingPunct="1"/>
            <a:fld id="{9A0DB2DC-4C9A-4742-B13C-FB6460FD3503}" type="slidenum">
              <a:rPr lang="zh-CN" altLang="en-US" sz="1300" dirty="0"/>
              <a:t>1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30042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2950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99841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0500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84759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02843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70745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56088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70610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17239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17883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2227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04816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0772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81020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6976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84543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60062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97653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在概率论中，霍夫丁不等式给出了随机变量的和与其期望值偏差的概率上限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50645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1939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altLang="zh-HK" strike="noStrike" noProof="1"/>
              <a:t>Click to edit Master title style</a:t>
            </a:r>
            <a:endParaRPr lang="zh-HK" alt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altLang="zh-HK" strike="noStrike" noProof="1"/>
              <a:t>Click to edit Master subtitle style</a:t>
            </a:r>
            <a:endParaRPr lang="zh-HK" altLang="en-US" strike="noStrike" noProof="1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11350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79613" y="6356350"/>
            <a:ext cx="5400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01013" y="6356350"/>
            <a:ext cx="919163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/>
          </a:p>
        </p:txBody>
      </p:sp>
    </p:spTree>
  </p:cSld>
  <p:clrMapOvr>
    <a:masterClrMapping/>
  </p:clrMapOvr>
  <p:transition/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zh-HK" strike="noStrike" noProof="1"/>
              <a:t>Click to edit Master title style</a:t>
            </a:r>
            <a:endParaRPr lang="zh-HK" alt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 lang="en-US" altLang="zh-HK" sz="2000" b="1" kern="1200" dirty="0" smtClean="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>
              <a:defRPr lang="en-US" altLang="zh-HK" sz="1800" b="1" kern="1200" dirty="0" smtClean="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2pPr>
            <a:lvl3pPr>
              <a:defRPr lang="en-US" altLang="zh-HK" sz="1600" b="1" kern="1200" dirty="0" smtClean="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3pPr>
            <a:lvl4pPr>
              <a:defRPr lang="en-US" altLang="zh-HK" sz="1400" kern="1200" dirty="0" smtClean="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4pPr>
            <a:lvl5pPr>
              <a:defRPr lang="zh-HK" altLang="en-US" sz="1200" kern="1200" dirty="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5pPr>
          </a:lstStyle>
          <a:p>
            <a:pPr lvl="0" fontAlgn="base"/>
            <a:r>
              <a:rPr lang="en-US" altLang="zh-HK" strike="noStrike" noProof="1"/>
              <a:t>Click to edit Master text styles</a:t>
            </a:r>
          </a:p>
          <a:p>
            <a:pPr lvl="1" fontAlgn="base"/>
            <a:r>
              <a:rPr lang="en-US" altLang="zh-HK" strike="noStrike" noProof="1"/>
              <a:t>Second level</a:t>
            </a:r>
          </a:p>
          <a:p>
            <a:pPr lvl="2" fontAlgn="base"/>
            <a:r>
              <a:rPr lang="en-US" altLang="zh-HK" strike="noStrike" noProof="1"/>
              <a:t>Third level</a:t>
            </a:r>
          </a:p>
          <a:p>
            <a:pPr lvl="3" fontAlgn="base"/>
            <a:r>
              <a:rPr lang="en-US" altLang="zh-HK" strike="noStrike" noProof="1"/>
              <a:t>Fourth level</a:t>
            </a:r>
          </a:p>
          <a:p>
            <a:pPr lvl="4" fontAlgn="base"/>
            <a:r>
              <a:rPr lang="en-US" altLang="zh-HK" strike="noStrike" noProof="1"/>
              <a:t>Fifth level</a:t>
            </a:r>
            <a:endParaRPr lang="zh-HK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altLang="zh-HK" strike="noStrike" noProof="1"/>
              <a:t>Click to edit Master title style</a:t>
            </a:r>
            <a:endParaRPr lang="zh-HK" alt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altLang="zh-HK" strike="noStrike" noProof="1"/>
              <a:t>Click to edit Master text styles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zh-HK" strike="noStrike" noProof="1"/>
              <a:t>Click to edit Master title style</a:t>
            </a:r>
            <a:endParaRPr lang="zh-HK" alt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 fontAlgn="base"/>
            <a:r>
              <a:rPr lang="en-US" altLang="zh-HK" strike="noStrike" noProof="1"/>
              <a:t>Click to edit Master text styles</a:t>
            </a:r>
          </a:p>
          <a:p>
            <a:pPr lvl="1" fontAlgn="base"/>
            <a:r>
              <a:rPr lang="en-US" altLang="zh-HK" strike="noStrike" noProof="1"/>
              <a:t>Second level</a:t>
            </a:r>
          </a:p>
          <a:p>
            <a:pPr lvl="2" fontAlgn="base"/>
            <a:r>
              <a:rPr lang="en-US" altLang="zh-HK" strike="noStrike" noProof="1"/>
              <a:t>Third level</a:t>
            </a:r>
          </a:p>
          <a:p>
            <a:pPr lvl="3" fontAlgn="base"/>
            <a:r>
              <a:rPr lang="en-US" altLang="zh-HK" strike="noStrike" noProof="1"/>
              <a:t>Fourth level</a:t>
            </a:r>
          </a:p>
          <a:p>
            <a:pPr lvl="4" fontAlgn="base"/>
            <a:r>
              <a:rPr lang="en-US" altLang="zh-HK" strike="noStrike" noProof="1"/>
              <a:t>Fifth level</a:t>
            </a:r>
            <a:endParaRPr lang="zh-HK" alt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 fontAlgn="base"/>
            <a:r>
              <a:rPr lang="en-US" altLang="zh-HK" strike="noStrike" noProof="1"/>
              <a:t>Click to edit Master text styles</a:t>
            </a:r>
          </a:p>
          <a:p>
            <a:pPr lvl="1" fontAlgn="base"/>
            <a:r>
              <a:rPr lang="en-US" altLang="zh-HK" strike="noStrike" noProof="1"/>
              <a:t>Second level</a:t>
            </a:r>
          </a:p>
          <a:p>
            <a:pPr lvl="2" fontAlgn="base"/>
            <a:r>
              <a:rPr lang="en-US" altLang="zh-HK" strike="noStrike" noProof="1"/>
              <a:t>Third level</a:t>
            </a:r>
          </a:p>
          <a:p>
            <a:pPr lvl="3" fontAlgn="base"/>
            <a:r>
              <a:rPr lang="en-US" altLang="zh-HK" strike="noStrike" noProof="1"/>
              <a:t>Fourth level</a:t>
            </a:r>
          </a:p>
          <a:p>
            <a:pPr lvl="4" fontAlgn="base"/>
            <a:r>
              <a:rPr lang="en-US" altLang="zh-HK" strike="noStrike" noProof="1"/>
              <a:t>Fifth level</a:t>
            </a:r>
            <a:endParaRPr lang="zh-HK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pPr fontAlgn="base"/>
            <a:r>
              <a:rPr lang="en-US" altLang="zh-HK" strike="noStrike" noProof="1"/>
              <a:t>Click to edit Master title style</a:t>
            </a:r>
            <a:endParaRPr lang="zh-HK" alt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altLang="zh-HK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 fontAlgn="base"/>
            <a:r>
              <a:rPr lang="en-US" altLang="zh-HK" strike="noStrike" noProof="1"/>
              <a:t>Click to edit Master text styles</a:t>
            </a:r>
          </a:p>
          <a:p>
            <a:pPr lvl="1" fontAlgn="base"/>
            <a:r>
              <a:rPr lang="en-US" altLang="zh-HK" strike="noStrike" noProof="1"/>
              <a:t>Second level</a:t>
            </a:r>
          </a:p>
          <a:p>
            <a:pPr lvl="2" fontAlgn="base"/>
            <a:r>
              <a:rPr lang="en-US" altLang="zh-HK" strike="noStrike" noProof="1"/>
              <a:t>Third level</a:t>
            </a:r>
          </a:p>
          <a:p>
            <a:pPr lvl="3" fontAlgn="base"/>
            <a:r>
              <a:rPr lang="en-US" altLang="zh-HK" strike="noStrike" noProof="1"/>
              <a:t>Fourth level</a:t>
            </a:r>
          </a:p>
          <a:p>
            <a:pPr lvl="4" fontAlgn="base"/>
            <a:r>
              <a:rPr lang="en-US" altLang="zh-HK" strike="noStrike" noProof="1"/>
              <a:t>Fifth level</a:t>
            </a:r>
            <a:endParaRPr lang="zh-HK" alt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altLang="zh-HK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altLang="zh-HK" strike="noStrike" noProof="1"/>
              <a:t>Click to edit Master text styles</a:t>
            </a:r>
          </a:p>
          <a:p>
            <a:pPr lvl="1" fontAlgn="base"/>
            <a:r>
              <a:rPr lang="en-US" altLang="zh-HK" strike="noStrike" noProof="1"/>
              <a:t>Second level</a:t>
            </a:r>
          </a:p>
          <a:p>
            <a:pPr lvl="2" fontAlgn="base"/>
            <a:r>
              <a:rPr lang="en-US" altLang="zh-HK" strike="noStrike" noProof="1"/>
              <a:t>Third level</a:t>
            </a:r>
          </a:p>
          <a:p>
            <a:pPr lvl="3" fontAlgn="base"/>
            <a:r>
              <a:rPr lang="en-US" altLang="zh-HK" strike="noStrike" noProof="1"/>
              <a:t>Fourth level</a:t>
            </a:r>
          </a:p>
          <a:p>
            <a:pPr lvl="4" fontAlgn="base"/>
            <a:r>
              <a:rPr lang="en-US" altLang="zh-HK" strike="noStrike" noProof="1"/>
              <a:t>Fifth level</a:t>
            </a:r>
            <a:endParaRPr lang="zh-HK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zh-HK" strike="noStrike" noProof="1"/>
              <a:t>Click to edit Master title style</a:t>
            </a:r>
            <a:endParaRPr lang="zh-HK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1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11350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979613" y="6356350"/>
            <a:ext cx="5400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01013" y="6356350"/>
            <a:ext cx="919163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/>
          </a:p>
        </p:txBody>
      </p:sp>
    </p:spTree>
  </p:cSld>
  <p:clrMapOvr>
    <a:masterClrMapping/>
  </p:clrMapOvr>
  <p:transition/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altLang="zh-HK" strike="noStrike" noProof="1"/>
              <a:t>Click to edit Master title style</a:t>
            </a:r>
            <a:endParaRPr lang="zh-HK" alt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altLang="zh-HK" strike="noStrike" noProof="1"/>
              <a:t>Click to edit Master text styles</a:t>
            </a:r>
          </a:p>
          <a:p>
            <a:pPr lvl="1" fontAlgn="base"/>
            <a:r>
              <a:rPr lang="en-US" altLang="zh-HK" strike="noStrike" noProof="1"/>
              <a:t>Second level</a:t>
            </a:r>
          </a:p>
          <a:p>
            <a:pPr lvl="2" fontAlgn="base"/>
            <a:r>
              <a:rPr lang="en-US" altLang="zh-HK" strike="noStrike" noProof="1"/>
              <a:t>Third level</a:t>
            </a:r>
          </a:p>
          <a:p>
            <a:pPr lvl="3" fontAlgn="base"/>
            <a:r>
              <a:rPr lang="en-US" altLang="zh-HK" strike="noStrike" noProof="1"/>
              <a:t>Fourth level</a:t>
            </a:r>
          </a:p>
          <a:p>
            <a:pPr lvl="4" fontAlgn="base"/>
            <a:r>
              <a:rPr lang="en-US" altLang="zh-HK" strike="noStrike" noProof="1"/>
              <a:t>Fifth level</a:t>
            </a:r>
            <a:endParaRPr lang="zh-HK" alt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altLang="zh-HK" strike="noStrike" noProof="1"/>
              <a:t>Click to 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altLang="zh-HK" strike="noStrike" noProof="1"/>
              <a:t>Click to edit Master title style</a:t>
            </a:r>
            <a:endParaRPr lang="zh-HK" alt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HK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altLang="zh-HK" strike="noStrike" noProof="1"/>
              <a:t>Click to 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zh-HK" strike="noStrike" noProof="1"/>
              <a:t>Click to edit Master title style</a:t>
            </a:r>
            <a:endParaRPr lang="zh-HK" alt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altLang="zh-HK" strike="noStrike" noProof="1"/>
              <a:t>Click to edit Master text styles</a:t>
            </a:r>
          </a:p>
          <a:p>
            <a:pPr lvl="1" fontAlgn="base"/>
            <a:r>
              <a:rPr lang="en-US" altLang="zh-HK" strike="noStrike" noProof="1"/>
              <a:t>Second level</a:t>
            </a:r>
          </a:p>
          <a:p>
            <a:pPr lvl="2" fontAlgn="base"/>
            <a:r>
              <a:rPr lang="en-US" altLang="zh-HK" strike="noStrike" noProof="1"/>
              <a:t>Third level</a:t>
            </a:r>
          </a:p>
          <a:p>
            <a:pPr lvl="3" fontAlgn="base"/>
            <a:r>
              <a:rPr lang="en-US" altLang="zh-HK" strike="noStrike" noProof="1"/>
              <a:t>Fourth level</a:t>
            </a:r>
          </a:p>
          <a:p>
            <a:pPr lvl="4" fontAlgn="base"/>
            <a:r>
              <a:rPr lang="en-US" altLang="zh-HK" strike="noStrike" noProof="1"/>
              <a:t>Fifth level</a:t>
            </a:r>
            <a:endParaRPr lang="zh-HK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pPr fontAlgn="base"/>
            <a:r>
              <a:rPr lang="en-US" altLang="zh-HK" strike="noStrike" noProof="1"/>
              <a:t>Click to edit Master title style</a:t>
            </a:r>
            <a:endParaRPr lang="zh-HK" alt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 fontAlgn="base"/>
            <a:r>
              <a:rPr lang="en-US" altLang="zh-HK" strike="noStrike" noProof="1"/>
              <a:t>Click to edit Master text styles</a:t>
            </a:r>
          </a:p>
          <a:p>
            <a:pPr lvl="1" fontAlgn="base"/>
            <a:r>
              <a:rPr lang="en-US" altLang="zh-HK" strike="noStrike" noProof="1"/>
              <a:t>Second level</a:t>
            </a:r>
          </a:p>
          <a:p>
            <a:pPr lvl="2" fontAlgn="base"/>
            <a:r>
              <a:rPr lang="en-US" altLang="zh-HK" strike="noStrike" noProof="1"/>
              <a:t>Third level</a:t>
            </a:r>
          </a:p>
          <a:p>
            <a:pPr lvl="3" fontAlgn="base"/>
            <a:r>
              <a:rPr lang="en-US" altLang="zh-HK" strike="noStrike" noProof="1"/>
              <a:t>Fourth level</a:t>
            </a:r>
          </a:p>
          <a:p>
            <a:pPr lvl="4" fontAlgn="base"/>
            <a:r>
              <a:rPr lang="en-US" altLang="zh-HK" strike="noStrike" noProof="1"/>
              <a:t>Fifth level</a:t>
            </a:r>
            <a:endParaRPr lang="zh-HK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63650" y="692150"/>
            <a:ext cx="7880350" cy="301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11350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1979613" y="6356350"/>
            <a:ext cx="5400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056563" y="6356350"/>
            <a:ext cx="917575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9763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HK" dirty="0"/>
              <a:t>Click to edit Master title style</a:t>
            </a:r>
            <a:endParaRPr lang="zh-HK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628650" y="1557338"/>
            <a:ext cx="7886700" cy="46196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 altLang="zh-HK" dirty="0"/>
              <a:t>Click to edit Master text styles</a:t>
            </a:r>
          </a:p>
          <a:p>
            <a:pPr lvl="1"/>
            <a:r>
              <a:rPr lang="en-US" altLang="zh-HK" dirty="0"/>
              <a:t>Second level</a:t>
            </a:r>
          </a:p>
          <a:p>
            <a:pPr lvl="2"/>
            <a:r>
              <a:rPr lang="en-US" altLang="zh-HK" dirty="0"/>
              <a:t>Third level</a:t>
            </a:r>
          </a:p>
          <a:p>
            <a:pPr lvl="3"/>
            <a:r>
              <a:rPr lang="en-US" altLang="zh-HK" dirty="0"/>
              <a:t>Fourth level</a:t>
            </a:r>
          </a:p>
          <a:p>
            <a:pPr lvl="4"/>
            <a:r>
              <a:rPr lang="en-US" altLang="zh-HK" dirty="0"/>
              <a:t>Fifth level</a:t>
            </a:r>
            <a:endParaRPr lang="zh-HK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11350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79613" y="6356350"/>
            <a:ext cx="5400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56563" y="6356350"/>
            <a:ext cx="917575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>
                <a:solidFill>
                  <a:srgbClr val="898989"/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zh-CN" strike="noStrike" noProof="1">
              <a:latin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395288" y="40481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hf sldNum="0" hdr="0" ftr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Segoe UI Symbol" panose="020B0502040204020203" pitchFamily="34" charset="0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egoe UI Symbol" panose="020B0502040204020203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egoe UI Symbol" panose="020B0502040204020203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egoe UI Symbol" panose="020B0502040204020203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egoe UI Symbol" panose="020B0502040204020203" pitchFamily="34" charset="0"/>
          <a:ea typeface="宋体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egoe UI Symbol" panose="020B0502040204020203" pitchFamily="34" charset="0"/>
          <a:ea typeface="宋体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egoe UI Symbol" panose="020B0502040204020203" pitchFamily="34" charset="0"/>
          <a:ea typeface="宋体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egoe UI Symbol" panose="020B0502040204020203" pitchFamily="34" charset="0"/>
          <a:ea typeface="宋体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Segoe UI Symbol" panose="020B0502040204020203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lang="en-US" altLang="zh-HK" sz="2400" b="1" kern="1200" dirty="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lang="en-US" altLang="zh-HK" sz="2000" b="1" kern="1200" dirty="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lang="en-US" altLang="zh-HK" b="1" kern="1200" dirty="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lang="en-US" altLang="zh-HK" sz="1600" kern="1200" dirty="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lang="zh-HK" altLang="en-US" sz="1400" kern="1200" dirty="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4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187623" y="1844824"/>
            <a:ext cx="7632849" cy="13684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ctr">
              <a:spcBef>
                <a:spcPct val="20000"/>
              </a:spcBef>
              <a:defRPr/>
            </a:pPr>
            <a:br>
              <a:rPr kumimoji="0" lang="en-US" altLang="zh-CN" sz="2800" b="1" kern="0" cap="none" spc="0" normalizeH="0" baseline="0" noProof="0" dirty="0">
                <a:solidFill>
                  <a:srgbClr val="3C230A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</a:br>
            <a:r>
              <a:rPr kumimoji="0" lang="zh-CN" altLang="en-US" sz="4400" b="1" kern="0" cap="none" spc="0" normalizeH="0" baseline="0" noProof="0" dirty="0">
                <a:gradFill>
                  <a:gsLst>
                    <a:gs pos="0">
                      <a:srgbClr val="B95C00">
                        <a:shade val="20000"/>
                        <a:satMod val="200000"/>
                      </a:srgbClr>
                    </a:gs>
                    <a:gs pos="78000">
                      <a:srgbClr val="B95C00">
                        <a:tint val="90000"/>
                        <a:shade val="89000"/>
                        <a:satMod val="220000"/>
                      </a:srgbClr>
                    </a:gs>
                    <a:gs pos="100000">
                      <a:srgbClr val="B95C00">
                        <a:tint val="12000"/>
                        <a:satMod val="255000"/>
                      </a:srgb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Machine Learning</a:t>
            </a:r>
            <a:br>
              <a:rPr kumimoji="0" lang="zh-CN" altLang="en-US" sz="4400" b="1" kern="0" cap="none" spc="0" normalizeH="0" baseline="0" noProof="0" dirty="0">
                <a:gradFill>
                  <a:gsLst>
                    <a:gs pos="0">
                      <a:srgbClr val="B95C00">
                        <a:shade val="20000"/>
                        <a:satMod val="200000"/>
                      </a:srgbClr>
                    </a:gs>
                    <a:gs pos="78000">
                      <a:srgbClr val="B95C00">
                        <a:tint val="90000"/>
                        <a:shade val="89000"/>
                        <a:satMod val="220000"/>
                      </a:srgbClr>
                    </a:gs>
                    <a:gs pos="100000">
                      <a:srgbClr val="B95C00">
                        <a:tint val="12000"/>
                        <a:satMod val="255000"/>
                      </a:srgb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kumimoji="0" lang="en-US" altLang="zh-CN" sz="4400" b="1" kern="0" cap="none" spc="0" normalizeH="0" baseline="0" noProof="0" dirty="0">
                <a:gradFill>
                  <a:gsLst>
                    <a:gs pos="0">
                      <a:srgbClr val="B95C00">
                        <a:shade val="20000"/>
                        <a:satMod val="200000"/>
                      </a:srgbClr>
                    </a:gs>
                    <a:gs pos="78000">
                      <a:srgbClr val="B95C00">
                        <a:tint val="90000"/>
                        <a:shade val="89000"/>
                        <a:satMod val="220000"/>
                      </a:srgbClr>
                    </a:gs>
                    <a:gs pos="100000">
                      <a:srgbClr val="B95C00">
                        <a:tint val="12000"/>
                        <a:satMod val="255000"/>
                      </a:srgb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4400" b="1" kern="0" dirty="0">
                <a:gradFill>
                  <a:gsLst>
                    <a:gs pos="0">
                      <a:srgbClr val="B95C00">
                        <a:shade val="20000"/>
                        <a:satMod val="200000"/>
                      </a:srgbClr>
                    </a:gs>
                    <a:gs pos="78000">
                      <a:srgbClr val="B95C00">
                        <a:tint val="90000"/>
                        <a:shade val="89000"/>
                        <a:satMod val="220000"/>
                      </a:srgbClr>
                    </a:gs>
                    <a:gs pos="100000">
                      <a:srgbClr val="B95C00">
                        <a:tint val="12000"/>
                        <a:satMod val="255000"/>
                      </a:srgb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 Learning Feasible?</a:t>
            </a:r>
            <a:endParaRPr kumimoji="0" lang="zh-CN" altLang="en-US" sz="4400" b="1" kern="0" cap="none" spc="0" normalizeH="0" baseline="0" noProof="0" dirty="0">
              <a:gradFill>
                <a:gsLst>
                  <a:gs pos="0">
                    <a:srgbClr val="B95C00">
                      <a:shade val="20000"/>
                      <a:satMod val="200000"/>
                    </a:srgbClr>
                  </a:gs>
                  <a:gs pos="78000">
                    <a:srgbClr val="B95C00">
                      <a:tint val="90000"/>
                      <a:shade val="89000"/>
                      <a:satMod val="220000"/>
                    </a:srgbClr>
                  </a:gs>
                  <a:gs pos="100000">
                    <a:srgbClr val="B95C00">
                      <a:tint val="12000"/>
                      <a:satMod val="255000"/>
                    </a:srgb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266" name="文本框 1"/>
          <p:cNvSpPr txBox="1"/>
          <p:nvPr/>
        </p:nvSpPr>
        <p:spPr>
          <a:xfrm>
            <a:off x="1331913" y="3932238"/>
            <a:ext cx="3624262" cy="184626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>
              <a:buSzPct val="75000"/>
            </a:pP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50000"/>
              </a:lnSpc>
              <a:buSzPct val="75000"/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Pr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of.Shuyuan Yang, Zhixi Feng</a:t>
            </a:r>
            <a:endParaRPr lang="en-US" altLang="zh-CN" b="1" dirty="0">
              <a:latin typeface="Calibri" panose="020F050202020403020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SzPct val="75000"/>
            </a:pPr>
            <a:r>
              <a:rPr lang="en-US" altLang="zh-CN" b="1" dirty="0" err="1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E-mail</a:t>
            </a:r>
            <a:r>
              <a:rPr lang="zh-CN" altLang="en-US" b="1" dirty="0" err="1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：</a:t>
            </a:r>
            <a:r>
              <a:rPr lang="en-US" altLang="zh-CN" b="1" dirty="0" err="1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syyang@xidianedu.cn</a:t>
            </a:r>
          </a:p>
          <a:p>
            <a:pPr>
              <a:lnSpc>
                <a:spcPct val="150000"/>
              </a:lnSpc>
              <a:buSzPct val="75000"/>
            </a:pPr>
            <a:r>
              <a:rPr lang="en-US" altLang="zh-CN" b="1" dirty="0" err="1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        zxfeng@xidian.edu.cn</a:t>
            </a:r>
            <a:endParaRPr lang="en-US" altLang="zh-CN" b="1" dirty="0" err="1"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331913" y="3286125"/>
            <a:ext cx="7056438" cy="46038"/>
          </a:xfrm>
          <a:prstGeom prst="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1268" name="图片 8"/>
          <p:cNvPicPr>
            <a:picLocks noChangeAspect="1"/>
          </p:cNvPicPr>
          <p:nvPr/>
        </p:nvPicPr>
        <p:blipFill>
          <a:blip r:embed="rId3"/>
          <a:srcRect t="33493" r="2518"/>
          <a:stretch>
            <a:fillRect/>
          </a:stretch>
        </p:blipFill>
        <p:spPr>
          <a:xfrm>
            <a:off x="5940425" y="4437063"/>
            <a:ext cx="2600325" cy="1854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 anchorCtr="0"/>
          <a:lstStyle/>
          <a:p>
            <a:r>
              <a:rPr lang="zh-CN" altLang="en-US"/>
              <a:t>Contents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6766" y="1553681"/>
            <a:ext cx="7886700" cy="4619625"/>
          </a:xfrm>
        </p:spPr>
        <p:txBody>
          <a:bodyPr/>
          <a:lstStyle/>
          <a:p>
            <a:pPr lvl="2">
              <a:lnSpc>
                <a:spcPct val="200000"/>
              </a:lnSpc>
            </a:pPr>
            <a:r>
              <a:rPr lang="en-US" altLang="zh-CN" sz="2800" noProof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Supervised-learning -- </a:t>
            </a:r>
            <a:r>
              <a:rPr lang="en-US" altLang="zh-CN" sz="1800" noProof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Generative VS. Generative Learning</a:t>
            </a:r>
            <a:endParaRPr lang="en-US" altLang="zh-CN" sz="2800" noProof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  <a:p>
            <a:pPr lvl="2">
              <a:lnSpc>
                <a:spcPct val="200000"/>
              </a:lnSpc>
            </a:pPr>
            <a:r>
              <a:rPr lang="en-US" altLang="zh-CN" sz="2800" noProof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What constitutes a learning problem?</a:t>
            </a:r>
          </a:p>
          <a:p>
            <a:pPr lvl="2">
              <a:lnSpc>
                <a:spcPct val="200000"/>
              </a:lnSpc>
            </a:pPr>
            <a:r>
              <a:rPr lang="en-US" altLang="zh-CN" sz="2800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Is learning feasible? </a:t>
            </a:r>
          </a:p>
          <a:p>
            <a:pPr lvl="2">
              <a:lnSpc>
                <a:spcPct val="200000"/>
              </a:lnSpc>
            </a:pPr>
            <a:r>
              <a:rPr lang="en-US" altLang="zh-CN" sz="2800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Is learning feasible? </a:t>
            </a:r>
            <a:endParaRPr lang="zh-CN" altLang="en-US" sz="2800" noProof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AF37F6-3427-444D-812C-97A700D9A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Type of model</a:t>
            </a:r>
            <a:endParaRPr lang="zh-CN" altLang="en-US" sz="3600" dirty="0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71A8D7-A568-4441-93FE-81EA873D2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366E3C-AAC3-4F54-94ED-6BEB405E1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2AF4C90-7642-4CC4-B087-B1080EC5E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365" y="1533879"/>
            <a:ext cx="7866241" cy="404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33471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B50F7F4C-05E8-4403-AF15-6B47D9B10A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1858"/>
          <a:stretch/>
        </p:blipFill>
        <p:spPr>
          <a:xfrm>
            <a:off x="395652" y="1557338"/>
            <a:ext cx="5143775" cy="187166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043B866-5692-4704-B18D-42266A186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noProof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Generative VS. Generative Learning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DFFE98-024F-49CA-B9AB-7F5FB635E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3326DBD-0415-4E8E-AE2F-C98EB2E32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60" y="1844868"/>
            <a:ext cx="3672306" cy="236513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25D346C-A8B6-412F-AC7E-CB369F7FD2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908"/>
          <a:stretch/>
        </p:blipFill>
        <p:spPr>
          <a:xfrm>
            <a:off x="428732" y="4010680"/>
            <a:ext cx="5045272" cy="1948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53495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766CA7-7DE8-4AC3-985D-271478D52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Gaussian Discriminant Analysis</a:t>
            </a:r>
            <a:endParaRPr lang="zh-CN" altLang="en-US" sz="3600" dirty="0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B9FEC7-6984-4ADA-A8C6-A34CEB2C9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65FBEE-C169-4159-B65D-730B1B296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E77BA36-599B-4961-953D-A98D8B2146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6679"/>
          <a:stretch/>
        </p:blipFill>
        <p:spPr>
          <a:xfrm>
            <a:off x="683676" y="1557338"/>
            <a:ext cx="7768453" cy="86357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23C49FB-9B68-462F-951D-8F596AF445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22" y="3454799"/>
            <a:ext cx="7768453" cy="174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79166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6DE46C-24F7-4C64-9DC4-B65F653D8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Naive Bayes</a:t>
            </a:r>
            <a:endParaRPr lang="zh-CN" altLang="en-US" sz="3600" dirty="0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8F423E-18ED-4939-85DA-58FDD7DAD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sz="3600" dirty="0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  <a:latin typeface="Segoe UI Symbol" panose="020B0502040204020203" pitchFamily="34" charset="0"/>
              <a:ea typeface="+mj-ea"/>
              <a:cs typeface="+mj-cs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789EEB-7B7A-41E1-AE0E-59A749292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B0A7F8C-4179-4FF5-B14D-B369AEE91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81" y="1557338"/>
            <a:ext cx="8083955" cy="165564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A207052-9128-4210-8B5D-901177DF5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79" y="3392369"/>
            <a:ext cx="8083955" cy="177267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8654AE3-F476-4C73-B6C9-42B9A6E7D166}"/>
              </a:ext>
            </a:extLst>
          </p:cNvPr>
          <p:cNvSpPr/>
          <p:nvPr/>
        </p:nvSpPr>
        <p:spPr>
          <a:xfrm>
            <a:off x="628650" y="5530632"/>
            <a:ext cx="78867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i="1" dirty="0">
                <a:solidFill>
                  <a:srgbClr val="4F3C83"/>
                </a:solidFill>
                <a:latin typeface="-apple-system"/>
              </a:rPr>
              <a:t>Remark: Naive Bayes is widely used </a:t>
            </a:r>
            <a:r>
              <a:rPr lang="en-US" altLang="zh-CN" i="1" dirty="0">
                <a:solidFill>
                  <a:srgbClr val="C00000"/>
                </a:solidFill>
                <a:latin typeface="-apple-system"/>
              </a:rPr>
              <a:t>for text classification and spam detection</a:t>
            </a:r>
            <a:r>
              <a:rPr lang="en-US" altLang="zh-CN" i="1" dirty="0">
                <a:solidFill>
                  <a:srgbClr val="4F3C83"/>
                </a:solidFill>
                <a:latin typeface="-apple-system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110417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3240F6-4EAF-4C9C-89CF-5722729E7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Supervised Learning </a:t>
            </a:r>
            <a:r>
              <a:rPr lang="en-US" altLang="zh-CN" sz="3600" dirty="0" err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cheatsheet</a:t>
            </a:r>
            <a:endParaRPr lang="zh-CN" altLang="en-US" sz="3600" dirty="0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FE542E-37DB-4C28-9371-9EE6B0377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0E6869-FD2E-41CD-B2DC-57B117112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CC10611-4D6E-4C26-A9D5-6A605EE64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557338"/>
            <a:ext cx="7870315" cy="237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63338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7CA34E-3C4F-4A21-B701-272DF05A9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Supervised Learning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B43862-FD18-458A-9D2F-8DE9A03B8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FC633D-821E-42A9-9D54-A9DAF4446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4AE6C97-487C-4280-BCB1-DA261AB55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64" y="1591598"/>
            <a:ext cx="7601341" cy="382289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CA0C82C-3299-4283-AED4-F77C151737D2}"/>
              </a:ext>
            </a:extLst>
          </p:cNvPr>
          <p:cNvSpPr/>
          <p:nvPr/>
        </p:nvSpPr>
        <p:spPr>
          <a:xfrm>
            <a:off x="688649" y="5395640"/>
            <a:ext cx="76013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i="1" dirty="0">
                <a:solidFill>
                  <a:srgbClr val="4F3C83"/>
                </a:solidFill>
                <a:latin typeface="-apple-system"/>
              </a:rPr>
              <a:t>Remark: the update rule is a particular case of the gradient ascent.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E25B547-CEBE-45D1-A669-2A59DBF28A23}"/>
              </a:ext>
            </a:extLst>
          </p:cNvPr>
          <p:cNvSpPr/>
          <p:nvPr/>
        </p:nvSpPr>
        <p:spPr>
          <a:xfrm>
            <a:off x="688649" y="5846544"/>
            <a:ext cx="81317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i="1" dirty="0">
                <a:solidFill>
                  <a:srgbClr val="4F3C83"/>
                </a:solidFill>
                <a:latin typeface="-apple-system"/>
              </a:rPr>
              <a:t>Remark: Stochastic gradient descent (SGD) is updating the parameter based on each training example, and batch gradient descent is on a batch of training examples.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219118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DC9464-E1F9-484F-B18B-F2BF1AE8F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Supervised Learning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0915C9-6F91-4475-B0B7-22EC9791E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dirty="0">
                <a:solidFill>
                  <a:srgbClr val="24292E"/>
                </a:solidFill>
                <a:latin typeface="-apple-system"/>
                <a:ea typeface="宋体" panose="02010600030101010101" pitchFamily="2" charset="-122"/>
                <a:cs typeface="+mn-cs"/>
              </a:rPr>
              <a:t>regression settings.</a:t>
            </a:r>
            <a:endParaRPr lang="zh-CN" altLang="en-US" b="0" dirty="0">
              <a:solidFill>
                <a:srgbClr val="24292E"/>
              </a:solidFill>
              <a:latin typeface="-apple-system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60B895-7874-4BE9-BBA8-BF8581892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7A068CD-D4B8-43BE-BB4B-509EC7CC4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61" y="1565883"/>
            <a:ext cx="7493385" cy="1612983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537A4A6-8C04-4C27-9B1F-4450D04B5445}"/>
              </a:ext>
            </a:extLst>
          </p:cNvPr>
          <p:cNvSpPr/>
          <p:nvPr/>
        </p:nvSpPr>
        <p:spPr>
          <a:xfrm>
            <a:off x="336815" y="2641270"/>
            <a:ext cx="285379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-apple-system"/>
              </a:rPr>
              <a:t>Non-parametric approaches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832FB52-6307-4625-B9DD-21516AF94F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621"/>
          <a:stretch/>
        </p:blipFill>
        <p:spPr>
          <a:xfrm>
            <a:off x="628650" y="2994401"/>
            <a:ext cx="7493384" cy="3744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69596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56B2D7-EDD7-4144-B880-8ED720A61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Classification and logistic regression</a:t>
            </a:r>
            <a:endParaRPr lang="zh-CN" altLang="en-US" sz="3600" dirty="0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4D6510-307F-49ED-A0CD-356B37DF9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i="1" dirty="0"/>
              <a:t>Remark: logistic regressions do not have closed form solutions.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233DA2-AAB3-421B-AD80-089E6BA47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C6D47C1-A4F6-40A8-A543-F14F880D4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49" y="1557338"/>
            <a:ext cx="7894957" cy="287974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A413A3A-04EB-4F46-BCD5-28913F65EB9F}"/>
              </a:ext>
            </a:extLst>
          </p:cNvPr>
          <p:cNvSpPr/>
          <p:nvPr/>
        </p:nvSpPr>
        <p:spPr>
          <a:xfrm>
            <a:off x="755682" y="4950149"/>
            <a:ext cx="72726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i="1" dirty="0">
                <a:solidFill>
                  <a:srgbClr val="4F3C83"/>
                </a:solidFill>
                <a:latin typeface="-apple-system"/>
              </a:rPr>
              <a:t>Remark: logistic regressions do not have closed form solutions.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282801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187AAE-A418-4B93-8AC4-22986BE8B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Classification and logistic regression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696146-51D6-4DEC-B784-24B56849A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492FE1-8383-4B05-B80D-5DFBA2E9D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D5B97F9-3F8C-4417-AF0E-A03D0DD06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57339"/>
            <a:ext cx="7831674" cy="220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82045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83162F-3390-4E11-A785-BB5CC8775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Classification and logistic regression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837E30-14A0-435A-B2F9-080C637F4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1800" dirty="0" err="1">
                <a:solidFill>
                  <a:srgbClr val="C00000"/>
                </a:solidFill>
                <a:latin typeface="-apple-system"/>
                <a:cs typeface="+mn-cs"/>
              </a:rPr>
              <a:t>Perceptrons</a:t>
            </a:r>
            <a:r>
              <a:rPr lang="en-US" altLang="zh-CN" sz="1800" dirty="0">
                <a:solidFill>
                  <a:srgbClr val="C00000"/>
                </a:solidFill>
                <a:latin typeface="-apple-system"/>
                <a:cs typeface="+mn-cs"/>
              </a:rPr>
              <a:t>: </a:t>
            </a:r>
            <a:r>
              <a:rPr lang="en-US" altLang="zh-CN" sz="1800" b="0" dirty="0">
                <a:solidFill>
                  <a:srgbClr val="0000FF"/>
                </a:solidFill>
                <a:latin typeface="-apple-system"/>
                <a:cs typeface="+mn-cs"/>
              </a:rPr>
              <a:t>Single layer </a:t>
            </a:r>
            <a:r>
              <a:rPr lang="en-US" altLang="zh-CN" sz="1800" b="0" dirty="0">
                <a:solidFill>
                  <a:srgbClr val="6B6B6A"/>
                </a:solidFill>
                <a:latin typeface="-apple-system"/>
                <a:cs typeface="+mn-cs"/>
              </a:rPr>
              <a:t>and Multilayer</a:t>
            </a:r>
            <a:r>
              <a:rPr lang="en-US" altLang="zh-CN" sz="1800" dirty="0">
                <a:solidFill>
                  <a:srgbClr val="6B6B6A"/>
                </a:solidFill>
                <a:latin typeface="-apple-system"/>
                <a:cs typeface="+mn-cs"/>
              </a:rPr>
              <a:t>.</a:t>
            </a:r>
          </a:p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en-US" altLang="zh-CN" sz="1800" dirty="0">
              <a:solidFill>
                <a:srgbClr val="6B6B6A"/>
              </a:solidFill>
              <a:latin typeface="-apple-system"/>
              <a:cs typeface="+mn-cs"/>
            </a:endParaRPr>
          </a:p>
          <a:p>
            <a:r>
              <a:rPr lang="en-US" altLang="zh-CN" sz="1800" b="0" dirty="0">
                <a:solidFill>
                  <a:srgbClr val="6B6B6A"/>
                </a:solidFill>
                <a:latin typeface="-apple-system"/>
                <a:cs typeface="+mn-cs"/>
              </a:rPr>
              <a:t>Single layer - Single layer </a:t>
            </a:r>
            <a:r>
              <a:rPr lang="en-US" altLang="zh-CN" sz="1800" b="0" dirty="0" err="1">
                <a:solidFill>
                  <a:srgbClr val="6B6B6A"/>
                </a:solidFill>
                <a:latin typeface="-apple-system"/>
                <a:cs typeface="+mn-cs"/>
              </a:rPr>
              <a:t>perceptrons</a:t>
            </a:r>
            <a:r>
              <a:rPr lang="en-US" altLang="zh-CN" sz="1800" b="0" dirty="0">
                <a:solidFill>
                  <a:srgbClr val="6B6B6A"/>
                </a:solidFill>
                <a:latin typeface="-apple-system"/>
                <a:cs typeface="+mn-cs"/>
              </a:rPr>
              <a:t> can learn only linearly separable patterns</a:t>
            </a:r>
          </a:p>
          <a:p>
            <a:r>
              <a:rPr lang="en-US" altLang="zh-CN" sz="1800" b="0" dirty="0">
                <a:solidFill>
                  <a:srgbClr val="6B6B6A"/>
                </a:solidFill>
                <a:latin typeface="-apple-system"/>
                <a:cs typeface="+mn-cs"/>
              </a:rPr>
              <a:t>Multilayer - Multilayer </a:t>
            </a:r>
            <a:r>
              <a:rPr lang="en-US" altLang="zh-CN" sz="1800" b="0" dirty="0" err="1">
                <a:solidFill>
                  <a:srgbClr val="6B6B6A"/>
                </a:solidFill>
                <a:latin typeface="-apple-system"/>
                <a:cs typeface="+mn-cs"/>
              </a:rPr>
              <a:t>perceptrons</a:t>
            </a:r>
            <a:r>
              <a:rPr lang="en-US" altLang="zh-CN" sz="1800" b="0" dirty="0">
                <a:solidFill>
                  <a:srgbClr val="6B6B6A"/>
                </a:solidFill>
                <a:latin typeface="-apple-system"/>
                <a:cs typeface="+mn-cs"/>
              </a:rPr>
              <a:t> or feedforward neural networks with two or more layers have the greater processing power</a:t>
            </a:r>
          </a:p>
          <a:p>
            <a:endParaRPr lang="en-US" altLang="zh-CN" sz="1800" b="0" dirty="0">
              <a:solidFill>
                <a:srgbClr val="6B6B6A"/>
              </a:solidFill>
              <a:latin typeface="-apple-system"/>
              <a:cs typeface="+mn-cs"/>
            </a:endParaRPr>
          </a:p>
          <a:p>
            <a:r>
              <a:rPr lang="en-US" altLang="zh-CN" sz="1800" b="0" dirty="0">
                <a:solidFill>
                  <a:srgbClr val="6B6B6A"/>
                </a:solidFill>
                <a:latin typeface="-apple-system"/>
                <a:cs typeface="+mn-cs"/>
              </a:rPr>
              <a:t>Perceptron Learning Rule/ Algorithm</a:t>
            </a:r>
          </a:p>
          <a:p>
            <a:endParaRPr lang="en-US" altLang="zh-CN" sz="1800" b="0" dirty="0">
              <a:solidFill>
                <a:srgbClr val="6B6B6A"/>
              </a:solidFill>
              <a:latin typeface="-apple-system"/>
              <a:cs typeface="+mn-cs"/>
            </a:endParaRPr>
          </a:p>
          <a:p>
            <a:r>
              <a:rPr lang="en-US" altLang="zh-CN" sz="1800" b="0" dirty="0">
                <a:solidFill>
                  <a:srgbClr val="6B6B6A"/>
                </a:solidFill>
                <a:latin typeface="-apple-system"/>
                <a:cs typeface="+mn-cs"/>
              </a:rPr>
              <a:t>Pockets Algorithm</a:t>
            </a:r>
          </a:p>
          <a:p>
            <a:endParaRPr lang="en-US" altLang="zh-CN" sz="1800" b="0" dirty="0">
              <a:solidFill>
                <a:srgbClr val="6B6B6A"/>
              </a:solidFill>
              <a:latin typeface="-apple-system"/>
              <a:cs typeface="+mn-cs"/>
            </a:endParaRPr>
          </a:p>
          <a:p>
            <a:r>
              <a:rPr lang="en-US" altLang="zh-CN" sz="1800" b="0" dirty="0">
                <a:solidFill>
                  <a:srgbClr val="6B6B6A"/>
                </a:solidFill>
                <a:latin typeface="-apple-system"/>
                <a:cs typeface="+mn-cs"/>
              </a:rPr>
              <a:t>Convergence of PLA </a:t>
            </a:r>
            <a:endParaRPr lang="zh-CN" altLang="en-US" sz="1800" b="0" dirty="0">
              <a:solidFill>
                <a:srgbClr val="6B6B6A"/>
              </a:solidFill>
              <a:latin typeface="-apple-system"/>
              <a:cs typeface="+mn-cs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E7A4DB-0A93-4274-86F2-ABF28762E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1B289D2-BDE5-46BA-8D7C-AC903DD81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090" y="2867770"/>
            <a:ext cx="2832479" cy="122410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C355F80-1ED5-4193-8503-DC430EA1F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9145" y="4590425"/>
            <a:ext cx="3096258" cy="142047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E7C3C0C-DDFE-4EAE-B537-DCBC5F67A07F}"/>
              </a:ext>
            </a:extLst>
          </p:cNvPr>
          <p:cNvSpPr/>
          <p:nvPr/>
        </p:nvSpPr>
        <p:spPr>
          <a:xfrm>
            <a:off x="755682" y="5589180"/>
            <a:ext cx="290368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-apple-system"/>
                <a:ea typeface="+mn-ea"/>
              </a:rPr>
              <a:t>Linearly fractionable data set</a:t>
            </a:r>
            <a:endParaRPr lang="zh-CN" altLang="en-US" dirty="0">
              <a:solidFill>
                <a:srgbClr val="C00000"/>
              </a:solidFill>
              <a:latin typeface="-apple-system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5931960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D9E50A-562E-420C-ABEC-2104ABE45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Classification metrics</a:t>
            </a:r>
            <a:endParaRPr lang="zh-CN" altLang="en-US" sz="3200" dirty="0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56E1BA-D987-4DF9-AC95-74F7D97A9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96F025-2831-43C6-97F1-5D961424A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5289C0D-7128-41AE-BB1A-80EFD27F7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71500"/>
            <a:ext cx="7759668" cy="3164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79539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8929C0-9859-4C6A-BF4F-EAFDC4D7F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Classification metrics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7B1A1C-0201-4811-917E-6DA101AFB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0207C0-E374-40C1-965A-10BF43A35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A25B723-CEE5-48DE-9D60-FA62E4899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664" y="1594129"/>
            <a:ext cx="7975686" cy="407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72087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BAB5A9-FA7C-4FEC-82C8-8D28B3DD2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Classification metrics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8265F2-174B-4094-BF6C-89A38B063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004B49-E05D-4021-BBE4-B54943288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418F351-A4F9-4E49-A46F-599333718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903" y="4382345"/>
            <a:ext cx="6285338" cy="193531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A2C852C-BC37-4F1A-A6D3-DAEBDFA36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758" y="1553573"/>
            <a:ext cx="8104484" cy="272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261902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BAB5A9-FA7C-4FEC-82C8-8D28B3DD2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Regression metrics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8265F2-174B-4094-BF6C-89A38B063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004B49-E05D-4021-BBE4-B54943288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B2ED995-C1B8-4178-BB9C-307C11EFA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7" y="1591519"/>
            <a:ext cx="8067167" cy="343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458431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BAB5A9-FA7C-4FEC-82C8-8D28B3DD2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Classification metrics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8265F2-174B-4094-BF6C-89A38B063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004B49-E05D-4021-BBE4-B54943288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41075F7-30D0-4842-82DD-45B0D42E5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25" y="1557339"/>
            <a:ext cx="7960011" cy="231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90327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 anchorCtr="0"/>
          <a:lstStyle/>
          <a:p>
            <a:r>
              <a:rPr lang="zh-CN" altLang="en-US"/>
              <a:t>Contents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6766" y="1553681"/>
            <a:ext cx="7886700" cy="4619625"/>
          </a:xfrm>
        </p:spPr>
        <p:txBody>
          <a:bodyPr/>
          <a:lstStyle/>
          <a:p>
            <a:pPr lvl="2">
              <a:lnSpc>
                <a:spcPct val="200000"/>
              </a:lnSpc>
            </a:pPr>
            <a:r>
              <a:rPr lang="en-US" altLang="zh-CN" sz="2800" noProof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Generative VS. Generative Learning</a:t>
            </a:r>
          </a:p>
          <a:p>
            <a:pPr lvl="2">
              <a:lnSpc>
                <a:spcPct val="200000"/>
              </a:lnSpc>
            </a:pPr>
            <a:r>
              <a:rPr lang="en-US" altLang="zh-CN" sz="2800" noProof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What constitutes a learning problem?</a:t>
            </a:r>
          </a:p>
          <a:p>
            <a:pPr lvl="2">
              <a:lnSpc>
                <a:spcPct val="200000"/>
              </a:lnSpc>
            </a:pPr>
            <a:r>
              <a:rPr lang="en-US" altLang="zh-CN" sz="2800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Is learning feasible? </a:t>
            </a:r>
          </a:p>
          <a:p>
            <a:pPr lvl="2">
              <a:lnSpc>
                <a:spcPct val="200000"/>
              </a:lnSpc>
            </a:pPr>
            <a:r>
              <a:rPr lang="en-US" altLang="zh-CN" sz="2800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Is learning feasible? </a:t>
            </a:r>
            <a:endParaRPr lang="zh-CN" altLang="en-US" sz="2800" noProof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844217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36A49A-5006-433C-B65E-A623CDCF7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Dataset </a:t>
            </a:r>
            <a:endParaRPr lang="zh-CN" altLang="en-US" sz="3600" dirty="0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006F00-0EF7-4C15-9F18-A0ED2292D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57338"/>
            <a:ext cx="8191704" cy="4619625"/>
          </a:xfrm>
        </p:spPr>
        <p:txBody>
          <a:bodyPr/>
          <a:lstStyle/>
          <a:p>
            <a:r>
              <a:rPr lang="en-US" altLang="zh-CN" dirty="0">
                <a:latin typeface="MS PGothic" panose="020B0600070205080204" pitchFamily="34" charset="-128"/>
                <a:ea typeface="MS PGothic" panose="020B0600070205080204" pitchFamily="34" charset="-128"/>
              </a:rPr>
              <a:t>Dataset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6F5CD2-BD2A-495F-A5CE-B87EDF815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43E70B6-D761-4EBB-86CA-041D402AF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712" y="2132892"/>
            <a:ext cx="5472456" cy="200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03890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5A01D7-E43D-4C79-8C3E-04ADAFC44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Training and Testing Set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9D0F10-B73E-4D7E-944C-5F83103D3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Dubai Medium" panose="020B0603030403030204" pitchFamily="34" charset="-78"/>
                <a:cs typeface="Dubai Medium" panose="020B0603030403030204" pitchFamily="34" charset="-78"/>
              </a:rPr>
              <a:t>Training and Testing Set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Dubai Medium" panose="020B0603030403030204" pitchFamily="34" charset="-78"/>
                <a:cs typeface="Dubai Medium" panose="020B0603030403030204" pitchFamily="34" charset="-78"/>
              </a:rPr>
              <a:t>In-sample: </a:t>
            </a:r>
            <a:r>
              <a:rPr lang="en-US" altLang="zh-CN" b="0" dirty="0">
                <a:latin typeface="Dubai Medium" panose="020B0603030403030204" pitchFamily="34" charset="-78"/>
                <a:cs typeface="Dubai Medium" panose="020B0603030403030204" pitchFamily="34" charset="-78"/>
              </a:rPr>
              <a:t>Samples that are inside the training set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Dubai Medium" panose="020B0603030403030204" pitchFamily="34" charset="-78"/>
                <a:cs typeface="Dubai Medium" panose="020B0603030403030204" pitchFamily="34" charset="-78"/>
              </a:rPr>
              <a:t>Out-sample: </a:t>
            </a:r>
            <a:r>
              <a:rPr lang="en-US" altLang="zh-CN" b="0" dirty="0">
                <a:latin typeface="Dubai Medium" panose="020B0603030403030204" pitchFamily="34" charset="-78"/>
                <a:cs typeface="Dubai Medium" panose="020B0603030403030204" pitchFamily="34" charset="-78"/>
              </a:rPr>
              <a:t>Samples that are outside the training set</a:t>
            </a:r>
          </a:p>
          <a:p>
            <a:endParaRPr lang="zh-CN" altLang="en-US" dirty="0">
              <a:latin typeface="Dubai Medium" panose="020B0603030403030204" pitchFamily="34" charset="-78"/>
              <a:cs typeface="Dubai Medium" panose="020B0603030403030204" pitchFamily="34" charset="-78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089917-DD5A-467D-BE65-9AB7A9820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5652863-8B6D-46F9-9C8F-BCE54AA3C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423" y="3371207"/>
            <a:ext cx="6117153" cy="277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9974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378DCAC3-8DC2-4CB1-B4EE-C93BD0452072}"/>
              </a:ext>
            </a:extLst>
          </p:cNvPr>
          <p:cNvSpPr/>
          <p:nvPr/>
        </p:nvSpPr>
        <p:spPr>
          <a:xfrm>
            <a:off x="768294" y="4221066"/>
            <a:ext cx="7404006" cy="14401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B613A02-21E9-441C-A5CB-7E0F7D654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294" y="1556844"/>
            <a:ext cx="7747056" cy="244820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2586368-B58A-405D-97D6-303CDED1F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HypothesisFucntion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948177-09EE-42B0-AD47-A56E243E3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BCCCC18-B717-4D64-AE21-26A08EB62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94" y="4293072"/>
            <a:ext cx="7000541" cy="131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600742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8F5057-D3D5-434A-A570-81F481A40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Learning Model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8308E3-1E33-43CC-A436-9E888A9C5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2FB40F-BD99-4589-BE48-4195919A3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3C22EA2-3C43-456F-95C4-61FDE3546E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643"/>
          <a:stretch/>
        </p:blipFill>
        <p:spPr>
          <a:xfrm>
            <a:off x="649541" y="1566041"/>
            <a:ext cx="6442669" cy="431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932533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C43C69-F10A-4C50-9FB2-CB933C4A7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Is Learning Feasible?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412B89-F8D4-426E-AD7A-DA82E830E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Dubai Medium" panose="020B0603030403030204" pitchFamily="34" charset="-78"/>
                <a:cs typeface="Dubai Medium" panose="020B0603030403030204" pitchFamily="34" charset="-78"/>
              </a:rPr>
              <a:t>In-sample</a:t>
            </a:r>
            <a:r>
              <a:rPr lang="en-US" altLang="zh-CN" dirty="0"/>
              <a:t> and </a:t>
            </a:r>
            <a:r>
              <a:rPr lang="en-US" altLang="zh-CN" dirty="0">
                <a:latin typeface="Dubai Medium" panose="020B0603030403030204" pitchFamily="34" charset="-78"/>
                <a:cs typeface="Dubai Medium" panose="020B0603030403030204" pitchFamily="34" charset="-78"/>
              </a:rPr>
              <a:t>Out-sample</a:t>
            </a:r>
            <a:r>
              <a:rPr lang="en-US" altLang="zh-CN" dirty="0"/>
              <a:t>:</a:t>
            </a:r>
          </a:p>
          <a:p>
            <a:pPr lvl="1"/>
            <a:r>
              <a:rPr lang="en-US" altLang="zh-CN" sz="2000" dirty="0">
                <a:latin typeface="Dubai Medium" panose="020B0603030403030204" pitchFamily="34" charset="-78"/>
                <a:cs typeface="Dubai Medium" panose="020B0603030403030204" pitchFamily="34" charset="-78"/>
              </a:rPr>
              <a:t>In-sample</a:t>
            </a:r>
            <a:r>
              <a:rPr lang="en-US" altLang="zh-CN" dirty="0"/>
              <a:t>: </a:t>
            </a:r>
            <a:r>
              <a:rPr lang="en-US" altLang="zh-CN" sz="2000" b="0" dirty="0">
                <a:latin typeface="Dubai Medium" panose="020B0603030403030204" pitchFamily="34" charset="-78"/>
                <a:cs typeface="Dubai Medium" panose="020B0603030403030204" pitchFamily="34" charset="-78"/>
              </a:rPr>
              <a:t>Training Data</a:t>
            </a:r>
          </a:p>
          <a:p>
            <a:pPr lvl="1"/>
            <a:r>
              <a:rPr lang="en-US" altLang="zh-CN" sz="2000" dirty="0">
                <a:latin typeface="Dubai Medium" panose="020B0603030403030204" pitchFamily="34" charset="-78"/>
                <a:cs typeface="Dubai Medium" panose="020B0603030403030204" pitchFamily="34" charset="-78"/>
              </a:rPr>
              <a:t>Out-sample</a:t>
            </a:r>
            <a:r>
              <a:rPr lang="en-US" altLang="zh-CN" dirty="0"/>
              <a:t>: </a:t>
            </a:r>
            <a:r>
              <a:rPr lang="en-US" altLang="zh-CN" sz="2000" b="0" dirty="0">
                <a:latin typeface="Dubai Medium" panose="020B0603030403030204" pitchFamily="34" charset="-78"/>
                <a:cs typeface="Dubai Medium" panose="020B0603030403030204" pitchFamily="34" charset="-78"/>
              </a:rPr>
              <a:t>Testing Data</a:t>
            </a:r>
            <a:endParaRPr lang="zh-CN" altLang="en-US" sz="2000" b="0" dirty="0">
              <a:latin typeface="Dubai Medium" panose="020B0603030403030204" pitchFamily="34" charset="-78"/>
              <a:cs typeface="Dubai Medium" panose="020B0603030403030204" pitchFamily="34" charset="-78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EA3777-6F98-4AAC-A94E-4BB876632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F41812E-2944-4AF0-9A0B-BE2384BF3F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15" b="2381"/>
          <a:stretch/>
        </p:blipFill>
        <p:spPr>
          <a:xfrm>
            <a:off x="628651" y="2708940"/>
            <a:ext cx="6823590" cy="295224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9B481D4-9558-4A27-B8B4-20604597D3D6}"/>
              </a:ext>
            </a:extLst>
          </p:cNvPr>
          <p:cNvSpPr/>
          <p:nvPr/>
        </p:nvSpPr>
        <p:spPr>
          <a:xfrm>
            <a:off x="827688" y="3717024"/>
            <a:ext cx="6048504" cy="64805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260996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9F2970-8A93-4332-B707-627688D27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Is Learning Feasible?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3BE554-5554-4280-83E2-CC5445052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978F81-A677-4B7E-A25E-63EC5798D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124BA145-FA45-4B32-A65B-4B4665D91F1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65"/>
          <a:stretch/>
        </p:blipFill>
        <p:spPr bwMode="auto">
          <a:xfrm>
            <a:off x="628650" y="1557338"/>
            <a:ext cx="7629525" cy="4031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9293239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BC4210-C978-48B3-ACE0-864E2AD29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‘Simple’ Binary Classification Problem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BAE54F-9358-4A97-A49B-3231BEA27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u"/>
            </a:pP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E2649C-34C2-4FFD-BE54-301D53524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787180-C9C9-481E-BF0C-A7F26AEDC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557338"/>
            <a:ext cx="7886700" cy="252562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4052326-2BB0-4885-B962-7619F6551F78}"/>
              </a:ext>
            </a:extLst>
          </p:cNvPr>
          <p:cNvSpPr/>
          <p:nvPr/>
        </p:nvSpPr>
        <p:spPr>
          <a:xfrm>
            <a:off x="623355" y="4365078"/>
            <a:ext cx="406713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Clr>
                <a:srgbClr val="0000FF"/>
              </a:buClr>
              <a:buFont typeface="Wingdings" panose="05000000000000000000" pitchFamily="2" charset="2"/>
              <a:buChar char="u"/>
            </a:pPr>
            <a:r>
              <a:rPr lang="en-US" altLang="zh-CN" kern="0" dirty="0">
                <a:solidFill>
                  <a:srgbClr val="000000"/>
                </a:solidFill>
                <a:latin typeface="CMSS10"/>
              </a:rPr>
              <a:t>How many </a:t>
            </a:r>
            <a:r>
              <a:rPr lang="en-US" altLang="zh-CN" kern="0" dirty="0">
                <a:solidFill>
                  <a:srgbClr val="00000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possible</a:t>
            </a:r>
            <a:r>
              <a:rPr lang="en-US" altLang="zh-CN" kern="0" dirty="0">
                <a:solidFill>
                  <a:srgbClr val="000000"/>
                </a:solidFill>
                <a:latin typeface="CMSS10"/>
              </a:rPr>
              <a:t> vectors are there?</a:t>
            </a:r>
          </a:p>
          <a:p>
            <a:pPr marL="285750" indent="-285750">
              <a:buClr>
                <a:srgbClr val="0000FF"/>
              </a:buClr>
              <a:buFont typeface="Wingdings" panose="05000000000000000000" pitchFamily="2" charset="2"/>
              <a:buChar char="u"/>
            </a:pPr>
            <a:endParaRPr lang="en-US" altLang="zh-CN" kern="0" dirty="0">
              <a:solidFill>
                <a:srgbClr val="000000"/>
              </a:solidFill>
              <a:latin typeface="CMSS10"/>
            </a:endParaRPr>
          </a:p>
          <a:p>
            <a:pPr marL="285750" indent="-285750">
              <a:buClr>
                <a:srgbClr val="0000FF"/>
              </a:buClr>
              <a:buFont typeface="Wingdings" panose="05000000000000000000" pitchFamily="2" charset="2"/>
              <a:buChar char="u"/>
            </a:pPr>
            <a:r>
              <a:rPr lang="en-US" altLang="zh-CN" kern="0" dirty="0">
                <a:solidFill>
                  <a:srgbClr val="00000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How many possible f’s ?</a:t>
            </a:r>
            <a:endParaRPr lang="zh-CN" altLang="en-US" kern="0" dirty="0">
              <a:solidFill>
                <a:srgbClr val="000000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78076157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D21785-E37A-436A-96F3-C00921AE5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‘Simple’ Binary Classification Problem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ADF1C2-963F-4050-99E6-800EA5202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MS PGothic" panose="020B0600070205080204" pitchFamily="34" charset="-128"/>
                <a:ea typeface="MS PGothic" panose="020B0600070205080204" pitchFamily="34" charset="-128"/>
              </a:rPr>
              <a:t>We have 8 input vectors: </a:t>
            </a:r>
          </a:p>
          <a:p>
            <a:r>
              <a:rPr lang="en-US" altLang="zh-CN" dirty="0">
                <a:latin typeface="MS PGothic" panose="020B0600070205080204" pitchFamily="34" charset="-128"/>
                <a:ea typeface="MS PGothic" panose="020B0600070205080204" pitchFamily="34" charset="-128"/>
              </a:rPr>
              <a:t>We have 256 hypotheses: </a:t>
            </a:r>
          </a:p>
          <a:p>
            <a:r>
              <a:rPr lang="en-US" altLang="zh-CN" dirty="0">
                <a:solidFill>
                  <a:srgbClr val="C00000"/>
                </a:solidFill>
                <a:latin typeface="Dubai Medium" panose="020B0603030403030204" pitchFamily="34" charset="-78"/>
                <a:cs typeface="Dubai Medium" panose="020B0603030403030204" pitchFamily="34" charset="-78"/>
              </a:rPr>
              <a:t>Is learning feasible? </a:t>
            </a:r>
            <a:endParaRPr lang="zh-CN" altLang="en-US" dirty="0">
              <a:solidFill>
                <a:srgbClr val="C00000"/>
              </a:solidFill>
              <a:latin typeface="Dubai Medium" panose="020B0603030403030204" pitchFamily="34" charset="-78"/>
              <a:ea typeface="MS PGothic" panose="020B0600070205080204" pitchFamily="34" charset="-128"/>
              <a:cs typeface="Dubai Medium" panose="020B0603030403030204" pitchFamily="34" charset="-78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5D4595-D759-4ADF-8BA0-2050B3C2E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9FD4A83-8969-4AEB-989A-3A00A066C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58" y="2780946"/>
            <a:ext cx="7886700" cy="317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230459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1B7B4F58-4519-4A40-9FDB-D784214A5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340" y="1268820"/>
            <a:ext cx="1854660" cy="2001378"/>
          </a:xfrm>
          <a:prstGeom prst="rect">
            <a:avLst/>
          </a:prstGeom>
        </p:spPr>
      </p:pic>
      <p:pic>
        <p:nvPicPr>
          <p:cNvPr id="38914" name="Picture 2" descr="https://gimg2.baidu.com/image_search/src=http%3A%2F%2Finews.gtimg.com%2Fnewsapp_match%2F0%2F2678853786%2F0.jpg&amp;refer=http%3A%2F%2Finews.gtimg.com&amp;app=2002&amp;size=f9999,10000&amp;q=a80&amp;n=0&amp;g=0n&amp;fmt=jpeg?sec=1637979753&amp;t=9599049e35da9f4e7cf11cc5603706d5">
            <a:extLst>
              <a:ext uri="{FF2B5EF4-FFF2-40B4-BE49-F238E27FC236}">
                <a16:creationId xmlns:a16="http://schemas.microsoft.com/office/drawing/2014/main" id="{1E86D21B-B510-4578-8912-E08CBD7AA9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52" t="14865" r="2094" b="6810"/>
          <a:stretch/>
        </p:blipFill>
        <p:spPr bwMode="auto">
          <a:xfrm rot="19606761">
            <a:off x="827608" y="4496974"/>
            <a:ext cx="1872210" cy="172814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5D9D175-0A63-4D77-BD68-B66AFA9CE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‘Simple’ Binary Classification Problem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60D070-E6DD-4010-BC8F-DB15B3B85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0E0880-51BC-4F00-9A59-77C492546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B53D856-4F03-489A-B43B-F291B7FE4D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295" y="1916874"/>
            <a:ext cx="6408534" cy="258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124261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CC1BDE-0ECA-4F16-AE96-DFF3CE89F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Power of Probability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2E2C0B-F980-4AAA-98C7-15FC3AD98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50FDDB-2B82-41D3-BD3F-57349C9F7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FC9BDEF-1FCF-409F-9E82-35EFEDEED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57338"/>
            <a:ext cx="6942595" cy="4528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698354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9533E2-B03D-4FC3-8CD9-B8C7E81CF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Power of Probability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2B665C-A990-4739-BD2B-0DEBA8BED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B59157-16B0-438E-ABAF-4ADFC7E67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AA0F83B-B4BC-48E6-8FAF-F61EE2D38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557494"/>
            <a:ext cx="7183620" cy="463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839172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7B99A1-6B94-4176-ABC8-022BFB520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Power of Probability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629556-6435-466C-8626-F848923A6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354674-9A19-4161-A8CA-33488E79E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B24E0DCF-8858-4D12-9B46-C00A710BD5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557339"/>
            <a:ext cx="8047692" cy="4319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6102384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605E8D03-CF3E-47A9-85B0-066EFD278AE5}"/>
              </a:ext>
            </a:extLst>
          </p:cNvPr>
          <p:cNvSpPr/>
          <p:nvPr/>
        </p:nvSpPr>
        <p:spPr>
          <a:xfrm>
            <a:off x="605240" y="3205163"/>
            <a:ext cx="7781925" cy="30659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4CBA0C0-683D-48A4-9D3D-CEA81C41C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In-Sample Error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9F7B8D-1F2D-4B5F-84D4-698E9E7BC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989C77-A6A5-4335-AA63-869568AF4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5656C8A-162B-48F3-8C80-FFDB78DC4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557338"/>
            <a:ext cx="7781925" cy="16478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B70697A-0DDF-4E34-B06D-D926C7A9F27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92"/>
          <a:stretch/>
        </p:blipFill>
        <p:spPr>
          <a:xfrm>
            <a:off x="916674" y="3363903"/>
            <a:ext cx="7183620" cy="280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286085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CBA0C0-683D-48A4-9D3D-CEA81C41C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In-Sample Error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9F7B8D-1F2D-4B5F-84D4-698E9E7BC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989C77-A6A5-4335-AA63-869568AF4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223D55B-AB23-4420-B0CC-BA30BF948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10" y="1606705"/>
            <a:ext cx="7866831" cy="2016170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C811C28-8587-4A1E-ABA2-6B8D299C882B}"/>
              </a:ext>
            </a:extLst>
          </p:cNvPr>
          <p:cNvSpPr/>
          <p:nvPr/>
        </p:nvSpPr>
        <p:spPr>
          <a:xfrm>
            <a:off x="827688" y="3717024"/>
            <a:ext cx="7559477" cy="25540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1D6167B-B4C6-4B19-8D6F-60E93F4AE5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181" y="3841048"/>
            <a:ext cx="6450978" cy="2306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488402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D8B3E210-A4E3-4521-8CC7-D3DCE69E90E2}"/>
              </a:ext>
            </a:extLst>
          </p:cNvPr>
          <p:cNvSpPr/>
          <p:nvPr/>
        </p:nvSpPr>
        <p:spPr>
          <a:xfrm>
            <a:off x="827688" y="3717024"/>
            <a:ext cx="7559477" cy="25540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B9723C8-0042-4CAB-9862-48C0FD116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Out-Sample Error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F0C3A4-4A03-4805-B8F4-E53C2183D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1F6EF4C-3EB8-4784-B56B-AAF175C3F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557338"/>
            <a:ext cx="7953375" cy="20383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B4B73BA-2F2A-4612-B8B4-05917AB414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181" y="3841048"/>
            <a:ext cx="6450978" cy="2306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398587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D51ACA-6D3A-40BF-BC15-59EA644BA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In-sample VS Out-sample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AFAAA4-C7AB-4C4D-892D-B8BE502D5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B8E933-1E6E-4422-B50D-75C29FF01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D079953-4DF8-4306-A13C-88C18671F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520825"/>
            <a:ext cx="7399638" cy="475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982619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DDC0D8-DABE-4248-8981-A886703E0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Role of </a:t>
            </a:r>
            <a:r>
              <a:rPr lang="en-US" altLang="zh-CN" i="1" dirty="0"/>
              <a:t>p</a:t>
            </a:r>
            <a:r>
              <a:rPr lang="en-US" altLang="zh-CN" dirty="0"/>
              <a:t>(x)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69A90F-F0F6-47FC-93C2-9E714B072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3863F6-90BD-4392-BE26-8CC4D953C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A590D9E-9BF8-423F-BD44-01E3A3BE3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484838"/>
            <a:ext cx="7543650" cy="258128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6CB8EC7-4BE7-4B09-A2EE-A935B0B88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1" y="4293072"/>
            <a:ext cx="7886700" cy="201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449193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CC2912-0A02-49E0-B2A2-2D5405F73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Theorem (</a:t>
            </a:r>
            <a:r>
              <a:rPr lang="en-US" altLang="zh-CN" dirty="0" err="1"/>
              <a:t>Hoeffding</a:t>
            </a:r>
            <a:r>
              <a:rPr lang="en-US" altLang="zh-CN" dirty="0"/>
              <a:t> Inequality)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E399E5-7618-4F64-ADB0-E7DA0F050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F5564C-D2C3-474E-BCC7-DEACA7166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69697B7-E02F-411C-BE0F-E5578D867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561847"/>
            <a:ext cx="7886700" cy="222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615285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CAB35E-09DC-4011-8B27-A8E5002B6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When Will </a:t>
            </a:r>
            <a:r>
              <a:rPr lang="en-US" altLang="zh-CN" i="1" dirty="0"/>
              <a:t>E</a:t>
            </a:r>
            <a:r>
              <a:rPr lang="en-US" altLang="zh-CN" dirty="0"/>
              <a:t>in = </a:t>
            </a:r>
            <a:r>
              <a:rPr lang="en-US" altLang="zh-CN" i="1" dirty="0" err="1"/>
              <a:t>E</a:t>
            </a:r>
            <a:r>
              <a:rPr lang="en-US" altLang="zh-CN" dirty="0" err="1"/>
              <a:t>out</a:t>
            </a:r>
            <a:r>
              <a:rPr lang="en-US" altLang="zh-CN" dirty="0"/>
              <a:t>?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BB2FF2-E939-4906-88E1-D793D2018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47C407-138F-40DB-B67A-971CE7485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8927B952-0E8B-4E20-8DFC-AB40DACA9B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570313"/>
            <a:ext cx="7356628" cy="460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2251022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6F7930-CD38-42FD-8741-6439E4973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When Will </a:t>
            </a:r>
            <a:r>
              <a:rPr lang="en-US" altLang="zh-CN" i="1" dirty="0"/>
              <a:t>E</a:t>
            </a:r>
            <a:r>
              <a:rPr lang="en-US" altLang="zh-CN" dirty="0"/>
              <a:t>in = </a:t>
            </a:r>
            <a:r>
              <a:rPr lang="en-US" altLang="zh-CN" i="1" dirty="0" err="1"/>
              <a:t>E</a:t>
            </a:r>
            <a:r>
              <a:rPr lang="en-US" altLang="zh-CN" dirty="0" err="1"/>
              <a:t>out</a:t>
            </a:r>
            <a:r>
              <a:rPr lang="en-US" altLang="zh-CN" dirty="0"/>
              <a:t>?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E1D55E-DBC9-4066-A240-A859E3FC8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3E37B3-53B3-4061-BA0B-9564827D7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EA17E84-4F71-4354-A464-91176DF0B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519238"/>
            <a:ext cx="7183620" cy="471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985036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49D9A9-05B4-4969-8E49-91DDCDE5E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Connection to Learning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DEB898-0F7B-46FE-AE56-05EFB471A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EF7166-185B-4BEF-9190-EBEE2506D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739B204D-4982-4A26-9D1C-8343DC0B27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664" y="1552576"/>
            <a:ext cx="7776648" cy="4856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3237405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E3CA22-8D98-4727-B95C-3C6363DF4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Formal Guarantee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3B5C26-FA2A-4CD1-A06E-DC2E92DB1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61E7E8-13E7-4534-80A4-E5224CB76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2ADDD8F8-1E9F-4469-9B60-B1B966250E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570235"/>
            <a:ext cx="7118730" cy="460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3792188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13BB47-9EF7-4B57-9228-4E58D6191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Verification of One </a:t>
            </a:r>
            <a:r>
              <a:rPr lang="en-US" altLang="zh-CN" i="1" dirty="0"/>
              <a:t>h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830A8A-84A4-41AE-8468-FF618F050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D092D8-4318-484C-A2CB-9F3BB34B5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962C8B-B14F-4D97-AF65-F5344CB8AC3E}" type="datetime1">
              <a:rPr kumimoji="0" lang="zh-CN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2021/10/28</a:t>
            </a:fld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0414519A-28F2-4620-840E-4DB8009658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670" y="1557338"/>
            <a:ext cx="8086725" cy="438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303827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1630</TotalTime>
  <Words>465</Words>
  <Application>Microsoft Office PowerPoint</Application>
  <PresentationFormat>全屏显示(4:3)</PresentationFormat>
  <Paragraphs>126</Paragraphs>
  <Slides>41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4" baseType="lpstr">
      <vt:lpstr>-apple-system</vt:lpstr>
      <vt:lpstr>CMSS10</vt:lpstr>
      <vt:lpstr>MS PGothic</vt:lpstr>
      <vt:lpstr>PMingLiU</vt:lpstr>
      <vt:lpstr>黑体</vt:lpstr>
      <vt:lpstr>宋体</vt:lpstr>
      <vt:lpstr>Arial</vt:lpstr>
      <vt:lpstr>Calibri</vt:lpstr>
      <vt:lpstr>Dubai Medium</vt:lpstr>
      <vt:lpstr>Segoe UI Light</vt:lpstr>
      <vt:lpstr>Segoe UI Symbol</vt:lpstr>
      <vt:lpstr>Wingdings</vt:lpstr>
      <vt:lpstr>Office Theme</vt:lpstr>
      <vt:lpstr>PowerPoint 演示文稿</vt:lpstr>
      <vt:lpstr>Contents</vt:lpstr>
      <vt:lpstr>Type of model</vt:lpstr>
      <vt:lpstr>Generative VS. Generative Learning</vt:lpstr>
      <vt:lpstr>Gaussian Discriminant Analysis</vt:lpstr>
      <vt:lpstr>Naive Bayes</vt:lpstr>
      <vt:lpstr>Supervised Learning cheatsheet</vt:lpstr>
      <vt:lpstr>Supervised Learning</vt:lpstr>
      <vt:lpstr>Supervised Learning</vt:lpstr>
      <vt:lpstr>Classification and logistic regression</vt:lpstr>
      <vt:lpstr>Classification and logistic regression</vt:lpstr>
      <vt:lpstr>Classification and logistic regression</vt:lpstr>
      <vt:lpstr>Classification metrics</vt:lpstr>
      <vt:lpstr>Classification metrics</vt:lpstr>
      <vt:lpstr>Classification metrics</vt:lpstr>
      <vt:lpstr>Regression metrics</vt:lpstr>
      <vt:lpstr>Classification metrics</vt:lpstr>
      <vt:lpstr>Contents</vt:lpstr>
      <vt:lpstr>Dataset </vt:lpstr>
      <vt:lpstr>Training and Testing Set</vt:lpstr>
      <vt:lpstr>HypothesisFucntion</vt:lpstr>
      <vt:lpstr>Learning Model</vt:lpstr>
      <vt:lpstr>Is Learning Feasible?</vt:lpstr>
      <vt:lpstr>Is Learning Feasible?</vt:lpstr>
      <vt:lpstr>A ‘Simple’ Binary Classification Problem</vt:lpstr>
      <vt:lpstr>A ‘Simple’ Binary Classification Problem</vt:lpstr>
      <vt:lpstr>A ‘Simple’ Binary Classification Problem</vt:lpstr>
      <vt:lpstr>The Power of Probability</vt:lpstr>
      <vt:lpstr>The Power of Probability</vt:lpstr>
      <vt:lpstr>The Power of Probability</vt:lpstr>
      <vt:lpstr>In-Sample Error </vt:lpstr>
      <vt:lpstr>In-Sample Error </vt:lpstr>
      <vt:lpstr>Out-Sample Error</vt:lpstr>
      <vt:lpstr>In-sample VS Out-sample</vt:lpstr>
      <vt:lpstr>The Role of p(x) </vt:lpstr>
      <vt:lpstr>Theorem (Hoeffding Inequality) </vt:lpstr>
      <vt:lpstr>When Will Ein = Eout? </vt:lpstr>
      <vt:lpstr>When Will Ein = Eout? </vt:lpstr>
      <vt:lpstr>Connection to Learning</vt:lpstr>
      <vt:lpstr>The Formal Guarantee</vt:lpstr>
      <vt:lpstr>Verification of One 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Snowden to Big Data</dc:title>
  <dc:creator>hytan</dc:creator>
  <cp:lastModifiedBy>ZHIXI FENG</cp:lastModifiedBy>
  <cp:revision>1892</cp:revision>
  <cp:lastPrinted>2021-10-28T04:26:24Z</cp:lastPrinted>
  <dcterms:created xsi:type="dcterms:W3CDTF">2012-06-06T01:30:00Z</dcterms:created>
  <dcterms:modified xsi:type="dcterms:W3CDTF">2021-10-28T04:36:59Z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2052-11.1.0.10700</vt:lpwstr>
  </property>
  <property fmtid="{D5CDD505-2E9C-101B-9397-08002B2CF9AE}" pid="3" name="ICV">
    <vt:lpwstr>67A9819ED46D4C83A56ECA158F8A50BD</vt:lpwstr>
  </property>
</Properties>
</file>
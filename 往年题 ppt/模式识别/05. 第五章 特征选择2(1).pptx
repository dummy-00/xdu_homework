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68"/>
  </p:handoutMasterIdLst>
  <p:sldIdLst>
    <p:sldId id="443" r:id="rId3"/>
    <p:sldId id="503" r:id="rId4"/>
    <p:sldId id="536" r:id="rId5"/>
    <p:sldId id="539" r:id="rId6"/>
    <p:sldId id="444" r:id="rId7"/>
    <p:sldId id="445" r:id="rId8"/>
    <p:sldId id="447" r:id="rId9"/>
    <p:sldId id="451" r:id="rId10"/>
    <p:sldId id="452" r:id="rId11"/>
    <p:sldId id="453" r:id="rId12"/>
    <p:sldId id="506" r:id="rId13"/>
    <p:sldId id="490" r:id="rId14"/>
    <p:sldId id="548" r:id="rId15"/>
    <p:sldId id="491" r:id="rId16"/>
    <p:sldId id="552" r:id="rId17"/>
    <p:sldId id="492" r:id="rId18"/>
    <p:sldId id="537" r:id="rId19"/>
    <p:sldId id="455" r:id="rId20"/>
    <p:sldId id="457" r:id="rId21"/>
    <p:sldId id="545" r:id="rId22"/>
    <p:sldId id="459" r:id="rId23"/>
    <p:sldId id="509" r:id="rId24"/>
    <p:sldId id="460" r:id="rId25"/>
    <p:sldId id="461" r:id="rId27"/>
    <p:sldId id="540" r:id="rId28"/>
    <p:sldId id="543" r:id="rId29"/>
    <p:sldId id="542" r:id="rId30"/>
    <p:sldId id="546" r:id="rId31"/>
    <p:sldId id="544" r:id="rId32"/>
    <p:sldId id="464" r:id="rId33"/>
    <p:sldId id="510" r:id="rId34"/>
    <p:sldId id="512" r:id="rId35"/>
    <p:sldId id="513" r:id="rId36"/>
    <p:sldId id="547" r:id="rId37"/>
    <p:sldId id="514" r:id="rId38"/>
    <p:sldId id="466" r:id="rId39"/>
    <p:sldId id="467" r:id="rId40"/>
    <p:sldId id="515" r:id="rId41"/>
    <p:sldId id="516" r:id="rId42"/>
    <p:sldId id="517" r:id="rId43"/>
    <p:sldId id="471" r:id="rId44"/>
    <p:sldId id="538" r:id="rId45"/>
    <p:sldId id="493" r:id="rId46"/>
    <p:sldId id="494" r:id="rId47"/>
    <p:sldId id="495" r:id="rId48"/>
    <p:sldId id="496" r:id="rId49"/>
    <p:sldId id="497" r:id="rId50"/>
    <p:sldId id="498" r:id="rId51"/>
    <p:sldId id="499" r:id="rId52"/>
    <p:sldId id="500" r:id="rId53"/>
    <p:sldId id="551" r:id="rId54"/>
    <p:sldId id="553" r:id="rId55"/>
    <p:sldId id="554" r:id="rId56"/>
    <p:sldId id="555" r:id="rId57"/>
    <p:sldId id="557" r:id="rId58"/>
    <p:sldId id="560" r:id="rId59"/>
    <p:sldId id="501" r:id="rId60"/>
    <p:sldId id="521" r:id="rId61"/>
    <p:sldId id="502" r:id="rId62"/>
    <p:sldId id="522" r:id="rId63"/>
    <p:sldId id="523" r:id="rId64"/>
    <p:sldId id="527" r:id="rId65"/>
    <p:sldId id="524" r:id="rId66"/>
    <p:sldId id="525" r:id="rId67"/>
  </p:sldIdLst>
  <p:sldSz cx="9144000" cy="6858000" type="screen4x3"/>
  <p:notesSz cx="6781800" cy="9926955"/>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1"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3"/>
    <p:restoredTop sz="82327"/>
  </p:normalViewPr>
  <p:slideViewPr>
    <p:cSldViewPr showGuides="1">
      <p:cViewPr varScale="1">
        <p:scale>
          <a:sx n="66" d="100"/>
          <a:sy n="66" d="100"/>
        </p:scale>
        <p:origin x="1317" y="39"/>
      </p:cViewPr>
      <p:guideLst>
        <p:guide orient="horz" pos="2191"/>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5.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32.wmf"/><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8.wmf"/><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7.wmf"/><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38463" cy="495300"/>
          </a:xfrm>
          <a:prstGeom prst="rect">
            <a:avLst/>
          </a:prstGeom>
        </p:spPr>
        <p:txBody>
          <a:bodyPr vert="horz" lIns="95472" tIns="47736" rIns="95472" bIns="47736" rtlCol="0"/>
          <a:lstStyle>
            <a:lvl1pPr algn="l"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41750" y="0"/>
            <a:ext cx="2938463" cy="495300"/>
          </a:xfrm>
          <a:prstGeom prst="rect">
            <a:avLst/>
          </a:prstGeom>
        </p:spPr>
        <p:txBody>
          <a:bodyPr vert="horz" lIns="95472" tIns="47736" rIns="95472" bIns="47736" rtlCol="0"/>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2B5EAD7F-69C1-4632-8B6C-38EB1D227E04}" type="datetimeFigureOut">
              <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9429750"/>
            <a:ext cx="2938463" cy="495300"/>
          </a:xfrm>
          <a:prstGeom prst="rect">
            <a:avLst/>
          </a:prstGeom>
        </p:spPr>
        <p:txBody>
          <a:bodyPr vert="horz" lIns="95472" tIns="47736" rIns="95472" bIns="47736" rtlCol="0" anchor="b"/>
          <a:lstStyle>
            <a:lvl1pPr algn="l"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41750" y="9429750"/>
            <a:ext cx="2938463" cy="495300"/>
          </a:xfrm>
          <a:prstGeom prst="rect">
            <a:avLst/>
          </a:prstGeom>
        </p:spPr>
        <p:txBody>
          <a:bodyPr vert="horz" wrap="square" lIns="95472" tIns="47736" rIns="95472" bIns="47736" numCol="1" anchor="b" anchorCtr="0" compatLnSpc="1"/>
          <a:p>
            <a:pPr lvl="0" algn="r" eaLnBrk="1" hangingPunct="1">
              <a:buNone/>
            </a:pPr>
            <a:fld id="{9A0DB2DC-4C9A-4742-B13C-FB6460FD3503}" type="slidenum">
              <a:rPr lang="zh-CN" altLang="en-US" sz="1300" dirty="0"/>
            </a:fld>
            <a:endParaRPr lang="zh-CN" altLang="en-US" sz="13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38463" cy="495300"/>
          </a:xfrm>
          <a:prstGeom prst="rect">
            <a:avLst/>
          </a:prstGeom>
        </p:spPr>
        <p:txBody>
          <a:bodyPr vert="horz" lIns="95472" tIns="47736" rIns="95472" bIns="47736" rtlCol="0"/>
          <a:lstStyle>
            <a:lvl1pPr algn="l"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41750" y="0"/>
            <a:ext cx="2938463" cy="495300"/>
          </a:xfrm>
          <a:prstGeom prst="rect">
            <a:avLst/>
          </a:prstGeom>
        </p:spPr>
        <p:txBody>
          <a:bodyPr vert="horz" lIns="95472" tIns="47736" rIns="95472" bIns="47736" rtlCol="0"/>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81FFAEC5-BD66-4434-B0AB-E76BD08831B3}" type="datetimeFigureOut">
              <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09638" y="744538"/>
            <a:ext cx="4962525" cy="3722688"/>
          </a:xfrm>
          <a:prstGeom prst="rect">
            <a:avLst/>
          </a:prstGeom>
          <a:noFill/>
          <a:ln w="12700">
            <a:solidFill>
              <a:prstClr val="black"/>
            </a:solidFill>
          </a:ln>
        </p:spPr>
        <p:txBody>
          <a:bodyPr vert="horz" lIns="95472" tIns="47736" rIns="95472" bIns="47736"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77863" y="4714875"/>
            <a:ext cx="5426075" cy="4467225"/>
          </a:xfrm>
          <a:prstGeom prst="rect">
            <a:avLst/>
          </a:prstGeom>
        </p:spPr>
        <p:txBody>
          <a:bodyPr vert="horz" lIns="95472" tIns="47736" rIns="95472" bIns="47736"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429750"/>
            <a:ext cx="2938463" cy="495300"/>
          </a:xfrm>
          <a:prstGeom prst="rect">
            <a:avLst/>
          </a:prstGeom>
        </p:spPr>
        <p:txBody>
          <a:bodyPr vert="horz" lIns="95472" tIns="47736" rIns="95472" bIns="47736" rtlCol="0" anchor="b"/>
          <a:lstStyle>
            <a:lvl1pPr algn="l" eaLnBrk="1" hangingPunct="1">
              <a:defRPr sz="13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41750" y="9429750"/>
            <a:ext cx="2938463" cy="495300"/>
          </a:xfrm>
          <a:prstGeom prst="rect">
            <a:avLst/>
          </a:prstGeom>
        </p:spPr>
        <p:txBody>
          <a:bodyPr vert="horz" wrap="square" lIns="95472" tIns="47736" rIns="95472" bIns="47736" numCol="1" anchor="b" anchorCtr="0" compatLnSpc="1"/>
          <a:p>
            <a:pPr lvl="0" algn="r" eaLnBrk="1" hangingPunct="1">
              <a:buNone/>
            </a:pPr>
            <a:fld id="{9A0DB2DC-4C9A-4742-B13C-FB6460FD3503}" type="slidenum">
              <a:rPr lang="zh-CN" altLang="en-US" sz="1300" dirty="0"/>
            </a:fld>
            <a:endParaRPr lang="zh-CN" altLang="en-US" sz="13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41750" y="9429750"/>
            <a:ext cx="2938463" cy="495300"/>
          </a:xfrm>
          <a:prstGeom prst="rect">
            <a:avLst/>
          </a:prstGeom>
          <a:noFill/>
          <a:ln w="9525">
            <a:noFill/>
          </a:ln>
        </p:spPr>
        <p:txBody>
          <a:bodyPr lIns="95472" tIns="47736" rIns="95472" bIns="47736" anchor="b" anchorCtr="0"/>
          <a:p>
            <a:pPr lvl="0" algn="r" eaLnBrk="1" hangingPunct="1">
              <a:spcBef>
                <a:spcPct val="0"/>
              </a:spcBef>
            </a:pPr>
            <a:fld id="{9A0DB2DC-4C9A-4742-B13C-FB6460FD3503}" type="slidenum">
              <a:rPr lang="en-US" altLang="zh-CN" sz="1300" dirty="0">
                <a:latin typeface="Times New Roman" panose="02020603050405020304" pitchFamily="18" charset="0"/>
              </a:rPr>
            </a:fld>
            <a:endParaRPr lang="en-US" altLang="zh-CN" sz="1300" dirty="0">
              <a:latin typeface="Times New Roman" panose="02020603050405020304" pitchFamily="18" charset="0"/>
            </a:endParaRPr>
          </a:p>
        </p:txBody>
      </p:sp>
      <p:sp>
        <p:nvSpPr>
          <p:cNvPr id="29699" name="Rectangle 2"/>
          <p:cNvSpPr>
            <a:spLocks noGrp="1" noRot="1" noChangeAspect="1" noTextEdit="1"/>
          </p:cNvSpPr>
          <p:nvPr>
            <p:ph type="sldImg"/>
          </p:nvPr>
        </p:nvSpPr>
        <p:spPr>
          <a:xfrm>
            <a:off x="909638" y="744538"/>
            <a:ext cx="4962525" cy="3722687"/>
          </a:xfrm>
          <a:ln>
            <a:solidFill>
              <a:srgbClr val="000000">
                <a:alpha val="100000"/>
              </a:srgbClr>
            </a:solidFill>
            <a:miter lim="800000"/>
          </a:ln>
        </p:spPr>
      </p:sp>
      <p:sp>
        <p:nvSpPr>
          <p:cNvPr id="29700" name="Rectangle 3"/>
          <p:cNvSpPr>
            <a:spLocks noGrp="1"/>
          </p:cNvSpPr>
          <p:nvPr>
            <p:ph type="body" idx="1"/>
          </p:nvPr>
        </p:nvSpPr>
        <p:spPr>
          <a:noFill/>
          <a:ln>
            <a:noFill/>
          </a:ln>
        </p:spPr>
        <p:txBody>
          <a:bodyPr wrap="square" lIns="95472" tIns="47736" rIns="95472" bIns="47736"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rtl="0" eaLnBrk="0" fontAlgn="base" hangingPunct="0">
              <a:spcBef>
                <a:spcPct val="0"/>
              </a:spcBef>
              <a:spcAft>
                <a:spcPct val="0"/>
              </a:spcAft>
              <a:defRPr kumimoji="1" lang="zh-CN" altLang="en-US" sz="3600" b="1" kern="12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7"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7310438"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270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894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7310438" y="6329363"/>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华文新魏" panose="0201080004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2263" y="765175"/>
            <a:ext cx="1947862" cy="5472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27088" y="765175"/>
            <a:ext cx="5692775" cy="5472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27088" y="2122488"/>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89488" y="2122488"/>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27088" y="765175"/>
            <a:ext cx="7793037" cy="1143000"/>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827088" y="21224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789488" y="21224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827088" y="42560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789488" y="42560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7088" y="765175"/>
            <a:ext cx="7793037" cy="547211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827088" y="2122488"/>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789488" y="21224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789488" y="4256088"/>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2.jpeg"/><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zh-CN" dirty="0"/>
            </a:fld>
            <a:endParaRPr lang="en-US" altLang="zh-CN" dirty="0">
              <a:latin typeface="Times New Roman" panose="02020603050405020304" pitchFamily="18" charset="0"/>
            </a:endParaRPr>
          </a:p>
        </p:txBody>
      </p:sp>
      <p:pic>
        <p:nvPicPr>
          <p:cNvPr id="1036" name="Picture 15" descr="blue002"/>
          <p:cNvPicPr>
            <a:picLocks noChangeAspect="1"/>
          </p:cNvPicPr>
          <p:nvPr userDrawn="1"/>
        </p:nvPicPr>
        <p:blipFill>
          <a:blip r:embed="rId16"/>
          <a:stretch>
            <a:fillRect/>
          </a:stretch>
        </p:blipFill>
        <p:spPr>
          <a:xfrm>
            <a:off x="0" y="-38100"/>
            <a:ext cx="9144000" cy="6896100"/>
          </a:xfrm>
          <a:prstGeom prst="rect">
            <a:avLst/>
          </a:prstGeom>
          <a:noFill/>
          <a:ln w="9525">
            <a:noFill/>
          </a:ln>
        </p:spPr>
      </p:pic>
      <p:pic>
        <p:nvPicPr>
          <p:cNvPr id="1037" name="Picture 14" descr="GoogleBalls_small"/>
          <p:cNvPicPr>
            <a:picLocks noChangeAspect="1"/>
          </p:cNvPicPr>
          <p:nvPr userDrawn="1"/>
        </p:nvPicPr>
        <p:blipFill>
          <a:blip r:embed="rId17"/>
          <a:stretch>
            <a:fillRect/>
          </a:stretch>
        </p:blipFill>
        <p:spPr>
          <a:xfrm>
            <a:off x="7327900" y="5734050"/>
            <a:ext cx="1435100" cy="641350"/>
          </a:xfrm>
          <a:prstGeom prst="rect">
            <a:avLst/>
          </a:prstGeom>
          <a:noFill/>
          <a:ln w="9525">
            <a:noFill/>
          </a:ln>
        </p:spPr>
      </p:pic>
      <p:sp>
        <p:nvSpPr>
          <p:cNvPr id="1038"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mn-cs"/>
            </a:endParaRPr>
          </a:p>
        </p:txBody>
      </p:sp>
      <p:sp>
        <p:nvSpPr>
          <p:cNvPr id="1039"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40" name="Rectangle 10"/>
          <p:cNvSpPr>
            <a:spLocks noGrp="1"/>
          </p:cNvSpPr>
          <p:nvPr>
            <p:ph type="body" idx="1"/>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kumimoji="1"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2pPr>
      <a:lvl3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3pPr>
      <a:lvl4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4pPr>
      <a:lvl5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hyperlink" Target="http://www.dabaoku.com/sucai/zhiwulei/shucai/imagepage/image29.htm" TargetMode="External"/><Relationship Id="rId7" Type="http://schemas.openxmlformats.org/officeDocument/2006/relationships/image" Target="../media/image6.jpeg"/><Relationship Id="rId6" Type="http://schemas.openxmlformats.org/officeDocument/2006/relationships/hyperlink" Target="http://www.dabaoku.com/sucai/zhiwulei/shucai/imagepage/image20.htm" TargetMode="External"/><Relationship Id="rId5" Type="http://schemas.openxmlformats.org/officeDocument/2006/relationships/image" Target="../media/image5.jpeg"/><Relationship Id="rId4" Type="http://schemas.openxmlformats.org/officeDocument/2006/relationships/hyperlink" Target="http://www.dabaoku.com/sucai/zhiwulei/shucai/imagepage/image10.htm" TargetMode="External"/><Relationship Id="rId3" Type="http://schemas.openxmlformats.org/officeDocument/2006/relationships/image" Target="../media/image4.jpeg"/><Relationship Id="rId2" Type="http://schemas.openxmlformats.org/officeDocument/2006/relationships/hyperlink" Target="http://www.dabaoku.com/sucai/zhiwulei/shucai/imagepage/image24.htm" TargetMode="External"/><Relationship Id="rId16" Type="http://schemas.openxmlformats.org/officeDocument/2006/relationships/slideLayout" Target="../slideLayouts/slideLayout6.xml"/><Relationship Id="rId15" Type="http://schemas.openxmlformats.org/officeDocument/2006/relationships/image" Target="../media/image10.jpeg"/><Relationship Id="rId14" Type="http://schemas.openxmlformats.org/officeDocument/2006/relationships/hyperlink" Target="http://www.dabaoku.com/sucai/zhiwulei/shucai/imagepage/image14.htm" TargetMode="External"/><Relationship Id="rId13" Type="http://schemas.openxmlformats.org/officeDocument/2006/relationships/image" Target="../media/image9.jpeg"/><Relationship Id="rId12" Type="http://schemas.openxmlformats.org/officeDocument/2006/relationships/hyperlink" Target="http://www.dabaoku.com/sucai/zhiwulei/shucai/imagepage/image35.htm" TargetMode="External"/><Relationship Id="rId11" Type="http://schemas.openxmlformats.org/officeDocument/2006/relationships/image" Target="../media/image8.jpeg"/><Relationship Id="rId10" Type="http://schemas.openxmlformats.org/officeDocument/2006/relationships/hyperlink" Target="http://www.dabaoku.com/sucai/zhiwulei/shucai/imagepage/image60.htm" TargetMode="Externa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2.png"/><Relationship Id="rId2" Type="http://schemas.openxmlformats.org/officeDocument/2006/relationships/image" Target="NULL" TargetMode="Externa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NULL" TargetMode="Externa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6.xml"/><Relationship Id="rId3" Type="http://schemas.openxmlformats.org/officeDocument/2006/relationships/themeOverride" Target="../theme/themeOverride3.xml"/><Relationship Id="rId2" Type="http://schemas.openxmlformats.org/officeDocument/2006/relationships/image" Target="../media/image17.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9.pn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6.xml"/><Relationship Id="rId2" Type="http://schemas.openxmlformats.org/officeDocument/2006/relationships/image" Target="../media/image20.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7.bin"/><Relationship Id="rId8" Type="http://schemas.openxmlformats.org/officeDocument/2006/relationships/image" Target="../media/image27.wmf"/><Relationship Id="rId7" Type="http://schemas.openxmlformats.org/officeDocument/2006/relationships/oleObject" Target="../embeddings/oleObject6.bin"/><Relationship Id="rId6" Type="http://schemas.openxmlformats.org/officeDocument/2006/relationships/image" Target="../media/image26.wmf"/><Relationship Id="rId5" Type="http://schemas.openxmlformats.org/officeDocument/2006/relationships/oleObject" Target="../embeddings/oleObject5.bin"/><Relationship Id="rId4" Type="http://schemas.openxmlformats.org/officeDocument/2006/relationships/image" Target="../media/image25.wmf"/><Relationship Id="rId3" Type="http://schemas.openxmlformats.org/officeDocument/2006/relationships/oleObject" Target="../embeddings/oleObject4.bin"/><Relationship Id="rId2" Type="http://schemas.openxmlformats.org/officeDocument/2006/relationships/image" Target="../media/image24.wmf"/><Relationship Id="rId12" Type="http://schemas.openxmlformats.org/officeDocument/2006/relationships/vmlDrawing" Target="../drawings/vmlDrawing3.vml"/><Relationship Id="rId11" Type="http://schemas.openxmlformats.org/officeDocument/2006/relationships/slideLayout" Target="../slideLayouts/slideLayout6.xml"/><Relationship Id="rId10" Type="http://schemas.openxmlformats.org/officeDocument/2006/relationships/image" Target="../media/image28.w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31.wmf"/><Relationship Id="rId7" Type="http://schemas.openxmlformats.org/officeDocument/2006/relationships/oleObject" Target="../embeddings/oleObject11.bin"/><Relationship Id="rId6" Type="http://schemas.openxmlformats.org/officeDocument/2006/relationships/image" Target="../media/image30.wmf"/><Relationship Id="rId5" Type="http://schemas.openxmlformats.org/officeDocument/2006/relationships/oleObject" Target="../embeddings/oleObject10.bin"/><Relationship Id="rId4" Type="http://schemas.openxmlformats.org/officeDocument/2006/relationships/image" Target="../media/image29.wmf"/><Relationship Id="rId3" Type="http://schemas.openxmlformats.org/officeDocument/2006/relationships/oleObject" Target="../embeddings/oleObject9.bin"/><Relationship Id="rId2" Type="http://schemas.openxmlformats.org/officeDocument/2006/relationships/image" Target="../media/image24.wmf"/><Relationship Id="rId10" Type="http://schemas.openxmlformats.org/officeDocument/2006/relationships/vmlDrawing" Target="../drawings/vmlDrawing4.vml"/><Relationship Id="rId1"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31.wmf"/><Relationship Id="rId7" Type="http://schemas.openxmlformats.org/officeDocument/2006/relationships/oleObject" Target="../embeddings/oleObject15.bin"/><Relationship Id="rId6" Type="http://schemas.openxmlformats.org/officeDocument/2006/relationships/image" Target="../media/image30.wmf"/><Relationship Id="rId5" Type="http://schemas.openxmlformats.org/officeDocument/2006/relationships/oleObject" Target="../embeddings/oleObject14.bin"/><Relationship Id="rId4" Type="http://schemas.openxmlformats.org/officeDocument/2006/relationships/image" Target="../media/image29.wmf"/><Relationship Id="rId3" Type="http://schemas.openxmlformats.org/officeDocument/2006/relationships/oleObject" Target="../embeddings/oleObject13.bin"/><Relationship Id="rId2" Type="http://schemas.openxmlformats.org/officeDocument/2006/relationships/image" Target="../media/image24.wmf"/><Relationship Id="rId12" Type="http://schemas.openxmlformats.org/officeDocument/2006/relationships/vmlDrawing" Target="../drawings/vmlDrawing5.vml"/><Relationship Id="rId11" Type="http://schemas.openxmlformats.org/officeDocument/2006/relationships/slideLayout" Target="../slideLayouts/slideLayout6.xml"/><Relationship Id="rId10" Type="http://schemas.openxmlformats.org/officeDocument/2006/relationships/image" Target="../media/image32.wmf"/><Relationship Id="rId1" Type="http://schemas.openxmlformats.org/officeDocument/2006/relationships/oleObject" Target="../embeddings/oleObject12.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36.wmf"/><Relationship Id="rId7" Type="http://schemas.openxmlformats.org/officeDocument/2006/relationships/oleObject" Target="../embeddings/oleObject20.bin"/><Relationship Id="rId6" Type="http://schemas.openxmlformats.org/officeDocument/2006/relationships/image" Target="../media/image35.wmf"/><Relationship Id="rId5" Type="http://schemas.openxmlformats.org/officeDocument/2006/relationships/oleObject" Target="../embeddings/oleObject19.bin"/><Relationship Id="rId4" Type="http://schemas.openxmlformats.org/officeDocument/2006/relationships/image" Target="../media/image34.wmf"/><Relationship Id="rId3" Type="http://schemas.openxmlformats.org/officeDocument/2006/relationships/oleObject" Target="../embeddings/oleObject18.bin"/><Relationship Id="rId2" Type="http://schemas.openxmlformats.org/officeDocument/2006/relationships/image" Target="../media/image33.wmf"/><Relationship Id="rId12" Type="http://schemas.openxmlformats.org/officeDocument/2006/relationships/vmlDrawing" Target="../drawings/vmlDrawing6.vml"/><Relationship Id="rId11" Type="http://schemas.openxmlformats.org/officeDocument/2006/relationships/slideLayout" Target="../slideLayouts/slideLayout6.xml"/><Relationship Id="rId10" Type="http://schemas.openxmlformats.org/officeDocument/2006/relationships/image" Target="../media/image37.wmf"/><Relationship Id="rId1" Type="http://schemas.openxmlformats.org/officeDocument/2006/relationships/oleObject" Target="../embeddings/oleObject17.bin"/></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6.xml"/><Relationship Id="rId6" Type="http://schemas.openxmlformats.org/officeDocument/2006/relationships/image" Target="../media/image35.wmf"/><Relationship Id="rId5" Type="http://schemas.openxmlformats.org/officeDocument/2006/relationships/oleObject" Target="../embeddings/oleObject24.bin"/><Relationship Id="rId4" Type="http://schemas.openxmlformats.org/officeDocument/2006/relationships/image" Target="../media/image38.wmf"/><Relationship Id="rId3" Type="http://schemas.openxmlformats.org/officeDocument/2006/relationships/oleObject" Target="../embeddings/oleObject23.bin"/><Relationship Id="rId2" Type="http://schemas.openxmlformats.org/officeDocument/2006/relationships/image" Target="../media/image33.wmf"/><Relationship Id="rId1" Type="http://schemas.openxmlformats.org/officeDocument/2006/relationships/oleObject" Target="../embeddings/oleObject22.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42.wmf"/><Relationship Id="rId7" Type="http://schemas.openxmlformats.org/officeDocument/2006/relationships/oleObject" Target="../embeddings/oleObject28.bin"/><Relationship Id="rId6" Type="http://schemas.openxmlformats.org/officeDocument/2006/relationships/image" Target="../media/image41.wmf"/><Relationship Id="rId5" Type="http://schemas.openxmlformats.org/officeDocument/2006/relationships/oleObject" Target="../embeddings/oleObject27.bin"/><Relationship Id="rId4" Type="http://schemas.openxmlformats.org/officeDocument/2006/relationships/image" Target="../media/image40.wmf"/><Relationship Id="rId3" Type="http://schemas.openxmlformats.org/officeDocument/2006/relationships/oleObject" Target="../embeddings/oleObject26.bin"/><Relationship Id="rId2" Type="http://schemas.openxmlformats.org/officeDocument/2006/relationships/image" Target="../media/image39.wmf"/><Relationship Id="rId12" Type="http://schemas.openxmlformats.org/officeDocument/2006/relationships/vmlDrawing" Target="../drawings/vmlDrawing8.vml"/><Relationship Id="rId11" Type="http://schemas.openxmlformats.org/officeDocument/2006/relationships/slideLayout" Target="../slideLayouts/slideLayout6.xml"/><Relationship Id="rId10" Type="http://schemas.openxmlformats.org/officeDocument/2006/relationships/image" Target="../media/image43.wmf"/><Relationship Id="rId1"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45.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6.xml"/><Relationship Id="rId4" Type="http://schemas.openxmlformats.org/officeDocument/2006/relationships/image" Target="../media/image47.wmf"/><Relationship Id="rId3" Type="http://schemas.openxmlformats.org/officeDocument/2006/relationships/oleObject" Target="../embeddings/oleObject31.bin"/><Relationship Id="rId2" Type="http://schemas.openxmlformats.org/officeDocument/2006/relationships/image" Target="../media/image46.wmf"/><Relationship Id="rId1" Type="http://schemas.openxmlformats.org/officeDocument/2006/relationships/oleObject" Target="../embeddings/oleObject30.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15.xml"/><Relationship Id="rId6" Type="http://schemas.openxmlformats.org/officeDocument/2006/relationships/image" Target="../media/image50.wmf"/><Relationship Id="rId5" Type="http://schemas.openxmlformats.org/officeDocument/2006/relationships/oleObject" Target="../embeddings/oleObject34.bin"/><Relationship Id="rId4" Type="http://schemas.openxmlformats.org/officeDocument/2006/relationships/image" Target="../media/image49.wmf"/><Relationship Id="rId3" Type="http://schemas.openxmlformats.org/officeDocument/2006/relationships/oleObject" Target="../embeddings/oleObject33.bin"/><Relationship Id="rId2" Type="http://schemas.openxmlformats.org/officeDocument/2006/relationships/image" Target="../media/image48.wmf"/><Relationship Id="rId1" Type="http://schemas.openxmlformats.org/officeDocument/2006/relationships/oleObject" Target="../embeddings/oleObject32.bin"/></Relationships>
</file>

<file path=ppt/slides/_rels/slide37.xml.rels><?xml version="1.0" encoding="UTF-8" standalone="yes"?>
<Relationships xmlns="http://schemas.openxmlformats.org/package/2006/relationships"><Relationship Id="rId7" Type="http://schemas.openxmlformats.org/officeDocument/2006/relationships/vmlDrawing" Target="../drawings/vmlDrawing11.vml"/><Relationship Id="rId6" Type="http://schemas.openxmlformats.org/officeDocument/2006/relationships/slideLayout" Target="../slideLayouts/slideLayout6.xml"/><Relationship Id="rId5" Type="http://schemas.openxmlformats.org/officeDocument/2006/relationships/image" Target="../media/image53.png"/><Relationship Id="rId4" Type="http://schemas.openxmlformats.org/officeDocument/2006/relationships/image" Target="../media/image52.wmf"/><Relationship Id="rId3" Type="http://schemas.openxmlformats.org/officeDocument/2006/relationships/oleObject" Target="../embeddings/oleObject36.bin"/><Relationship Id="rId2" Type="http://schemas.openxmlformats.org/officeDocument/2006/relationships/image" Target="../media/image51.wmf"/><Relationship Id="rId1" Type="http://schemas.openxmlformats.org/officeDocument/2006/relationships/oleObject" Target="../embeddings/oleObject35.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57.wmf"/><Relationship Id="rId7" Type="http://schemas.openxmlformats.org/officeDocument/2006/relationships/oleObject" Target="../embeddings/oleObject40.bin"/><Relationship Id="rId6" Type="http://schemas.openxmlformats.org/officeDocument/2006/relationships/image" Target="../media/image56.wmf"/><Relationship Id="rId5" Type="http://schemas.openxmlformats.org/officeDocument/2006/relationships/oleObject" Target="../embeddings/oleObject39.bin"/><Relationship Id="rId4" Type="http://schemas.openxmlformats.org/officeDocument/2006/relationships/image" Target="../media/image55.wmf"/><Relationship Id="rId3" Type="http://schemas.openxmlformats.org/officeDocument/2006/relationships/oleObject" Target="../embeddings/oleObject38.bin"/><Relationship Id="rId2" Type="http://schemas.openxmlformats.org/officeDocument/2006/relationships/image" Target="../media/image54.wmf"/><Relationship Id="rId10" Type="http://schemas.openxmlformats.org/officeDocument/2006/relationships/vmlDrawing" Target="../drawings/vmlDrawing12.vml"/><Relationship Id="rId1" Type="http://schemas.openxmlformats.org/officeDocument/2006/relationships/oleObject" Target="../embeddings/oleObject37.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8.png"/></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6.xml"/><Relationship Id="rId4" Type="http://schemas.openxmlformats.org/officeDocument/2006/relationships/image" Target="../media/image60.wmf"/><Relationship Id="rId3" Type="http://schemas.openxmlformats.org/officeDocument/2006/relationships/oleObject" Target="../embeddings/oleObject42.bin"/><Relationship Id="rId2" Type="http://schemas.openxmlformats.org/officeDocument/2006/relationships/image" Target="../media/image59.wmf"/><Relationship Id="rId1" Type="http://schemas.openxmlformats.org/officeDocument/2006/relationships/oleObject" Target="../embeddings/oleObject41.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7.png"/><Relationship Id="rId1" Type="http://schemas.openxmlformats.org/officeDocument/2006/relationships/image" Target="../media/image66.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9.png"/><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14"/>
          <p:cNvSpPr/>
          <p:nvPr/>
        </p:nvSpPr>
        <p:spPr>
          <a:xfrm>
            <a:off x="0" y="1773238"/>
            <a:ext cx="9109075"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5400" b="1" dirty="0">
                <a:solidFill>
                  <a:srgbClr val="000000"/>
                </a:solidFill>
                <a:latin typeface="宋体" panose="02010600030101010101" pitchFamily="2" charset="-122"/>
                <a:ea typeface="宋体" panose="02010600030101010101" pitchFamily="2" charset="-122"/>
              </a:rPr>
              <a:t>第五章 特征选择</a:t>
            </a:r>
            <a:endParaRPr lang="zh-CN" altLang="en-US" sz="5400" b="1" dirty="0">
              <a:solidFill>
                <a:srgbClr val="000000"/>
              </a:solidFill>
              <a:latin typeface="宋体" panose="02010600030101010101" pitchFamily="2" charset="-122"/>
              <a:ea typeface="宋体" panose="02010600030101010101" pitchFamily="2" charset="-122"/>
            </a:endParaRPr>
          </a:p>
        </p:txBody>
      </p:sp>
      <p:sp>
        <p:nvSpPr>
          <p:cNvPr id="4" name="文本框 3"/>
          <p:cNvSpPr txBox="1"/>
          <p:nvPr/>
        </p:nvSpPr>
        <p:spPr>
          <a:xfrm>
            <a:off x="684213" y="2852738"/>
            <a:ext cx="8064500" cy="1322388"/>
          </a:xfrm>
          <a:prstGeom prst="rect">
            <a:avLst/>
          </a:prstGeom>
          <a:solidFill>
            <a:schemeClr val="bg1">
              <a:lumMod val="95000"/>
            </a:schemeClr>
          </a:solidFill>
        </p:spPr>
        <p:txBody>
          <a:bodyPr>
            <a:spAutoFit/>
          </a:bodyPr>
          <a:lstStyle/>
          <a:p>
            <a:pPr marR="0" defTabSz="914400">
              <a:lnSpc>
                <a:spcPct val="130000"/>
              </a:lnSpc>
              <a:buClrTx/>
              <a:buSzTx/>
              <a:buFontTx/>
              <a:buNone/>
              <a:defRPr/>
            </a:pPr>
            <a:r>
              <a:rPr kumimoji="0" lang="zh-CN" altLang="en-US" sz="2100" i="1" kern="1200" cap="none" spc="0" normalizeH="0" baseline="0" noProof="0" dirty="0">
                <a:solidFill>
                  <a:srgbClr val="121212"/>
                </a:solidFill>
                <a:latin typeface="华文楷体" panose="02010600040101010101" pitchFamily="2" charset="-122"/>
                <a:ea typeface="华文楷体" panose="02010600040101010101" pitchFamily="2" charset="-122"/>
                <a:cs typeface="+mn-cs"/>
              </a:rPr>
              <a:t>        </a:t>
            </a:r>
            <a:r>
              <a:rPr kumimoji="0" lang="zh-CN" altLang="en-US" sz="2100" b="1" kern="1200" cap="none" spc="0" normalizeH="0" baseline="0" noProof="0" dirty="0">
                <a:solidFill>
                  <a:srgbClr val="FF0000"/>
                </a:solidFill>
                <a:latin typeface="微软雅黑" panose="020B0503020204020204" pitchFamily="34" charset="-122"/>
                <a:ea typeface="微软雅黑" panose="020B0503020204020204" pitchFamily="34" charset="-122"/>
                <a:cs typeface="+mn-cs"/>
              </a:rPr>
              <a:t>特征选择</a:t>
            </a:r>
            <a:r>
              <a:rPr kumimoji="0" lang="zh-CN" altLang="en-US" sz="2100" b="1" kern="1200" cap="none" spc="0" normalizeH="0" baseline="0" noProof="0" dirty="0">
                <a:solidFill>
                  <a:srgbClr val="121212"/>
                </a:solidFill>
                <a:latin typeface="微软雅黑" panose="020B0503020204020204" pitchFamily="34" charset="-122"/>
                <a:ea typeface="微软雅黑" panose="020B0503020204020204" pitchFamily="34" charset="-122"/>
                <a:cs typeface="+mn-cs"/>
              </a:rPr>
              <a:t>旨在通过</a:t>
            </a:r>
            <a:r>
              <a:rPr kumimoji="0" lang="zh-CN" altLang="en-US" sz="2100" b="1" u="sng" kern="1200" cap="none" spc="0" normalizeH="0" baseline="0" noProof="0" dirty="0">
                <a:solidFill>
                  <a:srgbClr val="0033CC"/>
                </a:solidFill>
                <a:latin typeface="微软雅黑" panose="020B0503020204020204" pitchFamily="34" charset="-122"/>
                <a:ea typeface="微软雅黑" panose="020B0503020204020204" pitchFamily="34" charset="-122"/>
                <a:cs typeface="+mn-cs"/>
              </a:rPr>
              <a:t>去除不相关、冗余或嘈杂</a:t>
            </a:r>
            <a:r>
              <a:rPr kumimoji="0" lang="zh-CN" altLang="en-US" sz="2100" b="1" kern="1200" cap="none" spc="0" normalizeH="0" baseline="0" noProof="0" dirty="0">
                <a:solidFill>
                  <a:srgbClr val="121212"/>
                </a:solidFill>
                <a:latin typeface="微软雅黑" panose="020B0503020204020204" pitchFamily="34" charset="-122"/>
                <a:ea typeface="微软雅黑" panose="020B0503020204020204" pitchFamily="34" charset="-122"/>
                <a:cs typeface="+mn-cs"/>
              </a:rPr>
              <a:t>的特征，从原始特征中选择一小部分相关特征。特征选择通常可以带来更好的学习性能、更高的学习精度、更低的计算成本和更好的模型可解释性。</a:t>
            </a:r>
            <a:endParaRPr kumimoji="0" lang="zh-CN" altLang="en-US" sz="2100" b="1" kern="1200" cap="none" spc="0" normalizeH="0" baseline="0" noProof="0" dirty="0">
              <a:latin typeface="微软雅黑" panose="020B0503020204020204" pitchFamily="34" charset="-122"/>
              <a:ea typeface="微软雅黑" panose="020B0503020204020204" pitchFamily="34"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7171" name="Rectangle 2"/>
          <p:cNvSpPr txBox="1"/>
          <p:nvPr/>
        </p:nvSpPr>
        <p:spPr>
          <a:xfrm>
            <a:off x="925513" y="709613"/>
            <a:ext cx="6742112" cy="76835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4400" b="1" dirty="0">
                <a:solidFill>
                  <a:srgbClr val="FF0000"/>
                </a:solidFill>
                <a:latin typeface="宋体" panose="02010600030101010101" pitchFamily="2" charset="-122"/>
                <a:ea typeface="宋体" panose="02010600030101010101" pitchFamily="2" charset="-122"/>
              </a:rPr>
              <a:t>特征选择</a:t>
            </a:r>
            <a:endParaRPr lang="zh-CN" altLang="en-US" sz="4400" b="1" dirty="0">
              <a:solidFill>
                <a:srgbClr val="FF0000"/>
              </a:solidFill>
              <a:latin typeface="宋体" panose="02010600030101010101" pitchFamily="2" charset="-122"/>
              <a:ea typeface="宋体" panose="02010600030101010101" pitchFamily="2" charset="-122"/>
            </a:endParaRPr>
          </a:p>
        </p:txBody>
      </p:sp>
      <p:sp>
        <p:nvSpPr>
          <p:cNvPr id="7172" name="TextBox 3"/>
          <p:cNvSpPr txBox="1"/>
          <p:nvPr/>
        </p:nvSpPr>
        <p:spPr>
          <a:xfrm>
            <a:off x="1763713" y="1989138"/>
            <a:ext cx="6192837" cy="3216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5.1 </a:t>
            </a:r>
            <a:r>
              <a:rPr lang="zh-CN" altLang="en-US" sz="3600" b="1" dirty="0">
                <a:latin typeface="黑体" panose="02010609060101010101" pitchFamily="49" charset="-122"/>
                <a:ea typeface="黑体" panose="02010609060101010101" pitchFamily="49" charset="-122"/>
              </a:rPr>
              <a:t>引言</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5.2 </a:t>
            </a:r>
            <a:r>
              <a:rPr lang="zh-CN" altLang="en-US" sz="3600" b="1" dirty="0">
                <a:latin typeface="黑体" panose="02010609060101010101" pitchFamily="49" charset="-122"/>
                <a:ea typeface="黑体" panose="02010609060101010101" pitchFamily="49" charset="-122"/>
              </a:rPr>
              <a:t>类别可分离性判据</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特征子集的搜索策略</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8195" name="Rectangle 2"/>
          <p:cNvSpPr txBox="1"/>
          <p:nvPr/>
        </p:nvSpPr>
        <p:spPr>
          <a:xfrm>
            <a:off x="925513" y="709613"/>
            <a:ext cx="6742112" cy="76835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4400" b="1" dirty="0">
                <a:solidFill>
                  <a:srgbClr val="FF0000"/>
                </a:solidFill>
                <a:latin typeface="宋体" panose="02010600030101010101" pitchFamily="2" charset="-122"/>
                <a:ea typeface="宋体" panose="02010600030101010101" pitchFamily="2" charset="-122"/>
              </a:rPr>
              <a:t>特征选择</a:t>
            </a:r>
            <a:endParaRPr lang="zh-CN" altLang="en-US" sz="4400" b="1" dirty="0">
              <a:solidFill>
                <a:srgbClr val="FF0000"/>
              </a:solidFill>
              <a:latin typeface="宋体" panose="02010600030101010101" pitchFamily="2" charset="-122"/>
              <a:ea typeface="宋体" panose="02010600030101010101" pitchFamily="2" charset="-122"/>
            </a:endParaRPr>
          </a:p>
        </p:txBody>
      </p:sp>
      <p:sp>
        <p:nvSpPr>
          <p:cNvPr id="8196" name="TextBox 3"/>
          <p:cNvSpPr txBox="1"/>
          <p:nvPr/>
        </p:nvSpPr>
        <p:spPr>
          <a:xfrm>
            <a:off x="1763713" y="1844675"/>
            <a:ext cx="6192837" cy="3216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200000"/>
              </a:lnSpc>
              <a:spcBef>
                <a:spcPct val="0"/>
              </a:spcBef>
              <a:buClrTx/>
              <a:buSzTx/>
              <a:buFontTx/>
              <a:buNone/>
            </a:pPr>
            <a:r>
              <a:rPr lang="en-US" altLang="zh-CN" sz="3600" b="1" dirty="0">
                <a:solidFill>
                  <a:srgbClr val="0033CC"/>
                </a:solidFill>
                <a:latin typeface="黑体" panose="02010609060101010101" pitchFamily="49" charset="-122"/>
                <a:ea typeface="黑体" panose="02010609060101010101" pitchFamily="49" charset="-122"/>
              </a:rPr>
              <a:t>5.1 </a:t>
            </a:r>
            <a:r>
              <a:rPr lang="zh-CN" altLang="en-US" sz="3600" b="1" dirty="0">
                <a:solidFill>
                  <a:srgbClr val="0033CC"/>
                </a:solidFill>
                <a:latin typeface="黑体" panose="02010609060101010101" pitchFamily="49" charset="-122"/>
                <a:ea typeface="黑体" panose="02010609060101010101" pitchFamily="49" charset="-122"/>
              </a:rPr>
              <a:t>引言</a:t>
            </a:r>
            <a:endParaRPr lang="en-US" altLang="zh-CN" sz="3600" b="1" dirty="0">
              <a:solidFill>
                <a:srgbClr val="0033CC"/>
              </a:solidFill>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5.2 </a:t>
            </a:r>
            <a:r>
              <a:rPr lang="zh-CN" altLang="en-US" sz="3600" b="1" dirty="0">
                <a:latin typeface="黑体" panose="02010609060101010101" pitchFamily="49" charset="-122"/>
                <a:ea typeface="黑体" panose="02010609060101010101" pitchFamily="49" charset="-122"/>
              </a:rPr>
              <a:t>类别可分离性判据</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特征子集的搜索策略</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78852" name="Rectangle 4"/>
          <p:cNvSpPr>
            <a:spLocks noGrp="1" noChangeArrowheads="1"/>
          </p:cNvSpPr>
          <p:nvPr>
            <p:ph type="subTitle" idx="1"/>
          </p:nvPr>
        </p:nvSpPr>
        <p:spPr>
          <a:xfrm>
            <a:off x="569913" y="5416550"/>
            <a:ext cx="7889875" cy="582613"/>
          </a:xfrm>
        </p:spPr>
        <p:txBody>
          <a:bodyPr vert="horz" wrap="square" lIns="90488" tIns="44450" rIns="90488" bIns="44450" numCol="1" anchor="t" anchorCtr="0" compatLnSpc="1">
            <a:spAutoFit/>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华文新魏" panose="02010800040101010101" pitchFamily="2" charset="-122"/>
              </a:rPr>
              <a:t>尺寸   重量  颜色</a:t>
            </a:r>
            <a:endParaRPr kumimoji="1" lang="zh-CN" altLang="en-US" sz="3200" b="0" i="0" u="none" strike="noStrike" kern="0" cap="none" spc="0" normalizeH="0" baseline="0" noProof="0" dirty="0">
              <a:ln>
                <a:noFill/>
              </a:ln>
              <a:solidFill>
                <a:schemeClr val="tx1"/>
              </a:solidFill>
              <a:effectLst>
                <a:outerShdw blurRad="38100" dist="38100" dir="2700000" algn="tl">
                  <a:srgbClr val="C0C0C0"/>
                </a:outerShdw>
              </a:effectLst>
              <a:uLnTx/>
              <a:uFillTx/>
              <a:latin typeface="楷体_GB2312" panose="02010609030101010101" pitchFamily="49" charset="-122"/>
              <a:ea typeface="楷体_GB2312" panose="02010609030101010101" pitchFamily="49" charset="-122"/>
              <a:cs typeface="华文新魏" panose="02010800040101010101" pitchFamily="2" charset="-122"/>
            </a:endParaRPr>
          </a:p>
        </p:txBody>
      </p:sp>
      <p:pic>
        <p:nvPicPr>
          <p:cNvPr id="9220" name="Picture 9" descr="0005.jpg"/>
          <p:cNvPicPr>
            <a:picLocks noChangeAspect="1"/>
          </p:cNvPicPr>
          <p:nvPr/>
        </p:nvPicPr>
        <p:blipFill>
          <a:blip r:embed="rId1"/>
          <a:stretch>
            <a:fillRect/>
          </a:stretch>
        </p:blipFill>
        <p:spPr>
          <a:xfrm>
            <a:off x="608013" y="1863725"/>
            <a:ext cx="1676400" cy="1257300"/>
          </a:xfrm>
          <a:prstGeom prst="rect">
            <a:avLst/>
          </a:prstGeom>
          <a:noFill/>
          <a:ln w="9525">
            <a:noFill/>
          </a:ln>
        </p:spPr>
      </p:pic>
      <p:pic>
        <p:nvPicPr>
          <p:cNvPr id="9221" name="Picture 14" descr="0024.jpg">
            <a:hlinkClick r:id="rId2"/>
          </p:cNvPr>
          <p:cNvPicPr>
            <a:picLocks noChangeAspect="1"/>
          </p:cNvPicPr>
          <p:nvPr/>
        </p:nvPicPr>
        <p:blipFill>
          <a:blip r:embed="rId3"/>
          <a:stretch>
            <a:fillRect/>
          </a:stretch>
        </p:blipFill>
        <p:spPr>
          <a:xfrm>
            <a:off x="4905375" y="3540125"/>
            <a:ext cx="1676400" cy="1257300"/>
          </a:xfrm>
          <a:prstGeom prst="rect">
            <a:avLst/>
          </a:prstGeom>
          <a:noFill/>
          <a:ln w="9525">
            <a:noFill/>
          </a:ln>
        </p:spPr>
      </p:pic>
      <p:pic>
        <p:nvPicPr>
          <p:cNvPr id="9222" name="Picture 17" descr="0010.jpg">
            <a:hlinkClick r:id="rId4"/>
          </p:cNvPr>
          <p:cNvPicPr>
            <a:picLocks noChangeAspect="1"/>
          </p:cNvPicPr>
          <p:nvPr/>
        </p:nvPicPr>
        <p:blipFill>
          <a:blip r:embed="rId5"/>
          <a:stretch>
            <a:fillRect/>
          </a:stretch>
        </p:blipFill>
        <p:spPr>
          <a:xfrm>
            <a:off x="2741613" y="1863725"/>
            <a:ext cx="1676400" cy="1257300"/>
          </a:xfrm>
          <a:prstGeom prst="rect">
            <a:avLst/>
          </a:prstGeom>
          <a:noFill/>
          <a:ln w="9525">
            <a:noFill/>
          </a:ln>
        </p:spPr>
      </p:pic>
      <p:pic>
        <p:nvPicPr>
          <p:cNvPr id="9223" name="Picture 20" descr="0020.jpg">
            <a:hlinkClick r:id="rId6"/>
          </p:cNvPr>
          <p:cNvPicPr>
            <a:picLocks noChangeAspect="1"/>
          </p:cNvPicPr>
          <p:nvPr/>
        </p:nvPicPr>
        <p:blipFill>
          <a:blip r:embed="rId7"/>
          <a:stretch>
            <a:fillRect/>
          </a:stretch>
        </p:blipFill>
        <p:spPr>
          <a:xfrm>
            <a:off x="569913" y="3463925"/>
            <a:ext cx="1752600" cy="1314450"/>
          </a:xfrm>
          <a:prstGeom prst="rect">
            <a:avLst/>
          </a:prstGeom>
          <a:noFill/>
          <a:ln w="9525">
            <a:noFill/>
          </a:ln>
        </p:spPr>
      </p:pic>
      <p:pic>
        <p:nvPicPr>
          <p:cNvPr id="9224" name="Picture 23" descr="0029.jpg">
            <a:hlinkClick r:id="rId8"/>
          </p:cNvPr>
          <p:cNvPicPr>
            <a:picLocks noChangeAspect="1"/>
          </p:cNvPicPr>
          <p:nvPr/>
        </p:nvPicPr>
        <p:blipFill>
          <a:blip r:embed="rId9"/>
          <a:stretch>
            <a:fillRect/>
          </a:stretch>
        </p:blipFill>
        <p:spPr>
          <a:xfrm>
            <a:off x="4878388" y="1863725"/>
            <a:ext cx="1676400" cy="1257300"/>
          </a:xfrm>
          <a:prstGeom prst="rect">
            <a:avLst/>
          </a:prstGeom>
          <a:noFill/>
          <a:ln w="9525">
            <a:noFill/>
          </a:ln>
        </p:spPr>
      </p:pic>
      <p:pic>
        <p:nvPicPr>
          <p:cNvPr id="9225" name="Picture 26" descr="0060.jpg">
            <a:hlinkClick r:id="rId10"/>
          </p:cNvPr>
          <p:cNvPicPr>
            <a:picLocks noChangeAspect="1"/>
          </p:cNvPicPr>
          <p:nvPr/>
        </p:nvPicPr>
        <p:blipFill>
          <a:blip r:embed="rId11"/>
          <a:stretch>
            <a:fillRect/>
          </a:stretch>
        </p:blipFill>
        <p:spPr>
          <a:xfrm>
            <a:off x="6856413" y="1863725"/>
            <a:ext cx="1676400" cy="1257300"/>
          </a:xfrm>
          <a:prstGeom prst="rect">
            <a:avLst/>
          </a:prstGeom>
          <a:noFill/>
          <a:ln w="9525">
            <a:noFill/>
          </a:ln>
        </p:spPr>
      </p:pic>
      <p:pic>
        <p:nvPicPr>
          <p:cNvPr id="9226" name="Picture 29" descr="0035.jpg">
            <a:hlinkClick r:id="rId12"/>
          </p:cNvPr>
          <p:cNvPicPr>
            <a:picLocks noChangeAspect="1"/>
          </p:cNvPicPr>
          <p:nvPr/>
        </p:nvPicPr>
        <p:blipFill>
          <a:blip r:embed="rId13"/>
          <a:stretch>
            <a:fillRect/>
          </a:stretch>
        </p:blipFill>
        <p:spPr>
          <a:xfrm>
            <a:off x="6851650" y="3563938"/>
            <a:ext cx="1676400" cy="1233487"/>
          </a:xfrm>
          <a:prstGeom prst="rect">
            <a:avLst/>
          </a:prstGeom>
          <a:noFill/>
          <a:ln w="9525">
            <a:noFill/>
          </a:ln>
        </p:spPr>
      </p:pic>
      <p:pic>
        <p:nvPicPr>
          <p:cNvPr id="9227" name="Picture 32" descr="0014.jpg">
            <a:hlinkClick r:id="rId14"/>
          </p:cNvPr>
          <p:cNvPicPr>
            <a:picLocks noChangeAspect="1"/>
          </p:cNvPicPr>
          <p:nvPr/>
        </p:nvPicPr>
        <p:blipFill>
          <a:blip r:embed="rId15"/>
          <a:stretch>
            <a:fillRect/>
          </a:stretch>
        </p:blipFill>
        <p:spPr>
          <a:xfrm>
            <a:off x="2817813" y="3540125"/>
            <a:ext cx="1676400" cy="1257300"/>
          </a:xfrm>
          <a:prstGeom prst="rect">
            <a:avLst/>
          </a:prstGeom>
          <a:noFill/>
          <a:ln w="9525">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0243" name="Rectangle 3"/>
          <p:cNvSpPr>
            <a:spLocks noGrp="1"/>
          </p:cNvSpPr>
          <p:nvPr>
            <p:ph type="subTitle" idx="4294967295"/>
          </p:nvPr>
        </p:nvSpPr>
        <p:spPr>
          <a:xfrm>
            <a:off x="381000" y="1905000"/>
            <a:ext cx="8001000" cy="3881438"/>
          </a:xfrm>
        </p:spPr>
        <p:txBody>
          <a:bodyPr vert="horz" wrap="square" lIns="90488" tIns="44450" rIns="90488" bIns="44450" anchor="t" anchorCtr="0">
            <a:spAutoFit/>
          </a:bodyPr>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marL="342900" lvl="0" indent="-342900" algn="just" defTabSz="914400" eaLnBrk="1" hangingPunct="1">
              <a:lnSpc>
                <a:spcPct val="120000"/>
              </a:lnSpc>
              <a:buFont typeface="Wingdings" panose="05000000000000000000" pitchFamily="2" charset="2"/>
              <a:buChar char="u"/>
              <a:tabLst>
                <a:tab pos="103505" algn="l"/>
                <a:tab pos="1056005" algn="l"/>
              </a:tabLst>
            </a:pPr>
            <a:r>
              <a:rPr lang="zh-CN" altLang="en-US" sz="2800" b="1" dirty="0">
                <a:latin typeface="宋体" panose="02010600030101010101" pitchFamily="2" charset="-122"/>
                <a:ea typeface="宋体" panose="02010600030101010101" pitchFamily="2" charset="-122"/>
              </a:rPr>
              <a:t>对分类器设计来说，使用什么样的特征描述事物，也就是说使用</a:t>
            </a:r>
            <a:r>
              <a:rPr lang="zh-CN" altLang="en-US" sz="2800" b="1" dirty="0">
                <a:solidFill>
                  <a:srgbClr val="FF0000"/>
                </a:solidFill>
                <a:latin typeface="微软雅黑" panose="020B0503020204020204" pitchFamily="34" charset="-122"/>
                <a:ea typeface="微软雅黑" panose="020B0503020204020204" pitchFamily="34" charset="-122"/>
              </a:rPr>
              <a:t>什么样的特征空间</a:t>
            </a:r>
            <a:r>
              <a:rPr lang="zh-CN" altLang="en-US" sz="2800" b="1" dirty="0">
                <a:latin typeface="宋体" panose="02010600030101010101" pitchFamily="2" charset="-122"/>
                <a:ea typeface="宋体" panose="02010600030101010101" pitchFamily="2" charset="-122"/>
              </a:rPr>
              <a:t>是个很重要的问题。</a:t>
            </a:r>
            <a:endParaRPr lang="zh-CN" altLang="en-US" sz="2800" b="1" dirty="0">
              <a:latin typeface="宋体" panose="02010600030101010101" pitchFamily="2" charset="-122"/>
              <a:ea typeface="宋体" panose="02010600030101010101" pitchFamily="2" charset="-122"/>
            </a:endParaRPr>
          </a:p>
          <a:p>
            <a:pPr marL="342900" lvl="0" indent="-342900" algn="just" defTabSz="914400" eaLnBrk="1" hangingPunct="1">
              <a:lnSpc>
                <a:spcPct val="120000"/>
              </a:lnSpc>
              <a:buFont typeface="Wingdings" panose="05000000000000000000" pitchFamily="2" charset="2"/>
              <a:buChar char="u"/>
              <a:tabLst>
                <a:tab pos="103505" algn="l"/>
                <a:tab pos="1056005" algn="l"/>
              </a:tabLst>
            </a:pPr>
            <a:r>
              <a:rPr lang="zh-CN" altLang="en-US" sz="2800" b="1" dirty="0">
                <a:latin typeface="宋体" panose="02010600030101010101" pitchFamily="2" charset="-122"/>
                <a:ea typeface="宋体" panose="02010600030101010101" pitchFamily="2" charset="-122"/>
              </a:rPr>
              <a:t>这个问题称之为</a:t>
            </a:r>
            <a:r>
              <a:rPr lang="zh-CN" altLang="en-US" sz="2800" b="1" dirty="0">
                <a:solidFill>
                  <a:srgbClr val="FF0000"/>
                </a:solidFill>
                <a:latin typeface="微软雅黑" panose="020B0503020204020204" pitchFamily="34" charset="-122"/>
                <a:ea typeface="微软雅黑" panose="020B0503020204020204" pitchFamily="34" charset="-122"/>
              </a:rPr>
              <a:t>描述量的选择问题</a:t>
            </a:r>
            <a:r>
              <a:rPr lang="zh-CN" altLang="en-US" sz="2800" b="1" dirty="0">
                <a:latin typeface="宋体" panose="02010600030101010101" pitchFamily="2" charset="-122"/>
                <a:ea typeface="宋体" panose="02010600030101010101" pitchFamily="2" charset="-122"/>
              </a:rPr>
              <a:t>，意思是指保留哪些描述量，删除哪些描述量的问题。</a:t>
            </a:r>
            <a:endParaRPr lang="zh-CN" altLang="en-US" sz="2800" b="1" dirty="0">
              <a:latin typeface="宋体" panose="02010600030101010101" pitchFamily="2" charset="-122"/>
              <a:ea typeface="宋体" panose="02010600030101010101" pitchFamily="2" charset="-122"/>
            </a:endParaRPr>
          </a:p>
          <a:p>
            <a:pPr marL="342900" lvl="0" indent="-342900" algn="just" defTabSz="914400" eaLnBrk="1" hangingPunct="1">
              <a:lnSpc>
                <a:spcPct val="120000"/>
              </a:lnSpc>
              <a:buFont typeface="Wingdings" panose="05000000000000000000" pitchFamily="2" charset="2"/>
              <a:buChar char="u"/>
              <a:tabLst>
                <a:tab pos="103505" algn="l"/>
                <a:tab pos="1056005" algn="l"/>
              </a:tabLst>
            </a:pPr>
            <a:r>
              <a:rPr lang="zh-CN" altLang="en-US" sz="2800" b="1" dirty="0">
                <a:latin typeface="宋体" panose="02010600030101010101" pitchFamily="2" charset="-122"/>
                <a:ea typeface="宋体" panose="02010600030101010101" pitchFamily="2" charset="-122"/>
              </a:rPr>
              <a:t>本章研究对特征空间进行改造</a:t>
            </a:r>
            <a:r>
              <a:rPr lang="en-US" altLang="zh-CN" sz="2800" b="1" dirty="0">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目的在于提高其某方面的性能，因此又称</a:t>
            </a:r>
            <a:r>
              <a:rPr lang="zh-CN" altLang="en-US" sz="2800" b="1" dirty="0">
                <a:solidFill>
                  <a:srgbClr val="FF0000"/>
                </a:solidFill>
                <a:latin typeface="微软雅黑" panose="020B0503020204020204" pitchFamily="34" charset="-122"/>
                <a:ea typeface="微软雅黑" panose="020B0503020204020204" pitchFamily="34" charset="-122"/>
              </a:rPr>
              <a:t>特征的优化问题</a:t>
            </a:r>
            <a:r>
              <a:rPr lang="zh-CN" altLang="en-US" sz="2800" b="1"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
        <p:nvSpPr>
          <p:cNvPr id="10244" name="Text Box 3"/>
          <p:cNvSpPr txBox="1"/>
          <p:nvPr/>
        </p:nvSpPr>
        <p:spPr>
          <a:xfrm>
            <a:off x="762000" y="1049338"/>
            <a:ext cx="281940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3600" b="1" dirty="0">
                <a:solidFill>
                  <a:srgbClr val="0033CC"/>
                </a:solidFill>
                <a:ea typeface="宋体" panose="02010600030101010101" pitchFamily="2" charset="-122"/>
              </a:rPr>
              <a:t>基本概念</a:t>
            </a:r>
            <a:endParaRPr lang="zh-CN" altLang="en-US" sz="3600" b="1" dirty="0">
              <a:solidFill>
                <a:srgbClr val="0033CC"/>
              </a:solidFill>
              <a:ea typeface="宋体" panose="02010600030101010101" pitchFamily="2" charset="-122"/>
            </a:endParaRPr>
          </a:p>
        </p:txBody>
      </p:sp>
      <p:sp>
        <p:nvSpPr>
          <p:cNvPr id="10245" name="TextBox 4"/>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11267" name="Picture 2" descr="I:\模式识别\清华大学\30\images\image_content\4\4_1002.gif"/>
          <p:cNvPicPr>
            <a:picLocks noChangeAspect="1"/>
          </p:cNvPicPr>
          <p:nvPr/>
        </p:nvPicPr>
        <p:blipFill>
          <a:blip r:embed="rId1" r:link="rId2"/>
          <a:stretch>
            <a:fillRect/>
          </a:stretch>
        </p:blipFill>
        <p:spPr>
          <a:xfrm>
            <a:off x="838200" y="2133600"/>
            <a:ext cx="3446463" cy="2754313"/>
          </a:xfrm>
          <a:prstGeom prst="rect">
            <a:avLst/>
          </a:prstGeom>
          <a:noFill/>
          <a:ln w="9525">
            <a:noFill/>
          </a:ln>
        </p:spPr>
      </p:pic>
      <p:sp>
        <p:nvSpPr>
          <p:cNvPr id="11268" name="TextBox 3"/>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pic>
        <p:nvPicPr>
          <p:cNvPr id="11269" name="Picture 2" descr="I:\模式识别\清华大学\30\images\image_content\4\4_1003.gif"/>
          <p:cNvPicPr>
            <a:picLocks noChangeAspect="1"/>
          </p:cNvPicPr>
          <p:nvPr/>
        </p:nvPicPr>
        <p:blipFill>
          <a:blip r:embed="rId3" r:link="rId2"/>
          <a:stretch>
            <a:fillRect/>
          </a:stretch>
        </p:blipFill>
        <p:spPr>
          <a:xfrm>
            <a:off x="4983163" y="2257425"/>
            <a:ext cx="3354387" cy="2816225"/>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2291" name="Rectangle 2"/>
          <p:cNvSpPr>
            <a:spLocks noGrp="1"/>
          </p:cNvSpPr>
          <p:nvPr>
            <p:ph type="subTitle" idx="4294967295"/>
          </p:nvPr>
        </p:nvSpPr>
        <p:spPr>
          <a:xfrm>
            <a:off x="250825" y="1557338"/>
            <a:ext cx="8382000" cy="3886200"/>
          </a:xfrm>
        </p:spPr>
        <p:txBody>
          <a:bodyPr vert="horz" wrap="square" lIns="90488" tIns="44450" rIns="90488" bIns="44450" anchor="t" anchorCtr="0">
            <a:spAutoFit/>
          </a:bodyPr>
          <a:lstStyle>
            <a:lvl1pPr marL="0" lvl="0" indent="0" algn="ctr">
              <a:buClr>
                <a:schemeClr val="folHlink"/>
              </a:buClr>
              <a:buSzPct val="60000"/>
              <a:buFont typeface="Wingdings" panose="05000000000000000000" pitchFamily="2" charset="2"/>
              <a:buNone/>
              <a:defRPr/>
            </a:lvl1pPr>
            <a:lvl2pPr marL="457200" lvl="1" indent="0" algn="ctr">
              <a:buClr>
                <a:schemeClr val="hlink"/>
              </a:buClr>
              <a:buSzPct val="55000"/>
              <a:buFont typeface="Wingdings" panose="05000000000000000000" pitchFamily="2" charset="2"/>
              <a:buNone/>
              <a:defRPr/>
            </a:lvl2pPr>
            <a:lvl3pPr marL="914400" lvl="2" indent="0" algn="ctr">
              <a:buClr>
                <a:schemeClr val="folHlink"/>
              </a:buClr>
              <a:buSzPct val="50000"/>
              <a:buFont typeface="Wingdings" panose="05000000000000000000" pitchFamily="2" charset="2"/>
              <a:buNone/>
              <a:defRPr/>
            </a:lvl3pPr>
            <a:lvl4pPr marL="1371600" lvl="3" indent="0" algn="ctr">
              <a:buClr>
                <a:schemeClr val="accent2"/>
              </a:buClr>
              <a:buSzPct val="55000"/>
              <a:buFont typeface="Wingdings" panose="05000000000000000000" pitchFamily="2" charset="2"/>
              <a:buNone/>
              <a:defRPr/>
            </a:lvl4pPr>
            <a:lvl5pPr marL="1828800" lvl="4" indent="0" algn="ctr">
              <a:buClr>
                <a:schemeClr val="accent1"/>
              </a:buClr>
              <a:buSzPct val="50000"/>
              <a:buFont typeface="Wingdings" panose="05000000000000000000" pitchFamily="2" charset="2"/>
              <a:buNone/>
              <a:defRPr/>
            </a:lvl5pPr>
          </a:lstStyle>
          <a:p>
            <a:pPr marL="8255" lvl="0" indent="762000" algn="just" defTabSz="914400" eaLnBrk="1" hangingPunct="1">
              <a:lnSpc>
                <a:spcPct val="120000"/>
              </a:lnSpc>
              <a:tabLst>
                <a:tab pos="103505" algn="l"/>
                <a:tab pos="1235075" algn="l"/>
              </a:tabLst>
            </a:pPr>
            <a:r>
              <a:rPr lang="zh-CN" altLang="en-US" sz="2800" b="1" dirty="0">
                <a:ea typeface="宋体" panose="02010600030101010101" pitchFamily="2" charset="-122"/>
              </a:rPr>
              <a:t>对特征空间的改造、优化</a:t>
            </a:r>
            <a:r>
              <a:rPr lang="en-US" altLang="zh-CN" sz="2800" b="1" dirty="0">
                <a:ea typeface="宋体" panose="02010600030101010101" pitchFamily="2" charset="-122"/>
              </a:rPr>
              <a:t>,</a:t>
            </a:r>
            <a:r>
              <a:rPr lang="zh-CN" altLang="en-US" sz="2800" b="1" dirty="0">
                <a:ea typeface="宋体" panose="02010600030101010101" pitchFamily="2" charset="-122"/>
              </a:rPr>
              <a:t>主要的目的是</a:t>
            </a:r>
            <a:r>
              <a:rPr lang="zh-CN" altLang="en-US" sz="2800" b="1" dirty="0">
                <a:solidFill>
                  <a:srgbClr val="FF0000"/>
                </a:solidFill>
                <a:latin typeface="微软雅黑" panose="020B0503020204020204" pitchFamily="34" charset="-122"/>
                <a:ea typeface="微软雅黑" panose="020B0503020204020204" pitchFamily="34" charset="-122"/>
              </a:rPr>
              <a:t>降维</a:t>
            </a:r>
            <a:r>
              <a:rPr lang="zh-CN" altLang="en-US" sz="2800" b="1" dirty="0">
                <a:ea typeface="宋体" panose="02010600030101010101" pitchFamily="2" charset="-122"/>
              </a:rPr>
              <a:t>，即把</a:t>
            </a:r>
            <a:r>
              <a:rPr lang="zh-CN" altLang="en-US" sz="2800" b="1" dirty="0">
                <a:latin typeface="微软雅黑" panose="020B0503020204020204" pitchFamily="34" charset="-122"/>
                <a:ea typeface="微软雅黑" panose="020B0503020204020204" pitchFamily="34" charset="-122"/>
              </a:rPr>
              <a:t>维数高</a:t>
            </a:r>
            <a:r>
              <a:rPr lang="zh-CN" altLang="en-US" sz="2800" b="1" dirty="0">
                <a:ea typeface="宋体" panose="02010600030101010101" pitchFamily="2" charset="-122"/>
              </a:rPr>
              <a:t>的特征空间改成</a:t>
            </a:r>
            <a:r>
              <a:rPr lang="zh-CN" altLang="en-US" sz="2800" b="1" dirty="0">
                <a:latin typeface="微软雅黑" panose="020B0503020204020204" pitchFamily="34" charset="-122"/>
                <a:ea typeface="微软雅黑" panose="020B0503020204020204" pitchFamily="34" charset="-122"/>
              </a:rPr>
              <a:t>维数低</a:t>
            </a:r>
            <a:r>
              <a:rPr lang="zh-CN" altLang="en-US" sz="2800" b="1" dirty="0">
                <a:ea typeface="宋体" panose="02010600030101010101" pitchFamily="2" charset="-122"/>
              </a:rPr>
              <a:t>的特征空间，降维主要有两种途径。</a:t>
            </a:r>
            <a:endParaRPr lang="zh-CN" altLang="en-US" sz="2800" b="1" dirty="0">
              <a:ea typeface="宋体" panose="02010600030101010101" pitchFamily="2" charset="-122"/>
            </a:endParaRPr>
          </a:p>
          <a:p>
            <a:pPr marL="1517650" lvl="1" indent="-556895" algn="just" defTabSz="914400" eaLnBrk="1" hangingPunct="1">
              <a:lnSpc>
                <a:spcPct val="120000"/>
              </a:lnSpc>
              <a:buFont typeface="Wingdings" panose="05000000000000000000" pitchFamily="2" charset="2"/>
              <a:buChar char="n"/>
              <a:tabLst>
                <a:tab pos="103505" algn="l"/>
                <a:tab pos="1235075" algn="l"/>
              </a:tabLst>
            </a:pPr>
            <a:r>
              <a:rPr lang="zh-CN" altLang="en-US" b="1" dirty="0">
                <a:ea typeface="宋体" panose="02010600030101010101" pitchFamily="2" charset="-122"/>
              </a:rPr>
              <a:t>一种是</a:t>
            </a:r>
            <a:r>
              <a:rPr lang="zh-CN" altLang="en-US" b="1" dirty="0">
                <a:solidFill>
                  <a:srgbClr val="FF0000"/>
                </a:solidFill>
                <a:latin typeface="微软雅黑" panose="020B0503020204020204" pitchFamily="34" charset="-122"/>
                <a:ea typeface="微软雅黑" panose="020B0503020204020204" pitchFamily="34" charset="-122"/>
              </a:rPr>
              <a:t>筛选</a:t>
            </a:r>
            <a:r>
              <a:rPr lang="zh-CN" altLang="en-US" b="1" dirty="0">
                <a:ea typeface="宋体" panose="02010600030101010101" pitchFamily="2" charset="-122"/>
              </a:rPr>
              <a:t>掉一些次要的特征，问题在于如何确定特征的重要性，以及如何筛选。</a:t>
            </a:r>
            <a:endParaRPr lang="zh-CN" altLang="en-US" b="1" dirty="0">
              <a:ea typeface="宋体" panose="02010600030101010101" pitchFamily="2" charset="-122"/>
            </a:endParaRPr>
          </a:p>
          <a:p>
            <a:pPr marL="1517650" lvl="1" indent="-556895" algn="just" defTabSz="914400" eaLnBrk="1" hangingPunct="1">
              <a:lnSpc>
                <a:spcPct val="120000"/>
              </a:lnSpc>
              <a:buFont typeface="Wingdings" panose="05000000000000000000" pitchFamily="2" charset="2"/>
              <a:buChar char="n"/>
              <a:tabLst>
                <a:tab pos="103505" algn="l"/>
                <a:tab pos="1235075" algn="l"/>
              </a:tabLst>
            </a:pPr>
            <a:r>
              <a:rPr lang="zh-CN" altLang="en-US" b="1" dirty="0">
                <a:ea typeface="宋体" panose="02010600030101010101" pitchFamily="2" charset="-122"/>
              </a:rPr>
              <a:t>另一种方法是使用</a:t>
            </a:r>
            <a:r>
              <a:rPr lang="zh-CN" altLang="en-US" b="1" dirty="0">
                <a:solidFill>
                  <a:srgbClr val="FF0000"/>
                </a:solidFill>
                <a:latin typeface="微软雅黑" panose="020B0503020204020204" pitchFamily="34" charset="-122"/>
                <a:ea typeface="微软雅黑" panose="020B0503020204020204" pitchFamily="34" charset="-122"/>
              </a:rPr>
              <a:t>变换</a:t>
            </a:r>
            <a:r>
              <a:rPr lang="zh-CN" altLang="en-US" b="1" dirty="0">
                <a:ea typeface="宋体" panose="02010600030101010101" pitchFamily="2" charset="-122"/>
              </a:rPr>
              <a:t>的手段，限定在线性变换的方法上，通过变换来实现降维。</a:t>
            </a:r>
            <a:r>
              <a:rPr lang="zh-CN" altLang="en-US" sz="3000" b="1" dirty="0">
                <a:ea typeface="宋体" panose="02010600030101010101" pitchFamily="2" charset="-122"/>
              </a:rPr>
              <a:t> </a:t>
            </a:r>
            <a:endParaRPr lang="zh-CN" altLang="en-US" sz="3000" b="1" dirty="0">
              <a:ea typeface="宋体" panose="02010600030101010101" pitchFamily="2" charset="-122"/>
            </a:endParaRPr>
          </a:p>
        </p:txBody>
      </p:sp>
      <p:sp>
        <p:nvSpPr>
          <p:cNvPr id="12292" name="TextBox 3"/>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Tree>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3315" name="Rectangle 3"/>
          <p:cNvSpPr>
            <a:spLocks noGrp="1"/>
          </p:cNvSpPr>
          <p:nvPr>
            <p:ph type="body" idx="4294967295"/>
          </p:nvPr>
        </p:nvSpPr>
        <p:spPr>
          <a:xfrm>
            <a:off x="214313" y="4076700"/>
            <a:ext cx="8102600" cy="2232025"/>
          </a:xfrm>
        </p:spPr>
        <p:txBody>
          <a:bodyPr vert="horz" wrap="square" lIns="91440" tIns="45720" rIns="91440" bIns="45720" anchor="t" anchorCtr="0"/>
          <a:p>
            <a:pPr eaLnBrk="1" hangingPunct="1">
              <a:lnSpc>
                <a:spcPct val="90000"/>
              </a:lnSpc>
              <a:buClr>
                <a:srgbClr val="376092"/>
              </a:buClr>
              <a:buSzPct val="75000"/>
              <a:buNone/>
            </a:pPr>
            <a:r>
              <a:rPr lang="zh-CN" altLang="en-US" sz="2600" b="1" dirty="0">
                <a:ea typeface="宋体" panose="02010600030101010101" pitchFamily="2" charset="-122"/>
              </a:rPr>
              <a:t>特征的选择与提取：</a:t>
            </a:r>
            <a:endParaRPr lang="zh-CN" altLang="en-US" sz="2600" b="1" dirty="0">
              <a:ea typeface="宋体" panose="02010600030101010101" pitchFamily="2" charset="-122"/>
            </a:endParaRPr>
          </a:p>
          <a:p>
            <a:pPr algn="just" eaLnBrk="1" hangingPunct="1">
              <a:lnSpc>
                <a:spcPct val="90000"/>
              </a:lnSpc>
            </a:pPr>
            <a:r>
              <a:rPr lang="zh-CN" altLang="en-US" sz="2600" b="1" dirty="0">
                <a:ea typeface="宋体" panose="02010600030101010101" pitchFamily="2" charset="-122"/>
              </a:rPr>
              <a:t>分析各种特征的有效性并选出最有代表性的特征是模式识别系统设计的关键步骤。</a:t>
            </a:r>
            <a:endParaRPr lang="en-US" altLang="zh-CN" sz="2600" b="1" dirty="0">
              <a:ea typeface="宋体" panose="02010600030101010101" pitchFamily="2" charset="-122"/>
            </a:endParaRPr>
          </a:p>
          <a:p>
            <a:pPr algn="just" eaLnBrk="1" hangingPunct="1">
              <a:lnSpc>
                <a:spcPct val="90000"/>
              </a:lnSpc>
            </a:pPr>
            <a:r>
              <a:rPr lang="zh-CN" altLang="en-US" sz="2600" b="1" dirty="0">
                <a:ea typeface="宋体" panose="02010600030101010101" pitchFamily="2" charset="-122"/>
              </a:rPr>
              <a:t>降低特征维数在很多情况下是有效设计分类器的重要课题。</a:t>
            </a:r>
            <a:endParaRPr lang="zh-CN" altLang="en-US" sz="2600" b="1" dirty="0">
              <a:ea typeface="宋体" panose="02010600030101010101" pitchFamily="2" charset="-122"/>
            </a:endParaRPr>
          </a:p>
        </p:txBody>
      </p:sp>
      <p:sp>
        <p:nvSpPr>
          <p:cNvPr id="5" name="Rectangle 7"/>
          <p:cNvSpPr>
            <a:spLocks noChangeArrowheads="1"/>
          </p:cNvSpPr>
          <p:nvPr/>
        </p:nvSpPr>
        <p:spPr bwMode="auto">
          <a:xfrm>
            <a:off x="1447800" y="1752600"/>
            <a:ext cx="1384300" cy="720725"/>
          </a:xfrm>
          <a:prstGeom prst="rect">
            <a:avLst/>
          </a:prstGeom>
          <a:solidFill>
            <a:schemeClr val="tx2">
              <a:lumMod val="20000"/>
              <a:lumOff val="80000"/>
            </a:schemeClr>
          </a:solidFill>
          <a:ln w="9525">
            <a:solidFill>
              <a:schemeClr val="tx1"/>
            </a:solidFill>
            <a:miter lim="800000"/>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数据获取</a:t>
            </a:r>
            <a:endParaRPr kumimoji="0" lang="zh-CN" altLang="en-US" sz="2400" b="0" i="0" u="none" strike="noStrike" kern="1200" cap="none" spc="0" normalizeH="0" baseline="0" noProof="0" dirty="0">
              <a:ln>
                <a:noFill/>
              </a:ln>
              <a:solidFill>
                <a:srgbClr val="FF0000"/>
              </a:solidFill>
              <a:effectLst/>
              <a:uLnTx/>
              <a:uFillTx/>
              <a:latin typeface="+mn-lt"/>
              <a:ea typeface="+mn-ea"/>
              <a:cs typeface="+mn-cs"/>
            </a:endParaRPr>
          </a:p>
        </p:txBody>
      </p:sp>
      <p:sp>
        <p:nvSpPr>
          <p:cNvPr id="7" name="Rectangle 8"/>
          <p:cNvSpPr>
            <a:spLocks noChangeArrowheads="1"/>
          </p:cNvSpPr>
          <p:nvPr/>
        </p:nvSpPr>
        <p:spPr bwMode="auto">
          <a:xfrm>
            <a:off x="3429000" y="1752600"/>
            <a:ext cx="1384300" cy="720725"/>
          </a:xfrm>
          <a:prstGeom prst="rect">
            <a:avLst/>
          </a:prstGeom>
          <a:solidFill>
            <a:schemeClr val="tx2">
              <a:lumMod val="20000"/>
              <a:lumOff val="80000"/>
            </a:schemeClr>
          </a:solidFill>
          <a:ln w="9525">
            <a:solidFill>
              <a:schemeClr val="tx1"/>
            </a:solidFill>
            <a:miter lim="800000"/>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预处理</a:t>
            </a:r>
            <a:endParaRPr kumimoji="0" lang="zh-CN" altLang="en-US" sz="2400" b="0" i="0" u="none" strike="noStrike" kern="1200" cap="none" spc="0" normalizeH="0" baseline="0" noProof="0" dirty="0">
              <a:ln>
                <a:noFill/>
              </a:ln>
              <a:solidFill>
                <a:srgbClr val="FF0000"/>
              </a:solidFill>
              <a:effectLst/>
              <a:uLnTx/>
              <a:uFillTx/>
              <a:latin typeface="+mn-lt"/>
              <a:ea typeface="+mn-ea"/>
              <a:cs typeface="+mn-cs"/>
            </a:endParaRPr>
          </a:p>
        </p:txBody>
      </p:sp>
      <p:sp>
        <p:nvSpPr>
          <p:cNvPr id="8" name="Rectangle 9"/>
          <p:cNvSpPr>
            <a:spLocks noChangeArrowheads="1"/>
          </p:cNvSpPr>
          <p:nvPr/>
        </p:nvSpPr>
        <p:spPr bwMode="auto">
          <a:xfrm>
            <a:off x="5486400" y="1752600"/>
            <a:ext cx="1646238" cy="720725"/>
          </a:xfrm>
          <a:prstGeom prst="rect">
            <a:avLst/>
          </a:prstGeom>
          <a:solidFill>
            <a:schemeClr val="tx2">
              <a:lumMod val="20000"/>
              <a:lumOff val="80000"/>
            </a:schemeClr>
          </a:solidFill>
          <a:ln w="9525">
            <a:solidFill>
              <a:schemeClr val="tx1"/>
            </a:solidFill>
            <a:miter lim="800000"/>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特征提取</a:t>
            </a:r>
            <a:br>
              <a:rPr kumimoji="0" lang="zh-CN" altLang="en-US" sz="2400" b="0" i="0" u="none" strike="noStrike" kern="1200" cap="none" spc="0" normalizeH="0" baseline="0" noProof="0" dirty="0">
                <a:ln>
                  <a:noFill/>
                </a:ln>
                <a:solidFill>
                  <a:srgbClr val="FF0000"/>
                </a:solidFill>
                <a:effectLst/>
                <a:uLnTx/>
                <a:uFillTx/>
                <a:latin typeface="+mn-lt"/>
                <a:ea typeface="+mn-ea"/>
                <a:cs typeface="+mn-cs"/>
              </a:rPr>
            </a:br>
            <a:r>
              <a:rPr kumimoji="0" lang="zh-CN" altLang="en-US" sz="2400" b="0" i="0" u="none" strike="noStrike" kern="1200" cap="none" spc="0" normalizeH="0" baseline="0" noProof="0" dirty="0">
                <a:ln>
                  <a:noFill/>
                </a:ln>
                <a:solidFill>
                  <a:srgbClr val="FF0000"/>
                </a:solidFill>
                <a:effectLst/>
                <a:uLnTx/>
                <a:uFillTx/>
                <a:latin typeface="+mn-lt"/>
                <a:ea typeface="+mn-ea"/>
                <a:cs typeface="+mn-cs"/>
              </a:rPr>
              <a:t>与选择</a:t>
            </a:r>
            <a:endParaRPr kumimoji="0" lang="zh-CN" altLang="en-US" sz="2400" b="0" i="0" u="none" strike="noStrike" kern="1200" cap="none" spc="0" normalizeH="0" baseline="0" noProof="0" dirty="0">
              <a:ln>
                <a:noFill/>
              </a:ln>
              <a:solidFill>
                <a:srgbClr val="FF0000"/>
              </a:solidFill>
              <a:effectLst/>
              <a:uLnTx/>
              <a:uFillTx/>
              <a:latin typeface="+mn-lt"/>
              <a:ea typeface="+mn-ea"/>
              <a:cs typeface="+mn-cs"/>
            </a:endParaRPr>
          </a:p>
        </p:txBody>
      </p:sp>
      <p:sp>
        <p:nvSpPr>
          <p:cNvPr id="9" name="Rectangle 10"/>
          <p:cNvSpPr>
            <a:spLocks noChangeArrowheads="1"/>
          </p:cNvSpPr>
          <p:nvPr/>
        </p:nvSpPr>
        <p:spPr bwMode="auto">
          <a:xfrm>
            <a:off x="5715000" y="3124200"/>
            <a:ext cx="1384300" cy="796925"/>
          </a:xfrm>
          <a:prstGeom prst="rect">
            <a:avLst/>
          </a:prstGeom>
          <a:solidFill>
            <a:schemeClr val="tx2">
              <a:lumMod val="20000"/>
              <a:lumOff val="80000"/>
            </a:schemeClr>
          </a:solidFill>
          <a:ln w="9525">
            <a:solidFill>
              <a:schemeClr val="tx1"/>
            </a:solidFill>
            <a:miter lim="800000"/>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cs"/>
              </a:rPr>
              <a:t>分类决策</a:t>
            </a:r>
            <a:endParaRPr kumimoji="0" lang="zh-CN" altLang="en-US" sz="2400" b="0" i="0" u="none" strike="noStrike" kern="1200" cap="none" spc="0" normalizeH="0" baseline="0" noProof="0">
              <a:ln>
                <a:noFill/>
              </a:ln>
              <a:solidFill>
                <a:srgbClr val="FF0000"/>
              </a:solidFill>
              <a:effectLst/>
              <a:uLnTx/>
              <a:uFillTx/>
              <a:latin typeface="+mn-lt"/>
              <a:ea typeface="+mn-ea"/>
              <a:cs typeface="+mn-cs"/>
            </a:endParaRPr>
          </a:p>
        </p:txBody>
      </p:sp>
      <p:sp>
        <p:nvSpPr>
          <p:cNvPr id="10" name="Rectangle 11"/>
          <p:cNvSpPr>
            <a:spLocks noChangeArrowheads="1"/>
          </p:cNvSpPr>
          <p:nvPr/>
        </p:nvSpPr>
        <p:spPr bwMode="auto">
          <a:xfrm>
            <a:off x="2438400" y="3124200"/>
            <a:ext cx="1384300" cy="720725"/>
          </a:xfrm>
          <a:prstGeom prst="rect">
            <a:avLst/>
          </a:prstGeom>
          <a:solidFill>
            <a:schemeClr val="tx2">
              <a:lumMod val="20000"/>
              <a:lumOff val="80000"/>
            </a:schemeClr>
          </a:solidFill>
          <a:ln w="9525">
            <a:solidFill>
              <a:schemeClr val="tx1"/>
            </a:solidFill>
            <a:miter lim="800000"/>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mn-lt"/>
                <a:ea typeface="+mn-ea"/>
                <a:cs typeface="+mn-cs"/>
              </a:rPr>
              <a:t>分类器</a:t>
            </a:r>
            <a:br>
              <a:rPr kumimoji="0" lang="zh-CN" altLang="en-US" sz="2400" b="0" i="0" u="none" strike="noStrike" kern="1200" cap="none" spc="0" normalizeH="0" baseline="0" noProof="0">
                <a:ln>
                  <a:noFill/>
                </a:ln>
                <a:solidFill>
                  <a:srgbClr val="FF0000"/>
                </a:solidFill>
                <a:effectLst/>
                <a:uLnTx/>
                <a:uFillTx/>
                <a:latin typeface="+mn-lt"/>
                <a:ea typeface="+mn-ea"/>
                <a:cs typeface="+mn-cs"/>
              </a:rPr>
            </a:br>
            <a:r>
              <a:rPr kumimoji="0" lang="zh-CN" altLang="en-US" sz="2400" b="0" i="0" u="none" strike="noStrike" kern="1200" cap="none" spc="0" normalizeH="0" baseline="0" noProof="0">
                <a:ln>
                  <a:noFill/>
                </a:ln>
                <a:solidFill>
                  <a:srgbClr val="FF0000"/>
                </a:solidFill>
                <a:effectLst/>
                <a:uLnTx/>
                <a:uFillTx/>
                <a:latin typeface="+mn-lt"/>
                <a:ea typeface="+mn-ea"/>
                <a:cs typeface="+mn-cs"/>
              </a:rPr>
              <a:t>设计</a:t>
            </a:r>
            <a:endParaRPr kumimoji="0" lang="zh-CN" altLang="en-US" sz="2400" b="0" i="0" u="none" strike="noStrike" kern="1200" cap="none" spc="0" normalizeH="0" baseline="0" noProof="0">
              <a:ln>
                <a:noFill/>
              </a:ln>
              <a:solidFill>
                <a:srgbClr val="FF0000"/>
              </a:solidFill>
              <a:effectLst/>
              <a:uLnTx/>
              <a:uFillTx/>
              <a:latin typeface="+mn-lt"/>
              <a:ea typeface="+mn-ea"/>
              <a:cs typeface="+mn-cs"/>
            </a:endParaRPr>
          </a:p>
        </p:txBody>
      </p:sp>
      <p:cxnSp>
        <p:nvCxnSpPr>
          <p:cNvPr id="13321" name="AutoShape 12"/>
          <p:cNvCxnSpPr>
            <a:endCxn id="8" idx="1"/>
          </p:cNvCxnSpPr>
          <p:nvPr/>
        </p:nvCxnSpPr>
        <p:spPr>
          <a:xfrm flipV="1">
            <a:off x="4800600" y="2112963"/>
            <a:ext cx="685800" cy="20637"/>
          </a:xfrm>
          <a:prstGeom prst="straightConnector1">
            <a:avLst/>
          </a:prstGeom>
          <a:ln w="9525" cap="flat" cmpd="sng">
            <a:solidFill>
              <a:schemeClr val="hlink"/>
            </a:solidFill>
            <a:prstDash val="solid"/>
            <a:headEnd type="none" w="med" len="med"/>
            <a:tailEnd type="triangle" w="med" len="med"/>
          </a:ln>
        </p:spPr>
      </p:cxnSp>
      <p:cxnSp>
        <p:nvCxnSpPr>
          <p:cNvPr id="13322" name="AutoShape 13"/>
          <p:cNvCxnSpPr>
            <a:stCxn id="5" idx="3"/>
            <a:endCxn id="7" idx="1"/>
          </p:cNvCxnSpPr>
          <p:nvPr/>
        </p:nvCxnSpPr>
        <p:spPr>
          <a:xfrm>
            <a:off x="2832100" y="2112963"/>
            <a:ext cx="596900" cy="0"/>
          </a:xfrm>
          <a:prstGeom prst="straightConnector1">
            <a:avLst/>
          </a:prstGeom>
          <a:ln w="9525" cap="flat" cmpd="sng">
            <a:solidFill>
              <a:schemeClr val="hlink"/>
            </a:solidFill>
            <a:prstDash val="solid"/>
            <a:headEnd type="none" w="med" len="med"/>
            <a:tailEnd type="triangle" w="med" len="med"/>
          </a:ln>
        </p:spPr>
      </p:cxnSp>
      <p:sp>
        <p:nvSpPr>
          <p:cNvPr id="13323" name="Text Box 16"/>
          <p:cNvSpPr txBox="1"/>
          <p:nvPr/>
        </p:nvSpPr>
        <p:spPr>
          <a:xfrm>
            <a:off x="304800" y="2667000"/>
            <a:ext cx="1676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zh-CN" altLang="en-US" sz="2800" b="1" dirty="0">
                <a:latin typeface="Calibri" panose="020F0502020204030204" pitchFamily="34" charset="0"/>
                <a:ea typeface="宋体" panose="02010600030101010101" pitchFamily="2" charset="-122"/>
              </a:rPr>
              <a:t>信号空间</a:t>
            </a:r>
            <a:endParaRPr lang="zh-CN" altLang="en-US" sz="2800" b="1" dirty="0">
              <a:latin typeface="Calibri" panose="020F0502020204030204" pitchFamily="34" charset="0"/>
              <a:ea typeface="宋体" panose="02010600030101010101" pitchFamily="2" charset="-122"/>
            </a:endParaRPr>
          </a:p>
        </p:txBody>
      </p:sp>
      <p:sp>
        <p:nvSpPr>
          <p:cNvPr id="13324" name="Text Box 17"/>
          <p:cNvSpPr txBox="1"/>
          <p:nvPr/>
        </p:nvSpPr>
        <p:spPr>
          <a:xfrm>
            <a:off x="7239000" y="2743200"/>
            <a:ext cx="19050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zh-CN" altLang="en-US" sz="2800" b="1" dirty="0">
                <a:latin typeface="Calibri" panose="020F0502020204030204" pitchFamily="34" charset="0"/>
                <a:ea typeface="宋体" panose="02010600030101010101" pitchFamily="2" charset="-122"/>
              </a:rPr>
              <a:t>特征空间</a:t>
            </a:r>
            <a:endParaRPr lang="zh-CN" altLang="en-US" sz="2800" b="1" dirty="0">
              <a:latin typeface="Calibri" panose="020F0502020204030204" pitchFamily="34" charset="0"/>
              <a:ea typeface="宋体" panose="02010600030101010101" pitchFamily="2" charset="-122"/>
            </a:endParaRPr>
          </a:p>
        </p:txBody>
      </p:sp>
      <p:cxnSp>
        <p:nvCxnSpPr>
          <p:cNvPr id="13325" name="AutoShape 18"/>
          <p:cNvCxnSpPr/>
          <p:nvPr/>
        </p:nvCxnSpPr>
        <p:spPr>
          <a:xfrm>
            <a:off x="3851275" y="3500438"/>
            <a:ext cx="1851025" cy="17462"/>
          </a:xfrm>
          <a:prstGeom prst="straightConnector1">
            <a:avLst/>
          </a:prstGeom>
          <a:ln w="9525" cap="flat" cmpd="sng">
            <a:solidFill>
              <a:schemeClr val="hlink"/>
            </a:solidFill>
            <a:prstDash val="solid"/>
            <a:headEnd type="none" w="med" len="med"/>
            <a:tailEnd type="triangle" w="med" len="med"/>
          </a:ln>
        </p:spPr>
      </p:cxnSp>
      <p:cxnSp>
        <p:nvCxnSpPr>
          <p:cNvPr id="13326" name="AutoShape 18"/>
          <p:cNvCxnSpPr/>
          <p:nvPr/>
        </p:nvCxnSpPr>
        <p:spPr>
          <a:xfrm flipH="1">
            <a:off x="3048000" y="2133600"/>
            <a:ext cx="4117975" cy="952500"/>
          </a:xfrm>
          <a:prstGeom prst="bentConnector4">
            <a:avLst>
              <a:gd name="adj1" fmla="val -5514"/>
              <a:gd name="adj2" fmla="val 68833"/>
            </a:avLst>
          </a:prstGeom>
          <a:ln w="9525" cap="flat" cmpd="sng">
            <a:solidFill>
              <a:schemeClr val="tx1"/>
            </a:solidFill>
            <a:prstDash val="solid"/>
            <a:miter/>
            <a:headEnd type="none" w="med" len="med"/>
            <a:tailEnd type="triangle" w="med" len="med"/>
          </a:ln>
        </p:spPr>
      </p:cxnSp>
      <p:cxnSp>
        <p:nvCxnSpPr>
          <p:cNvPr id="13327" name="AutoShape 19"/>
          <p:cNvCxnSpPr>
            <a:stCxn id="8" idx="2"/>
          </p:cNvCxnSpPr>
          <p:nvPr/>
        </p:nvCxnSpPr>
        <p:spPr>
          <a:xfrm>
            <a:off x="6310313" y="2473325"/>
            <a:ext cx="14287" cy="650875"/>
          </a:xfrm>
          <a:prstGeom prst="straightConnector1">
            <a:avLst/>
          </a:prstGeom>
          <a:ln w="9525" cap="flat" cmpd="sng">
            <a:solidFill>
              <a:schemeClr val="tx1"/>
            </a:solidFill>
            <a:prstDash val="solid"/>
            <a:headEnd type="none" w="med" len="med"/>
            <a:tailEnd type="triangle" w="med" len="med"/>
          </a:ln>
        </p:spPr>
      </p:cxnSp>
      <p:sp>
        <p:nvSpPr>
          <p:cNvPr id="13328" name="TextBox 17"/>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
        <p:nvSpPr>
          <p:cNvPr id="13329" name="Text Box 3"/>
          <p:cNvSpPr txBox="1"/>
          <p:nvPr/>
        </p:nvSpPr>
        <p:spPr>
          <a:xfrm>
            <a:off x="762000" y="1049338"/>
            <a:ext cx="281940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3600" b="1" dirty="0">
                <a:solidFill>
                  <a:srgbClr val="0033CC"/>
                </a:solidFill>
                <a:ea typeface="宋体" panose="02010600030101010101" pitchFamily="2" charset="-122"/>
              </a:rPr>
              <a:t>基本概念</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4339" name="Rectangle 2"/>
          <p:cNvSpPr>
            <a:spLocks noGrp="1" noChangeArrowheads="1"/>
          </p:cNvSpPr>
          <p:nvPr>
            <p:ph type="title" idx="4294967295"/>
          </p:nvPr>
        </p:nvSpPr>
        <p:spPr>
          <a:xfrm>
            <a:off x="328613" y="1290638"/>
            <a:ext cx="4572000" cy="646113"/>
          </a:xfrm>
        </p:spPr>
        <p:txBody>
          <a:bodyPr vert="horz" wrap="square" lIns="91440" tIns="45720" rIns="91440" bIns="45720" numCol="1" anchor="b" anchorCtr="0" compatLnSpc="1">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3600" b="1" i="0" u="none" strike="noStrike" kern="1200" cap="none" spc="0" normalizeH="0" baseline="0" noProof="0" dirty="0">
                <a:ln>
                  <a:noFill/>
                </a:ln>
                <a:solidFill>
                  <a:srgbClr val="0033CC"/>
                </a:solidFill>
                <a:effectLst/>
                <a:uLnTx/>
                <a:uFillTx/>
                <a:latin typeface="+mj-lt"/>
                <a:ea typeface="宋体" panose="02010600030101010101" pitchFamily="2" charset="-122"/>
                <a:cs typeface="+mn-cs"/>
              </a:rPr>
              <a:t>三大类特征</a:t>
            </a:r>
            <a:endParaRPr kumimoji="0" lang="zh-CN" altLang="en-US" sz="3600" b="1" i="0" u="none" strike="noStrike" kern="1200" cap="none" spc="0" normalizeH="0" baseline="0" noProof="0" dirty="0">
              <a:ln>
                <a:noFill/>
              </a:ln>
              <a:solidFill>
                <a:srgbClr val="0033CC"/>
              </a:solidFill>
              <a:effectLst/>
              <a:uLnTx/>
              <a:uFillTx/>
              <a:latin typeface="+mj-lt"/>
              <a:ea typeface="宋体" panose="02010600030101010101" pitchFamily="2" charset="-122"/>
              <a:cs typeface="+mn-cs"/>
            </a:endParaRPr>
          </a:p>
        </p:txBody>
      </p:sp>
      <p:sp>
        <p:nvSpPr>
          <p:cNvPr id="14340" name="Rectangle 3"/>
          <p:cNvSpPr>
            <a:spLocks noGrp="1"/>
          </p:cNvSpPr>
          <p:nvPr>
            <p:ph type="body" idx="4294967295"/>
          </p:nvPr>
        </p:nvSpPr>
        <p:spPr>
          <a:xfrm>
            <a:off x="323850" y="2133600"/>
            <a:ext cx="8569325" cy="3455988"/>
          </a:xfrm>
        </p:spPr>
        <p:txBody>
          <a:bodyPr vert="horz" wrap="square" lIns="91440" tIns="45720" rIns="91440" bIns="45720" anchor="t" anchorCtr="0"/>
          <a:p>
            <a:pPr algn="just" eaLnBrk="1" hangingPunct="1">
              <a:buClr>
                <a:srgbClr val="376092"/>
              </a:buClr>
              <a:buSzPct val="75000"/>
              <a:buNone/>
            </a:pPr>
            <a:r>
              <a:rPr lang="zh-CN" altLang="en-US" b="1" dirty="0">
                <a:latin typeface="宋体" panose="02010600030101010101" pitchFamily="2" charset="-122"/>
                <a:ea typeface="宋体" panose="02010600030101010101" pitchFamily="2" charset="-122"/>
              </a:rPr>
              <a:t>三大类特征：物理、结构和数字</a:t>
            </a:r>
            <a:endParaRPr lang="zh-CN" altLang="en-US" b="1" dirty="0">
              <a:latin typeface="宋体" panose="02010600030101010101" pitchFamily="2" charset="-122"/>
              <a:ea typeface="宋体" panose="02010600030101010101" pitchFamily="2" charset="-122"/>
            </a:endParaRPr>
          </a:p>
          <a:p>
            <a:pPr marL="1200150" lvl="1" indent="-457200" algn="just" eaLnBrk="1" hangingPunct="1">
              <a:lnSpc>
                <a:spcPct val="150000"/>
              </a:lnSpc>
              <a:spcBef>
                <a:spcPct val="0"/>
              </a:spcBef>
              <a:buFont typeface="Wingdings" panose="05000000000000000000" pitchFamily="2" charset="2"/>
              <a:buChar char="p"/>
            </a:pPr>
            <a:r>
              <a:rPr lang="zh-CN" altLang="en-US" sz="3000" b="1" dirty="0">
                <a:solidFill>
                  <a:srgbClr val="0033CC"/>
                </a:solidFill>
                <a:latin typeface="宋体" panose="02010600030101010101" pitchFamily="2" charset="-122"/>
                <a:ea typeface="宋体" panose="02010600030101010101" pitchFamily="2" charset="-122"/>
              </a:rPr>
              <a:t>物理和结构特征</a:t>
            </a:r>
            <a:r>
              <a:rPr lang="zh-CN" altLang="en-US" sz="3000"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易于为人的直觉感知，但有时难于定量描述，因而不易用于机器判别。</a:t>
            </a:r>
            <a:endParaRPr lang="zh-CN" altLang="en-US" b="1" dirty="0">
              <a:latin typeface="宋体" panose="02010600030101010101" pitchFamily="2" charset="-122"/>
              <a:ea typeface="宋体" panose="02010600030101010101" pitchFamily="2" charset="-122"/>
            </a:endParaRPr>
          </a:p>
          <a:p>
            <a:pPr marL="1200150" lvl="1" indent="-457200" algn="just" eaLnBrk="1" hangingPunct="1">
              <a:lnSpc>
                <a:spcPct val="150000"/>
              </a:lnSpc>
              <a:spcBef>
                <a:spcPct val="0"/>
              </a:spcBef>
              <a:buFont typeface="Wingdings" panose="05000000000000000000" pitchFamily="2" charset="2"/>
              <a:buChar char="p"/>
            </a:pPr>
            <a:r>
              <a:rPr lang="zh-CN" altLang="en-US" sz="3000" b="1" dirty="0">
                <a:solidFill>
                  <a:srgbClr val="0033CC"/>
                </a:solidFill>
                <a:latin typeface="宋体" panose="02010600030101010101" pitchFamily="2" charset="-122"/>
                <a:ea typeface="宋体" panose="02010600030101010101" pitchFamily="2" charset="-122"/>
              </a:rPr>
              <a:t>数字特征</a:t>
            </a:r>
            <a:r>
              <a:rPr lang="zh-CN" altLang="en-US" sz="3000"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易于用机器定量描述和判别，如基于统计的特征。</a:t>
            </a:r>
            <a:endParaRPr lang="zh-CN" altLang="en-US" b="1" dirty="0">
              <a:latin typeface="宋体" panose="02010600030101010101" pitchFamily="2" charset="-122"/>
              <a:ea typeface="宋体" panose="02010600030101010101" pitchFamily="2" charset="-122"/>
            </a:endParaRPr>
          </a:p>
        </p:txBody>
      </p:sp>
      <p:sp>
        <p:nvSpPr>
          <p:cNvPr id="14341" name="TextBox 5"/>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16739" name="Rectangle 3"/>
          <p:cNvSpPr>
            <a:spLocks noGrp="1" noChangeArrowheads="1"/>
          </p:cNvSpPr>
          <p:nvPr>
            <p:ph type="subTitle" idx="1"/>
          </p:nvPr>
        </p:nvSpPr>
        <p:spPr>
          <a:xfrm>
            <a:off x="0" y="1828800"/>
            <a:ext cx="8839200" cy="1400175"/>
          </a:xfrm>
        </p:spPr>
        <p:txBody>
          <a:bodyPr vert="horz" wrap="square" lIns="90488" tIns="44450" rIns="90488" bIns="44450" numCol="1" anchor="t" anchorCtr="0" compatLnSpc="1">
            <a:spAutoFit/>
          </a:bodyPr>
          <a:lstStyle/>
          <a:p>
            <a:pPr marL="381000" marR="0" lvl="1" indent="-19050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tabLst>
                <a:tab pos="102870" algn="l"/>
                <a:tab pos="1055370" algn="l"/>
              </a:tabLst>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对初始的特征空间进行优化是为了降维。即初始的特征空间维数较高。能否改成一个维数较低的空间，称为优化。</a:t>
            </a:r>
            <a:r>
              <a:rPr kumimoji="1"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rPr>
              <a:t> </a:t>
            </a:r>
            <a:endParaRPr kumimoji="1" lang="zh-CN" altLang="en-US" sz="3000" b="0" i="0" u="none" strike="noStrike" kern="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endParaRPr>
          </a:p>
        </p:txBody>
      </p:sp>
      <p:grpSp>
        <p:nvGrpSpPr>
          <p:cNvPr id="15364" name="Group 9"/>
          <p:cNvGrpSpPr/>
          <p:nvPr/>
        </p:nvGrpSpPr>
        <p:grpSpPr>
          <a:xfrm>
            <a:off x="141288" y="3443288"/>
            <a:ext cx="8861425" cy="2362200"/>
            <a:chOff x="50" y="1875"/>
            <a:chExt cx="5582" cy="2235"/>
          </a:xfrm>
        </p:grpSpPr>
        <p:pic>
          <p:nvPicPr>
            <p:cNvPr id="15369" name="Picture 4" descr="I:\模式识别\清华大学\30\images\image_content\4\4_1006.gif"/>
            <p:cNvPicPr>
              <a:picLocks noChangeAspect="1"/>
            </p:cNvPicPr>
            <p:nvPr/>
          </p:nvPicPr>
          <p:blipFill>
            <a:blip r:embed="rId1" r:link="rId2"/>
            <a:stretch>
              <a:fillRect/>
            </a:stretch>
          </p:blipFill>
          <p:spPr>
            <a:xfrm>
              <a:off x="849" y="1875"/>
              <a:ext cx="3936" cy="2235"/>
            </a:xfrm>
            <a:prstGeom prst="rect">
              <a:avLst/>
            </a:prstGeom>
            <a:noFill/>
            <a:ln w="9525">
              <a:noFill/>
            </a:ln>
          </p:spPr>
        </p:pic>
        <p:grpSp>
          <p:nvGrpSpPr>
            <p:cNvPr id="15370" name="Group 8"/>
            <p:cNvGrpSpPr/>
            <p:nvPr/>
          </p:nvGrpSpPr>
          <p:grpSpPr>
            <a:xfrm>
              <a:off x="50" y="2581"/>
              <a:ext cx="5582" cy="1136"/>
              <a:chOff x="50" y="2581"/>
              <a:chExt cx="5582" cy="1136"/>
            </a:xfrm>
          </p:grpSpPr>
          <p:sp>
            <p:nvSpPr>
              <p:cNvPr id="116742" name="Text Box 6"/>
              <p:cNvSpPr txBox="1">
                <a:spLocks noChangeArrowheads="1"/>
              </p:cNvSpPr>
              <p:nvPr/>
            </p:nvSpPr>
            <p:spPr bwMode="auto">
              <a:xfrm>
                <a:off x="4950" y="2667"/>
                <a:ext cx="682" cy="548"/>
              </a:xfrm>
              <a:prstGeom prst="rect">
                <a:avLst/>
              </a:prstGeom>
              <a:noFill/>
              <a:ln w="12700">
                <a:noFill/>
                <a:miter lim="800000"/>
              </a:ln>
              <a:effectLst/>
            </p:spPr>
            <p:txBody>
              <a:bodyPr>
                <a:spAutoFit/>
              </a:bodyPr>
              <a:lstStyle/>
              <a:p>
                <a:pPr marR="0" defTabSz="914400">
                  <a:buClrTx/>
                  <a:buSzTx/>
                  <a:buFontTx/>
                  <a:buNone/>
                  <a:defRPr/>
                </a:pPr>
                <a:r>
                  <a:rPr kumimoji="1" lang="en-US" altLang="zh-CN" sz="32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RGB</a:t>
                </a:r>
                <a:endParaRPr kumimoji="1" lang="en-US" altLang="zh-CN" sz="32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16743" name="Text Box 7"/>
              <p:cNvSpPr txBox="1">
                <a:spLocks noChangeArrowheads="1"/>
              </p:cNvSpPr>
              <p:nvPr/>
            </p:nvSpPr>
            <p:spPr bwMode="auto">
              <a:xfrm>
                <a:off x="50" y="2581"/>
                <a:ext cx="799" cy="1136"/>
              </a:xfrm>
              <a:prstGeom prst="rect">
                <a:avLst/>
              </a:prstGeom>
              <a:noFill/>
              <a:ln w="12700">
                <a:noFill/>
                <a:miter lim="800000"/>
              </a:ln>
              <a:effectLst/>
            </p:spPr>
            <p:txBody>
              <a:bodyPr>
                <a:spAutoFit/>
              </a:bodyPr>
              <a:lstStyle/>
              <a:p>
                <a:pPr marR="0" algn="ctr" defTabSz="914400">
                  <a:buClrTx/>
                  <a:buSzTx/>
                  <a:buFontTx/>
                  <a:buNone/>
                  <a:defRPr/>
                </a:pPr>
                <a:r>
                  <a:rPr kumimoji="1" lang="en-US" altLang="zh-CN" sz="32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HSI</a:t>
                </a:r>
                <a:endParaRPr kumimoji="1" lang="en-US" altLang="zh-CN" sz="32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algn="ctr" defTabSz="914400">
                  <a:buClrTx/>
                  <a:buSzTx/>
                  <a:buFontTx/>
                  <a:buNone/>
                  <a:defRPr/>
                </a:pPr>
                <a:r>
                  <a:rPr kumimoji="1" lang="zh-CN" altLang="en-US" sz="20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色调饱和度亮度</a:t>
                </a:r>
                <a:endParaRPr kumimoji="1" lang="en-US" altLang="zh-CN" sz="2000" b="1" kern="120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grpSp>
      </p:grpSp>
      <p:sp>
        <p:nvSpPr>
          <p:cNvPr id="15365" name="Rectangle 9"/>
          <p:cNvSpPr/>
          <p:nvPr/>
        </p:nvSpPr>
        <p:spPr>
          <a:xfrm>
            <a:off x="539750" y="1146175"/>
            <a:ext cx="3457575"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None/>
            </a:pPr>
            <a:r>
              <a:rPr lang="zh-CN" altLang="en-US" sz="3600" b="1" dirty="0">
                <a:solidFill>
                  <a:srgbClr val="0033CC"/>
                </a:solidFill>
                <a:latin typeface="宋体" panose="02010600030101010101" pitchFamily="2" charset="-122"/>
                <a:ea typeface="宋体" panose="02010600030101010101" pitchFamily="2" charset="-122"/>
              </a:rPr>
              <a:t>特征空间的优化</a:t>
            </a:r>
            <a:endParaRPr lang="zh-CN" altLang="en-US" sz="3600" b="1" dirty="0">
              <a:solidFill>
                <a:srgbClr val="0033CC"/>
              </a:solidFill>
              <a:latin typeface="宋体" panose="02010600030101010101" pitchFamily="2" charset="-122"/>
              <a:ea typeface="宋体" panose="02010600030101010101" pitchFamily="2" charset="-122"/>
            </a:endParaRPr>
          </a:p>
        </p:txBody>
      </p:sp>
      <p:sp>
        <p:nvSpPr>
          <p:cNvPr id="15366" name="TextBox 9"/>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
        <p:nvSpPr>
          <p:cNvPr id="12" name="文本框 11"/>
          <p:cNvSpPr txBox="1"/>
          <p:nvPr/>
        </p:nvSpPr>
        <p:spPr>
          <a:xfrm>
            <a:off x="1274763" y="5819775"/>
            <a:ext cx="3116263" cy="738188"/>
          </a:xfrm>
          <a:prstGeom prst="rect">
            <a:avLst/>
          </a:prstGeom>
          <a:solidFill>
            <a:schemeClr val="accent3"/>
          </a:solidFill>
        </p:spPr>
        <p:txBody>
          <a:bodyPr>
            <a:spAutoFit/>
          </a:bodyPr>
          <a:lstStyle/>
          <a:p>
            <a:pPr marR="0" defTabSz="914400">
              <a:buClrTx/>
              <a:buSzTx/>
              <a:buFontTx/>
              <a:buNone/>
              <a:defRPr/>
            </a:pP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rPr>
              <a:t>H</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rPr>
              <a:t>定义颜色的频率，称为色调；</a:t>
            </a: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rPr>
              <a:t>S</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rPr>
              <a:t>表示颜色的深浅程度，称为饱和度；</a:t>
            </a:r>
            <a:r>
              <a:rPr kumimoji="0" lang="en-US" altLang="zh-CN" sz="1400" kern="1200" cap="none" spc="0" normalizeH="0" baseline="0" noProof="0" dirty="0">
                <a:latin typeface="微软雅黑" panose="020B0503020204020204" pitchFamily="34" charset="-122"/>
                <a:ea typeface="微软雅黑" panose="020B0503020204020204" pitchFamily="34" charset="-122"/>
                <a:cs typeface="+mn-cs"/>
              </a:rPr>
              <a:t>I</a:t>
            </a:r>
            <a:r>
              <a:rPr kumimoji="0" lang="zh-CN" altLang="en-US" sz="1400" kern="1200" cap="none" spc="0" normalizeH="0" baseline="0" noProof="0" dirty="0">
                <a:latin typeface="微软雅黑" panose="020B0503020204020204" pitchFamily="34" charset="-122"/>
                <a:ea typeface="微软雅黑" panose="020B0503020204020204" pitchFamily="34" charset="-122"/>
                <a:cs typeface="+mn-cs"/>
              </a:rPr>
              <a:t>表示强度或亮度。</a:t>
            </a:r>
            <a:endParaRPr kumimoji="0" lang="zh-CN" altLang="en-US" sz="1400"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14" name="文本框 13"/>
          <p:cNvSpPr txBox="1"/>
          <p:nvPr/>
        </p:nvSpPr>
        <p:spPr>
          <a:xfrm>
            <a:off x="4548188" y="5829300"/>
            <a:ext cx="3254375" cy="523875"/>
          </a:xfrm>
          <a:prstGeom prst="rect">
            <a:avLst/>
          </a:prstGeom>
          <a:solidFill>
            <a:schemeClr val="accent3"/>
          </a:solidFill>
        </p:spPr>
        <p:txBody>
          <a:bodyPr>
            <a:spAutoFit/>
          </a:bodyPr>
          <a:lstStyle/>
          <a:p>
            <a:pPr marR="0" defTabSz="914400">
              <a:buClrTx/>
              <a:buSzTx/>
              <a:buFontTx/>
              <a:buNone/>
              <a:defRPr/>
            </a:pPr>
            <a:r>
              <a:rPr kumimoji="0" lang="zh-CN" altLang="en-US" sz="1400"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它分别用</a:t>
            </a:r>
            <a:r>
              <a:rPr kumimoji="0" lang="zh-CN" altLang="en-US"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红（</a:t>
            </a:r>
            <a:r>
              <a:rPr kumimoji="0" lang="en-US" altLang="zh-CN"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R</a:t>
            </a:r>
            <a:r>
              <a:rPr kumimoji="0" lang="zh-CN" altLang="en-US"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）、绿（</a:t>
            </a:r>
            <a:r>
              <a:rPr kumimoji="0" lang="en-US" altLang="zh-CN"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G</a:t>
            </a:r>
            <a:r>
              <a:rPr kumimoji="0" lang="zh-CN" altLang="en-US"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）、蓝（</a:t>
            </a:r>
            <a:r>
              <a:rPr kumimoji="0" lang="en-US" altLang="zh-CN"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B</a:t>
            </a:r>
            <a:r>
              <a:rPr kumimoji="0" lang="zh-CN" altLang="en-US" sz="1400" b="1"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a:t>
            </a:r>
            <a:r>
              <a:rPr kumimoji="0" lang="zh-CN" altLang="en-US" sz="1400" kern="1200" cap="none" spc="0" normalizeH="0" baseline="0" noProof="0" dirty="0">
                <a:solidFill>
                  <a:srgbClr val="000000"/>
                </a:solidFill>
                <a:latin typeface="微软雅黑" panose="020B0503020204020204" pitchFamily="34" charset="-122"/>
                <a:ea typeface="微软雅黑" panose="020B0503020204020204" pitchFamily="34" charset="-122"/>
                <a:cs typeface="+mn-cs"/>
              </a:rPr>
              <a:t>三原色的组合来表示每个像素的颜色</a:t>
            </a:r>
            <a:endParaRPr kumimoji="0" lang="zh-CN" altLang="en-US" sz="1400" kern="1200" cap="none" spc="0" normalizeH="0" baseline="0" noProof="0" dirty="0">
              <a:latin typeface="Times New Roman" panose="02020603050405020304" pitchFamily="18" charset="0"/>
              <a:ea typeface="宋体" panose="02010600030101010101" pitchFamily="2" charset="-122"/>
              <a:cs typeface="+mn-cs"/>
            </a:endParaRPr>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6386"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6387" name="矩形 2"/>
          <p:cNvSpPr/>
          <p:nvPr/>
        </p:nvSpPr>
        <p:spPr>
          <a:xfrm>
            <a:off x="684213" y="1628775"/>
            <a:ext cx="7920037" cy="4894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spcBef>
                <a:spcPct val="0"/>
              </a:spcBef>
              <a:buClrTx/>
              <a:buSzTx/>
              <a:buFontTx/>
              <a:buNone/>
            </a:pPr>
            <a:endParaRPr lang="zh-CN" altLang="en-US"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r>
              <a:rPr lang="zh-CN" altLang="en-US" sz="2400" b="1" dirty="0">
                <a:latin typeface="宋体" panose="02010600030101010101" pitchFamily="2" charset="-122"/>
                <a:ea typeface="宋体" panose="02010600030101010101" pitchFamily="2" charset="-122"/>
              </a:rPr>
              <a:t>  假设有</a:t>
            </a:r>
            <a:r>
              <a:rPr lang="en-US" altLang="zh-CN" sz="2400" b="1" dirty="0">
                <a:latin typeface="宋体" panose="02010600030101010101" pitchFamily="2" charset="-122"/>
                <a:ea typeface="宋体" panose="02010600030101010101" pitchFamily="2" charset="-122"/>
              </a:rPr>
              <a:t>D</a:t>
            </a:r>
            <a:r>
              <a:rPr lang="zh-CN" altLang="en-US" sz="2400" b="1" dirty="0">
                <a:latin typeface="宋体" panose="02010600030101010101" pitchFamily="2" charset="-122"/>
                <a:ea typeface="宋体" panose="02010600030101010101" pitchFamily="2" charset="-122"/>
              </a:rPr>
              <a:t>维特征向量空间，</a:t>
            </a:r>
            <a:r>
              <a:rPr lang="en-US" altLang="zh-CN" sz="2400" b="1" dirty="0">
                <a:latin typeface="宋体" panose="02010600030101010101" pitchFamily="2" charset="-122"/>
                <a:ea typeface="宋体" panose="02010600030101010101" pitchFamily="2" charset="-122"/>
              </a:rPr>
              <a:t>y={y</a:t>
            </a:r>
            <a:r>
              <a:rPr lang="en-US" altLang="zh-CN" sz="2400" b="1" baseline="-25000" dirty="0">
                <a:latin typeface="宋体" panose="02010600030101010101" pitchFamily="2" charset="-122"/>
                <a:ea typeface="宋体" panose="02010600030101010101" pitchFamily="2" charset="-122"/>
              </a:rPr>
              <a:t>1</a:t>
            </a:r>
            <a:r>
              <a:rPr lang="en-US" altLang="zh-CN" sz="2400" b="1" dirty="0">
                <a:latin typeface="宋体" panose="02010600030101010101" pitchFamily="2" charset="-122"/>
                <a:ea typeface="宋体" panose="02010600030101010101" pitchFamily="2" charset="-122"/>
              </a:rPr>
              <a:t>,y</a:t>
            </a:r>
            <a:r>
              <a:rPr lang="en-US" altLang="zh-CN" sz="2400" b="1" baseline="-25000" dirty="0">
                <a:latin typeface="宋体" panose="02010600030101010101" pitchFamily="2" charset="-122"/>
                <a:ea typeface="宋体" panose="02010600030101010101" pitchFamily="2" charset="-122"/>
              </a:rPr>
              <a:t>2</a:t>
            </a:r>
            <a:r>
              <a:rPr lang="en-US" altLang="zh-CN" sz="2400" b="1" dirty="0">
                <a:latin typeface="宋体" panose="02010600030101010101" pitchFamily="2" charset="-122"/>
                <a:ea typeface="宋体" panose="02010600030101010101" pitchFamily="2" charset="-122"/>
              </a:rPr>
              <a:t>,…y</a:t>
            </a:r>
            <a:r>
              <a:rPr lang="en-US" altLang="zh-CN" sz="2400" b="1" baseline="-25000" dirty="0">
                <a:latin typeface="宋体" panose="02010600030101010101" pitchFamily="2" charset="-122"/>
                <a:ea typeface="宋体" panose="02010600030101010101" pitchFamily="2" charset="-122"/>
              </a:rPr>
              <a:t>D</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endParaRPr lang="zh-CN" altLang="en-US"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微软雅黑" panose="020B0503020204020204" pitchFamily="34" charset="-122"/>
                <a:ea typeface="微软雅黑" panose="020B0503020204020204" pitchFamily="34" charset="-122"/>
              </a:rPr>
              <a:t>特征选择</a:t>
            </a:r>
            <a:r>
              <a:rPr lang="zh-CN" altLang="en-US" sz="2400" b="1" dirty="0">
                <a:latin typeface="宋体" panose="02010600030101010101" pitchFamily="2" charset="-122"/>
                <a:ea typeface="宋体" panose="02010600030101010101" pitchFamily="2" charset="-122"/>
              </a:rPr>
              <a:t>是指从原有的</a:t>
            </a:r>
            <a:r>
              <a:rPr lang="en-US" altLang="zh-CN" sz="2400" b="1" dirty="0">
                <a:latin typeface="宋体" panose="02010600030101010101" pitchFamily="2" charset="-122"/>
                <a:ea typeface="宋体" panose="02010600030101010101" pitchFamily="2" charset="-122"/>
              </a:rPr>
              <a:t>D</a:t>
            </a:r>
            <a:r>
              <a:rPr lang="zh-CN" altLang="en-US" sz="2400" b="1" dirty="0">
                <a:latin typeface="宋体" panose="02010600030101010101" pitchFamily="2" charset="-122"/>
                <a:ea typeface="宋体" panose="02010600030101010101" pitchFamily="2" charset="-122"/>
              </a:rPr>
              <a:t>维特征空间，删去一些特征描述量，从而得到精简后的特征空间。在这个特征空间中，样本由降维后的</a:t>
            </a:r>
            <a:r>
              <a:rPr lang="en-US" altLang="zh-CN" sz="2400" b="1" dirty="0">
                <a:latin typeface="宋体" panose="02010600030101010101" pitchFamily="2" charset="-122"/>
                <a:ea typeface="宋体" panose="02010600030101010101" pitchFamily="2" charset="-122"/>
              </a:rPr>
              <a:t>d</a:t>
            </a:r>
            <a:r>
              <a:rPr lang="zh-CN" altLang="en-US" sz="2400" b="1" dirty="0">
                <a:latin typeface="宋体" panose="02010600030101010101" pitchFamily="2" charset="-122"/>
                <a:ea typeface="宋体" panose="02010600030101010101" pitchFamily="2" charset="-122"/>
              </a:rPr>
              <a:t>维的特征向量描述：</a:t>
            </a:r>
            <a:r>
              <a:rPr lang="en-US" altLang="zh-CN" sz="2400" b="1" dirty="0">
                <a:latin typeface="宋体" panose="02010600030101010101" pitchFamily="2" charset="-122"/>
                <a:ea typeface="宋体" panose="02010600030101010101" pitchFamily="2" charset="-122"/>
              </a:rPr>
              <a:t>x={x</a:t>
            </a:r>
            <a:r>
              <a:rPr lang="en-US" altLang="zh-CN" sz="2400" b="1" baseline="-25000" dirty="0">
                <a:latin typeface="宋体" panose="02010600030101010101" pitchFamily="2" charset="-122"/>
                <a:ea typeface="宋体" panose="02010600030101010101" pitchFamily="2" charset="-122"/>
              </a:rPr>
              <a:t>1</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2</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d</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D</a:t>
            </a:r>
            <a:r>
              <a:rPr lang="zh-CN" altLang="en-US" sz="2400" b="1" dirty="0">
                <a:latin typeface="宋体" panose="02010600030101010101" pitchFamily="2" charset="-122"/>
                <a:ea typeface="宋体" panose="02010600030101010101" pitchFamily="2" charset="-122"/>
              </a:rPr>
              <a:t>。由于</a:t>
            </a:r>
            <a:r>
              <a:rPr lang="en-US" altLang="zh-CN" sz="2400" b="1" dirty="0">
                <a:latin typeface="宋体" panose="02010600030101010101" pitchFamily="2" charset="-122"/>
                <a:ea typeface="宋体" panose="02010600030101010101" pitchFamily="2" charset="-122"/>
              </a:rPr>
              <a:t>x</a:t>
            </a:r>
            <a:r>
              <a:rPr lang="zh-CN" altLang="en-US" sz="2400" b="1" dirty="0">
                <a:latin typeface="宋体" panose="02010600030101010101" pitchFamily="2" charset="-122"/>
                <a:ea typeface="宋体" panose="02010600030101010101" pitchFamily="2" charset="-122"/>
              </a:rPr>
              <a:t>只是</a:t>
            </a:r>
            <a:r>
              <a:rPr lang="en-US" altLang="zh-CN" sz="2400" b="1" dirty="0">
                <a:latin typeface="宋体" panose="02010600030101010101" pitchFamily="2" charset="-122"/>
                <a:ea typeface="宋体" panose="02010600030101010101" pitchFamily="2" charset="-122"/>
              </a:rPr>
              <a:t>y</a:t>
            </a:r>
            <a:r>
              <a:rPr lang="zh-CN" altLang="en-US" sz="2400" b="1" dirty="0">
                <a:latin typeface="宋体" panose="02010600030101010101" pitchFamily="2" charset="-122"/>
                <a:ea typeface="宋体" panose="02010600030101010101" pitchFamily="2" charset="-122"/>
              </a:rPr>
              <a:t>的一个</a:t>
            </a:r>
            <a:r>
              <a:rPr lang="zh-CN" altLang="en-US" sz="2400" b="1" dirty="0">
                <a:solidFill>
                  <a:srgbClr val="FF0000"/>
                </a:solidFill>
                <a:latin typeface="宋体" panose="02010600030101010101" pitchFamily="2" charset="-122"/>
                <a:ea typeface="宋体" panose="02010600030101010101" pitchFamily="2" charset="-122"/>
              </a:rPr>
              <a:t>子集</a:t>
            </a:r>
            <a:r>
              <a:rPr lang="zh-CN" altLang="en-US" sz="2400" b="1" dirty="0">
                <a:latin typeface="宋体" panose="02010600030101010101" pitchFamily="2" charset="-122"/>
                <a:ea typeface="宋体" panose="02010600030101010101" pitchFamily="2" charset="-122"/>
              </a:rPr>
              <a:t>，因此每个分量</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zh-CN" altLang="en-US" sz="2400" b="1" dirty="0">
                <a:latin typeface="宋体" panose="02010600030101010101" pitchFamily="2" charset="-122"/>
                <a:ea typeface="宋体" panose="02010600030101010101" pitchFamily="2" charset="-122"/>
              </a:rPr>
              <a:t>必然能在原特征集中找到其对应的描述量</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en-US" altLang="zh-CN" sz="2400" b="1" dirty="0">
                <a:latin typeface="宋体" panose="02010600030101010101" pitchFamily="2" charset="-122"/>
                <a:ea typeface="宋体" panose="02010600030101010101" pitchFamily="2" charset="-122"/>
              </a:rPr>
              <a:t>=y</a:t>
            </a:r>
            <a:r>
              <a:rPr lang="en-US" altLang="zh-CN" sz="2400" b="1" baseline="-25000" dirty="0">
                <a:latin typeface="宋体" panose="02010600030101010101" pitchFamily="2" charset="-122"/>
                <a:ea typeface="宋体" panose="02010600030101010101" pitchFamily="2" charset="-122"/>
              </a:rPr>
              <a:t>j</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endParaRPr lang="zh-CN" altLang="en-US"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r>
              <a:rPr lang="zh-CN" altLang="en-US" sz="2400" b="1" dirty="0">
                <a:latin typeface="宋体" panose="02010600030101010101" pitchFamily="2" charset="-122"/>
                <a:ea typeface="宋体" panose="02010600030101010101" pitchFamily="2" charset="-122"/>
              </a:rPr>
              <a:t></a:t>
            </a:r>
            <a:r>
              <a:rPr lang="zh-CN" altLang="en-US" sz="2400" b="1" dirty="0">
                <a:solidFill>
                  <a:srgbClr val="FF0000"/>
                </a:solidFill>
                <a:latin typeface="微软雅黑" panose="020B0503020204020204" pitchFamily="34" charset="-122"/>
                <a:ea typeface="微软雅黑" panose="020B0503020204020204" pitchFamily="34" charset="-122"/>
              </a:rPr>
              <a:t>特征提取</a:t>
            </a:r>
            <a:r>
              <a:rPr lang="zh-CN" altLang="en-US" sz="2400" b="1" dirty="0">
                <a:latin typeface="宋体" panose="02010600030101010101" pitchFamily="2" charset="-122"/>
                <a:ea typeface="宋体" panose="02010600030101010101" pitchFamily="2" charset="-122"/>
              </a:rPr>
              <a:t>则是找到一个映射关系：</a:t>
            </a:r>
            <a:r>
              <a:rPr lang="en-US" altLang="zh-CN" sz="2400" b="1" dirty="0">
                <a:latin typeface="宋体" panose="02010600030101010101" pitchFamily="2" charset="-122"/>
                <a:ea typeface="宋体" panose="02010600030101010101" pitchFamily="2" charset="-122"/>
              </a:rPr>
              <a:t>A:Y→X</a:t>
            </a:r>
            <a:r>
              <a:rPr lang="zh-CN" altLang="en-US" sz="2400" b="1" dirty="0">
                <a:latin typeface="宋体" panose="02010600030101010101" pitchFamily="2" charset="-122"/>
                <a:ea typeface="宋体" panose="02010600030101010101" pitchFamily="2" charset="-122"/>
              </a:rPr>
              <a:t>，使新样本特征描述维数比原维数降低。其中每个分量</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zh-CN" altLang="en-US" sz="2400" b="1" dirty="0">
                <a:latin typeface="宋体" panose="02010600030101010101" pitchFamily="2" charset="-122"/>
                <a:ea typeface="宋体" panose="02010600030101010101" pitchFamily="2" charset="-122"/>
              </a:rPr>
              <a:t>是原特征向量各分量的函数，即</a:t>
            </a:r>
            <a:r>
              <a:rPr lang="en-US" altLang="zh-CN" sz="2400" b="1" dirty="0">
                <a:latin typeface="宋体" panose="02010600030101010101" pitchFamily="2" charset="-122"/>
                <a:ea typeface="宋体" panose="02010600030101010101" pitchFamily="2" charset="-122"/>
              </a:rPr>
              <a:t>x</a:t>
            </a:r>
            <a:r>
              <a:rPr lang="en-US" altLang="zh-CN" sz="2400" b="1" baseline="-25000" dirty="0">
                <a:latin typeface="宋体" panose="02010600030101010101" pitchFamily="2" charset="-122"/>
                <a:ea typeface="宋体" panose="02010600030101010101" pitchFamily="2" charset="-122"/>
              </a:rPr>
              <a:t>i</a:t>
            </a:r>
            <a:r>
              <a:rPr lang="en-US" altLang="zh-CN" sz="2400" b="1" dirty="0">
                <a:latin typeface="宋体" panose="02010600030101010101" pitchFamily="2" charset="-122"/>
                <a:ea typeface="宋体" panose="02010600030101010101" pitchFamily="2" charset="-122"/>
              </a:rPr>
              <a:t>=W</a:t>
            </a:r>
            <a:r>
              <a:rPr lang="en-US" altLang="zh-CN" sz="2400" b="1" baseline="30000" dirty="0">
                <a:latin typeface="宋体" panose="02010600030101010101" pitchFamily="2" charset="-122"/>
                <a:ea typeface="宋体" panose="02010600030101010101" pitchFamily="2" charset="-122"/>
              </a:rPr>
              <a:t>T</a:t>
            </a:r>
            <a:r>
              <a:rPr lang="en-US" altLang="zh-CN" sz="2400" b="1" dirty="0">
                <a:latin typeface="宋体" panose="02010600030101010101" pitchFamily="2" charset="-122"/>
                <a:ea typeface="宋体" panose="02010600030101010101" pitchFamily="2" charset="-122"/>
              </a:rPr>
              <a:t>y</a:t>
            </a:r>
            <a:r>
              <a:rPr lang="en-US" altLang="zh-CN" sz="2400" b="1" baseline="-25000" dirty="0">
                <a:latin typeface="宋体" panose="02010600030101010101" pitchFamily="2" charset="-122"/>
                <a:ea typeface="宋体" panose="02010600030101010101" pitchFamily="2" charset="-122"/>
              </a:rPr>
              <a:t>i</a:t>
            </a:r>
            <a:r>
              <a:rPr lang="zh-CN" altLang="en-US" sz="2400" b="1" dirty="0">
                <a:latin typeface="宋体" panose="02010600030101010101" pitchFamily="2" charset="-122"/>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endParaRPr lang="zh-CN" altLang="en-US" sz="2400" b="1" dirty="0">
              <a:latin typeface="宋体" panose="02010600030101010101" pitchFamily="2" charset="-122"/>
              <a:ea typeface="宋体" panose="02010600030101010101" pitchFamily="2" charset="-122"/>
            </a:endParaRPr>
          </a:p>
        </p:txBody>
      </p:sp>
      <p:sp>
        <p:nvSpPr>
          <p:cNvPr id="16388" name="Rectangle 2"/>
          <p:cNvSpPr txBox="1"/>
          <p:nvPr/>
        </p:nvSpPr>
        <p:spPr>
          <a:xfrm>
            <a:off x="827088" y="996950"/>
            <a:ext cx="5111750"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None/>
            </a:pPr>
            <a:r>
              <a:rPr lang="zh-CN" altLang="en-US" sz="3600" b="1" dirty="0">
                <a:solidFill>
                  <a:srgbClr val="0033CC"/>
                </a:solidFill>
                <a:latin typeface="宋体" panose="02010600030101010101" pitchFamily="2" charset="-122"/>
                <a:ea typeface="宋体" panose="02010600030101010101" pitchFamily="2" charset="-122"/>
              </a:rPr>
              <a:t>特征优化的两种方法</a:t>
            </a:r>
            <a:endParaRPr lang="zh-CN" altLang="en-US" sz="3600" b="1" dirty="0">
              <a:solidFill>
                <a:srgbClr val="0033CC"/>
              </a:solidFill>
              <a:latin typeface="宋体" panose="02010600030101010101" pitchFamily="2" charset="-122"/>
              <a:ea typeface="宋体" panose="02010600030101010101" pitchFamily="2" charset="-122"/>
            </a:endParaRPr>
          </a:p>
        </p:txBody>
      </p:sp>
      <p:sp>
        <p:nvSpPr>
          <p:cNvPr id="16389" name="TextBox 4"/>
          <p:cNvSpPr txBox="1"/>
          <p:nvPr/>
        </p:nvSpPr>
        <p:spPr>
          <a:xfrm>
            <a:off x="5292725" y="11588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5.1   </a:t>
            </a:r>
            <a:r>
              <a:rPr lang="zh-CN" altLang="en-US" sz="3600" b="1" dirty="0">
                <a:solidFill>
                  <a:srgbClr val="0033CC"/>
                </a:solidFill>
                <a:ea typeface="宋体" panose="02010600030101010101" pitchFamily="2" charset="-122"/>
              </a:rPr>
              <a:t>引言</a:t>
            </a:r>
            <a:endParaRPr lang="zh-CN" altLang="en-US" sz="3600" b="1" dirty="0">
              <a:solidFill>
                <a:srgbClr val="0033CC"/>
              </a:solidFill>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3"/>
          <p:cNvSpPr>
            <a:spLocks noGrp="1"/>
          </p:cNvSpPr>
          <p:nvPr>
            <p:ph idx="1"/>
          </p:nvPr>
        </p:nvSpPr>
        <p:spPr>
          <a:xfrm>
            <a:off x="827088" y="1844675"/>
            <a:ext cx="7772400" cy="4608513"/>
          </a:xfrm>
        </p:spPr>
        <p:txBody>
          <a:bodyPr vert="horz" wrap="square" lIns="91440" tIns="45720" rIns="91440" bIns="45720" anchor="t" anchorCtr="0"/>
          <a:p>
            <a:pPr algn="just" eaLnBrk="1" latinLnBrk="0" hangingPunct="1">
              <a:lnSpc>
                <a:spcPct val="120000"/>
              </a:lnSpc>
              <a:spcBef>
                <a:spcPts val="0"/>
              </a:spcBef>
            </a:pPr>
            <a:r>
              <a:rPr lang="en-US" altLang="zh-CN" sz="2800" b="1" dirty="0">
                <a:ea typeface="宋体" panose="02010600030101010101" pitchFamily="2" charset="-122"/>
              </a:rPr>
              <a:t> </a:t>
            </a:r>
            <a:r>
              <a:rPr lang="zh-CN" altLang="en-US" sz="2800" b="1" dirty="0">
                <a:ea typeface="宋体" panose="02010600030101010101" pitchFamily="2" charset="-122"/>
              </a:rPr>
              <a:t>特征选择在概念上十分简单，</a:t>
            </a:r>
            <a:r>
              <a:rPr lang="zh-CN" altLang="en-US" sz="2800" b="1" dirty="0">
                <a:solidFill>
                  <a:srgbClr val="C00000"/>
                </a:solidFill>
                <a:ea typeface="宋体" panose="02010600030101010101" pitchFamily="2" charset="-122"/>
              </a:rPr>
              <a:t>即</a:t>
            </a:r>
            <a:r>
              <a:rPr lang="zh-CN" altLang="en-US" sz="2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对原有特征进行删选优化 </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800" b="1" dirty="0">
              <a:ea typeface="宋体" panose="02010600030101010101" pitchFamily="2" charset="-122"/>
            </a:endParaRPr>
          </a:p>
          <a:p>
            <a:pPr algn="just" eaLnBrk="1" latinLnBrk="0" hangingPunct="1">
              <a:lnSpc>
                <a:spcPct val="120000"/>
              </a:lnSpc>
              <a:spcBef>
                <a:spcPts val="0"/>
              </a:spcBef>
            </a:pPr>
            <a:r>
              <a:rPr lang="zh-CN" altLang="en-US" sz="2800" b="1" dirty="0">
                <a:ea typeface="宋体" panose="02010600030101010101" pitchFamily="2" charset="-122"/>
              </a:rPr>
              <a:t>一般人常想，只要逐个分析每个特征，判断它对分类的价值，然后根据其价值删去或保留，这是人们常采用的方法，但是这种方法并不能保证特征空间的最优组合优化，因此本节仅讨论一些原理上更好的方法。</a:t>
            </a:r>
            <a:endParaRPr lang="zh-CN" altLang="en-US" sz="2800" b="1" dirty="0">
              <a:ea typeface="宋体" panose="02010600030101010101" pitchFamily="2" charset="-122"/>
            </a:endParaRPr>
          </a:p>
        </p:txBody>
      </p:sp>
      <p:sp>
        <p:nvSpPr>
          <p:cNvPr id="17411"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8435" name="文本框 3"/>
          <p:cNvSpPr txBox="1"/>
          <p:nvPr/>
        </p:nvSpPr>
        <p:spPr>
          <a:xfrm>
            <a:off x="1008063" y="1846580"/>
            <a:ext cx="7127875" cy="336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a:lnSpc>
                <a:spcPct val="150000"/>
              </a:lnSpc>
              <a:spcBef>
                <a:spcPct val="0"/>
              </a:spcBef>
              <a:buClrTx/>
              <a:buSzTx/>
              <a:buFont typeface="Times New Roman" panose="02020603050405020304" pitchFamily="18" charset="0"/>
              <a:buAutoNum type="arabicPeriod"/>
            </a:pPr>
            <a:r>
              <a:rPr lang="zh-CN" altLang="en-US" sz="1800" b="1" dirty="0">
                <a:ea typeface="宋体" panose="02010600030101010101" pitchFamily="2" charset="-122"/>
              </a:rPr>
              <a:t>Filter:过滤法，按照发散性或者相关性对各特征进行评分，设定阈值或者待选择阈值的个数，选择特征。</a:t>
            </a:r>
            <a:endParaRPr lang="en-US" altLang="zh-CN" sz="1800" b="1" dirty="0">
              <a:ea typeface="宋体" panose="02010600030101010101" pitchFamily="2" charset="-122"/>
            </a:endParaRPr>
          </a:p>
          <a:p>
            <a:pPr marL="342900" lvl="0" indent="-342900">
              <a:lnSpc>
                <a:spcPct val="150000"/>
              </a:lnSpc>
              <a:spcBef>
                <a:spcPct val="0"/>
              </a:spcBef>
              <a:buClrTx/>
              <a:buSzTx/>
              <a:buFont typeface="Times New Roman" panose="02020603050405020304" pitchFamily="18" charset="0"/>
              <a:buAutoNum type="arabicPeriod"/>
            </a:pPr>
            <a:endParaRPr lang="en-US" altLang="zh-CN" sz="1800" b="1" dirty="0">
              <a:ea typeface="宋体" panose="02010600030101010101" pitchFamily="2" charset="-122"/>
            </a:endParaRPr>
          </a:p>
          <a:p>
            <a:pPr marL="342900" lvl="0" indent="-342900">
              <a:lnSpc>
                <a:spcPct val="150000"/>
              </a:lnSpc>
              <a:spcBef>
                <a:spcPct val="0"/>
              </a:spcBef>
              <a:buClrTx/>
              <a:buSzTx/>
              <a:buFont typeface="Times New Roman" panose="02020603050405020304" pitchFamily="18" charset="0"/>
              <a:buAutoNum type="arabicPeriod"/>
            </a:pPr>
            <a:r>
              <a:rPr lang="zh-CN" altLang="en-US" sz="1800" b="1" dirty="0">
                <a:ea typeface="宋体" panose="02010600030101010101" pitchFamily="2" charset="-122"/>
              </a:rPr>
              <a:t>Wrapper: 包装法，根据目标函数 (通常是预测效果评分)，每次选择若干特征，或者排除若干特征</a:t>
            </a:r>
            <a:endParaRPr lang="en-US" altLang="zh-CN" sz="1800" b="1" dirty="0">
              <a:ea typeface="宋体" panose="02010600030101010101" pitchFamily="2" charset="-122"/>
            </a:endParaRPr>
          </a:p>
          <a:p>
            <a:pPr marL="342900" lvl="0" indent="-342900">
              <a:lnSpc>
                <a:spcPct val="150000"/>
              </a:lnSpc>
              <a:spcBef>
                <a:spcPct val="0"/>
              </a:spcBef>
              <a:buClrTx/>
              <a:buSzTx/>
              <a:buFont typeface="Times New Roman" panose="02020603050405020304" pitchFamily="18" charset="0"/>
              <a:buAutoNum type="arabicPeriod"/>
            </a:pPr>
            <a:r>
              <a:rPr lang="zh-CN" altLang="en-US" sz="1800" b="1" dirty="0">
                <a:ea typeface="宋体" panose="02010600030101010101" pitchFamily="2" charset="-122"/>
              </a:rPr>
              <a:t>Embedded:嵌入法，先使用某些算法和模型进行训练，得到各个特征的权值系数，根据系数从大到小选择特征，类似于Filter方法，但是是通过训练来确定特征的优劣。</a:t>
            </a:r>
            <a:endParaRPr lang="zh-CN" altLang="en-US" sz="1800" b="1" dirty="0">
              <a:ea typeface="宋体" panose="02010600030101010101" pitchFamily="2" charset="-122"/>
            </a:endParaRPr>
          </a:p>
        </p:txBody>
      </p:sp>
      <p:sp>
        <p:nvSpPr>
          <p:cNvPr id="18436" name="文本框 5"/>
          <p:cNvSpPr txBox="1"/>
          <p:nvPr/>
        </p:nvSpPr>
        <p:spPr>
          <a:xfrm>
            <a:off x="755650" y="1268413"/>
            <a:ext cx="4616450" cy="425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lnSpc>
                <a:spcPct val="90000"/>
              </a:lnSpc>
              <a:spcBef>
                <a:spcPct val="0"/>
              </a:spcBef>
              <a:buClr>
                <a:srgbClr val="FF0000"/>
              </a:buClr>
              <a:buSzPct val="100000"/>
              <a:buFont typeface="Wingdings" panose="05000000000000000000" pitchFamily="2" charset="2"/>
              <a:buChar char="u"/>
            </a:pPr>
            <a:r>
              <a:rPr lang="zh-CN" altLang="en-US" sz="2400" b="1" dirty="0">
                <a:ea typeface="宋体" panose="02010600030101010101" pitchFamily="2" charset="-122"/>
              </a:rPr>
              <a:t>特征选择的方法：</a:t>
            </a:r>
            <a:endParaRPr lang="zh-CN" altLang="en-US" sz="2400" b="1" dirty="0">
              <a:ea typeface="宋体" panose="02010600030101010101" pitchFamily="2" charset="-122"/>
            </a:endParaRPr>
          </a:p>
        </p:txBody>
      </p:sp>
      <p:pic>
        <p:nvPicPr>
          <p:cNvPr id="18437" name="图片 6"/>
          <p:cNvPicPr>
            <a:picLocks noChangeAspect="1"/>
          </p:cNvPicPr>
          <p:nvPr/>
        </p:nvPicPr>
        <p:blipFill>
          <a:blip r:embed="rId1"/>
          <a:stretch>
            <a:fillRect/>
          </a:stretch>
        </p:blipFill>
        <p:spPr>
          <a:xfrm>
            <a:off x="441325" y="5451475"/>
            <a:ext cx="4491038" cy="1135063"/>
          </a:xfrm>
          <a:prstGeom prst="rect">
            <a:avLst/>
          </a:prstGeom>
          <a:noFill/>
          <a:ln w="9525">
            <a:noFill/>
          </a:ln>
        </p:spPr>
      </p:pic>
      <p:pic>
        <p:nvPicPr>
          <p:cNvPr id="18438" name="图片 7"/>
          <p:cNvPicPr>
            <a:picLocks noChangeAspect="1"/>
          </p:cNvPicPr>
          <p:nvPr/>
        </p:nvPicPr>
        <p:blipFill>
          <a:blip r:embed="rId2"/>
          <a:stretch>
            <a:fillRect/>
          </a:stretch>
        </p:blipFill>
        <p:spPr>
          <a:xfrm>
            <a:off x="5003800" y="5516563"/>
            <a:ext cx="3776663" cy="1135062"/>
          </a:xfrm>
          <a:prstGeom prst="rect">
            <a:avLst/>
          </a:prstGeom>
          <a:noFill/>
          <a:ln w="9525">
            <a:noFill/>
          </a:ln>
        </p:spPr>
      </p:pic>
      <p:pic>
        <p:nvPicPr>
          <p:cNvPr id="18439" name="图片 8"/>
          <p:cNvPicPr>
            <a:picLocks noChangeAspect="1"/>
          </p:cNvPicPr>
          <p:nvPr/>
        </p:nvPicPr>
        <p:blipFill>
          <a:blip r:embed="rId3"/>
          <a:stretch>
            <a:fillRect/>
          </a:stretch>
        </p:blipFill>
        <p:spPr>
          <a:xfrm>
            <a:off x="2124075" y="2710180"/>
            <a:ext cx="4572000" cy="481013"/>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945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19459" name="Rectangle 3"/>
          <p:cNvSpPr>
            <a:spLocks noGrp="1"/>
          </p:cNvSpPr>
          <p:nvPr>
            <p:ph type="body" idx="4294967295"/>
          </p:nvPr>
        </p:nvSpPr>
        <p:spPr>
          <a:xfrm>
            <a:off x="501650" y="1341438"/>
            <a:ext cx="8429625" cy="4343400"/>
          </a:xfrm>
        </p:spPr>
        <p:txBody>
          <a:bodyPr vert="horz" wrap="square" lIns="91440" tIns="45720" rIns="91440" bIns="45720" anchor="t" anchorCtr="0"/>
          <a:p>
            <a:pPr eaLnBrk="1" hangingPunct="1">
              <a:buClr>
                <a:srgbClr val="FF0000"/>
              </a:buClr>
              <a:buSzPct val="75000"/>
              <a:buFont typeface="Wingdings" panose="05000000000000000000" pitchFamily="2" charset="2"/>
              <a:buChar char="u"/>
            </a:pPr>
            <a:r>
              <a:rPr lang="zh-CN" altLang="en-US" sz="2800" b="1" dirty="0">
                <a:solidFill>
                  <a:srgbClr val="0066FF"/>
                </a:solidFill>
                <a:ea typeface="宋体" panose="02010600030101010101" pitchFamily="2" charset="-122"/>
              </a:rPr>
              <a:t>特征选择</a:t>
            </a:r>
            <a:r>
              <a:rPr lang="en-US" altLang="zh-CN" sz="2800" b="1" dirty="0">
                <a:ea typeface="宋体" panose="02010600030101010101" pitchFamily="2" charset="-122"/>
              </a:rPr>
              <a:t>:</a:t>
            </a:r>
            <a:r>
              <a:rPr lang="zh-CN" altLang="en-US" sz="2800" b="1" dirty="0">
                <a:ea typeface="宋体" panose="02010600030101010101" pitchFamily="2" charset="-122"/>
              </a:rPr>
              <a:t>从原始特征中挑选出一些最有代表性、分类性能最好的特征进行分类。</a:t>
            </a:r>
            <a:r>
              <a:rPr lang="zh-CN" altLang="en-US" sz="2800" b="1" dirty="0">
                <a:solidFill>
                  <a:srgbClr val="0066FF"/>
                </a:solidFill>
                <a:ea typeface="宋体" panose="02010600030101010101" pitchFamily="2" charset="-122"/>
              </a:rPr>
              <a:t>（可解释性好）</a:t>
            </a:r>
            <a:endParaRPr lang="zh-CN" altLang="en-US" sz="2800" b="1" dirty="0">
              <a:solidFill>
                <a:srgbClr val="0066FF"/>
              </a:solidFill>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800" b="1" dirty="0">
                <a:ea typeface="宋体" panose="02010600030101010101" pitchFamily="2" charset="-122"/>
              </a:rPr>
              <a:t>要解决两个问题：</a:t>
            </a:r>
            <a:endParaRPr lang="zh-CN" altLang="en-US" sz="2800" b="1" dirty="0">
              <a:ea typeface="宋体" panose="02010600030101010101" pitchFamily="2" charset="-122"/>
            </a:endParaRPr>
          </a:p>
          <a:p>
            <a:pPr lvl="1" eaLnBrk="1" hangingPunct="1">
              <a:buClr>
                <a:srgbClr val="FF0000"/>
              </a:buClr>
              <a:buFont typeface="Wingdings" panose="05000000000000000000" pitchFamily="2" charset="2"/>
              <a:buChar char="Ø"/>
            </a:pPr>
            <a:r>
              <a:rPr lang="zh-CN" altLang="en-US" b="1" dirty="0">
                <a:ea typeface="宋体" panose="02010600030101010101" pitchFamily="2" charset="-122"/>
              </a:rPr>
              <a:t>选择的标准，如</a:t>
            </a:r>
            <a:r>
              <a:rPr lang="zh-CN" altLang="en-US" b="1" dirty="0">
                <a:solidFill>
                  <a:srgbClr val="C00000"/>
                </a:solidFill>
                <a:ea typeface="宋体" panose="02010600030101010101" pitchFamily="2" charset="-122"/>
              </a:rPr>
              <a:t>可分离性判据</a:t>
            </a:r>
            <a:endParaRPr lang="zh-CN" altLang="en-US" b="1" dirty="0">
              <a:solidFill>
                <a:srgbClr val="C00000"/>
              </a:solidFill>
              <a:ea typeface="宋体" panose="02010600030101010101" pitchFamily="2" charset="-122"/>
            </a:endParaRPr>
          </a:p>
          <a:p>
            <a:pPr lvl="1" eaLnBrk="1" hangingPunct="1">
              <a:buClr>
                <a:srgbClr val="FF0000"/>
              </a:buClr>
              <a:buFont typeface="Wingdings" panose="05000000000000000000" pitchFamily="2" charset="2"/>
              <a:buChar char="Ø"/>
            </a:pPr>
            <a:r>
              <a:rPr lang="zh-CN" altLang="en-US" b="1" dirty="0">
                <a:ea typeface="宋体" panose="02010600030101010101" pitchFamily="2" charset="-122"/>
              </a:rPr>
              <a:t>快速特征子集搜索算法 </a:t>
            </a:r>
            <a:endParaRPr lang="zh-CN" altLang="en-US" b="1" dirty="0">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800" b="1" dirty="0">
                <a:ea typeface="宋体" panose="02010600030101010101" pitchFamily="2" charset="-122"/>
              </a:rPr>
              <a:t>从</a:t>
            </a:r>
            <a:r>
              <a:rPr lang="en-US" altLang="zh-CN" sz="2800" b="1" i="1" dirty="0">
                <a:ea typeface="宋体" panose="02010600030101010101" pitchFamily="2" charset="-122"/>
              </a:rPr>
              <a:t>D</a:t>
            </a:r>
            <a:r>
              <a:rPr lang="zh-CN" altLang="en-US" sz="2800" b="1" dirty="0">
                <a:ea typeface="宋体" panose="02010600030101010101" pitchFamily="2" charset="-122"/>
              </a:rPr>
              <a:t>个特征中选取</a:t>
            </a:r>
            <a:r>
              <a:rPr lang="en-US" altLang="zh-CN" sz="2800" b="1" i="1" dirty="0">
                <a:ea typeface="宋体" panose="02010600030101010101" pitchFamily="2" charset="-122"/>
              </a:rPr>
              <a:t>d</a:t>
            </a:r>
            <a:r>
              <a:rPr lang="zh-CN" altLang="en-US" sz="2800" b="1" dirty="0">
                <a:ea typeface="宋体" panose="02010600030101010101" pitchFamily="2" charset="-122"/>
              </a:rPr>
              <a:t>个</a:t>
            </a:r>
            <a:r>
              <a:rPr lang="en-US" altLang="zh-CN" sz="2800" b="1" dirty="0">
                <a:ea typeface="宋体" panose="02010600030101010101" pitchFamily="2" charset="-122"/>
              </a:rPr>
              <a:t>,</a:t>
            </a:r>
            <a:r>
              <a:rPr lang="zh-CN" altLang="en-US" sz="2800" b="1" dirty="0">
                <a:ea typeface="宋体" panose="02010600030101010101" pitchFamily="2" charset="-122"/>
              </a:rPr>
              <a:t>共</a:t>
            </a:r>
            <a:r>
              <a:rPr lang="en-US" altLang="zh-CN" sz="2800" b="1" dirty="0">
                <a:ea typeface="宋体" panose="02010600030101010101" pitchFamily="2" charset="-122"/>
              </a:rPr>
              <a:t>      </a:t>
            </a:r>
            <a:r>
              <a:rPr lang="zh-CN" altLang="en-US" sz="2800" b="1" dirty="0">
                <a:ea typeface="宋体" panose="02010600030101010101" pitchFamily="2" charset="-122"/>
              </a:rPr>
              <a:t>种组合。若不限定特征选择个数，则共</a:t>
            </a:r>
            <a:r>
              <a:rPr lang="en-US" altLang="zh-CN" sz="2800" b="1" dirty="0">
                <a:ea typeface="宋体" panose="02010600030101010101" pitchFamily="2" charset="-122"/>
              </a:rPr>
              <a:t>2</a:t>
            </a:r>
            <a:r>
              <a:rPr lang="en-US" altLang="zh-CN" sz="2800" b="1" baseline="30000" dirty="0">
                <a:ea typeface="宋体" panose="02010600030101010101" pitchFamily="2" charset="-122"/>
              </a:rPr>
              <a:t>D</a:t>
            </a:r>
            <a:r>
              <a:rPr lang="zh-CN" altLang="en-US" sz="2800" b="1" dirty="0">
                <a:ea typeface="宋体" panose="02010600030101010101" pitchFamily="2" charset="-122"/>
              </a:rPr>
              <a:t>种组合</a:t>
            </a:r>
            <a:br>
              <a:rPr lang="zh-CN" altLang="en-US" sz="2800" b="1" dirty="0">
                <a:ea typeface="宋体" panose="02010600030101010101" pitchFamily="2" charset="-122"/>
              </a:rPr>
            </a:br>
            <a:r>
              <a:rPr lang="zh-CN" altLang="en-US" sz="2800" b="1" dirty="0">
                <a:ea typeface="宋体" panose="02010600030101010101" pitchFamily="2" charset="-122"/>
              </a:rPr>
              <a:t>－  典型的</a:t>
            </a:r>
            <a:r>
              <a:rPr lang="zh-CN" altLang="en-US" sz="2800" b="1" dirty="0">
                <a:solidFill>
                  <a:srgbClr val="0066FF"/>
                </a:solidFill>
                <a:ea typeface="宋体" panose="02010600030101010101" pitchFamily="2" charset="-122"/>
              </a:rPr>
              <a:t>组合优化问题</a:t>
            </a:r>
            <a:endParaRPr lang="zh-CN" altLang="en-US" sz="2800" b="1" dirty="0">
              <a:solidFill>
                <a:srgbClr val="0066FF"/>
              </a:solidFill>
              <a:ea typeface="宋体" panose="02010600030101010101" pitchFamily="2" charset="-122"/>
            </a:endParaRPr>
          </a:p>
          <a:p>
            <a:pPr eaLnBrk="1" hangingPunct="1">
              <a:buClr>
                <a:srgbClr val="FF0000"/>
              </a:buClr>
              <a:buSzPct val="75000"/>
              <a:buFont typeface="Wingdings" panose="05000000000000000000" pitchFamily="2" charset="2"/>
              <a:buChar char="u"/>
            </a:pPr>
            <a:endParaRPr lang="en-US" altLang="zh-CN" sz="2800" b="1" dirty="0">
              <a:ea typeface="宋体" panose="02010600030101010101" pitchFamily="2" charset="-122"/>
            </a:endParaRPr>
          </a:p>
        </p:txBody>
      </p:sp>
      <p:graphicFrame>
        <p:nvGraphicFramePr>
          <p:cNvPr id="19460" name="对象 1"/>
          <p:cNvGraphicFramePr>
            <a:graphicFrameLocks noChangeAspect="1"/>
          </p:cNvGraphicFramePr>
          <p:nvPr/>
        </p:nvGraphicFramePr>
        <p:xfrm>
          <a:off x="4694238" y="3810000"/>
          <a:ext cx="468312" cy="523875"/>
        </p:xfrm>
        <a:graphic>
          <a:graphicData uri="http://schemas.openxmlformats.org/presentationml/2006/ole">
            <mc:AlternateContent xmlns:mc="http://schemas.openxmlformats.org/markup-compatibility/2006">
              <mc:Choice xmlns:v="urn:schemas-microsoft-com:vml" Requires="v">
                <p:oleObj spid="_x0000_s3077" name="" r:id="rId1" imgW="215900" imgH="241300" progId="Equation.DSMT4">
                  <p:embed/>
                </p:oleObj>
              </mc:Choice>
              <mc:Fallback>
                <p:oleObj name="" r:id="rId1" imgW="215900" imgH="241300" progId="Equation.DSMT4">
                  <p:embed/>
                  <p:pic>
                    <p:nvPicPr>
                      <p:cNvPr id="0" name="图片 3076"/>
                      <p:cNvPicPr/>
                      <p:nvPr/>
                    </p:nvPicPr>
                    <p:blipFill>
                      <a:blip r:embed="rId2"/>
                      <a:stretch>
                        <a:fillRect/>
                      </a:stretch>
                    </p:blipFill>
                    <p:spPr>
                      <a:xfrm>
                        <a:off x="4694238" y="3810000"/>
                        <a:ext cx="468312" cy="523875"/>
                      </a:xfrm>
                      <a:prstGeom prst="rect">
                        <a:avLst/>
                      </a:prstGeom>
                      <a:noFill/>
                      <a:ln w="38100">
                        <a:noFill/>
                        <a:miter/>
                      </a:ln>
                    </p:spPr>
                  </p:pic>
                </p:oleObj>
              </mc:Fallback>
            </mc:AlternateContent>
          </a:graphicData>
        </a:graphic>
      </p:graphicFrame>
    </p:spTree>
  </p:cSld>
  <p:clrMapOvr>
    <a:overrideClrMapping bg1="lt1" tx1="dk1" bg2="lt2" tx2="dk2" accent1="accent1" accent2="accent2" accent3="accent3" accent4="accent4" accent5="accent5" accent6="accent6" hlink="hlink" folHlink="folHlink"/>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20483" name="Picture 2"/>
          <p:cNvPicPr>
            <a:picLocks noChangeAspect="1"/>
          </p:cNvPicPr>
          <p:nvPr/>
        </p:nvPicPr>
        <p:blipFill>
          <a:blip r:embed="rId1"/>
          <a:stretch>
            <a:fillRect/>
          </a:stretch>
        </p:blipFill>
        <p:spPr>
          <a:xfrm>
            <a:off x="796925" y="1052513"/>
            <a:ext cx="3487738" cy="5276850"/>
          </a:xfrm>
          <a:prstGeom prst="rect">
            <a:avLst/>
          </a:prstGeom>
          <a:noFill/>
          <a:ln w="9525">
            <a:noFill/>
          </a:ln>
        </p:spPr>
      </p:pic>
      <p:pic>
        <p:nvPicPr>
          <p:cNvPr id="20484" name="Picture 4"/>
          <p:cNvPicPr>
            <a:picLocks noChangeAspect="1"/>
          </p:cNvPicPr>
          <p:nvPr/>
        </p:nvPicPr>
        <p:blipFill>
          <a:blip r:embed="rId2"/>
          <a:stretch>
            <a:fillRect/>
          </a:stretch>
        </p:blipFill>
        <p:spPr>
          <a:xfrm>
            <a:off x="4937125" y="1052513"/>
            <a:ext cx="3487738" cy="5276850"/>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21507" name="Rectangle 2"/>
          <p:cNvSpPr>
            <a:spLocks noGrp="1"/>
          </p:cNvSpPr>
          <p:nvPr>
            <p:ph idx="1"/>
          </p:nvPr>
        </p:nvSpPr>
        <p:spPr>
          <a:xfrm>
            <a:off x="685800" y="1125538"/>
            <a:ext cx="7772400" cy="4606925"/>
          </a:xfrm>
        </p:spPr>
        <p:txBody>
          <a:bodyPr vert="horz" wrap="square" lIns="91440" tIns="45720" rIns="91440" bIns="45720" anchor="t" anchorCtr="0"/>
          <a:p>
            <a:pPr algn="just" eaLnBrk="1" hangingPunct="1">
              <a:lnSpc>
                <a:spcPct val="90000"/>
              </a:lnSpc>
              <a:buClr>
                <a:srgbClr val="FF0000"/>
              </a:buClr>
              <a:buSzPct val="100000"/>
              <a:buFont typeface="Wingdings" panose="05000000000000000000" pitchFamily="2" charset="2"/>
              <a:buChar char="u"/>
            </a:pPr>
            <a:r>
              <a:rPr lang="zh-CN" altLang="en-US" sz="2900" b="1" dirty="0">
                <a:ea typeface="宋体" panose="02010600030101010101" pitchFamily="2" charset="-122"/>
              </a:rPr>
              <a:t>特征选择的方法：</a:t>
            </a:r>
            <a:endParaRPr lang="zh-CN" altLang="en-US" sz="2900" b="1" dirty="0">
              <a:ea typeface="宋体" panose="02010600030101010101" pitchFamily="2" charset="-122"/>
            </a:endParaRPr>
          </a:p>
          <a:p>
            <a:pPr lvl="1" algn="just" eaLnBrk="1" hangingPunct="1">
              <a:lnSpc>
                <a:spcPct val="90000"/>
              </a:lnSpc>
              <a:spcBef>
                <a:spcPts val="1000"/>
              </a:spcBef>
              <a:buFont typeface="Wingdings" panose="05000000000000000000" pitchFamily="2" charset="2"/>
              <a:buChar char="Ø"/>
            </a:pPr>
            <a:r>
              <a:rPr lang="zh-CN" altLang="en-US" b="1" dirty="0">
                <a:solidFill>
                  <a:srgbClr val="FF0000"/>
                </a:solidFill>
                <a:ea typeface="宋体" panose="02010600030101010101" pitchFamily="2" charset="-122"/>
              </a:rPr>
              <a:t>是否直接考虑分类器性能</a:t>
            </a:r>
            <a:endParaRPr lang="zh-CN" altLang="en-US" b="1" dirty="0">
              <a:solidFill>
                <a:srgbClr val="FF0000"/>
              </a:solidFill>
              <a:ea typeface="宋体" panose="02010600030101010101" pitchFamily="2" charset="-122"/>
            </a:endParaRPr>
          </a:p>
          <a:p>
            <a:pPr lvl="2" algn="just" eaLnBrk="1" hangingPunct="1">
              <a:lnSpc>
                <a:spcPct val="120000"/>
              </a:lnSpc>
              <a:spcBef>
                <a:spcPts val="1000"/>
              </a:spcBef>
              <a:buFont typeface="Wingdings" panose="05000000000000000000" pitchFamily="2" charset="2"/>
              <a:buChar char="n"/>
            </a:pPr>
            <a:r>
              <a:rPr lang="en-US" altLang="zh-CN" b="1" dirty="0">
                <a:solidFill>
                  <a:srgbClr val="0066FF"/>
                </a:solidFill>
                <a:ea typeface="宋体" panose="02010600030101010101" pitchFamily="2" charset="-122"/>
              </a:rPr>
              <a:t>Filter</a:t>
            </a:r>
            <a:r>
              <a:rPr lang="zh-CN" altLang="en-US" b="1" dirty="0">
                <a:solidFill>
                  <a:srgbClr val="0066FF"/>
                </a:solidFill>
                <a:ea typeface="宋体" panose="02010600030101010101" pitchFamily="2" charset="-122"/>
              </a:rPr>
              <a:t>方法</a:t>
            </a:r>
            <a:r>
              <a:rPr lang="zh-CN" altLang="en-US" b="1" dirty="0">
                <a:ea typeface="宋体" panose="02010600030101010101" pitchFamily="2" charset="-122"/>
              </a:rPr>
              <a:t>：根据独立于分类器的指标</a:t>
            </a:r>
            <a:r>
              <a:rPr lang="en-US" altLang="zh-CN" b="1" i="1" dirty="0">
                <a:solidFill>
                  <a:srgbClr val="0066FF"/>
                </a:solidFill>
                <a:ea typeface="宋体" panose="02010600030101010101" pitchFamily="2" charset="-122"/>
              </a:rPr>
              <a:t>J</a:t>
            </a:r>
            <a:r>
              <a:rPr lang="zh-CN" altLang="en-US" b="1" dirty="0">
                <a:ea typeface="宋体" panose="02010600030101010101" pitchFamily="2" charset="-122"/>
              </a:rPr>
              <a:t>来评价所选择的特征子集</a:t>
            </a:r>
            <a:r>
              <a:rPr lang="en-US" altLang="zh-CN" b="1" dirty="0">
                <a:ea typeface="宋体" panose="02010600030101010101" pitchFamily="2" charset="-122"/>
              </a:rPr>
              <a:t>S</a:t>
            </a:r>
            <a:r>
              <a:rPr lang="zh-CN" altLang="en-US" b="1" dirty="0">
                <a:ea typeface="宋体" panose="02010600030101010101" pitchFamily="2" charset="-122"/>
              </a:rPr>
              <a:t>，在所有可能的特征子集中搜索出使得</a:t>
            </a:r>
            <a:r>
              <a:rPr lang="en-US" altLang="zh-CN" b="1" i="1" dirty="0">
                <a:solidFill>
                  <a:srgbClr val="0066FF"/>
                </a:solidFill>
                <a:ea typeface="宋体" panose="02010600030101010101" pitchFamily="2" charset="-122"/>
              </a:rPr>
              <a:t>J</a:t>
            </a:r>
            <a:r>
              <a:rPr lang="zh-CN" altLang="en-US" b="1" dirty="0">
                <a:solidFill>
                  <a:srgbClr val="0066FF"/>
                </a:solidFill>
                <a:ea typeface="宋体" panose="02010600030101010101" pitchFamily="2" charset="-122"/>
              </a:rPr>
              <a:t>最大</a:t>
            </a:r>
            <a:r>
              <a:rPr lang="zh-CN" altLang="en-US" b="1" dirty="0">
                <a:ea typeface="宋体" panose="02010600030101010101" pitchFamily="2" charset="-122"/>
              </a:rPr>
              <a:t>的特征子集作为</a:t>
            </a:r>
            <a:r>
              <a:rPr lang="zh-CN" altLang="en-US" b="1" dirty="0">
                <a:solidFill>
                  <a:srgbClr val="0066FF"/>
                </a:solidFill>
                <a:ea typeface="宋体" panose="02010600030101010101" pitchFamily="2" charset="-122"/>
              </a:rPr>
              <a:t>最优特征子集</a:t>
            </a:r>
            <a:r>
              <a:rPr lang="zh-CN" altLang="en-US" b="1" dirty="0">
                <a:ea typeface="宋体" panose="02010600030101010101" pitchFamily="2" charset="-122"/>
              </a:rPr>
              <a:t>。不考虑所使用的学习算法。</a:t>
            </a:r>
            <a:endParaRPr lang="zh-CN" altLang="en-US" b="1" dirty="0">
              <a:ea typeface="宋体" panose="02010600030101010101" pitchFamily="2" charset="-122"/>
            </a:endParaRPr>
          </a:p>
          <a:p>
            <a:pPr lvl="2" algn="just" eaLnBrk="1" hangingPunct="1">
              <a:lnSpc>
                <a:spcPct val="120000"/>
              </a:lnSpc>
              <a:spcBef>
                <a:spcPts val="1000"/>
              </a:spcBef>
              <a:buFont typeface="Wingdings" panose="05000000000000000000" pitchFamily="2" charset="2"/>
              <a:buChar char="n"/>
            </a:pPr>
            <a:r>
              <a:rPr lang="en-US" altLang="zh-CN" b="1" dirty="0">
                <a:solidFill>
                  <a:srgbClr val="0066FF"/>
                </a:solidFill>
                <a:ea typeface="宋体" panose="02010600030101010101" pitchFamily="2" charset="-122"/>
              </a:rPr>
              <a:t>Wrapper</a:t>
            </a:r>
            <a:r>
              <a:rPr lang="zh-CN" altLang="en-US" b="1" dirty="0">
                <a:solidFill>
                  <a:srgbClr val="0066FF"/>
                </a:solidFill>
                <a:ea typeface="宋体" panose="02010600030101010101" pitchFamily="2" charset="-122"/>
              </a:rPr>
              <a:t>方法</a:t>
            </a:r>
            <a:r>
              <a:rPr lang="zh-CN" altLang="en-US" b="1" dirty="0">
                <a:ea typeface="宋体" panose="02010600030101010101" pitchFamily="2" charset="-122"/>
              </a:rPr>
              <a:t>：将特征选择和分类器结合在一起，在分类过程中表现优异的的特征子集会被选中。</a:t>
            </a:r>
            <a:endParaRPr lang="zh-CN" altLang="en-US" b="1" dirty="0">
              <a:ea typeface="宋体" panose="02010600030101010101" pitchFamily="2" charset="-122"/>
            </a:endParaRPr>
          </a:p>
          <a:p>
            <a:pPr lvl="1" algn="just" eaLnBrk="1" hangingPunct="1">
              <a:lnSpc>
                <a:spcPct val="90000"/>
              </a:lnSpc>
              <a:spcBef>
                <a:spcPts val="1000"/>
              </a:spcBef>
              <a:buFont typeface="Wingdings" panose="05000000000000000000" pitchFamily="2" charset="2"/>
              <a:buChar char="Ø"/>
            </a:pPr>
            <a:r>
              <a:rPr lang="zh-CN" altLang="en-US" sz="3100" b="1" dirty="0">
                <a:solidFill>
                  <a:srgbClr val="FF0000"/>
                </a:solidFill>
                <a:ea typeface="宋体" panose="02010600030101010101" pitchFamily="2" charset="-122"/>
              </a:rPr>
              <a:t>选择特征的顺序：</a:t>
            </a:r>
            <a:endParaRPr lang="zh-CN" altLang="en-US" sz="3100" b="1" dirty="0">
              <a:solidFill>
                <a:srgbClr val="FF0000"/>
              </a:solidFill>
              <a:ea typeface="宋体" panose="02010600030101010101" pitchFamily="2" charset="-122"/>
            </a:endParaRPr>
          </a:p>
          <a:p>
            <a:pPr lvl="2" algn="just" eaLnBrk="1" hangingPunct="1">
              <a:lnSpc>
                <a:spcPct val="90000"/>
              </a:lnSpc>
              <a:spcBef>
                <a:spcPts val="1000"/>
              </a:spcBef>
            </a:pPr>
            <a:r>
              <a:rPr lang="zh-CN" altLang="en-US" b="1" dirty="0">
                <a:ea typeface="宋体" panose="02010600030101010101" pitchFamily="2" charset="-122"/>
              </a:rPr>
              <a:t>自下而上：特征数从零逐步增加到</a:t>
            </a:r>
            <a:r>
              <a:rPr lang="en-US" altLang="zh-CN" b="1" dirty="0">
                <a:ea typeface="宋体" panose="02010600030101010101" pitchFamily="2" charset="-122"/>
              </a:rPr>
              <a:t>d</a:t>
            </a:r>
            <a:r>
              <a:rPr lang="zh-CN" altLang="en-US" b="1" dirty="0">
                <a:ea typeface="宋体" panose="02010600030101010101" pitchFamily="2" charset="-122"/>
              </a:rPr>
              <a:t>。</a:t>
            </a:r>
            <a:endParaRPr lang="zh-CN" altLang="en-US" b="1" dirty="0">
              <a:ea typeface="宋体" panose="02010600030101010101" pitchFamily="2" charset="-122"/>
            </a:endParaRPr>
          </a:p>
          <a:p>
            <a:pPr lvl="2" algn="just" eaLnBrk="1" hangingPunct="1">
              <a:lnSpc>
                <a:spcPct val="90000"/>
              </a:lnSpc>
              <a:spcBef>
                <a:spcPts val="1000"/>
              </a:spcBef>
            </a:pPr>
            <a:r>
              <a:rPr lang="zh-CN" altLang="en-US" b="1" dirty="0">
                <a:ea typeface="宋体" panose="02010600030101010101" pitchFamily="2" charset="-122"/>
              </a:rPr>
              <a:t>自上而下：特征数从</a:t>
            </a:r>
            <a:r>
              <a:rPr lang="en-US" altLang="zh-CN" b="1" dirty="0">
                <a:ea typeface="宋体" panose="02010600030101010101" pitchFamily="2" charset="-122"/>
              </a:rPr>
              <a:t>D</a:t>
            </a:r>
            <a:r>
              <a:rPr lang="zh-CN" altLang="en-US" b="1" dirty="0">
                <a:ea typeface="宋体" panose="02010600030101010101" pitchFamily="2" charset="-122"/>
              </a:rPr>
              <a:t>开始逐步减少到</a:t>
            </a:r>
            <a:r>
              <a:rPr lang="en-US" altLang="zh-CN" b="1" dirty="0">
                <a:ea typeface="宋体" panose="02010600030101010101" pitchFamily="2" charset="-122"/>
              </a:rPr>
              <a:t>d</a:t>
            </a:r>
            <a:r>
              <a:rPr lang="zh-CN" altLang="en-US" b="1" dirty="0">
                <a:ea typeface="宋体" panose="02010600030101010101" pitchFamily="2" charset="-122"/>
              </a:rPr>
              <a:t>。</a:t>
            </a:r>
            <a:endParaRPr lang="zh-CN" altLang="en-US" b="1" dirty="0">
              <a:ea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22531" name="Rectangle 2"/>
          <p:cNvSpPr txBox="1"/>
          <p:nvPr/>
        </p:nvSpPr>
        <p:spPr>
          <a:xfrm>
            <a:off x="925513" y="709613"/>
            <a:ext cx="6742112" cy="76835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4400" b="1" dirty="0">
                <a:solidFill>
                  <a:srgbClr val="FF0000"/>
                </a:solidFill>
                <a:latin typeface="宋体" panose="02010600030101010101" pitchFamily="2" charset="-122"/>
                <a:ea typeface="宋体" panose="02010600030101010101" pitchFamily="2" charset="-122"/>
              </a:rPr>
              <a:t>特征选择</a:t>
            </a:r>
            <a:endParaRPr lang="zh-CN" altLang="en-US" sz="4400" b="1" dirty="0">
              <a:solidFill>
                <a:srgbClr val="FF0000"/>
              </a:solidFill>
              <a:latin typeface="宋体" panose="02010600030101010101" pitchFamily="2" charset="-122"/>
              <a:ea typeface="宋体" panose="02010600030101010101" pitchFamily="2" charset="-122"/>
            </a:endParaRPr>
          </a:p>
        </p:txBody>
      </p:sp>
      <p:sp>
        <p:nvSpPr>
          <p:cNvPr id="22532" name="TextBox 3"/>
          <p:cNvSpPr txBox="1"/>
          <p:nvPr/>
        </p:nvSpPr>
        <p:spPr>
          <a:xfrm>
            <a:off x="1763713" y="1989138"/>
            <a:ext cx="6192837" cy="3216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5.1 </a:t>
            </a:r>
            <a:r>
              <a:rPr lang="zh-CN" altLang="en-US" sz="3600" b="1" dirty="0">
                <a:latin typeface="黑体" panose="02010609060101010101" pitchFamily="49" charset="-122"/>
                <a:ea typeface="黑体" panose="02010609060101010101" pitchFamily="49" charset="-122"/>
              </a:rPr>
              <a:t>引言</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solidFill>
                  <a:srgbClr val="0066FF"/>
                </a:solidFill>
                <a:latin typeface="黑体" panose="02010609060101010101" pitchFamily="49" charset="-122"/>
                <a:ea typeface="黑体" panose="02010609060101010101" pitchFamily="49" charset="-122"/>
              </a:rPr>
              <a:t>5.2 </a:t>
            </a:r>
            <a:r>
              <a:rPr lang="zh-CN" altLang="en-US" sz="3600" b="1" dirty="0">
                <a:solidFill>
                  <a:srgbClr val="0066FF"/>
                </a:solidFill>
                <a:latin typeface="黑体" panose="02010609060101010101" pitchFamily="49" charset="-122"/>
                <a:ea typeface="黑体" panose="02010609060101010101" pitchFamily="49" charset="-122"/>
              </a:rPr>
              <a:t>类别可分离性判据</a:t>
            </a:r>
            <a:endParaRPr lang="en-US" altLang="zh-CN" sz="3600" b="1" dirty="0">
              <a:solidFill>
                <a:srgbClr val="0066FF"/>
              </a:solidFill>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5.3 </a:t>
            </a:r>
            <a:r>
              <a:rPr lang="zh-CN" altLang="en-US" sz="3600" b="1" dirty="0">
                <a:latin typeface="黑体" panose="02010609060101010101" pitchFamily="49" charset="-122"/>
                <a:ea typeface="黑体" panose="02010609060101010101" pitchFamily="49" charset="-122"/>
              </a:rPr>
              <a:t>特征子集的搜索策略</a:t>
            </a:r>
            <a:endParaRPr lang="zh-CN" altLang="en-US" sz="3600" b="1" dirty="0">
              <a:latin typeface="黑体" panose="02010609060101010101" pitchFamily="49" charset="-122"/>
              <a:ea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Rectangle 1027"/>
          <p:cNvSpPr>
            <a:spLocks noGrp="1"/>
          </p:cNvSpPr>
          <p:nvPr>
            <p:ph type="body" idx="4294967295"/>
          </p:nvPr>
        </p:nvSpPr>
        <p:spPr>
          <a:xfrm>
            <a:off x="179705" y="1981200"/>
            <a:ext cx="8839200" cy="3534410"/>
          </a:xfrm>
        </p:spPr>
        <p:txBody>
          <a:bodyPr vert="horz" wrap="square" lIns="90488" tIns="44450" rIns="90488" bIns="44450" anchor="t" anchorCtr="0">
            <a:spAutoFit/>
          </a:bodyPr>
          <a:p>
            <a:pPr marL="381000" indent="-381000" eaLnBrk="1" hangingPunct="1">
              <a:lnSpc>
                <a:spcPct val="110000"/>
              </a:lnSpc>
            </a:pPr>
            <a:r>
              <a:rPr lang="zh-CN" altLang="en-US" sz="2800" b="1" dirty="0">
                <a:ea typeface="宋体" panose="02010600030101010101" pitchFamily="2" charset="-122"/>
              </a:rPr>
              <a:t>特征选择任务是从</a:t>
            </a:r>
            <a:r>
              <a:rPr lang="en-US" altLang="zh-CN" sz="2800" b="1" i="1" dirty="0">
                <a:ea typeface="宋体" panose="02010600030101010101" pitchFamily="2" charset="-122"/>
              </a:rPr>
              <a:t>n</a:t>
            </a:r>
            <a:r>
              <a:rPr lang="zh-CN" altLang="en-US" sz="2800" b="1" dirty="0">
                <a:ea typeface="宋体" panose="02010600030101010101" pitchFamily="2" charset="-122"/>
              </a:rPr>
              <a:t>个特征中求出对分类最有效的</a:t>
            </a:r>
            <a:r>
              <a:rPr lang="en-US" altLang="zh-CN" sz="2800" b="1" i="1" dirty="0">
                <a:ea typeface="宋体" panose="02010600030101010101" pitchFamily="2" charset="-122"/>
              </a:rPr>
              <a:t>m</a:t>
            </a:r>
            <a:r>
              <a:rPr lang="zh-CN" altLang="en-US" sz="2800" b="1" dirty="0">
                <a:ea typeface="宋体" panose="02010600030101010101" pitchFamily="2" charset="-122"/>
              </a:rPr>
              <a:t>个特征</a:t>
            </a:r>
            <a:r>
              <a:rPr lang="en-US" altLang="zh-CN" sz="2800" b="1" dirty="0">
                <a:ea typeface="宋体" panose="02010600030101010101" pitchFamily="2" charset="-122"/>
              </a:rPr>
              <a:t>(</a:t>
            </a:r>
            <a:r>
              <a:rPr lang="en-US" altLang="zh-CN" sz="2800" b="1" i="1" dirty="0">
                <a:ea typeface="宋体" panose="02010600030101010101" pitchFamily="2" charset="-122"/>
              </a:rPr>
              <a:t>m</a:t>
            </a:r>
            <a:r>
              <a:rPr lang="zh-CN" altLang="en-US" sz="2800" b="1" i="1" dirty="0">
                <a:ea typeface="宋体" panose="02010600030101010101" pitchFamily="2" charset="-122"/>
              </a:rPr>
              <a:t>＜</a:t>
            </a:r>
            <a:r>
              <a:rPr lang="en-US" altLang="zh-CN" sz="2800" b="1" i="1" dirty="0">
                <a:ea typeface="宋体" panose="02010600030101010101" pitchFamily="2" charset="-122"/>
              </a:rPr>
              <a:t>n</a:t>
            </a:r>
            <a:r>
              <a:rPr lang="en-US" altLang="zh-CN" sz="2800" b="1" dirty="0">
                <a:ea typeface="宋体" panose="02010600030101010101" pitchFamily="2" charset="-122"/>
              </a:rPr>
              <a:t>)</a:t>
            </a:r>
            <a:r>
              <a:rPr lang="zh-CN" altLang="en-US" sz="2800" b="1" dirty="0">
                <a:ea typeface="宋体" panose="02010600030101010101" pitchFamily="2" charset="-122"/>
              </a:rPr>
              <a:t>。</a:t>
            </a:r>
            <a:endParaRPr lang="zh-CN" altLang="en-US" sz="2800" b="1" dirty="0">
              <a:ea typeface="宋体" panose="02010600030101010101" pitchFamily="2" charset="-122"/>
            </a:endParaRPr>
          </a:p>
          <a:p>
            <a:pPr marL="381000" indent="-381000" eaLnBrk="1" hangingPunct="1">
              <a:lnSpc>
                <a:spcPct val="110000"/>
              </a:lnSpc>
            </a:pPr>
            <a:r>
              <a:rPr lang="zh-CN" altLang="en-US" sz="2800" b="1" dirty="0">
                <a:ea typeface="宋体" panose="02010600030101010101" pitchFamily="2" charset="-122"/>
              </a:rPr>
              <a:t>对于</a:t>
            </a:r>
            <a:r>
              <a:rPr lang="zh-CN" altLang="en-US" sz="2800" b="1" dirty="0">
                <a:solidFill>
                  <a:srgbClr val="0066FF"/>
                </a:solidFill>
                <a:ea typeface="宋体" panose="02010600030101010101" pitchFamily="2" charset="-122"/>
              </a:rPr>
              <a:t>特征选择</a:t>
            </a:r>
            <a:r>
              <a:rPr lang="zh-CN" altLang="en-US" sz="2800" b="1" dirty="0">
                <a:ea typeface="宋体" panose="02010600030101010101" pitchFamily="2" charset="-122"/>
              </a:rPr>
              <a:t>来讲，从</a:t>
            </a:r>
            <a:r>
              <a:rPr lang="en-US" altLang="zh-CN" sz="2800" b="1" i="1" dirty="0">
                <a:ea typeface="宋体" panose="02010600030101010101" pitchFamily="2" charset="-122"/>
              </a:rPr>
              <a:t>n</a:t>
            </a:r>
            <a:r>
              <a:rPr lang="zh-CN" altLang="en-US" sz="2800" b="1" dirty="0">
                <a:ea typeface="宋体" panose="02010600030101010101" pitchFamily="2" charset="-122"/>
              </a:rPr>
              <a:t>个特征中选择出</a:t>
            </a:r>
            <a:r>
              <a:rPr lang="en-US" altLang="zh-CN" sz="2800" b="1" i="1" dirty="0">
                <a:ea typeface="宋体" panose="02010600030101010101" pitchFamily="2" charset="-122"/>
              </a:rPr>
              <a:t>m</a:t>
            </a:r>
            <a:r>
              <a:rPr lang="zh-CN" altLang="en-US" sz="2800" b="1" dirty="0">
                <a:ea typeface="宋体" panose="02010600030101010101" pitchFamily="2" charset="-122"/>
              </a:rPr>
              <a:t>个特征，有       种组合方式。</a:t>
            </a:r>
            <a:endParaRPr lang="zh-CN" altLang="en-US" sz="2800" b="1" dirty="0">
              <a:ea typeface="宋体" panose="02010600030101010101" pitchFamily="2" charset="-122"/>
            </a:endParaRPr>
          </a:p>
          <a:p>
            <a:pPr marL="762000" lvl="1" indent="-190500" eaLnBrk="1" hangingPunct="1"/>
            <a:r>
              <a:rPr lang="zh-CN" altLang="en-US" b="1" dirty="0">
                <a:ea typeface="宋体" panose="02010600030101010101" pitchFamily="2" charset="-122"/>
              </a:rPr>
              <a:t>哪一种特征组的分类效果最好？</a:t>
            </a:r>
            <a:endParaRPr lang="zh-CN" altLang="en-US" b="1" dirty="0">
              <a:ea typeface="宋体" panose="02010600030101010101" pitchFamily="2" charset="-122"/>
            </a:endParaRPr>
          </a:p>
          <a:p>
            <a:pPr marL="762000" lvl="1" indent="-190500" eaLnBrk="1" hangingPunct="1"/>
            <a:r>
              <a:rPr lang="zh-CN" altLang="en-US" b="1" dirty="0">
                <a:ea typeface="宋体" panose="02010600030101010101" pitchFamily="2" charset="-122"/>
              </a:rPr>
              <a:t>这需要有一个比较标准，即需要一个定量的</a:t>
            </a:r>
            <a:r>
              <a:rPr lang="zh-CN" altLang="en-US" b="1" dirty="0">
                <a:latin typeface="微软雅黑" panose="020B0503020204020204" pitchFamily="34" charset="-122"/>
                <a:ea typeface="微软雅黑" panose="020B0503020204020204" pitchFamily="34" charset="-122"/>
              </a:rPr>
              <a:t>准则</a:t>
            </a:r>
            <a:r>
              <a:rPr lang="zh-CN" altLang="en-US" b="1" dirty="0">
                <a:ea typeface="宋体" panose="02010600030101010101" pitchFamily="2" charset="-122"/>
              </a:rPr>
              <a:t>来衡量选择结果的好坏。</a:t>
            </a:r>
            <a:endParaRPr lang="zh-CN" altLang="en-US" b="1" dirty="0">
              <a:ea typeface="宋体" panose="02010600030101010101" pitchFamily="2" charset="-122"/>
            </a:endParaRPr>
          </a:p>
        </p:txBody>
      </p:sp>
      <p:graphicFrame>
        <p:nvGraphicFramePr>
          <p:cNvPr id="23556" name="Object 4"/>
          <p:cNvGraphicFramePr>
            <a:graphicFrameLocks noChangeAspect="1"/>
          </p:cNvGraphicFramePr>
          <p:nvPr/>
        </p:nvGraphicFramePr>
        <p:xfrm>
          <a:off x="1143000" y="3429000"/>
          <a:ext cx="576263" cy="609600"/>
        </p:xfrm>
        <a:graphic>
          <a:graphicData uri="http://schemas.openxmlformats.org/presentationml/2006/ole">
            <mc:AlternateContent xmlns:mc="http://schemas.openxmlformats.org/markup-compatibility/2006">
              <mc:Choice xmlns:v="urn:schemas-microsoft-com:vml" Requires="v">
                <p:oleObj spid="_x0000_s3076" name="" r:id="rId1" imgW="228600" imgH="241300" progId="Equation.DSMT4">
                  <p:embed/>
                </p:oleObj>
              </mc:Choice>
              <mc:Fallback>
                <p:oleObj name="" r:id="rId1" imgW="228600" imgH="241300" progId="Equation.DSMT4">
                  <p:embed/>
                  <p:pic>
                    <p:nvPicPr>
                      <p:cNvPr id="0" name="图片 3075"/>
                      <p:cNvPicPr/>
                      <p:nvPr/>
                    </p:nvPicPr>
                    <p:blipFill>
                      <a:blip r:embed="rId2"/>
                      <a:stretch>
                        <a:fillRect/>
                      </a:stretch>
                    </p:blipFill>
                    <p:spPr>
                      <a:xfrm>
                        <a:off x="1143000" y="3429000"/>
                        <a:ext cx="576263" cy="609600"/>
                      </a:xfrm>
                      <a:prstGeom prst="rect">
                        <a:avLst/>
                      </a:prstGeom>
                      <a:noFill/>
                      <a:ln w="38100">
                        <a:noFill/>
                        <a:miter/>
                      </a:ln>
                    </p:spPr>
                  </p:pic>
                </p:oleObj>
              </mc:Fallback>
            </mc:AlternateContent>
          </a:graphicData>
        </a:graphic>
      </p:graphicFrame>
      <p:sp>
        <p:nvSpPr>
          <p:cNvPr id="23557" name="TextBox 5"/>
          <p:cNvSpPr txBox="1"/>
          <p:nvPr/>
        </p:nvSpPr>
        <p:spPr>
          <a:xfrm>
            <a:off x="2455863" y="1077913"/>
            <a:ext cx="4535487"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b="1" dirty="0">
                <a:solidFill>
                  <a:srgbClr val="0033CC"/>
                </a:solidFill>
                <a:ea typeface="宋体" panose="02010600030101010101" pitchFamily="2" charset="-122"/>
              </a:rPr>
              <a:t>5.2   </a:t>
            </a:r>
            <a:r>
              <a:rPr lang="zh-CN" altLang="en-US" b="1" dirty="0">
                <a:solidFill>
                  <a:srgbClr val="0033CC"/>
                </a:solidFill>
                <a:ea typeface="宋体" panose="02010600030101010101" pitchFamily="2" charset="-122"/>
              </a:rPr>
              <a:t>类别可分性判据</a:t>
            </a:r>
            <a:endParaRPr lang="zh-CN" altLang="en-US" b="1" dirty="0">
              <a:solidFill>
                <a:srgbClr val="0033CC"/>
              </a:solidFill>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86019" name="Rectangle 1027"/>
          <p:cNvSpPr>
            <a:spLocks noGrp="1"/>
          </p:cNvSpPr>
          <p:nvPr>
            <p:ph type="body" idx="4294967295"/>
          </p:nvPr>
        </p:nvSpPr>
        <p:spPr>
          <a:xfrm>
            <a:off x="468313" y="1092200"/>
            <a:ext cx="8382000" cy="5516880"/>
          </a:xfrm>
        </p:spPr>
        <p:txBody>
          <a:bodyPr vert="horz" wrap="square" lIns="90488" tIns="44450" rIns="90488" bIns="44450" anchor="t" anchorCtr="0">
            <a:spAutoFit/>
          </a:bodyPr>
          <a:p>
            <a:pPr marL="0" indent="859155" algn="just" eaLnBrk="1" hangingPunct="1">
              <a:buNone/>
            </a:pPr>
            <a:r>
              <a:rPr lang="zh-CN" altLang="en-US" sz="2800" b="1" dirty="0">
                <a:latin typeface="宋体" panose="02010600030101010101" pitchFamily="2" charset="-122"/>
                <a:ea typeface="宋体" panose="02010600030101010101" pitchFamily="2" charset="-122"/>
              </a:rPr>
              <a:t>很自然地会想到，既然模式识别的目的是设计分类器，那么用分类器的错误概率作为准则就行了，也就是说</a:t>
            </a:r>
            <a:r>
              <a:rPr lang="zh-CN" altLang="en-US" sz="2800" b="1" dirty="0">
                <a:latin typeface="微软雅黑" panose="020B0503020204020204" pitchFamily="34" charset="-122"/>
                <a:ea typeface="微软雅黑" panose="020B0503020204020204" pitchFamily="34" charset="-122"/>
              </a:rPr>
              <a:t>，</a:t>
            </a:r>
            <a:r>
              <a:rPr lang="zh-CN" altLang="en-US" sz="2800" b="1" dirty="0">
                <a:solidFill>
                  <a:srgbClr val="FF0000"/>
                </a:solidFill>
                <a:latin typeface="微软雅黑" panose="020B0503020204020204" pitchFamily="34" charset="-122"/>
                <a:ea typeface="微软雅黑" panose="020B0503020204020204" pitchFamily="34" charset="-122"/>
              </a:rPr>
              <a:t>使分类器错误概率最小的那组特征，就应当是一组最有效的特征</a:t>
            </a:r>
            <a:r>
              <a:rPr lang="zh-CN" altLang="en-US" sz="2800" b="1" dirty="0">
                <a:latin typeface="微软雅黑" panose="020B0503020204020204" pitchFamily="34" charset="-122"/>
                <a:ea typeface="微软雅黑" panose="020B0503020204020204" pitchFamily="34" charset="-122"/>
              </a:rPr>
              <a:t>。</a:t>
            </a:r>
            <a:endParaRPr lang="zh-CN" altLang="en-US" sz="2800" b="1" dirty="0">
              <a:latin typeface="宋体" panose="02010600030101010101" pitchFamily="2" charset="-122"/>
              <a:ea typeface="宋体" panose="02010600030101010101" pitchFamily="2" charset="-122"/>
            </a:endParaRPr>
          </a:p>
          <a:p>
            <a:pPr marL="0" indent="859155" algn="just" eaLnBrk="1" hangingPunct="1">
              <a:buNone/>
            </a:pPr>
            <a:r>
              <a:rPr lang="zh-CN" altLang="en-US" sz="2800" b="1" dirty="0">
                <a:latin typeface="宋体" panose="02010600030101010101" pitchFamily="2" charset="-122"/>
                <a:ea typeface="宋体" panose="02010600030101010101" pitchFamily="2" charset="-122"/>
              </a:rPr>
              <a:t>从理论上讲，这是完全正确的，但在实际使用中却有很大困难。</a:t>
            </a:r>
            <a:endParaRPr lang="zh-CN" altLang="en-US" sz="2800" b="1" dirty="0">
              <a:latin typeface="宋体" panose="02010600030101010101" pitchFamily="2" charset="-122"/>
              <a:ea typeface="宋体" panose="02010600030101010101" pitchFamily="2" charset="-122"/>
            </a:endParaRPr>
          </a:p>
          <a:p>
            <a:pPr marL="0" indent="859155" algn="just" eaLnBrk="1" hangingPunct="1">
              <a:buNone/>
            </a:pPr>
            <a:r>
              <a:rPr lang="zh-CN" altLang="en-US" sz="2800" b="1" dirty="0">
                <a:latin typeface="宋体" panose="02010600030101010101" pitchFamily="2" charset="-122"/>
                <a:ea typeface="宋体" panose="02010600030101010101" pitchFamily="2" charset="-122"/>
              </a:rPr>
              <a:t>从错误概率的计算公式就会发现，即使在类条件概率密度已知的情况下，错误概率的计算就很复杂，何况实际问题中概率分布常常不知道，这使得直接用</a:t>
            </a:r>
            <a:r>
              <a:rPr lang="zh-CN" altLang="en-US" sz="2800" b="1" dirty="0">
                <a:solidFill>
                  <a:srgbClr val="FF0000"/>
                </a:solidFill>
                <a:latin typeface="微软雅黑" panose="020B0503020204020204" pitchFamily="34" charset="-122"/>
                <a:ea typeface="微软雅黑" panose="020B0503020204020204" pitchFamily="34" charset="-122"/>
              </a:rPr>
              <a:t>错误概率</a:t>
            </a:r>
            <a:r>
              <a:rPr lang="zh-CN" altLang="en-US" sz="2800" b="1" dirty="0">
                <a:latin typeface="宋体" panose="02010600030101010101" pitchFamily="2" charset="-122"/>
                <a:ea typeface="宋体" panose="02010600030101010101" pitchFamily="2" charset="-122"/>
              </a:rPr>
              <a:t>作为准则来评价特征的有效性比较困难。</a:t>
            </a:r>
            <a:endParaRPr lang="zh-CN" altLang="en-US" sz="2800" b="1" dirty="0">
              <a:latin typeface="宋体" panose="02010600030101010101" pitchFamily="2" charset="-122"/>
              <a:ea typeface="宋体" panose="02010600030101010101" pitchFamily="2" charset="-122"/>
            </a:endParaRPr>
          </a:p>
          <a:p>
            <a:pPr marL="0" indent="859155" algn="just" eaLnBrk="1" hangingPunct="1">
              <a:buNone/>
            </a:pP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580"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2115820" y="5645785"/>
            <a:ext cx="4911725" cy="86804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6019">
                                            <p:txEl>
                                              <p:charRg st="0" end="78"/>
                                            </p:txEl>
                                          </p:spTgt>
                                        </p:tgtEl>
                                        <p:attrNameLst>
                                          <p:attrName>style.visibility</p:attrName>
                                        </p:attrNameLst>
                                      </p:cBhvr>
                                      <p:to>
                                        <p:strVal val="visible"/>
                                      </p:to>
                                    </p:set>
                                    <p:animEffect transition="in" filter="dissolve">
                                      <p:cBhvr>
                                        <p:cTn id="7" dur="500"/>
                                        <p:tgtEl>
                                          <p:spTgt spid="86019">
                                            <p:txEl>
                                              <p:charRg st="0" end="7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6019">
                                            <p:txEl>
                                              <p:charRg st="78" end="107"/>
                                            </p:txEl>
                                          </p:spTgt>
                                        </p:tgtEl>
                                        <p:attrNameLst>
                                          <p:attrName>style.visibility</p:attrName>
                                        </p:attrNameLst>
                                      </p:cBhvr>
                                      <p:to>
                                        <p:strVal val="visible"/>
                                      </p:to>
                                    </p:set>
                                    <p:animEffect transition="in" filter="dissolve">
                                      <p:cBhvr>
                                        <p:cTn id="12" dur="500"/>
                                        <p:tgtEl>
                                          <p:spTgt spid="86019">
                                            <p:txEl>
                                              <p:charRg st="78" end="10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6019">
                                            <p:txEl>
                                              <p:charRg st="107" end="197"/>
                                            </p:txEl>
                                          </p:spTgt>
                                        </p:tgtEl>
                                        <p:attrNameLst>
                                          <p:attrName>style.visibility</p:attrName>
                                        </p:attrNameLst>
                                      </p:cBhvr>
                                      <p:to>
                                        <p:strVal val="visible"/>
                                      </p:to>
                                    </p:set>
                                    <p:animEffect transition="in" filter="dissolve">
                                      <p:cBhvr>
                                        <p:cTn id="17" dur="500"/>
                                        <p:tgtEl>
                                          <p:spTgt spid="86019">
                                            <p:txEl>
                                              <p:charRg st="107"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ldLvl="5"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87042" name="Rectangle 1026"/>
          <p:cNvSpPr>
            <a:spLocks noChangeArrowheads="1"/>
          </p:cNvSpPr>
          <p:nvPr/>
        </p:nvSpPr>
        <p:spPr bwMode="auto">
          <a:xfrm>
            <a:off x="323850" y="981075"/>
            <a:ext cx="8534400" cy="1599565"/>
          </a:xfrm>
          <a:prstGeom prst="rect">
            <a:avLst/>
          </a:prstGeom>
          <a:noFill/>
          <a:ln w="12700">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用来定量检验分类性能的准则</a:t>
            </a:r>
            <a:r>
              <a:rPr kumimoji="0" lang="zh-CN" altLang="en-US" sz="2800" b="1" i="0" u="sng"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称为</a:t>
            </a:r>
            <a:r>
              <a:rPr kumimoji="0" lang="zh-CN" altLang="en-US" sz="28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类别可分性准则</a:t>
            </a:r>
            <a:r>
              <a:rPr kumimoji="0" lang="en-US" altLang="zh-CN" sz="2800" b="1" i="0" u="none" strike="noStrike" kern="1200" cap="none" spc="0" normalizeH="0" baseline="0" noProof="0" dirty="0" err="1">
                <a:ln>
                  <a:noFill/>
                </a:ln>
                <a:solidFill>
                  <a:srgbClr val="0033CC"/>
                </a:solidFill>
                <a:effectLst/>
                <a:uLnTx/>
                <a:uFillTx/>
                <a:latin typeface="Times New Roman" panose="02020603050405020304" pitchFamily="18" charset="0"/>
                <a:ea typeface="宋体" panose="02010600030101010101" pitchFamily="2" charset="-122"/>
                <a:cs typeface="+mn-cs"/>
              </a:rPr>
              <a:t>J</a:t>
            </a:r>
            <a:r>
              <a:rPr kumimoji="0" lang="en-US" altLang="zh-CN" sz="2800" b="1" i="0" u="none" strike="noStrike" kern="1200" cap="none" spc="0" normalizeH="0" baseline="-25000" noProof="0" dirty="0" err="1">
                <a:ln>
                  <a:noFill/>
                </a:ln>
                <a:solidFill>
                  <a:srgbClr val="0033CC"/>
                </a:solidFill>
                <a:effectLst/>
                <a:uLnTx/>
                <a:uFillTx/>
                <a:latin typeface="Times New Roman" panose="02020603050405020304" pitchFamily="18" charset="0"/>
                <a:ea typeface="宋体" panose="02010600030101010101" pitchFamily="2" charset="-122"/>
                <a:cs typeface="+mn-cs"/>
              </a:rPr>
              <a:t>ij</a:t>
            </a:r>
            <a:r>
              <a:rPr kumimoji="0" lang="en-US" altLang="zh-CN" sz="2800" b="1" i="1"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 </a:t>
            </a:r>
            <a:r>
              <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需要满足以下几点：</a:t>
            </a:r>
            <a:endParaRPr kumimoji="0" lang="en-US"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endParaRPr>
          </a:p>
          <a:p>
            <a:pPr marL="0" marR="0" lvl="0" indent="762000" algn="l" defTabSz="914400" rtl="0" eaLnBrk="0" fontAlgn="base" latinLnBrk="0" hangingPunct="0">
              <a:lnSpc>
                <a:spcPct val="100000"/>
              </a:lnSpc>
              <a:spcBef>
                <a:spcPct val="50000"/>
              </a:spcBef>
              <a:spcAft>
                <a:spcPct val="0"/>
              </a:spcAft>
              <a:buClrTx/>
              <a:buSzTx/>
              <a:buFontTx/>
              <a:buNone/>
              <a:defRPr/>
            </a:pPr>
            <a:endParaRPr kumimoji="1"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87043" name="Picture 1027"/>
          <p:cNvPicPr>
            <a:picLocks noChangeAspect="1"/>
          </p:cNvPicPr>
          <p:nvPr/>
        </p:nvPicPr>
        <p:blipFill>
          <a:blip r:embed="rId1"/>
          <a:stretch>
            <a:fillRect/>
          </a:stretch>
        </p:blipFill>
        <p:spPr>
          <a:xfrm>
            <a:off x="228600" y="1962150"/>
            <a:ext cx="8610600" cy="4419600"/>
          </a:xfrm>
          <a:prstGeom prst="rect">
            <a:avLst/>
          </a:prstGeom>
          <a:solidFill>
            <a:schemeClr val="bg1"/>
          </a:solidFill>
          <a:ln w="12700">
            <a:noFill/>
          </a:ln>
        </p:spPr>
      </p:pic>
      <p:sp>
        <p:nvSpPr>
          <p:cNvPr id="25605"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dissolve">
                                      <p:cBhvr>
                                        <p:cTn id="7" dur="500"/>
                                        <p:tgtEl>
                                          <p:spTgt spid="870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7043"/>
                                        </p:tgtEl>
                                        <p:attrNameLst>
                                          <p:attrName>style.visibility</p:attrName>
                                        </p:attrNameLst>
                                      </p:cBhvr>
                                      <p:to>
                                        <p:strVal val="visible"/>
                                      </p:to>
                                    </p:set>
                                    <p:animEffect transition="in" filter="dissolve">
                                      <p:cBhvr>
                                        <p:cTn id="12" dur="500"/>
                                        <p:tgtEl>
                                          <p:spTgt spid="870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26627" name="Rectangle 3"/>
          <p:cNvSpPr>
            <a:spLocks noGrp="1"/>
          </p:cNvSpPr>
          <p:nvPr>
            <p:ph idx="1"/>
          </p:nvPr>
        </p:nvSpPr>
        <p:spPr>
          <a:xfrm>
            <a:off x="1752600" y="3581400"/>
            <a:ext cx="4800600" cy="2590800"/>
          </a:xfrm>
        </p:spPr>
        <p:txBody>
          <a:bodyPr vert="horz" wrap="square" lIns="91440" tIns="45720" rIns="91440" bIns="45720" anchor="t" anchorCtr="0"/>
          <a:p>
            <a:pPr eaLnBrk="1" hangingPunct="1">
              <a:lnSpc>
                <a:spcPct val="90000"/>
              </a:lnSpc>
              <a:buNone/>
            </a:pPr>
            <a:endParaRPr lang="en-US" altLang="zh-CN" b="1" dirty="0"/>
          </a:p>
          <a:p>
            <a:pPr eaLnBrk="1" hangingPunct="1">
              <a:lnSpc>
                <a:spcPct val="90000"/>
              </a:lnSpc>
              <a:buNone/>
            </a:pPr>
            <a:r>
              <a:rPr lang="zh-CN" altLang="en-US" sz="2800" b="1" dirty="0"/>
              <a:t>（</a:t>
            </a:r>
            <a:r>
              <a:rPr lang="en-US" altLang="zh-CN" sz="2800" b="1" dirty="0"/>
              <a:t>1</a:t>
            </a:r>
            <a:r>
              <a:rPr lang="zh-CN" altLang="en-US" sz="2800" b="1" dirty="0"/>
              <a:t>）与错误概率有</a:t>
            </a:r>
            <a:r>
              <a:rPr lang="zh-CN" altLang="en-US" sz="2800" b="1" dirty="0">
                <a:solidFill>
                  <a:srgbClr val="0033CC"/>
                </a:solidFill>
              </a:rPr>
              <a:t>单调关系</a:t>
            </a:r>
            <a:endParaRPr lang="zh-CN" altLang="en-US" sz="2800" b="1" dirty="0">
              <a:solidFill>
                <a:srgbClr val="0033CC"/>
              </a:solidFill>
            </a:endParaRPr>
          </a:p>
          <a:p>
            <a:pPr eaLnBrk="1" hangingPunct="1">
              <a:lnSpc>
                <a:spcPct val="90000"/>
              </a:lnSpc>
              <a:buNone/>
            </a:pPr>
            <a:r>
              <a:rPr lang="zh-CN" altLang="en-US" sz="2800" b="1" dirty="0"/>
              <a:t>（</a:t>
            </a:r>
            <a:r>
              <a:rPr lang="en-US" altLang="zh-CN" sz="2800" b="1" dirty="0"/>
              <a:t>2</a:t>
            </a:r>
            <a:r>
              <a:rPr lang="zh-CN" altLang="en-US" sz="2800" b="1" dirty="0"/>
              <a:t>）当</a:t>
            </a:r>
            <a:r>
              <a:rPr lang="zh-CN" altLang="en-US" sz="2800" b="1" dirty="0">
                <a:solidFill>
                  <a:srgbClr val="0033CC"/>
                </a:solidFill>
              </a:rPr>
              <a:t>特征独立</a:t>
            </a:r>
            <a:r>
              <a:rPr lang="zh-CN" altLang="en-US" sz="2800" b="1" dirty="0"/>
              <a:t>时有可加性</a:t>
            </a:r>
            <a:endParaRPr lang="zh-CN" altLang="en-US" sz="2800" b="1" dirty="0"/>
          </a:p>
          <a:p>
            <a:pPr eaLnBrk="1" hangingPunct="1">
              <a:lnSpc>
                <a:spcPct val="90000"/>
              </a:lnSpc>
              <a:buNone/>
            </a:pPr>
            <a:r>
              <a:rPr lang="zh-CN" altLang="en-US" sz="2800" b="1" dirty="0"/>
              <a:t>（</a:t>
            </a:r>
            <a:r>
              <a:rPr lang="en-US" altLang="zh-CN" sz="2800" b="1" dirty="0"/>
              <a:t>3</a:t>
            </a:r>
            <a:r>
              <a:rPr lang="zh-CN" altLang="en-US" sz="2800" b="1" dirty="0"/>
              <a:t>）度量特性</a:t>
            </a:r>
            <a:endParaRPr lang="zh-CN" altLang="en-US" sz="2800" b="1" dirty="0"/>
          </a:p>
          <a:p>
            <a:pPr eaLnBrk="1" hangingPunct="1">
              <a:lnSpc>
                <a:spcPct val="90000"/>
              </a:lnSpc>
              <a:buNone/>
            </a:pPr>
            <a:r>
              <a:rPr lang="zh-CN" altLang="en-US" sz="2800" b="1" dirty="0"/>
              <a:t>（</a:t>
            </a:r>
            <a:r>
              <a:rPr lang="en-US" altLang="zh-CN" sz="2800" b="1" dirty="0"/>
              <a:t>4</a:t>
            </a:r>
            <a:r>
              <a:rPr lang="zh-CN" altLang="en-US" sz="2800" b="1" dirty="0"/>
              <a:t>）单调性</a:t>
            </a:r>
            <a:endParaRPr lang="zh-CN" altLang="en-US" b="1" dirty="0"/>
          </a:p>
        </p:txBody>
      </p:sp>
      <p:sp>
        <p:nvSpPr>
          <p:cNvPr id="26628" name="Rectangle 4"/>
          <p:cNvSpPr/>
          <p:nvPr/>
        </p:nvSpPr>
        <p:spPr>
          <a:xfrm>
            <a:off x="914400" y="2057400"/>
            <a:ext cx="1828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800" dirty="0">
                <a:ea typeface="宋体" panose="02010600030101010101" pitchFamily="2" charset="-122"/>
              </a:rPr>
              <a:t>设计分类器</a:t>
            </a:r>
            <a:endParaRPr lang="zh-CN" altLang="en-US" sz="2800" dirty="0">
              <a:ea typeface="宋体" panose="02010600030101010101" pitchFamily="2" charset="-122"/>
            </a:endParaRPr>
          </a:p>
        </p:txBody>
      </p:sp>
      <p:sp>
        <p:nvSpPr>
          <p:cNvPr id="26629" name="Rectangle 6"/>
          <p:cNvSpPr/>
          <p:nvPr/>
        </p:nvSpPr>
        <p:spPr>
          <a:xfrm>
            <a:off x="3581400" y="2057400"/>
            <a:ext cx="21336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800" dirty="0">
                <a:ea typeface="宋体" panose="02010600030101010101" pitchFamily="2" charset="-122"/>
              </a:rPr>
              <a:t>错误概率最小</a:t>
            </a:r>
            <a:endParaRPr lang="zh-CN" altLang="en-US" sz="2800" dirty="0">
              <a:ea typeface="宋体" panose="02010600030101010101" pitchFamily="2" charset="-122"/>
            </a:endParaRPr>
          </a:p>
        </p:txBody>
      </p:sp>
      <p:sp>
        <p:nvSpPr>
          <p:cNvPr id="26630" name="Rectangle 7"/>
          <p:cNvSpPr/>
          <p:nvPr/>
        </p:nvSpPr>
        <p:spPr>
          <a:xfrm>
            <a:off x="6934200" y="3048000"/>
            <a:ext cx="1828800" cy="533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800" dirty="0">
                <a:ea typeface="宋体" panose="02010600030101010101" pitchFamily="2" charset="-122"/>
              </a:rPr>
              <a:t>新的标准</a:t>
            </a:r>
            <a:endParaRPr lang="zh-CN" altLang="en-US" sz="2800" dirty="0">
              <a:ea typeface="宋体" panose="02010600030101010101" pitchFamily="2" charset="-122"/>
            </a:endParaRPr>
          </a:p>
        </p:txBody>
      </p:sp>
      <p:sp>
        <p:nvSpPr>
          <p:cNvPr id="26631" name="AutoShape 9"/>
          <p:cNvSpPr/>
          <p:nvPr/>
        </p:nvSpPr>
        <p:spPr>
          <a:xfrm>
            <a:off x="381000" y="3048000"/>
            <a:ext cx="609600" cy="762000"/>
          </a:xfrm>
          <a:prstGeom prst="accentCallout1">
            <a:avLst>
              <a:gd name="adj1" fmla="val 15000"/>
              <a:gd name="adj2" fmla="val 112500"/>
              <a:gd name="adj3" fmla="val -55417"/>
              <a:gd name="adj4" fmla="val 182551"/>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400" dirty="0">
                <a:ea typeface="宋体" panose="02010600030101010101" pitchFamily="2" charset="-122"/>
              </a:rPr>
              <a:t>目的</a:t>
            </a:r>
            <a:endParaRPr lang="zh-CN" altLang="en-US" sz="2400" dirty="0">
              <a:ea typeface="宋体" panose="02010600030101010101" pitchFamily="2" charset="-122"/>
            </a:endParaRPr>
          </a:p>
        </p:txBody>
      </p:sp>
      <p:cxnSp>
        <p:nvCxnSpPr>
          <p:cNvPr id="26632" name="AutoShape 10"/>
          <p:cNvCxnSpPr/>
          <p:nvPr/>
        </p:nvCxnSpPr>
        <p:spPr>
          <a:xfrm>
            <a:off x="2743200" y="2362200"/>
            <a:ext cx="838200" cy="0"/>
          </a:xfrm>
          <a:prstGeom prst="straightConnector1">
            <a:avLst/>
          </a:prstGeom>
          <a:ln w="9525" cap="flat" cmpd="sng">
            <a:solidFill>
              <a:schemeClr val="tx1"/>
            </a:solidFill>
            <a:prstDash val="solid"/>
            <a:headEnd type="none" w="med" len="med"/>
            <a:tailEnd type="triangle" w="med" len="med"/>
          </a:ln>
        </p:spPr>
      </p:cxnSp>
      <p:sp>
        <p:nvSpPr>
          <p:cNvPr id="26633" name="AutoShape 11"/>
          <p:cNvSpPr/>
          <p:nvPr/>
        </p:nvSpPr>
        <p:spPr>
          <a:xfrm>
            <a:off x="3200400" y="3048000"/>
            <a:ext cx="609600" cy="762000"/>
          </a:xfrm>
          <a:prstGeom prst="borderCallout1">
            <a:avLst>
              <a:gd name="adj1" fmla="val 15000"/>
              <a:gd name="adj2" fmla="val -12500"/>
              <a:gd name="adj3" fmla="val -88125"/>
              <a:gd name="adj4" fmla="val -20315"/>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400" dirty="0">
                <a:ea typeface="宋体" panose="02010600030101010101" pitchFamily="2" charset="-122"/>
              </a:rPr>
              <a:t>理论</a:t>
            </a:r>
            <a:endParaRPr lang="zh-CN" altLang="en-US" sz="2400" dirty="0">
              <a:ea typeface="宋体" panose="02010600030101010101" pitchFamily="2" charset="-122"/>
            </a:endParaRPr>
          </a:p>
        </p:txBody>
      </p:sp>
      <p:sp>
        <p:nvSpPr>
          <p:cNvPr id="26634" name="AutoShape 12"/>
          <p:cNvSpPr/>
          <p:nvPr/>
        </p:nvSpPr>
        <p:spPr>
          <a:xfrm>
            <a:off x="5943600" y="1066800"/>
            <a:ext cx="1524000" cy="609600"/>
          </a:xfrm>
          <a:prstGeom prst="wedgeRoundRectCallout">
            <a:avLst>
              <a:gd name="adj1" fmla="val -64167"/>
              <a:gd name="adj2" fmla="val 99218"/>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dirty="0">
                <a:ea typeface="宋体" panose="02010600030101010101" pitchFamily="2" charset="-122"/>
              </a:rPr>
              <a:t>最理想</a:t>
            </a:r>
            <a:endParaRPr lang="zh-CN" altLang="en-US" sz="1800" dirty="0">
              <a:ea typeface="宋体" panose="02010600030101010101" pitchFamily="2" charset="-122"/>
            </a:endParaRPr>
          </a:p>
        </p:txBody>
      </p:sp>
      <p:sp>
        <p:nvSpPr>
          <p:cNvPr id="26635" name="AutoShape 13"/>
          <p:cNvSpPr/>
          <p:nvPr/>
        </p:nvSpPr>
        <p:spPr>
          <a:xfrm rot="-2031194">
            <a:off x="5943600" y="1905000"/>
            <a:ext cx="1214438" cy="733425"/>
          </a:xfrm>
          <a:prstGeom prst="curvedUpArrow">
            <a:avLst>
              <a:gd name="adj1" fmla="val 33116"/>
              <a:gd name="adj2" fmla="val 66233"/>
              <a:gd name="adj3" fmla="val 33333"/>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ea typeface="宋体" panose="02010600030101010101" pitchFamily="2" charset="-122"/>
            </a:endParaRPr>
          </a:p>
        </p:txBody>
      </p:sp>
      <p:sp>
        <p:nvSpPr>
          <p:cNvPr id="26636" name="Rectangle 15"/>
          <p:cNvSpPr/>
          <p:nvPr/>
        </p:nvSpPr>
        <p:spPr>
          <a:xfrm>
            <a:off x="6400800" y="2057400"/>
            <a:ext cx="990600"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4400" b="1" dirty="0">
                <a:solidFill>
                  <a:schemeClr val="accent2"/>
                </a:solidFill>
                <a:ea typeface="宋体" panose="02010600030101010101" pitchFamily="2" charset="-122"/>
              </a:rPr>
              <a:t>×</a:t>
            </a:r>
            <a:endParaRPr lang="en-US" altLang="zh-CN" sz="4400" b="1" dirty="0">
              <a:solidFill>
                <a:schemeClr val="accent2"/>
              </a:solidFill>
              <a:ea typeface="宋体" panose="02010600030101010101" pitchFamily="2" charset="-122"/>
            </a:endParaRPr>
          </a:p>
        </p:txBody>
      </p:sp>
      <p:cxnSp>
        <p:nvCxnSpPr>
          <p:cNvPr id="26637" name="AutoShape 16"/>
          <p:cNvCxnSpPr>
            <a:stCxn id="26629" idx="2"/>
            <a:endCxn id="26630" idx="1"/>
          </p:cNvCxnSpPr>
          <p:nvPr/>
        </p:nvCxnSpPr>
        <p:spPr>
          <a:xfrm rot="-5400000" flipH="1">
            <a:off x="5429250" y="1809750"/>
            <a:ext cx="723900" cy="2286000"/>
          </a:xfrm>
          <a:prstGeom prst="bentConnector2">
            <a:avLst/>
          </a:prstGeom>
          <a:ln w="9525" cap="flat" cmpd="sng">
            <a:solidFill>
              <a:schemeClr val="tx1"/>
            </a:solidFill>
            <a:prstDash val="solid"/>
            <a:miter/>
            <a:headEnd type="none" w="med" len="med"/>
            <a:tailEnd type="triangle" w="med" len="med"/>
          </a:ln>
        </p:spPr>
      </p:cxnSp>
      <p:sp>
        <p:nvSpPr>
          <p:cNvPr id="26638" name="AutoShape 17"/>
          <p:cNvSpPr/>
          <p:nvPr/>
        </p:nvSpPr>
        <p:spPr>
          <a:xfrm>
            <a:off x="7239000" y="4114800"/>
            <a:ext cx="304800" cy="1828800"/>
          </a:xfrm>
          <a:prstGeom prst="rightBrace">
            <a:avLst>
              <a:gd name="adj1" fmla="val 50000"/>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ea typeface="宋体" panose="02010600030101010101" pitchFamily="2" charset="-122"/>
            </a:endParaRPr>
          </a:p>
        </p:txBody>
      </p:sp>
      <p:sp>
        <p:nvSpPr>
          <p:cNvPr id="26639"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3"/>
          <p:cNvSpPr txBox="1">
            <a:spLocks noGrp="1"/>
          </p:cNvSpPr>
          <p:nvPr>
            <p:ph type="sldNum" sz="quarter" idx="12"/>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27651" name="TextBox 5"/>
          <p:cNvSpPr txBox="1"/>
          <p:nvPr/>
        </p:nvSpPr>
        <p:spPr>
          <a:xfrm>
            <a:off x="2124075" y="1052513"/>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27652" name="矩形 5"/>
          <p:cNvSpPr/>
          <p:nvPr/>
        </p:nvSpPr>
        <p:spPr>
          <a:xfrm>
            <a:off x="1189038" y="2819400"/>
            <a:ext cx="6410325" cy="1949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150000"/>
              </a:lnSpc>
              <a:spcBef>
                <a:spcPct val="0"/>
              </a:spcBef>
              <a:buClrTx/>
              <a:buSzTx/>
              <a:buFontTx/>
              <a:buNone/>
            </a:pPr>
            <a:r>
              <a:rPr lang="en-US" altLang="zh-CN" sz="2800" b="1" dirty="0">
                <a:ea typeface="宋体" panose="02010600030101010101" pitchFamily="2" charset="-122"/>
              </a:rPr>
              <a:t>1.</a:t>
            </a:r>
            <a:r>
              <a:rPr lang="zh-CN" altLang="en-US" sz="2800" b="1" dirty="0">
                <a:ea typeface="宋体" panose="02010600030101010101" pitchFamily="2" charset="-122"/>
              </a:rPr>
              <a:t>基于距离的可分性判据</a:t>
            </a:r>
            <a:endParaRPr lang="en-US" altLang="zh-CN" sz="2800" b="1" dirty="0">
              <a:ea typeface="宋体" panose="02010600030101010101" pitchFamily="2" charset="-122"/>
            </a:endParaRPr>
          </a:p>
          <a:p>
            <a:pPr marL="0" lvl="0" indent="0" eaLnBrk="1" hangingPunct="1">
              <a:lnSpc>
                <a:spcPct val="150000"/>
              </a:lnSpc>
              <a:spcBef>
                <a:spcPct val="0"/>
              </a:spcBef>
              <a:buClrTx/>
              <a:buSzTx/>
              <a:buFontTx/>
              <a:buNone/>
            </a:pPr>
            <a:r>
              <a:rPr lang="en-US" altLang="zh-CN" sz="2800" b="1" dirty="0">
                <a:ea typeface="宋体" panose="02010600030101010101" pitchFamily="2" charset="-122"/>
              </a:rPr>
              <a:t>2.</a:t>
            </a:r>
            <a:r>
              <a:rPr lang="zh-CN" altLang="en-US" sz="2800" b="1" dirty="0">
                <a:ea typeface="宋体" panose="02010600030101010101" pitchFamily="2" charset="-122"/>
              </a:rPr>
              <a:t>基于概率分布的可分性判据</a:t>
            </a:r>
            <a:endParaRPr lang="en-US" altLang="zh-CN" sz="2800" b="1" dirty="0">
              <a:ea typeface="宋体" panose="02010600030101010101" pitchFamily="2" charset="-122"/>
            </a:endParaRPr>
          </a:p>
          <a:p>
            <a:pPr marL="0" lvl="0" indent="0" eaLnBrk="1" hangingPunct="1">
              <a:lnSpc>
                <a:spcPct val="150000"/>
              </a:lnSpc>
              <a:spcBef>
                <a:spcPct val="0"/>
              </a:spcBef>
              <a:buClrTx/>
              <a:buSzTx/>
              <a:buFontTx/>
              <a:buNone/>
            </a:pPr>
            <a:r>
              <a:rPr lang="en-US" altLang="zh-CN" sz="2800" b="1" dirty="0">
                <a:ea typeface="宋体" panose="02010600030101010101" pitchFamily="2" charset="-122"/>
              </a:rPr>
              <a:t>3.</a:t>
            </a:r>
            <a:r>
              <a:rPr lang="zh-CN" altLang="en-US" sz="2800" b="1" dirty="0">
                <a:ea typeface="宋体" panose="02010600030101010101" pitchFamily="2" charset="-122"/>
              </a:rPr>
              <a:t>基于熵函数的可分性判据</a:t>
            </a:r>
            <a:endParaRPr lang="zh-CN" altLang="en-US" sz="2800" b="1" dirty="0">
              <a:ea typeface="宋体" panose="02010600030101010101" pitchFamily="2" charset="-122"/>
            </a:endParaRPr>
          </a:p>
        </p:txBody>
      </p:sp>
      <p:sp>
        <p:nvSpPr>
          <p:cNvPr id="27653" name="AutoShape 6" descr="已生成图片"/>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endParaRPr lang="zh-CN" altLang="en-US" sz="1800" dirty="0">
              <a:ea typeface="宋体" panose="02010600030101010101" pitchFamily="2" charset="-122"/>
            </a:endParaRPr>
          </a:p>
        </p:txBody>
      </p:sp>
      <p:pic>
        <p:nvPicPr>
          <p:cNvPr id="27654" name="图片 2"/>
          <p:cNvPicPr>
            <a:picLocks noChangeAspect="1"/>
          </p:cNvPicPr>
          <p:nvPr/>
        </p:nvPicPr>
        <p:blipFill>
          <a:blip r:embed="rId1"/>
          <a:stretch>
            <a:fillRect/>
          </a:stretch>
        </p:blipFill>
        <p:spPr>
          <a:xfrm>
            <a:off x="6156325" y="2922588"/>
            <a:ext cx="2232025" cy="1846262"/>
          </a:xfrm>
          <a:prstGeom prst="rect">
            <a:avLst/>
          </a:prstGeom>
          <a:noFill/>
          <a:ln w="9525">
            <a:noFill/>
          </a:ln>
        </p:spPr>
      </p:pic>
      <p:sp>
        <p:nvSpPr>
          <p:cNvPr id="27655" name="箭头: 上弧形 3"/>
          <p:cNvSpPr/>
          <p:nvPr/>
        </p:nvSpPr>
        <p:spPr>
          <a:xfrm>
            <a:off x="7092950" y="2819400"/>
            <a:ext cx="358775" cy="177800"/>
          </a:xfrm>
          <a:prstGeom prst="curvedDownArrow">
            <a:avLst>
              <a:gd name="adj1" fmla="val 24866"/>
              <a:gd name="adj2" fmla="val 49754"/>
              <a:gd name="adj3" fmla="val 25000"/>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sp>
        <p:nvSpPr>
          <p:cNvPr id="27656" name="箭头: 下弧形 4"/>
          <p:cNvSpPr/>
          <p:nvPr/>
        </p:nvSpPr>
        <p:spPr>
          <a:xfrm>
            <a:off x="6526213" y="4727575"/>
            <a:ext cx="266700" cy="103188"/>
          </a:xfrm>
          <a:prstGeom prst="curvedUpArrow">
            <a:avLst>
              <a:gd name="adj1" fmla="val 25166"/>
              <a:gd name="adj2" fmla="val 50340"/>
              <a:gd name="adj3" fmla="val 25000"/>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sp>
        <p:nvSpPr>
          <p:cNvPr id="27657" name="箭头: 下弧形 8"/>
          <p:cNvSpPr/>
          <p:nvPr/>
        </p:nvSpPr>
        <p:spPr>
          <a:xfrm>
            <a:off x="7835900" y="4727575"/>
            <a:ext cx="266700" cy="103188"/>
          </a:xfrm>
          <a:prstGeom prst="curvedUpArrow">
            <a:avLst>
              <a:gd name="adj1" fmla="val 25166"/>
              <a:gd name="adj2" fmla="val 50340"/>
              <a:gd name="adj3" fmla="val 25000"/>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28675" name="Rectangle 2"/>
          <p:cNvSpPr>
            <a:spLocks noGrp="1"/>
          </p:cNvSpPr>
          <p:nvPr>
            <p:ph type="title" idx="4294967295"/>
          </p:nvPr>
        </p:nvSpPr>
        <p:spPr>
          <a:xfrm>
            <a:off x="-36512" y="1125538"/>
            <a:ext cx="9163050" cy="582612"/>
          </a:xfrm>
        </p:spPr>
        <p:txBody>
          <a:bodyPr vert="horz" wrap="square" lIns="90488" tIns="44450" rIns="90488" bIns="44450" anchor="ctr" anchorCtr="0">
            <a:spAutoFit/>
          </a:bodyPr>
          <a:p>
            <a:pPr eaLnBrk="1" hangingPunct="1"/>
            <a:r>
              <a:rPr lang="en-US" altLang="zh-CN" sz="3200" b="1" dirty="0">
                <a:solidFill>
                  <a:srgbClr val="0033CC"/>
                </a:solidFill>
                <a:latin typeface="微软雅黑" panose="020B0503020204020204" pitchFamily="34" charset="-122"/>
                <a:ea typeface="微软雅黑" panose="020B0503020204020204" pitchFamily="34" charset="-122"/>
              </a:rPr>
              <a:t>1.</a:t>
            </a:r>
            <a:r>
              <a:rPr lang="zh-CN" altLang="en-US" sz="3200" b="1" dirty="0">
                <a:solidFill>
                  <a:srgbClr val="0033CC"/>
                </a:solidFill>
                <a:latin typeface="微软雅黑" panose="020B0503020204020204" pitchFamily="34" charset="-122"/>
                <a:ea typeface="微软雅黑" panose="020B0503020204020204" pitchFamily="34" charset="-122"/>
              </a:rPr>
              <a:t>基于距离的可分性判据</a:t>
            </a:r>
            <a:endParaRPr lang="zh-CN" altLang="en-US" sz="3200" b="1" dirty="0">
              <a:solidFill>
                <a:srgbClr val="0033CC"/>
              </a:solidFill>
              <a:latin typeface="微软雅黑" panose="020B0503020204020204" pitchFamily="34" charset="-122"/>
              <a:ea typeface="微软雅黑" panose="020B0503020204020204" pitchFamily="34" charset="-122"/>
            </a:endParaRPr>
          </a:p>
        </p:txBody>
      </p:sp>
      <p:sp>
        <p:nvSpPr>
          <p:cNvPr id="28676" name="Rectangle 3"/>
          <p:cNvSpPr>
            <a:spLocks noGrp="1"/>
          </p:cNvSpPr>
          <p:nvPr>
            <p:ph type="body" idx="4294967295"/>
          </p:nvPr>
        </p:nvSpPr>
        <p:spPr>
          <a:xfrm>
            <a:off x="457200" y="1905000"/>
            <a:ext cx="8153400" cy="3838575"/>
          </a:xfrm>
        </p:spPr>
        <p:txBody>
          <a:bodyPr vert="horz" wrap="square" lIns="90488" tIns="44450" rIns="90488" bIns="44450" anchor="t" anchorCtr="0">
            <a:spAutoFit/>
          </a:bodyPr>
          <a:p>
            <a:pPr marL="381000" indent="-381000" algn="just" eaLnBrk="1" hangingPunct="1">
              <a:lnSpc>
                <a:spcPct val="120000"/>
              </a:lnSpc>
            </a:pPr>
            <a:r>
              <a:rPr lang="zh-CN" altLang="en-US" sz="2800" b="1" dirty="0">
                <a:latin typeface="微软雅黑" panose="020B0503020204020204" pitchFamily="34" charset="-122"/>
                <a:ea typeface="微软雅黑" panose="020B0503020204020204" pitchFamily="34" charset="-122"/>
              </a:rPr>
              <a:t>基于距离的可分性判据的实质是</a:t>
            </a:r>
            <a:r>
              <a:rPr lang="en-US" altLang="zh-CN" sz="2800" b="1" dirty="0">
                <a:solidFill>
                  <a:srgbClr val="FF0000"/>
                </a:solidFill>
                <a:latin typeface="微软雅黑" panose="020B0503020204020204" pitchFamily="34" charset="-122"/>
                <a:ea typeface="微软雅黑" panose="020B0503020204020204" pitchFamily="34" charset="-122"/>
              </a:rPr>
              <a:t>Fisher</a:t>
            </a:r>
            <a:r>
              <a:rPr lang="zh-CN" altLang="en-US" sz="2800" b="1" dirty="0">
                <a:solidFill>
                  <a:srgbClr val="FF0000"/>
                </a:solidFill>
                <a:latin typeface="微软雅黑" panose="020B0503020204020204" pitchFamily="34" charset="-122"/>
                <a:ea typeface="微软雅黑" panose="020B0503020204020204" pitchFamily="34" charset="-122"/>
              </a:rPr>
              <a:t>准则</a:t>
            </a:r>
            <a:r>
              <a:rPr lang="zh-CN" altLang="en-US" sz="2800" b="1" dirty="0">
                <a:latin typeface="微软雅黑" panose="020B0503020204020204" pitchFamily="34" charset="-122"/>
                <a:ea typeface="微软雅黑" panose="020B0503020204020204" pitchFamily="34" charset="-122"/>
              </a:rPr>
              <a:t>的延伸，即综合考虑不同类样本的</a:t>
            </a:r>
            <a:r>
              <a:rPr lang="zh-CN" altLang="en-US" sz="2800" b="1" dirty="0">
                <a:solidFill>
                  <a:srgbClr val="FF0000"/>
                </a:solidFill>
                <a:latin typeface="微软雅黑" panose="020B0503020204020204" pitchFamily="34" charset="-122"/>
                <a:ea typeface="微软雅黑" panose="020B0503020204020204" pitchFamily="34" charset="-122"/>
              </a:rPr>
              <a:t>类内</a:t>
            </a:r>
            <a:r>
              <a:rPr lang="zh-CN" altLang="en-US" sz="2800" b="1" dirty="0">
                <a:latin typeface="微软雅黑" panose="020B0503020204020204" pitchFamily="34" charset="-122"/>
                <a:ea typeface="微软雅黑" panose="020B0503020204020204" pitchFamily="34" charset="-122"/>
              </a:rPr>
              <a:t>聚集程度与</a:t>
            </a:r>
            <a:r>
              <a:rPr lang="zh-CN" altLang="en-US" sz="2800" b="1" dirty="0">
                <a:solidFill>
                  <a:srgbClr val="FF0000"/>
                </a:solidFill>
                <a:latin typeface="微软雅黑" panose="020B0503020204020204" pitchFamily="34" charset="-122"/>
                <a:ea typeface="微软雅黑" panose="020B0503020204020204" pitchFamily="34" charset="-122"/>
              </a:rPr>
              <a:t>类间</a:t>
            </a:r>
            <a:r>
              <a:rPr lang="zh-CN" altLang="en-US" sz="2800" b="1" dirty="0">
                <a:latin typeface="微软雅黑" panose="020B0503020204020204" pitchFamily="34" charset="-122"/>
                <a:ea typeface="微软雅黑" panose="020B0503020204020204" pitchFamily="34" charset="-122"/>
              </a:rPr>
              <a:t>的离散程度这两个因素。</a:t>
            </a:r>
            <a:endParaRPr lang="zh-CN" altLang="en-US" sz="2800" b="1" dirty="0">
              <a:latin typeface="微软雅黑" panose="020B0503020204020204" pitchFamily="34" charset="-122"/>
              <a:ea typeface="微软雅黑" panose="020B0503020204020204" pitchFamily="34" charset="-122"/>
            </a:endParaRPr>
          </a:p>
          <a:p>
            <a:pPr marL="381000" indent="-381000" algn="just" eaLnBrk="1" hangingPunct="1">
              <a:lnSpc>
                <a:spcPct val="120000"/>
              </a:lnSpc>
            </a:pPr>
            <a:r>
              <a:rPr lang="zh-CN" altLang="en-US" sz="2800" b="1" dirty="0">
                <a:latin typeface="微软雅黑" panose="020B0503020204020204" pitchFamily="34" charset="-122"/>
                <a:ea typeface="微软雅黑" panose="020B0503020204020204" pitchFamily="34" charset="-122"/>
              </a:rPr>
              <a:t>判据的优化体现出</a:t>
            </a:r>
            <a:r>
              <a:rPr lang="zh-CN" altLang="en-US" sz="2800" b="1" dirty="0">
                <a:solidFill>
                  <a:srgbClr val="FF0000"/>
                </a:solidFill>
                <a:latin typeface="微软雅黑" panose="020B0503020204020204" pitchFamily="34" charset="-122"/>
                <a:ea typeface="微软雅黑" panose="020B0503020204020204" pitchFamily="34" charset="-122"/>
              </a:rPr>
              <a:t>降维</a:t>
            </a:r>
            <a:r>
              <a:rPr lang="zh-CN" altLang="en-US" sz="2800" b="1" dirty="0">
                <a:latin typeface="微软雅黑" panose="020B0503020204020204" pitchFamily="34" charset="-122"/>
                <a:ea typeface="微软雅黑" panose="020B0503020204020204" pitchFamily="34" charset="-122"/>
              </a:rPr>
              <a:t>特征空间较好地体现</a:t>
            </a:r>
            <a:r>
              <a:rPr lang="zh-CN" altLang="en-US" sz="2800" b="1" dirty="0">
                <a:solidFill>
                  <a:srgbClr val="FF0000"/>
                </a:solidFill>
                <a:latin typeface="微软雅黑" panose="020B0503020204020204" pitchFamily="34" charset="-122"/>
                <a:ea typeface="微软雅黑" panose="020B0503020204020204" pitchFamily="34" charset="-122"/>
              </a:rPr>
              <a:t>类内密集</a:t>
            </a:r>
            <a:r>
              <a:rPr lang="zh-CN" altLang="en-US" sz="2800" b="1" dirty="0">
                <a:latin typeface="微软雅黑" panose="020B0503020204020204" pitchFamily="34" charset="-122"/>
                <a:ea typeface="微软雅黑" panose="020B0503020204020204" pitchFamily="34" charset="-122"/>
              </a:rPr>
              <a:t>。一些不能体现</a:t>
            </a:r>
            <a:r>
              <a:rPr lang="zh-CN" altLang="en-US" sz="2800" b="1" dirty="0">
                <a:solidFill>
                  <a:srgbClr val="FF0000"/>
                </a:solidFill>
                <a:latin typeface="微软雅黑" panose="020B0503020204020204" pitchFamily="34" charset="-122"/>
                <a:ea typeface="微软雅黑" panose="020B0503020204020204" pitchFamily="34" charset="-122"/>
              </a:rPr>
              <a:t>类间分隔开</a:t>
            </a:r>
            <a:r>
              <a:rPr lang="zh-CN" altLang="en-US" sz="2800" b="1" dirty="0">
                <a:latin typeface="微软雅黑" panose="020B0503020204020204" pitchFamily="34" charset="-122"/>
                <a:ea typeface="微软雅黑" panose="020B0503020204020204" pitchFamily="34" charset="-122"/>
              </a:rPr>
              <a:t>的特征很可能被排除掉了。</a:t>
            </a:r>
            <a:endParaRPr lang="zh-CN" altLang="en-US" sz="2800" b="1" dirty="0">
              <a:latin typeface="微软雅黑" panose="020B0503020204020204" pitchFamily="34" charset="-122"/>
              <a:ea typeface="微软雅黑" panose="020B0503020204020204" pitchFamily="34" charset="-122"/>
            </a:endParaRPr>
          </a:p>
          <a:p>
            <a:pPr marL="381000" indent="-381000" algn="just" eaLnBrk="1" hangingPunct="1">
              <a:lnSpc>
                <a:spcPct val="120000"/>
              </a:lnSpc>
            </a:pPr>
            <a:r>
              <a:rPr lang="zh-CN" altLang="en-US" sz="2800" b="1" dirty="0">
                <a:latin typeface="微软雅黑" panose="020B0503020204020204" pitchFamily="34" charset="-122"/>
                <a:ea typeface="微软雅黑" panose="020B0503020204020204" pitchFamily="34" charset="-122"/>
              </a:rPr>
              <a:t>掌握利用</a:t>
            </a:r>
            <a:r>
              <a:rPr lang="zh-CN" altLang="en-US" sz="2800" b="1" dirty="0">
                <a:solidFill>
                  <a:srgbClr val="FF0000"/>
                </a:solidFill>
                <a:latin typeface="微软雅黑" panose="020B0503020204020204" pitchFamily="34" charset="-122"/>
                <a:ea typeface="微软雅黑" panose="020B0503020204020204" pitchFamily="34" charset="-122"/>
              </a:rPr>
              <a:t>离散矩阵</a:t>
            </a:r>
            <a:r>
              <a:rPr lang="zh-CN" altLang="en-US" sz="2800" b="1" dirty="0">
                <a:latin typeface="微软雅黑" panose="020B0503020204020204" pitchFamily="34" charset="-122"/>
                <a:ea typeface="微软雅黑" panose="020B0503020204020204" pitchFamily="34" charset="-122"/>
              </a:rPr>
              <a:t>来描述数据离散程度的方法。</a:t>
            </a:r>
            <a:endParaRPr lang="zh-CN" altLang="en-US" sz="2800" b="1" dirty="0">
              <a:latin typeface="微软雅黑" panose="020B0503020204020204" pitchFamily="34" charset="-122"/>
              <a:ea typeface="微软雅黑" panose="020B0503020204020204" pitchFamily="34" charset="-122"/>
            </a:endParaRPr>
          </a:p>
        </p:txBody>
      </p:sp>
      <p:sp>
        <p:nvSpPr>
          <p:cNvPr id="28677"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0723" name="Rectangle 3"/>
          <p:cNvSpPr>
            <a:spLocks noGrp="1"/>
          </p:cNvSpPr>
          <p:nvPr>
            <p:ph type="body" idx="4294967295"/>
          </p:nvPr>
        </p:nvSpPr>
        <p:spPr>
          <a:xfrm>
            <a:off x="114300" y="1096963"/>
            <a:ext cx="8915400" cy="4870450"/>
          </a:xfrm>
        </p:spPr>
        <p:txBody>
          <a:bodyPr vert="horz" wrap="square" lIns="90488" tIns="44450" rIns="90488" bIns="44450" anchor="t" anchorCtr="0">
            <a:spAutoFit/>
          </a:bodyPr>
          <a:p>
            <a:pPr marL="473075" indent="-473075" algn="just" eaLnBrk="1" hangingPunct="1">
              <a:lnSpc>
                <a:spcPct val="120000"/>
              </a:lnSpc>
              <a:buClr>
                <a:srgbClr val="FF0000"/>
              </a:buClr>
            </a:pPr>
            <a:r>
              <a:rPr lang="zh-CN" altLang="en-US" sz="2800" b="1" dirty="0">
                <a:latin typeface="微软雅黑" panose="020B0503020204020204" pitchFamily="34" charset="-122"/>
                <a:ea typeface="微软雅黑" panose="020B0503020204020204" pitchFamily="34" charset="-122"/>
              </a:rPr>
              <a:t>基于</a:t>
            </a:r>
            <a:r>
              <a:rPr lang="zh-CN" altLang="en-US" sz="2800" b="1" dirty="0">
                <a:solidFill>
                  <a:srgbClr val="0066FF"/>
                </a:solidFill>
                <a:latin typeface="微软雅黑" panose="020B0503020204020204" pitchFamily="34" charset="-122"/>
                <a:ea typeface="微软雅黑" panose="020B0503020204020204" pitchFamily="34" charset="-122"/>
              </a:rPr>
              <a:t>距离度量</a:t>
            </a:r>
            <a:r>
              <a:rPr lang="zh-CN" altLang="en-US" sz="2800" b="1" dirty="0">
                <a:latin typeface="微软雅黑" panose="020B0503020204020204" pitchFamily="34" charset="-122"/>
                <a:ea typeface="微软雅黑" panose="020B0503020204020204" pitchFamily="34" charset="-122"/>
              </a:rPr>
              <a:t>是常用来进行分类的重要依据，因为一般情况下同类物体在特征空间呈聚类状态，即从总体上说同类物体内各样本由于具有共性，因此</a:t>
            </a:r>
            <a:r>
              <a:rPr lang="zh-CN" altLang="en-US" sz="2800" b="1" dirty="0">
                <a:solidFill>
                  <a:srgbClr val="0066FF"/>
                </a:solidFill>
                <a:latin typeface="微软雅黑" panose="020B0503020204020204" pitchFamily="34" charset="-122"/>
                <a:ea typeface="微软雅黑" panose="020B0503020204020204" pitchFamily="34" charset="-122"/>
              </a:rPr>
              <a:t>类内</a:t>
            </a:r>
            <a:r>
              <a:rPr lang="zh-CN" altLang="en-US" sz="2800" b="1" dirty="0">
                <a:latin typeface="微软雅黑" panose="020B0503020204020204" pitchFamily="34" charset="-122"/>
                <a:ea typeface="微软雅黑" panose="020B0503020204020204" pitchFamily="34" charset="-122"/>
              </a:rPr>
              <a:t>样本间距离应比</a:t>
            </a:r>
            <a:r>
              <a:rPr lang="zh-CN" altLang="en-US" sz="2800" b="1" dirty="0">
                <a:solidFill>
                  <a:srgbClr val="0066FF"/>
                </a:solidFill>
                <a:latin typeface="微软雅黑" panose="020B0503020204020204" pitchFamily="34" charset="-122"/>
                <a:ea typeface="微软雅黑" panose="020B0503020204020204" pitchFamily="34" charset="-122"/>
              </a:rPr>
              <a:t>跨类</a:t>
            </a:r>
            <a:r>
              <a:rPr lang="zh-CN" altLang="en-US" sz="2800" b="1" dirty="0">
                <a:latin typeface="微软雅黑" panose="020B0503020204020204" pitchFamily="34" charset="-122"/>
                <a:ea typeface="微软雅黑" panose="020B0503020204020204" pitchFamily="34" charset="-122"/>
              </a:rPr>
              <a:t>样本间距离小。</a:t>
            </a:r>
            <a:endParaRPr lang="zh-CN" altLang="en-US" sz="2800" b="1" dirty="0">
              <a:latin typeface="微软雅黑" panose="020B0503020204020204" pitchFamily="34" charset="-122"/>
              <a:ea typeface="微软雅黑" panose="020B0503020204020204" pitchFamily="34" charset="-122"/>
            </a:endParaRPr>
          </a:p>
          <a:p>
            <a:pPr marL="473075" indent="-473075" algn="just" eaLnBrk="1" hangingPunct="1">
              <a:lnSpc>
                <a:spcPct val="120000"/>
              </a:lnSpc>
              <a:buClr>
                <a:srgbClr val="FF0000"/>
              </a:buClr>
            </a:pPr>
            <a:r>
              <a:rPr lang="en-US" altLang="zh-CN" sz="2800" b="1" dirty="0">
                <a:solidFill>
                  <a:srgbClr val="0066FF"/>
                </a:solidFill>
                <a:latin typeface="微软雅黑" panose="020B0503020204020204" pitchFamily="34" charset="-122"/>
                <a:ea typeface="微软雅黑" panose="020B0503020204020204" pitchFamily="34" charset="-122"/>
              </a:rPr>
              <a:t>Fisher</a:t>
            </a:r>
            <a:r>
              <a:rPr lang="zh-CN" altLang="en-US" sz="2800" b="1" dirty="0">
                <a:solidFill>
                  <a:srgbClr val="0066FF"/>
                </a:solidFill>
                <a:latin typeface="微软雅黑" panose="020B0503020204020204" pitchFamily="34" charset="-122"/>
                <a:ea typeface="微软雅黑" panose="020B0503020204020204" pitchFamily="34" charset="-122"/>
              </a:rPr>
              <a:t>准则</a:t>
            </a:r>
            <a:r>
              <a:rPr lang="zh-CN" altLang="en-US" sz="2800" b="1" dirty="0">
                <a:latin typeface="微软雅黑" panose="020B0503020204020204" pitchFamily="34" charset="-122"/>
                <a:ea typeface="微软雅黑" panose="020B0503020204020204" pitchFamily="34" charset="-122"/>
              </a:rPr>
              <a:t>是以</a:t>
            </a:r>
            <a:r>
              <a:rPr lang="zh-CN" altLang="en-US" sz="2800" b="1" u="sng" dirty="0">
                <a:latin typeface="微软雅黑" panose="020B0503020204020204" pitchFamily="34" charset="-122"/>
                <a:ea typeface="微软雅黑" panose="020B0503020204020204" pitchFamily="34" charset="-122"/>
              </a:rPr>
              <a:t>类间距离尽可能大且保持类内距离较小</a:t>
            </a:r>
            <a:r>
              <a:rPr lang="zh-CN" altLang="en-US" sz="2800" b="1" dirty="0">
                <a:latin typeface="微软雅黑" panose="020B0503020204020204" pitchFamily="34" charset="-122"/>
                <a:ea typeface="微软雅黑" panose="020B0503020204020204" pitchFamily="34" charset="-122"/>
              </a:rPr>
              <a:t>的</a:t>
            </a:r>
            <a:r>
              <a:rPr lang="zh-CN" altLang="en-US" sz="2800" b="1" u="sng" dirty="0">
                <a:latin typeface="微软雅黑" panose="020B0503020204020204" pitchFamily="34" charset="-122"/>
                <a:ea typeface="微软雅黑" panose="020B0503020204020204" pitchFamily="34" charset="-122"/>
              </a:rPr>
              <a:t>原理</a:t>
            </a:r>
            <a:r>
              <a:rPr lang="zh-CN" altLang="en-US" sz="2800" b="1" dirty="0">
                <a:latin typeface="微软雅黑" panose="020B0503020204020204" pitchFamily="34" charset="-122"/>
                <a:ea typeface="微软雅黑" panose="020B0503020204020204" pitchFamily="34" charset="-122"/>
              </a:rPr>
              <a:t>为基础的。同样在特征选择中也可以使用类似的原理，这一类被称为</a:t>
            </a:r>
            <a:r>
              <a:rPr lang="zh-CN" altLang="en-US" sz="2800" b="1" dirty="0">
                <a:solidFill>
                  <a:srgbClr val="0066FF"/>
                </a:solidFill>
                <a:latin typeface="微软雅黑" panose="020B0503020204020204" pitchFamily="34" charset="-122"/>
                <a:ea typeface="微软雅黑" panose="020B0503020204020204" pitchFamily="34" charset="-122"/>
              </a:rPr>
              <a:t>基于距离的可分性判据。</a:t>
            </a:r>
            <a:endParaRPr lang="zh-CN" altLang="en-US" sz="2800" b="1" dirty="0">
              <a:solidFill>
                <a:srgbClr val="0066FF"/>
              </a:solidFill>
              <a:latin typeface="微软雅黑" panose="020B0503020204020204" pitchFamily="34" charset="-122"/>
              <a:ea typeface="微软雅黑" panose="020B0503020204020204" pitchFamily="34" charset="-122"/>
            </a:endParaRPr>
          </a:p>
          <a:p>
            <a:pPr marL="473075" indent="-473075" algn="just" eaLnBrk="1" hangingPunct="1">
              <a:lnSpc>
                <a:spcPct val="120000"/>
              </a:lnSpc>
              <a:buClr>
                <a:srgbClr val="FF0000"/>
              </a:buClr>
            </a:pPr>
            <a:r>
              <a:rPr lang="zh-CN" altLang="en-US" sz="2800" b="1" dirty="0">
                <a:latin typeface="微软雅黑" panose="020B0503020204020204" pitchFamily="34" charset="-122"/>
                <a:ea typeface="微软雅黑" panose="020B0503020204020204" pitchFamily="34" charset="-122"/>
              </a:rPr>
              <a:t>为了度量</a:t>
            </a:r>
            <a:r>
              <a:rPr lang="zh-CN" altLang="en-US" sz="2800" b="1" dirty="0">
                <a:solidFill>
                  <a:srgbClr val="0066FF"/>
                </a:solidFill>
                <a:latin typeface="微软雅黑" panose="020B0503020204020204" pitchFamily="34" charset="-122"/>
                <a:ea typeface="微软雅黑" panose="020B0503020204020204" pitchFamily="34" charset="-122"/>
              </a:rPr>
              <a:t>类内、类间</a:t>
            </a:r>
            <a:r>
              <a:rPr lang="zh-CN" altLang="en-US" sz="2800" b="1" dirty="0">
                <a:latin typeface="微软雅黑" panose="020B0503020204020204" pitchFamily="34" charset="-122"/>
                <a:ea typeface="微软雅黑" panose="020B0503020204020204" pitchFamily="34" charset="-122"/>
              </a:rPr>
              <a:t>的距离，可用其他方法描述方法，即描述样本的离散程度的方法。</a:t>
            </a:r>
            <a:endParaRPr lang="zh-CN" altLang="en-US" sz="2800" b="1" dirty="0">
              <a:latin typeface="微软雅黑" panose="020B0503020204020204" pitchFamily="34" charset="-122"/>
              <a:ea typeface="微软雅黑" panose="020B0503020204020204" pitchFamily="34" charset="-122"/>
            </a:endParaRPr>
          </a:p>
        </p:txBody>
      </p:sp>
      <p:sp>
        <p:nvSpPr>
          <p:cNvPr id="30724"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0725" name="Rectangle 2"/>
          <p:cNvSpPr txBox="1"/>
          <p:nvPr/>
        </p:nvSpPr>
        <p:spPr>
          <a:xfrm>
            <a:off x="2106613" y="793750"/>
            <a:ext cx="7010400" cy="58102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b="1" dirty="0">
                <a:ea typeface="楷体_GB2312" panose="02010609030101010101" pitchFamily="49" charset="-122"/>
              </a:rPr>
              <a:t>                      </a:t>
            </a:r>
            <a:endParaRPr lang="zh-CN" altLang="en-US" b="1" dirty="0">
              <a:ea typeface="楷体_GB2312" panose="02010609030101010101" pitchFamily="49"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1747" name="Rectangle 1027"/>
          <p:cNvSpPr>
            <a:spLocks noGrp="1"/>
          </p:cNvSpPr>
          <p:nvPr>
            <p:ph type="body" idx="4294967295"/>
          </p:nvPr>
        </p:nvSpPr>
        <p:spPr>
          <a:xfrm>
            <a:off x="457200" y="1627188"/>
            <a:ext cx="8153400" cy="1370012"/>
          </a:xfrm>
        </p:spPr>
        <p:txBody>
          <a:bodyPr vert="horz" wrap="square" lIns="90488" tIns="44450" rIns="90488" bIns="44450" anchor="t" anchorCtr="0">
            <a:spAutoFit/>
          </a:bodyPr>
          <a:p>
            <a:pPr marL="0" indent="568325" eaLnBrk="1" hangingPunct="1">
              <a:buNone/>
            </a:pPr>
            <a:r>
              <a:rPr lang="zh-CN" altLang="en-US" sz="2800" b="1" dirty="0">
                <a:latin typeface="微软雅黑" panose="020B0503020204020204" pitchFamily="34" charset="-122"/>
                <a:ea typeface="微软雅黑" panose="020B0503020204020204" pitchFamily="34" charset="-122"/>
              </a:rPr>
              <a:t>各类样本之间的</a:t>
            </a:r>
            <a:r>
              <a:rPr lang="zh-CN" altLang="en-US" sz="2800" b="1" dirty="0">
                <a:solidFill>
                  <a:srgbClr val="FF0000"/>
                </a:solidFill>
                <a:latin typeface="微软雅黑" panose="020B0503020204020204" pitchFamily="34" charset="-122"/>
                <a:ea typeface="微软雅黑" panose="020B0503020204020204" pitchFamily="34" charset="-122"/>
              </a:rPr>
              <a:t>距离越大</a:t>
            </a:r>
            <a:r>
              <a:rPr lang="zh-CN" altLang="en-US" sz="2800" b="1" dirty="0">
                <a:latin typeface="微软雅黑" panose="020B0503020204020204" pitchFamily="34" charset="-122"/>
                <a:ea typeface="微软雅黑" panose="020B0503020204020204" pitchFamily="34" charset="-122"/>
              </a:rPr>
              <a:t>，则</a:t>
            </a:r>
            <a:r>
              <a:rPr lang="zh-CN" altLang="en-US" sz="2800" b="1" dirty="0">
                <a:solidFill>
                  <a:srgbClr val="FF0000"/>
                </a:solidFill>
                <a:latin typeface="微软雅黑" panose="020B0503020204020204" pitchFamily="34" charset="-122"/>
                <a:ea typeface="微软雅黑" panose="020B0503020204020204" pitchFamily="34" charset="-122"/>
              </a:rPr>
              <a:t>类别可分性越大</a:t>
            </a:r>
            <a:r>
              <a:rPr lang="zh-CN" altLang="en-US" sz="2800" b="1" dirty="0">
                <a:latin typeface="微软雅黑" panose="020B0503020204020204" pitchFamily="34" charset="-122"/>
                <a:ea typeface="微软雅黑" panose="020B0503020204020204" pitchFamily="34" charset="-122"/>
              </a:rPr>
              <a:t>。因此，可以用各类样本之间的距离的平均值作为可分性准则</a:t>
            </a:r>
            <a:endParaRPr lang="zh-CN" altLang="en-US" sz="2800" b="1" dirty="0">
              <a:latin typeface="微软雅黑" panose="020B0503020204020204" pitchFamily="34" charset="-122"/>
              <a:ea typeface="微软雅黑" panose="020B0503020204020204" pitchFamily="34" charset="-122"/>
            </a:endParaRPr>
          </a:p>
        </p:txBody>
      </p:sp>
      <p:sp>
        <p:nvSpPr>
          <p:cNvPr id="31748"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1749"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graphicFrame>
        <p:nvGraphicFramePr>
          <p:cNvPr id="31750" name="Object 8"/>
          <p:cNvGraphicFramePr>
            <a:graphicFrameLocks noChangeAspect="1"/>
          </p:cNvGraphicFramePr>
          <p:nvPr/>
        </p:nvGraphicFramePr>
        <p:xfrm>
          <a:off x="1219200" y="2997200"/>
          <a:ext cx="6629400" cy="819150"/>
        </p:xfrm>
        <a:graphic>
          <a:graphicData uri="http://schemas.openxmlformats.org/presentationml/2006/ole">
            <mc:AlternateContent xmlns:mc="http://schemas.openxmlformats.org/markup-compatibility/2006">
              <mc:Choice xmlns:v="urn:schemas-microsoft-com:vml" Requires="v">
                <p:oleObj spid="_x0000_s3078" name="" r:id="rId1" imgW="2616200" imgH="482600" progId="Equation.DSMT4">
                  <p:embed/>
                </p:oleObj>
              </mc:Choice>
              <mc:Fallback>
                <p:oleObj name="" r:id="rId1" imgW="2616200" imgH="482600" progId="Equation.DSMT4">
                  <p:embed/>
                  <p:pic>
                    <p:nvPicPr>
                      <p:cNvPr id="0" name="图片 3077"/>
                      <p:cNvPicPr/>
                      <p:nvPr/>
                    </p:nvPicPr>
                    <p:blipFill>
                      <a:blip r:embed="rId2"/>
                      <a:stretch>
                        <a:fillRect/>
                      </a:stretch>
                    </p:blipFill>
                    <p:spPr>
                      <a:xfrm>
                        <a:off x="1219200" y="2997200"/>
                        <a:ext cx="6629400" cy="819150"/>
                      </a:xfrm>
                      <a:prstGeom prst="rect">
                        <a:avLst/>
                      </a:prstGeom>
                      <a:noFill/>
                      <a:ln w="38100">
                        <a:noFill/>
                        <a:miter/>
                      </a:ln>
                    </p:spPr>
                  </p:pic>
                </p:oleObj>
              </mc:Fallback>
            </mc:AlternateContent>
          </a:graphicData>
        </a:graphic>
      </p:graphicFrame>
      <p:graphicFrame>
        <p:nvGraphicFramePr>
          <p:cNvPr id="31751" name="对象 1"/>
          <p:cNvGraphicFramePr>
            <a:graphicFrameLocks noChangeAspect="1"/>
          </p:cNvGraphicFramePr>
          <p:nvPr/>
        </p:nvGraphicFramePr>
        <p:xfrm>
          <a:off x="1236663" y="3922713"/>
          <a:ext cx="2089150" cy="452437"/>
        </p:xfrm>
        <a:graphic>
          <a:graphicData uri="http://schemas.openxmlformats.org/presentationml/2006/ole">
            <mc:AlternateContent xmlns:mc="http://schemas.openxmlformats.org/markup-compatibility/2006">
              <mc:Choice xmlns:v="urn:schemas-microsoft-com:vml" Requires="v">
                <p:oleObj spid="_x0000_s3081" name="" r:id="rId3" imgW="939165" imgH="203200" progId="Equation.DSMT4">
                  <p:embed/>
                </p:oleObj>
              </mc:Choice>
              <mc:Fallback>
                <p:oleObj name="" r:id="rId3" imgW="939165" imgH="203200" progId="Equation.DSMT4">
                  <p:embed/>
                  <p:pic>
                    <p:nvPicPr>
                      <p:cNvPr id="0" name="图片 3080"/>
                      <p:cNvPicPr/>
                      <p:nvPr/>
                    </p:nvPicPr>
                    <p:blipFill>
                      <a:blip r:embed="rId4"/>
                      <a:stretch>
                        <a:fillRect/>
                      </a:stretch>
                    </p:blipFill>
                    <p:spPr>
                      <a:xfrm>
                        <a:off x="1236663" y="3922713"/>
                        <a:ext cx="2089150" cy="452437"/>
                      </a:xfrm>
                      <a:prstGeom prst="rect">
                        <a:avLst/>
                      </a:prstGeom>
                      <a:noFill/>
                      <a:ln w="38100">
                        <a:noFill/>
                        <a:miter/>
                      </a:ln>
                    </p:spPr>
                  </p:pic>
                </p:oleObj>
              </mc:Fallback>
            </mc:AlternateContent>
          </a:graphicData>
        </a:graphic>
      </p:graphicFrame>
      <p:graphicFrame>
        <p:nvGraphicFramePr>
          <p:cNvPr id="31752" name="对象 2"/>
          <p:cNvGraphicFramePr>
            <a:graphicFrameLocks noChangeAspect="1"/>
          </p:cNvGraphicFramePr>
          <p:nvPr/>
        </p:nvGraphicFramePr>
        <p:xfrm>
          <a:off x="1249363" y="4508500"/>
          <a:ext cx="3621087" cy="441325"/>
        </p:xfrm>
        <a:graphic>
          <a:graphicData uri="http://schemas.openxmlformats.org/presentationml/2006/ole">
            <mc:AlternateContent xmlns:mc="http://schemas.openxmlformats.org/markup-compatibility/2006">
              <mc:Choice xmlns:v="urn:schemas-microsoft-com:vml" Requires="v">
                <p:oleObj spid="_x0000_s3082" name="" r:id="rId5" imgW="1981200" imgH="241300" progId="Equation.DSMT4">
                  <p:embed/>
                </p:oleObj>
              </mc:Choice>
              <mc:Fallback>
                <p:oleObj name="" r:id="rId5" imgW="1981200" imgH="241300" progId="Equation.DSMT4">
                  <p:embed/>
                  <p:pic>
                    <p:nvPicPr>
                      <p:cNvPr id="0" name="图片 3081"/>
                      <p:cNvPicPr/>
                      <p:nvPr/>
                    </p:nvPicPr>
                    <p:blipFill>
                      <a:blip r:embed="rId6"/>
                      <a:stretch>
                        <a:fillRect/>
                      </a:stretch>
                    </p:blipFill>
                    <p:spPr>
                      <a:xfrm>
                        <a:off x="1249363" y="4508500"/>
                        <a:ext cx="3621087" cy="441325"/>
                      </a:xfrm>
                      <a:prstGeom prst="rect">
                        <a:avLst/>
                      </a:prstGeom>
                      <a:noFill/>
                      <a:ln w="38100">
                        <a:noFill/>
                        <a:miter/>
                      </a:ln>
                    </p:spPr>
                  </p:pic>
                </p:oleObj>
              </mc:Fallback>
            </mc:AlternateContent>
          </a:graphicData>
        </a:graphic>
      </p:graphicFrame>
      <p:graphicFrame>
        <p:nvGraphicFramePr>
          <p:cNvPr id="31753" name="对象 3"/>
          <p:cNvGraphicFramePr>
            <a:graphicFrameLocks noChangeAspect="1"/>
          </p:cNvGraphicFramePr>
          <p:nvPr/>
        </p:nvGraphicFramePr>
        <p:xfrm>
          <a:off x="1236663" y="5102225"/>
          <a:ext cx="3690937" cy="449263"/>
        </p:xfrm>
        <a:graphic>
          <a:graphicData uri="http://schemas.openxmlformats.org/presentationml/2006/ole">
            <mc:AlternateContent xmlns:mc="http://schemas.openxmlformats.org/markup-compatibility/2006">
              <mc:Choice xmlns:v="urn:schemas-microsoft-com:vml" Requires="v">
                <p:oleObj spid="_x0000_s3079" name="" r:id="rId7" imgW="1981200" imgH="241300" progId="Equation.DSMT4">
                  <p:embed/>
                </p:oleObj>
              </mc:Choice>
              <mc:Fallback>
                <p:oleObj name="" r:id="rId7" imgW="1981200" imgH="241300" progId="Equation.DSMT4">
                  <p:embed/>
                  <p:pic>
                    <p:nvPicPr>
                      <p:cNvPr id="0" name="图片 3078"/>
                      <p:cNvPicPr/>
                      <p:nvPr/>
                    </p:nvPicPr>
                    <p:blipFill>
                      <a:blip r:embed="rId8"/>
                      <a:stretch>
                        <a:fillRect/>
                      </a:stretch>
                    </p:blipFill>
                    <p:spPr>
                      <a:xfrm>
                        <a:off x="1236663" y="5102225"/>
                        <a:ext cx="3690937" cy="449263"/>
                      </a:xfrm>
                      <a:prstGeom prst="rect">
                        <a:avLst/>
                      </a:prstGeom>
                      <a:noFill/>
                      <a:ln w="38100">
                        <a:noFill/>
                        <a:miter/>
                      </a:ln>
                    </p:spPr>
                  </p:pic>
                </p:oleObj>
              </mc:Fallback>
            </mc:AlternateContent>
          </a:graphicData>
        </a:graphic>
      </p:graphicFrame>
      <p:graphicFrame>
        <p:nvGraphicFramePr>
          <p:cNvPr id="31754" name="对象 4"/>
          <p:cNvGraphicFramePr>
            <a:graphicFrameLocks noChangeAspect="1"/>
          </p:cNvGraphicFramePr>
          <p:nvPr/>
        </p:nvGraphicFramePr>
        <p:xfrm>
          <a:off x="1249363" y="5702300"/>
          <a:ext cx="5843587" cy="463550"/>
        </p:xfrm>
        <a:graphic>
          <a:graphicData uri="http://schemas.openxmlformats.org/presentationml/2006/ole">
            <mc:AlternateContent xmlns:mc="http://schemas.openxmlformats.org/markup-compatibility/2006">
              <mc:Choice xmlns:v="urn:schemas-microsoft-com:vml" Requires="v">
                <p:oleObj spid="_x0000_s3083" name="" r:id="rId9" imgW="3048000" imgH="241300" progId="Equation.DSMT4">
                  <p:embed/>
                </p:oleObj>
              </mc:Choice>
              <mc:Fallback>
                <p:oleObj name="" r:id="rId9" imgW="3048000" imgH="241300" progId="Equation.DSMT4">
                  <p:embed/>
                  <p:pic>
                    <p:nvPicPr>
                      <p:cNvPr id="0" name="图片 3082"/>
                      <p:cNvPicPr/>
                      <p:nvPr/>
                    </p:nvPicPr>
                    <p:blipFill>
                      <a:blip r:embed="rId10"/>
                      <a:stretch>
                        <a:fillRect/>
                      </a:stretch>
                    </p:blipFill>
                    <p:spPr>
                      <a:xfrm>
                        <a:off x="1249363" y="5702300"/>
                        <a:ext cx="5843587" cy="463550"/>
                      </a:xfrm>
                      <a:prstGeom prst="rect">
                        <a:avLst/>
                      </a:prstGeom>
                      <a:noFill/>
                      <a:ln w="38100">
                        <a:noFill/>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2771" name="Rectangle 1027"/>
          <p:cNvSpPr>
            <a:spLocks noGrp="1"/>
          </p:cNvSpPr>
          <p:nvPr>
            <p:ph type="body" idx="4294967295"/>
          </p:nvPr>
        </p:nvSpPr>
        <p:spPr>
          <a:xfrm>
            <a:off x="457200" y="1627188"/>
            <a:ext cx="8153400" cy="1370012"/>
          </a:xfrm>
        </p:spPr>
        <p:txBody>
          <a:bodyPr vert="horz" wrap="square" lIns="90488" tIns="44450" rIns="90488" bIns="44450" anchor="t" anchorCtr="0">
            <a:spAutoFit/>
          </a:bodyPr>
          <a:p>
            <a:pPr marL="0" indent="568325" eaLnBrk="1" hangingPunct="1">
              <a:buNone/>
            </a:pPr>
            <a:r>
              <a:rPr lang="zh-CN" altLang="en-US" sz="2800" b="1" dirty="0">
                <a:latin typeface="微软雅黑" panose="020B0503020204020204" pitchFamily="34" charset="-122"/>
                <a:ea typeface="微软雅黑" panose="020B0503020204020204" pitchFamily="34" charset="-122"/>
              </a:rPr>
              <a:t>各类样本之间的</a:t>
            </a:r>
            <a:r>
              <a:rPr lang="zh-CN" altLang="en-US" sz="2800" b="1" dirty="0">
                <a:solidFill>
                  <a:srgbClr val="FF0000"/>
                </a:solidFill>
                <a:latin typeface="微软雅黑" panose="020B0503020204020204" pitchFamily="34" charset="-122"/>
                <a:ea typeface="微软雅黑" panose="020B0503020204020204" pitchFamily="34" charset="-122"/>
              </a:rPr>
              <a:t>距离越大</a:t>
            </a:r>
            <a:r>
              <a:rPr lang="zh-CN" altLang="en-US" sz="2800" b="1" dirty="0">
                <a:latin typeface="微软雅黑" panose="020B0503020204020204" pitchFamily="34" charset="-122"/>
                <a:ea typeface="微软雅黑" panose="020B0503020204020204" pitchFamily="34" charset="-122"/>
              </a:rPr>
              <a:t>，则</a:t>
            </a:r>
            <a:r>
              <a:rPr lang="zh-CN" altLang="en-US" sz="2800" b="1" dirty="0">
                <a:solidFill>
                  <a:srgbClr val="FF0000"/>
                </a:solidFill>
                <a:latin typeface="微软雅黑" panose="020B0503020204020204" pitchFamily="34" charset="-122"/>
                <a:ea typeface="微软雅黑" panose="020B0503020204020204" pitchFamily="34" charset="-122"/>
              </a:rPr>
              <a:t>类别可分性越大</a:t>
            </a:r>
            <a:r>
              <a:rPr lang="zh-CN" altLang="en-US" sz="2800" b="1" dirty="0">
                <a:latin typeface="微软雅黑" panose="020B0503020204020204" pitchFamily="34" charset="-122"/>
                <a:ea typeface="微软雅黑" panose="020B0503020204020204" pitchFamily="34" charset="-122"/>
              </a:rPr>
              <a:t>。因此，可以用各类样本之间的距离的平均值作为可分性准则</a:t>
            </a:r>
            <a:endParaRPr lang="zh-CN" altLang="en-US" sz="2800" b="1" dirty="0">
              <a:latin typeface="微软雅黑" panose="020B0503020204020204" pitchFamily="34" charset="-122"/>
              <a:ea typeface="微软雅黑" panose="020B0503020204020204" pitchFamily="34" charset="-122"/>
            </a:endParaRPr>
          </a:p>
        </p:txBody>
      </p:sp>
      <p:sp>
        <p:nvSpPr>
          <p:cNvPr id="32772"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2773"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graphicFrame>
        <p:nvGraphicFramePr>
          <p:cNvPr id="32774" name="Object 8"/>
          <p:cNvGraphicFramePr>
            <a:graphicFrameLocks noChangeAspect="1"/>
          </p:cNvGraphicFramePr>
          <p:nvPr/>
        </p:nvGraphicFramePr>
        <p:xfrm>
          <a:off x="1219200" y="2997200"/>
          <a:ext cx="6629400" cy="819150"/>
        </p:xfrm>
        <a:graphic>
          <a:graphicData uri="http://schemas.openxmlformats.org/presentationml/2006/ole">
            <mc:AlternateContent xmlns:mc="http://schemas.openxmlformats.org/markup-compatibility/2006">
              <mc:Choice xmlns:v="urn:schemas-microsoft-com:vml" Requires="v">
                <p:oleObj spid="_x0000_s3080" name="" r:id="rId1" imgW="2616200" imgH="482600" progId="Equation.DSMT4">
                  <p:embed/>
                </p:oleObj>
              </mc:Choice>
              <mc:Fallback>
                <p:oleObj name="" r:id="rId1" imgW="2616200" imgH="482600" progId="Equation.DSMT4">
                  <p:embed/>
                  <p:pic>
                    <p:nvPicPr>
                      <p:cNvPr id="0" name="图片 3079"/>
                      <p:cNvPicPr/>
                      <p:nvPr/>
                    </p:nvPicPr>
                    <p:blipFill>
                      <a:blip r:embed="rId2"/>
                      <a:stretch>
                        <a:fillRect/>
                      </a:stretch>
                    </p:blipFill>
                    <p:spPr>
                      <a:xfrm>
                        <a:off x="1219200" y="2997200"/>
                        <a:ext cx="6629400" cy="819150"/>
                      </a:xfrm>
                      <a:prstGeom prst="rect">
                        <a:avLst/>
                      </a:prstGeom>
                      <a:noFill/>
                      <a:ln w="38100">
                        <a:noFill/>
                        <a:miter/>
                      </a:ln>
                    </p:spPr>
                  </p:pic>
                </p:oleObj>
              </mc:Fallback>
            </mc:AlternateContent>
          </a:graphicData>
        </a:graphic>
      </p:graphicFrame>
      <p:graphicFrame>
        <p:nvGraphicFramePr>
          <p:cNvPr id="32775" name="Object 4"/>
          <p:cNvGraphicFramePr>
            <a:graphicFrameLocks noChangeAspect="1"/>
          </p:cNvGraphicFramePr>
          <p:nvPr/>
        </p:nvGraphicFramePr>
        <p:xfrm>
          <a:off x="2286000" y="3776663"/>
          <a:ext cx="1905000" cy="731837"/>
        </p:xfrm>
        <a:graphic>
          <a:graphicData uri="http://schemas.openxmlformats.org/presentationml/2006/ole">
            <mc:AlternateContent xmlns:mc="http://schemas.openxmlformats.org/markup-compatibility/2006">
              <mc:Choice xmlns:v="urn:schemas-microsoft-com:vml" Requires="v">
                <p:oleObj spid="_x0000_s3084" name="" r:id="rId3" imgW="901700" imgH="457200" progId="Equation.DSMT4">
                  <p:embed/>
                </p:oleObj>
              </mc:Choice>
              <mc:Fallback>
                <p:oleObj name="" r:id="rId3" imgW="901700" imgH="457200" progId="Equation.DSMT4">
                  <p:embed/>
                  <p:pic>
                    <p:nvPicPr>
                      <p:cNvPr id="0" name="图片 3083"/>
                      <p:cNvPicPr/>
                      <p:nvPr/>
                    </p:nvPicPr>
                    <p:blipFill>
                      <a:blip r:embed="rId4"/>
                      <a:stretch>
                        <a:fillRect/>
                      </a:stretch>
                    </p:blipFill>
                    <p:spPr>
                      <a:xfrm>
                        <a:off x="2286000" y="3776663"/>
                        <a:ext cx="1905000" cy="731837"/>
                      </a:xfrm>
                      <a:prstGeom prst="rect">
                        <a:avLst/>
                      </a:prstGeom>
                      <a:noFill/>
                      <a:ln w="38100">
                        <a:noFill/>
                        <a:miter/>
                      </a:ln>
                    </p:spPr>
                  </p:pic>
                </p:oleObj>
              </mc:Fallback>
            </mc:AlternateContent>
          </a:graphicData>
        </a:graphic>
      </p:graphicFrame>
      <p:graphicFrame>
        <p:nvGraphicFramePr>
          <p:cNvPr id="32776" name="Object 5"/>
          <p:cNvGraphicFramePr>
            <a:graphicFrameLocks noChangeAspect="1"/>
          </p:cNvGraphicFramePr>
          <p:nvPr/>
        </p:nvGraphicFramePr>
        <p:xfrm>
          <a:off x="4572000" y="3835400"/>
          <a:ext cx="1905000" cy="655638"/>
        </p:xfrm>
        <a:graphic>
          <a:graphicData uri="http://schemas.openxmlformats.org/presentationml/2006/ole">
            <mc:AlternateContent xmlns:mc="http://schemas.openxmlformats.org/markup-compatibility/2006">
              <mc:Choice xmlns:v="urn:schemas-microsoft-com:vml" Requires="v">
                <p:oleObj spid="_x0000_s3085" name="" r:id="rId5" imgW="787400" imgH="431800" progId="Equation.DSMT4">
                  <p:embed/>
                </p:oleObj>
              </mc:Choice>
              <mc:Fallback>
                <p:oleObj name="" r:id="rId5" imgW="787400" imgH="431800" progId="Equation.DSMT4">
                  <p:embed/>
                  <p:pic>
                    <p:nvPicPr>
                      <p:cNvPr id="0" name="图片 3084"/>
                      <p:cNvPicPr/>
                      <p:nvPr/>
                    </p:nvPicPr>
                    <p:blipFill>
                      <a:blip r:embed="rId6"/>
                      <a:stretch>
                        <a:fillRect/>
                      </a:stretch>
                    </p:blipFill>
                    <p:spPr>
                      <a:xfrm>
                        <a:off x="4572000" y="3835400"/>
                        <a:ext cx="1905000" cy="655638"/>
                      </a:xfrm>
                      <a:prstGeom prst="rect">
                        <a:avLst/>
                      </a:prstGeom>
                      <a:noFill/>
                      <a:ln w="38100">
                        <a:noFill/>
                        <a:miter/>
                      </a:ln>
                    </p:spPr>
                  </p:pic>
                </p:oleObj>
              </mc:Fallback>
            </mc:AlternateContent>
          </a:graphicData>
        </a:graphic>
      </p:graphicFrame>
      <p:sp>
        <p:nvSpPr>
          <p:cNvPr id="32777" name="AutoShape 17"/>
          <p:cNvSpPr/>
          <p:nvPr/>
        </p:nvSpPr>
        <p:spPr>
          <a:xfrm>
            <a:off x="381000" y="3987800"/>
            <a:ext cx="1143000" cy="381000"/>
          </a:xfrm>
          <a:prstGeom prst="borderCallout1">
            <a:avLst>
              <a:gd name="adj1" fmla="val 30000"/>
              <a:gd name="adj2" fmla="val 106667"/>
              <a:gd name="adj3" fmla="val 56250"/>
              <a:gd name="adj4" fmla="val 156250"/>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dirty="0">
                <a:ea typeface="宋体" panose="02010600030101010101" pitchFamily="2" charset="-122"/>
              </a:rPr>
              <a:t>均值向量</a:t>
            </a:r>
            <a:endParaRPr lang="zh-CN" altLang="en-US" sz="1800" dirty="0">
              <a:ea typeface="宋体" panose="02010600030101010101" pitchFamily="2" charset="-122"/>
            </a:endParaRPr>
          </a:p>
        </p:txBody>
      </p:sp>
      <p:sp>
        <p:nvSpPr>
          <p:cNvPr id="32778" name="AutoShape 18"/>
          <p:cNvSpPr/>
          <p:nvPr/>
        </p:nvSpPr>
        <p:spPr>
          <a:xfrm>
            <a:off x="7239000" y="3759200"/>
            <a:ext cx="1600200" cy="381000"/>
          </a:xfrm>
          <a:prstGeom prst="borderCallout1">
            <a:avLst>
              <a:gd name="adj1" fmla="val 30000"/>
              <a:gd name="adj2" fmla="val -4764"/>
              <a:gd name="adj3" fmla="val 102083"/>
              <a:gd name="adj4" fmla="val -48315"/>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dirty="0">
                <a:ea typeface="宋体" panose="02010600030101010101" pitchFamily="2" charset="-122"/>
              </a:rPr>
              <a:t>总平均向量</a:t>
            </a:r>
            <a:endParaRPr lang="zh-CN" altLang="en-US" sz="1800" dirty="0">
              <a:ea typeface="宋体" panose="02010600030101010101" pitchFamily="2" charset="-122"/>
            </a:endParaRPr>
          </a:p>
        </p:txBody>
      </p:sp>
      <p:sp>
        <p:nvSpPr>
          <p:cNvPr id="32779" name="圆角矩形 14"/>
          <p:cNvSpPr/>
          <p:nvPr/>
        </p:nvSpPr>
        <p:spPr>
          <a:xfrm>
            <a:off x="1441450" y="4581525"/>
            <a:ext cx="6192838" cy="719138"/>
          </a:xfrm>
          <a:prstGeom prst="roundRect">
            <a:avLst>
              <a:gd name="adj" fmla="val 16667"/>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graphicFrame>
        <p:nvGraphicFramePr>
          <p:cNvPr id="32780" name="Object 6"/>
          <p:cNvGraphicFramePr>
            <a:graphicFrameLocks noChangeAspect="1"/>
          </p:cNvGraphicFramePr>
          <p:nvPr/>
        </p:nvGraphicFramePr>
        <p:xfrm>
          <a:off x="1524000" y="4587875"/>
          <a:ext cx="5957888" cy="712788"/>
        </p:xfrm>
        <a:graphic>
          <a:graphicData uri="http://schemas.openxmlformats.org/presentationml/2006/ole">
            <mc:AlternateContent xmlns:mc="http://schemas.openxmlformats.org/markup-compatibility/2006">
              <mc:Choice xmlns:v="urn:schemas-microsoft-com:vml" Requires="v">
                <p:oleObj spid="_x0000_s3086" name="" r:id="rId7" imgW="2641600" imgH="482600" progId="Equation.DSMT4">
                  <p:embed/>
                </p:oleObj>
              </mc:Choice>
              <mc:Fallback>
                <p:oleObj name="" r:id="rId7" imgW="2641600" imgH="482600" progId="Equation.DSMT4">
                  <p:embed/>
                  <p:pic>
                    <p:nvPicPr>
                      <p:cNvPr id="0" name="图片 3085"/>
                      <p:cNvPicPr/>
                      <p:nvPr/>
                    </p:nvPicPr>
                    <p:blipFill>
                      <a:blip r:embed="rId8"/>
                      <a:stretch>
                        <a:fillRect/>
                      </a:stretch>
                    </p:blipFill>
                    <p:spPr>
                      <a:xfrm>
                        <a:off x="1524000" y="4587875"/>
                        <a:ext cx="5957888" cy="712788"/>
                      </a:xfrm>
                      <a:prstGeom prst="rect">
                        <a:avLst/>
                      </a:prstGeom>
                      <a:noFill/>
                      <a:ln w="38100">
                        <a:noFill/>
                        <a:miter/>
                      </a:ln>
                    </p:spPr>
                  </p:pic>
                </p:oleObj>
              </mc:Fallback>
            </mc:AlternateContent>
          </a:graphicData>
        </a:graphic>
      </p:graphicFrame>
      <p:sp>
        <p:nvSpPr>
          <p:cNvPr id="32781" name="下箭头 7"/>
          <p:cNvSpPr/>
          <p:nvPr/>
        </p:nvSpPr>
        <p:spPr>
          <a:xfrm>
            <a:off x="4440238" y="5211763"/>
            <a:ext cx="263525" cy="360362"/>
          </a:xfrm>
          <a:prstGeom prst="downArrow">
            <a:avLst>
              <a:gd name="adj1" fmla="val 50000"/>
              <a:gd name="adj2" fmla="val 50267"/>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sp>
        <p:nvSpPr>
          <p:cNvPr id="32782" name="下箭头 19"/>
          <p:cNvSpPr/>
          <p:nvPr/>
        </p:nvSpPr>
        <p:spPr>
          <a:xfrm>
            <a:off x="6477000" y="5194300"/>
            <a:ext cx="265113" cy="360363"/>
          </a:xfrm>
          <a:prstGeom prst="downArrow">
            <a:avLst>
              <a:gd name="adj1" fmla="val 50000"/>
              <a:gd name="adj2" fmla="val 49966"/>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sp>
        <p:nvSpPr>
          <p:cNvPr id="22" name="Rectangle 1027"/>
          <p:cNvSpPr txBox="1">
            <a:spLocks noChangeArrowheads="1"/>
          </p:cNvSpPr>
          <p:nvPr/>
        </p:nvSpPr>
        <p:spPr bwMode="auto">
          <a:xfrm>
            <a:off x="3778250" y="5684838"/>
            <a:ext cx="1587500" cy="520700"/>
          </a:xfrm>
          <a:prstGeom prst="rect">
            <a:avLst/>
          </a:prstGeom>
          <a:noFill/>
          <a:ln>
            <a:noFill/>
          </a:ln>
        </p:spPr>
        <p:txBody>
          <a:bodyPr lIns="90488" tIns="44450" rIns="90488" bIns="4445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marR="0" lvl="0" indent="0" algn="ctr"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defRPr/>
            </a:pPr>
            <a:r>
              <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rPr>
              <a:t>样本到质心的</a:t>
            </a:r>
            <a:endParaRPr kumimoji="1" lang="en-US" altLang="zh-CN"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endParaRPr>
          </a:p>
          <a:p>
            <a:pPr marL="0" marR="0" lvl="0" indent="0" algn="ctr"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defRPr/>
            </a:pPr>
            <a:r>
              <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rPr>
              <a:t>平方距离</a:t>
            </a:r>
            <a:endPar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endParaRPr>
          </a:p>
        </p:txBody>
      </p:sp>
      <p:sp>
        <p:nvSpPr>
          <p:cNvPr id="23" name="Rectangle 1027"/>
          <p:cNvSpPr txBox="1">
            <a:spLocks noChangeArrowheads="1"/>
          </p:cNvSpPr>
          <p:nvPr/>
        </p:nvSpPr>
        <p:spPr bwMode="auto">
          <a:xfrm>
            <a:off x="5815013" y="5684838"/>
            <a:ext cx="1587500" cy="736600"/>
          </a:xfrm>
          <a:prstGeom prst="rect">
            <a:avLst/>
          </a:prstGeom>
          <a:noFill/>
          <a:ln>
            <a:noFill/>
          </a:ln>
        </p:spPr>
        <p:txBody>
          <a:bodyPr lIns="90488" tIns="44450" rIns="90488" bIns="4445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marR="0" lvl="0" indent="0" algn="ctr"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defRPr/>
            </a:pPr>
            <a:r>
              <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rPr>
              <a:t>某类均值向量到总体样本向量之间的平方距离</a:t>
            </a:r>
            <a:endPar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3795" name="Rectangle 1027"/>
          <p:cNvSpPr>
            <a:spLocks noGrp="1"/>
          </p:cNvSpPr>
          <p:nvPr>
            <p:ph type="body" idx="4294967295"/>
          </p:nvPr>
        </p:nvSpPr>
        <p:spPr>
          <a:xfrm>
            <a:off x="457200" y="1627188"/>
            <a:ext cx="8153400" cy="1370012"/>
          </a:xfrm>
        </p:spPr>
        <p:txBody>
          <a:bodyPr vert="horz" wrap="square" lIns="90488" tIns="44450" rIns="90488" bIns="44450" anchor="t" anchorCtr="0">
            <a:spAutoFit/>
          </a:bodyPr>
          <a:p>
            <a:pPr marL="0" indent="568325" eaLnBrk="1" hangingPunct="1">
              <a:buNone/>
            </a:pPr>
            <a:r>
              <a:rPr lang="zh-CN" altLang="en-US" sz="2800" b="1" dirty="0">
                <a:latin typeface="微软雅黑" panose="020B0503020204020204" pitchFamily="34" charset="-122"/>
                <a:ea typeface="微软雅黑" panose="020B0503020204020204" pitchFamily="34" charset="-122"/>
              </a:rPr>
              <a:t>各类样本之间的</a:t>
            </a:r>
            <a:r>
              <a:rPr lang="zh-CN" altLang="en-US" sz="2800" b="1" dirty="0">
                <a:solidFill>
                  <a:srgbClr val="FF0000"/>
                </a:solidFill>
                <a:latin typeface="微软雅黑" panose="020B0503020204020204" pitchFamily="34" charset="-122"/>
                <a:ea typeface="微软雅黑" panose="020B0503020204020204" pitchFamily="34" charset="-122"/>
              </a:rPr>
              <a:t>距离越大</a:t>
            </a:r>
            <a:r>
              <a:rPr lang="zh-CN" altLang="en-US" sz="2800" b="1" dirty="0">
                <a:latin typeface="微软雅黑" panose="020B0503020204020204" pitchFamily="34" charset="-122"/>
                <a:ea typeface="微软雅黑" panose="020B0503020204020204" pitchFamily="34" charset="-122"/>
              </a:rPr>
              <a:t>，则</a:t>
            </a:r>
            <a:r>
              <a:rPr lang="zh-CN" altLang="en-US" sz="2800" b="1" dirty="0">
                <a:solidFill>
                  <a:srgbClr val="FF0000"/>
                </a:solidFill>
                <a:latin typeface="微软雅黑" panose="020B0503020204020204" pitchFamily="34" charset="-122"/>
                <a:ea typeface="微软雅黑" panose="020B0503020204020204" pitchFamily="34" charset="-122"/>
              </a:rPr>
              <a:t>类别可分性越大</a:t>
            </a:r>
            <a:r>
              <a:rPr lang="zh-CN" altLang="en-US" sz="2800" b="1" dirty="0">
                <a:latin typeface="微软雅黑" panose="020B0503020204020204" pitchFamily="34" charset="-122"/>
                <a:ea typeface="微软雅黑" panose="020B0503020204020204" pitchFamily="34" charset="-122"/>
              </a:rPr>
              <a:t>。因此，可以用各类样本之间的距离的平均值作为可分性准则</a:t>
            </a:r>
            <a:endParaRPr lang="zh-CN" altLang="en-US" sz="2800" b="1" dirty="0">
              <a:latin typeface="微软雅黑" panose="020B0503020204020204" pitchFamily="34" charset="-122"/>
              <a:ea typeface="微软雅黑" panose="020B0503020204020204" pitchFamily="34" charset="-122"/>
            </a:endParaRPr>
          </a:p>
        </p:txBody>
      </p:sp>
      <p:sp>
        <p:nvSpPr>
          <p:cNvPr id="33796"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3797"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graphicFrame>
        <p:nvGraphicFramePr>
          <p:cNvPr id="33798" name="Object 8"/>
          <p:cNvGraphicFramePr>
            <a:graphicFrameLocks noChangeAspect="1"/>
          </p:cNvGraphicFramePr>
          <p:nvPr/>
        </p:nvGraphicFramePr>
        <p:xfrm>
          <a:off x="1219200" y="2997200"/>
          <a:ext cx="6629400" cy="819150"/>
        </p:xfrm>
        <a:graphic>
          <a:graphicData uri="http://schemas.openxmlformats.org/presentationml/2006/ole">
            <mc:AlternateContent xmlns:mc="http://schemas.openxmlformats.org/markup-compatibility/2006">
              <mc:Choice xmlns:v="urn:schemas-microsoft-com:vml" Requires="v">
                <p:oleObj spid="_x0000_s3096" name="" r:id="rId1" imgW="2616200" imgH="482600" progId="Equation.DSMT4">
                  <p:embed/>
                </p:oleObj>
              </mc:Choice>
              <mc:Fallback>
                <p:oleObj name="" r:id="rId1" imgW="2616200" imgH="482600" progId="Equation.DSMT4">
                  <p:embed/>
                  <p:pic>
                    <p:nvPicPr>
                      <p:cNvPr id="0" name="图片 3095"/>
                      <p:cNvPicPr/>
                      <p:nvPr/>
                    </p:nvPicPr>
                    <p:blipFill>
                      <a:blip r:embed="rId2"/>
                      <a:stretch>
                        <a:fillRect/>
                      </a:stretch>
                    </p:blipFill>
                    <p:spPr>
                      <a:xfrm>
                        <a:off x="1219200" y="2997200"/>
                        <a:ext cx="6629400" cy="819150"/>
                      </a:xfrm>
                      <a:prstGeom prst="rect">
                        <a:avLst/>
                      </a:prstGeom>
                      <a:noFill/>
                      <a:ln w="38100">
                        <a:noFill/>
                        <a:miter/>
                      </a:ln>
                    </p:spPr>
                  </p:pic>
                </p:oleObj>
              </mc:Fallback>
            </mc:AlternateContent>
          </a:graphicData>
        </a:graphic>
      </p:graphicFrame>
      <p:graphicFrame>
        <p:nvGraphicFramePr>
          <p:cNvPr id="33799" name="Object 4"/>
          <p:cNvGraphicFramePr>
            <a:graphicFrameLocks noChangeAspect="1"/>
          </p:cNvGraphicFramePr>
          <p:nvPr/>
        </p:nvGraphicFramePr>
        <p:xfrm>
          <a:off x="2286000" y="3806825"/>
          <a:ext cx="1905000" cy="731838"/>
        </p:xfrm>
        <a:graphic>
          <a:graphicData uri="http://schemas.openxmlformats.org/presentationml/2006/ole">
            <mc:AlternateContent xmlns:mc="http://schemas.openxmlformats.org/markup-compatibility/2006">
              <mc:Choice xmlns:v="urn:schemas-microsoft-com:vml" Requires="v">
                <p:oleObj spid="_x0000_s3091" name="" r:id="rId3" imgW="901700" imgH="457200" progId="Equation.DSMT4">
                  <p:embed/>
                </p:oleObj>
              </mc:Choice>
              <mc:Fallback>
                <p:oleObj name="" r:id="rId3" imgW="901700" imgH="457200" progId="Equation.DSMT4">
                  <p:embed/>
                  <p:pic>
                    <p:nvPicPr>
                      <p:cNvPr id="0" name="图片 3090"/>
                      <p:cNvPicPr/>
                      <p:nvPr/>
                    </p:nvPicPr>
                    <p:blipFill>
                      <a:blip r:embed="rId4"/>
                      <a:stretch>
                        <a:fillRect/>
                      </a:stretch>
                    </p:blipFill>
                    <p:spPr>
                      <a:xfrm>
                        <a:off x="2286000" y="3806825"/>
                        <a:ext cx="1905000" cy="731838"/>
                      </a:xfrm>
                      <a:prstGeom prst="rect">
                        <a:avLst/>
                      </a:prstGeom>
                      <a:noFill/>
                      <a:ln w="38100">
                        <a:noFill/>
                        <a:miter/>
                      </a:ln>
                    </p:spPr>
                  </p:pic>
                </p:oleObj>
              </mc:Fallback>
            </mc:AlternateContent>
          </a:graphicData>
        </a:graphic>
      </p:graphicFrame>
      <p:graphicFrame>
        <p:nvGraphicFramePr>
          <p:cNvPr id="33800" name="Object 5"/>
          <p:cNvGraphicFramePr>
            <a:graphicFrameLocks noChangeAspect="1"/>
          </p:cNvGraphicFramePr>
          <p:nvPr/>
        </p:nvGraphicFramePr>
        <p:xfrm>
          <a:off x="4572000" y="3865563"/>
          <a:ext cx="1905000" cy="655637"/>
        </p:xfrm>
        <a:graphic>
          <a:graphicData uri="http://schemas.openxmlformats.org/presentationml/2006/ole">
            <mc:AlternateContent xmlns:mc="http://schemas.openxmlformats.org/markup-compatibility/2006">
              <mc:Choice xmlns:v="urn:schemas-microsoft-com:vml" Requires="v">
                <p:oleObj spid="_x0000_s3095" name="" r:id="rId5" imgW="787400" imgH="431800" progId="Equation.DSMT4">
                  <p:embed/>
                </p:oleObj>
              </mc:Choice>
              <mc:Fallback>
                <p:oleObj name="" r:id="rId5" imgW="787400" imgH="431800" progId="Equation.DSMT4">
                  <p:embed/>
                  <p:pic>
                    <p:nvPicPr>
                      <p:cNvPr id="0" name="图片 3094"/>
                      <p:cNvPicPr/>
                      <p:nvPr/>
                    </p:nvPicPr>
                    <p:blipFill>
                      <a:blip r:embed="rId6"/>
                      <a:stretch>
                        <a:fillRect/>
                      </a:stretch>
                    </p:blipFill>
                    <p:spPr>
                      <a:xfrm>
                        <a:off x="4572000" y="3865563"/>
                        <a:ext cx="1905000" cy="655637"/>
                      </a:xfrm>
                      <a:prstGeom prst="rect">
                        <a:avLst/>
                      </a:prstGeom>
                      <a:noFill/>
                      <a:ln w="38100">
                        <a:noFill/>
                        <a:miter/>
                      </a:ln>
                    </p:spPr>
                  </p:pic>
                </p:oleObj>
              </mc:Fallback>
            </mc:AlternateContent>
          </a:graphicData>
        </a:graphic>
      </p:graphicFrame>
      <p:sp>
        <p:nvSpPr>
          <p:cNvPr id="33801" name="AutoShape 17"/>
          <p:cNvSpPr/>
          <p:nvPr/>
        </p:nvSpPr>
        <p:spPr>
          <a:xfrm>
            <a:off x="381000" y="4017963"/>
            <a:ext cx="1143000" cy="381000"/>
          </a:xfrm>
          <a:prstGeom prst="borderCallout1">
            <a:avLst>
              <a:gd name="adj1" fmla="val 30000"/>
              <a:gd name="adj2" fmla="val 106667"/>
              <a:gd name="adj3" fmla="val 56250"/>
              <a:gd name="adj4" fmla="val 156250"/>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dirty="0">
                <a:ea typeface="宋体" panose="02010600030101010101" pitchFamily="2" charset="-122"/>
              </a:rPr>
              <a:t>均值向量</a:t>
            </a:r>
            <a:endParaRPr lang="zh-CN" altLang="en-US" sz="1800" dirty="0">
              <a:ea typeface="宋体" panose="02010600030101010101" pitchFamily="2" charset="-122"/>
            </a:endParaRPr>
          </a:p>
        </p:txBody>
      </p:sp>
      <p:sp>
        <p:nvSpPr>
          <p:cNvPr id="33802" name="AutoShape 18"/>
          <p:cNvSpPr/>
          <p:nvPr/>
        </p:nvSpPr>
        <p:spPr>
          <a:xfrm>
            <a:off x="7239000" y="3789363"/>
            <a:ext cx="1600200" cy="381000"/>
          </a:xfrm>
          <a:prstGeom prst="borderCallout1">
            <a:avLst>
              <a:gd name="adj1" fmla="val 30000"/>
              <a:gd name="adj2" fmla="val -4764"/>
              <a:gd name="adj3" fmla="val 102083"/>
              <a:gd name="adj4" fmla="val -48315"/>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dirty="0">
                <a:ea typeface="宋体" panose="02010600030101010101" pitchFamily="2" charset="-122"/>
              </a:rPr>
              <a:t>总平均向量</a:t>
            </a:r>
            <a:endParaRPr lang="zh-CN" altLang="en-US" sz="1800" dirty="0">
              <a:ea typeface="宋体" panose="02010600030101010101" pitchFamily="2" charset="-122"/>
            </a:endParaRPr>
          </a:p>
        </p:txBody>
      </p:sp>
      <p:sp>
        <p:nvSpPr>
          <p:cNvPr id="33803" name="圆角矩形 14"/>
          <p:cNvSpPr/>
          <p:nvPr/>
        </p:nvSpPr>
        <p:spPr>
          <a:xfrm>
            <a:off x="1441450" y="4672013"/>
            <a:ext cx="6192838" cy="719137"/>
          </a:xfrm>
          <a:prstGeom prst="roundRect">
            <a:avLst>
              <a:gd name="adj" fmla="val 16667"/>
            </a:avLst>
          </a:prstGeom>
          <a:solidFill>
            <a:schemeClr val="accent1"/>
          </a:solidFill>
          <a:ln w="9525" cap="flat" cmpd="sng">
            <a:solidFill>
              <a:schemeClr val="tx1"/>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dirty="0">
              <a:ea typeface="楷体_GB2312" panose="02010609030101010101" pitchFamily="49" charset="-122"/>
            </a:endParaRPr>
          </a:p>
        </p:txBody>
      </p:sp>
      <p:graphicFrame>
        <p:nvGraphicFramePr>
          <p:cNvPr id="33804" name="Object 6"/>
          <p:cNvGraphicFramePr>
            <a:graphicFrameLocks noChangeAspect="1"/>
          </p:cNvGraphicFramePr>
          <p:nvPr/>
        </p:nvGraphicFramePr>
        <p:xfrm>
          <a:off x="1524000" y="4678363"/>
          <a:ext cx="5957888" cy="712787"/>
        </p:xfrm>
        <a:graphic>
          <a:graphicData uri="http://schemas.openxmlformats.org/presentationml/2006/ole">
            <mc:AlternateContent xmlns:mc="http://schemas.openxmlformats.org/markup-compatibility/2006">
              <mc:Choice xmlns:v="urn:schemas-microsoft-com:vml" Requires="v">
                <p:oleObj spid="_x0000_s3092" name="" r:id="rId7" imgW="2641600" imgH="482600" progId="Equation.DSMT4">
                  <p:embed/>
                </p:oleObj>
              </mc:Choice>
              <mc:Fallback>
                <p:oleObj name="" r:id="rId7" imgW="2641600" imgH="482600" progId="Equation.DSMT4">
                  <p:embed/>
                  <p:pic>
                    <p:nvPicPr>
                      <p:cNvPr id="0" name="图片 3091"/>
                      <p:cNvPicPr/>
                      <p:nvPr/>
                    </p:nvPicPr>
                    <p:blipFill>
                      <a:blip r:embed="rId8"/>
                      <a:stretch>
                        <a:fillRect/>
                      </a:stretch>
                    </p:blipFill>
                    <p:spPr>
                      <a:xfrm>
                        <a:off x="1524000" y="4678363"/>
                        <a:ext cx="5957888" cy="712787"/>
                      </a:xfrm>
                      <a:prstGeom prst="rect">
                        <a:avLst/>
                      </a:prstGeom>
                      <a:noFill/>
                      <a:ln w="38100">
                        <a:noFill/>
                        <a:miter/>
                      </a:ln>
                    </p:spPr>
                  </p:pic>
                </p:oleObj>
              </mc:Fallback>
            </mc:AlternateContent>
          </a:graphicData>
        </a:graphic>
      </p:graphicFrame>
      <p:graphicFrame>
        <p:nvGraphicFramePr>
          <p:cNvPr id="33805" name="Object 7"/>
          <p:cNvGraphicFramePr>
            <a:graphicFrameLocks noChangeAspect="1"/>
          </p:cNvGraphicFramePr>
          <p:nvPr/>
        </p:nvGraphicFramePr>
        <p:xfrm>
          <a:off x="1952625" y="5632450"/>
          <a:ext cx="5357813" cy="698500"/>
        </p:xfrm>
        <a:graphic>
          <a:graphicData uri="http://schemas.openxmlformats.org/presentationml/2006/ole">
            <mc:AlternateContent xmlns:mc="http://schemas.openxmlformats.org/markup-compatibility/2006">
              <mc:Choice xmlns:v="urn:schemas-microsoft-com:vml" Requires="v">
                <p:oleObj spid="_x0000_s3099" name="" r:id="rId9" imgW="2374900" imgH="444500" progId="Equation.DSMT4">
                  <p:embed/>
                </p:oleObj>
              </mc:Choice>
              <mc:Fallback>
                <p:oleObj name="" r:id="rId9" imgW="2374900" imgH="444500" progId="Equation.DSMT4">
                  <p:embed/>
                  <p:pic>
                    <p:nvPicPr>
                      <p:cNvPr id="0" name="图片 3098"/>
                      <p:cNvPicPr/>
                      <p:nvPr/>
                    </p:nvPicPr>
                    <p:blipFill>
                      <a:blip r:embed="rId10"/>
                      <a:stretch>
                        <a:fillRect/>
                      </a:stretch>
                    </p:blipFill>
                    <p:spPr>
                      <a:xfrm>
                        <a:off x="1952625" y="5632450"/>
                        <a:ext cx="5357813" cy="698500"/>
                      </a:xfrm>
                      <a:prstGeom prst="rect">
                        <a:avLst/>
                      </a:prstGeom>
                      <a:noFill/>
                      <a:ln w="38100">
                        <a:noFill/>
                        <a:miter/>
                      </a:ln>
                    </p:spPr>
                  </p:pic>
                </p:oleObj>
              </mc:Fallback>
            </mc:AlternateContent>
          </a:graphicData>
        </a:graphic>
      </p:graphicFrame>
      <p:sp>
        <p:nvSpPr>
          <p:cNvPr id="15" name="Rectangle 1027"/>
          <p:cNvSpPr txBox="1">
            <a:spLocks noChangeArrowheads="1"/>
          </p:cNvSpPr>
          <p:nvPr/>
        </p:nvSpPr>
        <p:spPr bwMode="auto">
          <a:xfrm>
            <a:off x="706438" y="5646738"/>
            <a:ext cx="1246188" cy="736600"/>
          </a:xfrm>
          <a:prstGeom prst="rect">
            <a:avLst/>
          </a:prstGeom>
          <a:noFill/>
          <a:ln>
            <a:noFill/>
          </a:ln>
        </p:spPr>
        <p:txBody>
          <a:bodyPr lIns="90488" tIns="44450" rIns="90488" bIns="4445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marR="0" lvl="0" indent="0" algn="ctr" defTabSz="914400" rtl="0" eaLnBrk="1" fontAlgn="base" latinLnBrk="0" hangingPunct="1">
              <a:lnSpc>
                <a:spcPct val="100000"/>
              </a:lnSpc>
              <a:spcBef>
                <a:spcPts val="0"/>
              </a:spcBef>
              <a:spcAft>
                <a:spcPct val="0"/>
              </a:spcAft>
              <a:buClr>
                <a:schemeClr val="folHlink"/>
              </a:buClr>
              <a:buSzPct val="60000"/>
              <a:buFont typeface="Wingdings" panose="05000000000000000000" pitchFamily="2" charset="2"/>
              <a:buNone/>
              <a:defRPr/>
            </a:pPr>
            <a:r>
              <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rPr>
              <a:t>各类均值向量的平均平方距离</a:t>
            </a:r>
            <a:endParaRPr kumimoji="1" lang="zh-CN" altLang="en-US" sz="1400" b="1" i="0" u="none" strike="noStrike" kern="0" cap="none" spc="0" normalizeH="0" baseline="0" noProof="0" dirty="0">
              <a:ln>
                <a:noFill/>
              </a:ln>
              <a:solidFill>
                <a:srgbClr val="0033CC"/>
              </a:solidFill>
              <a:effectLst/>
              <a:uLnTx/>
              <a:uFillTx/>
              <a:latin typeface="+mn-lt"/>
              <a:ea typeface="楷体_GB2312" panose="02010609030101010101" pitchFamily="49" charset="-122"/>
              <a:cs typeface="楷体_GB2312" panose="0201060903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graphicFrame>
        <p:nvGraphicFramePr>
          <p:cNvPr id="34819" name="Object 2"/>
          <p:cNvGraphicFramePr>
            <a:graphicFrameLocks noChangeAspect="1"/>
          </p:cNvGraphicFramePr>
          <p:nvPr/>
        </p:nvGraphicFramePr>
        <p:xfrm>
          <a:off x="2757488" y="1981200"/>
          <a:ext cx="4010025" cy="973138"/>
        </p:xfrm>
        <a:graphic>
          <a:graphicData uri="http://schemas.openxmlformats.org/presentationml/2006/ole">
            <mc:AlternateContent xmlns:mc="http://schemas.openxmlformats.org/markup-compatibility/2006">
              <mc:Choice xmlns:v="urn:schemas-microsoft-com:vml" Requires="v">
                <p:oleObj spid="_x0000_s3090" name="" r:id="rId1" imgW="1777365" imgH="431800" progId="Equation.DSMT4">
                  <p:embed/>
                </p:oleObj>
              </mc:Choice>
              <mc:Fallback>
                <p:oleObj name="" r:id="rId1" imgW="1777365" imgH="431800" progId="Equation.DSMT4">
                  <p:embed/>
                  <p:pic>
                    <p:nvPicPr>
                      <p:cNvPr id="0" name="图片 3089"/>
                      <p:cNvPicPr/>
                      <p:nvPr/>
                    </p:nvPicPr>
                    <p:blipFill>
                      <a:blip r:embed="rId2"/>
                      <a:stretch>
                        <a:fillRect/>
                      </a:stretch>
                    </p:blipFill>
                    <p:spPr>
                      <a:xfrm>
                        <a:off x="2757488" y="1981200"/>
                        <a:ext cx="4010025" cy="973138"/>
                      </a:xfrm>
                      <a:prstGeom prst="rect">
                        <a:avLst/>
                      </a:prstGeom>
                      <a:noFill/>
                      <a:ln w="38100">
                        <a:noFill/>
                        <a:miter/>
                      </a:ln>
                    </p:spPr>
                  </p:pic>
                </p:oleObj>
              </mc:Fallback>
            </mc:AlternateContent>
          </a:graphicData>
        </a:graphic>
      </p:graphicFrame>
      <p:graphicFrame>
        <p:nvGraphicFramePr>
          <p:cNvPr id="34820" name="Object 3"/>
          <p:cNvGraphicFramePr>
            <a:graphicFrameLocks noChangeAspect="1"/>
          </p:cNvGraphicFramePr>
          <p:nvPr/>
        </p:nvGraphicFramePr>
        <p:xfrm>
          <a:off x="2667000" y="2895600"/>
          <a:ext cx="5184775" cy="1031875"/>
        </p:xfrm>
        <a:graphic>
          <a:graphicData uri="http://schemas.openxmlformats.org/presentationml/2006/ole">
            <mc:AlternateContent xmlns:mc="http://schemas.openxmlformats.org/markup-compatibility/2006">
              <mc:Choice xmlns:v="urn:schemas-microsoft-com:vml" Requires="v">
                <p:oleObj spid="_x0000_s3097" name="" r:id="rId3" imgW="2298700" imgH="457200" progId="Equation.DSMT4">
                  <p:embed/>
                </p:oleObj>
              </mc:Choice>
              <mc:Fallback>
                <p:oleObj name="" r:id="rId3" imgW="2298700" imgH="457200" progId="Equation.DSMT4">
                  <p:embed/>
                  <p:pic>
                    <p:nvPicPr>
                      <p:cNvPr id="0" name="图片 3096"/>
                      <p:cNvPicPr/>
                      <p:nvPr/>
                    </p:nvPicPr>
                    <p:blipFill>
                      <a:blip r:embed="rId4"/>
                      <a:stretch>
                        <a:fillRect/>
                      </a:stretch>
                    </p:blipFill>
                    <p:spPr>
                      <a:xfrm>
                        <a:off x="2667000" y="2895600"/>
                        <a:ext cx="5184775" cy="1031875"/>
                      </a:xfrm>
                      <a:prstGeom prst="rect">
                        <a:avLst/>
                      </a:prstGeom>
                      <a:noFill/>
                      <a:ln w="38100">
                        <a:noFill/>
                        <a:miter/>
                      </a:ln>
                    </p:spPr>
                  </p:pic>
                </p:oleObj>
              </mc:Fallback>
            </mc:AlternateContent>
          </a:graphicData>
        </a:graphic>
      </p:graphicFrame>
      <p:graphicFrame>
        <p:nvGraphicFramePr>
          <p:cNvPr id="34821" name="Object 4"/>
          <p:cNvGraphicFramePr>
            <a:graphicFrameLocks noChangeAspect="1"/>
          </p:cNvGraphicFramePr>
          <p:nvPr/>
        </p:nvGraphicFramePr>
        <p:xfrm>
          <a:off x="3352800" y="3962400"/>
          <a:ext cx="2692400" cy="544513"/>
        </p:xfrm>
        <a:graphic>
          <a:graphicData uri="http://schemas.openxmlformats.org/presentationml/2006/ole">
            <mc:AlternateContent xmlns:mc="http://schemas.openxmlformats.org/markup-compatibility/2006">
              <mc:Choice xmlns:v="urn:schemas-microsoft-com:vml" Requires="v">
                <p:oleObj spid="_x0000_s3093" name="" r:id="rId5" imgW="1193800" imgH="241300" progId="Equation.DSMT4">
                  <p:embed/>
                </p:oleObj>
              </mc:Choice>
              <mc:Fallback>
                <p:oleObj name="" r:id="rId5" imgW="1193800" imgH="241300" progId="Equation.DSMT4">
                  <p:embed/>
                  <p:pic>
                    <p:nvPicPr>
                      <p:cNvPr id="0" name="图片 3092"/>
                      <p:cNvPicPr/>
                      <p:nvPr/>
                    </p:nvPicPr>
                    <p:blipFill>
                      <a:blip r:embed="rId6"/>
                      <a:stretch>
                        <a:fillRect/>
                      </a:stretch>
                    </p:blipFill>
                    <p:spPr>
                      <a:xfrm>
                        <a:off x="3352800" y="3962400"/>
                        <a:ext cx="2692400" cy="544513"/>
                      </a:xfrm>
                      <a:prstGeom prst="rect">
                        <a:avLst/>
                      </a:prstGeom>
                      <a:noFill/>
                      <a:ln w="38100">
                        <a:noFill/>
                        <a:miter/>
                      </a:ln>
                    </p:spPr>
                  </p:pic>
                </p:oleObj>
              </mc:Fallback>
            </mc:AlternateContent>
          </a:graphicData>
        </a:graphic>
      </p:graphicFrame>
      <p:sp>
        <p:nvSpPr>
          <p:cNvPr id="34822" name="AutoShape 8"/>
          <p:cNvSpPr/>
          <p:nvPr/>
        </p:nvSpPr>
        <p:spPr>
          <a:xfrm>
            <a:off x="228600" y="2438400"/>
            <a:ext cx="1512888" cy="719138"/>
          </a:xfrm>
          <a:prstGeom prst="borderCallout2">
            <a:avLst>
              <a:gd name="adj1" fmla="val 15894"/>
              <a:gd name="adj2" fmla="val 105037"/>
              <a:gd name="adj3" fmla="val 15894"/>
              <a:gd name="adj4" fmla="val 105037"/>
              <a:gd name="adj5" fmla="val -5296"/>
              <a:gd name="adj6" fmla="val 166528"/>
            </a:avLst>
          </a:prstGeom>
          <a:gradFill rotWithShape="1">
            <a:gsLst>
              <a:gs pos="0">
                <a:srgbClr val="BCBCBC">
                  <a:alpha val="100000"/>
                </a:srgbClr>
              </a:gs>
              <a:gs pos="35001">
                <a:srgbClr val="D0D0D0">
                  <a:alpha val="100000"/>
                </a:srgbClr>
              </a:gs>
              <a:gs pos="100000">
                <a:srgbClr val="EDEDED">
                  <a:alpha val="100000"/>
                </a:srgbClr>
              </a:gs>
            </a:gsLst>
            <a:lin ang="16200000" scaled="1"/>
            <a:tileRect/>
          </a:gradFill>
          <a:ln w="9525" cap="flat" cmpd="sng">
            <a:solidFill>
              <a:srgbClr val="000000"/>
            </a:solidFill>
            <a:prstDash val="solid"/>
            <a:miter/>
            <a:headEnd type="none" w="med" len="med"/>
            <a:tailEnd type="none" w="med" len="med"/>
          </a:ln>
          <a:effectLst>
            <a:outerShdw dist="20000" dir="5400000" rotWithShape="0">
              <a:srgbClr val="000000">
                <a:alpha val="37999"/>
              </a:srgbClr>
            </a:outerShdw>
          </a:effec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000" b="1" dirty="0">
                <a:latin typeface="Calibri" panose="020F0502020204030204" pitchFamily="34" charset="0"/>
                <a:ea typeface="宋体" panose="02010600030101010101" pitchFamily="2" charset="-122"/>
              </a:rPr>
              <a:t>样本类间</a:t>
            </a:r>
            <a:br>
              <a:rPr lang="zh-CN" altLang="en-US" sz="2000" b="1" dirty="0">
                <a:latin typeface="Calibri" panose="020F0502020204030204" pitchFamily="34" charset="0"/>
                <a:ea typeface="宋体" panose="02010600030101010101" pitchFamily="2" charset="-122"/>
              </a:rPr>
            </a:br>
            <a:r>
              <a:rPr lang="zh-CN" altLang="en-US" sz="2000" b="1" dirty="0">
                <a:latin typeface="Calibri" panose="020F0502020204030204" pitchFamily="34" charset="0"/>
                <a:ea typeface="宋体" panose="02010600030101010101" pitchFamily="2" charset="-122"/>
              </a:rPr>
              <a:t>离散度矩阵</a:t>
            </a:r>
            <a:endParaRPr lang="zh-CN" altLang="en-US" sz="2000" b="1" dirty="0">
              <a:latin typeface="Calibri" panose="020F0502020204030204" pitchFamily="34" charset="0"/>
              <a:ea typeface="宋体" panose="02010600030101010101" pitchFamily="2" charset="-122"/>
            </a:endParaRPr>
          </a:p>
        </p:txBody>
      </p:sp>
      <p:sp>
        <p:nvSpPr>
          <p:cNvPr id="828425" name="AutoShape 9"/>
          <p:cNvSpPr/>
          <p:nvPr/>
        </p:nvSpPr>
        <p:spPr bwMode="auto">
          <a:xfrm>
            <a:off x="228600" y="3733800"/>
            <a:ext cx="1512888" cy="719138"/>
          </a:xfrm>
          <a:prstGeom prst="borderCallout2">
            <a:avLst>
              <a:gd name="adj1" fmla="val 15894"/>
              <a:gd name="adj2" fmla="val 105037"/>
              <a:gd name="adj3" fmla="val 15894"/>
              <a:gd name="adj4" fmla="val 139347"/>
              <a:gd name="adj5" fmla="val -55407"/>
              <a:gd name="adj6" fmla="val 161069"/>
            </a:avLst>
          </a:prstGeom>
        </p:spPr>
        <p:style>
          <a:lnRef idx="1">
            <a:schemeClr val="dk1"/>
          </a:lnRef>
          <a:fillRef idx="2">
            <a:schemeClr val="dk1"/>
          </a:fillRef>
          <a:effectRef idx="1">
            <a:schemeClr val="dk1"/>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样本类内</a:t>
            </a:r>
            <a:b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b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离散度矩阵</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28426" name="AutoShape 10"/>
          <p:cNvSpPr/>
          <p:nvPr/>
        </p:nvSpPr>
        <p:spPr bwMode="auto">
          <a:xfrm>
            <a:off x="228600" y="4876800"/>
            <a:ext cx="1512888" cy="719138"/>
          </a:xfrm>
          <a:prstGeom prst="borderCallout2">
            <a:avLst>
              <a:gd name="adj1" fmla="val 15894"/>
              <a:gd name="adj2" fmla="val 105037"/>
              <a:gd name="adj3" fmla="val 15894"/>
              <a:gd name="adj4" fmla="val 138088"/>
              <a:gd name="adj5" fmla="val -83222"/>
              <a:gd name="adj6" fmla="val 208394"/>
            </a:avLst>
          </a:prstGeom>
        </p:spPr>
        <p:style>
          <a:lnRef idx="1">
            <a:schemeClr val="dk1"/>
          </a:lnRef>
          <a:fillRef idx="2">
            <a:schemeClr val="dk1"/>
          </a:fillRef>
          <a:effectRef idx="1">
            <a:schemeClr val="dk1"/>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类间可分离性判据</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4825"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66FF"/>
                </a:solidFill>
                <a:ea typeface="宋体" panose="02010600030101010101" pitchFamily="2" charset="-122"/>
              </a:rPr>
              <a:t>5.2   </a:t>
            </a:r>
            <a:r>
              <a:rPr lang="zh-CN" altLang="en-US" sz="3600" b="1" dirty="0">
                <a:solidFill>
                  <a:srgbClr val="0066FF"/>
                </a:solidFill>
                <a:ea typeface="宋体" panose="02010600030101010101" pitchFamily="2" charset="-122"/>
              </a:rPr>
              <a:t>类别可分性判据</a:t>
            </a:r>
            <a:endParaRPr lang="zh-CN" altLang="en-US" sz="3600" b="1" dirty="0">
              <a:solidFill>
                <a:srgbClr val="0066FF"/>
              </a:solidFill>
              <a:ea typeface="宋体" panose="02010600030101010101" pitchFamily="2" charset="-122"/>
            </a:endParaRPr>
          </a:p>
        </p:txBody>
      </p:sp>
      <p:sp>
        <p:nvSpPr>
          <p:cNvPr id="34826"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graphicFrame>
        <p:nvGraphicFramePr>
          <p:cNvPr id="34827" name="对象 1"/>
          <p:cNvGraphicFramePr>
            <a:graphicFrameLocks noChangeAspect="1"/>
          </p:cNvGraphicFramePr>
          <p:nvPr/>
        </p:nvGraphicFramePr>
        <p:xfrm>
          <a:off x="3132138" y="4641850"/>
          <a:ext cx="4533900" cy="469900"/>
        </p:xfrm>
        <a:graphic>
          <a:graphicData uri="http://schemas.openxmlformats.org/presentationml/2006/ole">
            <mc:AlternateContent xmlns:mc="http://schemas.openxmlformats.org/markup-compatibility/2006">
              <mc:Choice xmlns:v="urn:schemas-microsoft-com:vml" Requires="v">
                <p:oleObj spid="_x0000_s3098" name="" r:id="rId7" imgW="2451100" imgH="254000" progId="Equation.DSMT4">
                  <p:embed/>
                </p:oleObj>
              </mc:Choice>
              <mc:Fallback>
                <p:oleObj name="" r:id="rId7" imgW="2451100" imgH="254000" progId="Equation.DSMT4">
                  <p:embed/>
                  <p:pic>
                    <p:nvPicPr>
                      <p:cNvPr id="0" name="图片 3097"/>
                      <p:cNvPicPr/>
                      <p:nvPr/>
                    </p:nvPicPr>
                    <p:blipFill>
                      <a:blip r:embed="rId8"/>
                      <a:stretch>
                        <a:fillRect/>
                      </a:stretch>
                    </p:blipFill>
                    <p:spPr>
                      <a:xfrm>
                        <a:off x="3132138" y="4641850"/>
                        <a:ext cx="4533900" cy="469900"/>
                      </a:xfrm>
                      <a:prstGeom prst="rect">
                        <a:avLst/>
                      </a:prstGeom>
                      <a:noFill/>
                      <a:ln w="38100">
                        <a:noFill/>
                        <a:miter/>
                      </a:ln>
                    </p:spPr>
                  </p:pic>
                </p:oleObj>
              </mc:Fallback>
            </mc:AlternateContent>
          </a:graphicData>
        </a:graphic>
      </p:graphicFrame>
      <p:graphicFrame>
        <p:nvGraphicFramePr>
          <p:cNvPr id="34828" name="对象 2"/>
          <p:cNvGraphicFramePr>
            <a:graphicFrameLocks noChangeAspect="1"/>
          </p:cNvGraphicFramePr>
          <p:nvPr/>
        </p:nvGraphicFramePr>
        <p:xfrm>
          <a:off x="2292350" y="5251450"/>
          <a:ext cx="6221413" cy="473075"/>
        </p:xfrm>
        <a:graphic>
          <a:graphicData uri="http://schemas.openxmlformats.org/presentationml/2006/ole">
            <mc:AlternateContent xmlns:mc="http://schemas.openxmlformats.org/markup-compatibility/2006">
              <mc:Choice xmlns:v="urn:schemas-microsoft-com:vml" Requires="v">
                <p:oleObj spid="_x0000_s3089" name="" r:id="rId9" imgW="3340100" imgH="254000" progId="Equation.DSMT4">
                  <p:embed/>
                </p:oleObj>
              </mc:Choice>
              <mc:Fallback>
                <p:oleObj name="" r:id="rId9" imgW="3340100" imgH="254000" progId="Equation.DSMT4">
                  <p:embed/>
                  <p:pic>
                    <p:nvPicPr>
                      <p:cNvPr id="0" name="图片 3088"/>
                      <p:cNvPicPr/>
                      <p:nvPr/>
                    </p:nvPicPr>
                    <p:blipFill>
                      <a:blip r:embed="rId10"/>
                      <a:stretch>
                        <a:fillRect/>
                      </a:stretch>
                    </p:blipFill>
                    <p:spPr>
                      <a:xfrm>
                        <a:off x="2292350" y="5251450"/>
                        <a:ext cx="6221413" cy="473075"/>
                      </a:xfrm>
                      <a:prstGeom prst="rect">
                        <a:avLst/>
                      </a:prstGeom>
                      <a:noFill/>
                      <a:ln w="38100">
                        <a:noFill/>
                        <a:miter/>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graphicFrame>
        <p:nvGraphicFramePr>
          <p:cNvPr id="35843" name="Object 2"/>
          <p:cNvGraphicFramePr>
            <a:graphicFrameLocks noChangeAspect="1"/>
          </p:cNvGraphicFramePr>
          <p:nvPr/>
        </p:nvGraphicFramePr>
        <p:xfrm>
          <a:off x="2757488" y="1981200"/>
          <a:ext cx="4010025" cy="973138"/>
        </p:xfrm>
        <a:graphic>
          <a:graphicData uri="http://schemas.openxmlformats.org/presentationml/2006/ole">
            <mc:AlternateContent xmlns:mc="http://schemas.openxmlformats.org/markup-compatibility/2006">
              <mc:Choice xmlns:v="urn:schemas-microsoft-com:vml" Requires="v">
                <p:oleObj spid="_x0000_s3087" name="" r:id="rId1" imgW="1777365" imgH="431800" progId="Equation.DSMT4">
                  <p:embed/>
                </p:oleObj>
              </mc:Choice>
              <mc:Fallback>
                <p:oleObj name="" r:id="rId1" imgW="1777365" imgH="431800" progId="Equation.DSMT4">
                  <p:embed/>
                  <p:pic>
                    <p:nvPicPr>
                      <p:cNvPr id="0" name="图片 3086"/>
                      <p:cNvPicPr/>
                      <p:nvPr/>
                    </p:nvPicPr>
                    <p:blipFill>
                      <a:blip r:embed="rId2"/>
                      <a:stretch>
                        <a:fillRect/>
                      </a:stretch>
                    </p:blipFill>
                    <p:spPr>
                      <a:xfrm>
                        <a:off x="2757488" y="1981200"/>
                        <a:ext cx="4010025" cy="973138"/>
                      </a:xfrm>
                      <a:prstGeom prst="rect">
                        <a:avLst/>
                      </a:prstGeom>
                      <a:noFill/>
                      <a:ln w="38100">
                        <a:noFill/>
                        <a:miter/>
                      </a:ln>
                    </p:spPr>
                  </p:pic>
                </p:oleObj>
              </mc:Fallback>
            </mc:AlternateContent>
          </a:graphicData>
        </a:graphic>
      </p:graphicFrame>
      <p:graphicFrame>
        <p:nvGraphicFramePr>
          <p:cNvPr id="35844" name="Object 3"/>
          <p:cNvGraphicFramePr>
            <a:graphicFrameLocks noChangeAspect="1"/>
          </p:cNvGraphicFramePr>
          <p:nvPr/>
        </p:nvGraphicFramePr>
        <p:xfrm>
          <a:off x="2681288" y="2895600"/>
          <a:ext cx="5156200" cy="1031875"/>
        </p:xfrm>
        <a:graphic>
          <a:graphicData uri="http://schemas.openxmlformats.org/presentationml/2006/ole">
            <mc:AlternateContent xmlns:mc="http://schemas.openxmlformats.org/markup-compatibility/2006">
              <mc:Choice xmlns:v="urn:schemas-microsoft-com:vml" Requires="v">
                <p:oleObj spid="_x0000_s3094" name="" r:id="rId3" imgW="2286000" imgH="457200" progId="Equation.DSMT4">
                  <p:embed/>
                </p:oleObj>
              </mc:Choice>
              <mc:Fallback>
                <p:oleObj name="" r:id="rId3" imgW="2286000" imgH="457200" progId="Equation.DSMT4">
                  <p:embed/>
                  <p:pic>
                    <p:nvPicPr>
                      <p:cNvPr id="0" name="图片 3093"/>
                      <p:cNvPicPr/>
                      <p:nvPr/>
                    </p:nvPicPr>
                    <p:blipFill>
                      <a:blip r:embed="rId4"/>
                      <a:stretch>
                        <a:fillRect/>
                      </a:stretch>
                    </p:blipFill>
                    <p:spPr>
                      <a:xfrm>
                        <a:off x="2681288" y="2895600"/>
                        <a:ext cx="5156200" cy="1031875"/>
                      </a:xfrm>
                      <a:prstGeom prst="rect">
                        <a:avLst/>
                      </a:prstGeom>
                      <a:noFill/>
                      <a:ln w="38100">
                        <a:noFill/>
                        <a:miter/>
                      </a:ln>
                    </p:spPr>
                  </p:pic>
                </p:oleObj>
              </mc:Fallback>
            </mc:AlternateContent>
          </a:graphicData>
        </a:graphic>
      </p:graphicFrame>
      <p:graphicFrame>
        <p:nvGraphicFramePr>
          <p:cNvPr id="35845" name="Object 4"/>
          <p:cNvGraphicFramePr>
            <a:graphicFrameLocks noChangeAspect="1"/>
          </p:cNvGraphicFramePr>
          <p:nvPr/>
        </p:nvGraphicFramePr>
        <p:xfrm>
          <a:off x="3352800" y="3962400"/>
          <a:ext cx="2692400" cy="544513"/>
        </p:xfrm>
        <a:graphic>
          <a:graphicData uri="http://schemas.openxmlformats.org/presentationml/2006/ole">
            <mc:AlternateContent xmlns:mc="http://schemas.openxmlformats.org/markup-compatibility/2006">
              <mc:Choice xmlns:v="urn:schemas-microsoft-com:vml" Requires="v">
                <p:oleObj spid="_x0000_s3088" name="" r:id="rId5" imgW="1193800" imgH="241300" progId="Equation.DSMT4">
                  <p:embed/>
                </p:oleObj>
              </mc:Choice>
              <mc:Fallback>
                <p:oleObj name="" r:id="rId5" imgW="1193800" imgH="241300" progId="Equation.DSMT4">
                  <p:embed/>
                  <p:pic>
                    <p:nvPicPr>
                      <p:cNvPr id="0" name="图片 3087"/>
                      <p:cNvPicPr/>
                      <p:nvPr/>
                    </p:nvPicPr>
                    <p:blipFill>
                      <a:blip r:embed="rId6"/>
                      <a:stretch>
                        <a:fillRect/>
                      </a:stretch>
                    </p:blipFill>
                    <p:spPr>
                      <a:xfrm>
                        <a:off x="3352800" y="3962400"/>
                        <a:ext cx="2692400" cy="544513"/>
                      </a:xfrm>
                      <a:prstGeom prst="rect">
                        <a:avLst/>
                      </a:prstGeom>
                      <a:noFill/>
                      <a:ln w="38100">
                        <a:noFill/>
                        <a:miter/>
                      </a:ln>
                    </p:spPr>
                  </p:pic>
                </p:oleObj>
              </mc:Fallback>
            </mc:AlternateContent>
          </a:graphicData>
        </a:graphic>
      </p:graphicFrame>
      <p:sp>
        <p:nvSpPr>
          <p:cNvPr id="828423" name="AutoShape 7"/>
          <p:cNvSpPr>
            <a:spLocks noChangeArrowheads="1"/>
          </p:cNvSpPr>
          <p:nvPr/>
        </p:nvSpPr>
        <p:spPr bwMode="auto">
          <a:xfrm>
            <a:off x="2209800" y="4876800"/>
            <a:ext cx="6553200" cy="1150938"/>
          </a:xfrm>
          <a:prstGeom prst="wedgeRoundRectCallout">
            <a:avLst>
              <a:gd name="adj1" fmla="val -18315"/>
              <a:gd name="adj2" fmla="val -79931"/>
              <a:gd name="adj3" fmla="val 16667"/>
            </a:avLst>
          </a:prstGeom>
        </p:spPr>
        <p:style>
          <a:lnRef idx="1">
            <a:schemeClr val="accent5"/>
          </a:lnRef>
          <a:fillRef idx="2">
            <a:schemeClr val="accent5"/>
          </a:fillRef>
          <a:effectRef idx="1">
            <a:schemeClr val="accent5"/>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dk1"/>
                </a:solidFill>
                <a:effectLst/>
                <a:uLnTx/>
                <a:uFillTx/>
                <a:latin typeface="宋体" panose="02010600030101010101" pitchFamily="2" charset="-122"/>
                <a:ea typeface="宋体" panose="02010600030101010101" pitchFamily="2" charset="-122"/>
                <a:cs typeface="+mn-cs"/>
              </a:rPr>
              <a:t>基于距离的准则概念直观，计算方便，但与错误率没有直接联系</a:t>
            </a:r>
            <a:endParaRPr kumimoji="0" lang="zh-CN" altLang="en-US" sz="2800" b="1" i="0" u="none" strike="noStrike" kern="1200" cap="none" spc="0" normalizeH="0" baseline="0" noProof="0" dirty="0">
              <a:ln>
                <a:noFill/>
              </a:ln>
              <a:solidFill>
                <a:schemeClr val="dk1"/>
              </a:solidFill>
              <a:effectLst/>
              <a:uLnTx/>
              <a:uFillTx/>
              <a:latin typeface="宋体" panose="02010600030101010101" pitchFamily="2" charset="-122"/>
              <a:ea typeface="宋体" panose="02010600030101010101" pitchFamily="2" charset="-122"/>
              <a:cs typeface="+mn-cs"/>
            </a:endParaRPr>
          </a:p>
        </p:txBody>
      </p:sp>
      <p:sp>
        <p:nvSpPr>
          <p:cNvPr id="35847" name="AutoShape 8"/>
          <p:cNvSpPr/>
          <p:nvPr/>
        </p:nvSpPr>
        <p:spPr>
          <a:xfrm>
            <a:off x="228600" y="2438400"/>
            <a:ext cx="1512888" cy="719138"/>
          </a:xfrm>
          <a:prstGeom prst="borderCallout2">
            <a:avLst>
              <a:gd name="adj1" fmla="val 15894"/>
              <a:gd name="adj2" fmla="val 105037"/>
              <a:gd name="adj3" fmla="val 15894"/>
              <a:gd name="adj4" fmla="val 105037"/>
              <a:gd name="adj5" fmla="val -5296"/>
              <a:gd name="adj6" fmla="val 166528"/>
            </a:avLst>
          </a:prstGeom>
          <a:gradFill rotWithShape="1">
            <a:gsLst>
              <a:gs pos="0">
                <a:srgbClr val="BCBCBC">
                  <a:alpha val="100000"/>
                </a:srgbClr>
              </a:gs>
              <a:gs pos="35001">
                <a:srgbClr val="D0D0D0">
                  <a:alpha val="100000"/>
                </a:srgbClr>
              </a:gs>
              <a:gs pos="100000">
                <a:srgbClr val="EDEDED">
                  <a:alpha val="100000"/>
                </a:srgbClr>
              </a:gs>
            </a:gsLst>
            <a:lin ang="16200000" scaled="1"/>
            <a:tileRect/>
          </a:gradFill>
          <a:ln w="9525" cap="flat" cmpd="sng">
            <a:solidFill>
              <a:srgbClr val="000000"/>
            </a:solidFill>
            <a:prstDash val="solid"/>
            <a:miter/>
            <a:headEnd type="none" w="med" len="med"/>
            <a:tailEnd type="none" w="med" len="med"/>
          </a:ln>
          <a:effectLst>
            <a:outerShdw dist="20000" dir="5400000" rotWithShape="0">
              <a:srgbClr val="000000">
                <a:alpha val="37999"/>
              </a:srgbClr>
            </a:outerShdw>
          </a:effectLst>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000" b="1" dirty="0">
                <a:latin typeface="Calibri" panose="020F0502020204030204" pitchFamily="34" charset="0"/>
                <a:ea typeface="宋体" panose="02010600030101010101" pitchFamily="2" charset="-122"/>
              </a:rPr>
              <a:t>样本类间</a:t>
            </a:r>
            <a:br>
              <a:rPr lang="zh-CN" altLang="en-US" sz="2000" b="1" dirty="0">
                <a:latin typeface="Calibri" panose="020F0502020204030204" pitchFamily="34" charset="0"/>
                <a:ea typeface="宋体" panose="02010600030101010101" pitchFamily="2" charset="-122"/>
              </a:rPr>
            </a:br>
            <a:r>
              <a:rPr lang="zh-CN" altLang="en-US" sz="2000" b="1" dirty="0">
                <a:latin typeface="Calibri" panose="020F0502020204030204" pitchFamily="34" charset="0"/>
                <a:ea typeface="宋体" panose="02010600030101010101" pitchFamily="2" charset="-122"/>
              </a:rPr>
              <a:t>离散度矩阵</a:t>
            </a:r>
            <a:endParaRPr lang="zh-CN" altLang="en-US" sz="2000" b="1" dirty="0">
              <a:latin typeface="Calibri" panose="020F0502020204030204" pitchFamily="34" charset="0"/>
              <a:ea typeface="宋体" panose="02010600030101010101" pitchFamily="2" charset="-122"/>
            </a:endParaRPr>
          </a:p>
        </p:txBody>
      </p:sp>
      <p:sp>
        <p:nvSpPr>
          <p:cNvPr id="828425" name="AutoShape 9"/>
          <p:cNvSpPr/>
          <p:nvPr/>
        </p:nvSpPr>
        <p:spPr bwMode="auto">
          <a:xfrm>
            <a:off x="228600" y="3733800"/>
            <a:ext cx="1512888" cy="719138"/>
          </a:xfrm>
          <a:prstGeom prst="borderCallout2">
            <a:avLst>
              <a:gd name="adj1" fmla="val 15894"/>
              <a:gd name="adj2" fmla="val 105037"/>
              <a:gd name="adj3" fmla="val 15894"/>
              <a:gd name="adj4" fmla="val 139347"/>
              <a:gd name="adj5" fmla="val -55407"/>
              <a:gd name="adj6" fmla="val 161069"/>
            </a:avLst>
          </a:prstGeom>
        </p:spPr>
        <p:style>
          <a:lnRef idx="1">
            <a:schemeClr val="dk1"/>
          </a:lnRef>
          <a:fillRef idx="2">
            <a:schemeClr val="dk1"/>
          </a:fillRef>
          <a:effectRef idx="1">
            <a:schemeClr val="dk1"/>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样本类内</a:t>
            </a:r>
            <a:b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b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离散度矩阵</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28426" name="AutoShape 10"/>
          <p:cNvSpPr/>
          <p:nvPr/>
        </p:nvSpPr>
        <p:spPr bwMode="auto">
          <a:xfrm>
            <a:off x="228600" y="4876800"/>
            <a:ext cx="1512888" cy="719138"/>
          </a:xfrm>
          <a:prstGeom prst="borderCallout2">
            <a:avLst>
              <a:gd name="adj1" fmla="val 15894"/>
              <a:gd name="adj2" fmla="val 105037"/>
              <a:gd name="adj3" fmla="val 15894"/>
              <a:gd name="adj4" fmla="val 138088"/>
              <a:gd name="adj5" fmla="val -83222"/>
              <a:gd name="adj6" fmla="val 208394"/>
            </a:avLst>
          </a:prstGeom>
        </p:spPr>
        <p:style>
          <a:lnRef idx="1">
            <a:schemeClr val="dk1"/>
          </a:lnRef>
          <a:fillRef idx="2">
            <a:schemeClr val="dk1"/>
          </a:fillRef>
          <a:effectRef idx="1">
            <a:schemeClr val="dk1"/>
          </a:effectRef>
          <a:fontRef idx="minor">
            <a:schemeClr val="dk1"/>
          </a:fontRef>
        </p:style>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类间可分离性判据</a:t>
            </a:r>
            <a:endParaRPr kumimoji="0" lang="zh-CN" altLang="en-US" sz="20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5850"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66FF"/>
                </a:solidFill>
                <a:ea typeface="宋体" panose="02010600030101010101" pitchFamily="2" charset="-122"/>
              </a:rPr>
              <a:t>5.2   </a:t>
            </a:r>
            <a:r>
              <a:rPr lang="zh-CN" altLang="en-US" sz="3600" b="1" dirty="0">
                <a:solidFill>
                  <a:srgbClr val="0066FF"/>
                </a:solidFill>
                <a:ea typeface="宋体" panose="02010600030101010101" pitchFamily="2" charset="-122"/>
              </a:rPr>
              <a:t>类别可分性判据</a:t>
            </a:r>
            <a:endParaRPr lang="zh-CN" altLang="en-US" sz="3600" b="1" dirty="0">
              <a:solidFill>
                <a:srgbClr val="0066FF"/>
              </a:solidFill>
              <a:ea typeface="宋体" panose="02010600030101010101" pitchFamily="2" charset="-122"/>
            </a:endParaRPr>
          </a:p>
        </p:txBody>
      </p:sp>
      <p:sp>
        <p:nvSpPr>
          <p:cNvPr id="35851"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6867" name="Rectangle 1029"/>
          <p:cNvSpPr/>
          <p:nvPr/>
        </p:nvSpPr>
        <p:spPr>
          <a:xfrm>
            <a:off x="227013" y="1587500"/>
            <a:ext cx="8089900" cy="477838"/>
          </a:xfrm>
          <a:prstGeom prst="rect">
            <a:avLst/>
          </a:prstGeom>
          <a:noFill/>
          <a:ln w="12700">
            <a:noFill/>
          </a:ln>
        </p:spPr>
        <p:txBody>
          <a:bodyPr lIns="90488" tIns="44450" rIns="90488" bIns="4445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568325">
              <a:lnSpc>
                <a:spcPct val="90000"/>
              </a:lnSpc>
              <a:spcBef>
                <a:spcPct val="30000"/>
              </a:spcBef>
              <a:buClr>
                <a:schemeClr val="tx2"/>
              </a:buClr>
              <a:buSzPct val="75000"/>
              <a:buNone/>
            </a:pPr>
            <a:r>
              <a:rPr lang="zh-CN" altLang="en-US" sz="2800" b="1" dirty="0">
                <a:ea typeface="宋体" panose="02010600030101010101" pitchFamily="2" charset="-122"/>
              </a:rPr>
              <a:t>基于距离的可分性判据的其他表达形式：</a:t>
            </a:r>
            <a:endParaRPr lang="zh-CN" altLang="en-US" sz="2800" b="1" dirty="0">
              <a:solidFill>
                <a:srgbClr val="FAFD00"/>
              </a:solidFill>
              <a:ea typeface="宋体" panose="02010600030101010101" pitchFamily="2" charset="-122"/>
            </a:endParaRPr>
          </a:p>
        </p:txBody>
      </p:sp>
      <p:graphicFrame>
        <p:nvGraphicFramePr>
          <p:cNvPr id="36868" name="Object 6"/>
          <p:cNvGraphicFramePr>
            <a:graphicFrameLocks noChangeAspect="1"/>
          </p:cNvGraphicFramePr>
          <p:nvPr/>
        </p:nvGraphicFramePr>
        <p:xfrm>
          <a:off x="2771775" y="2143125"/>
          <a:ext cx="2827338" cy="541338"/>
        </p:xfrm>
        <a:graphic>
          <a:graphicData uri="http://schemas.openxmlformats.org/presentationml/2006/ole">
            <mc:AlternateContent xmlns:mc="http://schemas.openxmlformats.org/markup-compatibility/2006">
              <mc:Choice xmlns:v="urn:schemas-microsoft-com:vml" Requires="v">
                <p:oleObj spid="_x0000_s3100" name="" r:id="rId1" imgW="1193800" imgH="228600" progId="Equation.DSMT4">
                  <p:embed/>
                </p:oleObj>
              </mc:Choice>
              <mc:Fallback>
                <p:oleObj name="" r:id="rId1" imgW="1193800" imgH="228600" progId="Equation.DSMT4">
                  <p:embed/>
                  <p:pic>
                    <p:nvPicPr>
                      <p:cNvPr id="0" name="图片 3099"/>
                      <p:cNvPicPr/>
                      <p:nvPr/>
                    </p:nvPicPr>
                    <p:blipFill>
                      <a:blip r:embed="rId2"/>
                      <a:stretch>
                        <a:fillRect/>
                      </a:stretch>
                    </p:blipFill>
                    <p:spPr>
                      <a:xfrm>
                        <a:off x="2771775" y="2143125"/>
                        <a:ext cx="2827338" cy="541338"/>
                      </a:xfrm>
                      <a:prstGeom prst="rect">
                        <a:avLst/>
                      </a:prstGeom>
                      <a:noFill/>
                      <a:ln w="38100">
                        <a:noFill/>
                        <a:miter/>
                      </a:ln>
                    </p:spPr>
                  </p:pic>
                </p:oleObj>
              </mc:Fallback>
            </mc:AlternateContent>
          </a:graphicData>
        </a:graphic>
      </p:graphicFrame>
      <p:sp>
        <p:nvSpPr>
          <p:cNvPr id="36869"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6870" name="Rectangle 2"/>
          <p:cNvSpPr txBox="1"/>
          <p:nvPr/>
        </p:nvSpPr>
        <p:spPr>
          <a:xfrm>
            <a:off x="2268538" y="985838"/>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graphicFrame>
        <p:nvGraphicFramePr>
          <p:cNvPr id="36871" name="对象 1"/>
          <p:cNvGraphicFramePr>
            <a:graphicFrameLocks noChangeAspect="1"/>
          </p:cNvGraphicFramePr>
          <p:nvPr/>
        </p:nvGraphicFramePr>
        <p:xfrm>
          <a:off x="2916238" y="2636838"/>
          <a:ext cx="2540000" cy="560387"/>
        </p:xfrm>
        <a:graphic>
          <a:graphicData uri="http://schemas.openxmlformats.org/presentationml/2006/ole">
            <mc:AlternateContent xmlns:mc="http://schemas.openxmlformats.org/markup-compatibility/2006">
              <mc:Choice xmlns:v="urn:schemas-microsoft-com:vml" Requires="v">
                <p:oleObj spid="_x0000_s3102" name="" r:id="rId3" imgW="1091565" imgH="241300" progId="Equation.DSMT4">
                  <p:embed/>
                </p:oleObj>
              </mc:Choice>
              <mc:Fallback>
                <p:oleObj name="" r:id="rId3" imgW="1091565" imgH="241300" progId="Equation.DSMT4">
                  <p:embed/>
                  <p:pic>
                    <p:nvPicPr>
                      <p:cNvPr id="0" name="图片 3101"/>
                      <p:cNvPicPr/>
                      <p:nvPr/>
                    </p:nvPicPr>
                    <p:blipFill>
                      <a:blip r:embed="rId4"/>
                      <a:stretch>
                        <a:fillRect/>
                      </a:stretch>
                    </p:blipFill>
                    <p:spPr>
                      <a:xfrm>
                        <a:off x="2916238" y="2636838"/>
                        <a:ext cx="2540000" cy="560387"/>
                      </a:xfrm>
                      <a:prstGeom prst="rect">
                        <a:avLst/>
                      </a:prstGeom>
                      <a:noFill/>
                      <a:ln w="38100">
                        <a:noFill/>
                        <a:miter/>
                      </a:ln>
                    </p:spPr>
                  </p:pic>
                </p:oleObj>
              </mc:Fallback>
            </mc:AlternateContent>
          </a:graphicData>
        </a:graphic>
      </p:graphicFrame>
      <p:graphicFrame>
        <p:nvGraphicFramePr>
          <p:cNvPr id="36872" name="对象 2"/>
          <p:cNvGraphicFramePr>
            <a:graphicFrameLocks noChangeAspect="1"/>
          </p:cNvGraphicFramePr>
          <p:nvPr/>
        </p:nvGraphicFramePr>
        <p:xfrm>
          <a:off x="3225800" y="3189288"/>
          <a:ext cx="1851025" cy="950912"/>
        </p:xfrm>
        <a:graphic>
          <a:graphicData uri="http://schemas.openxmlformats.org/presentationml/2006/ole">
            <mc:AlternateContent xmlns:mc="http://schemas.openxmlformats.org/markup-compatibility/2006">
              <mc:Choice xmlns:v="urn:schemas-microsoft-com:vml" Requires="v">
                <p:oleObj spid="_x0000_s3104" name="" r:id="rId5" imgW="914400" imgH="469900" progId="Equation.DSMT4">
                  <p:embed/>
                </p:oleObj>
              </mc:Choice>
              <mc:Fallback>
                <p:oleObj name="" r:id="rId5" imgW="914400" imgH="469900" progId="Equation.DSMT4">
                  <p:embed/>
                  <p:pic>
                    <p:nvPicPr>
                      <p:cNvPr id="0" name="图片 3103"/>
                      <p:cNvPicPr/>
                      <p:nvPr/>
                    </p:nvPicPr>
                    <p:blipFill>
                      <a:blip r:embed="rId6"/>
                      <a:stretch>
                        <a:fillRect/>
                      </a:stretch>
                    </p:blipFill>
                    <p:spPr>
                      <a:xfrm>
                        <a:off x="3225800" y="3189288"/>
                        <a:ext cx="1851025" cy="950912"/>
                      </a:xfrm>
                      <a:prstGeom prst="rect">
                        <a:avLst/>
                      </a:prstGeom>
                      <a:noFill/>
                      <a:ln w="38100">
                        <a:noFill/>
                        <a:miter/>
                      </a:ln>
                    </p:spPr>
                  </p:pic>
                </p:oleObj>
              </mc:Fallback>
            </mc:AlternateContent>
          </a:graphicData>
        </a:graphic>
      </p:graphicFrame>
      <p:graphicFrame>
        <p:nvGraphicFramePr>
          <p:cNvPr id="36873" name="对象 3"/>
          <p:cNvGraphicFramePr>
            <a:graphicFrameLocks noChangeAspect="1"/>
          </p:cNvGraphicFramePr>
          <p:nvPr/>
        </p:nvGraphicFramePr>
        <p:xfrm>
          <a:off x="3279775" y="4140200"/>
          <a:ext cx="1744663" cy="849313"/>
        </p:xfrm>
        <a:graphic>
          <a:graphicData uri="http://schemas.openxmlformats.org/presentationml/2006/ole">
            <mc:AlternateContent xmlns:mc="http://schemas.openxmlformats.org/markup-compatibility/2006">
              <mc:Choice xmlns:v="urn:schemas-microsoft-com:vml" Requires="v">
                <p:oleObj spid="_x0000_s3101" name="" r:id="rId7" imgW="965200" imgH="469900" progId="Equation.DSMT4">
                  <p:embed/>
                </p:oleObj>
              </mc:Choice>
              <mc:Fallback>
                <p:oleObj name="" r:id="rId7" imgW="965200" imgH="469900" progId="Equation.DSMT4">
                  <p:embed/>
                  <p:pic>
                    <p:nvPicPr>
                      <p:cNvPr id="0" name="图片 3100"/>
                      <p:cNvPicPr/>
                      <p:nvPr/>
                    </p:nvPicPr>
                    <p:blipFill>
                      <a:blip r:embed="rId8"/>
                      <a:stretch>
                        <a:fillRect/>
                      </a:stretch>
                    </p:blipFill>
                    <p:spPr>
                      <a:xfrm>
                        <a:off x="3279775" y="4140200"/>
                        <a:ext cx="1744663" cy="849313"/>
                      </a:xfrm>
                      <a:prstGeom prst="rect">
                        <a:avLst/>
                      </a:prstGeom>
                      <a:noFill/>
                      <a:ln w="38100">
                        <a:noFill/>
                        <a:miter/>
                      </a:ln>
                    </p:spPr>
                  </p:pic>
                </p:oleObj>
              </mc:Fallback>
            </mc:AlternateContent>
          </a:graphicData>
        </a:graphic>
      </p:graphicFrame>
      <p:graphicFrame>
        <p:nvGraphicFramePr>
          <p:cNvPr id="36874" name="对象 4"/>
          <p:cNvGraphicFramePr>
            <a:graphicFrameLocks noChangeAspect="1"/>
          </p:cNvGraphicFramePr>
          <p:nvPr/>
        </p:nvGraphicFramePr>
        <p:xfrm>
          <a:off x="3300413" y="5118100"/>
          <a:ext cx="1695450" cy="755650"/>
        </p:xfrm>
        <a:graphic>
          <a:graphicData uri="http://schemas.openxmlformats.org/presentationml/2006/ole">
            <mc:AlternateContent xmlns:mc="http://schemas.openxmlformats.org/markup-compatibility/2006">
              <mc:Choice xmlns:v="urn:schemas-microsoft-com:vml" Requires="v">
                <p:oleObj spid="_x0000_s3103" name="" r:id="rId9" imgW="1054100" imgH="469900" progId="Equation.DSMT4">
                  <p:embed/>
                </p:oleObj>
              </mc:Choice>
              <mc:Fallback>
                <p:oleObj name="" r:id="rId9" imgW="1054100" imgH="469900" progId="Equation.DSMT4">
                  <p:embed/>
                  <p:pic>
                    <p:nvPicPr>
                      <p:cNvPr id="0" name="图片 3102"/>
                      <p:cNvPicPr/>
                      <p:nvPr/>
                    </p:nvPicPr>
                    <p:blipFill>
                      <a:blip r:embed="rId10"/>
                      <a:stretch>
                        <a:fillRect/>
                      </a:stretch>
                    </p:blipFill>
                    <p:spPr>
                      <a:xfrm>
                        <a:off x="3300413" y="5118100"/>
                        <a:ext cx="1695450" cy="755650"/>
                      </a:xfrm>
                      <a:prstGeom prst="rect">
                        <a:avLst/>
                      </a:prstGeom>
                      <a:noFill/>
                      <a:ln w="38100">
                        <a:noFill/>
                        <a:miter/>
                      </a:ln>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7891" name="矩形 2"/>
          <p:cNvSpPr/>
          <p:nvPr/>
        </p:nvSpPr>
        <p:spPr>
          <a:xfrm>
            <a:off x="755650" y="1919288"/>
            <a:ext cx="7704138" cy="37417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lnSpc>
                <a:spcPct val="120000"/>
              </a:lnSpc>
              <a:spcBef>
                <a:spcPct val="0"/>
              </a:spcBef>
              <a:buClrTx/>
              <a:buSzTx/>
              <a:buFontTx/>
              <a:buNone/>
            </a:pPr>
            <a:r>
              <a:rPr lang="zh-CN" altLang="en-US" b="1" dirty="0">
                <a:solidFill>
                  <a:srgbClr val="FF0000"/>
                </a:solidFill>
                <a:latin typeface="微软雅黑" panose="020B0503020204020204" pitchFamily="34" charset="-122"/>
                <a:ea typeface="微软雅黑" panose="020B0503020204020204" pitchFamily="34" charset="-122"/>
              </a:rPr>
              <a:t>优缺点</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0" lvl="0" indent="0" algn="just" eaLnBrk="1" hangingPunct="1">
              <a:lnSpc>
                <a:spcPct val="120000"/>
              </a:lnSpc>
              <a:spcBef>
                <a:spcPct val="0"/>
              </a:spcBef>
              <a:buClrTx/>
              <a:buSzTx/>
              <a:buFontTx/>
              <a:buNone/>
            </a:pPr>
            <a:r>
              <a:rPr lang="zh-CN" altLang="en-US" sz="2800" b="1" dirty="0">
                <a:solidFill>
                  <a:srgbClr val="0066FF"/>
                </a:solidFill>
                <a:latin typeface="微软雅黑" panose="020B0503020204020204" pitchFamily="34" charset="-122"/>
                <a:ea typeface="微软雅黑" panose="020B0503020204020204" pitchFamily="34" charset="-122"/>
              </a:rPr>
              <a:t>优点</a:t>
            </a:r>
            <a:r>
              <a:rPr lang="zh-CN" altLang="en-US" sz="2800" b="1" dirty="0">
                <a:latin typeface="微软雅黑" panose="020B0503020204020204" pitchFamily="34" charset="-122"/>
                <a:ea typeface="微软雅黑" panose="020B0503020204020204" pitchFamily="34" charset="-122"/>
              </a:rPr>
              <a:t>：定义直观、易于实现，因此比较常用。</a:t>
            </a:r>
            <a:endParaRPr lang="en-US" altLang="zh-CN" sz="2800" b="1" dirty="0">
              <a:latin typeface="微软雅黑" panose="020B0503020204020204" pitchFamily="34" charset="-122"/>
              <a:ea typeface="微软雅黑" panose="020B0503020204020204" pitchFamily="34" charset="-122"/>
            </a:endParaRPr>
          </a:p>
          <a:p>
            <a:pPr marL="0" lvl="0" indent="0" algn="just" eaLnBrk="1" hangingPunct="1">
              <a:lnSpc>
                <a:spcPct val="120000"/>
              </a:lnSpc>
              <a:spcBef>
                <a:spcPct val="0"/>
              </a:spcBef>
              <a:buClrTx/>
              <a:buSzTx/>
              <a:buFontTx/>
              <a:buNone/>
            </a:pPr>
            <a:endParaRPr lang="en-US" altLang="zh-CN" sz="2800" b="1" dirty="0">
              <a:latin typeface="微软雅黑" panose="020B0503020204020204" pitchFamily="34" charset="-122"/>
              <a:ea typeface="微软雅黑" panose="020B0503020204020204" pitchFamily="34" charset="-122"/>
            </a:endParaRPr>
          </a:p>
          <a:p>
            <a:pPr marL="0" lvl="0" indent="0" algn="just" eaLnBrk="1" hangingPunct="1">
              <a:lnSpc>
                <a:spcPct val="120000"/>
              </a:lnSpc>
              <a:spcBef>
                <a:spcPct val="0"/>
              </a:spcBef>
              <a:buClrTx/>
              <a:buSzTx/>
              <a:buFontTx/>
              <a:buNone/>
            </a:pPr>
            <a:r>
              <a:rPr lang="zh-CN" altLang="en-US" sz="2800" b="1" dirty="0">
                <a:solidFill>
                  <a:srgbClr val="0066FF"/>
                </a:solidFill>
                <a:latin typeface="微软雅黑" panose="020B0503020204020204" pitchFamily="34" charset="-122"/>
                <a:ea typeface="微软雅黑" panose="020B0503020204020204" pitchFamily="34" charset="-122"/>
              </a:rPr>
              <a:t>缺点</a:t>
            </a:r>
            <a:r>
              <a:rPr lang="zh-CN" altLang="en-US" sz="2800" b="1" dirty="0">
                <a:latin typeface="微软雅黑" panose="020B0503020204020204" pitchFamily="34" charset="-122"/>
                <a:ea typeface="微软雅黑" panose="020B0503020204020204" pitchFamily="34" charset="-122"/>
              </a:rPr>
              <a:t>：没有直接考虑样本的分布情况，很难在理论上建立起它们与分类错误率的联系，而且当两类样本的分布有重叠时，这些判据不能反映重叠的情况</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37892"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7893" name="Rectangle 2"/>
          <p:cNvSpPr txBox="1"/>
          <p:nvPr/>
        </p:nvSpPr>
        <p:spPr>
          <a:xfrm>
            <a:off x="-36512" y="985838"/>
            <a:ext cx="931545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1.</a:t>
            </a:r>
            <a:r>
              <a:rPr lang="zh-CN" altLang="en-US" sz="2800" b="1" dirty="0">
                <a:solidFill>
                  <a:srgbClr val="0033CC"/>
                </a:solidFill>
                <a:latin typeface="宋体" panose="02010600030101010101" pitchFamily="2" charset="-122"/>
                <a:ea typeface="宋体" panose="02010600030101010101" pitchFamily="2" charset="-122"/>
              </a:rPr>
              <a:t>基于距离的可分性判据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 name="矩形 2"/>
          <p:cNvSpPr/>
          <p:nvPr/>
        </p:nvSpPr>
        <p:spPr>
          <a:xfrm>
            <a:off x="250825" y="1341438"/>
            <a:ext cx="8424863" cy="4891405"/>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
                <a:srgbClr val="FF0000"/>
              </a:buClr>
              <a:buSzPct val="80000"/>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457200" algn="just" defTabSz="914400" rtl="0" eaLnBrk="1" fontAlgn="base" latinLnBrk="0" hangingPunct="1">
              <a:lnSpc>
                <a:spcPct val="120000"/>
              </a:lnSpc>
              <a:spcBef>
                <a:spcPct val="0"/>
              </a:spcBef>
              <a:spcAft>
                <a:spcPct val="0"/>
              </a:spcAft>
              <a:buClr>
                <a:srgbClr val="FF0000"/>
              </a:buClr>
              <a:buSzPct val="8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基于距离的可分性判据原理直观，计算简便。但是这种原理没有考虑概率分布，因此当不同类样本中有部分在特征空间中交迭分布时，</a:t>
            </a:r>
            <a:r>
              <a:rPr kumimoji="0" lang="zh-CN" altLang="en-US" sz="24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rPr>
              <a:t>简单地按距离划分，无法表明与错误概率之间的联系。</a:t>
            </a:r>
            <a:endParaRPr kumimoji="0" lang="zh-CN" altLang="en-US" sz="2400" b="1" i="0" u="none" strike="noStrike" kern="1200" cap="none" spc="0" normalizeH="0" baseline="0" noProof="0" dirty="0">
              <a:ln>
                <a:noFill/>
              </a:ln>
              <a:solidFill>
                <a:srgbClr val="0033CC"/>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20000"/>
              </a:lnSpc>
              <a:spcBef>
                <a:spcPct val="0"/>
              </a:spcBef>
              <a:spcAft>
                <a:spcPct val="0"/>
              </a:spcAft>
              <a:buClr>
                <a:srgbClr val="FF0000"/>
              </a:buClr>
              <a:buSzPct val="8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基于概率分布的可分性判据则依据如下观察到的现象。如果不考虑各类的先验概率，或假设两类样本的先验概率相等，那么从两类条件概率分布可以看出，如果两类条件概率分布互不交迭，即对</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ω2)≠0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处都有</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ω1)</a:t>
            </a:r>
            <a:r>
              <a:rPr kumimoji="0" lang="zh-CN" altLang="el-GR"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zh-CN" altLang="el-GR"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则这两类就</a:t>
            </a:r>
            <a:r>
              <a:rPr kumimoji="0" lang="zh-CN" altLang="en-US" sz="24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完全可分</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；另一种极端情况是对所有</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都有</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ω1)</a:t>
            </a:r>
            <a:r>
              <a:rPr kumimoji="0" lang="zh-CN" altLang="el-GR"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ω2)</a:t>
            </a:r>
            <a:r>
              <a:rPr kumimoji="0" lang="zh-CN" altLang="el-GR"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则两类就</a:t>
            </a:r>
            <a:r>
              <a:rPr kumimoji="0" lang="zh-CN" altLang="en-US" sz="24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完全不可分</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16"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8917" name="Rectangle 2"/>
          <p:cNvSpPr txBox="1"/>
          <p:nvPr/>
        </p:nvSpPr>
        <p:spPr>
          <a:xfrm>
            <a:off x="34925" y="1079500"/>
            <a:ext cx="8955088"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2800" b="1" dirty="0">
                <a:solidFill>
                  <a:srgbClr val="0033CC"/>
                </a:solidFill>
                <a:latin typeface="微软雅黑" panose="020B0503020204020204" pitchFamily="34" charset="-122"/>
                <a:ea typeface="微软雅黑" panose="020B0503020204020204" pitchFamily="34" charset="-122"/>
              </a:rPr>
              <a:t>2.</a:t>
            </a:r>
            <a:r>
              <a:rPr lang="zh-CN" altLang="en-US" sz="2800" b="1" dirty="0">
                <a:solidFill>
                  <a:srgbClr val="0033CC"/>
                </a:solidFill>
                <a:latin typeface="微软雅黑" panose="020B0503020204020204" pitchFamily="34" charset="-122"/>
                <a:ea typeface="微软雅黑" panose="020B0503020204020204" pitchFamily="34" charset="-122"/>
              </a:rPr>
              <a:t>基于概率分布的可分性判据</a:t>
            </a:r>
            <a:endParaRPr lang="zh-CN" altLang="en-US" sz="2800" b="1" dirty="0">
              <a:solidFill>
                <a:srgbClr val="0033CC"/>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39939" name="Picture 2"/>
          <p:cNvPicPr>
            <a:picLocks noChangeAspect="1"/>
          </p:cNvPicPr>
          <p:nvPr/>
        </p:nvPicPr>
        <p:blipFill>
          <a:blip r:embed="rId1"/>
          <a:stretch>
            <a:fillRect/>
          </a:stretch>
        </p:blipFill>
        <p:spPr>
          <a:xfrm>
            <a:off x="611188" y="2060575"/>
            <a:ext cx="4241800" cy="2592388"/>
          </a:xfrm>
          <a:prstGeom prst="rect">
            <a:avLst/>
          </a:prstGeom>
          <a:noFill/>
          <a:ln w="9525">
            <a:noFill/>
          </a:ln>
        </p:spPr>
      </p:pic>
      <p:pic>
        <p:nvPicPr>
          <p:cNvPr id="39940" name="Picture 3"/>
          <p:cNvPicPr>
            <a:picLocks noChangeAspect="1"/>
          </p:cNvPicPr>
          <p:nvPr/>
        </p:nvPicPr>
        <p:blipFill>
          <a:blip r:embed="rId2"/>
          <a:stretch>
            <a:fillRect/>
          </a:stretch>
        </p:blipFill>
        <p:spPr>
          <a:xfrm>
            <a:off x="5435600" y="2060575"/>
            <a:ext cx="2232025" cy="2562225"/>
          </a:xfrm>
          <a:prstGeom prst="rect">
            <a:avLst/>
          </a:prstGeom>
          <a:noFill/>
          <a:ln w="9525">
            <a:noFill/>
          </a:ln>
        </p:spPr>
      </p:pic>
      <p:sp>
        <p:nvSpPr>
          <p:cNvPr id="39941" name="矩形 4"/>
          <p:cNvSpPr/>
          <p:nvPr/>
        </p:nvSpPr>
        <p:spPr>
          <a:xfrm>
            <a:off x="1258888" y="5084763"/>
            <a:ext cx="3273425"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b="1" dirty="0">
                <a:ea typeface="宋体" panose="02010600030101010101" pitchFamily="2" charset="-122"/>
              </a:rPr>
              <a:t>完全可分</a:t>
            </a:r>
            <a:endParaRPr lang="en-US" altLang="zh-CN" sz="1800" b="1" dirty="0">
              <a:ea typeface="宋体" panose="02010600030101010101" pitchFamily="2" charset="-122"/>
            </a:endParaRPr>
          </a:p>
          <a:p>
            <a:pPr marL="0" lvl="0" indent="0" algn="ctr" eaLnBrk="1" hangingPunct="1">
              <a:spcBef>
                <a:spcPct val="0"/>
              </a:spcBef>
              <a:buClrTx/>
              <a:buSzTx/>
              <a:buFontTx/>
              <a:buNone/>
            </a:pPr>
            <a:r>
              <a:rPr lang="zh-CN" altLang="en-US" sz="1800" b="1" dirty="0">
                <a:ea typeface="宋体" panose="02010600030101010101" pitchFamily="2" charset="-122"/>
              </a:rPr>
              <a:t>对</a:t>
            </a:r>
            <a:r>
              <a:rPr lang="en-US" altLang="zh-CN" sz="1800" b="1" dirty="0">
                <a:ea typeface="宋体" panose="02010600030101010101" pitchFamily="2" charset="-122"/>
              </a:rPr>
              <a:t>p(X|</a:t>
            </a:r>
            <a:r>
              <a:rPr lang="el-GR" altLang="zh-CN" sz="1800" b="1" dirty="0">
                <a:ea typeface="宋体" panose="02010600030101010101" pitchFamily="2" charset="-122"/>
              </a:rPr>
              <a:t>ω2)≠0</a:t>
            </a:r>
            <a:r>
              <a:rPr lang="zh-CN" altLang="en-US" sz="1800" b="1" dirty="0">
                <a:ea typeface="宋体" panose="02010600030101010101" pitchFamily="2" charset="-122"/>
              </a:rPr>
              <a:t>处都有</a:t>
            </a:r>
            <a:r>
              <a:rPr lang="en-US" altLang="zh-CN" sz="1800" b="1" dirty="0">
                <a:ea typeface="宋体" panose="02010600030101010101" pitchFamily="2" charset="-122"/>
              </a:rPr>
              <a:t>p(X|</a:t>
            </a:r>
            <a:r>
              <a:rPr lang="el-GR" altLang="zh-CN" sz="1800" b="1" dirty="0">
                <a:ea typeface="宋体" panose="02010600030101010101" pitchFamily="2" charset="-122"/>
              </a:rPr>
              <a:t>ω1)</a:t>
            </a:r>
            <a:r>
              <a:rPr lang="zh-CN" altLang="el-GR" sz="1800" b="1" dirty="0">
                <a:ea typeface="宋体" panose="02010600030101010101" pitchFamily="2" charset="-122"/>
              </a:rPr>
              <a:t>＝</a:t>
            </a:r>
            <a:r>
              <a:rPr lang="el-GR" altLang="zh-CN" sz="1800" b="1" dirty="0">
                <a:ea typeface="宋体" panose="02010600030101010101" pitchFamily="2" charset="-122"/>
              </a:rPr>
              <a:t>0</a:t>
            </a:r>
            <a:endParaRPr lang="zh-CN" altLang="en-US" sz="1800" b="1" dirty="0">
              <a:ea typeface="宋体" panose="02010600030101010101" pitchFamily="2" charset="-122"/>
            </a:endParaRPr>
          </a:p>
        </p:txBody>
      </p:sp>
      <p:sp>
        <p:nvSpPr>
          <p:cNvPr id="39942" name="矩形 5"/>
          <p:cNvSpPr/>
          <p:nvPr/>
        </p:nvSpPr>
        <p:spPr>
          <a:xfrm>
            <a:off x="4894263" y="5013325"/>
            <a:ext cx="3313112"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1800" b="1" dirty="0">
                <a:ea typeface="宋体" panose="02010600030101010101" pitchFamily="2" charset="-122"/>
              </a:rPr>
              <a:t>完全不可分</a:t>
            </a:r>
            <a:endParaRPr lang="en-US" altLang="zh-CN" sz="1800" b="1" dirty="0">
              <a:ea typeface="宋体" panose="02010600030101010101" pitchFamily="2" charset="-122"/>
            </a:endParaRPr>
          </a:p>
          <a:p>
            <a:pPr marL="0" lvl="0" indent="0" algn="ctr" eaLnBrk="1" hangingPunct="1">
              <a:spcBef>
                <a:spcPct val="0"/>
              </a:spcBef>
              <a:buClrTx/>
              <a:buSzTx/>
              <a:buFontTx/>
              <a:buNone/>
            </a:pPr>
            <a:r>
              <a:rPr lang="zh-CN" altLang="en-US" sz="1800" b="1" dirty="0">
                <a:ea typeface="宋体" panose="02010600030101010101" pitchFamily="2" charset="-122"/>
              </a:rPr>
              <a:t>对所有</a:t>
            </a:r>
            <a:r>
              <a:rPr lang="en-US" altLang="zh-CN" sz="1800" b="1" dirty="0">
                <a:ea typeface="宋体" panose="02010600030101010101" pitchFamily="2" charset="-122"/>
              </a:rPr>
              <a:t>X</a:t>
            </a:r>
            <a:r>
              <a:rPr lang="zh-CN" altLang="en-US" sz="1800" b="1" dirty="0">
                <a:ea typeface="宋体" panose="02010600030101010101" pitchFamily="2" charset="-122"/>
              </a:rPr>
              <a:t>都有</a:t>
            </a:r>
            <a:r>
              <a:rPr lang="en-US" altLang="zh-CN" sz="1800" b="1" dirty="0">
                <a:ea typeface="宋体" panose="02010600030101010101" pitchFamily="2" charset="-122"/>
              </a:rPr>
              <a:t>p(X|</a:t>
            </a:r>
            <a:r>
              <a:rPr lang="el-GR" altLang="zh-CN" sz="1800" b="1" dirty="0">
                <a:ea typeface="宋体" panose="02010600030101010101" pitchFamily="2" charset="-122"/>
              </a:rPr>
              <a:t>ω1)</a:t>
            </a:r>
            <a:r>
              <a:rPr lang="zh-CN" altLang="el-GR" sz="1800" b="1" dirty="0">
                <a:ea typeface="宋体" panose="02010600030101010101" pitchFamily="2" charset="-122"/>
              </a:rPr>
              <a:t>＝</a:t>
            </a:r>
            <a:r>
              <a:rPr lang="en-US" altLang="zh-CN" sz="1800" b="1" dirty="0">
                <a:ea typeface="宋体" panose="02010600030101010101" pitchFamily="2" charset="-122"/>
              </a:rPr>
              <a:t>p(X|</a:t>
            </a:r>
            <a:r>
              <a:rPr lang="el-GR" altLang="zh-CN" sz="1800" b="1" dirty="0">
                <a:ea typeface="宋体" panose="02010600030101010101" pitchFamily="2" charset="-122"/>
              </a:rPr>
              <a:t>ω2)</a:t>
            </a:r>
            <a:endParaRPr lang="zh-CN" altLang="en-US" sz="1800" b="1" dirty="0">
              <a:ea typeface="宋体" panose="02010600030101010101" pitchFamily="2" charset="-122"/>
            </a:endParaRPr>
          </a:p>
        </p:txBody>
      </p:sp>
      <p:sp>
        <p:nvSpPr>
          <p:cNvPr id="39943"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39944" name="Rectangle 2"/>
          <p:cNvSpPr txBox="1"/>
          <p:nvPr/>
        </p:nvSpPr>
        <p:spPr>
          <a:xfrm>
            <a:off x="34925" y="1079500"/>
            <a:ext cx="8955088"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2.</a:t>
            </a:r>
            <a:r>
              <a:rPr lang="zh-CN" altLang="en-US" sz="2800" b="1" dirty="0">
                <a:solidFill>
                  <a:srgbClr val="0033CC"/>
                </a:solidFill>
                <a:latin typeface="宋体" panose="02010600030101010101" pitchFamily="2" charset="-122"/>
                <a:ea typeface="宋体" panose="02010600030101010101" pitchFamily="2" charset="-122"/>
              </a:rPr>
              <a:t>基于概率分布的可分性判据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 name="矩形 2"/>
          <p:cNvSpPr/>
          <p:nvPr/>
        </p:nvSpPr>
        <p:spPr>
          <a:xfrm>
            <a:off x="684213" y="1196975"/>
            <a:ext cx="7704138" cy="5262245"/>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
                <a:srgbClr val="FF0000"/>
              </a:buClr>
              <a:buSzPct val="100000"/>
              <a:buFontTx/>
              <a:buNone/>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457200" algn="just" defTabSz="914400" rtl="0" eaLnBrk="1" fontAlgn="base" latinLnBrk="0" hangingPunct="1">
              <a:lnSpc>
                <a:spcPct val="100000"/>
              </a:lnSpc>
              <a:spcBef>
                <a:spcPct val="0"/>
              </a:spcBef>
              <a:spcAft>
                <a:spcPct val="0"/>
              </a:spcAft>
              <a:buClr>
                <a:srgbClr val="FF0000"/>
              </a:buClr>
              <a:buSzPct val="10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显然不同类别在特征空间</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中的分布要尽可能不一样，则分类就比较容易，通俗的讲，则不同类别在特征空间的不同区域聚集，则分类就容易，</a:t>
            </a:r>
            <a:r>
              <a:rPr kumimoji="0" lang="zh-CN" altLang="en-US" sz="24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它们重迭的程度越低，越有别于分类。</a:t>
            </a:r>
            <a:endParaRPr kumimoji="0" lang="en-US" altLang="zh-CN" sz="24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endParaRPr>
          </a:p>
          <a:p>
            <a:pPr marL="0" marR="0" lvl="0" indent="457200" algn="just" defTabSz="914400" rtl="0" eaLnBrk="1" fontAlgn="base" latinLnBrk="0" hangingPunct="1">
              <a:lnSpc>
                <a:spcPct val="100000"/>
              </a:lnSpc>
              <a:spcBef>
                <a:spcPct val="0"/>
              </a:spcBef>
              <a:spcAft>
                <a:spcPct val="0"/>
              </a:spcAft>
              <a:buClr>
                <a:srgbClr val="FF0000"/>
              </a:buClr>
              <a:buSzPct val="10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为了考查在</a:t>
            </a:r>
            <a:r>
              <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不同特征下两类样本概率分布的情况，定义了基于概率分布的可分性判据</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
                <a:srgbClr val="FF0000"/>
              </a:buClr>
              <a:buSzPct val="100000"/>
              <a:buFont typeface="Wingdings" panose="05000000000000000000" pitchFamily="2" charset="2"/>
              <a:buChar char="u"/>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
                <a:srgbClr val="FF0000"/>
              </a:buClr>
              <a:buSzPct val="100000"/>
              <a:buFont typeface="Wingdings" panose="05000000000000000000" pitchFamily="2" charset="2"/>
              <a:buChar char="u"/>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分布密度的交叠程度可用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l-GR"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及</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p(X|</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ω</a:t>
            </a:r>
            <a:r>
              <a:rPr kumimoji="0" lang="el-GR"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el-GR"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这两个分布密度函数之间的距离</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来度量，距离</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有以下几个共同点：</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
                <a:srgbClr val="FF0000"/>
              </a:buClr>
              <a:buSzPct val="100000"/>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 </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是非负，即</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
                <a:srgbClr val="FF0000"/>
              </a:buClr>
              <a:buSzPct val="100000"/>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当两类完全不交迭时</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达到其最大值；</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
                <a:srgbClr val="FF0000"/>
              </a:buClr>
              <a:buSzPct val="100000"/>
              <a:buFontTx/>
              <a:buNone/>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当两类分布密度相同时，</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en-US" altLang="zh-CN" sz="2400" b="1" i="0"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p</a:t>
            </a:r>
            <a:r>
              <a:rPr kumimoji="0" lang="en-US" altLang="zh-CN" sz="24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64"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0965" name="Rectangle 2"/>
          <p:cNvSpPr txBox="1"/>
          <p:nvPr/>
        </p:nvSpPr>
        <p:spPr>
          <a:xfrm>
            <a:off x="1979613" y="1079500"/>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2.</a:t>
            </a:r>
            <a:r>
              <a:rPr lang="zh-CN" altLang="en-US" sz="2800" b="1" dirty="0">
                <a:solidFill>
                  <a:srgbClr val="0033CC"/>
                </a:solidFill>
                <a:latin typeface="宋体" panose="02010600030101010101" pitchFamily="2" charset="-122"/>
                <a:ea typeface="宋体" panose="02010600030101010101" pitchFamily="2" charset="-122"/>
              </a:rPr>
              <a:t>基于概率分布的可分性判据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1987" name="矩形 3"/>
          <p:cNvSpPr/>
          <p:nvPr/>
        </p:nvSpPr>
        <p:spPr>
          <a:xfrm>
            <a:off x="900113" y="1484313"/>
            <a:ext cx="648017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400" b="1" dirty="0">
                <a:solidFill>
                  <a:srgbClr val="FF0000"/>
                </a:solidFill>
                <a:ea typeface="宋体" panose="02010600030101010101" pitchFamily="2" charset="-122"/>
              </a:rPr>
              <a:t>1. </a:t>
            </a:r>
            <a:r>
              <a:rPr lang="en-US" altLang="zh-CN" sz="2400" b="1" dirty="0">
                <a:ea typeface="宋体" panose="02010600030101010101" pitchFamily="2" charset="-122"/>
              </a:rPr>
              <a:t>Bhattacharyya</a:t>
            </a:r>
            <a:r>
              <a:rPr lang="zh-CN" altLang="en-US" sz="2400" b="1" dirty="0">
                <a:ea typeface="宋体" panose="02010600030101010101" pitchFamily="2" charset="-122"/>
              </a:rPr>
              <a:t>距离（巴氏距离）</a:t>
            </a:r>
            <a:r>
              <a:rPr lang="zh-CN" altLang="en-US" sz="2400" dirty="0">
                <a:ea typeface="宋体" panose="02010600030101010101" pitchFamily="2" charset="-122"/>
              </a:rPr>
              <a:t>：</a:t>
            </a:r>
            <a:endParaRPr lang="zh-CN" altLang="en-US" sz="2400" dirty="0">
              <a:ea typeface="宋体" panose="02010600030101010101" pitchFamily="2" charset="-122"/>
            </a:endParaRPr>
          </a:p>
        </p:txBody>
      </p:sp>
      <p:sp>
        <p:nvSpPr>
          <p:cNvPr id="41988" name="矩形 5"/>
          <p:cNvSpPr/>
          <p:nvPr/>
        </p:nvSpPr>
        <p:spPr>
          <a:xfrm>
            <a:off x="827088" y="2636838"/>
            <a:ext cx="7489825" cy="1631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000" b="1" dirty="0">
              <a:latin typeface="宋体" panose="02010600030101010101" pitchFamily="2" charset="-122"/>
              <a:ea typeface="宋体" panose="02010600030101010101" pitchFamily="2" charset="-122"/>
            </a:endParaRPr>
          </a:p>
          <a:p>
            <a:pPr marL="0" lvl="0" indent="0" eaLnBrk="1" hangingPunct="1">
              <a:spcBef>
                <a:spcPct val="0"/>
              </a:spcBef>
              <a:buClrTx/>
              <a:buSzTx/>
              <a:buFontTx/>
              <a:buNone/>
            </a:pPr>
            <a:r>
              <a:rPr lang="zh-CN" altLang="en-US" sz="2000" b="1" dirty="0">
                <a:latin typeface="宋体" panose="02010600030101010101" pitchFamily="2" charset="-122"/>
                <a:ea typeface="宋体" panose="02010600030101010101" pitchFamily="2" charset="-122"/>
              </a:rPr>
              <a:t>显然，当</a:t>
            </a:r>
            <a:r>
              <a:rPr lang="en-US" altLang="zh-CN" sz="2000" b="1" dirty="0">
                <a:latin typeface="宋体" panose="02010600030101010101" pitchFamily="2" charset="-122"/>
                <a:ea typeface="宋体" panose="02010600030101010101" pitchFamily="2" charset="-122"/>
              </a:rPr>
              <a:t>p(X|</a:t>
            </a:r>
            <a:r>
              <a:rPr lang="el-GR" altLang="zh-CN" sz="2000" b="1" dirty="0">
                <a:ea typeface="宋体" panose="02010600030101010101" pitchFamily="2" charset="-122"/>
              </a:rPr>
              <a:t>ω</a:t>
            </a:r>
            <a:r>
              <a:rPr lang="el-GR" altLang="zh-CN" sz="2000" b="1" baseline="-25000" dirty="0">
                <a:ea typeface="宋体" panose="02010600030101010101" pitchFamily="2" charset="-122"/>
              </a:rPr>
              <a:t>1</a:t>
            </a:r>
            <a:r>
              <a:rPr lang="el-GR" altLang="zh-CN" sz="2000" b="1" dirty="0">
                <a:ea typeface="宋体" panose="02010600030101010101" pitchFamily="2" charset="-122"/>
              </a:rPr>
              <a:t>)</a:t>
            </a:r>
            <a:r>
              <a:rPr lang="zh-CN" altLang="el-GR"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p(X|</a:t>
            </a:r>
            <a:r>
              <a:rPr lang="el-GR" altLang="zh-CN" sz="2000" b="1" dirty="0">
                <a:ea typeface="宋体" panose="02010600030101010101" pitchFamily="2" charset="-122"/>
              </a:rPr>
              <a:t>ω</a:t>
            </a:r>
            <a:r>
              <a:rPr lang="el-GR" altLang="zh-CN" sz="2000" b="1" baseline="-25000" dirty="0">
                <a:ea typeface="宋体" panose="02010600030101010101" pitchFamily="2" charset="-122"/>
              </a:rPr>
              <a:t>2</a:t>
            </a:r>
            <a:r>
              <a:rPr lang="el-GR" altLang="zh-CN" sz="2000" b="1" dirty="0">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对所有</a:t>
            </a:r>
            <a:r>
              <a:rPr lang="en-US" altLang="zh-CN" sz="2000" b="1" dirty="0">
                <a:latin typeface="宋体" panose="02010600030101010101" pitchFamily="2" charset="-122"/>
                <a:ea typeface="宋体" panose="02010600030101010101" pitchFamily="2" charset="-122"/>
              </a:rPr>
              <a:t>X</a:t>
            </a:r>
            <a:r>
              <a:rPr lang="zh-CN" altLang="en-US" sz="2000" b="1" dirty="0">
                <a:latin typeface="宋体" panose="02010600030101010101" pitchFamily="2" charset="-122"/>
                <a:ea typeface="宋体" panose="02010600030101010101" pitchFamily="2" charset="-122"/>
              </a:rPr>
              <a:t>值成立时</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，而当两者完全不交迭时</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无穷大。巴氏距离与错误率的上界有直接关系，因此</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不仅用来对特征空间进行降维优化，而且也用来对分类器的错误率作出估计。</a:t>
            </a:r>
            <a:endParaRPr lang="zh-CN" altLang="en-US" sz="2000" b="1" dirty="0">
              <a:latin typeface="宋体" panose="02010600030101010101" pitchFamily="2" charset="-122"/>
              <a:ea typeface="宋体" panose="02010600030101010101" pitchFamily="2" charset="-122"/>
            </a:endParaRPr>
          </a:p>
        </p:txBody>
      </p:sp>
      <p:graphicFrame>
        <p:nvGraphicFramePr>
          <p:cNvPr id="41989" name="Object 11"/>
          <p:cNvGraphicFramePr>
            <a:graphicFrameLocks noChangeAspect="1"/>
          </p:cNvGraphicFramePr>
          <p:nvPr/>
        </p:nvGraphicFramePr>
        <p:xfrm>
          <a:off x="1547813" y="2060575"/>
          <a:ext cx="4572000" cy="752475"/>
        </p:xfrm>
        <a:graphic>
          <a:graphicData uri="http://schemas.openxmlformats.org/presentationml/2006/ole">
            <mc:AlternateContent xmlns:mc="http://schemas.openxmlformats.org/markup-compatibility/2006">
              <mc:Choice xmlns:v="urn:schemas-microsoft-com:vml" Requires="v">
                <p:oleObj spid="_x0000_s3116" name="" r:id="rId1" imgW="2082800" imgH="342900" progId="Equation.DSMT4">
                  <p:embed/>
                </p:oleObj>
              </mc:Choice>
              <mc:Fallback>
                <p:oleObj name="" r:id="rId1" imgW="2082800" imgH="342900" progId="Equation.DSMT4">
                  <p:embed/>
                  <p:pic>
                    <p:nvPicPr>
                      <p:cNvPr id="0" name="图片 3115"/>
                      <p:cNvPicPr/>
                      <p:nvPr/>
                    </p:nvPicPr>
                    <p:blipFill>
                      <a:blip r:embed="rId2"/>
                      <a:stretch>
                        <a:fillRect/>
                      </a:stretch>
                    </p:blipFill>
                    <p:spPr>
                      <a:xfrm>
                        <a:off x="1547813" y="2060575"/>
                        <a:ext cx="4572000" cy="752475"/>
                      </a:xfrm>
                      <a:prstGeom prst="rect">
                        <a:avLst/>
                      </a:prstGeom>
                      <a:noFill/>
                      <a:ln w="38100">
                        <a:noFill/>
                        <a:miter/>
                      </a:ln>
                    </p:spPr>
                  </p:pic>
                </p:oleObj>
              </mc:Fallback>
            </mc:AlternateContent>
          </a:graphicData>
        </a:graphic>
      </p:graphicFrame>
      <p:sp>
        <p:nvSpPr>
          <p:cNvPr id="41990" name="Rectangle 13"/>
          <p:cNvSpPr/>
          <p:nvPr/>
        </p:nvSpPr>
        <p:spPr>
          <a:xfrm>
            <a:off x="825500" y="4352925"/>
            <a:ext cx="4321175" cy="387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80000"/>
              </a:lnSpc>
              <a:buClr>
                <a:srgbClr val="376092"/>
              </a:buClr>
              <a:buSzPct val="75000"/>
              <a:buNone/>
            </a:pPr>
            <a:r>
              <a:rPr lang="en-US" altLang="zh-CN" sz="2400" b="1" dirty="0">
                <a:solidFill>
                  <a:srgbClr val="FF0000"/>
                </a:solidFill>
                <a:ea typeface="宋体" panose="02010600030101010101" pitchFamily="2" charset="-122"/>
              </a:rPr>
              <a:t>2. </a:t>
            </a:r>
            <a:r>
              <a:rPr lang="en-US" altLang="zh-CN" sz="2400" b="1" dirty="0">
                <a:ea typeface="宋体" panose="02010600030101010101" pitchFamily="2" charset="-122"/>
              </a:rPr>
              <a:t>Chernoff</a:t>
            </a:r>
            <a:r>
              <a:rPr lang="zh-CN" altLang="en-US" sz="2400" b="1" dirty="0">
                <a:ea typeface="宋体" panose="02010600030101010101" pitchFamily="2" charset="-122"/>
              </a:rPr>
              <a:t>（切诺夫）界限</a:t>
            </a:r>
            <a:r>
              <a:rPr lang="zh-CN" altLang="en-US" sz="2400" dirty="0">
                <a:ea typeface="宋体" panose="02010600030101010101" pitchFamily="2" charset="-122"/>
              </a:rPr>
              <a:t>：</a:t>
            </a:r>
            <a:endParaRPr lang="zh-CN" altLang="en-US" sz="2400" dirty="0">
              <a:ea typeface="宋体" panose="02010600030101010101" pitchFamily="2" charset="-122"/>
            </a:endParaRPr>
          </a:p>
        </p:txBody>
      </p:sp>
      <p:graphicFrame>
        <p:nvGraphicFramePr>
          <p:cNvPr id="41991" name="Object 14"/>
          <p:cNvGraphicFramePr>
            <a:graphicFrameLocks noChangeAspect="1"/>
          </p:cNvGraphicFramePr>
          <p:nvPr/>
        </p:nvGraphicFramePr>
        <p:xfrm>
          <a:off x="2322513" y="4824413"/>
          <a:ext cx="4572000" cy="612775"/>
        </p:xfrm>
        <a:graphic>
          <a:graphicData uri="http://schemas.openxmlformats.org/presentationml/2006/ole">
            <mc:AlternateContent xmlns:mc="http://schemas.openxmlformats.org/markup-compatibility/2006">
              <mc:Choice xmlns:v="urn:schemas-microsoft-com:vml" Requires="v">
                <p:oleObj spid="_x0000_s3117" name="" r:id="rId3" imgW="2082800" imgH="279400" progId="Equation.DSMT4">
                  <p:embed/>
                </p:oleObj>
              </mc:Choice>
              <mc:Fallback>
                <p:oleObj name="" r:id="rId3" imgW="2082800" imgH="279400" progId="Equation.DSMT4">
                  <p:embed/>
                  <p:pic>
                    <p:nvPicPr>
                      <p:cNvPr id="0" name="图片 3116"/>
                      <p:cNvPicPr/>
                      <p:nvPr/>
                    </p:nvPicPr>
                    <p:blipFill>
                      <a:blip r:embed="rId4"/>
                      <a:stretch>
                        <a:fillRect/>
                      </a:stretch>
                    </p:blipFill>
                    <p:spPr>
                      <a:xfrm>
                        <a:off x="2322513" y="4824413"/>
                        <a:ext cx="4572000" cy="612775"/>
                      </a:xfrm>
                      <a:prstGeom prst="rect">
                        <a:avLst/>
                      </a:prstGeom>
                      <a:noFill/>
                      <a:ln w="38100">
                        <a:noFill/>
                        <a:miter/>
                      </a:ln>
                    </p:spPr>
                  </p:pic>
                </p:oleObj>
              </mc:Fallback>
            </mc:AlternateContent>
          </a:graphicData>
        </a:graphic>
      </p:graphicFrame>
      <p:sp>
        <p:nvSpPr>
          <p:cNvPr id="41992" name="矩形 9"/>
          <p:cNvSpPr/>
          <p:nvPr/>
        </p:nvSpPr>
        <p:spPr>
          <a:xfrm>
            <a:off x="900113" y="5013325"/>
            <a:ext cx="7416800"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spcBef>
                <a:spcPct val="0"/>
              </a:spcBef>
              <a:buClrTx/>
              <a:buSzTx/>
              <a:buFontTx/>
              <a:buNone/>
            </a:pPr>
            <a:endParaRPr lang="zh-CN" altLang="en-US" sz="2000" b="1" dirty="0">
              <a:latin typeface="宋体" panose="02010600030101010101" pitchFamily="2" charset="-122"/>
              <a:ea typeface="宋体" panose="02010600030101010101" pitchFamily="2" charset="-122"/>
            </a:endParaRPr>
          </a:p>
          <a:p>
            <a:pPr marL="0" lvl="0" indent="0" algn="just" eaLnBrk="1" hangingPunct="1">
              <a:spcBef>
                <a:spcPct val="0"/>
              </a:spcBef>
              <a:buClrTx/>
              <a:buSzTx/>
              <a:buFontTx/>
              <a:buNone/>
            </a:pPr>
            <a:r>
              <a:rPr lang="zh-CN" altLang="en-US" sz="2000" b="1" dirty="0">
                <a:latin typeface="宋体" panose="02010600030101010101" pitchFamily="2" charset="-122"/>
                <a:ea typeface="宋体" panose="02010600030101010101" pitchFamily="2" charset="-122"/>
              </a:rPr>
              <a:t>其中</a:t>
            </a:r>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取</a:t>
            </a:r>
            <a:r>
              <a:rPr lang="en-US" altLang="zh-CN" sz="2000" b="1" dirty="0">
                <a:latin typeface="宋体" panose="02010600030101010101" pitchFamily="2" charset="-122"/>
                <a:ea typeface="宋体" panose="02010600030101010101" pitchFamily="2" charset="-122"/>
              </a:rPr>
              <a:t>[0</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1]</a:t>
            </a:r>
            <a:r>
              <a:rPr lang="zh-CN" altLang="en-US" sz="2000" b="1" dirty="0">
                <a:latin typeface="宋体" panose="02010600030101010101" pitchFamily="2" charset="-122"/>
                <a:ea typeface="宋体" panose="02010600030101010101" pitchFamily="2" charset="-122"/>
              </a:rPr>
              <a:t>区间的一个参数，显然在</a:t>
            </a:r>
            <a:r>
              <a:rPr lang="en-US" altLang="zh-CN" sz="2000" b="1" dirty="0">
                <a:latin typeface="宋体" panose="02010600030101010101" pitchFamily="2" charset="-122"/>
                <a:ea typeface="宋体" panose="02010600030101010101" pitchFamily="2" charset="-122"/>
              </a:rPr>
              <a:t>S</a:t>
            </a:r>
            <a:r>
              <a:rPr lang="zh-CN" altLang="en-US" sz="2000" b="1" dirty="0">
                <a:latin typeface="宋体" panose="02010600030101010101" pitchFamily="2" charset="-122"/>
                <a:ea typeface="宋体" panose="02010600030101010101" pitchFamily="2" charset="-122"/>
              </a:rPr>
              <a:t>＝</a:t>
            </a:r>
            <a:r>
              <a:rPr lang="en-US" altLang="zh-CN" sz="2000" b="1" dirty="0">
                <a:latin typeface="宋体" panose="02010600030101010101" pitchFamily="2" charset="-122"/>
                <a:ea typeface="宋体" panose="02010600030101010101" pitchFamily="2" charset="-122"/>
              </a:rPr>
              <a:t>0.5</a:t>
            </a:r>
            <a:r>
              <a:rPr lang="zh-CN" altLang="en-US" sz="2000" b="1" dirty="0">
                <a:latin typeface="宋体" panose="02010600030101010101" pitchFamily="2" charset="-122"/>
                <a:ea typeface="宋体" panose="02010600030101010101" pitchFamily="2" charset="-122"/>
              </a:rPr>
              <a:t>时就变为</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式，因此</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是</a:t>
            </a:r>
            <a:r>
              <a:rPr lang="en-US" altLang="zh-CN" sz="2000" b="1" dirty="0">
                <a:latin typeface="宋体" panose="02010600030101010101" pitchFamily="2" charset="-122"/>
                <a:ea typeface="宋体" panose="02010600030101010101" pitchFamily="2" charset="-122"/>
              </a:rPr>
              <a:t>J</a:t>
            </a:r>
            <a:r>
              <a:rPr lang="en-US" altLang="zh-CN" sz="2000" b="1" baseline="-25000" dirty="0">
                <a:latin typeface="宋体" panose="02010600030101010101" pitchFamily="2" charset="-122"/>
                <a:ea typeface="宋体" panose="02010600030101010101" pitchFamily="2" charset="-122"/>
              </a:rPr>
              <a:t>C</a:t>
            </a:r>
            <a:r>
              <a:rPr lang="zh-CN" altLang="en-US" sz="2000" b="1" dirty="0">
                <a:latin typeface="宋体" panose="02010600030101010101" pitchFamily="2" charset="-122"/>
                <a:ea typeface="宋体" panose="02010600030101010101" pitchFamily="2" charset="-122"/>
              </a:rPr>
              <a:t>的一个特例。</a:t>
            </a:r>
            <a:endParaRPr lang="zh-CN" altLang="en-US" sz="2000" b="1" dirty="0">
              <a:latin typeface="宋体" panose="02010600030101010101" pitchFamily="2" charset="-122"/>
              <a:ea typeface="宋体" panose="02010600030101010101" pitchFamily="2" charset="-122"/>
            </a:endParaRPr>
          </a:p>
        </p:txBody>
      </p:sp>
      <p:sp>
        <p:nvSpPr>
          <p:cNvPr id="41993"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1994" name="Rectangle 2"/>
          <p:cNvSpPr txBox="1"/>
          <p:nvPr/>
        </p:nvSpPr>
        <p:spPr>
          <a:xfrm>
            <a:off x="1979613" y="1079500"/>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2.</a:t>
            </a:r>
            <a:r>
              <a:rPr lang="zh-CN" altLang="en-US" sz="2800" b="1" dirty="0">
                <a:solidFill>
                  <a:srgbClr val="0033CC"/>
                </a:solidFill>
                <a:latin typeface="宋体" panose="02010600030101010101" pitchFamily="2" charset="-122"/>
                <a:ea typeface="宋体" panose="02010600030101010101" pitchFamily="2" charset="-122"/>
              </a:rPr>
              <a:t>基于概率分布的可分性判据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灯片编号占位符 7"/>
          <p:cNvSpPr txBox="1">
            <a:spLocks noGrp="1"/>
          </p:cNvSpPr>
          <p:nvPr>
            <p:ph type="sldNum" sz="quarter" idx="12"/>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3011" name="Rectangle 6"/>
          <p:cNvSpPr>
            <a:spLocks noGrp="1"/>
          </p:cNvSpPr>
          <p:nvPr>
            <p:ph type="body" sz="half" idx="1"/>
          </p:nvPr>
        </p:nvSpPr>
        <p:spPr>
          <a:xfrm>
            <a:off x="533400" y="1628775"/>
            <a:ext cx="7620000" cy="609600"/>
          </a:xfrm>
        </p:spPr>
        <p:txBody>
          <a:bodyPr vert="horz" wrap="square" lIns="91440" tIns="45720" rIns="91440" bIns="45720" anchor="t" anchorCtr="0"/>
          <a:p>
            <a:pPr eaLnBrk="1" hangingPunct="1">
              <a:buClr>
                <a:schemeClr val="hlink"/>
              </a:buClr>
              <a:buSzPct val="60000"/>
              <a:buFont typeface="Wingdings" panose="05000000000000000000" pitchFamily="2" charset="2"/>
              <a:buNone/>
            </a:pPr>
            <a:r>
              <a:rPr lang="en-US" altLang="zh-CN" sz="2600" b="1" dirty="0">
                <a:solidFill>
                  <a:srgbClr val="FF0000"/>
                </a:solidFill>
                <a:latin typeface="宋体" panose="02010600030101010101" pitchFamily="2" charset="-122"/>
                <a:ea typeface="宋体" panose="02010600030101010101" pitchFamily="2" charset="-122"/>
              </a:rPr>
              <a:t> 3.</a:t>
            </a:r>
            <a:r>
              <a:rPr lang="zh-CN" altLang="en-US" sz="2600" b="1" dirty="0">
                <a:latin typeface="宋体" panose="02010600030101010101" pitchFamily="2" charset="-122"/>
                <a:ea typeface="宋体" panose="02010600030101010101" pitchFamily="2" charset="-122"/>
              </a:rPr>
              <a:t>散度：区分</a:t>
            </a:r>
            <a:r>
              <a:rPr lang="en-US" altLang="zh-CN" sz="2600" b="1" dirty="0">
                <a:latin typeface="宋体" panose="02010600030101010101" pitchFamily="2" charset="-122"/>
                <a:ea typeface="宋体" panose="02010600030101010101" pitchFamily="2" charset="-122"/>
              </a:rPr>
              <a:t>i</a:t>
            </a:r>
            <a:r>
              <a:rPr lang="zh-CN" altLang="en-US" sz="2600" b="1" dirty="0">
                <a:latin typeface="宋体" panose="02010600030101010101" pitchFamily="2" charset="-122"/>
                <a:ea typeface="宋体" panose="02010600030101010101" pitchFamily="2" charset="-122"/>
              </a:rPr>
              <a:t>，</a:t>
            </a:r>
            <a:r>
              <a:rPr lang="en-US" altLang="zh-CN" sz="2600" b="1" dirty="0">
                <a:latin typeface="宋体" panose="02010600030101010101" pitchFamily="2" charset="-122"/>
                <a:ea typeface="宋体" panose="02010600030101010101" pitchFamily="2" charset="-122"/>
              </a:rPr>
              <a:t>j</a:t>
            </a:r>
            <a:r>
              <a:rPr lang="zh-CN" altLang="en-US" sz="2600" b="1" dirty="0">
                <a:latin typeface="宋体" panose="02010600030101010101" pitchFamily="2" charset="-122"/>
                <a:ea typeface="宋体" panose="02010600030101010101" pitchFamily="2" charset="-122"/>
              </a:rPr>
              <a:t>两类总的平均信息</a:t>
            </a:r>
            <a:endParaRPr lang="zh-CN" altLang="en-US" sz="2600" b="1" dirty="0">
              <a:latin typeface="宋体" panose="02010600030101010101" pitchFamily="2" charset="-122"/>
              <a:ea typeface="宋体" panose="02010600030101010101" pitchFamily="2" charset="-122"/>
            </a:endParaRPr>
          </a:p>
        </p:txBody>
      </p:sp>
      <p:graphicFrame>
        <p:nvGraphicFramePr>
          <p:cNvPr id="43012" name="Object 3"/>
          <p:cNvGraphicFramePr>
            <a:graphicFrameLocks noGrp="1" noChangeAspect="1"/>
          </p:cNvGraphicFramePr>
          <p:nvPr>
            <p:ph sz="quarter" idx="2"/>
          </p:nvPr>
        </p:nvGraphicFramePr>
        <p:xfrm>
          <a:off x="1143000" y="4648200"/>
          <a:ext cx="6096000" cy="747713"/>
        </p:xfrm>
        <a:graphic>
          <a:graphicData uri="http://schemas.openxmlformats.org/presentationml/2006/ole">
            <mc:AlternateContent xmlns:mc="http://schemas.openxmlformats.org/markup-compatibility/2006">
              <mc:Choice xmlns:v="urn:schemas-microsoft-com:vml" Requires="v">
                <p:oleObj spid="_x0000_s3115" name="" r:id="rId1" imgW="3467100" imgH="444500" progId="Equation.DSMT4">
                  <p:embed/>
                </p:oleObj>
              </mc:Choice>
              <mc:Fallback>
                <p:oleObj name="" r:id="rId1" imgW="3467100" imgH="444500" progId="Equation.DSMT4">
                  <p:embed/>
                  <p:pic>
                    <p:nvPicPr>
                      <p:cNvPr id="0" name="图片 3114"/>
                      <p:cNvPicPr/>
                      <p:nvPr/>
                    </p:nvPicPr>
                    <p:blipFill>
                      <a:blip r:embed="rId2"/>
                      <a:srcRect/>
                      <a:stretch>
                        <a:fillRect/>
                      </a:stretch>
                    </p:blipFill>
                    <p:spPr>
                      <a:xfrm>
                        <a:off x="1143000" y="4648200"/>
                        <a:ext cx="6096000" cy="747713"/>
                      </a:xfrm>
                      <a:prstGeom prst="rect">
                        <a:avLst/>
                      </a:prstGeom>
                      <a:noFill/>
                      <a:ln w="38100">
                        <a:miter/>
                      </a:ln>
                    </p:spPr>
                  </p:pic>
                </p:oleObj>
              </mc:Fallback>
            </mc:AlternateContent>
          </a:graphicData>
        </a:graphic>
      </p:graphicFrame>
      <p:graphicFrame>
        <p:nvGraphicFramePr>
          <p:cNvPr id="43013" name="Object 4"/>
          <p:cNvGraphicFramePr>
            <a:graphicFrameLocks noGrp="1" noChangeAspect="1"/>
          </p:cNvGraphicFramePr>
          <p:nvPr>
            <p:ph sz="quarter" idx="3"/>
          </p:nvPr>
        </p:nvGraphicFramePr>
        <p:xfrm>
          <a:off x="1228725" y="2362200"/>
          <a:ext cx="1808163" cy="771525"/>
        </p:xfrm>
        <a:graphic>
          <a:graphicData uri="http://schemas.openxmlformats.org/presentationml/2006/ole">
            <mc:AlternateContent xmlns:mc="http://schemas.openxmlformats.org/markup-compatibility/2006">
              <mc:Choice xmlns:v="urn:schemas-microsoft-com:vml" Requires="v">
                <p:oleObj spid="_x0000_s3112" name="" r:id="rId3" imgW="1040765" imgH="444500" progId="Equation.DSMT4">
                  <p:embed/>
                </p:oleObj>
              </mc:Choice>
              <mc:Fallback>
                <p:oleObj name="" r:id="rId3" imgW="1040765" imgH="444500" progId="Equation.DSMT4">
                  <p:embed/>
                  <p:pic>
                    <p:nvPicPr>
                      <p:cNvPr id="0" name="图片 3111"/>
                      <p:cNvPicPr/>
                      <p:nvPr/>
                    </p:nvPicPr>
                    <p:blipFill>
                      <a:blip r:embed="rId4"/>
                      <a:srcRect/>
                      <a:stretch>
                        <a:fillRect/>
                      </a:stretch>
                    </p:blipFill>
                    <p:spPr>
                      <a:xfrm>
                        <a:off x="1228725" y="2362200"/>
                        <a:ext cx="1808163" cy="771525"/>
                      </a:xfrm>
                      <a:prstGeom prst="rect">
                        <a:avLst/>
                      </a:prstGeom>
                      <a:noFill/>
                      <a:ln w="38100">
                        <a:miter/>
                      </a:ln>
                    </p:spPr>
                  </p:pic>
                </p:oleObj>
              </mc:Fallback>
            </mc:AlternateContent>
          </a:graphicData>
        </a:graphic>
      </p:graphicFrame>
      <p:graphicFrame>
        <p:nvGraphicFramePr>
          <p:cNvPr id="43014" name="Object 12"/>
          <p:cNvGraphicFramePr>
            <a:graphicFrameLocks noChangeAspect="1"/>
          </p:cNvGraphicFramePr>
          <p:nvPr/>
        </p:nvGraphicFramePr>
        <p:xfrm>
          <a:off x="1143000" y="3200400"/>
          <a:ext cx="4419600" cy="1271588"/>
        </p:xfrm>
        <a:graphic>
          <a:graphicData uri="http://schemas.openxmlformats.org/presentationml/2006/ole">
            <mc:AlternateContent xmlns:mc="http://schemas.openxmlformats.org/markup-compatibility/2006">
              <mc:Choice xmlns:v="urn:schemas-microsoft-com:vml" Requires="v">
                <p:oleObj spid="_x0000_s3113" name="" r:id="rId5" imgW="2794000" imgH="914400" progId="Equation.DSMT4">
                  <p:embed/>
                </p:oleObj>
              </mc:Choice>
              <mc:Fallback>
                <p:oleObj name="" r:id="rId5" imgW="2794000" imgH="914400" progId="Equation.DSMT4">
                  <p:embed/>
                  <p:pic>
                    <p:nvPicPr>
                      <p:cNvPr id="0" name="图片 3112"/>
                      <p:cNvPicPr/>
                      <p:nvPr/>
                    </p:nvPicPr>
                    <p:blipFill>
                      <a:blip r:embed="rId6"/>
                      <a:stretch>
                        <a:fillRect/>
                      </a:stretch>
                    </p:blipFill>
                    <p:spPr>
                      <a:xfrm>
                        <a:off x="1143000" y="3200400"/>
                        <a:ext cx="4419600" cy="1271588"/>
                      </a:xfrm>
                      <a:prstGeom prst="rect">
                        <a:avLst/>
                      </a:prstGeom>
                      <a:noFill/>
                      <a:ln w="38100">
                        <a:noFill/>
                        <a:miter/>
                      </a:ln>
                    </p:spPr>
                  </p:pic>
                </p:oleObj>
              </mc:Fallback>
            </mc:AlternateContent>
          </a:graphicData>
        </a:graphic>
      </p:graphicFrame>
      <p:sp>
        <p:nvSpPr>
          <p:cNvPr id="43015" name="AutoShape 15"/>
          <p:cNvSpPr/>
          <p:nvPr/>
        </p:nvSpPr>
        <p:spPr>
          <a:xfrm>
            <a:off x="6096000" y="2895600"/>
            <a:ext cx="2743200" cy="838200"/>
          </a:xfrm>
          <a:prstGeom prst="wedgeRoundRectCallout">
            <a:avLst>
              <a:gd name="adj1" fmla="val -71009"/>
              <a:gd name="adj2" fmla="val 2765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400" dirty="0">
                <a:ea typeface="宋体" panose="02010600030101010101" pitchFamily="2" charset="-122"/>
              </a:rPr>
              <a:t>对</a:t>
            </a:r>
            <a:r>
              <a:rPr lang="en-US" altLang="zh-CN" sz="2400" dirty="0">
                <a:ea typeface="宋体" panose="02010600030101010101" pitchFamily="2" charset="-122"/>
              </a:rPr>
              <a:t>wi</a:t>
            </a:r>
            <a:r>
              <a:rPr lang="zh-CN" altLang="en-US" sz="2400" dirty="0">
                <a:ea typeface="宋体" panose="02010600030101010101" pitchFamily="2" charset="-122"/>
              </a:rPr>
              <a:t>类的平均可分信息</a:t>
            </a:r>
            <a:endParaRPr lang="zh-CN" altLang="en-US" sz="2400" dirty="0">
              <a:ea typeface="宋体" panose="02010600030101010101" pitchFamily="2" charset="-122"/>
            </a:endParaRPr>
          </a:p>
        </p:txBody>
      </p:sp>
      <p:sp>
        <p:nvSpPr>
          <p:cNvPr id="43016" name="AutoShape 16"/>
          <p:cNvSpPr/>
          <p:nvPr/>
        </p:nvSpPr>
        <p:spPr>
          <a:xfrm>
            <a:off x="6172200" y="3886200"/>
            <a:ext cx="2743200" cy="762000"/>
          </a:xfrm>
          <a:prstGeom prst="wedgeRoundRectCallout">
            <a:avLst>
              <a:gd name="adj1" fmla="val -82120"/>
              <a:gd name="adj2" fmla="val 5417"/>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400" dirty="0">
                <a:ea typeface="宋体" panose="02010600030101010101" pitchFamily="2" charset="-122"/>
              </a:rPr>
              <a:t>对</a:t>
            </a:r>
            <a:r>
              <a:rPr lang="en-US" altLang="zh-CN" sz="2400" dirty="0">
                <a:ea typeface="宋体" panose="02010600030101010101" pitchFamily="2" charset="-122"/>
              </a:rPr>
              <a:t>wj</a:t>
            </a:r>
            <a:r>
              <a:rPr lang="zh-CN" altLang="en-US" sz="2400" dirty="0">
                <a:ea typeface="宋体" panose="02010600030101010101" pitchFamily="2" charset="-122"/>
              </a:rPr>
              <a:t>类的平均可分信息</a:t>
            </a:r>
            <a:endParaRPr lang="zh-CN" altLang="en-US" sz="2400" dirty="0">
              <a:ea typeface="宋体" panose="02010600030101010101" pitchFamily="2" charset="-122"/>
            </a:endParaRPr>
          </a:p>
        </p:txBody>
      </p:sp>
      <p:sp>
        <p:nvSpPr>
          <p:cNvPr id="43017" name="AutoShape 17"/>
          <p:cNvSpPr/>
          <p:nvPr/>
        </p:nvSpPr>
        <p:spPr>
          <a:xfrm>
            <a:off x="2286000" y="5638800"/>
            <a:ext cx="5562600" cy="457200"/>
          </a:xfrm>
          <a:prstGeom prst="wedgeRoundRectCallout">
            <a:avLst>
              <a:gd name="adj1" fmla="val -61815"/>
              <a:gd name="adj2" fmla="val -19833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2400" dirty="0">
                <a:ea typeface="宋体" panose="02010600030101010101" pitchFamily="2" charset="-122"/>
              </a:rPr>
              <a:t>散度</a:t>
            </a:r>
            <a:r>
              <a:rPr lang="en-US" altLang="zh-CN" sz="2400" i="1" dirty="0">
                <a:ea typeface="宋体" panose="02010600030101010101" pitchFamily="2" charset="-122"/>
              </a:rPr>
              <a:t>J</a:t>
            </a:r>
            <a:r>
              <a:rPr lang="en-US" altLang="zh-CN" sz="2400" i="1" baseline="-25000" dirty="0">
                <a:ea typeface="宋体" panose="02010600030101010101" pitchFamily="2" charset="-122"/>
              </a:rPr>
              <a:t>D</a:t>
            </a:r>
            <a:r>
              <a:rPr lang="zh-CN" altLang="en-US" sz="2400" dirty="0">
                <a:ea typeface="宋体" panose="02010600030101010101" pitchFamily="2" charset="-122"/>
              </a:rPr>
              <a:t>为两类平均可分信息之和</a:t>
            </a:r>
            <a:endParaRPr lang="zh-CN" altLang="en-US" sz="2400" dirty="0">
              <a:ea typeface="宋体" panose="02010600030101010101" pitchFamily="2" charset="-122"/>
            </a:endParaRPr>
          </a:p>
        </p:txBody>
      </p:sp>
      <p:sp>
        <p:nvSpPr>
          <p:cNvPr id="43018" name="AutoShape 18"/>
          <p:cNvSpPr/>
          <p:nvPr/>
        </p:nvSpPr>
        <p:spPr>
          <a:xfrm>
            <a:off x="3581400" y="2286000"/>
            <a:ext cx="3048000" cy="609600"/>
          </a:xfrm>
          <a:prstGeom prst="wedgeRoundRectCallout">
            <a:avLst>
              <a:gd name="adj1" fmla="val -68491"/>
              <a:gd name="adj2" fmla="val 15366"/>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2400" dirty="0">
                <a:ea typeface="宋体" panose="02010600030101010101" pitchFamily="2" charset="-122"/>
              </a:rPr>
              <a:t>wi</a:t>
            </a:r>
            <a:r>
              <a:rPr lang="zh-CN" altLang="en-US" sz="2400" dirty="0">
                <a:ea typeface="宋体" panose="02010600030101010101" pitchFamily="2" charset="-122"/>
              </a:rPr>
              <a:t>，</a:t>
            </a:r>
            <a:r>
              <a:rPr lang="en-US" altLang="zh-CN" sz="2400" dirty="0">
                <a:ea typeface="宋体" panose="02010600030101010101" pitchFamily="2" charset="-122"/>
              </a:rPr>
              <a:t>wj</a:t>
            </a:r>
            <a:r>
              <a:rPr lang="zh-CN" altLang="en-US" sz="2400" dirty="0">
                <a:ea typeface="宋体" panose="02010600030101010101" pitchFamily="2" charset="-122"/>
              </a:rPr>
              <a:t>对数似然比</a:t>
            </a:r>
            <a:endParaRPr lang="zh-CN" altLang="en-US" sz="2400" dirty="0">
              <a:ea typeface="宋体" panose="02010600030101010101" pitchFamily="2" charset="-122"/>
            </a:endParaRPr>
          </a:p>
        </p:txBody>
      </p:sp>
      <p:sp>
        <p:nvSpPr>
          <p:cNvPr id="43019"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3020" name="Rectangle 2"/>
          <p:cNvSpPr txBox="1"/>
          <p:nvPr/>
        </p:nvSpPr>
        <p:spPr>
          <a:xfrm>
            <a:off x="1979613" y="1079500"/>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2.</a:t>
            </a:r>
            <a:r>
              <a:rPr lang="zh-CN" altLang="en-US" sz="2800" b="1" dirty="0">
                <a:solidFill>
                  <a:srgbClr val="0033CC"/>
                </a:solidFill>
                <a:latin typeface="宋体" panose="02010600030101010101" pitchFamily="2" charset="-122"/>
                <a:ea typeface="宋体" panose="02010600030101010101" pitchFamily="2" charset="-122"/>
              </a:rPr>
              <a:t>基于概率分布的可分性判据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4035" name="内容占位符 17"/>
          <p:cNvSpPr>
            <a:spLocks noGrp="1"/>
          </p:cNvSpPr>
          <p:nvPr>
            <p:ph idx="1"/>
          </p:nvPr>
        </p:nvSpPr>
        <p:spPr>
          <a:xfrm>
            <a:off x="395288" y="1628775"/>
            <a:ext cx="8429625" cy="1000125"/>
          </a:xfrm>
        </p:spPr>
        <p:txBody>
          <a:bodyPr vert="horz" wrap="square" lIns="91440" tIns="45720" rIns="91440" bIns="45720" anchor="t" anchorCtr="0"/>
          <a:p>
            <a:endParaRPr lang="zh-CN" altLang="en-US"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当两类样本都服从正态分布，且协方差矩阵相等的情况下</a:t>
            </a:r>
            <a:endParaRPr lang="zh-CN" altLang="en-US" sz="2400" b="1" dirty="0">
              <a:latin typeface="宋体" panose="02010600030101010101" pitchFamily="2" charset="-122"/>
              <a:ea typeface="宋体" panose="02010600030101010101" pitchFamily="2" charset="-122"/>
            </a:endParaRPr>
          </a:p>
        </p:txBody>
      </p:sp>
      <p:graphicFrame>
        <p:nvGraphicFramePr>
          <p:cNvPr id="44036" name="Object 6"/>
          <p:cNvGraphicFramePr>
            <a:graphicFrameLocks noChangeAspect="1"/>
          </p:cNvGraphicFramePr>
          <p:nvPr/>
        </p:nvGraphicFramePr>
        <p:xfrm>
          <a:off x="827088" y="2781300"/>
          <a:ext cx="7292975" cy="642938"/>
        </p:xfrm>
        <a:graphic>
          <a:graphicData uri="http://schemas.openxmlformats.org/presentationml/2006/ole">
            <mc:AlternateContent xmlns:mc="http://schemas.openxmlformats.org/markup-compatibility/2006">
              <mc:Choice xmlns:v="urn:schemas-microsoft-com:vml" Requires="v">
                <p:oleObj spid="_x0000_s3111" name="" r:id="rId1" imgW="2743200" imgH="241300" progId="Equation.DSMT4">
                  <p:embed/>
                </p:oleObj>
              </mc:Choice>
              <mc:Fallback>
                <p:oleObj name="" r:id="rId1" imgW="2743200" imgH="241300" progId="Equation.DSMT4">
                  <p:embed/>
                  <p:pic>
                    <p:nvPicPr>
                      <p:cNvPr id="0" name="图片 3110"/>
                      <p:cNvPicPr/>
                      <p:nvPr/>
                    </p:nvPicPr>
                    <p:blipFill>
                      <a:blip r:embed="rId2"/>
                      <a:stretch>
                        <a:fillRect/>
                      </a:stretch>
                    </p:blipFill>
                    <p:spPr>
                      <a:xfrm>
                        <a:off x="827088" y="2781300"/>
                        <a:ext cx="7292975" cy="642938"/>
                      </a:xfrm>
                      <a:prstGeom prst="rect">
                        <a:avLst/>
                      </a:prstGeom>
                      <a:noFill/>
                      <a:ln w="38100">
                        <a:noFill/>
                        <a:miter/>
                      </a:ln>
                    </p:spPr>
                  </p:pic>
                </p:oleObj>
              </mc:Fallback>
            </mc:AlternateContent>
          </a:graphicData>
        </a:graphic>
      </p:graphicFrame>
      <p:graphicFrame>
        <p:nvGraphicFramePr>
          <p:cNvPr id="44037" name="Object 7"/>
          <p:cNvGraphicFramePr>
            <a:graphicFrameLocks noChangeAspect="1"/>
          </p:cNvGraphicFramePr>
          <p:nvPr/>
        </p:nvGraphicFramePr>
        <p:xfrm>
          <a:off x="1476375" y="4365625"/>
          <a:ext cx="4929188" cy="669925"/>
        </p:xfrm>
        <a:graphic>
          <a:graphicData uri="http://schemas.openxmlformats.org/presentationml/2006/ole">
            <mc:AlternateContent xmlns:mc="http://schemas.openxmlformats.org/markup-compatibility/2006">
              <mc:Choice xmlns:v="urn:schemas-microsoft-com:vml" Requires="v">
                <p:oleObj spid="_x0000_s3114" name="" r:id="rId3" imgW="1879600" imgH="254000" progId="Equation.DSMT4">
                  <p:embed/>
                </p:oleObj>
              </mc:Choice>
              <mc:Fallback>
                <p:oleObj name="" r:id="rId3" imgW="1879600" imgH="254000" progId="Equation.DSMT4">
                  <p:embed/>
                  <p:pic>
                    <p:nvPicPr>
                      <p:cNvPr id="0" name="图片 3113"/>
                      <p:cNvPicPr/>
                      <p:nvPr/>
                    </p:nvPicPr>
                    <p:blipFill>
                      <a:blip r:embed="rId4"/>
                      <a:stretch>
                        <a:fillRect/>
                      </a:stretch>
                    </p:blipFill>
                    <p:spPr>
                      <a:xfrm>
                        <a:off x="1476375" y="4365625"/>
                        <a:ext cx="4929188" cy="669925"/>
                      </a:xfrm>
                      <a:prstGeom prst="rect">
                        <a:avLst/>
                      </a:prstGeom>
                      <a:noFill/>
                      <a:ln w="38100">
                        <a:noFill/>
                        <a:miter/>
                      </a:ln>
                    </p:spPr>
                  </p:pic>
                </p:oleObj>
              </mc:Fallback>
            </mc:AlternateContent>
          </a:graphicData>
        </a:graphic>
      </p:graphicFrame>
      <p:sp>
        <p:nvSpPr>
          <p:cNvPr id="44038" name="AutoShape 13"/>
          <p:cNvSpPr/>
          <p:nvPr/>
        </p:nvSpPr>
        <p:spPr>
          <a:xfrm>
            <a:off x="6516688" y="4941888"/>
            <a:ext cx="2057400" cy="762000"/>
          </a:xfrm>
          <a:prstGeom prst="borderCallout2">
            <a:avLst>
              <a:gd name="adj1" fmla="val 15000"/>
              <a:gd name="adj2" fmla="val -3704"/>
              <a:gd name="adj3" fmla="val 15000"/>
              <a:gd name="adj4" fmla="val -18366"/>
              <a:gd name="adj5" fmla="val 6458"/>
              <a:gd name="adj6" fmla="val -36190"/>
            </a:avLst>
          </a:prstGeom>
          <a:noFill/>
          <a:ln w="9525" cap="flat" cmpd="sng">
            <a:solidFill>
              <a:srgbClr val="4BACC6"/>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2400" b="1" dirty="0">
                <a:latin typeface="宋体" panose="02010600030101010101" pitchFamily="2" charset="-122"/>
                <a:ea typeface="宋体" panose="02010600030101010101" pitchFamily="2" charset="-122"/>
              </a:rPr>
              <a:t>Mahalanobis</a:t>
            </a:r>
            <a:r>
              <a:rPr lang="zh-CN" altLang="en-US" sz="2400" b="1" dirty="0">
                <a:latin typeface="宋体" panose="02010600030101010101" pitchFamily="2" charset="-122"/>
                <a:ea typeface="宋体" panose="02010600030101010101" pitchFamily="2" charset="-122"/>
              </a:rPr>
              <a:t>距离</a:t>
            </a:r>
            <a:endParaRPr lang="zh-CN" altLang="en-US" sz="2400" b="1" dirty="0">
              <a:latin typeface="宋体" panose="02010600030101010101" pitchFamily="2" charset="-122"/>
              <a:ea typeface="宋体" panose="02010600030101010101" pitchFamily="2" charset="-122"/>
            </a:endParaRPr>
          </a:p>
        </p:txBody>
      </p:sp>
      <p:sp>
        <p:nvSpPr>
          <p:cNvPr id="44039"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66FF"/>
                </a:solidFill>
                <a:ea typeface="宋体" panose="02010600030101010101" pitchFamily="2" charset="-122"/>
              </a:rPr>
              <a:t>5.2   </a:t>
            </a:r>
            <a:r>
              <a:rPr lang="zh-CN" altLang="en-US" sz="3600" b="1" dirty="0">
                <a:solidFill>
                  <a:srgbClr val="0066FF"/>
                </a:solidFill>
                <a:ea typeface="宋体" panose="02010600030101010101" pitchFamily="2" charset="-122"/>
              </a:rPr>
              <a:t>类别可分性判据</a:t>
            </a:r>
            <a:endParaRPr lang="zh-CN" altLang="en-US" sz="3600" b="1" dirty="0">
              <a:solidFill>
                <a:srgbClr val="0066FF"/>
              </a:solidFill>
              <a:ea typeface="宋体" panose="02010600030101010101" pitchFamily="2" charset="-122"/>
            </a:endParaRPr>
          </a:p>
        </p:txBody>
      </p:sp>
      <p:sp>
        <p:nvSpPr>
          <p:cNvPr id="44040" name="矩形 11"/>
          <p:cNvSpPr/>
          <p:nvPr/>
        </p:nvSpPr>
        <p:spPr>
          <a:xfrm>
            <a:off x="755650" y="3213100"/>
            <a:ext cx="4572000"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b="1" dirty="0">
              <a:ea typeface="宋体" panose="02010600030101010101" pitchFamily="2" charset="-122"/>
            </a:endParaRPr>
          </a:p>
          <a:p>
            <a:pPr marL="0" lvl="0" indent="0" eaLnBrk="1" hangingPunct="1">
              <a:spcBef>
                <a:spcPct val="0"/>
              </a:spcBef>
              <a:buClrTx/>
              <a:buSzTx/>
              <a:buFontTx/>
              <a:buNone/>
            </a:pPr>
            <a:r>
              <a:rPr lang="zh-CN" altLang="en-US" sz="2400" b="1" dirty="0">
                <a:ea typeface="宋体" panose="02010600030101010101" pitchFamily="2" charset="-122"/>
              </a:rPr>
              <a:t>散度为：</a:t>
            </a:r>
            <a:endParaRPr lang="zh-CN" altLang="en-US" sz="2400" b="1" dirty="0">
              <a:ea typeface="宋体" panose="02010600030101010101" pitchFamily="2" charset="-122"/>
            </a:endParaRPr>
          </a:p>
        </p:txBody>
      </p:sp>
      <p:sp>
        <p:nvSpPr>
          <p:cNvPr id="44041" name="矩形 12"/>
          <p:cNvSpPr/>
          <p:nvPr/>
        </p:nvSpPr>
        <p:spPr>
          <a:xfrm>
            <a:off x="900113" y="5157788"/>
            <a:ext cx="626427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2400" b="1" dirty="0">
              <a:ea typeface="宋体" panose="02010600030101010101" pitchFamily="2" charset="-122"/>
            </a:endParaRPr>
          </a:p>
          <a:p>
            <a:pPr marL="0" lvl="0" indent="0" eaLnBrk="1" hangingPunct="1">
              <a:spcBef>
                <a:spcPct val="0"/>
              </a:spcBef>
              <a:buClrTx/>
              <a:buSzTx/>
              <a:buFontTx/>
              <a:buNone/>
            </a:pPr>
            <a:r>
              <a:rPr lang="zh-CN" altLang="en-US" sz="2400" b="1" dirty="0">
                <a:ea typeface="宋体" panose="02010600030101010101" pitchFamily="2" charset="-122"/>
              </a:rPr>
              <a:t>这也等于两类均值之间的</a:t>
            </a:r>
            <a:r>
              <a:rPr lang="en-US" altLang="zh-CN" sz="2400" b="1" dirty="0">
                <a:ea typeface="宋体" panose="02010600030101010101" pitchFamily="2" charset="-122"/>
              </a:rPr>
              <a:t>Mahalanobis</a:t>
            </a:r>
            <a:r>
              <a:rPr lang="zh-CN" altLang="en-US" sz="2400" b="1" dirty="0">
                <a:ea typeface="宋体" panose="02010600030101010101" pitchFamily="2" charset="-122"/>
              </a:rPr>
              <a:t>距离（。</a:t>
            </a:r>
            <a:endParaRPr lang="zh-CN" altLang="en-US" sz="2400" b="1" dirty="0">
              <a:ea typeface="宋体" panose="02010600030101010101" pitchFamily="2" charset="-122"/>
            </a:endParaRPr>
          </a:p>
        </p:txBody>
      </p:sp>
      <p:sp>
        <p:nvSpPr>
          <p:cNvPr id="44042" name="Rectangle 2"/>
          <p:cNvSpPr txBox="1"/>
          <p:nvPr/>
        </p:nvSpPr>
        <p:spPr>
          <a:xfrm>
            <a:off x="1979613" y="1079500"/>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2.</a:t>
            </a:r>
            <a:r>
              <a:rPr lang="zh-CN" altLang="en-US" sz="2800" b="1" dirty="0">
                <a:solidFill>
                  <a:srgbClr val="0033CC"/>
                </a:solidFill>
                <a:latin typeface="宋体" panose="02010600030101010101" pitchFamily="2" charset="-122"/>
                <a:ea typeface="宋体" panose="02010600030101010101" pitchFamily="2" charset="-122"/>
              </a:rPr>
              <a:t>基于概率分布的可分性判据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pic>
        <p:nvPicPr>
          <p:cNvPr id="2" name="图片 1"/>
          <p:cNvPicPr>
            <a:picLocks noChangeAspect="1"/>
          </p:cNvPicPr>
          <p:nvPr/>
        </p:nvPicPr>
        <p:blipFill>
          <a:blip r:embed="rId5"/>
          <a:stretch>
            <a:fillRect/>
          </a:stretch>
        </p:blipFill>
        <p:spPr>
          <a:xfrm>
            <a:off x="6012180" y="3424555"/>
            <a:ext cx="2878455" cy="693420"/>
          </a:xfrm>
          <a:prstGeom prst="rect">
            <a:avLst/>
          </a:prstGeom>
          <a:ln w="22225">
            <a:solidFill>
              <a:schemeClr val="accent1"/>
            </a:solidFill>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3" name="矩形 2"/>
          <p:cNvSpPr/>
          <p:nvPr/>
        </p:nvSpPr>
        <p:spPr>
          <a:xfrm>
            <a:off x="971550" y="1401763"/>
            <a:ext cx="7416800" cy="3538220"/>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45720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u"/>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特征对分类的有效性也可以从</a:t>
            </a:r>
            <a:r>
              <a:rPr kumimoji="0" lang="zh-CN" altLang="en-US" sz="28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后验概率角度来考虑</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0" marR="0" lvl="0" indent="45720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Char char="u"/>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已知最佳分类器是由后验概率决定的，如果对某些特征，各类后验概率都相等，即：</a:t>
            </a:r>
            <a:r>
              <a:rPr kumimoji="0" lang="en-US"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P(</a:t>
            </a:r>
            <a:r>
              <a:rPr kumimoji="0" lang="el-GR"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ω</a:t>
            </a:r>
            <a:r>
              <a:rPr kumimoji="0" lang="en-US" altLang="zh-CN" sz="2800" b="1" i="0" u="none" strike="noStrike" kern="1200" cap="none" spc="0" normalizeH="0" baseline="-25000" noProof="0" dirty="0" err="1">
                <a:ln>
                  <a:noFill/>
                </a:ln>
                <a:solidFill>
                  <a:srgbClr val="0033CC"/>
                </a:solidFill>
                <a:effectLst/>
                <a:uLnTx/>
                <a:uFillTx/>
                <a:latin typeface="Times New Roman" panose="02020603050405020304" pitchFamily="18" charset="0"/>
                <a:ea typeface="宋体" panose="02010600030101010101" pitchFamily="2" charset="-122"/>
                <a:cs typeface="+mn-cs"/>
              </a:rPr>
              <a:t>i</a:t>
            </a:r>
            <a:r>
              <a:rPr kumimoji="0" lang="en-US" altLang="zh-CN" sz="2800" b="1" i="0" u="none" strike="noStrike" kern="1200" cap="none" spc="0" normalizeH="0" baseline="0" noProof="0" dirty="0" err="1">
                <a:ln>
                  <a:noFill/>
                </a:ln>
                <a:solidFill>
                  <a:srgbClr val="0033CC"/>
                </a:solidFill>
                <a:effectLst/>
                <a:uLnTx/>
                <a:uFillTx/>
                <a:latin typeface="Times New Roman" panose="02020603050405020304" pitchFamily="18" charset="0"/>
                <a:ea typeface="宋体" panose="02010600030101010101" pitchFamily="2" charset="-122"/>
                <a:cs typeface="+mn-cs"/>
              </a:rPr>
              <a:t>|x</a:t>
            </a:r>
            <a:r>
              <a:rPr kumimoji="0" lang="en-US"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 =1/c</a:t>
            </a:r>
            <a:r>
              <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，其中</a:t>
            </a:r>
            <a:r>
              <a:rPr kumimoji="0" lang="en-US"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c</a:t>
            </a:r>
            <a:r>
              <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为类别数，则样本的类属就无法确定，或者只能任意指定样本所属类别。此时错误率为</a:t>
            </a:r>
            <a:r>
              <a:rPr kumimoji="0" lang="en-US" altLang="zh-CN"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(c-1)/c</a:t>
            </a:r>
            <a:r>
              <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rPr>
              <a:t>。</a:t>
            </a:r>
            <a:endParaRPr kumimoji="0" lang="zh-CN" altLang="en-US" sz="2800" b="1" i="0" u="none" strike="noStrike" kern="1200" cap="none" spc="0" normalizeH="0" baseline="0" noProof="0" dirty="0">
              <a:ln>
                <a:noFill/>
              </a:ln>
              <a:solidFill>
                <a:srgbClr val="0033CC"/>
              </a:solidFill>
              <a:effectLst/>
              <a:uLnTx/>
              <a:uFillTx/>
              <a:latin typeface="Times New Roman" panose="02020603050405020304" pitchFamily="18" charset="0"/>
              <a:ea typeface="宋体" panose="02010600030101010101" pitchFamily="2" charset="-122"/>
              <a:cs typeface="+mn-cs"/>
            </a:endParaRPr>
          </a:p>
        </p:txBody>
      </p:sp>
      <p:sp>
        <p:nvSpPr>
          <p:cNvPr id="45060"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5061" name="Rectangle 2"/>
          <p:cNvSpPr txBox="1"/>
          <p:nvPr/>
        </p:nvSpPr>
        <p:spPr>
          <a:xfrm>
            <a:off x="2687638" y="1033463"/>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3.</a:t>
            </a:r>
            <a:r>
              <a:rPr lang="zh-CN" altLang="en-US" sz="2800" b="1" dirty="0">
                <a:solidFill>
                  <a:srgbClr val="0033CC"/>
                </a:solidFill>
                <a:latin typeface="宋体" panose="02010600030101010101" pitchFamily="2" charset="-122"/>
                <a:ea typeface="宋体" panose="02010600030101010101" pitchFamily="2" charset="-122"/>
              </a:rPr>
              <a:t>基于熵的可分性判据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6083" name="矩形 2"/>
          <p:cNvSpPr/>
          <p:nvPr/>
        </p:nvSpPr>
        <p:spPr>
          <a:xfrm>
            <a:off x="1042988" y="1989138"/>
            <a:ext cx="7129462" cy="35382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457200" algn="just" eaLnBrk="1" hangingPunct="1">
              <a:spcBef>
                <a:spcPct val="0"/>
              </a:spcBef>
              <a:buClr>
                <a:srgbClr val="FF3300"/>
              </a:buClr>
              <a:buSzTx/>
              <a:buFont typeface="Wingdings" panose="05000000000000000000" pitchFamily="2" charset="2"/>
              <a:buChar char="u"/>
            </a:pPr>
            <a:r>
              <a:rPr lang="zh-CN" altLang="en-US" sz="2800" b="1" dirty="0">
                <a:ea typeface="宋体" panose="02010600030101010101" pitchFamily="2" charset="-122"/>
              </a:rPr>
              <a:t>如果考虑另一极端，假设能有一组特征使得：</a:t>
            </a:r>
            <a:r>
              <a:rPr lang="en-US" altLang="zh-CN" sz="2800" b="1" dirty="0">
                <a:solidFill>
                  <a:srgbClr val="0033CC"/>
                </a:solidFill>
                <a:ea typeface="宋体" panose="02010600030101010101" pitchFamily="2" charset="-122"/>
              </a:rPr>
              <a:t>P(</a:t>
            </a:r>
            <a:r>
              <a:rPr lang="el-GR" altLang="zh-CN" sz="2800" b="1" dirty="0">
                <a:solidFill>
                  <a:srgbClr val="0033CC"/>
                </a:solidFill>
                <a:ea typeface="宋体" panose="02010600030101010101" pitchFamily="2" charset="-122"/>
              </a:rPr>
              <a:t>ω</a:t>
            </a:r>
            <a:r>
              <a:rPr lang="en-US" altLang="zh-CN" sz="2800" b="1" baseline="-25000" dirty="0">
                <a:solidFill>
                  <a:srgbClr val="0033CC"/>
                </a:solidFill>
                <a:ea typeface="宋体" panose="02010600030101010101" pitchFamily="2" charset="-122"/>
              </a:rPr>
              <a:t>i</a:t>
            </a:r>
            <a:r>
              <a:rPr lang="en-US" altLang="zh-CN" sz="2800" b="1" dirty="0">
                <a:solidFill>
                  <a:srgbClr val="0033CC"/>
                </a:solidFill>
                <a:ea typeface="宋体" panose="02010600030101010101" pitchFamily="2" charset="-122"/>
              </a:rPr>
              <a:t>|x) = 1,</a:t>
            </a:r>
            <a:r>
              <a:rPr lang="zh-CN" altLang="en-US" sz="2800" b="1" dirty="0">
                <a:solidFill>
                  <a:srgbClr val="0033CC"/>
                </a:solidFill>
                <a:ea typeface="宋体" panose="02010600030101010101" pitchFamily="2" charset="-122"/>
              </a:rPr>
              <a:t>且</a:t>
            </a:r>
            <a:r>
              <a:rPr lang="en-US" altLang="zh-CN" sz="2800" b="1" dirty="0">
                <a:solidFill>
                  <a:srgbClr val="0033CC"/>
                </a:solidFill>
                <a:ea typeface="宋体" panose="02010600030101010101" pitchFamily="2" charset="-122"/>
              </a:rPr>
              <a:t>P(</a:t>
            </a:r>
            <a:r>
              <a:rPr lang="el-GR" altLang="zh-CN" sz="2800" b="1" dirty="0">
                <a:solidFill>
                  <a:srgbClr val="0033CC"/>
                </a:solidFill>
                <a:ea typeface="宋体" panose="02010600030101010101" pitchFamily="2" charset="-122"/>
              </a:rPr>
              <a:t>ω</a:t>
            </a:r>
            <a:r>
              <a:rPr lang="en-US" altLang="zh-CN" sz="2800" b="1" baseline="-25000" dirty="0">
                <a:solidFill>
                  <a:srgbClr val="0033CC"/>
                </a:solidFill>
                <a:ea typeface="宋体" panose="02010600030101010101" pitchFamily="2" charset="-122"/>
              </a:rPr>
              <a:t>j</a:t>
            </a:r>
            <a:r>
              <a:rPr lang="en-US" altLang="zh-CN" sz="2800" b="1" dirty="0">
                <a:solidFill>
                  <a:srgbClr val="0033CC"/>
                </a:solidFill>
                <a:ea typeface="宋体" panose="02010600030101010101" pitchFamily="2" charset="-122"/>
              </a:rPr>
              <a:t>|x) = 0,</a:t>
            </a:r>
            <a:r>
              <a:rPr lang="zh-CN" altLang="en-US" sz="2800" b="1" dirty="0">
                <a:solidFill>
                  <a:srgbClr val="0033CC"/>
                </a:solidFill>
                <a:ea typeface="宋体" panose="02010600030101010101" pitchFamily="2" charset="-122"/>
              </a:rPr>
              <a:t>对任意</a:t>
            </a:r>
            <a:r>
              <a:rPr lang="en-US" altLang="zh-CN" sz="2800" b="1" dirty="0">
                <a:solidFill>
                  <a:srgbClr val="0033CC"/>
                </a:solidFill>
                <a:ea typeface="宋体" panose="02010600030101010101" pitchFamily="2" charset="-122"/>
              </a:rPr>
              <a:t>j≠i</a:t>
            </a:r>
            <a:r>
              <a:rPr lang="zh-CN" altLang="en-US" sz="2800" b="1" dirty="0">
                <a:solidFill>
                  <a:srgbClr val="0033CC"/>
                </a:solidFill>
                <a:ea typeface="宋体" panose="02010600030101010101" pitchFamily="2" charset="-122"/>
              </a:rPr>
              <a:t>。则此时样本</a:t>
            </a:r>
            <a:r>
              <a:rPr lang="en-US" altLang="zh-CN" sz="2800" b="1" dirty="0">
                <a:solidFill>
                  <a:srgbClr val="0033CC"/>
                </a:solidFill>
                <a:ea typeface="宋体" panose="02010600030101010101" pitchFamily="2" charset="-122"/>
              </a:rPr>
              <a:t>x</a:t>
            </a:r>
            <a:r>
              <a:rPr lang="zh-CN" altLang="en-US" sz="2800" b="1" dirty="0">
                <a:solidFill>
                  <a:srgbClr val="0033CC"/>
                </a:solidFill>
                <a:ea typeface="宋体" panose="02010600030101010101" pitchFamily="2" charset="-122"/>
              </a:rPr>
              <a:t>肯定属于</a:t>
            </a:r>
            <a:r>
              <a:rPr lang="el-GR" altLang="zh-CN" sz="2800" b="1" dirty="0">
                <a:solidFill>
                  <a:srgbClr val="0033CC"/>
                </a:solidFill>
                <a:ea typeface="宋体" panose="02010600030101010101" pitchFamily="2" charset="-122"/>
              </a:rPr>
              <a:t>ω</a:t>
            </a:r>
            <a:r>
              <a:rPr lang="en-US" altLang="zh-CN" sz="2800" b="1" baseline="-25000" dirty="0">
                <a:solidFill>
                  <a:srgbClr val="0033CC"/>
                </a:solidFill>
                <a:ea typeface="宋体" panose="02010600030101010101" pitchFamily="2" charset="-122"/>
              </a:rPr>
              <a:t>i</a:t>
            </a:r>
            <a:r>
              <a:rPr lang="zh-CN" altLang="en-US" sz="2800" b="1" dirty="0">
                <a:solidFill>
                  <a:srgbClr val="0033CC"/>
                </a:solidFill>
                <a:ea typeface="宋体" panose="02010600030101010101" pitchFamily="2" charset="-122"/>
              </a:rPr>
              <a:t>类，错误率为</a:t>
            </a:r>
            <a:r>
              <a:rPr lang="en-US" altLang="zh-CN" sz="2800" b="1" dirty="0">
                <a:solidFill>
                  <a:srgbClr val="0033CC"/>
                </a:solidFill>
                <a:ea typeface="宋体" panose="02010600030101010101" pitchFamily="2" charset="-122"/>
              </a:rPr>
              <a:t>0</a:t>
            </a:r>
            <a:r>
              <a:rPr lang="zh-CN" altLang="en-US" sz="2800" b="1" dirty="0">
                <a:solidFill>
                  <a:srgbClr val="0033CC"/>
                </a:solidFill>
                <a:ea typeface="宋体" panose="02010600030101010101" pitchFamily="2" charset="-122"/>
              </a:rPr>
              <a:t>。</a:t>
            </a:r>
            <a:endParaRPr lang="zh-CN" altLang="en-US" sz="2800" b="1" dirty="0">
              <a:solidFill>
                <a:srgbClr val="0033CC"/>
              </a:solidFill>
              <a:ea typeface="宋体" panose="02010600030101010101" pitchFamily="2" charset="-122"/>
            </a:endParaRPr>
          </a:p>
          <a:p>
            <a:pPr marL="0" lvl="0" indent="457200" algn="just" eaLnBrk="1" hangingPunct="1">
              <a:spcBef>
                <a:spcPct val="0"/>
              </a:spcBef>
              <a:buClr>
                <a:srgbClr val="FF3300"/>
              </a:buClr>
              <a:buSzTx/>
              <a:buFont typeface="Wingdings" panose="05000000000000000000" pitchFamily="2" charset="2"/>
              <a:buChar char="u"/>
            </a:pPr>
            <a:r>
              <a:rPr lang="zh-CN" altLang="en-US" sz="2800" b="1" dirty="0">
                <a:ea typeface="宋体" panose="02010600030101010101" pitchFamily="2" charset="-122"/>
              </a:rPr>
              <a:t>由此可看出，</a:t>
            </a:r>
            <a:r>
              <a:rPr lang="zh-CN" altLang="en-US" sz="2800" b="1" dirty="0">
                <a:solidFill>
                  <a:srgbClr val="0033CC"/>
                </a:solidFill>
                <a:latin typeface="微软雅黑" panose="020B0503020204020204" pitchFamily="34" charset="-122"/>
                <a:ea typeface="微软雅黑" panose="020B0503020204020204" pitchFamily="34" charset="-122"/>
              </a:rPr>
              <a:t>后验概率越集中，错误概率就越小，</a:t>
            </a:r>
            <a:r>
              <a:rPr lang="zh-CN" altLang="en-US" sz="2800" b="1" dirty="0">
                <a:solidFill>
                  <a:srgbClr val="0033CC"/>
                </a:solidFill>
                <a:ea typeface="宋体" panose="02010600030101010101" pitchFamily="2" charset="-122"/>
              </a:rPr>
              <a:t>反之后验概率分布越平缓，即接近均匀分布，则分类错误概率就越大。</a:t>
            </a:r>
            <a:r>
              <a:rPr lang="zh-CN" altLang="en-US" sz="2800" b="1" dirty="0">
                <a:ea typeface="宋体" panose="02010600030101010101" pitchFamily="2" charset="-122"/>
              </a:rPr>
              <a:t>为了</a:t>
            </a:r>
            <a:r>
              <a:rPr lang="zh-CN" altLang="en-US" sz="2800" b="1" dirty="0">
                <a:latin typeface="微软雅黑" panose="020B0503020204020204" pitchFamily="34" charset="-122"/>
                <a:ea typeface="微软雅黑" panose="020B0503020204020204" pitchFamily="34" charset="-122"/>
              </a:rPr>
              <a:t>衡量后验概率分布的集中程度</a:t>
            </a:r>
            <a:r>
              <a:rPr lang="zh-CN" altLang="en-US" sz="2800" b="1" dirty="0">
                <a:ea typeface="宋体" panose="02010600030101010101" pitchFamily="2" charset="-122"/>
              </a:rPr>
              <a:t>，借用信息论中熵的概念，定义了基于熵的类别可分性判据。</a:t>
            </a:r>
            <a:endParaRPr lang="zh-CN" altLang="en-US" sz="2800" b="1" dirty="0">
              <a:ea typeface="宋体" panose="02010600030101010101" pitchFamily="2" charset="-122"/>
            </a:endParaRPr>
          </a:p>
        </p:txBody>
      </p:sp>
      <p:sp>
        <p:nvSpPr>
          <p:cNvPr id="46084"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6085" name="Rectangle 2"/>
          <p:cNvSpPr txBox="1"/>
          <p:nvPr/>
        </p:nvSpPr>
        <p:spPr>
          <a:xfrm>
            <a:off x="2687638" y="1033463"/>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3.</a:t>
            </a:r>
            <a:r>
              <a:rPr lang="zh-CN" altLang="en-US" sz="2800" b="1" dirty="0">
                <a:solidFill>
                  <a:srgbClr val="0033CC"/>
                </a:solidFill>
                <a:latin typeface="宋体" panose="02010600030101010101" pitchFamily="2" charset="-122"/>
                <a:ea typeface="宋体" panose="02010600030101010101" pitchFamily="2" charset="-122"/>
              </a:rPr>
              <a:t>基于熵的可分性判据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7107" name="Rectangle 2"/>
          <p:cNvSpPr txBox="1"/>
          <p:nvPr/>
        </p:nvSpPr>
        <p:spPr>
          <a:xfrm>
            <a:off x="684213" y="1333342"/>
            <a:ext cx="7704137" cy="415163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spcBef>
                <a:spcPct val="0"/>
              </a:spcBef>
              <a:buClrTx/>
              <a:buSzTx/>
              <a:buFontTx/>
              <a:buNone/>
            </a:pPr>
            <a:r>
              <a:rPr lang="zh-CN" altLang="en-US" sz="2400" b="1" dirty="0">
                <a:ea typeface="宋体" panose="02010600030101010101" pitchFamily="2" charset="-122"/>
              </a:rPr>
              <a:t></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把类别</a:t>
            </a:r>
            <a:r>
              <a:rPr lang="el-GR" altLang="zh-CN" sz="2400" dirty="0">
                <a:ea typeface="宋体" panose="02010600030101010101" pitchFamily="2" charset="-122"/>
              </a:rPr>
              <a:t>ω</a:t>
            </a:r>
            <a:r>
              <a:rPr lang="en-US" altLang="zh-CN" sz="2400" baseline="-25000" dirty="0">
                <a:ea typeface="宋体" panose="02010600030101010101" pitchFamily="2" charset="-122"/>
              </a:rPr>
              <a:t>i</a:t>
            </a:r>
            <a:r>
              <a:rPr lang="en-US" altLang="zh-CN" sz="2400" b="1" dirty="0">
                <a:ea typeface="宋体" panose="02010600030101010101" pitchFamily="2" charset="-122"/>
              </a:rPr>
              <a:t>, i=1,2,…,c</a:t>
            </a:r>
            <a:r>
              <a:rPr lang="zh-CN" altLang="en-US" sz="2400" b="1" dirty="0">
                <a:ea typeface="宋体" panose="02010600030101010101" pitchFamily="2" charset="-122"/>
              </a:rPr>
              <a:t>看作一系列随机事件，它的发生依赖于随机向量</a:t>
            </a:r>
            <a:r>
              <a:rPr lang="en-US" altLang="zh-CN" sz="2400" b="1" dirty="0">
                <a:ea typeface="宋体" panose="02010600030101010101" pitchFamily="2" charset="-122"/>
              </a:rPr>
              <a:t>x</a:t>
            </a:r>
            <a:r>
              <a:rPr lang="zh-CN" altLang="en-US" sz="2400" b="1" dirty="0">
                <a:ea typeface="宋体" panose="02010600030101010101" pitchFamily="2" charset="-122"/>
              </a:rPr>
              <a:t>，给定</a:t>
            </a:r>
            <a:r>
              <a:rPr lang="en-US" altLang="zh-CN" sz="2400" b="1" dirty="0">
                <a:ea typeface="宋体" panose="02010600030101010101" pitchFamily="2" charset="-122"/>
              </a:rPr>
              <a:t>x</a:t>
            </a:r>
            <a:r>
              <a:rPr lang="zh-CN" altLang="en-US" sz="2400" b="1" dirty="0">
                <a:ea typeface="宋体" panose="02010600030101010101" pitchFamily="2" charset="-122"/>
              </a:rPr>
              <a:t>后</a:t>
            </a:r>
            <a:r>
              <a:rPr lang="el-GR" altLang="zh-CN" sz="2400" dirty="0">
                <a:ea typeface="宋体" panose="02010600030101010101" pitchFamily="2" charset="-122"/>
              </a:rPr>
              <a:t>ω</a:t>
            </a:r>
            <a:r>
              <a:rPr lang="en-US" altLang="zh-CN" sz="2400" baseline="-25000" dirty="0">
                <a:ea typeface="宋体" panose="02010600030101010101" pitchFamily="2" charset="-122"/>
              </a:rPr>
              <a:t>i</a:t>
            </a:r>
            <a:r>
              <a:rPr lang="zh-CN" altLang="en-US" sz="2400" b="1" dirty="0">
                <a:ea typeface="宋体" panose="02010600030101010101" pitchFamily="2" charset="-122"/>
              </a:rPr>
              <a:t>的后验概率是</a:t>
            </a:r>
            <a:r>
              <a:rPr lang="en-US" altLang="zh-CN" sz="2400" b="1" dirty="0">
                <a:ea typeface="宋体" panose="02010600030101010101" pitchFamily="2" charset="-122"/>
              </a:rPr>
              <a:t>P(</a:t>
            </a:r>
            <a:r>
              <a:rPr lang="el-GR" altLang="zh-CN" sz="2400" dirty="0">
                <a:ea typeface="宋体" panose="02010600030101010101" pitchFamily="2" charset="-122"/>
              </a:rPr>
              <a:t>ω</a:t>
            </a:r>
            <a:r>
              <a:rPr lang="en-US" altLang="zh-CN" sz="2400" baseline="-25000" dirty="0">
                <a:ea typeface="宋体" panose="02010600030101010101" pitchFamily="2" charset="-122"/>
              </a:rPr>
              <a:t>i</a:t>
            </a:r>
            <a:r>
              <a:rPr lang="en-US" altLang="zh-CN" sz="2400" b="1" dirty="0">
                <a:ea typeface="宋体" panose="02010600030101010101" pitchFamily="2" charset="-122"/>
              </a:rPr>
              <a:t>|x) </a:t>
            </a:r>
            <a:r>
              <a:rPr lang="zh-CN" altLang="en-US" sz="2400" b="1" dirty="0">
                <a:ea typeface="宋体" panose="02010600030101010101" pitchFamily="2" charset="-122"/>
              </a:rPr>
              <a:t>。</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如果根据</a:t>
            </a:r>
            <a:r>
              <a:rPr lang="en-US" altLang="zh-CN" sz="2400" b="1" dirty="0">
                <a:ea typeface="宋体" panose="02010600030101010101" pitchFamily="2" charset="-122"/>
              </a:rPr>
              <a:t>x</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能完全确定</a:t>
            </a:r>
            <a:r>
              <a:rPr lang="el-GR" altLang="zh-CN" sz="2400" b="1" dirty="0">
                <a:latin typeface="微软雅黑" panose="020B0503020204020204" pitchFamily="34" charset="-122"/>
                <a:ea typeface="微软雅黑" panose="020B0503020204020204" pitchFamily="34" charset="-122"/>
                <a:cs typeface="微软雅黑" panose="020B0503020204020204" pitchFamily="34" charset="-122"/>
              </a:rPr>
              <a:t>ω</a:t>
            </a:r>
            <a:r>
              <a:rPr lang="zh-CN" altLang="el-GR" sz="2400" b="1" dirty="0">
                <a:ea typeface="宋体" panose="02010600030101010101" pitchFamily="2" charset="-122"/>
              </a:rPr>
              <a:t>，</a:t>
            </a:r>
            <a:r>
              <a:rPr lang="zh-CN" altLang="en-US" sz="2400" b="1" dirty="0">
                <a:ea typeface="宋体" panose="02010600030101010101" pitchFamily="2" charset="-122"/>
              </a:rPr>
              <a:t>则</a:t>
            </a:r>
            <a:r>
              <a:rPr lang="el-GR" altLang="zh-CN" sz="2400" b="1" dirty="0">
                <a:ea typeface="宋体" panose="02010600030101010101" pitchFamily="2" charset="-122"/>
              </a:rPr>
              <a:t>ω</a:t>
            </a:r>
            <a:r>
              <a:rPr lang="zh-CN" altLang="en-US" sz="2400" b="1" dirty="0">
                <a:ea typeface="宋体" panose="02010600030101010101" pitchFamily="2" charset="-122"/>
              </a:rPr>
              <a:t>就没有不确定性，对</a:t>
            </a:r>
            <a:r>
              <a:rPr lang="el-GR" altLang="zh-CN" sz="2400" b="1" dirty="0">
                <a:ea typeface="宋体" panose="02010600030101010101" pitchFamily="2" charset="-122"/>
              </a:rPr>
              <a:t>ω</a:t>
            </a:r>
            <a:r>
              <a:rPr lang="zh-CN" altLang="en-US" sz="2400" b="1" dirty="0">
                <a:ea typeface="宋体" panose="02010600030101010101" pitchFamily="2" charset="-122"/>
              </a:rPr>
              <a:t>本身的观察就不会再提供信息量，</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此时熵为</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1" dirty="0">
                <a:solidFill>
                  <a:srgbClr val="FF0000"/>
                </a:solidFill>
                <a:ea typeface="宋体" panose="02010600030101010101" pitchFamily="2" charset="-122"/>
              </a:rPr>
              <a:t>，特征最有利于分类</a:t>
            </a:r>
            <a:r>
              <a:rPr lang="zh-CN" altLang="en-US" sz="2400" b="1" dirty="0">
                <a:ea typeface="宋体" panose="02010600030101010101" pitchFamily="2" charset="-122"/>
              </a:rPr>
              <a:t>；熵来度量均一性。</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如果</a:t>
            </a:r>
            <a:r>
              <a:rPr lang="en-US" altLang="zh-CN" sz="2400" b="1" dirty="0">
                <a:ea typeface="宋体" panose="02010600030101010101" pitchFamily="2" charset="-122"/>
              </a:rPr>
              <a:t>x</a:t>
            </a:r>
            <a:r>
              <a:rPr lang="zh-CN" altLang="en-US" sz="2400" b="1" dirty="0">
                <a:latin typeface="微软雅黑" panose="020B0503020204020204" pitchFamily="34" charset="-122"/>
                <a:ea typeface="微软雅黑" panose="020B0503020204020204" pitchFamily="34" charset="-122"/>
              </a:rPr>
              <a:t>完全不能确定</a:t>
            </a:r>
            <a:r>
              <a:rPr lang="el-GR" altLang="zh-CN" sz="2400" b="1" dirty="0">
                <a:ea typeface="宋体" panose="02010600030101010101" pitchFamily="2" charset="-122"/>
              </a:rPr>
              <a:t>ω</a:t>
            </a:r>
            <a:r>
              <a:rPr lang="zh-CN" altLang="el-GR" sz="2400" b="1" dirty="0">
                <a:ea typeface="宋体" panose="02010600030101010101" pitchFamily="2" charset="-122"/>
              </a:rPr>
              <a:t>，</a:t>
            </a:r>
            <a:r>
              <a:rPr lang="zh-CN" altLang="en-US" sz="2400" b="1" dirty="0">
                <a:ea typeface="宋体" panose="02010600030101010101" pitchFamily="2" charset="-122"/>
              </a:rPr>
              <a:t>则</a:t>
            </a:r>
            <a:r>
              <a:rPr lang="el-GR" altLang="zh-CN" sz="2400" b="1" dirty="0">
                <a:ea typeface="宋体" panose="02010600030101010101" pitchFamily="2" charset="-122"/>
              </a:rPr>
              <a:t>ω</a:t>
            </a:r>
            <a:r>
              <a:rPr lang="zh-CN" altLang="en-US" sz="2400" b="1" dirty="0">
                <a:ea typeface="宋体" panose="02010600030101010101" pitchFamily="2" charset="-122"/>
              </a:rPr>
              <a:t>不确定性最大，对</a:t>
            </a:r>
            <a:r>
              <a:rPr lang="el-GR" altLang="zh-CN" sz="2400" b="1" dirty="0">
                <a:ea typeface="宋体" panose="02010600030101010101" pitchFamily="2" charset="-122"/>
              </a:rPr>
              <a:t>ω</a:t>
            </a:r>
            <a:r>
              <a:rPr lang="zh-CN" altLang="en-US" sz="2400" b="1" dirty="0">
                <a:ea typeface="宋体" panose="02010600030101010101" pitchFamily="2" charset="-122"/>
              </a:rPr>
              <a:t>本身的观察所提供信息量最大，</a:t>
            </a:r>
            <a:r>
              <a:rPr lang="zh-CN" altLang="en-US" sz="2400" b="1" dirty="0">
                <a:solidFill>
                  <a:srgbClr val="FF0000"/>
                </a:solidFill>
                <a:ea typeface="宋体" panose="02010600030101010101" pitchFamily="2" charset="-122"/>
              </a:rPr>
              <a:t>此时</a:t>
            </a:r>
            <a:r>
              <a:rPr lang="zh-CN" altLang="en-US" sz="2400" b="1" dirty="0">
                <a:solidFill>
                  <a:srgbClr val="FF0000"/>
                </a:solidFill>
                <a:latin typeface="微软雅黑" panose="020B0503020204020204" pitchFamily="34" charset="-122"/>
                <a:ea typeface="微软雅黑" panose="020B0503020204020204" pitchFamily="34" charset="-122"/>
              </a:rPr>
              <a:t>熵为最大</a:t>
            </a:r>
            <a:r>
              <a:rPr lang="zh-CN" altLang="en-US" sz="2400" b="1" dirty="0">
                <a:solidFill>
                  <a:srgbClr val="FF0000"/>
                </a:solidFill>
                <a:ea typeface="宋体" panose="02010600030101010101" pitchFamily="2" charset="-122"/>
              </a:rPr>
              <a:t>，特征最不利于分类</a:t>
            </a:r>
            <a:r>
              <a:rPr lang="zh-CN" altLang="en-US" sz="2400" b="1" dirty="0">
                <a:ea typeface="宋体" panose="02010600030101010101" pitchFamily="2" charset="-122"/>
              </a:rPr>
              <a:t>。</a:t>
            </a:r>
            <a:endParaRPr lang="zh-CN" altLang="en-US" sz="2400" b="1" dirty="0">
              <a:ea typeface="宋体" panose="02010600030101010101" pitchFamily="2" charset="-122"/>
            </a:endParaRPr>
          </a:p>
        </p:txBody>
      </p:sp>
      <p:sp>
        <p:nvSpPr>
          <p:cNvPr id="47108"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7109" name="Rectangle 2"/>
          <p:cNvSpPr txBox="1"/>
          <p:nvPr/>
        </p:nvSpPr>
        <p:spPr>
          <a:xfrm>
            <a:off x="2687638" y="1033463"/>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3.</a:t>
            </a:r>
            <a:r>
              <a:rPr lang="zh-CN" altLang="en-US" sz="2800" b="1" dirty="0">
                <a:solidFill>
                  <a:srgbClr val="0033CC"/>
                </a:solidFill>
                <a:latin typeface="宋体" panose="02010600030101010101" pitchFamily="2" charset="-122"/>
                <a:ea typeface="宋体" panose="02010600030101010101" pitchFamily="2" charset="-122"/>
              </a:rPr>
              <a:t>基于熵的可分性判据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8131" name="Rectangle 3"/>
          <p:cNvSpPr>
            <a:spLocks noGrp="1"/>
          </p:cNvSpPr>
          <p:nvPr>
            <p:ph type="body" idx="4294967295"/>
          </p:nvPr>
        </p:nvSpPr>
        <p:spPr>
          <a:xfrm>
            <a:off x="250825" y="2057400"/>
            <a:ext cx="8462963" cy="647700"/>
          </a:xfrm>
        </p:spPr>
        <p:txBody>
          <a:bodyPr vert="horz" wrap="square" lIns="91440" tIns="45720" rIns="91440" bIns="45720" anchor="t" anchorCtr="0"/>
          <a:p>
            <a:pPr eaLnBrk="1" hangingPunct="1">
              <a:buClr>
                <a:srgbClr val="376092"/>
              </a:buClr>
              <a:buSzPct val="75000"/>
              <a:buNone/>
            </a:pPr>
            <a:r>
              <a:rPr lang="en-US" altLang="zh-CN" b="1" dirty="0">
                <a:solidFill>
                  <a:schemeClr val="accent2"/>
                </a:solidFill>
                <a:latin typeface="宋体" panose="02010600030101010101" pitchFamily="2" charset="-122"/>
                <a:ea typeface="宋体" panose="02010600030101010101" pitchFamily="2" charset="-122"/>
              </a:rPr>
              <a:t> </a:t>
            </a:r>
            <a:r>
              <a:rPr lang="en-US" altLang="zh-CN" sz="2000" b="1" dirty="0">
                <a:solidFill>
                  <a:schemeClr val="accent2"/>
                </a:solidFill>
                <a:latin typeface="宋体" panose="02010600030101010101" pitchFamily="2" charset="-122"/>
                <a:ea typeface="宋体" panose="02010600030101010101" pitchFamily="2" charset="-122"/>
              </a:rPr>
              <a:t>■</a:t>
            </a:r>
            <a:r>
              <a:rPr lang="zh-CN" altLang="en-US" sz="2800" b="1" dirty="0">
                <a:latin typeface="宋体" panose="02010600030101010101" pitchFamily="2" charset="-122"/>
                <a:ea typeface="宋体" panose="02010600030101010101" pitchFamily="2" charset="-122"/>
              </a:rPr>
              <a:t>熵函数：衡量后验概率分布的集中程度</a:t>
            </a:r>
            <a:endParaRPr lang="zh-CN" altLang="en-US" sz="2800" b="1" dirty="0">
              <a:latin typeface="宋体" panose="02010600030101010101" pitchFamily="2" charset="-122"/>
              <a:ea typeface="宋体" panose="02010600030101010101" pitchFamily="2" charset="-122"/>
            </a:endParaRPr>
          </a:p>
        </p:txBody>
      </p:sp>
      <p:graphicFrame>
        <p:nvGraphicFramePr>
          <p:cNvPr id="48132" name="Object 2"/>
          <p:cNvGraphicFramePr>
            <a:graphicFrameLocks noChangeAspect="1"/>
          </p:cNvGraphicFramePr>
          <p:nvPr/>
        </p:nvGraphicFramePr>
        <p:xfrm>
          <a:off x="2438400" y="2819400"/>
          <a:ext cx="4183063" cy="515938"/>
        </p:xfrm>
        <a:graphic>
          <a:graphicData uri="http://schemas.openxmlformats.org/presentationml/2006/ole">
            <mc:AlternateContent xmlns:mc="http://schemas.openxmlformats.org/markup-compatibility/2006">
              <mc:Choice xmlns:v="urn:schemas-microsoft-com:vml" Requires="v">
                <p:oleObj spid="_x0000_s3108" name="" r:id="rId1" imgW="1854200" imgH="228600" progId="Equation.DSMT4">
                  <p:embed/>
                </p:oleObj>
              </mc:Choice>
              <mc:Fallback>
                <p:oleObj name="" r:id="rId1" imgW="1854200" imgH="228600" progId="Equation.DSMT4">
                  <p:embed/>
                  <p:pic>
                    <p:nvPicPr>
                      <p:cNvPr id="0" name="图片 3107"/>
                      <p:cNvPicPr/>
                      <p:nvPr/>
                    </p:nvPicPr>
                    <p:blipFill>
                      <a:blip r:embed="rId2"/>
                      <a:stretch>
                        <a:fillRect/>
                      </a:stretch>
                    </p:blipFill>
                    <p:spPr>
                      <a:xfrm>
                        <a:off x="2438400" y="2819400"/>
                        <a:ext cx="4183063" cy="515938"/>
                      </a:xfrm>
                      <a:prstGeom prst="rect">
                        <a:avLst/>
                      </a:prstGeom>
                      <a:noFill/>
                      <a:ln w="38100">
                        <a:noFill/>
                        <a:miter/>
                      </a:ln>
                    </p:spPr>
                  </p:pic>
                </p:oleObj>
              </mc:Fallback>
            </mc:AlternateContent>
          </a:graphicData>
        </a:graphic>
      </p:graphicFrame>
      <p:sp>
        <p:nvSpPr>
          <p:cNvPr id="48133" name="Rectangle 6"/>
          <p:cNvSpPr/>
          <p:nvPr/>
        </p:nvSpPr>
        <p:spPr>
          <a:xfrm>
            <a:off x="457200" y="3505200"/>
            <a:ext cx="2808288" cy="6477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buClr>
                <a:schemeClr val="hlink"/>
              </a:buClr>
              <a:buNone/>
            </a:pPr>
            <a:r>
              <a:rPr lang="en-US" altLang="zh-CN" sz="1800" b="1" dirty="0">
                <a:solidFill>
                  <a:schemeClr val="accent2"/>
                </a:solidFill>
                <a:ea typeface="宋体" panose="02010600030101010101" pitchFamily="2" charset="-122"/>
              </a:rPr>
              <a:t> ■</a:t>
            </a:r>
            <a:r>
              <a:rPr lang="en-US" altLang="zh-CN" sz="1800" b="1" dirty="0">
                <a:ea typeface="宋体" panose="02010600030101010101" pitchFamily="2" charset="-122"/>
              </a:rPr>
              <a:t> </a:t>
            </a:r>
            <a:r>
              <a:rPr lang="en-US" altLang="zh-CN" sz="2800" b="1" dirty="0">
                <a:ea typeface="宋体" panose="02010600030101010101" pitchFamily="2" charset="-122"/>
              </a:rPr>
              <a:t>Shannon</a:t>
            </a:r>
            <a:r>
              <a:rPr lang="zh-CN" altLang="en-US" sz="2800" b="1" dirty="0">
                <a:latin typeface="Calibri" panose="020F0502020204030204" pitchFamily="34" charset="0"/>
                <a:ea typeface="宋体" panose="02010600030101010101" pitchFamily="2" charset="-122"/>
              </a:rPr>
              <a:t>熵：</a:t>
            </a:r>
            <a:endParaRPr lang="zh-CN" altLang="en-US" sz="2800" b="1" dirty="0">
              <a:latin typeface="Calibri" panose="020F0502020204030204" pitchFamily="34" charset="0"/>
              <a:ea typeface="宋体" panose="02010600030101010101" pitchFamily="2" charset="-122"/>
            </a:endParaRPr>
          </a:p>
        </p:txBody>
      </p:sp>
      <p:graphicFrame>
        <p:nvGraphicFramePr>
          <p:cNvPr id="48134" name="Object 3"/>
          <p:cNvGraphicFramePr>
            <a:graphicFrameLocks noChangeAspect="1"/>
          </p:cNvGraphicFramePr>
          <p:nvPr/>
        </p:nvGraphicFramePr>
        <p:xfrm>
          <a:off x="2971800" y="3429000"/>
          <a:ext cx="4354513" cy="746125"/>
        </p:xfrm>
        <a:graphic>
          <a:graphicData uri="http://schemas.openxmlformats.org/presentationml/2006/ole">
            <mc:AlternateContent xmlns:mc="http://schemas.openxmlformats.org/markup-compatibility/2006">
              <mc:Choice xmlns:v="urn:schemas-microsoft-com:vml" Requires="v">
                <p:oleObj spid="_x0000_s3110" name="" r:id="rId3" imgW="1930400" imgH="431800" progId="Equation.DSMT4">
                  <p:embed/>
                </p:oleObj>
              </mc:Choice>
              <mc:Fallback>
                <p:oleObj name="" r:id="rId3" imgW="1930400" imgH="431800" progId="Equation.DSMT4">
                  <p:embed/>
                  <p:pic>
                    <p:nvPicPr>
                      <p:cNvPr id="0" name="图片 3109"/>
                      <p:cNvPicPr/>
                      <p:nvPr/>
                    </p:nvPicPr>
                    <p:blipFill>
                      <a:blip r:embed="rId4"/>
                      <a:stretch>
                        <a:fillRect/>
                      </a:stretch>
                    </p:blipFill>
                    <p:spPr>
                      <a:xfrm>
                        <a:off x="2971800" y="3429000"/>
                        <a:ext cx="4354513" cy="746125"/>
                      </a:xfrm>
                      <a:prstGeom prst="rect">
                        <a:avLst/>
                      </a:prstGeom>
                      <a:noFill/>
                      <a:ln w="38100">
                        <a:noFill/>
                        <a:miter/>
                      </a:ln>
                    </p:spPr>
                  </p:pic>
                </p:oleObj>
              </mc:Fallback>
            </mc:AlternateContent>
          </a:graphicData>
        </a:graphic>
      </p:graphicFrame>
      <p:sp>
        <p:nvSpPr>
          <p:cNvPr id="48135" name="Rectangle 8"/>
          <p:cNvSpPr/>
          <p:nvPr/>
        </p:nvSpPr>
        <p:spPr>
          <a:xfrm>
            <a:off x="533400" y="4267200"/>
            <a:ext cx="2808288" cy="6477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buClr>
                <a:schemeClr val="hlink"/>
              </a:buClr>
              <a:buNone/>
            </a:pPr>
            <a:r>
              <a:rPr lang="en-US" altLang="zh-CN" sz="1800" b="1" dirty="0">
                <a:solidFill>
                  <a:schemeClr val="accent2"/>
                </a:solidFill>
                <a:ea typeface="宋体" panose="02010600030101010101" pitchFamily="2" charset="-122"/>
              </a:rPr>
              <a:t>■</a:t>
            </a:r>
            <a:r>
              <a:rPr lang="zh-CN" altLang="en-US" sz="2800" b="1" dirty="0">
                <a:ea typeface="宋体" panose="02010600030101010101" pitchFamily="2" charset="-122"/>
              </a:rPr>
              <a:t>平方</a:t>
            </a:r>
            <a:r>
              <a:rPr lang="zh-CN" altLang="en-US" sz="2800" b="1" dirty="0">
                <a:latin typeface="Calibri" panose="020F0502020204030204" pitchFamily="34" charset="0"/>
                <a:ea typeface="宋体" panose="02010600030101010101" pitchFamily="2" charset="-122"/>
              </a:rPr>
              <a:t>熵：</a:t>
            </a:r>
            <a:endParaRPr lang="zh-CN" altLang="en-US" sz="2800" b="1" dirty="0">
              <a:latin typeface="Calibri" panose="020F0502020204030204" pitchFamily="34" charset="0"/>
              <a:ea typeface="宋体" panose="02010600030101010101" pitchFamily="2" charset="-122"/>
            </a:endParaRPr>
          </a:p>
        </p:txBody>
      </p:sp>
      <p:graphicFrame>
        <p:nvGraphicFramePr>
          <p:cNvPr id="48136" name="Object 4"/>
          <p:cNvGraphicFramePr>
            <a:graphicFrameLocks noChangeAspect="1"/>
          </p:cNvGraphicFramePr>
          <p:nvPr/>
        </p:nvGraphicFramePr>
        <p:xfrm>
          <a:off x="2971800" y="4191000"/>
          <a:ext cx="3695700" cy="803275"/>
        </p:xfrm>
        <a:graphic>
          <a:graphicData uri="http://schemas.openxmlformats.org/presentationml/2006/ole">
            <mc:AlternateContent xmlns:mc="http://schemas.openxmlformats.org/markup-compatibility/2006">
              <mc:Choice xmlns:v="urn:schemas-microsoft-com:vml" Requires="v">
                <p:oleObj spid="_x0000_s3109" name="" r:id="rId5" imgW="1536700" imgH="457200" progId="Equation.DSMT4">
                  <p:embed/>
                </p:oleObj>
              </mc:Choice>
              <mc:Fallback>
                <p:oleObj name="" r:id="rId5" imgW="1536700" imgH="457200" progId="Equation.DSMT4">
                  <p:embed/>
                  <p:pic>
                    <p:nvPicPr>
                      <p:cNvPr id="0" name="图片 3108"/>
                      <p:cNvPicPr/>
                      <p:nvPr/>
                    </p:nvPicPr>
                    <p:blipFill>
                      <a:blip r:embed="rId6"/>
                      <a:stretch>
                        <a:fillRect/>
                      </a:stretch>
                    </p:blipFill>
                    <p:spPr>
                      <a:xfrm>
                        <a:off x="2971800" y="4191000"/>
                        <a:ext cx="3695700" cy="803275"/>
                      </a:xfrm>
                      <a:prstGeom prst="rect">
                        <a:avLst/>
                      </a:prstGeom>
                      <a:noFill/>
                      <a:ln w="38100">
                        <a:noFill/>
                        <a:miter/>
                      </a:ln>
                    </p:spPr>
                  </p:pic>
                </p:oleObj>
              </mc:Fallback>
            </mc:AlternateContent>
          </a:graphicData>
        </a:graphic>
      </p:graphicFrame>
      <p:sp>
        <p:nvSpPr>
          <p:cNvPr id="48137" name="Rectangle 10"/>
          <p:cNvSpPr/>
          <p:nvPr/>
        </p:nvSpPr>
        <p:spPr>
          <a:xfrm>
            <a:off x="457200" y="5029200"/>
            <a:ext cx="7345363" cy="44767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buClr>
                <a:schemeClr val="hlink"/>
              </a:buClr>
              <a:buNone/>
            </a:pPr>
            <a:r>
              <a:rPr lang="en-US" altLang="zh-CN" sz="1800" b="1" dirty="0">
                <a:solidFill>
                  <a:schemeClr val="accent2"/>
                </a:solidFill>
                <a:ea typeface="宋体" panose="02010600030101010101" pitchFamily="2" charset="-122"/>
              </a:rPr>
              <a:t> ■</a:t>
            </a:r>
            <a:r>
              <a:rPr lang="zh-CN" altLang="en-US" sz="2800" b="1" dirty="0">
                <a:latin typeface="Calibri" panose="020F0502020204030204" pitchFamily="34" charset="0"/>
                <a:ea typeface="宋体" panose="02010600030101010101" pitchFamily="2" charset="-122"/>
              </a:rPr>
              <a:t>熵函数期望表征类别的分离程度：</a:t>
            </a:r>
            <a:endParaRPr lang="zh-CN" altLang="en-US" sz="2800" b="1" dirty="0">
              <a:latin typeface="Calibri" panose="020F0502020204030204" pitchFamily="34" charset="0"/>
              <a:ea typeface="宋体" panose="02010600030101010101" pitchFamily="2" charset="-122"/>
            </a:endParaRPr>
          </a:p>
        </p:txBody>
      </p:sp>
      <p:graphicFrame>
        <p:nvGraphicFramePr>
          <p:cNvPr id="48138" name="Object 5"/>
          <p:cNvGraphicFramePr>
            <a:graphicFrameLocks noChangeAspect="1"/>
          </p:cNvGraphicFramePr>
          <p:nvPr/>
        </p:nvGraphicFramePr>
        <p:xfrm>
          <a:off x="914400" y="5562600"/>
          <a:ext cx="6997700" cy="573088"/>
        </p:xfrm>
        <a:graphic>
          <a:graphicData uri="http://schemas.openxmlformats.org/presentationml/2006/ole">
            <mc:AlternateContent xmlns:mc="http://schemas.openxmlformats.org/markup-compatibility/2006">
              <mc:Choice xmlns:v="urn:schemas-microsoft-com:vml" Requires="v">
                <p:oleObj spid="_x0000_s3105" name="" r:id="rId7" imgW="2235200" imgH="254000" progId="Equation.DSMT4">
                  <p:embed/>
                </p:oleObj>
              </mc:Choice>
              <mc:Fallback>
                <p:oleObj name="" r:id="rId7" imgW="2235200" imgH="254000" progId="Equation.DSMT4">
                  <p:embed/>
                  <p:pic>
                    <p:nvPicPr>
                      <p:cNvPr id="0" name="图片 3104"/>
                      <p:cNvPicPr/>
                      <p:nvPr/>
                    </p:nvPicPr>
                    <p:blipFill>
                      <a:blip r:embed="rId8"/>
                      <a:stretch>
                        <a:fillRect/>
                      </a:stretch>
                    </p:blipFill>
                    <p:spPr>
                      <a:xfrm>
                        <a:off x="914400" y="5562600"/>
                        <a:ext cx="6997700" cy="573088"/>
                      </a:xfrm>
                      <a:prstGeom prst="rect">
                        <a:avLst/>
                      </a:prstGeom>
                      <a:noFill/>
                      <a:ln w="38100">
                        <a:noFill/>
                        <a:miter/>
                      </a:ln>
                    </p:spPr>
                  </p:pic>
                </p:oleObj>
              </mc:Fallback>
            </mc:AlternateContent>
          </a:graphicData>
        </a:graphic>
      </p:graphicFrame>
      <p:sp>
        <p:nvSpPr>
          <p:cNvPr id="48139" name="TextBox 5"/>
          <p:cNvSpPr txBox="1"/>
          <p:nvPr/>
        </p:nvSpPr>
        <p:spPr>
          <a:xfrm>
            <a:off x="3924300" y="96838"/>
            <a:ext cx="4535488"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5.2   </a:t>
            </a:r>
            <a:r>
              <a:rPr lang="zh-CN" altLang="en-US" sz="3600" b="1" dirty="0">
                <a:solidFill>
                  <a:srgbClr val="0033CC"/>
                </a:solidFill>
                <a:ea typeface="宋体" panose="02010600030101010101" pitchFamily="2" charset="-122"/>
              </a:rPr>
              <a:t>类别可分性判据</a:t>
            </a:r>
            <a:endParaRPr lang="zh-CN" altLang="en-US" sz="3600" b="1" dirty="0">
              <a:solidFill>
                <a:srgbClr val="0033CC"/>
              </a:solidFill>
              <a:ea typeface="宋体" panose="02010600030101010101" pitchFamily="2" charset="-122"/>
            </a:endParaRPr>
          </a:p>
        </p:txBody>
      </p:sp>
      <p:sp>
        <p:nvSpPr>
          <p:cNvPr id="48140" name="Rectangle 2"/>
          <p:cNvSpPr txBox="1"/>
          <p:nvPr/>
        </p:nvSpPr>
        <p:spPr>
          <a:xfrm>
            <a:off x="2687638" y="1033463"/>
            <a:ext cx="7010400" cy="523875"/>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3.</a:t>
            </a:r>
            <a:r>
              <a:rPr lang="zh-CN" altLang="en-US" sz="2800" b="1" dirty="0">
                <a:solidFill>
                  <a:srgbClr val="0033CC"/>
                </a:solidFill>
                <a:latin typeface="宋体" panose="02010600030101010101" pitchFamily="2" charset="-122"/>
                <a:ea typeface="宋体" panose="02010600030101010101" pitchFamily="2" charset="-122"/>
              </a:rPr>
              <a:t>基于熵的可分性判据</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9155" name="Rectangle 2"/>
          <p:cNvSpPr txBox="1"/>
          <p:nvPr/>
        </p:nvSpPr>
        <p:spPr>
          <a:xfrm>
            <a:off x="925513" y="709613"/>
            <a:ext cx="6742112" cy="76835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4400" b="1" dirty="0">
                <a:solidFill>
                  <a:srgbClr val="FF0000"/>
                </a:solidFill>
                <a:latin typeface="宋体" panose="02010600030101010101" pitchFamily="2" charset="-122"/>
                <a:ea typeface="宋体" panose="02010600030101010101" pitchFamily="2" charset="-122"/>
              </a:rPr>
              <a:t>特征选择</a:t>
            </a:r>
            <a:endParaRPr lang="zh-CN" altLang="en-US" sz="4400" b="1" dirty="0">
              <a:solidFill>
                <a:srgbClr val="FF0000"/>
              </a:solidFill>
              <a:latin typeface="宋体" panose="02010600030101010101" pitchFamily="2" charset="-122"/>
              <a:ea typeface="宋体" panose="02010600030101010101" pitchFamily="2" charset="-122"/>
            </a:endParaRPr>
          </a:p>
        </p:txBody>
      </p:sp>
      <p:sp>
        <p:nvSpPr>
          <p:cNvPr id="49156" name="TextBox 3"/>
          <p:cNvSpPr txBox="1"/>
          <p:nvPr/>
        </p:nvSpPr>
        <p:spPr>
          <a:xfrm>
            <a:off x="1763713" y="1989138"/>
            <a:ext cx="6192837" cy="3216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5.1 </a:t>
            </a:r>
            <a:r>
              <a:rPr lang="zh-CN" altLang="en-US" sz="3600" b="1" dirty="0">
                <a:latin typeface="黑体" panose="02010609060101010101" pitchFamily="49" charset="-122"/>
                <a:ea typeface="黑体" panose="02010609060101010101" pitchFamily="49" charset="-122"/>
              </a:rPr>
              <a:t>引言</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latin typeface="黑体" panose="02010609060101010101" pitchFamily="49" charset="-122"/>
                <a:ea typeface="黑体" panose="02010609060101010101" pitchFamily="49" charset="-122"/>
              </a:rPr>
              <a:t>5.2 </a:t>
            </a:r>
            <a:r>
              <a:rPr lang="zh-CN" altLang="en-US" sz="3600" b="1" dirty="0">
                <a:latin typeface="黑体" panose="02010609060101010101" pitchFamily="49" charset="-122"/>
                <a:ea typeface="黑体" panose="02010609060101010101" pitchFamily="49" charset="-122"/>
              </a:rPr>
              <a:t>类别可分离性判据</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200000"/>
              </a:lnSpc>
              <a:spcBef>
                <a:spcPct val="0"/>
              </a:spcBef>
              <a:buClrTx/>
              <a:buSzTx/>
              <a:buFontTx/>
              <a:buNone/>
            </a:pPr>
            <a:r>
              <a:rPr lang="en-US" altLang="zh-CN" sz="3600" b="1" dirty="0">
                <a:solidFill>
                  <a:srgbClr val="0066FF"/>
                </a:solidFill>
                <a:latin typeface="黑体" panose="02010609060101010101" pitchFamily="49" charset="-122"/>
                <a:ea typeface="黑体" panose="02010609060101010101" pitchFamily="49" charset="-122"/>
              </a:rPr>
              <a:t>5.3 </a:t>
            </a:r>
            <a:r>
              <a:rPr lang="zh-CN" altLang="en-US" sz="3600" b="1" dirty="0">
                <a:solidFill>
                  <a:srgbClr val="0066FF"/>
                </a:solidFill>
                <a:latin typeface="黑体" panose="02010609060101010101" pitchFamily="49" charset="-122"/>
                <a:ea typeface="黑体" panose="02010609060101010101" pitchFamily="49" charset="-122"/>
              </a:rPr>
              <a:t>特征子集的搜索策略</a:t>
            </a:r>
            <a:endParaRPr lang="zh-CN" altLang="en-US" sz="3600" b="1" dirty="0">
              <a:solidFill>
                <a:srgbClr val="0066FF"/>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0179" name="Rectangle 3"/>
          <p:cNvSpPr>
            <a:spLocks noGrp="1"/>
          </p:cNvSpPr>
          <p:nvPr>
            <p:ph type="body" idx="4294967295"/>
          </p:nvPr>
        </p:nvSpPr>
        <p:spPr>
          <a:xfrm>
            <a:off x="357188" y="1600200"/>
            <a:ext cx="8429625" cy="4614863"/>
          </a:xfrm>
        </p:spPr>
        <p:txBody>
          <a:bodyPr vert="horz" wrap="square" lIns="91440" tIns="45720" rIns="91440" bIns="45720" anchor="t" anchorCtr="0"/>
          <a:p>
            <a:pPr eaLnBrk="1" hangingPunct="1">
              <a:lnSpc>
                <a:spcPct val="90000"/>
              </a:lnSpc>
              <a:buClr>
                <a:srgbClr val="FF0000"/>
              </a:buClr>
              <a:buSzPct val="75000"/>
              <a:buFont typeface="Wingdings" panose="05000000000000000000" pitchFamily="2" charset="2"/>
              <a:buChar char="u"/>
            </a:pPr>
            <a:r>
              <a:rPr lang="zh-CN" altLang="en-US" sz="2800" b="1" dirty="0">
                <a:latin typeface="宋体" panose="02010600030101010101" pitchFamily="2" charset="-122"/>
                <a:ea typeface="宋体" panose="02010600030101010101" pitchFamily="2" charset="-122"/>
              </a:rPr>
              <a:t>许多特征选择算法力求解决搜索问题，经典算法有</a:t>
            </a:r>
            <a:r>
              <a:rPr lang="zh-CN" altLang="en-US" b="1" dirty="0">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pic>
        <p:nvPicPr>
          <p:cNvPr id="50180" name="Picture 5" descr="C:\Users\Administrator\AppData\Roaming\Tencent\Users\306925339\QQ\WinTemp\RichOle\%MEHSZ0~[8RY6`P1KO9F@O2.png"/>
          <p:cNvPicPr>
            <a:picLocks noChangeAspect="1"/>
          </p:cNvPicPr>
          <p:nvPr/>
        </p:nvPicPr>
        <p:blipFill>
          <a:blip r:embed="rId1"/>
          <a:stretch>
            <a:fillRect/>
          </a:stretch>
        </p:blipFill>
        <p:spPr>
          <a:xfrm>
            <a:off x="1547813" y="2492375"/>
            <a:ext cx="6048375" cy="3732213"/>
          </a:xfrm>
          <a:prstGeom prst="rect">
            <a:avLst/>
          </a:prstGeom>
          <a:noFill/>
          <a:ln w="9525">
            <a:noFill/>
          </a:ln>
        </p:spPr>
      </p:pic>
      <p:sp>
        <p:nvSpPr>
          <p:cNvPr id="50181"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2" name="矩形 1"/>
          <p:cNvSpPr/>
          <p:nvPr/>
        </p:nvSpPr>
        <p:spPr>
          <a:xfrm>
            <a:off x="1907540" y="3861435"/>
            <a:ext cx="2232660" cy="504190"/>
          </a:xfrm>
          <a:prstGeom prst="rect">
            <a:avLst/>
          </a:prstGeom>
          <a:noFill/>
          <a:ln w="9525" cap="flat" cmpd="sng" algn="ctr">
            <a:solidFill>
              <a:schemeClr val="tx1"/>
            </a:solidFill>
            <a:prstDash val="solid"/>
            <a:miter lim="800000"/>
            <a:headEnd type="none" w="med" len="med"/>
            <a:tailEnd type="none" w="med" len="med"/>
          </a:ln>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0179" name="Rectangle 2"/>
          <p:cNvSpPr>
            <a:spLocks noGrp="1" noChangeArrowheads="1"/>
          </p:cNvSpPr>
          <p:nvPr>
            <p:ph type="title" idx="4294967295"/>
          </p:nvPr>
        </p:nvSpPr>
        <p:spPr>
          <a:xfrm>
            <a:off x="684213" y="962025"/>
            <a:ext cx="6410325" cy="519113"/>
          </a:xfrm>
        </p:spPr>
        <p:txBody>
          <a:bodyPr vert="horz" wrap="square" lIns="90488" tIns="44450" rIns="90488" bIns="4445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1.</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单独最优特征组合</a:t>
            </a:r>
            <a:endPar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1204" name="Rectangle 3"/>
          <p:cNvSpPr>
            <a:spLocks noGrp="1"/>
          </p:cNvSpPr>
          <p:nvPr>
            <p:ph type="body" idx="4294967295"/>
          </p:nvPr>
        </p:nvSpPr>
        <p:spPr>
          <a:xfrm>
            <a:off x="381000" y="1676400"/>
            <a:ext cx="8353425" cy="3657600"/>
          </a:xfrm>
        </p:spPr>
        <p:txBody>
          <a:bodyPr vert="horz" wrap="square" lIns="91440" tIns="45720" rIns="91440" bIns="45720" anchor="t" anchorCtr="0"/>
          <a:p>
            <a:pPr algn="just" eaLnBrk="1" hangingPunct="1">
              <a:lnSpc>
                <a:spcPct val="90000"/>
              </a:lnSpc>
              <a:buClr>
                <a:srgbClr val="FF0000"/>
              </a:buClr>
              <a:buSzPct val="75000"/>
              <a:buFont typeface="Wingdings" panose="05000000000000000000" pitchFamily="2" charset="2"/>
              <a:buChar char="u"/>
            </a:pPr>
            <a:r>
              <a:rPr lang="zh-CN" altLang="en-US" b="1" dirty="0">
                <a:ea typeface="宋体" panose="02010600030101010101" pitchFamily="2" charset="-122"/>
              </a:rPr>
              <a:t>计算各</a:t>
            </a:r>
            <a:r>
              <a:rPr lang="zh-CN" altLang="en-US" b="1" dirty="0">
                <a:solidFill>
                  <a:srgbClr val="0066FF"/>
                </a:solidFill>
                <a:ea typeface="宋体" panose="02010600030101010101" pitchFamily="2" charset="-122"/>
              </a:rPr>
              <a:t>特征单独使用时的可分性判据</a:t>
            </a:r>
            <a:r>
              <a:rPr lang="en-US" altLang="zh-CN" b="1" i="1" dirty="0">
                <a:solidFill>
                  <a:srgbClr val="0066FF"/>
                </a:solidFill>
                <a:ea typeface="宋体" panose="02010600030101010101" pitchFamily="2" charset="-122"/>
              </a:rPr>
              <a:t>J</a:t>
            </a:r>
            <a:r>
              <a:rPr lang="zh-CN" altLang="en-US" b="1" dirty="0">
                <a:ea typeface="宋体" panose="02010600030101010101" pitchFamily="2" charset="-122"/>
              </a:rPr>
              <a:t>并加以排队，取前</a:t>
            </a:r>
            <a:r>
              <a:rPr lang="en-US" altLang="zh-CN" b="1" i="1" dirty="0">
                <a:ea typeface="宋体" panose="02010600030101010101" pitchFamily="2" charset="-122"/>
              </a:rPr>
              <a:t>d</a:t>
            </a:r>
            <a:r>
              <a:rPr lang="zh-CN" altLang="en-US" b="1" dirty="0">
                <a:ea typeface="宋体" panose="02010600030101010101" pitchFamily="2" charset="-122"/>
              </a:rPr>
              <a:t>个作为选择结果</a:t>
            </a:r>
            <a:endParaRPr lang="zh-CN" altLang="en-US" b="1" dirty="0">
              <a:ea typeface="宋体" panose="02010600030101010101" pitchFamily="2" charset="-122"/>
            </a:endParaRPr>
          </a:p>
          <a:p>
            <a:pPr algn="just" eaLnBrk="1" hangingPunct="1">
              <a:lnSpc>
                <a:spcPct val="90000"/>
              </a:lnSpc>
              <a:buClr>
                <a:srgbClr val="FF0000"/>
              </a:buClr>
              <a:buSzPct val="75000"/>
              <a:buFont typeface="Wingdings" panose="05000000000000000000" pitchFamily="2" charset="2"/>
              <a:buChar char="u"/>
            </a:pPr>
            <a:r>
              <a:rPr lang="zh-CN" altLang="en-US" b="1" dirty="0">
                <a:ea typeface="宋体" panose="02010600030101010101" pitchFamily="2" charset="-122"/>
              </a:rPr>
              <a:t>组合起来不一定是最优结果</a:t>
            </a:r>
            <a:endParaRPr lang="zh-CN" altLang="en-US" b="1" dirty="0">
              <a:ea typeface="宋体" panose="02010600030101010101" pitchFamily="2" charset="-122"/>
            </a:endParaRPr>
          </a:p>
          <a:p>
            <a:pPr algn="just" eaLnBrk="1" hangingPunct="1">
              <a:lnSpc>
                <a:spcPct val="90000"/>
              </a:lnSpc>
              <a:buClr>
                <a:srgbClr val="FF0000"/>
              </a:buClr>
              <a:buSzPct val="75000"/>
              <a:buFont typeface="Wingdings" panose="05000000000000000000" pitchFamily="2" charset="2"/>
              <a:buChar char="u"/>
            </a:pPr>
            <a:r>
              <a:rPr lang="zh-CN" altLang="en-US" b="1" dirty="0">
                <a:ea typeface="宋体" panose="02010600030101010101" pitchFamily="2" charset="-122"/>
              </a:rPr>
              <a:t>当可分性判据对各特征具有</a:t>
            </a:r>
            <a:r>
              <a:rPr lang="en-US" altLang="zh-CN" b="1" dirty="0">
                <a:ea typeface="宋体" panose="02010600030101010101" pitchFamily="2" charset="-122"/>
              </a:rPr>
              <a:t>(</a:t>
            </a:r>
            <a:r>
              <a:rPr lang="zh-CN" altLang="en-US" b="1" dirty="0">
                <a:ea typeface="宋体" panose="02010600030101010101" pitchFamily="2" charset="-122"/>
              </a:rPr>
              <a:t>广义</a:t>
            </a:r>
            <a:r>
              <a:rPr lang="en-US" altLang="zh-CN" b="1" dirty="0">
                <a:ea typeface="宋体" panose="02010600030101010101" pitchFamily="2" charset="-122"/>
              </a:rPr>
              <a:t>)</a:t>
            </a:r>
            <a:r>
              <a:rPr lang="zh-CN" altLang="en-US" b="1" dirty="0">
                <a:solidFill>
                  <a:srgbClr val="0066FF"/>
                </a:solidFill>
                <a:ea typeface="宋体" panose="02010600030101010101" pitchFamily="2" charset="-122"/>
              </a:rPr>
              <a:t>可加性</a:t>
            </a:r>
            <a:r>
              <a:rPr lang="zh-CN" altLang="en-US" b="1" dirty="0">
                <a:ea typeface="宋体" panose="02010600030101010101" pitchFamily="2" charset="-122"/>
              </a:rPr>
              <a:t>，该方法可以选出一组最优的特征来，例：</a:t>
            </a:r>
            <a:endParaRPr lang="zh-CN" altLang="en-US" b="1" dirty="0">
              <a:ea typeface="宋体" panose="02010600030101010101" pitchFamily="2" charset="-122"/>
            </a:endParaRPr>
          </a:p>
          <a:p>
            <a:pPr lvl="1" algn="just" eaLnBrk="1" hangingPunct="1">
              <a:lnSpc>
                <a:spcPct val="90000"/>
              </a:lnSpc>
              <a:buClr>
                <a:srgbClr val="FF0000"/>
              </a:buClr>
              <a:buFont typeface="Wingdings" panose="05000000000000000000" pitchFamily="2" charset="2"/>
              <a:buChar char="Ø"/>
            </a:pPr>
            <a:r>
              <a:rPr lang="zh-CN" altLang="en-US" b="1" dirty="0">
                <a:ea typeface="宋体" panose="02010600030101010101" pitchFamily="2" charset="-122"/>
              </a:rPr>
              <a:t>各类具有正态分布</a:t>
            </a:r>
            <a:endParaRPr lang="zh-CN" altLang="en-US" b="1" dirty="0">
              <a:ea typeface="宋体" panose="02010600030101010101" pitchFamily="2" charset="-122"/>
            </a:endParaRPr>
          </a:p>
          <a:p>
            <a:pPr lvl="1" algn="just" eaLnBrk="1" hangingPunct="1">
              <a:lnSpc>
                <a:spcPct val="90000"/>
              </a:lnSpc>
              <a:buClr>
                <a:srgbClr val="FF0000"/>
              </a:buClr>
              <a:buFont typeface="Wingdings" panose="05000000000000000000" pitchFamily="2" charset="2"/>
              <a:buChar char="Ø"/>
            </a:pPr>
            <a:r>
              <a:rPr lang="zh-CN" altLang="en-US" b="1" dirty="0">
                <a:ea typeface="宋体" panose="02010600030101010101" pitchFamily="2" charset="-122"/>
              </a:rPr>
              <a:t>各特征统计独立</a:t>
            </a:r>
            <a:endParaRPr lang="zh-CN" altLang="en-US" b="1" dirty="0">
              <a:ea typeface="宋体" panose="02010600030101010101" pitchFamily="2" charset="-122"/>
            </a:endParaRPr>
          </a:p>
          <a:p>
            <a:pPr lvl="1" algn="just" eaLnBrk="1" hangingPunct="1">
              <a:lnSpc>
                <a:spcPct val="90000"/>
              </a:lnSpc>
              <a:buClr>
                <a:srgbClr val="FF0000"/>
              </a:buClr>
              <a:buFont typeface="Wingdings" panose="05000000000000000000" pitchFamily="2" charset="2"/>
              <a:buChar char="Ø"/>
            </a:pPr>
            <a:r>
              <a:rPr lang="zh-CN" altLang="en-US" b="1" dirty="0">
                <a:ea typeface="宋体" panose="02010600030101010101" pitchFamily="2" charset="-122"/>
              </a:rPr>
              <a:t>可分性判据基于</a:t>
            </a:r>
            <a:r>
              <a:rPr lang="en-US" altLang="zh-CN" b="1" dirty="0">
                <a:ea typeface="宋体" panose="02010600030101010101" pitchFamily="2" charset="-122"/>
              </a:rPr>
              <a:t>Mahalanobis</a:t>
            </a:r>
            <a:r>
              <a:rPr lang="zh-CN" altLang="en-US" b="1" dirty="0">
                <a:ea typeface="宋体" panose="02010600030101010101" pitchFamily="2" charset="-122"/>
              </a:rPr>
              <a:t>距离</a:t>
            </a:r>
            <a:endParaRPr lang="zh-CN" altLang="en-US" b="1" dirty="0">
              <a:ea typeface="宋体" panose="02010600030101010101" pitchFamily="2" charset="-122"/>
            </a:endParaRPr>
          </a:p>
        </p:txBody>
      </p:sp>
      <p:graphicFrame>
        <p:nvGraphicFramePr>
          <p:cNvPr id="51205" name="Object 2"/>
          <p:cNvGraphicFramePr>
            <a:graphicFrameLocks noChangeAspect="1"/>
          </p:cNvGraphicFramePr>
          <p:nvPr/>
        </p:nvGraphicFramePr>
        <p:xfrm>
          <a:off x="4643438" y="5726113"/>
          <a:ext cx="3738562" cy="582612"/>
        </p:xfrm>
        <a:graphic>
          <a:graphicData uri="http://schemas.openxmlformats.org/presentationml/2006/ole">
            <mc:AlternateContent xmlns:mc="http://schemas.openxmlformats.org/markup-compatibility/2006">
              <mc:Choice xmlns:v="urn:schemas-microsoft-com:vml" Requires="v">
                <p:oleObj spid="_x0000_s3107" name="" r:id="rId1" imgW="1879600" imgH="254000" progId="Equation.DSMT4">
                  <p:embed/>
                </p:oleObj>
              </mc:Choice>
              <mc:Fallback>
                <p:oleObj name="" r:id="rId1" imgW="1879600" imgH="254000" progId="Equation.DSMT4">
                  <p:embed/>
                  <p:pic>
                    <p:nvPicPr>
                      <p:cNvPr id="0" name="图片 3106"/>
                      <p:cNvPicPr/>
                      <p:nvPr/>
                    </p:nvPicPr>
                    <p:blipFill>
                      <a:blip r:embed="rId2"/>
                      <a:stretch>
                        <a:fillRect/>
                      </a:stretch>
                    </p:blipFill>
                    <p:spPr>
                      <a:xfrm>
                        <a:off x="4643438" y="5726113"/>
                        <a:ext cx="3738562" cy="582612"/>
                      </a:xfrm>
                      <a:prstGeom prst="rect">
                        <a:avLst/>
                      </a:prstGeom>
                      <a:noFill/>
                      <a:ln w="38100">
                        <a:noFill/>
                        <a:miter/>
                      </a:ln>
                    </p:spPr>
                  </p:pic>
                </p:oleObj>
              </mc:Fallback>
            </mc:AlternateContent>
          </a:graphicData>
        </a:graphic>
      </p:graphicFrame>
      <p:graphicFrame>
        <p:nvGraphicFramePr>
          <p:cNvPr id="51206" name="Object 3"/>
          <p:cNvGraphicFramePr>
            <a:graphicFrameLocks noChangeAspect="1"/>
          </p:cNvGraphicFramePr>
          <p:nvPr/>
        </p:nvGraphicFramePr>
        <p:xfrm>
          <a:off x="990600" y="5429250"/>
          <a:ext cx="3286125" cy="1023938"/>
        </p:xfrm>
        <a:graphic>
          <a:graphicData uri="http://schemas.openxmlformats.org/presentationml/2006/ole">
            <mc:AlternateContent xmlns:mc="http://schemas.openxmlformats.org/markup-compatibility/2006">
              <mc:Choice xmlns:v="urn:schemas-microsoft-com:vml" Requires="v">
                <p:oleObj spid="_x0000_s3106" name="" r:id="rId3" imgW="1714500" imgH="431800" progId="Equation.DSMT4">
                  <p:embed/>
                </p:oleObj>
              </mc:Choice>
              <mc:Fallback>
                <p:oleObj name="" r:id="rId3" imgW="1714500" imgH="431800" progId="Equation.DSMT4">
                  <p:embed/>
                  <p:pic>
                    <p:nvPicPr>
                      <p:cNvPr id="0" name="图片 3105"/>
                      <p:cNvPicPr/>
                      <p:nvPr/>
                    </p:nvPicPr>
                    <p:blipFill>
                      <a:blip r:embed="rId4"/>
                      <a:stretch>
                        <a:fillRect/>
                      </a:stretch>
                    </p:blipFill>
                    <p:spPr>
                      <a:xfrm>
                        <a:off x="990600" y="5429250"/>
                        <a:ext cx="3286125" cy="1023938"/>
                      </a:xfrm>
                      <a:prstGeom prst="rect">
                        <a:avLst/>
                      </a:prstGeom>
                      <a:noFill/>
                      <a:ln w="38100">
                        <a:noFill/>
                        <a:miter/>
                      </a:ln>
                    </p:spPr>
                  </p:pic>
                </p:oleObj>
              </mc:Fallback>
            </mc:AlternateContent>
          </a:graphicData>
        </a:graphic>
      </p:graphicFrame>
      <p:sp>
        <p:nvSpPr>
          <p:cNvPr id="51207"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1203" name="Rectangle 2"/>
          <p:cNvSpPr>
            <a:spLocks noGrp="1" noChangeArrowheads="1"/>
          </p:cNvSpPr>
          <p:nvPr>
            <p:ph type="title" idx="4294967295"/>
          </p:nvPr>
        </p:nvSpPr>
        <p:spPr>
          <a:xfrm>
            <a:off x="304800" y="1077913"/>
            <a:ext cx="8839200" cy="519113"/>
          </a:xfrm>
        </p:spPr>
        <p:txBody>
          <a:bodyPr vert="horz" wrap="square" lIns="90488" tIns="44450" rIns="90488" bIns="4445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2.</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顺序前进法（</a:t>
            </a: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SFS</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最简单的自下而上搜索算法</a:t>
            </a:r>
            <a:endPar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2228" name="Rectangle 3"/>
          <p:cNvSpPr>
            <a:spLocks noGrp="1"/>
          </p:cNvSpPr>
          <p:nvPr>
            <p:ph type="body" idx="4294967295"/>
          </p:nvPr>
        </p:nvSpPr>
        <p:spPr>
          <a:xfrm>
            <a:off x="304800" y="1905000"/>
            <a:ext cx="8715375" cy="3886200"/>
          </a:xfrm>
        </p:spPr>
        <p:txBody>
          <a:bodyPr vert="horz" wrap="square" lIns="91440" tIns="45720" rIns="91440" bIns="45720" anchor="t" anchorCtr="0"/>
          <a:p>
            <a:pPr eaLnBrk="1" hangingPunct="1">
              <a:lnSpc>
                <a:spcPct val="90000"/>
              </a:lnSpc>
              <a:buClr>
                <a:srgbClr val="FF0000"/>
              </a:buClr>
              <a:buSzPct val="75000"/>
              <a:buFont typeface="Wingdings" panose="05000000000000000000" pitchFamily="2" charset="2"/>
              <a:buChar char="u"/>
            </a:pPr>
            <a:r>
              <a:rPr lang="zh-CN" altLang="en-US" sz="2800" b="1" dirty="0">
                <a:solidFill>
                  <a:srgbClr val="FF0000"/>
                </a:solidFill>
                <a:ea typeface="宋体" panose="02010600030101010101" pitchFamily="2" charset="-122"/>
              </a:rPr>
              <a:t>自下而上</a:t>
            </a:r>
            <a:r>
              <a:rPr lang="zh-CN" altLang="en-US" sz="2800" b="1" dirty="0">
                <a:ea typeface="宋体" panose="02010600030101010101" pitchFamily="2" charset="-122"/>
              </a:rPr>
              <a:t>搜索方法。</a:t>
            </a:r>
            <a:endParaRPr lang="zh-CN" altLang="en-US" sz="2800" b="1" dirty="0">
              <a:ea typeface="宋体" panose="02010600030101010101" pitchFamily="2" charset="-122"/>
            </a:endParaRPr>
          </a:p>
          <a:p>
            <a:pPr eaLnBrk="1" hangingPunct="1">
              <a:lnSpc>
                <a:spcPct val="90000"/>
              </a:lnSpc>
              <a:buClr>
                <a:srgbClr val="FF0000"/>
              </a:buClr>
              <a:buSzPct val="75000"/>
              <a:buFont typeface="Wingdings" panose="05000000000000000000" pitchFamily="2" charset="2"/>
              <a:buChar char="u"/>
            </a:pPr>
            <a:r>
              <a:rPr lang="zh-CN" altLang="en-US" sz="2800" b="1" dirty="0">
                <a:ea typeface="宋体" panose="02010600030101010101" pitchFamily="2" charset="-122"/>
              </a:rPr>
              <a:t>每次从未入选的特征中选择一个特征，使得它与已入选的特征组合在一起时所得的可分性或分类识别率为最大，直至特征数增加到</a:t>
            </a:r>
            <a:r>
              <a:rPr lang="en-US" altLang="zh-CN" sz="2800" b="1" dirty="0">
                <a:ea typeface="宋体" panose="02010600030101010101" pitchFamily="2" charset="-122"/>
              </a:rPr>
              <a:t>d</a:t>
            </a:r>
            <a:r>
              <a:rPr lang="zh-CN" altLang="en-US" sz="2800" b="1" dirty="0">
                <a:ea typeface="宋体" panose="02010600030101010101" pitchFamily="2" charset="-122"/>
              </a:rPr>
              <a:t>为止。</a:t>
            </a:r>
            <a:endParaRPr lang="zh-CN" altLang="en-US" sz="2800" b="1" dirty="0">
              <a:ea typeface="宋体" panose="02010600030101010101" pitchFamily="2" charset="-122"/>
            </a:endParaRPr>
          </a:p>
          <a:p>
            <a:pPr eaLnBrk="1" hangingPunct="1">
              <a:lnSpc>
                <a:spcPct val="90000"/>
              </a:lnSpc>
              <a:buClr>
                <a:srgbClr val="FF0000"/>
              </a:buClr>
              <a:buSzPct val="75000"/>
              <a:buFont typeface="Wingdings" panose="05000000000000000000" pitchFamily="2" charset="2"/>
              <a:buChar char="u"/>
            </a:pPr>
            <a:r>
              <a:rPr lang="zh-CN" altLang="en-US" sz="2800" b="1" dirty="0">
                <a:ea typeface="宋体" panose="02010600030101010101" pitchFamily="2" charset="-122"/>
              </a:rPr>
              <a:t>该方法考虑了</a:t>
            </a:r>
            <a:r>
              <a:rPr lang="zh-CN" altLang="en-US" sz="2800" b="1" dirty="0">
                <a:solidFill>
                  <a:srgbClr val="0033CC"/>
                </a:solidFill>
                <a:ea typeface="宋体" panose="02010600030101010101" pitchFamily="2" charset="-122"/>
              </a:rPr>
              <a:t>所选特征与已入选特征之间的相关性</a:t>
            </a:r>
            <a:r>
              <a:rPr lang="zh-CN" altLang="en-US" sz="2800" b="1" dirty="0">
                <a:ea typeface="宋体" panose="02010600030101010101" pitchFamily="2" charset="-122"/>
              </a:rPr>
              <a:t>。比单独最优特征组合效果好。</a:t>
            </a:r>
            <a:endParaRPr lang="zh-CN" altLang="en-US" sz="2800" b="1" dirty="0">
              <a:ea typeface="宋体" panose="02010600030101010101" pitchFamily="2" charset="-122"/>
            </a:endParaRPr>
          </a:p>
          <a:p>
            <a:pPr eaLnBrk="1" hangingPunct="1">
              <a:lnSpc>
                <a:spcPct val="90000"/>
              </a:lnSpc>
              <a:buClr>
                <a:srgbClr val="0033CC"/>
              </a:buClr>
              <a:buFont typeface="Wingdings" panose="05000000000000000000" pitchFamily="2" charset="2"/>
              <a:buChar char="n"/>
            </a:pPr>
            <a:r>
              <a:rPr lang="zh-CN" altLang="en-US" sz="2800" b="1" dirty="0">
                <a:solidFill>
                  <a:srgbClr val="0066FF"/>
                </a:solidFill>
                <a:ea typeface="宋体" panose="02010600030101010101" pitchFamily="2" charset="-122"/>
              </a:rPr>
              <a:t>缺点</a:t>
            </a:r>
            <a:r>
              <a:rPr lang="zh-CN" altLang="en-US" sz="2800" b="1" dirty="0">
                <a:ea typeface="宋体" panose="02010600030101010101" pitchFamily="2" charset="-122"/>
              </a:rPr>
              <a:t>：一旦某特征已入选，即使由于后加入的特征使它变为多也无法再把它剔除。</a:t>
            </a:r>
            <a:endParaRPr lang="zh-CN" altLang="en-US" sz="2800" b="1" dirty="0">
              <a:ea typeface="宋体" panose="02010600030101010101" pitchFamily="2" charset="-122"/>
            </a:endParaRPr>
          </a:p>
        </p:txBody>
      </p:sp>
      <p:sp>
        <p:nvSpPr>
          <p:cNvPr id="52229"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3251" name="Rectangle 3"/>
          <p:cNvSpPr>
            <a:spLocks noGrp="1"/>
          </p:cNvSpPr>
          <p:nvPr>
            <p:ph idx="1"/>
          </p:nvPr>
        </p:nvSpPr>
        <p:spPr/>
        <p:txBody>
          <a:bodyPr vert="horz" wrap="square" lIns="91440" tIns="45720" rIns="91440" bIns="45720" anchor="t" anchorCtr="0"/>
          <a:p>
            <a:pPr algn="just" eaLnBrk="1" hangingPunct="1"/>
            <a:r>
              <a:rPr lang="zh-CN" altLang="en-US" sz="2800" b="1" dirty="0">
                <a:ea typeface="宋体" panose="02010600030101010101" pitchFamily="2" charset="-122"/>
              </a:rPr>
              <a:t>推广：</a:t>
            </a:r>
            <a:r>
              <a:rPr lang="en-US" altLang="zh-CN" sz="2800" b="1" dirty="0">
                <a:solidFill>
                  <a:srgbClr val="0033CC"/>
                </a:solidFill>
                <a:ea typeface="宋体" panose="02010600030101010101" pitchFamily="2" charset="-122"/>
              </a:rPr>
              <a:t>3. </a:t>
            </a:r>
            <a:r>
              <a:rPr lang="zh-CN" altLang="en-US" sz="2800" b="1" dirty="0">
                <a:solidFill>
                  <a:srgbClr val="0033CC"/>
                </a:solidFill>
                <a:ea typeface="宋体" panose="02010600030101010101" pitchFamily="2" charset="-122"/>
              </a:rPr>
              <a:t>广义顺序前进法（</a:t>
            </a:r>
            <a:r>
              <a:rPr lang="en-US" altLang="zh-CN" sz="2800" b="1" dirty="0">
                <a:solidFill>
                  <a:srgbClr val="0033CC"/>
                </a:solidFill>
                <a:ea typeface="宋体" panose="02010600030101010101" pitchFamily="2" charset="-122"/>
              </a:rPr>
              <a:t>GSFS</a:t>
            </a:r>
            <a:r>
              <a:rPr lang="zh-CN" altLang="en-US" sz="2800" b="1" dirty="0">
                <a:solidFill>
                  <a:srgbClr val="0033CC"/>
                </a:solidFill>
                <a:ea typeface="宋体" panose="02010600030101010101" pitchFamily="2" charset="-122"/>
              </a:rPr>
              <a:t>），</a:t>
            </a:r>
            <a:r>
              <a:rPr lang="zh-CN" altLang="en-US" sz="2800" b="1" dirty="0">
                <a:ea typeface="宋体" panose="02010600030101010101" pitchFamily="2" charset="-122"/>
              </a:rPr>
              <a:t>每次从未入选的特征中选择出</a:t>
            </a:r>
            <a:r>
              <a:rPr lang="en-US" altLang="zh-CN" sz="2800" b="1" dirty="0">
                <a:ea typeface="宋体" panose="02010600030101010101" pitchFamily="2" charset="-122"/>
              </a:rPr>
              <a:t>r</a:t>
            </a:r>
            <a:r>
              <a:rPr lang="zh-CN" altLang="en-US" sz="2800" b="1" dirty="0">
                <a:ea typeface="宋体" panose="02010600030101010101" pitchFamily="2" charset="-122"/>
              </a:rPr>
              <a:t>个特征，使得这</a:t>
            </a:r>
            <a:r>
              <a:rPr lang="en-US" altLang="zh-CN" sz="2800" b="1" dirty="0">
                <a:ea typeface="宋体" panose="02010600030101010101" pitchFamily="2" charset="-122"/>
              </a:rPr>
              <a:t>r</a:t>
            </a:r>
            <a:r>
              <a:rPr lang="zh-CN" altLang="en-US" sz="2800" b="1" dirty="0">
                <a:ea typeface="宋体" panose="02010600030101010101" pitchFamily="2" charset="-122"/>
              </a:rPr>
              <a:t>个特征加入后</a:t>
            </a:r>
            <a:r>
              <a:rPr lang="en-US" altLang="zh-CN" sz="2800" b="1" dirty="0">
                <a:ea typeface="宋体" panose="02010600030101010101" pitchFamily="2" charset="-122"/>
              </a:rPr>
              <a:t>J</a:t>
            </a:r>
            <a:r>
              <a:rPr lang="zh-CN" altLang="en-US" sz="2800" b="1" dirty="0">
                <a:ea typeface="宋体" panose="02010600030101010101" pitchFamily="2" charset="-122"/>
              </a:rPr>
              <a:t>值达最大。</a:t>
            </a:r>
            <a:endParaRPr lang="zh-CN" altLang="en-US" sz="2800" b="1" dirty="0">
              <a:ea typeface="宋体" panose="02010600030101010101" pitchFamily="2" charset="-122"/>
            </a:endParaRPr>
          </a:p>
          <a:p>
            <a:pPr algn="just" eaLnBrk="1" hangingPunct="1"/>
            <a:endParaRPr lang="zh-CN" altLang="en-US" sz="2800" b="1" dirty="0">
              <a:ea typeface="宋体" panose="02010600030101010101" pitchFamily="2" charset="-122"/>
            </a:endParaRPr>
          </a:p>
          <a:p>
            <a:pPr algn="just" eaLnBrk="1" hangingPunct="1"/>
            <a:r>
              <a:rPr lang="en-US" altLang="zh-CN" sz="2800" b="1" dirty="0">
                <a:ea typeface="宋体" panose="02010600030101010101" pitchFamily="2" charset="-122"/>
              </a:rPr>
              <a:t>SFS</a:t>
            </a:r>
            <a:r>
              <a:rPr lang="zh-CN" altLang="en-US" sz="2800" b="1" dirty="0">
                <a:ea typeface="宋体" panose="02010600030101010101" pitchFamily="2" charset="-122"/>
              </a:rPr>
              <a:t>每次只增加一个特征，它未考虑未入选特征之间的统计相关性；</a:t>
            </a:r>
            <a:r>
              <a:rPr lang="en-US" altLang="zh-CN" sz="2800" b="1" dirty="0">
                <a:ea typeface="宋体" panose="02010600030101010101" pitchFamily="2" charset="-122"/>
              </a:rPr>
              <a:t>GSFS</a:t>
            </a:r>
            <a:r>
              <a:rPr lang="zh-CN" altLang="en-US" sz="2800" b="1" dirty="0">
                <a:ea typeface="宋体" panose="02010600030101010101" pitchFamily="2" charset="-122"/>
              </a:rPr>
              <a:t>法可以克服这个缺点，计算量增大，它比</a:t>
            </a:r>
            <a:r>
              <a:rPr lang="en-US" altLang="zh-CN" sz="2800" b="1" dirty="0">
                <a:ea typeface="宋体" panose="02010600030101010101" pitchFamily="2" charset="-122"/>
              </a:rPr>
              <a:t>SFS</a:t>
            </a:r>
            <a:r>
              <a:rPr lang="zh-CN" altLang="en-US" sz="2800" b="1" dirty="0">
                <a:ea typeface="宋体" panose="02010600030101010101" pitchFamily="2" charset="-122"/>
              </a:rPr>
              <a:t>更可靠，但仍然无法拿出已入选的特征。</a:t>
            </a:r>
            <a:endParaRPr lang="zh-CN" altLang="en-US" sz="2800" b="1" dirty="0">
              <a:ea typeface="宋体" panose="02010600030101010101" pitchFamily="2" charset="-122"/>
            </a:endParaRPr>
          </a:p>
        </p:txBody>
      </p:sp>
      <p:sp>
        <p:nvSpPr>
          <p:cNvPr id="53252"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3251" name="Rectangle 2"/>
          <p:cNvSpPr>
            <a:spLocks noGrp="1" noChangeArrowheads="1"/>
          </p:cNvSpPr>
          <p:nvPr>
            <p:ph type="title" idx="4294967295"/>
          </p:nvPr>
        </p:nvSpPr>
        <p:spPr>
          <a:xfrm>
            <a:off x="381000" y="1028700"/>
            <a:ext cx="8294688" cy="519113"/>
          </a:xfrm>
        </p:spPr>
        <p:txBody>
          <a:bodyPr vert="horz" wrap="square" lIns="90488" tIns="44450" rIns="90488" bIns="4445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4. </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顺序后退法（</a:t>
            </a: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SBS</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）：自上而下的方法</a:t>
            </a:r>
            <a:endPar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4276" name="Rectangle 3"/>
          <p:cNvSpPr>
            <a:spLocks noGrp="1"/>
          </p:cNvSpPr>
          <p:nvPr>
            <p:ph type="body" idx="4294967295"/>
          </p:nvPr>
        </p:nvSpPr>
        <p:spPr>
          <a:xfrm>
            <a:off x="381000" y="1981200"/>
            <a:ext cx="8429625" cy="4495800"/>
          </a:xfrm>
        </p:spPr>
        <p:txBody>
          <a:bodyPr vert="horz" wrap="square" lIns="91440" tIns="45720" rIns="91440" bIns="45720" anchor="t" anchorCtr="0"/>
          <a:p>
            <a:pPr eaLnBrk="1" hangingPunct="1">
              <a:buClr>
                <a:srgbClr val="FF0000"/>
              </a:buClr>
              <a:buSzPct val="75000"/>
              <a:buFont typeface="Wingdings" panose="05000000000000000000" pitchFamily="2" charset="2"/>
              <a:buChar char="u"/>
            </a:pPr>
            <a:r>
              <a:rPr lang="zh-CN" altLang="en-US" sz="2400" b="1" dirty="0">
                <a:ea typeface="宋体" panose="02010600030101010101" pitchFamily="2" charset="-122"/>
              </a:rPr>
              <a:t>该方法根据特征子集的分类表现来选择特征</a:t>
            </a:r>
            <a:endParaRPr lang="zh-CN" altLang="en-US" sz="2400" b="1" dirty="0">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400" b="1" dirty="0">
                <a:solidFill>
                  <a:srgbClr val="FF0000"/>
                </a:solidFill>
                <a:ea typeface="宋体" panose="02010600030101010101" pitchFamily="2" charset="-122"/>
              </a:rPr>
              <a:t>搜索特征子集</a:t>
            </a:r>
            <a:r>
              <a:rPr lang="zh-CN" altLang="en-US" sz="2400" b="1" dirty="0">
                <a:ea typeface="宋体" panose="02010600030101010101" pitchFamily="2" charset="-122"/>
              </a:rPr>
              <a:t>：从全体特征开始，每次剔除一个特征，使得所保留的特征集合有最大的可分性或分类识别率。</a:t>
            </a:r>
            <a:endParaRPr lang="zh-CN" altLang="en-US" sz="2400" b="1" dirty="0">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400" b="1" dirty="0">
                <a:ea typeface="宋体" panose="02010600030101010101" pitchFamily="2" charset="-122"/>
              </a:rPr>
              <a:t>依次迭代，直至可分性或识别率开始下降为止。</a:t>
            </a:r>
            <a:endParaRPr lang="zh-CN" altLang="en-US" sz="2400" b="1" dirty="0">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400" b="1" dirty="0">
                <a:ea typeface="宋体" panose="02010600030101010101" pitchFamily="2" charset="-122"/>
              </a:rPr>
              <a:t>和顺序前进法比较，顺序后退法有两个特点：</a:t>
            </a:r>
            <a:endParaRPr lang="zh-CN" altLang="en-US" sz="2400" b="1" dirty="0">
              <a:ea typeface="宋体" panose="02010600030101010101" pitchFamily="2" charset="-122"/>
            </a:endParaRPr>
          </a:p>
          <a:p>
            <a:pPr lvl="1" eaLnBrk="1" hangingPunct="1">
              <a:buClr>
                <a:srgbClr val="0033CC"/>
              </a:buClr>
              <a:buSzPct val="75000"/>
              <a:buFont typeface="Wingdings" panose="05000000000000000000" pitchFamily="2" charset="2"/>
              <a:buChar char="p"/>
            </a:pPr>
            <a:r>
              <a:rPr lang="zh-CN" altLang="en-US" sz="2400" b="1" dirty="0">
                <a:ea typeface="宋体" panose="02010600030101010101" pitchFamily="2" charset="-122"/>
              </a:rPr>
              <a:t>计算过程中可以估计每此去掉一个特征所造可分性的降低；</a:t>
            </a:r>
            <a:endParaRPr lang="zh-CN" altLang="en-US" sz="2400" b="1" dirty="0">
              <a:ea typeface="宋体" panose="02010600030101010101" pitchFamily="2" charset="-122"/>
            </a:endParaRPr>
          </a:p>
          <a:p>
            <a:pPr lvl="1" eaLnBrk="1" hangingPunct="1">
              <a:buClr>
                <a:srgbClr val="0033CC"/>
              </a:buClr>
              <a:buSzPct val="75000"/>
              <a:buFont typeface="Wingdings" panose="05000000000000000000" pitchFamily="2" charset="2"/>
              <a:buChar char="p"/>
            </a:pPr>
            <a:r>
              <a:rPr lang="zh-CN" altLang="en-US" sz="2400" b="1" dirty="0">
                <a:ea typeface="宋体" panose="02010600030101010101" pitchFamily="2" charset="-122"/>
              </a:rPr>
              <a:t>由于顺序后退法的计算是在高位空间进行的，所以计算量比顺序前进法要大</a:t>
            </a:r>
            <a:endParaRPr lang="zh-CN" altLang="en-US" sz="2400" b="1" dirty="0">
              <a:ea typeface="宋体" panose="02010600030101010101" pitchFamily="2" charset="-122"/>
            </a:endParaRPr>
          </a:p>
          <a:p>
            <a:pPr eaLnBrk="1" hangingPunct="1">
              <a:buClr>
                <a:srgbClr val="FF0000"/>
              </a:buClr>
              <a:buSzPct val="75000"/>
              <a:buFont typeface="Wingdings" panose="05000000000000000000" pitchFamily="2" charset="2"/>
              <a:buChar char="u"/>
            </a:pPr>
            <a:r>
              <a:rPr lang="zh-CN" altLang="en-US" sz="2800" b="1" dirty="0">
                <a:ea typeface="宋体" panose="02010600030101010101" pitchFamily="2" charset="-122"/>
              </a:rPr>
              <a:t>推广：广义顺序后退法</a:t>
            </a:r>
            <a:endParaRPr lang="zh-CN" altLang="en-US" sz="2800" b="1" dirty="0">
              <a:ea typeface="宋体" panose="02010600030101010101" pitchFamily="2" charset="-122"/>
            </a:endParaRPr>
          </a:p>
        </p:txBody>
      </p:sp>
      <p:sp>
        <p:nvSpPr>
          <p:cNvPr id="54277"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9395" name="Rectangle 2"/>
          <p:cNvSpPr>
            <a:spLocks noGrp="1" noChangeArrowheads="1"/>
          </p:cNvSpPr>
          <p:nvPr>
            <p:ph type="title"/>
          </p:nvPr>
        </p:nvSpPr>
        <p:spPr>
          <a:xfrm>
            <a:off x="3492500" y="911225"/>
            <a:ext cx="7791450" cy="520700"/>
          </a:xfrm>
        </p:spPr>
        <p:txBody>
          <a:bodyPr vert="horz" wrap="square" lIns="90488" tIns="44450" rIns="90488" bIns="4445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5.</a:t>
            </a:r>
            <a:r>
              <a:rPr kumimoji="1" lang="zh-CN"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增</a:t>
            </a:r>
            <a:r>
              <a:rPr kumimoji="1" lang="en-US" altLang="zh-CN"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l</a:t>
            </a:r>
            <a:r>
              <a:rPr kumimoji="1" lang="zh-CN"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减</a:t>
            </a:r>
            <a:r>
              <a:rPr kumimoji="1" lang="en-US" altLang="zh-CN"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r</a:t>
            </a:r>
            <a:r>
              <a:rPr kumimoji="1" lang="zh-CN"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法（</a:t>
            </a:r>
            <a:r>
              <a:rPr kumimoji="1" lang="en-US" altLang="zh-CN"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l-r</a:t>
            </a:r>
            <a:r>
              <a:rPr kumimoji="1" lang="zh-CN"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zh-CN" altLang="en-US" sz="2800" b="1" i="0" u="none" strike="noStrike" kern="1200" cap="none" spc="0" normalizeH="0" baseline="0" noProof="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5300" name="Rectangle 3"/>
          <p:cNvSpPr>
            <a:spLocks noGrp="1"/>
          </p:cNvSpPr>
          <p:nvPr>
            <p:ph idx="1"/>
          </p:nvPr>
        </p:nvSpPr>
        <p:spPr/>
        <p:txBody>
          <a:bodyPr vert="horz" wrap="square" lIns="91440" tIns="45720" rIns="91440" bIns="45720" anchor="t" anchorCtr="0"/>
          <a:p>
            <a:pPr algn="just" eaLnBrk="1" hangingPunct="1"/>
            <a:r>
              <a:rPr lang="zh-CN" altLang="en-US" b="1" dirty="0">
                <a:ea typeface="宋体" panose="02010600030101010101" pitchFamily="2" charset="-122"/>
              </a:rPr>
              <a:t>避免上述方法的一旦被选入（或剔除）就不能再剔除（或选入）的缺点，可在选择过程中加入局部回溯过程。</a:t>
            </a:r>
            <a:endParaRPr lang="zh-CN" altLang="en-US" b="1" dirty="0">
              <a:ea typeface="宋体" panose="02010600030101010101" pitchFamily="2" charset="-122"/>
            </a:endParaRPr>
          </a:p>
          <a:p>
            <a:pPr algn="just" eaLnBrk="1" hangingPunct="1"/>
            <a:endParaRPr lang="zh-CN" altLang="en-US" b="1" dirty="0">
              <a:ea typeface="宋体" panose="02010600030101010101" pitchFamily="2" charset="-122"/>
            </a:endParaRPr>
          </a:p>
          <a:p>
            <a:pPr algn="just" eaLnBrk="1" hangingPunct="1"/>
            <a:r>
              <a:rPr lang="zh-CN" altLang="en-US" b="1" dirty="0">
                <a:ea typeface="宋体" panose="02010600030101010101" pitchFamily="2" charset="-122"/>
              </a:rPr>
              <a:t>在第</a:t>
            </a:r>
            <a:r>
              <a:rPr lang="en-US" altLang="zh-CN" b="1" i="1" dirty="0">
                <a:ea typeface="宋体" panose="02010600030101010101" pitchFamily="2" charset="-122"/>
              </a:rPr>
              <a:t>k</a:t>
            </a:r>
            <a:r>
              <a:rPr lang="zh-CN" altLang="en-US" b="1" dirty="0">
                <a:ea typeface="宋体" panose="02010600030101010101" pitchFamily="2" charset="-122"/>
              </a:rPr>
              <a:t>步可先用</a:t>
            </a:r>
            <a:r>
              <a:rPr lang="en-US" altLang="zh-CN" b="1" dirty="0">
                <a:ea typeface="宋体" panose="02010600030101010101" pitchFamily="2" charset="-122"/>
              </a:rPr>
              <a:t>SFS</a:t>
            </a:r>
            <a:r>
              <a:rPr lang="zh-CN" altLang="en-US" b="1" dirty="0">
                <a:ea typeface="宋体" panose="02010600030101010101" pitchFamily="2" charset="-122"/>
              </a:rPr>
              <a:t>法一个个加入特征到</a:t>
            </a:r>
            <a:r>
              <a:rPr lang="en-US" altLang="zh-CN" b="1" i="1" dirty="0">
                <a:ea typeface="宋体" panose="02010600030101010101" pitchFamily="2" charset="-122"/>
              </a:rPr>
              <a:t>k+l</a:t>
            </a:r>
            <a:r>
              <a:rPr lang="zh-CN" altLang="en-US" b="1" dirty="0">
                <a:ea typeface="宋体" panose="02010600030101010101" pitchFamily="2" charset="-122"/>
              </a:rPr>
              <a:t>个，然后再用</a:t>
            </a:r>
            <a:r>
              <a:rPr lang="en-US" altLang="zh-CN" b="1" dirty="0">
                <a:ea typeface="宋体" panose="02010600030101010101" pitchFamily="2" charset="-122"/>
              </a:rPr>
              <a:t>SBS</a:t>
            </a:r>
            <a:r>
              <a:rPr lang="zh-CN" altLang="en-US" b="1" dirty="0">
                <a:ea typeface="宋体" panose="02010600030101010101" pitchFamily="2" charset="-122"/>
              </a:rPr>
              <a:t>法一个个剔除</a:t>
            </a:r>
            <a:r>
              <a:rPr lang="en-US" altLang="zh-CN" b="1" i="1" dirty="0">
                <a:ea typeface="宋体" panose="02010600030101010101" pitchFamily="2" charset="-122"/>
              </a:rPr>
              <a:t>r</a:t>
            </a:r>
            <a:r>
              <a:rPr lang="zh-CN" altLang="en-US" b="1" dirty="0">
                <a:ea typeface="宋体" panose="02010600030101010101" pitchFamily="2" charset="-122"/>
              </a:rPr>
              <a:t>个特征。</a:t>
            </a:r>
            <a:endParaRPr lang="zh-CN" altLang="en-US" b="1" dirty="0">
              <a:ea typeface="宋体" panose="02010600030101010101" pitchFamily="2" charset="-122"/>
            </a:endParaRPr>
          </a:p>
          <a:p>
            <a:pPr algn="just" eaLnBrk="1" hangingPunct="1">
              <a:buNone/>
            </a:pPr>
            <a:endParaRPr lang="en-US" altLang="zh-CN" b="1" dirty="0">
              <a:ea typeface="宋体" panose="02010600030101010101" pitchFamily="2" charset="-122"/>
            </a:endParaRPr>
          </a:p>
        </p:txBody>
      </p:sp>
      <p:sp>
        <p:nvSpPr>
          <p:cNvPr id="55301"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6323" name="Rectangle 3"/>
          <p:cNvSpPr>
            <a:spLocks noGrp="1"/>
          </p:cNvSpPr>
          <p:nvPr>
            <p:ph idx="1"/>
          </p:nvPr>
        </p:nvSpPr>
        <p:spPr/>
        <p:txBody>
          <a:bodyPr vert="horz" wrap="square" lIns="91440" tIns="45720" rIns="91440" bIns="45720" anchor="t" anchorCtr="0"/>
          <a:p>
            <a:pPr algn="just" eaLnBrk="1" hangingPunct="1"/>
            <a:r>
              <a:rPr lang="zh-CN" altLang="en-US" b="1" dirty="0">
                <a:ea typeface="宋体" panose="02010600030101010101" pitchFamily="2" charset="-122"/>
              </a:rPr>
              <a:t>步骤：假设已经选了</a:t>
            </a:r>
            <a:r>
              <a:rPr lang="en-US" altLang="zh-CN" b="1" i="1" dirty="0">
                <a:ea typeface="宋体" panose="02010600030101010101" pitchFamily="2" charset="-122"/>
              </a:rPr>
              <a:t>k</a:t>
            </a:r>
            <a:r>
              <a:rPr lang="zh-CN" altLang="en-US" b="1" dirty="0">
                <a:ea typeface="宋体" panose="02010600030101010101" pitchFamily="2" charset="-122"/>
              </a:rPr>
              <a:t>个特征，得出特征组</a:t>
            </a:r>
            <a:r>
              <a:rPr lang="en-US" altLang="zh-CN" b="1" dirty="0">
                <a:ea typeface="宋体" panose="02010600030101010101" pitchFamily="2" charset="-122"/>
              </a:rPr>
              <a:t>X</a:t>
            </a:r>
            <a:r>
              <a:rPr lang="en-US" altLang="zh-CN" b="1" i="1" baseline="-25000" dirty="0">
                <a:ea typeface="宋体" panose="02010600030101010101" pitchFamily="2" charset="-122"/>
              </a:rPr>
              <a:t>k</a:t>
            </a:r>
            <a:endParaRPr lang="en-US" altLang="zh-CN" b="1" i="1" baseline="-25000" dirty="0">
              <a:ea typeface="宋体" panose="02010600030101010101" pitchFamily="2" charset="-122"/>
            </a:endParaRPr>
          </a:p>
          <a:p>
            <a:pPr algn="just" eaLnBrk="1" hangingPunct="1">
              <a:buNone/>
            </a:pPr>
            <a:r>
              <a:rPr lang="en-US" altLang="zh-CN" b="1" dirty="0">
                <a:ea typeface="宋体" panose="02010600030101010101" pitchFamily="2" charset="-122"/>
              </a:rPr>
              <a:t>1. </a:t>
            </a:r>
            <a:r>
              <a:rPr lang="zh-CN" altLang="en-US" b="1" dirty="0">
                <a:ea typeface="宋体" panose="02010600030101010101" pitchFamily="2" charset="-122"/>
              </a:rPr>
              <a:t>用</a:t>
            </a:r>
            <a:r>
              <a:rPr lang="en-US" altLang="zh-CN" b="1" dirty="0">
                <a:ea typeface="宋体" panose="02010600030101010101" pitchFamily="2" charset="-122"/>
              </a:rPr>
              <a:t>SFS</a:t>
            </a:r>
            <a:r>
              <a:rPr lang="zh-CN" altLang="en-US" b="1" dirty="0">
                <a:ea typeface="宋体" panose="02010600030101010101" pitchFamily="2" charset="-122"/>
              </a:rPr>
              <a:t>法在未入选特征组</a:t>
            </a:r>
            <a:r>
              <a:rPr lang="en-US" altLang="zh-CN" b="1" dirty="0">
                <a:ea typeface="宋体" panose="02010600030101010101" pitchFamily="2" charset="-122"/>
              </a:rPr>
              <a:t>X</a:t>
            </a:r>
            <a:r>
              <a:rPr lang="en-US" altLang="zh-CN" sz="2000" b="1" dirty="0">
                <a:ea typeface="宋体" panose="02010600030101010101" pitchFamily="2" charset="-122"/>
              </a:rPr>
              <a:t>D</a:t>
            </a:r>
            <a:r>
              <a:rPr lang="en-US" altLang="zh-CN" b="1" dirty="0">
                <a:ea typeface="宋体" panose="02010600030101010101" pitchFamily="2" charset="-122"/>
              </a:rPr>
              <a:t>-X</a:t>
            </a:r>
            <a:r>
              <a:rPr lang="en-US" altLang="zh-CN" sz="2800" b="1" i="1" dirty="0">
                <a:ea typeface="宋体" panose="02010600030101010101" pitchFamily="2" charset="-122"/>
              </a:rPr>
              <a:t>k</a:t>
            </a:r>
            <a:r>
              <a:rPr lang="zh-CN" altLang="en-US" sz="2800" b="1" dirty="0">
                <a:ea typeface="宋体" panose="02010600030101010101" pitchFamily="2" charset="-122"/>
              </a:rPr>
              <a:t>中逐个选入特征</a:t>
            </a:r>
            <a:r>
              <a:rPr lang="en-US" altLang="zh-CN" sz="2800" b="1" i="1" dirty="0">
                <a:ea typeface="宋体" panose="02010600030101010101" pitchFamily="2" charset="-122"/>
              </a:rPr>
              <a:t>l</a:t>
            </a:r>
            <a:r>
              <a:rPr lang="zh-CN" altLang="en-US" sz="2800" b="1" dirty="0">
                <a:ea typeface="宋体" panose="02010600030101010101" pitchFamily="2" charset="-122"/>
              </a:rPr>
              <a:t>个，形成新特征组</a:t>
            </a:r>
            <a:r>
              <a:rPr lang="en-US" altLang="zh-CN" sz="2800" b="1" dirty="0">
                <a:ea typeface="宋体" panose="02010600030101010101" pitchFamily="2" charset="-122"/>
              </a:rPr>
              <a:t>X</a:t>
            </a:r>
            <a:r>
              <a:rPr lang="en-US" altLang="zh-CN" sz="2000" b="1" i="1" dirty="0">
                <a:ea typeface="宋体" panose="02010600030101010101" pitchFamily="2" charset="-122"/>
              </a:rPr>
              <a:t>k+l</a:t>
            </a:r>
            <a:r>
              <a:rPr lang="zh-CN" altLang="en-US" sz="2000" b="1" i="1" dirty="0">
                <a:ea typeface="宋体" panose="02010600030101010101" pitchFamily="2" charset="-122"/>
              </a:rPr>
              <a:t>，</a:t>
            </a:r>
            <a:r>
              <a:rPr lang="zh-CN" altLang="en-US" sz="2800" b="1" dirty="0">
                <a:ea typeface="宋体" panose="02010600030101010101" pitchFamily="2" charset="-122"/>
              </a:rPr>
              <a:t>置</a:t>
            </a:r>
            <a:r>
              <a:rPr lang="en-US" altLang="zh-CN" sz="2800" b="1" i="1" dirty="0">
                <a:ea typeface="宋体" panose="02010600030101010101" pitchFamily="2" charset="-122"/>
              </a:rPr>
              <a:t>k=k+l</a:t>
            </a:r>
            <a:r>
              <a:rPr lang="en-US" altLang="zh-CN" sz="2800" b="1" dirty="0">
                <a:ea typeface="宋体" panose="02010600030101010101" pitchFamily="2" charset="-122"/>
              </a:rPr>
              <a:t>,</a:t>
            </a:r>
            <a:r>
              <a:rPr lang="en-US" altLang="zh-CN" sz="2000" b="1" i="1" dirty="0">
                <a:ea typeface="宋体" panose="02010600030101010101" pitchFamily="2" charset="-122"/>
              </a:rPr>
              <a:t> </a:t>
            </a:r>
            <a:r>
              <a:rPr lang="en-US" altLang="zh-CN" sz="2800" b="1" dirty="0">
                <a:ea typeface="宋体" panose="02010600030101010101" pitchFamily="2" charset="-122"/>
              </a:rPr>
              <a:t>X</a:t>
            </a:r>
            <a:r>
              <a:rPr lang="en-US" altLang="zh-CN" sz="2000" b="1" i="1" dirty="0">
                <a:ea typeface="宋体" panose="02010600030101010101" pitchFamily="2" charset="-122"/>
              </a:rPr>
              <a:t>k</a:t>
            </a:r>
            <a:r>
              <a:rPr lang="en-US" altLang="zh-CN" sz="2800" b="1" i="1" dirty="0">
                <a:ea typeface="宋体" panose="02010600030101010101" pitchFamily="2" charset="-122"/>
              </a:rPr>
              <a:t>=</a:t>
            </a:r>
            <a:r>
              <a:rPr lang="en-US" altLang="zh-CN" sz="2800" b="1" dirty="0">
                <a:ea typeface="宋体" panose="02010600030101010101" pitchFamily="2" charset="-122"/>
              </a:rPr>
              <a:t>X</a:t>
            </a:r>
            <a:r>
              <a:rPr lang="en-US" altLang="zh-CN" sz="2000" b="1" i="1" dirty="0">
                <a:ea typeface="宋体" panose="02010600030101010101" pitchFamily="2" charset="-122"/>
              </a:rPr>
              <a:t>k+l</a:t>
            </a:r>
            <a:endParaRPr lang="en-US" altLang="zh-CN" sz="2000" b="1" dirty="0">
              <a:ea typeface="宋体" panose="02010600030101010101" pitchFamily="2" charset="-122"/>
            </a:endParaRPr>
          </a:p>
          <a:p>
            <a:pPr algn="just" eaLnBrk="1" hangingPunct="1">
              <a:buNone/>
            </a:pPr>
            <a:r>
              <a:rPr lang="en-US" altLang="zh-CN" b="1" dirty="0">
                <a:ea typeface="宋体" panose="02010600030101010101" pitchFamily="2" charset="-122"/>
              </a:rPr>
              <a:t>2. </a:t>
            </a:r>
            <a:r>
              <a:rPr lang="zh-CN" altLang="en-US" b="1" dirty="0">
                <a:ea typeface="宋体" panose="02010600030101010101" pitchFamily="2" charset="-122"/>
              </a:rPr>
              <a:t>用</a:t>
            </a:r>
            <a:r>
              <a:rPr lang="en-US" altLang="zh-CN" b="1" dirty="0">
                <a:ea typeface="宋体" panose="02010600030101010101" pitchFamily="2" charset="-122"/>
              </a:rPr>
              <a:t>SBS</a:t>
            </a:r>
            <a:r>
              <a:rPr lang="zh-CN" altLang="en-US" b="1" dirty="0">
                <a:ea typeface="宋体" panose="02010600030101010101" pitchFamily="2" charset="-122"/>
              </a:rPr>
              <a:t>法从</a:t>
            </a:r>
            <a:r>
              <a:rPr lang="en-US" altLang="zh-CN" sz="2800" b="1" dirty="0">
                <a:ea typeface="宋体" panose="02010600030101010101" pitchFamily="2" charset="-122"/>
              </a:rPr>
              <a:t>X</a:t>
            </a:r>
            <a:r>
              <a:rPr lang="en-US" altLang="zh-CN" sz="2000" b="1" i="1" dirty="0">
                <a:ea typeface="宋体" panose="02010600030101010101" pitchFamily="2" charset="-122"/>
              </a:rPr>
              <a:t>k</a:t>
            </a:r>
            <a:r>
              <a:rPr lang="zh-CN" altLang="en-US" b="1" dirty="0">
                <a:ea typeface="宋体" panose="02010600030101010101" pitchFamily="2" charset="-122"/>
              </a:rPr>
              <a:t>中逐个剔除</a:t>
            </a:r>
            <a:r>
              <a:rPr lang="en-US" altLang="zh-CN" b="1" dirty="0">
                <a:ea typeface="宋体" panose="02010600030101010101" pitchFamily="2" charset="-122"/>
              </a:rPr>
              <a:t>r</a:t>
            </a:r>
            <a:r>
              <a:rPr lang="zh-CN" altLang="en-US" b="1" dirty="0">
                <a:ea typeface="宋体" panose="02010600030101010101" pitchFamily="2" charset="-122"/>
              </a:rPr>
              <a:t>个最差的特征，形成新特征组</a:t>
            </a:r>
            <a:r>
              <a:rPr lang="en-US" altLang="zh-CN" sz="2800" b="1" dirty="0">
                <a:ea typeface="宋体" panose="02010600030101010101" pitchFamily="2" charset="-122"/>
              </a:rPr>
              <a:t>X</a:t>
            </a:r>
            <a:r>
              <a:rPr lang="en-US" altLang="zh-CN" sz="2000" b="1" i="1" dirty="0">
                <a:ea typeface="宋体" panose="02010600030101010101" pitchFamily="2" charset="-122"/>
              </a:rPr>
              <a:t>k-r</a:t>
            </a:r>
            <a:r>
              <a:rPr lang="zh-CN" altLang="en-US" sz="2000" b="1" i="1" dirty="0">
                <a:ea typeface="宋体" panose="02010600030101010101" pitchFamily="2" charset="-122"/>
              </a:rPr>
              <a:t>，</a:t>
            </a:r>
            <a:r>
              <a:rPr lang="zh-CN" altLang="en-US" sz="2800" b="1" dirty="0">
                <a:ea typeface="宋体" panose="02010600030101010101" pitchFamily="2" charset="-122"/>
              </a:rPr>
              <a:t>置</a:t>
            </a:r>
            <a:r>
              <a:rPr lang="en-US" altLang="zh-CN" sz="2800" b="1" i="1" dirty="0">
                <a:ea typeface="宋体" panose="02010600030101010101" pitchFamily="2" charset="-122"/>
              </a:rPr>
              <a:t>k=k-r</a:t>
            </a:r>
            <a:r>
              <a:rPr lang="en-US" altLang="zh-CN" sz="2800" b="1" dirty="0">
                <a:ea typeface="宋体" panose="02010600030101010101" pitchFamily="2" charset="-122"/>
              </a:rPr>
              <a:t>,</a:t>
            </a:r>
            <a:r>
              <a:rPr lang="en-US" altLang="zh-CN" sz="2000" b="1" i="1" dirty="0">
                <a:ea typeface="宋体" panose="02010600030101010101" pitchFamily="2" charset="-122"/>
              </a:rPr>
              <a:t> </a:t>
            </a:r>
            <a:r>
              <a:rPr lang="zh-CN" altLang="en-US" b="1" dirty="0">
                <a:ea typeface="宋体" panose="02010600030101010101" pitchFamily="2" charset="-122"/>
              </a:rPr>
              <a:t>若</a:t>
            </a:r>
            <a:r>
              <a:rPr lang="en-US" altLang="zh-CN" b="1" dirty="0">
                <a:ea typeface="宋体" panose="02010600030101010101" pitchFamily="2" charset="-122"/>
              </a:rPr>
              <a:t>k=d</a:t>
            </a:r>
            <a:r>
              <a:rPr lang="zh-CN" altLang="en-US" b="1" dirty="0">
                <a:ea typeface="宋体" panose="02010600030101010101" pitchFamily="2" charset="-122"/>
              </a:rPr>
              <a:t>则终止算法，否则，置</a:t>
            </a:r>
            <a:r>
              <a:rPr lang="en-US" altLang="zh-CN" sz="2800" b="1" dirty="0">
                <a:ea typeface="宋体" panose="02010600030101010101" pitchFamily="2" charset="-122"/>
              </a:rPr>
              <a:t>X</a:t>
            </a:r>
            <a:r>
              <a:rPr lang="en-US" altLang="zh-CN" sz="2000" b="1" i="1" dirty="0">
                <a:ea typeface="宋体" panose="02010600030101010101" pitchFamily="2" charset="-122"/>
              </a:rPr>
              <a:t>k</a:t>
            </a:r>
            <a:r>
              <a:rPr lang="en-US" altLang="zh-CN" sz="2800" b="1" i="1" dirty="0">
                <a:ea typeface="宋体" panose="02010600030101010101" pitchFamily="2" charset="-122"/>
              </a:rPr>
              <a:t>=</a:t>
            </a:r>
            <a:r>
              <a:rPr lang="en-US" altLang="zh-CN" sz="2800" b="1" dirty="0">
                <a:ea typeface="宋体" panose="02010600030101010101" pitchFamily="2" charset="-122"/>
              </a:rPr>
              <a:t>X</a:t>
            </a:r>
            <a:r>
              <a:rPr lang="en-US" altLang="zh-CN" sz="2000" b="1" i="1" dirty="0">
                <a:ea typeface="宋体" panose="02010600030101010101" pitchFamily="2" charset="-122"/>
              </a:rPr>
              <a:t>k-r,</a:t>
            </a:r>
            <a:r>
              <a:rPr lang="zh-CN" altLang="en-US" b="1" dirty="0">
                <a:ea typeface="宋体" panose="02010600030101010101" pitchFamily="2" charset="-122"/>
              </a:rPr>
              <a:t>转向第一步。</a:t>
            </a:r>
            <a:endParaRPr lang="zh-CN" altLang="en-US" b="1" dirty="0">
              <a:ea typeface="宋体" panose="02010600030101010101" pitchFamily="2" charset="-122"/>
            </a:endParaRPr>
          </a:p>
        </p:txBody>
      </p:sp>
      <p:sp>
        <p:nvSpPr>
          <p:cNvPr id="56324" name="Rectangle 2"/>
          <p:cNvSpPr txBox="1"/>
          <p:nvPr/>
        </p:nvSpPr>
        <p:spPr>
          <a:xfrm>
            <a:off x="3276600" y="911225"/>
            <a:ext cx="7793038"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5.</a:t>
            </a:r>
            <a:r>
              <a:rPr lang="zh-CN" altLang="en-US" sz="2800" b="1" dirty="0">
                <a:solidFill>
                  <a:srgbClr val="0033CC"/>
                </a:solidFill>
                <a:latin typeface="宋体" panose="02010600030101010101" pitchFamily="2" charset="-122"/>
                <a:ea typeface="宋体" panose="02010600030101010101" pitchFamily="2" charset="-122"/>
              </a:rPr>
              <a:t>增</a:t>
            </a:r>
            <a:r>
              <a:rPr lang="en-US" altLang="zh-CN" sz="2800" b="1" dirty="0">
                <a:solidFill>
                  <a:srgbClr val="0033CC"/>
                </a:solidFill>
                <a:latin typeface="宋体" panose="02010600030101010101" pitchFamily="2" charset="-122"/>
                <a:ea typeface="宋体" panose="02010600030101010101" pitchFamily="2" charset="-122"/>
              </a:rPr>
              <a:t>l</a:t>
            </a:r>
            <a:r>
              <a:rPr lang="zh-CN" altLang="en-US" sz="2800" b="1" dirty="0">
                <a:solidFill>
                  <a:srgbClr val="0033CC"/>
                </a:solidFill>
                <a:latin typeface="宋体" panose="02010600030101010101" pitchFamily="2" charset="-122"/>
                <a:ea typeface="宋体" panose="02010600030101010101" pitchFamily="2" charset="-122"/>
              </a:rPr>
              <a:t>减</a:t>
            </a:r>
            <a:r>
              <a:rPr lang="en-US" altLang="zh-CN" sz="2800" b="1" dirty="0">
                <a:solidFill>
                  <a:srgbClr val="0033CC"/>
                </a:solidFill>
                <a:latin typeface="宋体" panose="02010600030101010101" pitchFamily="2" charset="-122"/>
                <a:ea typeface="宋体" panose="02010600030101010101" pitchFamily="2" charset="-122"/>
              </a:rPr>
              <a:t>r</a:t>
            </a:r>
            <a:r>
              <a:rPr lang="zh-CN" altLang="en-US" sz="2800" b="1" dirty="0">
                <a:solidFill>
                  <a:srgbClr val="0033CC"/>
                </a:solidFill>
                <a:latin typeface="宋体" panose="02010600030101010101" pitchFamily="2" charset="-122"/>
                <a:ea typeface="宋体" panose="02010600030101010101" pitchFamily="2" charset="-122"/>
              </a:rPr>
              <a:t>法（</a:t>
            </a:r>
            <a:r>
              <a:rPr lang="en-US" altLang="zh-CN" sz="2800" b="1" dirty="0">
                <a:solidFill>
                  <a:srgbClr val="0033CC"/>
                </a:solidFill>
                <a:latin typeface="宋体" panose="02010600030101010101" pitchFamily="2" charset="-122"/>
                <a:ea typeface="宋体" panose="02010600030101010101" pitchFamily="2" charset="-122"/>
              </a:rPr>
              <a:t>l-r</a:t>
            </a:r>
            <a:r>
              <a:rPr lang="zh-CN" altLang="en-US" sz="2800" b="1" dirty="0">
                <a:solidFill>
                  <a:srgbClr val="0033CC"/>
                </a:solidFill>
                <a:latin typeface="宋体" panose="02010600030101010101" pitchFamily="2" charset="-122"/>
                <a:ea typeface="宋体" panose="02010600030101010101" pitchFamily="2" charset="-122"/>
              </a:rPr>
              <a:t>）</a:t>
            </a:r>
            <a:endParaRPr lang="zh-CN" altLang="en-US" sz="2800" b="1" dirty="0">
              <a:solidFill>
                <a:srgbClr val="0033CC"/>
              </a:solidFill>
              <a:latin typeface="宋体" panose="02010600030101010101" pitchFamily="2" charset="-122"/>
              <a:ea typeface="宋体" panose="02010600030101010101" pitchFamily="2" charset="-122"/>
            </a:endParaRPr>
          </a:p>
        </p:txBody>
      </p:sp>
      <p:sp>
        <p:nvSpPr>
          <p:cNvPr id="56325"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灯片编号占位符 5"/>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7347" name="Rectangle 3"/>
          <p:cNvSpPr>
            <a:spLocks noGrp="1"/>
          </p:cNvSpPr>
          <p:nvPr>
            <p:ph idx="1"/>
          </p:nvPr>
        </p:nvSpPr>
        <p:spPr>
          <a:xfrm>
            <a:off x="827088" y="1773238"/>
            <a:ext cx="7772400" cy="4608512"/>
          </a:xfrm>
        </p:spPr>
        <p:txBody>
          <a:bodyPr vert="horz" wrap="square" lIns="91440" tIns="45720" rIns="91440" bIns="45720" anchor="t" anchorCtr="0"/>
          <a:p>
            <a:pPr eaLnBrk="1" hangingPunct="1"/>
            <a:r>
              <a:rPr lang="zh-CN" altLang="en-US" b="1" dirty="0">
                <a:ea typeface="宋体" panose="02010600030101010101" pitchFamily="2" charset="-122"/>
              </a:rPr>
              <a:t>说明：当</a:t>
            </a:r>
            <a:r>
              <a:rPr lang="en-US" altLang="zh-CN" b="1" i="1" dirty="0">
                <a:ea typeface="宋体" panose="02010600030101010101" pitchFamily="2" charset="-122"/>
              </a:rPr>
              <a:t>l&gt;r</a:t>
            </a:r>
            <a:r>
              <a:rPr lang="zh-CN" altLang="en-US" b="1" dirty="0">
                <a:ea typeface="宋体" panose="02010600030101010101" pitchFamily="2" charset="-122"/>
              </a:rPr>
              <a:t>时，</a:t>
            </a:r>
            <a:r>
              <a:rPr lang="en-US" altLang="zh-CN" b="1" i="1" dirty="0">
                <a:ea typeface="宋体" panose="02010600030101010101" pitchFamily="2" charset="-122"/>
              </a:rPr>
              <a:t>l-r</a:t>
            </a:r>
            <a:r>
              <a:rPr lang="zh-CN" altLang="en-US" b="1" dirty="0">
                <a:ea typeface="宋体" panose="02010600030101010101" pitchFamily="2" charset="-122"/>
              </a:rPr>
              <a:t>法是自下而上的算法，先执行第一步，然后执行第二步，起始时应置</a:t>
            </a:r>
            <a:r>
              <a:rPr lang="en-US" altLang="zh-CN" b="1" i="1" dirty="0">
                <a:ea typeface="宋体" panose="02010600030101010101" pitchFamily="2" charset="-122"/>
              </a:rPr>
              <a:t>k</a:t>
            </a:r>
            <a:r>
              <a:rPr lang="en-US" altLang="zh-CN" b="1" dirty="0">
                <a:ea typeface="宋体" panose="02010600030101010101" pitchFamily="2" charset="-122"/>
              </a:rPr>
              <a:t>=0,X</a:t>
            </a:r>
            <a:r>
              <a:rPr lang="en-US" altLang="zh-CN" sz="2000" b="1" dirty="0">
                <a:ea typeface="宋体" panose="02010600030101010101" pitchFamily="2" charset="-122"/>
              </a:rPr>
              <a:t>0</a:t>
            </a:r>
            <a:r>
              <a:rPr lang="zh-CN" altLang="en-US" b="1" dirty="0">
                <a:ea typeface="宋体" panose="02010600030101010101" pitchFamily="2" charset="-122"/>
              </a:rPr>
              <a:t>从空开始。</a:t>
            </a:r>
            <a:endParaRPr lang="zh-CN" altLang="en-US" b="1" dirty="0">
              <a:ea typeface="宋体" panose="02010600030101010101" pitchFamily="2" charset="-122"/>
            </a:endParaRPr>
          </a:p>
          <a:p>
            <a:pPr eaLnBrk="1" hangingPunct="1"/>
            <a:r>
              <a:rPr lang="zh-CN" altLang="en-US" b="1" dirty="0">
                <a:ea typeface="宋体" panose="02010600030101010101" pitchFamily="2" charset="-122"/>
              </a:rPr>
              <a:t>当</a:t>
            </a:r>
            <a:r>
              <a:rPr lang="en-US" altLang="zh-CN" b="1" i="1" dirty="0">
                <a:ea typeface="宋体" panose="02010600030101010101" pitchFamily="2" charset="-122"/>
              </a:rPr>
              <a:t>l&lt;r</a:t>
            </a:r>
            <a:r>
              <a:rPr lang="zh-CN" altLang="en-US" b="1" dirty="0">
                <a:ea typeface="宋体" panose="02010600030101010101" pitchFamily="2" charset="-122"/>
              </a:rPr>
              <a:t>时，</a:t>
            </a:r>
            <a:r>
              <a:rPr lang="en-US" altLang="zh-CN" b="1" i="1" dirty="0">
                <a:ea typeface="宋体" panose="02010600030101010101" pitchFamily="2" charset="-122"/>
              </a:rPr>
              <a:t>l-r</a:t>
            </a:r>
            <a:r>
              <a:rPr lang="zh-CN" altLang="en-US" b="1" dirty="0">
                <a:ea typeface="宋体" panose="02010600030101010101" pitchFamily="2" charset="-122"/>
              </a:rPr>
              <a:t>法是自上而下的算法，先执行第二步，然后执行第一步，起始时应置</a:t>
            </a:r>
            <a:r>
              <a:rPr lang="en-US" altLang="zh-CN" b="1" i="1" dirty="0">
                <a:ea typeface="宋体" panose="02010600030101010101" pitchFamily="2" charset="-122"/>
              </a:rPr>
              <a:t>k</a:t>
            </a:r>
            <a:r>
              <a:rPr lang="en-US" altLang="zh-CN" b="1" dirty="0">
                <a:ea typeface="宋体" panose="02010600030101010101" pitchFamily="2" charset="-122"/>
              </a:rPr>
              <a:t>=D,X</a:t>
            </a:r>
            <a:r>
              <a:rPr lang="en-US" altLang="zh-CN" sz="2000" b="1" dirty="0">
                <a:ea typeface="宋体" panose="02010600030101010101" pitchFamily="2" charset="-122"/>
              </a:rPr>
              <a:t>0</a:t>
            </a:r>
            <a:r>
              <a:rPr lang="zh-CN" altLang="en-US" b="1" dirty="0">
                <a:ea typeface="宋体" panose="02010600030101010101" pitchFamily="2" charset="-122"/>
              </a:rPr>
              <a:t>从全部特征开始。</a:t>
            </a:r>
            <a:endParaRPr lang="zh-CN" altLang="en-US" b="1" dirty="0">
              <a:ea typeface="宋体" panose="02010600030101010101" pitchFamily="2" charset="-122"/>
            </a:endParaRPr>
          </a:p>
          <a:p>
            <a:pPr eaLnBrk="1" hangingPunct="1"/>
            <a:r>
              <a:rPr lang="zh-CN" altLang="en-US" b="1" dirty="0">
                <a:ea typeface="宋体" panose="02010600030101010101" pitchFamily="2" charset="-122"/>
              </a:rPr>
              <a:t>推广：</a:t>
            </a:r>
            <a:r>
              <a:rPr lang="en-US" altLang="zh-CN" b="1" dirty="0">
                <a:solidFill>
                  <a:srgbClr val="0066FF"/>
                </a:solidFill>
                <a:ea typeface="宋体" panose="02010600030101010101" pitchFamily="2" charset="-122"/>
              </a:rPr>
              <a:t>6. </a:t>
            </a:r>
            <a:r>
              <a:rPr lang="zh-CN" altLang="en-US" b="1" dirty="0">
                <a:ea typeface="宋体" panose="02010600030101010101" pitchFamily="2" charset="-122"/>
              </a:rPr>
              <a:t>广义</a:t>
            </a:r>
            <a:r>
              <a:rPr lang="en-US" altLang="zh-CN" b="1" i="1" dirty="0">
                <a:ea typeface="宋体" panose="02010600030101010101" pitchFamily="2" charset="-122"/>
              </a:rPr>
              <a:t>l-r</a:t>
            </a:r>
            <a:r>
              <a:rPr lang="zh-CN" altLang="en-US" b="1" dirty="0">
                <a:ea typeface="宋体" panose="02010600030101010101" pitchFamily="2" charset="-122"/>
              </a:rPr>
              <a:t>法，上述方法是逐个增加和逐个删除的</a:t>
            </a:r>
            <a:endParaRPr lang="zh-CN" altLang="en-US" b="1" dirty="0">
              <a:ea typeface="宋体" panose="02010600030101010101" pitchFamily="2" charset="-122"/>
            </a:endParaRPr>
          </a:p>
        </p:txBody>
      </p:sp>
      <p:sp>
        <p:nvSpPr>
          <p:cNvPr id="57348" name="Rectangle 2"/>
          <p:cNvSpPr txBox="1"/>
          <p:nvPr/>
        </p:nvSpPr>
        <p:spPr>
          <a:xfrm>
            <a:off x="3414713" y="971550"/>
            <a:ext cx="7791450"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5.</a:t>
            </a:r>
            <a:r>
              <a:rPr lang="zh-CN" altLang="en-US" sz="2800" b="1" dirty="0">
                <a:solidFill>
                  <a:srgbClr val="0033CC"/>
                </a:solidFill>
                <a:latin typeface="宋体" panose="02010600030101010101" pitchFamily="2" charset="-122"/>
                <a:ea typeface="宋体" panose="02010600030101010101" pitchFamily="2" charset="-122"/>
              </a:rPr>
              <a:t>增</a:t>
            </a:r>
            <a:r>
              <a:rPr lang="en-US" altLang="zh-CN" sz="2800" b="1" dirty="0">
                <a:solidFill>
                  <a:srgbClr val="0033CC"/>
                </a:solidFill>
                <a:latin typeface="宋体" panose="02010600030101010101" pitchFamily="2" charset="-122"/>
                <a:ea typeface="宋体" panose="02010600030101010101" pitchFamily="2" charset="-122"/>
              </a:rPr>
              <a:t>l</a:t>
            </a:r>
            <a:r>
              <a:rPr lang="zh-CN" altLang="en-US" sz="2800" b="1" dirty="0">
                <a:solidFill>
                  <a:srgbClr val="0033CC"/>
                </a:solidFill>
                <a:latin typeface="宋体" panose="02010600030101010101" pitchFamily="2" charset="-122"/>
                <a:ea typeface="宋体" panose="02010600030101010101" pitchFamily="2" charset="-122"/>
              </a:rPr>
              <a:t>减</a:t>
            </a:r>
            <a:r>
              <a:rPr lang="en-US" altLang="zh-CN" sz="2800" b="1" dirty="0">
                <a:solidFill>
                  <a:srgbClr val="0033CC"/>
                </a:solidFill>
                <a:latin typeface="宋体" panose="02010600030101010101" pitchFamily="2" charset="-122"/>
                <a:ea typeface="宋体" panose="02010600030101010101" pitchFamily="2" charset="-122"/>
              </a:rPr>
              <a:t>r</a:t>
            </a:r>
            <a:r>
              <a:rPr lang="zh-CN" altLang="en-US" sz="2800" b="1" dirty="0">
                <a:solidFill>
                  <a:srgbClr val="0033CC"/>
                </a:solidFill>
                <a:latin typeface="宋体" panose="02010600030101010101" pitchFamily="2" charset="-122"/>
                <a:ea typeface="宋体" panose="02010600030101010101" pitchFamily="2" charset="-122"/>
              </a:rPr>
              <a:t>法（</a:t>
            </a:r>
            <a:r>
              <a:rPr lang="en-US" altLang="zh-CN" sz="2800" b="1" dirty="0">
                <a:solidFill>
                  <a:srgbClr val="0033CC"/>
                </a:solidFill>
                <a:latin typeface="宋体" panose="02010600030101010101" pitchFamily="2" charset="-122"/>
                <a:ea typeface="宋体" panose="02010600030101010101" pitchFamily="2" charset="-122"/>
              </a:rPr>
              <a:t>l-r</a:t>
            </a:r>
            <a:r>
              <a:rPr lang="zh-CN" altLang="en-US" sz="2800" b="1" dirty="0">
                <a:solidFill>
                  <a:srgbClr val="0033CC"/>
                </a:solidFill>
                <a:latin typeface="宋体" panose="02010600030101010101" pitchFamily="2" charset="-122"/>
                <a:ea typeface="宋体" panose="02010600030101010101" pitchFamily="2" charset="-122"/>
              </a:rPr>
              <a:t>）</a:t>
            </a:r>
            <a:endParaRPr lang="zh-CN" altLang="en-US" sz="2800" b="1" dirty="0">
              <a:solidFill>
                <a:srgbClr val="0033CC"/>
              </a:solidFill>
              <a:latin typeface="宋体" panose="02010600030101010101" pitchFamily="2" charset="-122"/>
              <a:ea typeface="宋体" panose="02010600030101010101" pitchFamily="2" charset="-122"/>
            </a:endParaRPr>
          </a:p>
        </p:txBody>
      </p:sp>
      <p:sp>
        <p:nvSpPr>
          <p:cNvPr id="57349"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370" name="Picture 5"/>
          <p:cNvPicPr>
            <a:picLocks noChangeAspect="1"/>
          </p:cNvPicPr>
          <p:nvPr/>
        </p:nvPicPr>
        <p:blipFill>
          <a:blip r:embed="rId1"/>
          <a:stretch>
            <a:fillRect/>
          </a:stretch>
        </p:blipFill>
        <p:spPr>
          <a:xfrm>
            <a:off x="1476375" y="1700213"/>
            <a:ext cx="6323013" cy="1152525"/>
          </a:xfrm>
          <a:prstGeom prst="rect">
            <a:avLst/>
          </a:prstGeom>
          <a:noFill/>
          <a:ln w="9525">
            <a:noFill/>
          </a:ln>
        </p:spPr>
      </p:pic>
      <p:sp>
        <p:nvSpPr>
          <p:cNvPr id="58371" name="文本框 6"/>
          <p:cNvSpPr txBox="1"/>
          <p:nvPr/>
        </p:nvSpPr>
        <p:spPr>
          <a:xfrm>
            <a:off x="1403350" y="3213100"/>
            <a:ext cx="6553200" cy="25368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285750" lvl="0" indent="-285750">
              <a:lnSpc>
                <a:spcPct val="150000"/>
              </a:lnSpc>
              <a:spcBef>
                <a:spcPct val="0"/>
              </a:spcBef>
              <a:buClrTx/>
              <a:buSzTx/>
              <a:buFont typeface="Wingdings" panose="05000000000000000000" pitchFamily="2" charset="2"/>
              <a:buChar char="p"/>
            </a:pPr>
            <a:r>
              <a:rPr lang="zh-CN" altLang="en-US" sz="1800" b="1" dirty="0">
                <a:solidFill>
                  <a:srgbClr val="333333"/>
                </a:solidFill>
                <a:latin typeface="微软雅黑" panose="020B0503020204020204" pitchFamily="34" charset="-122"/>
                <a:ea typeface="微软雅黑" panose="020B0503020204020204" pitchFamily="34" charset="-122"/>
              </a:rPr>
              <a:t>无关特征</a:t>
            </a:r>
            <a:r>
              <a:rPr lang="zh-CN" altLang="en-US" sz="1800" dirty="0">
                <a:solidFill>
                  <a:srgbClr val="333333"/>
                </a:solidFill>
                <a:latin typeface="微软雅黑" panose="020B0503020204020204" pitchFamily="34" charset="-122"/>
                <a:ea typeface="微软雅黑" panose="020B0503020204020204" pitchFamily="34" charset="-122"/>
              </a:rPr>
              <a:t>：指与当前学习任务无关的特征（该特征所提供的信息对于当前学习任务无用），如对于学生成绩而言，学号则是无关特征。</a:t>
            </a:r>
            <a:endParaRPr lang="en-US" altLang="zh-CN" sz="1800" dirty="0">
              <a:solidFill>
                <a:srgbClr val="333333"/>
              </a:solidFill>
              <a:latin typeface="微软雅黑" panose="020B0503020204020204" pitchFamily="34" charset="-122"/>
              <a:ea typeface="微软雅黑" panose="020B0503020204020204" pitchFamily="34" charset="-122"/>
            </a:endParaRPr>
          </a:p>
          <a:p>
            <a:pPr marL="285750" lvl="0" indent="-285750">
              <a:lnSpc>
                <a:spcPct val="150000"/>
              </a:lnSpc>
              <a:spcBef>
                <a:spcPct val="0"/>
              </a:spcBef>
              <a:buClrTx/>
              <a:buSzTx/>
              <a:buFont typeface="Wingdings" panose="05000000000000000000" pitchFamily="2" charset="2"/>
              <a:buChar char="p"/>
            </a:pPr>
            <a:r>
              <a:rPr lang="zh-CN" altLang="en-US" sz="1800" b="1" dirty="0">
                <a:solidFill>
                  <a:srgbClr val="333333"/>
                </a:solidFill>
                <a:latin typeface="微软雅黑" panose="020B0503020204020204" pitchFamily="34" charset="-122"/>
                <a:ea typeface="微软雅黑" panose="020B0503020204020204" pitchFamily="34" charset="-122"/>
              </a:rPr>
              <a:t>冗余特征：</a:t>
            </a:r>
            <a:r>
              <a:rPr lang="zh-CN" altLang="en-US" sz="1800" dirty="0">
                <a:solidFill>
                  <a:srgbClr val="333333"/>
                </a:solidFill>
                <a:latin typeface="微软雅黑" panose="020B0503020204020204" pitchFamily="34" charset="-122"/>
                <a:ea typeface="微软雅黑" panose="020B0503020204020204" pitchFamily="34" charset="-122"/>
              </a:rPr>
              <a:t>指该特征所包含的信息能从其他特征推演出来，如对于“面积”这个特征而言，能从“长”和“宽”得出，则面积是冗余特征。</a:t>
            </a:r>
            <a:endParaRPr lang="zh-CN" altLang="en-US" sz="1800" dirty="0">
              <a:latin typeface="微软雅黑" panose="020B0503020204020204" pitchFamily="34" charset="-122"/>
              <a:ea typeface="微软雅黑" panose="020B0503020204020204" pitchFamily="34" charset="-122"/>
            </a:endParaRPr>
          </a:p>
        </p:txBody>
      </p:sp>
      <p:sp>
        <p:nvSpPr>
          <p:cNvPr id="58372"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特征选择总结</a:t>
            </a:r>
            <a:endParaRPr lang="zh-CN" altLang="en-US" sz="3600" b="1" dirty="0">
              <a:solidFill>
                <a:srgbClr val="0033CC"/>
              </a:solidFill>
              <a:ea typeface="宋体" panose="02010600030101010101" pitchFamily="2" charset="-122"/>
            </a:endParaRPr>
          </a:p>
        </p:txBody>
      </p:sp>
      <p:sp>
        <p:nvSpPr>
          <p:cNvPr id="58373" name="文本框 5"/>
          <p:cNvSpPr txBox="1"/>
          <p:nvPr/>
        </p:nvSpPr>
        <p:spPr>
          <a:xfrm>
            <a:off x="388938" y="6097588"/>
            <a:ext cx="8497887"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1800" b="1" dirty="0">
                <a:latin typeface="微软雅黑" panose="020B0503020204020204" pitchFamily="34" charset="-122"/>
                <a:ea typeface="微软雅黑" panose="020B0503020204020204" pitchFamily="34" charset="-122"/>
              </a:rPr>
              <a:t>工业界：数据和特征决定了机器学习的上限，而模型和算法只是逼近这个上限而已</a:t>
            </a:r>
            <a:endParaRPr lang="zh-CN" altLang="en-US" sz="1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9394" name="图片 4"/>
          <p:cNvPicPr>
            <a:picLocks noChangeAspect="1"/>
          </p:cNvPicPr>
          <p:nvPr/>
        </p:nvPicPr>
        <p:blipFill>
          <a:blip r:embed="rId1"/>
          <a:stretch>
            <a:fillRect/>
          </a:stretch>
        </p:blipFill>
        <p:spPr>
          <a:xfrm>
            <a:off x="539750" y="1125538"/>
            <a:ext cx="8245475" cy="5111750"/>
          </a:xfrm>
          <a:prstGeom prst="rect">
            <a:avLst/>
          </a:prstGeom>
          <a:noFill/>
          <a:ln w="9525">
            <a:noFill/>
          </a:ln>
        </p:spPr>
      </p:pic>
      <p:sp>
        <p:nvSpPr>
          <p:cNvPr id="59395"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特征选择总结</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文本框 5"/>
          <p:cNvSpPr txBox="1"/>
          <p:nvPr/>
        </p:nvSpPr>
        <p:spPr>
          <a:xfrm>
            <a:off x="179388" y="1341438"/>
            <a:ext cx="8640762"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1800" dirty="0">
                <a:solidFill>
                  <a:srgbClr val="333333"/>
                </a:solidFill>
                <a:latin typeface="PingFang SC"/>
                <a:ea typeface="宋体" panose="02010600030101010101" pitchFamily="2" charset="-122"/>
              </a:rPr>
              <a:t>主要分为五类：距离度量（</a:t>
            </a:r>
            <a:r>
              <a:rPr lang="en-US" altLang="zh-CN" sz="1800" dirty="0">
                <a:solidFill>
                  <a:srgbClr val="333333"/>
                </a:solidFill>
                <a:latin typeface="PingFang SC"/>
                <a:ea typeface="宋体" panose="02010600030101010101" pitchFamily="2" charset="-122"/>
              </a:rPr>
              <a:t>Distance Measure</a:t>
            </a:r>
            <a:r>
              <a:rPr lang="zh-CN" altLang="en-US" sz="1800" dirty="0">
                <a:solidFill>
                  <a:srgbClr val="333333"/>
                </a:solidFill>
                <a:latin typeface="PingFang SC"/>
                <a:ea typeface="宋体" panose="02010600030101010101" pitchFamily="2" charset="-122"/>
              </a:rPr>
              <a:t>）、信息增益度量（</a:t>
            </a:r>
            <a:r>
              <a:rPr lang="en-US" altLang="zh-CN" sz="1800" dirty="0">
                <a:solidFill>
                  <a:srgbClr val="333333"/>
                </a:solidFill>
                <a:latin typeface="PingFang SC"/>
                <a:ea typeface="宋体" panose="02010600030101010101" pitchFamily="2" charset="-122"/>
              </a:rPr>
              <a:t>Information Gain Measure</a:t>
            </a:r>
            <a:r>
              <a:rPr lang="zh-CN" altLang="en-US" sz="1800" dirty="0">
                <a:solidFill>
                  <a:srgbClr val="333333"/>
                </a:solidFill>
                <a:latin typeface="PingFang SC"/>
                <a:ea typeface="宋体" panose="02010600030101010101" pitchFamily="2" charset="-122"/>
              </a:rPr>
              <a:t>）、依赖性度量（</a:t>
            </a:r>
            <a:r>
              <a:rPr lang="en-US" altLang="zh-CN" sz="1800" dirty="0">
                <a:solidFill>
                  <a:srgbClr val="333333"/>
                </a:solidFill>
                <a:latin typeface="PingFang SC"/>
                <a:ea typeface="宋体" panose="02010600030101010101" pitchFamily="2" charset="-122"/>
              </a:rPr>
              <a:t>Dependence Measure</a:t>
            </a:r>
            <a:r>
              <a:rPr lang="zh-CN" altLang="en-US" sz="1800" dirty="0">
                <a:solidFill>
                  <a:srgbClr val="333333"/>
                </a:solidFill>
                <a:latin typeface="PingFang SC"/>
                <a:ea typeface="宋体" panose="02010600030101010101" pitchFamily="2" charset="-122"/>
              </a:rPr>
              <a:t>）、一致性度量（</a:t>
            </a:r>
            <a:r>
              <a:rPr lang="en-US" altLang="zh-CN" sz="1800" dirty="0">
                <a:solidFill>
                  <a:srgbClr val="333333"/>
                </a:solidFill>
                <a:latin typeface="PingFang SC"/>
                <a:ea typeface="宋体" panose="02010600030101010101" pitchFamily="2" charset="-122"/>
              </a:rPr>
              <a:t>Consistency Measure</a:t>
            </a:r>
            <a:r>
              <a:rPr lang="zh-CN" altLang="en-US" sz="1800" dirty="0">
                <a:solidFill>
                  <a:srgbClr val="333333"/>
                </a:solidFill>
                <a:latin typeface="PingFang SC"/>
                <a:ea typeface="宋体" panose="02010600030101010101" pitchFamily="2" charset="-122"/>
              </a:rPr>
              <a:t>）和分类器错误率度量（</a:t>
            </a:r>
            <a:r>
              <a:rPr lang="en-US" altLang="zh-CN" sz="1800" dirty="0">
                <a:solidFill>
                  <a:srgbClr val="333333"/>
                </a:solidFill>
                <a:latin typeface="PingFang SC"/>
                <a:ea typeface="宋体" panose="02010600030101010101" pitchFamily="2" charset="-122"/>
              </a:rPr>
              <a:t>Classifier Error Rate Measure</a:t>
            </a:r>
            <a:r>
              <a:rPr lang="zh-CN" altLang="en-US" sz="1800" dirty="0">
                <a:solidFill>
                  <a:srgbClr val="333333"/>
                </a:solidFill>
                <a:latin typeface="PingFang SC"/>
                <a:ea typeface="宋体" panose="02010600030101010101" pitchFamily="2" charset="-122"/>
              </a:rPr>
              <a:t>）。</a:t>
            </a:r>
            <a:endParaRPr lang="zh-CN" altLang="en-US" sz="1800" dirty="0">
              <a:ea typeface="宋体" panose="02010600030101010101" pitchFamily="2" charset="-122"/>
            </a:endParaRPr>
          </a:p>
        </p:txBody>
      </p:sp>
      <p:sp>
        <p:nvSpPr>
          <p:cNvPr id="60419" name="文本框 7"/>
          <p:cNvSpPr txBox="1"/>
          <p:nvPr/>
        </p:nvSpPr>
        <p:spPr>
          <a:xfrm>
            <a:off x="107950" y="2565400"/>
            <a:ext cx="8785225" cy="35385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1600" b="1" dirty="0">
                <a:solidFill>
                  <a:srgbClr val="333333"/>
                </a:solidFill>
                <a:latin typeface="PingFang SC"/>
                <a:ea typeface="宋体" panose="02010600030101010101" pitchFamily="2" charset="-122"/>
              </a:rPr>
              <a:t>（</a:t>
            </a:r>
            <a:r>
              <a:rPr lang="en-US" altLang="zh-CN" sz="1600" b="1" dirty="0">
                <a:solidFill>
                  <a:srgbClr val="333333"/>
                </a:solidFill>
                <a:latin typeface="PingFang SC"/>
                <a:ea typeface="宋体" panose="02010600030101010101" pitchFamily="2" charset="-122"/>
              </a:rPr>
              <a:t>1</a:t>
            </a:r>
            <a:r>
              <a:rPr lang="zh-CN" altLang="en-US" sz="1600" b="1" dirty="0">
                <a:solidFill>
                  <a:srgbClr val="333333"/>
                </a:solidFill>
                <a:latin typeface="PingFang SC"/>
                <a:ea typeface="宋体" panose="02010600030101010101" pitchFamily="2" charset="-122"/>
              </a:rPr>
              <a:t>）距离度量：</a:t>
            </a:r>
            <a:r>
              <a:rPr lang="zh-CN" altLang="en-US" sz="1600" dirty="0">
                <a:solidFill>
                  <a:srgbClr val="333333"/>
                </a:solidFill>
                <a:latin typeface="PingFang SC"/>
                <a:ea typeface="宋体" panose="02010600030101010101" pitchFamily="2" charset="-122"/>
              </a:rPr>
              <a:t>距离度量一般认为是差异性或者分离性的度量，常用的距离度量方法有欧式距离等。对于一个二元分类问题，对于两个特征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和</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，如果特征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引起的两类条件概率差异大于特征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，则认为特征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优于特征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a:t>
            </a:r>
            <a:r>
              <a:rPr lang="zh-CN" altLang="en-US" sz="1600" u="sng" dirty="0">
                <a:solidFill>
                  <a:srgbClr val="333333"/>
                </a:solidFill>
                <a:latin typeface="PingFang SC"/>
                <a:ea typeface="宋体" panose="02010600030101010101" pitchFamily="2" charset="-122"/>
              </a:rPr>
              <a:t>过滤式（</a:t>
            </a:r>
            <a:r>
              <a:rPr lang="en-US" altLang="zh-CN" sz="1600" u="sng" dirty="0">
                <a:solidFill>
                  <a:srgbClr val="333333"/>
                </a:solidFill>
                <a:latin typeface="PingFang SC"/>
                <a:ea typeface="宋体" panose="02010600030101010101" pitchFamily="2" charset="-122"/>
              </a:rPr>
              <a:t>filter</a:t>
            </a:r>
            <a:r>
              <a:rPr lang="zh-CN" altLang="en-US" sz="1600" u="sng" dirty="0">
                <a:solidFill>
                  <a:srgbClr val="333333"/>
                </a:solidFill>
                <a:latin typeface="PingFang SC"/>
                <a:ea typeface="宋体" panose="02010600030101010101" pitchFamily="2" charset="-122"/>
              </a:rPr>
              <a:t>）</a:t>
            </a:r>
            <a:br>
              <a:rPr lang="zh-CN" altLang="en-US" sz="1600" dirty="0">
                <a:ea typeface="宋体" panose="02010600030101010101" pitchFamily="2" charset="-122"/>
              </a:rPr>
            </a:br>
            <a:r>
              <a:rPr lang="zh-CN" altLang="en-US" sz="1600" dirty="0">
                <a:solidFill>
                  <a:srgbClr val="333333"/>
                </a:solidFill>
                <a:latin typeface="PingFang SC"/>
                <a:ea typeface="宋体" panose="02010600030101010101" pitchFamily="2" charset="-122"/>
              </a:rPr>
              <a:t>（</a:t>
            </a:r>
            <a:r>
              <a:rPr lang="en-US" altLang="zh-CN" sz="1600" b="1" dirty="0">
                <a:solidFill>
                  <a:srgbClr val="333333"/>
                </a:solidFill>
                <a:latin typeface="PingFang SC"/>
                <a:ea typeface="宋体" panose="02010600030101010101" pitchFamily="2" charset="-122"/>
              </a:rPr>
              <a:t>2</a:t>
            </a:r>
            <a:r>
              <a:rPr lang="zh-CN" altLang="en-US" sz="1600" b="1" dirty="0">
                <a:solidFill>
                  <a:srgbClr val="333333"/>
                </a:solidFill>
                <a:latin typeface="PingFang SC"/>
                <a:ea typeface="宋体" panose="02010600030101010101" pitchFamily="2" charset="-122"/>
              </a:rPr>
              <a:t>）信息增益度量：</a:t>
            </a:r>
            <a:r>
              <a:rPr lang="zh-CN" altLang="en-US" sz="1600" dirty="0">
                <a:solidFill>
                  <a:srgbClr val="333333"/>
                </a:solidFill>
                <a:latin typeface="PingFang SC"/>
                <a:ea typeface="宋体" panose="02010600030101010101" pitchFamily="2" charset="-122"/>
              </a:rPr>
              <a:t>特征</a:t>
            </a:r>
            <a:r>
              <a:rPr lang="en-US" altLang="zh-CN" sz="1600" dirty="0">
                <a:solidFill>
                  <a:srgbClr val="333333"/>
                </a:solidFill>
                <a:latin typeface="PingFang SC"/>
                <a:ea typeface="宋体" panose="02010600030101010101" pitchFamily="2" charset="-122"/>
              </a:rPr>
              <a:t>f</a:t>
            </a:r>
            <a:r>
              <a:rPr lang="zh-CN" altLang="en-US" sz="1600" dirty="0">
                <a:solidFill>
                  <a:srgbClr val="333333"/>
                </a:solidFill>
                <a:latin typeface="PingFang SC"/>
                <a:ea typeface="宋体" panose="02010600030101010101" pitchFamily="2" charset="-122"/>
              </a:rPr>
              <a:t>的信息增益定义为使用特征</a:t>
            </a:r>
            <a:r>
              <a:rPr lang="en-US" altLang="zh-CN" sz="1600" dirty="0">
                <a:solidFill>
                  <a:srgbClr val="333333"/>
                </a:solidFill>
                <a:latin typeface="PingFang SC"/>
                <a:ea typeface="宋体" panose="02010600030101010101" pitchFamily="2" charset="-122"/>
              </a:rPr>
              <a:t>f</a:t>
            </a:r>
            <a:r>
              <a:rPr lang="zh-CN" altLang="en-US" sz="1600" dirty="0">
                <a:solidFill>
                  <a:srgbClr val="333333"/>
                </a:solidFill>
                <a:latin typeface="PingFang SC"/>
                <a:ea typeface="宋体" panose="02010600030101010101" pitchFamily="2" charset="-122"/>
              </a:rPr>
              <a:t>的先验不确定性与期望的后验不确性之间的差异。若特征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的信息增益大于特征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的信息增益，则认为特征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优于特征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a:t>
            </a:r>
            <a:r>
              <a:rPr lang="zh-CN" altLang="en-US" sz="1600" u="sng" dirty="0">
                <a:solidFill>
                  <a:srgbClr val="333333"/>
                </a:solidFill>
                <a:latin typeface="PingFang SC"/>
                <a:ea typeface="宋体" panose="02010600030101010101" pitchFamily="2" charset="-122"/>
              </a:rPr>
              <a:t>过滤式（</a:t>
            </a:r>
            <a:r>
              <a:rPr lang="en-US" altLang="zh-CN" sz="1600" u="sng" dirty="0">
                <a:solidFill>
                  <a:srgbClr val="333333"/>
                </a:solidFill>
                <a:latin typeface="PingFang SC"/>
                <a:ea typeface="宋体" panose="02010600030101010101" pitchFamily="2" charset="-122"/>
              </a:rPr>
              <a:t>filter</a:t>
            </a:r>
            <a:r>
              <a:rPr lang="zh-CN" altLang="en-US" sz="1600" u="sng" dirty="0">
                <a:solidFill>
                  <a:srgbClr val="333333"/>
                </a:solidFill>
                <a:latin typeface="PingFang SC"/>
                <a:ea typeface="宋体" panose="02010600030101010101" pitchFamily="2" charset="-122"/>
              </a:rPr>
              <a:t>）</a:t>
            </a:r>
            <a:br>
              <a:rPr lang="zh-CN" altLang="en-US" sz="1600" dirty="0">
                <a:ea typeface="宋体" panose="02010600030101010101" pitchFamily="2" charset="-122"/>
              </a:rPr>
            </a:br>
            <a:r>
              <a:rPr lang="zh-CN" altLang="en-US" sz="1600" b="1" dirty="0">
                <a:solidFill>
                  <a:srgbClr val="333333"/>
                </a:solidFill>
                <a:latin typeface="PingFang SC"/>
                <a:ea typeface="宋体" panose="02010600030101010101" pitchFamily="2" charset="-122"/>
              </a:rPr>
              <a:t>（</a:t>
            </a:r>
            <a:r>
              <a:rPr lang="en-US" altLang="zh-CN" sz="1600" b="1" dirty="0">
                <a:solidFill>
                  <a:srgbClr val="333333"/>
                </a:solidFill>
                <a:latin typeface="PingFang SC"/>
                <a:ea typeface="宋体" panose="02010600030101010101" pitchFamily="2" charset="-122"/>
              </a:rPr>
              <a:t>3</a:t>
            </a:r>
            <a:r>
              <a:rPr lang="zh-CN" altLang="en-US" sz="1600" b="1" dirty="0">
                <a:solidFill>
                  <a:srgbClr val="333333"/>
                </a:solidFill>
                <a:latin typeface="PingFang SC"/>
                <a:ea typeface="宋体" panose="02010600030101010101" pitchFamily="2" charset="-122"/>
              </a:rPr>
              <a:t>）依赖性度量：</a:t>
            </a:r>
            <a:r>
              <a:rPr lang="zh-CN" altLang="en-US" sz="1600" dirty="0">
                <a:solidFill>
                  <a:srgbClr val="333333"/>
                </a:solidFill>
                <a:latin typeface="PingFang SC"/>
                <a:ea typeface="宋体" panose="02010600030101010101" pitchFamily="2" charset="-122"/>
              </a:rPr>
              <a:t>依赖性度量又称为相关性度量（</a:t>
            </a:r>
            <a:r>
              <a:rPr lang="en-US" altLang="zh-CN" sz="1600" dirty="0">
                <a:solidFill>
                  <a:srgbClr val="333333"/>
                </a:solidFill>
                <a:latin typeface="PingFang SC"/>
                <a:ea typeface="宋体" panose="02010600030101010101" pitchFamily="2" charset="-122"/>
              </a:rPr>
              <a:t>Correlation Measure</a:t>
            </a:r>
            <a:r>
              <a:rPr lang="zh-CN" altLang="en-US" sz="1600" dirty="0">
                <a:solidFill>
                  <a:srgbClr val="333333"/>
                </a:solidFill>
                <a:latin typeface="PingFang SC"/>
                <a:ea typeface="宋体" panose="02010600030101010101" pitchFamily="2" charset="-122"/>
              </a:rPr>
              <a:t>）、通常可采用皮尔逊相关系数（</a:t>
            </a:r>
            <a:r>
              <a:rPr lang="en-US" altLang="zh-CN" sz="1600" dirty="0">
                <a:solidFill>
                  <a:srgbClr val="333333"/>
                </a:solidFill>
                <a:latin typeface="PingFang SC"/>
                <a:ea typeface="宋体" panose="02010600030101010101" pitchFamily="2" charset="-122"/>
              </a:rPr>
              <a:t>Pearson correlation coefficient</a:t>
            </a:r>
            <a:r>
              <a:rPr lang="zh-CN" altLang="en-US" sz="1600" dirty="0">
                <a:solidFill>
                  <a:srgbClr val="333333"/>
                </a:solidFill>
                <a:latin typeface="PingFang SC"/>
                <a:ea typeface="宋体" panose="02010600030101010101" pitchFamily="2" charset="-122"/>
              </a:rPr>
              <a:t>）来计算特征</a:t>
            </a:r>
            <a:r>
              <a:rPr lang="en-US" altLang="zh-CN" sz="1600" dirty="0">
                <a:solidFill>
                  <a:srgbClr val="333333"/>
                </a:solidFill>
                <a:latin typeface="PingFang SC"/>
                <a:ea typeface="宋体" panose="02010600030101010101" pitchFamily="2" charset="-122"/>
              </a:rPr>
              <a:t>f</a:t>
            </a:r>
            <a:r>
              <a:rPr lang="zh-CN" altLang="en-US" sz="1600" dirty="0">
                <a:solidFill>
                  <a:srgbClr val="333333"/>
                </a:solidFill>
                <a:latin typeface="PingFang SC"/>
                <a:ea typeface="宋体" panose="02010600030101010101" pitchFamily="2" charset="-122"/>
              </a:rPr>
              <a:t>与类别</a:t>
            </a:r>
            <a:r>
              <a:rPr lang="en-US" altLang="zh-CN" sz="1600" dirty="0">
                <a:solidFill>
                  <a:srgbClr val="333333"/>
                </a:solidFill>
                <a:latin typeface="PingFang SC"/>
                <a:ea typeface="宋体" panose="02010600030101010101" pitchFamily="2" charset="-122"/>
              </a:rPr>
              <a:t>C</a:t>
            </a:r>
            <a:r>
              <a:rPr lang="zh-CN" altLang="en-US" sz="1600" dirty="0">
                <a:solidFill>
                  <a:srgbClr val="333333"/>
                </a:solidFill>
                <a:latin typeface="PingFang SC"/>
                <a:ea typeface="宋体" panose="02010600030101010101" pitchFamily="2" charset="-122"/>
              </a:rPr>
              <a:t>之间的相关度，若特征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与类别</a:t>
            </a:r>
            <a:r>
              <a:rPr lang="en-US" altLang="zh-CN" sz="1600" dirty="0">
                <a:solidFill>
                  <a:srgbClr val="333333"/>
                </a:solidFill>
                <a:latin typeface="PingFang SC"/>
                <a:ea typeface="宋体" panose="02010600030101010101" pitchFamily="2" charset="-122"/>
              </a:rPr>
              <a:t>C</a:t>
            </a:r>
            <a:r>
              <a:rPr lang="zh-CN" altLang="en-US" sz="1600" dirty="0">
                <a:solidFill>
                  <a:srgbClr val="333333"/>
                </a:solidFill>
                <a:latin typeface="PingFang SC"/>
                <a:ea typeface="宋体" panose="02010600030101010101" pitchFamily="2" charset="-122"/>
              </a:rPr>
              <a:t>之间的相关性大于特征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与类别</a:t>
            </a:r>
            <a:r>
              <a:rPr lang="en-US" altLang="zh-CN" sz="1600" dirty="0">
                <a:solidFill>
                  <a:srgbClr val="333333"/>
                </a:solidFill>
                <a:latin typeface="PingFang SC"/>
                <a:ea typeface="宋体" panose="02010600030101010101" pitchFamily="2" charset="-122"/>
              </a:rPr>
              <a:t>C</a:t>
            </a:r>
            <a:r>
              <a:rPr lang="zh-CN" altLang="en-US" sz="1600" dirty="0">
                <a:solidFill>
                  <a:srgbClr val="333333"/>
                </a:solidFill>
                <a:latin typeface="PingFang SC"/>
                <a:ea typeface="宋体" panose="02010600030101010101" pitchFamily="2" charset="-122"/>
              </a:rPr>
              <a:t>之间的相关性，则认为特征</a:t>
            </a:r>
            <a:r>
              <a:rPr lang="en-US" altLang="zh-CN" sz="1600" dirty="0">
                <a:solidFill>
                  <a:srgbClr val="333333"/>
                </a:solidFill>
                <a:latin typeface="PingFang SC"/>
                <a:ea typeface="宋体" panose="02010600030101010101" pitchFamily="2" charset="-122"/>
              </a:rPr>
              <a:t>f1</a:t>
            </a:r>
            <a:r>
              <a:rPr lang="zh-CN" altLang="en-US" sz="1600" dirty="0">
                <a:solidFill>
                  <a:srgbClr val="333333"/>
                </a:solidFill>
                <a:latin typeface="PingFang SC"/>
                <a:ea typeface="宋体" panose="02010600030101010101" pitchFamily="2" charset="-122"/>
              </a:rPr>
              <a:t>优于特征</a:t>
            </a:r>
            <a:r>
              <a:rPr lang="en-US" altLang="zh-CN" sz="1600" dirty="0">
                <a:solidFill>
                  <a:srgbClr val="333333"/>
                </a:solidFill>
                <a:latin typeface="PingFang SC"/>
                <a:ea typeface="宋体" panose="02010600030101010101" pitchFamily="2" charset="-122"/>
              </a:rPr>
              <a:t>f2</a:t>
            </a:r>
            <a:r>
              <a:rPr lang="zh-CN" altLang="en-US" sz="1600" dirty="0">
                <a:solidFill>
                  <a:srgbClr val="333333"/>
                </a:solidFill>
                <a:latin typeface="PingFang SC"/>
                <a:ea typeface="宋体" panose="02010600030101010101" pitchFamily="2" charset="-122"/>
              </a:rPr>
              <a:t>。同样也可以计算得到属性与属性之间的相关度，属性与属性之间的相关性越低越好。</a:t>
            </a:r>
            <a:r>
              <a:rPr lang="zh-CN" altLang="en-US" sz="1600" u="sng" dirty="0">
                <a:solidFill>
                  <a:srgbClr val="333333"/>
                </a:solidFill>
                <a:latin typeface="PingFang SC"/>
                <a:ea typeface="宋体" panose="02010600030101010101" pitchFamily="2" charset="-122"/>
              </a:rPr>
              <a:t>过滤式（</a:t>
            </a:r>
            <a:r>
              <a:rPr lang="en-US" altLang="zh-CN" sz="1600" u="sng" dirty="0">
                <a:solidFill>
                  <a:srgbClr val="333333"/>
                </a:solidFill>
                <a:latin typeface="PingFang SC"/>
                <a:ea typeface="宋体" panose="02010600030101010101" pitchFamily="2" charset="-122"/>
              </a:rPr>
              <a:t>filter</a:t>
            </a:r>
            <a:r>
              <a:rPr lang="zh-CN" altLang="en-US" sz="1600" u="sng" dirty="0">
                <a:solidFill>
                  <a:srgbClr val="333333"/>
                </a:solidFill>
                <a:latin typeface="PingFang SC"/>
                <a:ea typeface="宋体" panose="02010600030101010101" pitchFamily="2" charset="-122"/>
              </a:rPr>
              <a:t>）</a:t>
            </a:r>
            <a:br>
              <a:rPr lang="zh-CN" altLang="en-US" sz="1600" dirty="0">
                <a:ea typeface="宋体" panose="02010600030101010101" pitchFamily="2" charset="-122"/>
              </a:rPr>
            </a:br>
            <a:r>
              <a:rPr lang="zh-CN" altLang="en-US" sz="1600" b="1" dirty="0">
                <a:solidFill>
                  <a:srgbClr val="333333"/>
                </a:solidFill>
                <a:latin typeface="PingFang SC"/>
                <a:ea typeface="宋体" panose="02010600030101010101" pitchFamily="2" charset="-122"/>
              </a:rPr>
              <a:t>（</a:t>
            </a:r>
            <a:r>
              <a:rPr lang="en-US" altLang="zh-CN" sz="1600" b="1" dirty="0">
                <a:solidFill>
                  <a:srgbClr val="333333"/>
                </a:solidFill>
                <a:latin typeface="PingFang SC"/>
                <a:ea typeface="宋体" panose="02010600030101010101" pitchFamily="2" charset="-122"/>
              </a:rPr>
              <a:t>4</a:t>
            </a:r>
            <a:r>
              <a:rPr lang="zh-CN" altLang="en-US" sz="1600" b="1" dirty="0">
                <a:solidFill>
                  <a:srgbClr val="333333"/>
                </a:solidFill>
                <a:latin typeface="PingFang SC"/>
                <a:ea typeface="宋体" panose="02010600030101010101" pitchFamily="2" charset="-122"/>
              </a:rPr>
              <a:t>）一致性度量：</a:t>
            </a:r>
            <a:r>
              <a:rPr lang="zh-CN" altLang="en-US" sz="1600" dirty="0">
                <a:solidFill>
                  <a:srgbClr val="333333"/>
                </a:solidFill>
                <a:latin typeface="PingFang SC"/>
                <a:ea typeface="宋体" panose="02010600030101010101" pitchFamily="2" charset="-122"/>
              </a:rPr>
              <a:t>假定两个样本，若它们的特征值相同，且所属类别也相同，则认为它们是一致的：否则，则称它们不一致。一致性常用不一致率来衡量，其尝试找出与原始特征集具有一样辨别能力的最小的属性子集。</a:t>
            </a:r>
            <a:r>
              <a:rPr lang="zh-CN" altLang="en-US" sz="1600" u="sng" dirty="0">
                <a:solidFill>
                  <a:srgbClr val="333333"/>
                </a:solidFill>
                <a:latin typeface="PingFang SC"/>
                <a:ea typeface="宋体" panose="02010600030101010101" pitchFamily="2" charset="-122"/>
              </a:rPr>
              <a:t>过滤式（</a:t>
            </a:r>
            <a:r>
              <a:rPr lang="en-US" altLang="zh-CN" sz="1600" u="sng" dirty="0">
                <a:solidFill>
                  <a:srgbClr val="333333"/>
                </a:solidFill>
                <a:latin typeface="PingFang SC"/>
                <a:ea typeface="宋体" panose="02010600030101010101" pitchFamily="2" charset="-122"/>
              </a:rPr>
              <a:t>filter</a:t>
            </a:r>
            <a:r>
              <a:rPr lang="zh-CN" altLang="en-US" sz="1600" u="sng" dirty="0">
                <a:solidFill>
                  <a:srgbClr val="333333"/>
                </a:solidFill>
                <a:latin typeface="PingFang SC"/>
                <a:ea typeface="宋体" panose="02010600030101010101" pitchFamily="2" charset="-122"/>
              </a:rPr>
              <a:t>）</a:t>
            </a:r>
            <a:br>
              <a:rPr lang="zh-CN" altLang="en-US" sz="1600" dirty="0">
                <a:ea typeface="宋体" panose="02010600030101010101" pitchFamily="2" charset="-122"/>
              </a:rPr>
            </a:br>
            <a:r>
              <a:rPr lang="zh-CN" altLang="en-US" sz="1600" b="1" dirty="0">
                <a:solidFill>
                  <a:srgbClr val="333333"/>
                </a:solidFill>
                <a:latin typeface="PingFang SC"/>
                <a:ea typeface="宋体" panose="02010600030101010101" pitchFamily="2" charset="-122"/>
              </a:rPr>
              <a:t>（</a:t>
            </a:r>
            <a:r>
              <a:rPr lang="en-US" altLang="zh-CN" sz="1600" b="1" dirty="0">
                <a:solidFill>
                  <a:srgbClr val="333333"/>
                </a:solidFill>
                <a:latin typeface="PingFang SC"/>
                <a:ea typeface="宋体" panose="02010600030101010101" pitchFamily="2" charset="-122"/>
              </a:rPr>
              <a:t>5</a:t>
            </a:r>
            <a:r>
              <a:rPr lang="zh-CN" altLang="en-US" sz="1600" b="1" dirty="0">
                <a:solidFill>
                  <a:srgbClr val="333333"/>
                </a:solidFill>
                <a:latin typeface="PingFang SC"/>
                <a:ea typeface="宋体" panose="02010600030101010101" pitchFamily="2" charset="-122"/>
              </a:rPr>
              <a:t>）分类器错误率度量：</a:t>
            </a:r>
            <a:r>
              <a:rPr lang="zh-CN" altLang="en-US" sz="1600" dirty="0">
                <a:solidFill>
                  <a:srgbClr val="333333"/>
                </a:solidFill>
                <a:latin typeface="PingFang SC"/>
                <a:ea typeface="宋体" panose="02010600030101010101" pitchFamily="2" charset="-122"/>
              </a:rPr>
              <a:t>该度量使用学习器的性能作为最终的评价阈值。它倾向于选择那些在分类器上表现较好的子集。</a:t>
            </a:r>
            <a:r>
              <a:rPr lang="zh-CN" altLang="en-US" sz="1600" u="sng" dirty="0">
                <a:solidFill>
                  <a:srgbClr val="333333"/>
                </a:solidFill>
                <a:latin typeface="PingFang SC"/>
                <a:ea typeface="宋体" panose="02010600030101010101" pitchFamily="2" charset="-122"/>
              </a:rPr>
              <a:t>包裹式</a:t>
            </a:r>
            <a:r>
              <a:rPr lang="en-US" altLang="zh-CN" sz="1600" u="sng" dirty="0">
                <a:solidFill>
                  <a:srgbClr val="333333"/>
                </a:solidFill>
                <a:latin typeface="PingFang SC"/>
                <a:ea typeface="宋体" panose="02010600030101010101" pitchFamily="2" charset="-122"/>
              </a:rPr>
              <a:t>(wrapper</a:t>
            </a:r>
            <a:r>
              <a:rPr lang="zh-CN" altLang="en-US" sz="1600" u="sng" dirty="0">
                <a:solidFill>
                  <a:srgbClr val="333333"/>
                </a:solidFill>
                <a:latin typeface="PingFang SC"/>
                <a:ea typeface="宋体" panose="02010600030101010101" pitchFamily="2" charset="-122"/>
              </a:rPr>
              <a:t>）</a:t>
            </a:r>
            <a:endParaRPr lang="zh-CN" altLang="en-US" sz="1600" u="sng" dirty="0">
              <a:ea typeface="宋体" panose="02010600030101010101" pitchFamily="2" charset="-122"/>
            </a:endParaRPr>
          </a:p>
        </p:txBody>
      </p:sp>
      <p:sp>
        <p:nvSpPr>
          <p:cNvPr id="60420" name="文本框 8"/>
          <p:cNvSpPr txBox="1"/>
          <p:nvPr/>
        </p:nvSpPr>
        <p:spPr>
          <a:xfrm>
            <a:off x="346075" y="958850"/>
            <a:ext cx="4572000"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2400" b="1" dirty="0">
                <a:solidFill>
                  <a:srgbClr val="333333"/>
                </a:solidFill>
                <a:latin typeface="PingFang SC"/>
                <a:ea typeface="宋体" panose="02010600030101010101" pitchFamily="2" charset="-122"/>
              </a:rPr>
              <a:t>评价准则总结</a:t>
            </a:r>
            <a:endParaRPr lang="zh-CN" altLang="en-US" sz="2400" b="1" dirty="0">
              <a:solidFill>
                <a:srgbClr val="333333"/>
              </a:solidFill>
              <a:latin typeface="PingFang SC"/>
              <a:ea typeface="宋体" panose="02010600030101010101" pitchFamily="2" charset="-122"/>
            </a:endParaRPr>
          </a:p>
        </p:txBody>
      </p:sp>
      <p:sp>
        <p:nvSpPr>
          <p:cNvPr id="60421"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特征选择总结</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文本框 5"/>
          <p:cNvSpPr txBox="1"/>
          <p:nvPr/>
        </p:nvSpPr>
        <p:spPr>
          <a:xfrm>
            <a:off x="468313" y="1700213"/>
            <a:ext cx="8351837" cy="3373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nSpc>
                <a:spcPct val="150000"/>
              </a:lnSpc>
              <a:spcBef>
                <a:spcPct val="0"/>
              </a:spcBef>
              <a:buClrTx/>
              <a:buSzTx/>
              <a:buFont typeface="Times New Roman" panose="02020603050405020304" pitchFamily="18" charset="0"/>
              <a:buAutoNum type="arabicPeriod"/>
            </a:pPr>
            <a:r>
              <a:rPr lang="zh-CN" altLang="en-US" sz="1600" b="1" dirty="0">
                <a:solidFill>
                  <a:srgbClr val="333333"/>
                </a:solidFill>
                <a:latin typeface="PingFang SC"/>
                <a:ea typeface="宋体" panose="02010600030101010101" pitchFamily="2" charset="-122"/>
              </a:rPr>
              <a:t>完全搜索</a:t>
            </a:r>
            <a:endParaRPr lang="zh-CN" altLang="en-US" sz="1600" b="1" dirty="0">
              <a:solidFill>
                <a:srgbClr val="333333"/>
              </a:solidFill>
              <a:latin typeface="PingFang SC"/>
              <a:ea typeface="宋体" panose="02010600030101010101" pitchFamily="2" charset="-122"/>
            </a:endParaRPr>
          </a:p>
          <a:p>
            <a:pPr marL="457200" lvl="1" indent="0">
              <a:lnSpc>
                <a:spcPct val="150000"/>
              </a:lnSpc>
              <a:spcBef>
                <a:spcPct val="0"/>
              </a:spcBef>
              <a:buClrTx/>
              <a:buSzTx/>
              <a:buFontTx/>
              <a:buNone/>
            </a:pPr>
            <a:r>
              <a:rPr lang="zh-CN" altLang="en-US" sz="1600" dirty="0">
                <a:solidFill>
                  <a:srgbClr val="333333"/>
                </a:solidFill>
                <a:latin typeface="PingFang SC"/>
                <a:ea typeface="宋体" panose="02010600030101010101" pitchFamily="2" charset="-122"/>
              </a:rPr>
              <a:t>枚举特征集中的所有特征组合从而选出最优的特征子集</a:t>
            </a:r>
            <a:endParaRPr lang="zh-CN" altLang="en-US" sz="1600" dirty="0">
              <a:solidFill>
                <a:srgbClr val="333333"/>
              </a:solidFill>
              <a:latin typeface="PingFang SC"/>
              <a:ea typeface="宋体" panose="02010600030101010101" pitchFamily="2" charset="-122"/>
            </a:endParaRPr>
          </a:p>
          <a:p>
            <a:pPr marL="0" lvl="0" indent="0">
              <a:lnSpc>
                <a:spcPct val="150000"/>
              </a:lnSpc>
              <a:spcBef>
                <a:spcPct val="0"/>
              </a:spcBef>
              <a:buClrTx/>
              <a:buSzTx/>
              <a:buFont typeface="Times New Roman" panose="02020603050405020304" pitchFamily="18" charset="0"/>
              <a:buAutoNum type="arabicPeriod"/>
            </a:pPr>
            <a:r>
              <a:rPr lang="zh-CN" altLang="en-US" sz="1600" b="1" dirty="0">
                <a:solidFill>
                  <a:srgbClr val="333333"/>
                </a:solidFill>
                <a:latin typeface="PingFang SC"/>
                <a:ea typeface="宋体" panose="02010600030101010101" pitchFamily="2" charset="-122"/>
              </a:rPr>
              <a:t>启发式搜索</a:t>
            </a:r>
            <a:endParaRPr lang="zh-CN" altLang="en-US" sz="1600" b="1" dirty="0">
              <a:solidFill>
                <a:srgbClr val="333333"/>
              </a:solidFill>
              <a:latin typeface="PingFang SC"/>
              <a:ea typeface="宋体" panose="02010600030101010101" pitchFamily="2" charset="-122"/>
            </a:endParaRPr>
          </a:p>
          <a:p>
            <a:pPr marL="457200" lvl="1" indent="0">
              <a:lnSpc>
                <a:spcPct val="150000"/>
              </a:lnSpc>
              <a:spcBef>
                <a:spcPct val="0"/>
              </a:spcBef>
              <a:buClrTx/>
              <a:buSzTx/>
              <a:buFontTx/>
              <a:buNone/>
            </a:pPr>
            <a:r>
              <a:rPr lang="zh-CN" altLang="en-US" sz="1600" dirty="0">
                <a:solidFill>
                  <a:srgbClr val="333333"/>
                </a:solidFill>
                <a:latin typeface="PingFang SC"/>
                <a:ea typeface="宋体" panose="02010600030101010101" pitchFamily="2" charset="-122"/>
              </a:rPr>
              <a:t>有序列前向选择（</a:t>
            </a:r>
            <a:r>
              <a:rPr lang="en-US" altLang="zh-CN" sz="1600" dirty="0">
                <a:solidFill>
                  <a:srgbClr val="333333"/>
                </a:solidFill>
                <a:latin typeface="PingFang SC"/>
                <a:ea typeface="宋体" panose="02010600030101010101" pitchFamily="2" charset="-122"/>
              </a:rPr>
              <a:t>SFS</a:t>
            </a:r>
            <a:r>
              <a:rPr lang="zh-CN" altLang="en-US" sz="1600" dirty="0">
                <a:solidFill>
                  <a:srgbClr val="333333"/>
                </a:solidFill>
                <a:latin typeface="PingFang SC"/>
                <a:ea typeface="宋体" panose="02010600030101010101" pitchFamily="2" charset="-122"/>
              </a:rPr>
              <a:t>，</a:t>
            </a:r>
            <a:r>
              <a:rPr lang="en-US" altLang="zh-CN" sz="1600" dirty="0">
                <a:solidFill>
                  <a:srgbClr val="333333"/>
                </a:solidFill>
                <a:latin typeface="PingFang SC"/>
                <a:ea typeface="宋体" panose="02010600030101010101" pitchFamily="2" charset="-122"/>
              </a:rPr>
              <a:t>Sequential Forward Selection</a:t>
            </a:r>
            <a:r>
              <a:rPr lang="zh-CN" altLang="en-US" sz="1600" dirty="0">
                <a:solidFill>
                  <a:srgbClr val="333333"/>
                </a:solidFill>
                <a:latin typeface="PingFang SC"/>
                <a:ea typeface="宋体" panose="02010600030101010101" pitchFamily="2" charset="-122"/>
              </a:rPr>
              <a:t>）和序列后向选择（</a:t>
            </a:r>
            <a:r>
              <a:rPr lang="en-US" altLang="zh-CN" sz="1600" dirty="0">
                <a:solidFill>
                  <a:srgbClr val="333333"/>
                </a:solidFill>
                <a:latin typeface="PingFang SC"/>
                <a:ea typeface="宋体" panose="02010600030101010101" pitchFamily="2" charset="-122"/>
              </a:rPr>
              <a:t>SBS</a:t>
            </a:r>
            <a:r>
              <a:rPr lang="zh-CN" altLang="en-US" sz="1600" dirty="0">
                <a:solidFill>
                  <a:srgbClr val="333333"/>
                </a:solidFill>
                <a:latin typeface="PingFang SC"/>
                <a:ea typeface="宋体" panose="02010600030101010101" pitchFamily="2" charset="-122"/>
              </a:rPr>
              <a:t>）等。两者的策略的思想都为贪心思想，因此有时候容易陷入到局部最优中。</a:t>
            </a:r>
            <a:endParaRPr lang="zh-CN" altLang="en-US" sz="1600" dirty="0">
              <a:solidFill>
                <a:srgbClr val="333333"/>
              </a:solidFill>
              <a:latin typeface="PingFang SC"/>
              <a:ea typeface="宋体" panose="02010600030101010101" pitchFamily="2" charset="-122"/>
            </a:endParaRPr>
          </a:p>
          <a:p>
            <a:pPr marL="0" lvl="0" indent="0">
              <a:lnSpc>
                <a:spcPct val="150000"/>
              </a:lnSpc>
              <a:spcBef>
                <a:spcPct val="0"/>
              </a:spcBef>
              <a:buClrTx/>
              <a:buSzTx/>
              <a:buFont typeface="Times New Roman" panose="02020603050405020304" pitchFamily="18" charset="0"/>
              <a:buAutoNum type="arabicPeriod"/>
            </a:pPr>
            <a:r>
              <a:rPr lang="zh-CN" altLang="en-US" sz="1600" b="1" dirty="0">
                <a:solidFill>
                  <a:srgbClr val="333333"/>
                </a:solidFill>
                <a:latin typeface="PingFang SC"/>
                <a:ea typeface="宋体" panose="02010600030101010101" pitchFamily="2" charset="-122"/>
              </a:rPr>
              <a:t>随机搜索</a:t>
            </a:r>
            <a:endParaRPr lang="zh-CN" altLang="en-US" sz="1600" b="1" dirty="0">
              <a:solidFill>
                <a:srgbClr val="333333"/>
              </a:solidFill>
              <a:latin typeface="PingFang SC"/>
              <a:ea typeface="宋体" panose="02010600030101010101" pitchFamily="2" charset="-122"/>
            </a:endParaRPr>
          </a:p>
          <a:p>
            <a:pPr marL="457200" lvl="1" indent="0">
              <a:lnSpc>
                <a:spcPct val="150000"/>
              </a:lnSpc>
              <a:spcBef>
                <a:spcPct val="0"/>
              </a:spcBef>
              <a:buClrTx/>
              <a:buSzTx/>
              <a:buFontTx/>
              <a:buNone/>
            </a:pPr>
            <a:r>
              <a:rPr lang="zh-CN" altLang="en-US" sz="1600" dirty="0">
                <a:solidFill>
                  <a:srgbClr val="333333"/>
                </a:solidFill>
                <a:latin typeface="PingFang SC"/>
                <a:ea typeface="宋体" panose="02010600030101010101" pitchFamily="2" charset="-122"/>
              </a:rPr>
              <a:t>把特征选择问题和禁忌搜索算法、模拟退火算法和遗传算法等结合起来以概率推理和随机采样作为算法基础，基于对分类有效性的评估，在计算过程中对每个特征赋予一定的权重，然后根据自适应的阈值来对特征重要性进行评估，选择大于阈值的特征。</a:t>
            </a:r>
            <a:endParaRPr lang="zh-CN" altLang="en-US" sz="1600" dirty="0">
              <a:solidFill>
                <a:srgbClr val="333333"/>
              </a:solidFill>
              <a:latin typeface="PingFang SC"/>
              <a:ea typeface="宋体" panose="02010600030101010101" pitchFamily="2" charset="-122"/>
            </a:endParaRPr>
          </a:p>
        </p:txBody>
      </p:sp>
      <p:sp>
        <p:nvSpPr>
          <p:cNvPr id="61443" name="文本框 7"/>
          <p:cNvSpPr txBox="1"/>
          <p:nvPr/>
        </p:nvSpPr>
        <p:spPr>
          <a:xfrm>
            <a:off x="407988" y="1125538"/>
            <a:ext cx="4572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2400" b="1" dirty="0">
                <a:solidFill>
                  <a:srgbClr val="333333"/>
                </a:solidFill>
                <a:latin typeface="PingFang SC"/>
                <a:ea typeface="宋体" panose="02010600030101010101" pitchFamily="2" charset="-122"/>
              </a:rPr>
              <a:t>搜索策略总结</a:t>
            </a:r>
            <a:endParaRPr lang="zh-CN" altLang="en-US" sz="2400" b="1" dirty="0">
              <a:solidFill>
                <a:srgbClr val="333333"/>
              </a:solidFill>
              <a:latin typeface="PingFang SC"/>
              <a:ea typeface="宋体" panose="02010600030101010101" pitchFamily="2" charset="-122"/>
            </a:endParaRPr>
          </a:p>
        </p:txBody>
      </p:sp>
      <p:sp>
        <p:nvSpPr>
          <p:cNvPr id="61444" name="文本框 9"/>
          <p:cNvSpPr txBox="1"/>
          <p:nvPr/>
        </p:nvSpPr>
        <p:spPr>
          <a:xfrm>
            <a:off x="407988" y="5661025"/>
            <a:ext cx="8628062" cy="8318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ctr">
              <a:spcBef>
                <a:spcPct val="0"/>
              </a:spcBef>
              <a:buClrTx/>
              <a:buSzTx/>
              <a:buFontTx/>
              <a:buNone/>
            </a:pPr>
            <a:r>
              <a:rPr lang="zh-CN" altLang="en-US" sz="2400" b="1" dirty="0">
                <a:solidFill>
                  <a:srgbClr val="333333"/>
                </a:solidFill>
                <a:latin typeface="微软雅黑" panose="020B0503020204020204" pitchFamily="34" charset="-122"/>
                <a:ea typeface="微软雅黑" panose="020B0503020204020204" pitchFamily="34" charset="-122"/>
              </a:rPr>
              <a:t>特征选择能够改善学习器的精度，减少模型训练时间，有效的避免维灾难问题</a:t>
            </a:r>
            <a:endParaRPr lang="zh-CN" altLang="en-US" sz="2400" b="1" dirty="0">
              <a:latin typeface="微软雅黑" panose="020B0503020204020204" pitchFamily="34" charset="-122"/>
              <a:ea typeface="微软雅黑" panose="020B0503020204020204" pitchFamily="34" charset="-122"/>
            </a:endParaRPr>
          </a:p>
        </p:txBody>
      </p:sp>
      <p:sp>
        <p:nvSpPr>
          <p:cNvPr id="61445"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特征选择总结</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000" b="1" i="0" u="none" strike="noStrike" kern="0" cap="all" spc="0" normalizeH="0" baseline="0" noProof="0">
              <a:ln>
                <a:noFill/>
              </a:ln>
              <a:solidFill>
                <a:schemeClr val="hlink"/>
              </a:solidFill>
              <a:effectLst/>
              <a:uLnTx/>
              <a:uFillTx/>
              <a:latin typeface="+mj-lt"/>
              <a:ea typeface="+mj-ea"/>
              <a:cs typeface="华文新魏" panose="02010800040101010101" pitchFamily="2" charset="-122"/>
            </a:endParaRPr>
          </a:p>
        </p:txBody>
      </p:sp>
      <p:sp>
        <p:nvSpPr>
          <p:cNvPr id="62467" name="文本占位符 2"/>
          <p:cNvSpPr>
            <a:spLocks noGrp="1"/>
          </p:cNvSpPr>
          <p:nvPr>
            <p:ph type="body" idx="1"/>
          </p:nvPr>
        </p:nvSpPr>
        <p:spPr/>
        <p:txBody>
          <a:bodyPr vert="horz" wrap="square" lIns="91440" tIns="45720" rIns="91440" bIns="45720" anchor="b" anchorCtr="0"/>
          <a:p>
            <a:pPr>
              <a:buSzPct val="60000"/>
            </a:pPr>
            <a:endParaRPr kumimoji="1" lang="zh-CN" altLang="en-US" dirty="0">
              <a:latin typeface="+mn-lt"/>
              <a:ea typeface="+mn-ea"/>
              <a:cs typeface="华文新魏" panose="02010800040101010101" pitchFamily="2" charset="-122"/>
            </a:endParaRPr>
          </a:p>
        </p:txBody>
      </p:sp>
      <p:sp>
        <p:nvSpPr>
          <p:cNvPr id="62468" name="灯片编号占位符 3"/>
          <p:cNvSpPr txBox="1">
            <a:spLocks noGrp="1"/>
          </p:cNvSpPr>
          <p:nvPr>
            <p:ph type="sldNum" sz="quarter" idx="12"/>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4000" b="1" i="0" u="none" strike="noStrike" kern="0" cap="all" spc="0" normalizeH="0" baseline="0" noProof="0">
              <a:ln>
                <a:noFill/>
              </a:ln>
              <a:solidFill>
                <a:schemeClr val="hlink"/>
              </a:solidFill>
              <a:effectLst/>
              <a:uLnTx/>
              <a:uFillTx/>
              <a:latin typeface="+mj-lt"/>
              <a:ea typeface="+mj-ea"/>
              <a:cs typeface="华文新魏" panose="02010800040101010101" pitchFamily="2" charset="-122"/>
            </a:endParaRPr>
          </a:p>
        </p:txBody>
      </p:sp>
      <p:sp>
        <p:nvSpPr>
          <p:cNvPr id="63491" name="文本占位符 2"/>
          <p:cNvSpPr>
            <a:spLocks noGrp="1"/>
          </p:cNvSpPr>
          <p:nvPr>
            <p:ph type="body" idx="1"/>
          </p:nvPr>
        </p:nvSpPr>
        <p:spPr/>
        <p:txBody>
          <a:bodyPr vert="horz" wrap="square" lIns="91440" tIns="45720" rIns="91440" bIns="45720" anchor="b" anchorCtr="0"/>
          <a:p>
            <a:pPr algn="ctr">
              <a:buSzPct val="60000"/>
            </a:pPr>
            <a:r>
              <a:rPr kumimoji="1" lang="zh-CN" altLang="en-US" sz="7200" dirty="0">
                <a:latin typeface="+mn-lt"/>
                <a:ea typeface="+mn-ea"/>
                <a:cs typeface="华文新魏" panose="02010800040101010101" pitchFamily="2" charset="-122"/>
              </a:rPr>
              <a:t>不讲</a:t>
            </a:r>
            <a:endParaRPr kumimoji="1" lang="zh-CN" altLang="en-US" sz="7200" dirty="0">
              <a:latin typeface="+mn-lt"/>
              <a:ea typeface="+mn-ea"/>
              <a:cs typeface="华文新魏" panose="02010800040101010101" pitchFamily="2" charset="-122"/>
            </a:endParaRPr>
          </a:p>
        </p:txBody>
      </p:sp>
      <p:sp>
        <p:nvSpPr>
          <p:cNvPr id="63492" name="灯片编号占位符 3"/>
          <p:cNvSpPr txBox="1">
            <a:spLocks noGrp="1"/>
          </p:cNvSpPr>
          <p:nvPr>
            <p:ph type="sldNum" sz="quarter" idx="12"/>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57347" name="Rectangle 2"/>
          <p:cNvSpPr>
            <a:spLocks noGrp="1" noChangeArrowheads="1"/>
          </p:cNvSpPr>
          <p:nvPr>
            <p:ph type="title" idx="4294967295"/>
          </p:nvPr>
        </p:nvSpPr>
        <p:spPr>
          <a:xfrm>
            <a:off x="3273425" y="1044575"/>
            <a:ext cx="7204075" cy="520700"/>
          </a:xfrm>
        </p:spPr>
        <p:txBody>
          <a:bodyPr vert="horz" wrap="square" lIns="90488" tIns="44450" rIns="90488" bIns="4445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6.</a:t>
            </a:r>
            <a:r>
              <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rPr>
              <a:t>遗传算法（前序课程已讲）</a:t>
            </a:r>
            <a:endParaRPr kumimoji="1" lang="zh-CN" altLang="en-US" sz="2800" b="1" i="0" u="none" strike="noStrike" kern="1200" cap="none" spc="0" normalizeH="0" baseline="0" noProof="0" dirty="0">
              <a:ln>
                <a:noFill/>
              </a:ln>
              <a:solidFill>
                <a:srgbClr val="0033CC"/>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4516" name="Rectangle 3"/>
          <p:cNvSpPr>
            <a:spLocks noGrp="1"/>
          </p:cNvSpPr>
          <p:nvPr>
            <p:ph type="body" idx="4294967295"/>
          </p:nvPr>
        </p:nvSpPr>
        <p:spPr>
          <a:xfrm>
            <a:off x="381000" y="1828800"/>
            <a:ext cx="8353425" cy="4492625"/>
          </a:xfrm>
        </p:spPr>
        <p:txBody>
          <a:bodyPr vert="horz" wrap="square" lIns="91440" tIns="45720" rIns="91440" bIns="45720" anchor="t" anchorCtr="0"/>
          <a:p>
            <a:pPr eaLnBrk="1" hangingPunct="1">
              <a:buClr>
                <a:srgbClr val="0066FF"/>
              </a:buClr>
              <a:buSzPct val="75000"/>
              <a:buFont typeface="Wingdings" panose="05000000000000000000" pitchFamily="2" charset="2"/>
              <a:buChar char="u"/>
            </a:pPr>
            <a:r>
              <a:rPr lang="zh-CN" altLang="en-US" sz="2600" b="1" dirty="0">
                <a:ea typeface="宋体" panose="02010600030101010101" pitchFamily="2" charset="-122"/>
              </a:rPr>
              <a:t>从</a:t>
            </a:r>
            <a:r>
              <a:rPr lang="zh-CN" altLang="en-US" sz="2600" b="1" dirty="0">
                <a:solidFill>
                  <a:srgbClr val="0033CC"/>
                </a:solidFill>
                <a:ea typeface="宋体" panose="02010600030101010101" pitchFamily="2" charset="-122"/>
              </a:rPr>
              <a:t>生物进化论</a:t>
            </a:r>
            <a:r>
              <a:rPr lang="zh-CN" altLang="en-US" sz="2600" b="1" dirty="0">
                <a:ea typeface="宋体" panose="02010600030101010101" pitchFamily="2" charset="-122"/>
              </a:rPr>
              <a:t>得到启迪。遗传，变异，自然选择。基于该思想发展了</a:t>
            </a:r>
            <a:r>
              <a:rPr lang="zh-CN" altLang="en-US" sz="2600" b="1" dirty="0">
                <a:solidFill>
                  <a:srgbClr val="FF0000"/>
                </a:solidFill>
                <a:ea typeface="宋体" panose="02010600030101010101" pitchFamily="2" charset="-122"/>
              </a:rPr>
              <a:t>遗传优化算法</a:t>
            </a:r>
            <a:r>
              <a:rPr lang="zh-CN" altLang="en-US" sz="2600" b="1" dirty="0">
                <a:ea typeface="宋体" panose="02010600030101010101" pitchFamily="2" charset="-122"/>
              </a:rPr>
              <a:t>。</a:t>
            </a:r>
            <a:endParaRPr lang="zh-CN" altLang="en-US" sz="2600" b="1" dirty="0">
              <a:ea typeface="宋体" panose="02010600030101010101" pitchFamily="2" charset="-122"/>
            </a:endParaRPr>
          </a:p>
          <a:p>
            <a:pPr eaLnBrk="1" hangingPunct="1">
              <a:buClr>
                <a:srgbClr val="0066FF"/>
              </a:buClr>
              <a:buSzPct val="75000"/>
              <a:buFont typeface="Wingdings" panose="05000000000000000000" pitchFamily="2" charset="2"/>
              <a:buChar char="u"/>
            </a:pPr>
            <a:r>
              <a:rPr lang="zh-CN" altLang="en-US" sz="2600" b="1" dirty="0">
                <a:solidFill>
                  <a:srgbClr val="FF0000"/>
                </a:solidFill>
                <a:ea typeface="宋体" panose="02010600030101010101" pitchFamily="2" charset="-122"/>
              </a:rPr>
              <a:t>基因链码</a:t>
            </a:r>
            <a:r>
              <a:rPr lang="zh-CN" altLang="en-US" sz="2600" b="1" dirty="0">
                <a:ea typeface="宋体" panose="02010600030101010101" pitchFamily="2" charset="-122"/>
              </a:rPr>
              <a:t>：待解问题的</a:t>
            </a:r>
            <a:r>
              <a:rPr lang="zh-CN" altLang="en-US" sz="2600" b="1" dirty="0">
                <a:solidFill>
                  <a:srgbClr val="0033CC"/>
                </a:solidFill>
                <a:ea typeface="宋体" panose="02010600030101010101" pitchFamily="2" charset="-122"/>
              </a:rPr>
              <a:t>解的编码</a:t>
            </a:r>
            <a:r>
              <a:rPr lang="zh-CN" altLang="en-US" sz="2600" b="1" dirty="0">
                <a:ea typeface="宋体" panose="02010600030101010101" pitchFamily="2" charset="-122"/>
              </a:rPr>
              <a:t>，每个基因链码也称为一个</a:t>
            </a:r>
            <a:r>
              <a:rPr lang="zh-CN" altLang="en-US" sz="2600" b="1" dirty="0">
                <a:solidFill>
                  <a:srgbClr val="FF0000"/>
                </a:solidFill>
                <a:ea typeface="宋体" panose="02010600030101010101" pitchFamily="2" charset="-122"/>
              </a:rPr>
              <a:t>个体</a:t>
            </a:r>
            <a:r>
              <a:rPr lang="zh-CN" altLang="en-US" sz="2600" b="1" dirty="0">
                <a:ea typeface="宋体" panose="02010600030101010101" pitchFamily="2" charset="-122"/>
              </a:rPr>
              <a:t>。对于特征选择，可用一个</a:t>
            </a:r>
            <a:r>
              <a:rPr lang="en-US" altLang="zh-CN" sz="2600" b="1" dirty="0">
                <a:ea typeface="宋体" panose="02010600030101010101" pitchFamily="2" charset="-122"/>
              </a:rPr>
              <a:t>D</a:t>
            </a:r>
            <a:r>
              <a:rPr lang="zh-CN" altLang="en-US" sz="2600" b="1" dirty="0">
                <a:ea typeface="宋体" panose="02010600030101010101" pitchFamily="2" charset="-122"/>
              </a:rPr>
              <a:t>位的</a:t>
            </a:r>
            <a:r>
              <a:rPr lang="en-US" altLang="zh-CN" sz="2600" b="1" dirty="0">
                <a:ea typeface="宋体" panose="02010600030101010101" pitchFamily="2" charset="-122"/>
              </a:rPr>
              <a:t>0/1</a:t>
            </a:r>
            <a:r>
              <a:rPr lang="zh-CN" altLang="en-US" sz="2600" b="1" dirty="0">
                <a:ea typeface="宋体" panose="02010600030101010101" pitchFamily="2" charset="-122"/>
              </a:rPr>
              <a:t>构成的串表示一种特征组合。</a:t>
            </a:r>
            <a:endParaRPr lang="zh-CN" altLang="en-US" sz="2600" b="1" dirty="0">
              <a:ea typeface="宋体" panose="02010600030101010101" pitchFamily="2" charset="-122"/>
            </a:endParaRPr>
          </a:p>
          <a:p>
            <a:pPr eaLnBrk="1" hangingPunct="1">
              <a:buClr>
                <a:srgbClr val="0066FF"/>
              </a:buClr>
              <a:buSzPct val="75000"/>
              <a:buFont typeface="Wingdings" panose="05000000000000000000" pitchFamily="2" charset="2"/>
              <a:buChar char="u"/>
            </a:pPr>
            <a:r>
              <a:rPr lang="zh-CN" altLang="en-US" sz="2600" b="1" dirty="0">
                <a:solidFill>
                  <a:srgbClr val="FF0000"/>
                </a:solidFill>
                <a:ea typeface="宋体" panose="02010600030101010101" pitchFamily="2" charset="-122"/>
              </a:rPr>
              <a:t>群体</a:t>
            </a:r>
            <a:r>
              <a:rPr lang="zh-CN" altLang="en-US" sz="2600" b="1" dirty="0">
                <a:ea typeface="宋体" panose="02010600030101010101" pitchFamily="2" charset="-122"/>
              </a:rPr>
              <a:t>：若干个个体的集合，即问题的一些解的集合。</a:t>
            </a:r>
            <a:endParaRPr lang="zh-CN" altLang="en-US" sz="2600" b="1" dirty="0">
              <a:ea typeface="宋体" panose="02010600030101010101" pitchFamily="2" charset="-122"/>
            </a:endParaRPr>
          </a:p>
          <a:p>
            <a:pPr eaLnBrk="1" hangingPunct="1">
              <a:buClr>
                <a:srgbClr val="0066FF"/>
              </a:buClr>
              <a:buSzPct val="75000"/>
              <a:buFont typeface="Wingdings" panose="05000000000000000000" pitchFamily="2" charset="2"/>
              <a:buChar char="u"/>
            </a:pPr>
            <a:r>
              <a:rPr lang="zh-CN" altLang="en-US" sz="2600" b="1" dirty="0">
                <a:solidFill>
                  <a:srgbClr val="FF0000"/>
                </a:solidFill>
                <a:ea typeface="宋体" panose="02010600030101010101" pitchFamily="2" charset="-122"/>
              </a:rPr>
              <a:t>交叉</a:t>
            </a:r>
            <a:r>
              <a:rPr lang="zh-CN" altLang="en-US" sz="2600" b="1" dirty="0">
                <a:ea typeface="宋体" panose="02010600030101010101" pitchFamily="2" charset="-122"/>
              </a:rPr>
              <a:t>：由当前两个个体的链码交叉产生新一代的两个个体。</a:t>
            </a:r>
            <a:endParaRPr lang="zh-CN" altLang="en-US" sz="2600" b="1" dirty="0">
              <a:ea typeface="宋体" panose="02010600030101010101" pitchFamily="2" charset="-122"/>
            </a:endParaRPr>
          </a:p>
          <a:p>
            <a:pPr eaLnBrk="1" hangingPunct="1">
              <a:buClr>
                <a:srgbClr val="0066FF"/>
              </a:buClr>
              <a:buSzPct val="75000"/>
              <a:buFont typeface="Wingdings" panose="05000000000000000000" pitchFamily="2" charset="2"/>
              <a:buChar char="u"/>
            </a:pPr>
            <a:r>
              <a:rPr lang="zh-CN" altLang="en-US" sz="2600" b="1" dirty="0">
                <a:solidFill>
                  <a:srgbClr val="FF0000"/>
                </a:solidFill>
                <a:ea typeface="宋体" panose="02010600030101010101" pitchFamily="2" charset="-122"/>
              </a:rPr>
              <a:t>变异</a:t>
            </a:r>
            <a:r>
              <a:rPr lang="zh-CN" altLang="en-US" sz="2600" b="1" dirty="0">
                <a:ea typeface="宋体" panose="02010600030101010101" pitchFamily="2" charset="-122"/>
              </a:rPr>
              <a:t>：由一个链码随机选取某基因使其翻转。</a:t>
            </a:r>
            <a:endParaRPr lang="zh-CN" altLang="en-US" sz="2600" b="1" dirty="0">
              <a:ea typeface="宋体" panose="02010600030101010101" pitchFamily="2" charset="-122"/>
            </a:endParaRPr>
          </a:p>
        </p:txBody>
      </p:sp>
      <p:sp>
        <p:nvSpPr>
          <p:cNvPr id="64517"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65539" name="Picture 1" descr="C:\Users\Administrator\AppData\Roaming\Tencent\Users\306925339\QQ\WinTemp\RichOle\@ZYU805CFUU2@FODWNKA]ER.png"/>
          <p:cNvPicPr>
            <a:picLocks noChangeAspect="1"/>
          </p:cNvPicPr>
          <p:nvPr/>
        </p:nvPicPr>
        <p:blipFill>
          <a:blip r:embed="rId1"/>
          <a:stretch>
            <a:fillRect/>
          </a:stretch>
        </p:blipFill>
        <p:spPr>
          <a:xfrm>
            <a:off x="684213" y="1125538"/>
            <a:ext cx="7648575" cy="5210175"/>
          </a:xfrm>
          <a:prstGeom prst="rect">
            <a:avLst/>
          </a:prstGeom>
          <a:noFill/>
          <a:ln w="9525">
            <a:noFill/>
          </a:ln>
        </p:spPr>
      </p:pic>
      <p:sp>
        <p:nvSpPr>
          <p:cNvPr id="65540"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灯片编号占位符 3"/>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66563" name="Rectangle 3"/>
          <p:cNvSpPr>
            <a:spLocks noGrp="1"/>
          </p:cNvSpPr>
          <p:nvPr>
            <p:ph type="body" idx="4294967295"/>
          </p:nvPr>
        </p:nvSpPr>
        <p:spPr>
          <a:xfrm>
            <a:off x="323850" y="1412875"/>
            <a:ext cx="8353425" cy="990600"/>
          </a:xfrm>
        </p:spPr>
        <p:txBody>
          <a:bodyPr vert="horz" wrap="square" lIns="91440" tIns="45720" rIns="91440" bIns="45720" anchor="t" anchorCtr="0"/>
          <a:p>
            <a:pPr algn="just" eaLnBrk="1" hangingPunct="1">
              <a:lnSpc>
                <a:spcPct val="110000"/>
              </a:lnSpc>
              <a:buClr>
                <a:srgbClr val="0066FF"/>
              </a:buClr>
              <a:buSzPct val="75000"/>
              <a:buFont typeface="Wingdings" panose="05000000000000000000" pitchFamily="2" charset="2"/>
              <a:buChar char="Ø"/>
            </a:pPr>
            <a:r>
              <a:rPr lang="zh-CN" altLang="en-US" sz="2400" b="1" dirty="0">
                <a:ea typeface="宋体" panose="02010600030101010101" pitchFamily="2" charset="-122"/>
              </a:rPr>
              <a:t>适应度：每个个体</a:t>
            </a:r>
            <a:r>
              <a:rPr lang="en-US" altLang="zh-CN" sz="2400" b="1" dirty="0">
                <a:ea typeface="宋体" panose="02010600030101010101" pitchFamily="2" charset="-122"/>
              </a:rPr>
              <a:t>x</a:t>
            </a:r>
            <a:r>
              <a:rPr lang="en-US" altLang="zh-CN" sz="2400" b="1" baseline="-25000" dirty="0">
                <a:ea typeface="宋体" panose="02010600030101010101" pitchFamily="2" charset="-122"/>
              </a:rPr>
              <a:t>i</a:t>
            </a:r>
            <a:r>
              <a:rPr lang="zh-CN" altLang="en-US" sz="2400" b="1" dirty="0">
                <a:ea typeface="宋体" panose="02010600030101010101" pitchFamily="2" charset="-122"/>
              </a:rPr>
              <a:t>的函数值</a:t>
            </a:r>
            <a:r>
              <a:rPr lang="en-US" altLang="zh-CN" sz="2400" b="1" i="1" dirty="0">
                <a:ea typeface="宋体" panose="02010600030101010101" pitchFamily="2" charset="-122"/>
              </a:rPr>
              <a:t>f</a:t>
            </a:r>
            <a:r>
              <a:rPr lang="en-US" altLang="zh-CN" sz="2400" b="1" baseline="-25000" dirty="0">
                <a:ea typeface="宋体" panose="02010600030101010101" pitchFamily="2" charset="-122"/>
              </a:rPr>
              <a:t>i</a:t>
            </a:r>
            <a:r>
              <a:rPr lang="zh-CN" altLang="en-US" sz="2400" b="1" dirty="0">
                <a:ea typeface="宋体" panose="02010600030101010101" pitchFamily="2" charset="-122"/>
              </a:rPr>
              <a:t>，个体</a:t>
            </a:r>
            <a:r>
              <a:rPr lang="en-US" altLang="zh-CN" sz="2400" b="1" dirty="0">
                <a:ea typeface="宋体" panose="02010600030101010101" pitchFamily="2" charset="-122"/>
              </a:rPr>
              <a:t>x</a:t>
            </a:r>
            <a:r>
              <a:rPr lang="en-US" altLang="zh-CN" sz="2400" b="1" baseline="-25000" dirty="0">
                <a:ea typeface="宋体" panose="02010600030101010101" pitchFamily="2" charset="-122"/>
              </a:rPr>
              <a:t>i</a:t>
            </a:r>
            <a:r>
              <a:rPr lang="zh-CN" altLang="en-US" sz="2400" b="1" dirty="0">
                <a:ea typeface="宋体" panose="02010600030101010101" pitchFamily="2" charset="-122"/>
              </a:rPr>
              <a:t>越好，适应度</a:t>
            </a:r>
            <a:r>
              <a:rPr lang="en-US" altLang="zh-CN" sz="2400" b="1" i="1" dirty="0">
                <a:ea typeface="宋体" panose="02010600030101010101" pitchFamily="2" charset="-122"/>
              </a:rPr>
              <a:t>f</a:t>
            </a:r>
            <a:r>
              <a:rPr lang="en-US" altLang="zh-CN" sz="2400" b="1" baseline="-25000" dirty="0">
                <a:ea typeface="宋体" panose="02010600030101010101" pitchFamily="2" charset="-122"/>
              </a:rPr>
              <a:t>i</a:t>
            </a:r>
            <a:r>
              <a:rPr lang="zh-CN" altLang="en-US" sz="2400" b="1" dirty="0">
                <a:ea typeface="宋体" panose="02010600030101010101" pitchFamily="2" charset="-122"/>
              </a:rPr>
              <a:t>越大。新一代群体对环境的</a:t>
            </a:r>
            <a:r>
              <a:rPr lang="zh-CN" altLang="en-US" sz="2400" b="1" dirty="0">
                <a:solidFill>
                  <a:srgbClr val="FF0000"/>
                </a:solidFill>
                <a:ea typeface="宋体" panose="02010600030101010101" pitchFamily="2" charset="-122"/>
              </a:rPr>
              <a:t>平均适应度</a:t>
            </a:r>
            <a:r>
              <a:rPr lang="zh-CN" altLang="en-US" sz="2400" b="1" dirty="0">
                <a:ea typeface="宋体" panose="02010600030101010101" pitchFamily="2" charset="-122"/>
              </a:rPr>
              <a:t>比父代高。</a:t>
            </a:r>
            <a:endParaRPr lang="zh-CN" altLang="en-US" sz="2400" b="1" dirty="0">
              <a:ea typeface="宋体" panose="02010600030101010101" pitchFamily="2" charset="-122"/>
            </a:endParaRPr>
          </a:p>
          <a:p>
            <a:pPr algn="just" eaLnBrk="1" hangingPunct="1">
              <a:lnSpc>
                <a:spcPct val="110000"/>
              </a:lnSpc>
              <a:buClr>
                <a:srgbClr val="0066FF"/>
              </a:buClr>
              <a:buSzPct val="75000"/>
              <a:buFont typeface="Wingdings" panose="05000000000000000000" pitchFamily="2" charset="2"/>
              <a:buChar char="Ø"/>
            </a:pPr>
            <a:r>
              <a:rPr lang="zh-CN" altLang="en-US" sz="2400" b="1" dirty="0">
                <a:ea typeface="宋体" panose="02010600030101010101" pitchFamily="2" charset="-122"/>
              </a:rPr>
              <a:t>遗传算法的基本框架：</a:t>
            </a:r>
            <a:endParaRPr lang="zh-CN" altLang="en-US" sz="2400" b="1" dirty="0">
              <a:ea typeface="宋体" panose="02010600030101010101" pitchFamily="2" charset="-122"/>
            </a:endParaRPr>
          </a:p>
        </p:txBody>
      </p:sp>
      <p:sp>
        <p:nvSpPr>
          <p:cNvPr id="71685" name="Rectangle 5"/>
          <p:cNvSpPr>
            <a:spLocks noChangeArrowheads="1"/>
          </p:cNvSpPr>
          <p:nvPr/>
        </p:nvSpPr>
        <p:spPr bwMode="auto">
          <a:xfrm>
            <a:off x="152400" y="2819400"/>
            <a:ext cx="8785225" cy="3575050"/>
          </a:xfrm>
          <a:prstGeom prst="rect">
            <a:avLst/>
          </a:prstGeom>
          <a:noFill/>
          <a:ln w="9525">
            <a:solidFill>
              <a:schemeClr val="tx1"/>
            </a:solidFill>
            <a:miter lim="800000"/>
          </a:ln>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Step1: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令进化代数</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Step2: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给出初始化群体</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，令</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为任一个体。</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Step3: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对</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中每个个体估值，并将群体中最优解</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与</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比较，如果</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的性能优于</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，则</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=x’ </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Step4: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如果终止条件满足，则算法结束，</a:t>
            </a: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x</a:t>
            </a:r>
            <a:r>
              <a:rPr kumimoji="0" lang="en-US" altLang="zh-CN" sz="24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为算法的结果。否则继续。</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chemeClr val="hlink"/>
              </a:buClr>
              <a:buSzPct val="60000"/>
              <a:buFont typeface="Wingdings" panose="05000000000000000000" pitchFamily="2" charset="2"/>
              <a:buChar char="u"/>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Step5: </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从</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a:t>
            </a:r>
            <a:r>
              <a:rPr kumimoji="0" lang="zh-CN" altLang="en-US" sz="2400" b="1" i="0" u="none" strike="noStrike" kern="1200" cap="none" spc="0" normalizeH="0" baseline="0" noProof="0" dirty="0">
                <a:ln>
                  <a:noFill/>
                </a:ln>
                <a:solidFill>
                  <a:srgbClr val="0033CC"/>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选择</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个体并进行</a:t>
            </a:r>
            <a:r>
              <a:rPr kumimoji="0" lang="zh-CN" altLang="en-US" sz="2400" b="1" i="0" u="none" strike="noStrike" kern="1200" cap="none" spc="0" normalizeH="0" baseline="0" noProof="0" dirty="0">
                <a:ln>
                  <a:noFill/>
                </a:ln>
                <a:solidFill>
                  <a:srgbClr val="0033CC"/>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交叉</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和</a:t>
            </a:r>
            <a:r>
              <a:rPr kumimoji="0" lang="zh-CN" altLang="en-US" sz="2400" b="1" i="0" u="none" strike="noStrike" kern="1200" cap="none" spc="0" normalizeH="0" baseline="0" noProof="0" dirty="0">
                <a:ln>
                  <a:noFill/>
                </a:ln>
                <a:solidFill>
                  <a:srgbClr val="0033CC"/>
                </a:solidFill>
                <a:effectLst>
                  <a:outerShdw blurRad="38100" dist="38100" dir="2700000" algn="tl">
                    <a:srgbClr val="000000">
                      <a:alpha val="43137"/>
                    </a:srgbClr>
                  </a:outerShdw>
                </a:effectLst>
                <a:uLnTx/>
                <a:uFillTx/>
                <a:latin typeface="Times New Roman" panose="02020603050405020304" pitchFamily="18" charset="0"/>
                <a:ea typeface="宋体" panose="02010600030101010101" pitchFamily="2" charset="-122"/>
                <a:cs typeface="+mn-cs"/>
              </a:rPr>
              <a:t>变异</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操作，得到新一代群体</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P(t+1)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。令</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t=t+1,</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转到</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Step3</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565"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66566" name="Rectangle 2"/>
          <p:cNvSpPr txBox="1"/>
          <p:nvPr/>
        </p:nvSpPr>
        <p:spPr>
          <a:xfrm>
            <a:off x="3273425" y="915988"/>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67587" name="Picture 1" descr="C:\Users\Administrator\AppData\Roaming\Tencent\Users\306925339\QQ\WinTemp\RichOle\T5ZA%OBO2MGTGCDBE~%~T~K.png"/>
          <p:cNvPicPr>
            <a:picLocks noChangeAspect="1"/>
          </p:cNvPicPr>
          <p:nvPr/>
        </p:nvPicPr>
        <p:blipFill>
          <a:blip r:embed="rId1"/>
          <a:stretch>
            <a:fillRect/>
          </a:stretch>
        </p:blipFill>
        <p:spPr>
          <a:xfrm>
            <a:off x="1258888" y="1268413"/>
            <a:ext cx="6192837" cy="5102225"/>
          </a:xfrm>
          <a:prstGeom prst="rect">
            <a:avLst/>
          </a:prstGeom>
          <a:noFill/>
          <a:ln w="9525">
            <a:noFill/>
          </a:ln>
        </p:spPr>
      </p:pic>
      <p:sp>
        <p:nvSpPr>
          <p:cNvPr id="67588"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67589" name="Rectangle 2"/>
          <p:cNvSpPr txBox="1"/>
          <p:nvPr/>
        </p:nvSpPr>
        <p:spPr>
          <a:xfrm>
            <a:off x="3273425" y="1044575"/>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4" name="Rectangle 3"/>
          <p:cNvSpPr txBox="1">
            <a:spLocks noChangeArrowheads="1"/>
          </p:cNvSpPr>
          <p:nvPr/>
        </p:nvSpPr>
        <p:spPr bwMode="auto">
          <a:xfrm>
            <a:off x="323850" y="1412875"/>
            <a:ext cx="8353425" cy="990600"/>
          </a:xfrm>
          <a:prstGeom prst="rect">
            <a:avLst/>
          </a:prstGeom>
          <a:noFill/>
          <a:ln w="9525">
            <a:noFill/>
            <a:miter lim="800000"/>
          </a:ln>
        </p:spPr>
        <p:txBody>
          <a:bodyPr/>
          <a:lstStyle/>
          <a:p>
            <a:pPr marL="342900" marR="0" indent="-342900" algn="just" defTabSz="914400" eaLnBrk="1" hangingPunct="1">
              <a:lnSpc>
                <a:spcPct val="110000"/>
              </a:lnSpc>
              <a:spcBef>
                <a:spcPct val="20000"/>
              </a:spcBef>
              <a:buClr>
                <a:srgbClr val="376092"/>
              </a:buClr>
              <a:buSzPct val="75000"/>
              <a:buFont typeface="Wingdings" panose="05000000000000000000" pitchFamily="2" charset="2"/>
              <a:buChar char="u"/>
              <a:defRPr/>
            </a:pPr>
            <a:r>
              <a:rPr kumimoji="1" lang="zh-CN" altLang="en-US" sz="2400" b="1" kern="0" cap="none" spc="0" normalizeH="0" baseline="0" noProof="0" dirty="0">
                <a:latin typeface="+mn-lt"/>
                <a:ea typeface="+mn-ea"/>
                <a:cs typeface="华文新魏" panose="02010800040101010101" pitchFamily="2" charset="-122"/>
              </a:rPr>
              <a:t>例子：</a:t>
            </a:r>
            <a:r>
              <a:rPr kumimoji="0" lang="zh-CN" altLang="en-US" sz="2400" b="1" kern="1200" cap="none" spc="0" normalizeH="0" baseline="0" noProof="0" dirty="0">
                <a:solidFill>
                  <a:srgbClr val="0033CC"/>
                </a:solidFill>
                <a:latin typeface="Times New Roman" panose="02020603050405020304" pitchFamily="18" charset="0"/>
                <a:ea typeface="宋体" panose="02010600030101010101" pitchFamily="2" charset="-122"/>
                <a:cs typeface="+mn-cs"/>
              </a:rPr>
              <a:t>求下述二元函数的最大值：</a:t>
            </a:r>
            <a:endParaRPr kumimoji="1" lang="zh-CN" altLang="en-US" sz="2400" b="1" kern="0" cap="none" spc="0" normalizeH="0" baseline="0" noProof="0" dirty="0">
              <a:solidFill>
                <a:srgbClr val="0033CC"/>
              </a:solidFill>
              <a:latin typeface="+mn-lt"/>
              <a:ea typeface="+mn-ea"/>
              <a:cs typeface="华文新魏" panose="02010800040101010101" pitchFamily="2" charset="-122"/>
            </a:endParaRPr>
          </a:p>
        </p:txBody>
      </p:sp>
      <p:pic>
        <p:nvPicPr>
          <p:cNvPr id="68612" name="Picture 1" descr="C:\Users\Administrator\AppData\Roaming\Tencent\Users\306925339\QQ\WinTemp\RichOle\2M}6(P[7X$3K3~BZ}AGCP6N.png"/>
          <p:cNvPicPr>
            <a:picLocks noChangeAspect="1"/>
          </p:cNvPicPr>
          <p:nvPr/>
        </p:nvPicPr>
        <p:blipFill>
          <a:blip r:embed="rId1"/>
          <a:stretch>
            <a:fillRect/>
          </a:stretch>
        </p:blipFill>
        <p:spPr>
          <a:xfrm>
            <a:off x="1763713" y="1916113"/>
            <a:ext cx="3024187" cy="1154112"/>
          </a:xfrm>
          <a:prstGeom prst="rect">
            <a:avLst/>
          </a:prstGeom>
          <a:noFill/>
          <a:ln w="9525">
            <a:noFill/>
          </a:ln>
        </p:spPr>
      </p:pic>
      <p:sp>
        <p:nvSpPr>
          <p:cNvPr id="7" name="Rectangle 3"/>
          <p:cNvSpPr txBox="1">
            <a:spLocks noChangeArrowheads="1"/>
          </p:cNvSpPr>
          <p:nvPr/>
        </p:nvSpPr>
        <p:spPr bwMode="auto">
          <a:xfrm>
            <a:off x="468313" y="3068638"/>
            <a:ext cx="8353425" cy="990600"/>
          </a:xfrm>
          <a:prstGeom prst="rect">
            <a:avLst/>
          </a:prstGeom>
          <a:noFill/>
          <a:ln w="9525">
            <a:noFill/>
            <a:miter lim="800000"/>
          </a:ln>
        </p:spPr>
        <p:txBody>
          <a:bodyPr/>
          <a:lstStyle/>
          <a:p>
            <a:pPr marL="342900" marR="0" indent="-342900" algn="just" defTabSz="914400" eaLnBrk="1" hangingPunct="1">
              <a:lnSpc>
                <a:spcPct val="110000"/>
              </a:lnSpc>
              <a:spcBef>
                <a:spcPct val="20000"/>
              </a:spcBef>
              <a:buClr>
                <a:srgbClr val="376092"/>
              </a:buClr>
              <a:buSzPct val="75000"/>
              <a:buFont typeface="Wingdings" panose="05000000000000000000" pitchFamily="2" charset="2"/>
              <a:buChar char="u"/>
              <a:defRPr/>
            </a:pPr>
            <a:r>
              <a:rPr kumimoji="1" lang="zh-CN" altLang="en-US" sz="2400" b="1" kern="0" cap="none" spc="0" normalizeH="0" baseline="0" noProof="0" dirty="0">
                <a:latin typeface="+mn-lt"/>
                <a:ea typeface="+mn-ea"/>
                <a:cs typeface="华文新魏" panose="02010800040101010101" pitchFamily="2" charset="-122"/>
              </a:rPr>
              <a:t>步骤：</a:t>
            </a:r>
            <a:r>
              <a:rPr kumimoji="0" lang="zh-CN" altLang="en-US" sz="2400" b="1" kern="1200" cap="none" spc="0" normalizeH="0" baseline="0" noProof="0" dirty="0">
                <a:solidFill>
                  <a:srgbClr val="0033CC"/>
                </a:solidFill>
                <a:latin typeface="Times New Roman" panose="02020603050405020304" pitchFamily="18" charset="0"/>
                <a:ea typeface="宋体" panose="02010600030101010101" pitchFamily="2" charset="-122"/>
                <a:cs typeface="+mn-cs"/>
              </a:rPr>
              <a:t>求下述二元函数的最大值：</a:t>
            </a:r>
            <a:endParaRPr kumimoji="0" lang="en-US" altLang="zh-CN" sz="2400" b="1" kern="1200" cap="none" spc="0" normalizeH="0" baseline="0" noProof="0" dirty="0">
              <a:solidFill>
                <a:srgbClr val="0033CC"/>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 typeface="Wingdings" panose="05000000000000000000" pitchFamily="2" charset="2"/>
              <a:buChar char="u"/>
              <a:defRPr/>
            </a:pPr>
            <a:r>
              <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(1) </a:t>
            </a:r>
            <a:r>
              <a:rPr kumimoji="0" lang="zh-CN" altLang="en-US"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个体编码：</a:t>
            </a:r>
            <a:endPar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Tx/>
              <a:buNone/>
              <a:defRPr/>
            </a:pP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例如，基因型 </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X</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101110 </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所对应的表现型是：</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x</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[ 5</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6 ]</a:t>
            </a:r>
            <a:endParaRPr kumimoji="0"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 typeface="Wingdings" panose="05000000000000000000" pitchFamily="2" charset="2"/>
              <a:buChar char="u"/>
              <a:defRPr/>
            </a:pPr>
            <a:r>
              <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(2) </a:t>
            </a:r>
            <a:r>
              <a:rPr kumimoji="0" lang="zh-CN" altLang="en-US"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种群初始化</a:t>
            </a:r>
            <a:endPar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 typeface="Wingdings" panose="05000000000000000000" pitchFamily="2" charset="2"/>
              <a:buChar char="u"/>
              <a:defRPr/>
            </a:pPr>
            <a:r>
              <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(3) </a:t>
            </a:r>
            <a:r>
              <a:rPr kumimoji="0" lang="zh-CN" altLang="en-US"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适应度计算</a:t>
            </a:r>
            <a:endPar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Tx/>
              <a:buNone/>
              <a:defRPr/>
            </a:pP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如：</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011101</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101011</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011100</a:t>
            </a: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latin typeface="Times New Roman" panose="02020603050405020304" pitchFamily="18" charset="0"/>
                <a:ea typeface="宋体" panose="02010600030101010101" pitchFamily="2" charset="-122"/>
                <a:cs typeface="+mn-cs"/>
              </a:rPr>
              <a:t>111001</a:t>
            </a:r>
            <a:endParaRPr kumimoji="0" lang="en-US" altLang="zh-CN" sz="2400" kern="1200" cap="none" spc="0" normalizeH="0" baseline="0" noProof="0" dirty="0">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 typeface="Wingdings" panose="05000000000000000000" pitchFamily="2" charset="2"/>
              <a:buChar char="u"/>
              <a:defRPr/>
            </a:pPr>
            <a:r>
              <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(4) </a:t>
            </a:r>
            <a:r>
              <a:rPr kumimoji="0" lang="zh-CN" altLang="en-US"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rPr>
              <a:t>选择</a:t>
            </a:r>
            <a:endParaRPr kumimoji="0" lang="en-US" altLang="zh-CN" sz="2400" b="1" kern="1200" cap="none" spc="0" normalizeH="0" baseline="0" noProof="0" dirty="0">
              <a:solidFill>
                <a:srgbClr val="C000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110000"/>
              </a:lnSpc>
              <a:spcBef>
                <a:spcPct val="20000"/>
              </a:spcBef>
              <a:buClr>
                <a:srgbClr val="376092"/>
              </a:buClr>
              <a:buSzPct val="75000"/>
              <a:buFontTx/>
              <a:buNone/>
              <a:defRPr/>
            </a:pPr>
            <a:br>
              <a:rPr kumimoji="0" lang="zh-CN" altLang="en-US" sz="2400" kern="1200" cap="none" spc="0" normalizeH="0" baseline="0" noProof="0" dirty="0">
                <a:latin typeface="Times New Roman" panose="02020603050405020304" pitchFamily="18" charset="0"/>
                <a:ea typeface="宋体" panose="02010600030101010101" pitchFamily="2" charset="-122"/>
                <a:cs typeface="+mn-cs"/>
              </a:rPr>
            </a:br>
            <a:r>
              <a:rPr kumimoji="0" lang="zh-CN" altLang="en-US" sz="2400" kern="1200" cap="none" spc="0" normalizeH="0" baseline="0" noProof="0" dirty="0">
                <a:latin typeface="Times New Roman" panose="02020603050405020304" pitchFamily="18" charset="0"/>
                <a:ea typeface="宋体" panose="02010600030101010101" pitchFamily="2" charset="-122"/>
                <a:cs typeface="+mn-cs"/>
              </a:rPr>
              <a:t> </a:t>
            </a:r>
            <a:br>
              <a:rPr kumimoji="0" lang="zh-CN" altLang="en-US" sz="2400" kern="1200" cap="none" spc="0" normalizeH="0" baseline="0" noProof="0" dirty="0">
                <a:latin typeface="Times New Roman" panose="02020603050405020304" pitchFamily="18" charset="0"/>
                <a:ea typeface="宋体" panose="02010600030101010101" pitchFamily="2" charset="-122"/>
                <a:cs typeface="+mn-cs"/>
              </a:rPr>
            </a:br>
            <a:endParaRPr kumimoji="1" lang="zh-CN" altLang="en-US" sz="2400" b="1" kern="0" cap="none" spc="0" normalizeH="0" baseline="0" noProof="0" dirty="0">
              <a:solidFill>
                <a:srgbClr val="0033CC"/>
              </a:solidFill>
              <a:latin typeface="+mn-lt"/>
              <a:ea typeface="+mn-ea"/>
              <a:cs typeface="华文新魏" panose="02010800040101010101" pitchFamily="2" charset="-122"/>
            </a:endParaRPr>
          </a:p>
        </p:txBody>
      </p:sp>
      <p:sp>
        <p:nvSpPr>
          <p:cNvPr id="68614"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68615" name="Rectangle 2"/>
          <p:cNvSpPr txBox="1"/>
          <p:nvPr/>
        </p:nvSpPr>
        <p:spPr>
          <a:xfrm>
            <a:off x="3273425" y="806450"/>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sp>
        <p:nvSpPr>
          <p:cNvPr id="69635" name="矩形 2"/>
          <p:cNvSpPr/>
          <p:nvPr/>
        </p:nvSpPr>
        <p:spPr>
          <a:xfrm>
            <a:off x="395288" y="1268413"/>
            <a:ext cx="8424862" cy="52625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algn="just" eaLnBrk="1" hangingPunct="1">
              <a:spcBef>
                <a:spcPct val="0"/>
              </a:spcBef>
              <a:buClrTx/>
              <a:buSzTx/>
              <a:buFontTx/>
              <a:buNone/>
            </a:pPr>
            <a:r>
              <a:rPr lang="zh-CN" altLang="en-US" sz="2400" b="1" dirty="0">
                <a:solidFill>
                  <a:srgbClr val="FF0000"/>
                </a:solidFill>
                <a:ea typeface="宋体" panose="02010600030101010101" pitchFamily="2" charset="-122"/>
              </a:rPr>
              <a:t>轮盘赌选择法</a:t>
            </a:r>
            <a:r>
              <a:rPr lang="zh-CN" altLang="en-US" sz="2400" b="1" dirty="0">
                <a:ea typeface="宋体" panose="02010600030101010101" pitchFamily="2" charset="-122"/>
              </a:rPr>
              <a:t>是依据个体的适应度值计算每个个体在子代中出现的概率，并按照此概率随机选择个体构成子代种群。轮盘赌选择策略的出发点是</a:t>
            </a:r>
            <a:r>
              <a:rPr lang="zh-CN" altLang="en-US" sz="2400" b="1" dirty="0">
                <a:solidFill>
                  <a:srgbClr val="FF0000"/>
                </a:solidFill>
                <a:ea typeface="宋体" panose="02010600030101010101" pitchFamily="2" charset="-122"/>
              </a:rPr>
              <a:t>适应度值越好的个体被选择的概率越大</a:t>
            </a:r>
            <a:r>
              <a:rPr lang="zh-CN" altLang="en-US" sz="2400" b="1" dirty="0">
                <a:ea typeface="宋体" panose="02010600030101010101" pitchFamily="2" charset="-122"/>
              </a:rPr>
              <a:t>。因此，在求解最大化问题的时候，我们可以直接采用适应度值来进行选择。</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en-US" altLang="zh-CN" sz="2400" b="1" dirty="0">
                <a:ea typeface="宋体" panose="02010600030101010101" pitchFamily="2" charset="-122"/>
              </a:rPr>
              <a:t>(1)  </a:t>
            </a:r>
            <a:r>
              <a:rPr lang="zh-CN" altLang="en-US" sz="2400" b="1" dirty="0">
                <a:ea typeface="宋体" panose="02010600030101010101" pitchFamily="2" charset="-122"/>
              </a:rPr>
              <a:t>将种群中个体的适应度值叠加，得到总适应度值</a:t>
            </a:r>
            <a:r>
              <a:rPr lang="en-US" altLang="zh-CN" sz="2400" b="1" dirty="0">
                <a:ea typeface="宋体" panose="02010600030101010101" pitchFamily="2" charset="-122"/>
              </a:rPr>
              <a:t>==1 </a:t>
            </a:r>
            <a:r>
              <a:rPr lang="zh-CN" altLang="en-US" sz="2400" b="1" dirty="0">
                <a:ea typeface="宋体" panose="02010600030101010101" pitchFamily="2" charset="-122"/>
              </a:rPr>
              <a:t>，其中 为种群中个体个数。</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en-US" altLang="zh-CN" sz="2400" b="1" dirty="0">
                <a:ea typeface="宋体" panose="02010600030101010101" pitchFamily="2" charset="-122"/>
              </a:rPr>
              <a:t>(2)  </a:t>
            </a:r>
            <a:r>
              <a:rPr lang="zh-CN" altLang="en-US" sz="2400" b="1" dirty="0">
                <a:ea typeface="宋体" panose="02010600030101010101" pitchFamily="2" charset="-122"/>
              </a:rPr>
              <a:t>每个个体的适应度值除以总适应度值得到个体被选择的概率</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en-US" altLang="zh-CN" sz="2400" b="1" dirty="0">
                <a:ea typeface="宋体" panose="02010600030101010101" pitchFamily="2" charset="-122"/>
              </a:rPr>
              <a:t>(3)  </a:t>
            </a:r>
            <a:r>
              <a:rPr lang="zh-CN" altLang="en-US" sz="2400" b="1" dirty="0">
                <a:ea typeface="宋体" panose="02010600030101010101" pitchFamily="2" charset="-122"/>
              </a:rPr>
              <a:t>计算个体的累积概率以构造一个轮盘。</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en-US" altLang="zh-CN" sz="2400" b="1" dirty="0">
                <a:ea typeface="宋体" panose="02010600030101010101" pitchFamily="2" charset="-122"/>
              </a:rPr>
              <a:t>(4)  </a:t>
            </a:r>
            <a:r>
              <a:rPr lang="zh-CN" altLang="en-US" sz="2400" b="1" dirty="0">
                <a:ea typeface="宋体" panose="02010600030101010101" pitchFamily="2" charset="-122"/>
              </a:rPr>
              <a:t>轮盘选择：产生一个</a:t>
            </a:r>
            <a:r>
              <a:rPr lang="en-US" altLang="zh-CN" sz="2400" b="1" dirty="0">
                <a:ea typeface="宋体" panose="02010600030101010101" pitchFamily="2" charset="-122"/>
              </a:rPr>
              <a:t>[0,1]</a:t>
            </a:r>
            <a:r>
              <a:rPr lang="zh-CN" altLang="en-US" sz="2400" b="1" dirty="0">
                <a:ea typeface="宋体" panose="02010600030101010101" pitchFamily="2" charset="-122"/>
              </a:rPr>
              <a:t>区间内的随机数，若该随机数小于或等于个体的累积概率且大于个体</a:t>
            </a:r>
            <a:r>
              <a:rPr lang="en-US" altLang="zh-CN" sz="2400" b="1" dirty="0">
                <a:ea typeface="宋体" panose="02010600030101010101" pitchFamily="2" charset="-122"/>
              </a:rPr>
              <a:t>1</a:t>
            </a:r>
            <a:r>
              <a:rPr lang="zh-CN" altLang="en-US" sz="2400" b="1" dirty="0">
                <a:ea typeface="宋体" panose="02010600030101010101" pitchFamily="2" charset="-122"/>
              </a:rPr>
              <a:t>的累积概率，选择个体进入子代种群。</a:t>
            </a:r>
            <a:endParaRPr lang="zh-CN" altLang="en-US" sz="2400" b="1" dirty="0">
              <a:ea typeface="宋体" panose="02010600030101010101" pitchFamily="2" charset="-122"/>
            </a:endParaRPr>
          </a:p>
          <a:p>
            <a:pPr marL="0" lvl="0" indent="0" algn="just" eaLnBrk="1" hangingPunct="1">
              <a:spcBef>
                <a:spcPct val="0"/>
              </a:spcBef>
              <a:buClrTx/>
              <a:buSzTx/>
              <a:buFontTx/>
              <a:buNone/>
            </a:pPr>
            <a:r>
              <a:rPr lang="zh-CN" altLang="en-US" sz="2400" b="1" dirty="0">
                <a:ea typeface="宋体" panose="02010600030101010101" pitchFamily="2" charset="-122"/>
              </a:rPr>
              <a:t>重复步骤</a:t>
            </a:r>
            <a:r>
              <a:rPr lang="en-US" altLang="zh-CN" sz="2400" b="1" dirty="0">
                <a:ea typeface="宋体" panose="02010600030101010101" pitchFamily="2" charset="-122"/>
              </a:rPr>
              <a:t>(4)</a:t>
            </a:r>
            <a:r>
              <a:rPr lang="zh-CN" altLang="en-US" sz="2400" b="1" dirty="0">
                <a:ea typeface="宋体" panose="02010600030101010101" pitchFamily="2" charset="-122"/>
              </a:rPr>
              <a:t>次，得到的个体构成新一代种群。</a:t>
            </a:r>
            <a:endParaRPr lang="zh-CN" altLang="en-US" sz="2400" b="1" dirty="0">
              <a:ea typeface="宋体" panose="02010600030101010101" pitchFamily="2" charset="-122"/>
            </a:endParaRPr>
          </a:p>
        </p:txBody>
      </p:sp>
      <p:sp>
        <p:nvSpPr>
          <p:cNvPr id="69636"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69637" name="Rectangle 2"/>
          <p:cNvSpPr txBox="1"/>
          <p:nvPr/>
        </p:nvSpPr>
        <p:spPr>
          <a:xfrm>
            <a:off x="3419475" y="747713"/>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70659" name="Picture 1" descr="C:\Users\Administrator\AppData\Roaming\Tencent\Users\306925339\QQ\WinTemp\RichOle\T8OUDLN21HLS5MRYZL[~(}L.png"/>
          <p:cNvPicPr>
            <a:picLocks noChangeAspect="1"/>
          </p:cNvPicPr>
          <p:nvPr/>
        </p:nvPicPr>
        <p:blipFill>
          <a:blip r:embed="rId1"/>
          <a:stretch>
            <a:fillRect/>
          </a:stretch>
        </p:blipFill>
        <p:spPr>
          <a:xfrm>
            <a:off x="1258888" y="1484313"/>
            <a:ext cx="5124450" cy="2200275"/>
          </a:xfrm>
          <a:prstGeom prst="rect">
            <a:avLst/>
          </a:prstGeom>
          <a:noFill/>
          <a:ln w="9525">
            <a:noFill/>
          </a:ln>
        </p:spPr>
      </p:pic>
      <p:sp>
        <p:nvSpPr>
          <p:cNvPr id="70660" name="矩形 4"/>
          <p:cNvSpPr/>
          <p:nvPr/>
        </p:nvSpPr>
        <p:spPr>
          <a:xfrm>
            <a:off x="900113" y="3860800"/>
            <a:ext cx="2441575" cy="431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lnSpc>
                <a:spcPct val="110000"/>
              </a:lnSpc>
              <a:buClr>
                <a:srgbClr val="376092"/>
              </a:buClr>
              <a:buSzPct val="75000"/>
              <a:buFont typeface="Wingdings" panose="05000000000000000000" pitchFamily="2" charset="2"/>
              <a:buChar char="u"/>
            </a:pPr>
            <a:r>
              <a:rPr lang="en-US" altLang="zh-CN" sz="2000" b="1" dirty="0">
                <a:solidFill>
                  <a:srgbClr val="C00000"/>
                </a:solidFill>
                <a:ea typeface="宋体" panose="02010600030101010101" pitchFamily="2" charset="-122"/>
              </a:rPr>
              <a:t>(5) </a:t>
            </a:r>
            <a:r>
              <a:rPr lang="zh-CN" altLang="en-US" sz="2000" b="1" dirty="0">
                <a:solidFill>
                  <a:srgbClr val="C00000"/>
                </a:solidFill>
                <a:ea typeface="宋体" panose="02010600030101010101" pitchFamily="2" charset="-122"/>
              </a:rPr>
              <a:t>交叉和变异：</a:t>
            </a:r>
            <a:endParaRPr lang="en-US" altLang="zh-CN" sz="2000" b="1" dirty="0">
              <a:solidFill>
                <a:srgbClr val="C00000"/>
              </a:solidFill>
              <a:ea typeface="宋体" panose="02010600030101010101" pitchFamily="2" charset="-122"/>
            </a:endParaRPr>
          </a:p>
        </p:txBody>
      </p:sp>
      <p:pic>
        <p:nvPicPr>
          <p:cNvPr id="70661" name="Picture 2" descr="C:\Users\Administrator\AppData\Roaming\Tencent\Users\306925339\QQ\WinTemp\RichOle\U2%{{HND{8$}L0R}QV{O5OU.png"/>
          <p:cNvPicPr>
            <a:picLocks noChangeAspect="1"/>
          </p:cNvPicPr>
          <p:nvPr/>
        </p:nvPicPr>
        <p:blipFill>
          <a:blip r:embed="rId2"/>
          <a:stretch>
            <a:fillRect/>
          </a:stretch>
        </p:blipFill>
        <p:spPr>
          <a:xfrm>
            <a:off x="1258888" y="4437063"/>
            <a:ext cx="5143500" cy="1314450"/>
          </a:xfrm>
          <a:prstGeom prst="rect">
            <a:avLst/>
          </a:prstGeom>
          <a:noFill/>
          <a:ln w="9525">
            <a:noFill/>
          </a:ln>
        </p:spPr>
      </p:pic>
      <p:sp>
        <p:nvSpPr>
          <p:cNvPr id="70662"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70663" name="Rectangle 2"/>
          <p:cNvSpPr txBox="1"/>
          <p:nvPr/>
        </p:nvSpPr>
        <p:spPr>
          <a:xfrm>
            <a:off x="3273425" y="806450"/>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灯片编号占位符 1"/>
          <p:cNvSpPr txBox="1">
            <a:spLocks noGrp="1"/>
          </p:cNvSpPr>
          <p:nvPr>
            <p:ph type="sldNum" sz="quarter" idx="4"/>
          </p:nvPr>
        </p:nvSpPr>
        <p:spPr/>
        <p:txBody>
          <a:bodyPr anchor="b" anchorCtr="0"/>
          <a:p>
            <a:pPr marL="0" indent="0" algn="r" eaLnBrk="1" hangingPunct="1">
              <a:spcBef>
                <a:spcPct val="0"/>
              </a:spcBef>
              <a:buClrTx/>
              <a:buSzTx/>
              <a:buFontTx/>
              <a:buNone/>
            </a:pPr>
            <a:fld id="{9A0DB2DC-4C9A-4742-B13C-FB6460FD3503}" type="slidenum">
              <a:rPr lang="en-US" altLang="zh-CN" sz="1400" dirty="0">
                <a:latin typeface="Tahoma" panose="020B0604030504040204" pitchFamily="34" charset="0"/>
                <a:ea typeface="宋体" panose="02010600030101010101" pitchFamily="2" charset="-122"/>
              </a:rPr>
            </a:fld>
            <a:endParaRPr lang="en-US" altLang="zh-CN" sz="1400" dirty="0">
              <a:latin typeface="Tahoma" panose="020B0604030504040204" pitchFamily="34" charset="0"/>
              <a:ea typeface="宋体" panose="02010600030101010101" pitchFamily="2" charset="-122"/>
            </a:endParaRPr>
          </a:p>
        </p:txBody>
      </p:sp>
      <p:pic>
        <p:nvPicPr>
          <p:cNvPr id="71683" name="Picture 1" descr="C:\Users\Administrator\AppData\Roaming\Tencent\Users\306925339\QQ\WinTemp\RichOle\SIPF@@P@Z80RK94ZBR0GO3N.png"/>
          <p:cNvPicPr>
            <a:picLocks noChangeAspect="1"/>
          </p:cNvPicPr>
          <p:nvPr/>
        </p:nvPicPr>
        <p:blipFill>
          <a:blip r:embed="rId1"/>
          <a:stretch>
            <a:fillRect/>
          </a:stretch>
        </p:blipFill>
        <p:spPr>
          <a:xfrm>
            <a:off x="1331913" y="1700213"/>
            <a:ext cx="5067300" cy="1104900"/>
          </a:xfrm>
          <a:prstGeom prst="rect">
            <a:avLst/>
          </a:prstGeom>
          <a:noFill/>
          <a:ln w="9525">
            <a:noFill/>
          </a:ln>
        </p:spPr>
      </p:pic>
      <p:sp>
        <p:nvSpPr>
          <p:cNvPr id="71684" name="矩形 3"/>
          <p:cNvSpPr/>
          <p:nvPr/>
        </p:nvSpPr>
        <p:spPr>
          <a:xfrm>
            <a:off x="1042988" y="3141663"/>
            <a:ext cx="5281612"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lnSpc>
                <a:spcPct val="110000"/>
              </a:lnSpc>
              <a:buClr>
                <a:srgbClr val="376092"/>
              </a:buClr>
              <a:buSzPct val="75000"/>
              <a:buFont typeface="Wingdings" panose="05000000000000000000" pitchFamily="2" charset="2"/>
              <a:buChar char="u"/>
            </a:pPr>
            <a:r>
              <a:rPr lang="en-US" altLang="zh-CN" sz="2000" b="1" dirty="0">
                <a:solidFill>
                  <a:srgbClr val="C00000"/>
                </a:solidFill>
                <a:ea typeface="宋体" panose="02010600030101010101" pitchFamily="2" charset="-122"/>
              </a:rPr>
              <a:t>(6) </a:t>
            </a:r>
            <a:r>
              <a:rPr lang="zh-CN" altLang="en-US" sz="2000" b="1" dirty="0">
                <a:solidFill>
                  <a:srgbClr val="C00000"/>
                </a:solidFill>
                <a:ea typeface="宋体" panose="02010600030101010101" pitchFamily="2" charset="-122"/>
              </a:rPr>
              <a:t>判断终止条件，若不满足，继续循环：</a:t>
            </a:r>
            <a:endParaRPr lang="en-US" altLang="zh-CN" sz="2000" b="1" dirty="0">
              <a:solidFill>
                <a:srgbClr val="C00000"/>
              </a:solidFill>
              <a:ea typeface="宋体" panose="02010600030101010101" pitchFamily="2" charset="-122"/>
            </a:endParaRPr>
          </a:p>
        </p:txBody>
      </p:sp>
      <p:pic>
        <p:nvPicPr>
          <p:cNvPr id="71685" name="Picture 2" descr="C:\Users\Administrator\AppData\Roaming\Tencent\Users\306925339\QQ\WinTemp\RichOle\2AJ6{I$6UAKVO5ENHS_9F4R.png"/>
          <p:cNvPicPr>
            <a:picLocks noChangeAspect="1"/>
          </p:cNvPicPr>
          <p:nvPr/>
        </p:nvPicPr>
        <p:blipFill>
          <a:blip r:embed="rId2"/>
          <a:stretch>
            <a:fillRect/>
          </a:stretch>
        </p:blipFill>
        <p:spPr>
          <a:xfrm>
            <a:off x="1403350" y="3789363"/>
            <a:ext cx="4514850" cy="1343025"/>
          </a:xfrm>
          <a:prstGeom prst="rect">
            <a:avLst/>
          </a:prstGeom>
          <a:noFill/>
          <a:ln w="9525">
            <a:noFill/>
          </a:ln>
        </p:spPr>
      </p:pic>
      <p:sp>
        <p:nvSpPr>
          <p:cNvPr id="71686" name="矩形 5"/>
          <p:cNvSpPr/>
          <p:nvPr/>
        </p:nvSpPr>
        <p:spPr>
          <a:xfrm>
            <a:off x="1116013" y="5300663"/>
            <a:ext cx="4764087" cy="431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342900" lvl="0" indent="-342900" eaLnBrk="1" hangingPunct="1">
              <a:lnSpc>
                <a:spcPct val="110000"/>
              </a:lnSpc>
              <a:buClr>
                <a:srgbClr val="376092"/>
              </a:buClr>
              <a:buSzPct val="75000"/>
              <a:buFont typeface="Wingdings" panose="05000000000000000000" pitchFamily="2" charset="2"/>
              <a:buChar char="u"/>
            </a:pPr>
            <a:r>
              <a:rPr lang="en-US" altLang="zh-CN" sz="2000" b="1" dirty="0">
                <a:solidFill>
                  <a:srgbClr val="C00000"/>
                </a:solidFill>
                <a:ea typeface="宋体" panose="02010600030101010101" pitchFamily="2" charset="-122"/>
              </a:rPr>
              <a:t>(7) </a:t>
            </a:r>
            <a:r>
              <a:rPr lang="zh-CN" altLang="en-US" sz="2000" b="1" dirty="0">
                <a:solidFill>
                  <a:srgbClr val="C00000"/>
                </a:solidFill>
                <a:ea typeface="宋体" panose="02010600030101010101" pitchFamily="2" charset="-122"/>
              </a:rPr>
              <a:t>迭代停止，输出最终的最优个体；</a:t>
            </a:r>
            <a:endParaRPr lang="en-US" altLang="zh-CN" sz="2000" b="1" dirty="0">
              <a:solidFill>
                <a:srgbClr val="C00000"/>
              </a:solidFill>
              <a:ea typeface="宋体" panose="02010600030101010101" pitchFamily="2" charset="-122"/>
            </a:endParaRPr>
          </a:p>
        </p:txBody>
      </p:sp>
      <p:sp>
        <p:nvSpPr>
          <p:cNvPr id="71687" name="TextBox 6"/>
          <p:cNvSpPr txBox="1"/>
          <p:nvPr/>
        </p:nvSpPr>
        <p:spPr>
          <a:xfrm>
            <a:off x="4211638" y="44450"/>
            <a:ext cx="5329237"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3600" b="1" dirty="0">
                <a:solidFill>
                  <a:srgbClr val="0033CC"/>
                </a:solidFill>
                <a:ea typeface="宋体" panose="02010600030101010101" pitchFamily="2" charset="-122"/>
              </a:rPr>
              <a:t>5.3</a:t>
            </a:r>
            <a:r>
              <a:rPr lang="zh-CN" altLang="en-US" sz="3600" b="1" dirty="0">
                <a:solidFill>
                  <a:srgbClr val="0033CC"/>
                </a:solidFill>
                <a:ea typeface="宋体" panose="02010600030101010101" pitchFamily="2" charset="-122"/>
              </a:rPr>
              <a:t>特征子集的搜索策略</a:t>
            </a:r>
            <a:endParaRPr lang="zh-CN" altLang="en-US" sz="3600" b="1" dirty="0">
              <a:solidFill>
                <a:srgbClr val="0033CC"/>
              </a:solidFill>
              <a:ea typeface="宋体" panose="02010600030101010101" pitchFamily="2" charset="-122"/>
            </a:endParaRPr>
          </a:p>
        </p:txBody>
      </p:sp>
      <p:sp>
        <p:nvSpPr>
          <p:cNvPr id="71688" name="Rectangle 2"/>
          <p:cNvSpPr txBox="1"/>
          <p:nvPr/>
        </p:nvSpPr>
        <p:spPr>
          <a:xfrm>
            <a:off x="3273425" y="1044575"/>
            <a:ext cx="7204075" cy="520700"/>
          </a:xfrm>
          <a:prstGeom prst="rect">
            <a:avLst/>
          </a:prstGeom>
          <a:noFill/>
          <a:ln w="9525">
            <a:noFill/>
          </a:ln>
        </p:spPr>
        <p:txBody>
          <a:bodyPr lIns="90488" tIns="44450" rIns="90488" bIns="44450"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solidFill>
                  <a:srgbClr val="0033CC"/>
                </a:solidFill>
                <a:latin typeface="宋体" panose="02010600030101010101" pitchFamily="2" charset="-122"/>
                <a:ea typeface="宋体" panose="02010600030101010101" pitchFamily="2" charset="-122"/>
              </a:rPr>
              <a:t>6.</a:t>
            </a:r>
            <a:r>
              <a:rPr lang="zh-CN" altLang="en-US" sz="2800" b="1" dirty="0">
                <a:solidFill>
                  <a:srgbClr val="0033CC"/>
                </a:solidFill>
                <a:latin typeface="宋体" panose="02010600030101010101" pitchFamily="2" charset="-122"/>
                <a:ea typeface="宋体" panose="02010600030101010101" pitchFamily="2" charset="-122"/>
              </a:rPr>
              <a:t>遗传算法</a:t>
            </a:r>
            <a:endParaRPr lang="zh-CN" altLang="en-US" sz="2800" b="1" dirty="0">
              <a:solidFill>
                <a:srgbClr val="0033CC"/>
              </a:solidFill>
              <a:latin typeface="宋体" panose="02010600030101010101" pitchFamily="2" charset="-122"/>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华文新魏"/>
        <a:cs typeface=""/>
      </a:majorFont>
      <a:minorFont>
        <a:latin typeface="Times New Roman"/>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ppt/theme/themeOverride2.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ppt/theme/themeOverride3.xml><?xml version="1.0" encoding="utf-8"?>
<a:themeOverride xmlns:a="http://schemas.openxmlformats.org/drawingml/2006/main">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themeOverride>
</file>

<file path=docProps/app.xml><?xml version="1.0" encoding="utf-8"?>
<Properties xmlns="http://schemas.openxmlformats.org/officeDocument/2006/extended-properties" xmlns:vt="http://schemas.openxmlformats.org/officeDocument/2006/docPropsVTypes">
  <TotalTime>0</TotalTime>
  <Words>8330</Words>
  <Application>WPS 演示</Application>
  <PresentationFormat>全屏显示(4:3)</PresentationFormat>
  <Paragraphs>647</Paragraphs>
  <Slides>64</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42</vt:i4>
      </vt:variant>
      <vt:variant>
        <vt:lpstr>幻灯片标题</vt:lpstr>
      </vt:variant>
      <vt:variant>
        <vt:i4>64</vt:i4>
      </vt:variant>
    </vt:vector>
  </HeadingPairs>
  <TitlesOfParts>
    <vt:vector size="122" baseType="lpstr">
      <vt:lpstr>Arial</vt:lpstr>
      <vt:lpstr>宋体</vt:lpstr>
      <vt:lpstr>Wingdings</vt:lpstr>
      <vt:lpstr>Times New Roman</vt:lpstr>
      <vt:lpstr>楷体_GB2312</vt:lpstr>
      <vt:lpstr>Tahoma</vt:lpstr>
      <vt:lpstr>华文新魏</vt:lpstr>
      <vt:lpstr>黑体</vt:lpstr>
      <vt:lpstr>华文楷体</vt:lpstr>
      <vt:lpstr>微软雅黑</vt:lpstr>
      <vt:lpstr>Calibri</vt:lpstr>
      <vt:lpstr>Arial Unicode MS</vt:lpstr>
      <vt:lpstr>PingFang SC</vt:lpstr>
      <vt:lpstr>Segoe Print</vt:lpstr>
      <vt:lpstr>Wingdings 3</vt:lpstr>
      <vt:lpstr>Blends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三大类特征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1.基于距离的可分性判据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1.单独最优特征组合</vt:lpstr>
      <vt:lpstr>2.顺序前进法（SFS）:最简单的自下而上搜索算法</vt:lpstr>
      <vt:lpstr>PowerPoint 演示文稿</vt:lpstr>
      <vt:lpstr>4. 顺序后退法（SBS）：自上而下的方法</vt:lpstr>
      <vt:lpstr>5.增l减r法（l-r）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6.遗传算法（前序课程已讲）</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刘旭</cp:lastModifiedBy>
  <cp:revision>657</cp:revision>
  <dcterms:created xsi:type="dcterms:W3CDTF">2013-04-25T08:06:00Z</dcterms:created>
  <dcterms:modified xsi:type="dcterms:W3CDTF">2025-10-20T13:54:01Z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3A640FBC951C409D9F79781D210B7715_12</vt:lpwstr>
  </property>
  <property fmtid="{D5CDD505-2E9C-101B-9397-08002B2CF9AE}" pid="3" name="KSOProductBuildVer">
    <vt:lpwstr>2052-12.1.0.23125</vt:lpwstr>
  </property>
</Properties>
</file>
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  <p:sldMasterId id="2147483680" r:id="rId4"/>
    <p:sldMasterId id="2147483696" r:id="rId5"/>
    <p:sldMasterId id="2147483712" r:id="rId6"/>
    <p:sldMasterId id="2147483728" r:id="rId7"/>
  </p:sldMasterIdLst>
  <p:notesMasterIdLst>
    <p:notesMasterId r:id="rId9"/>
  </p:notesMasterIdLst>
  <p:sldIdLst>
    <p:sldId id="256" r:id="rId8"/>
    <p:sldId id="298" r:id="rId10"/>
    <p:sldId id="422" r:id="rId11"/>
    <p:sldId id="421" r:id="rId12"/>
    <p:sldId id="378" r:id="rId13"/>
    <p:sldId id="379" r:id="rId14"/>
    <p:sldId id="381" r:id="rId15"/>
    <p:sldId id="296" r:id="rId16"/>
    <p:sldId id="451" r:id="rId17"/>
    <p:sldId id="295" r:id="rId18"/>
    <p:sldId id="323" r:id="rId19"/>
    <p:sldId id="325" r:id="rId20"/>
    <p:sldId id="423" r:id="rId21"/>
    <p:sldId id="427" r:id="rId22"/>
    <p:sldId id="257" r:id="rId23"/>
    <p:sldId id="326" r:id="rId24"/>
    <p:sldId id="417" r:id="rId25"/>
    <p:sldId id="433" r:id="rId26"/>
    <p:sldId id="327" r:id="rId27"/>
    <p:sldId id="328" r:id="rId28"/>
    <p:sldId id="329" r:id="rId29"/>
    <p:sldId id="330" r:id="rId30"/>
    <p:sldId id="331" r:id="rId31"/>
    <p:sldId id="333" r:id="rId32"/>
    <p:sldId id="334" r:id="rId33"/>
    <p:sldId id="335" r:id="rId34"/>
    <p:sldId id="336" r:id="rId35"/>
    <p:sldId id="337" r:id="rId36"/>
    <p:sldId id="338" r:id="rId37"/>
    <p:sldId id="429" r:id="rId38"/>
    <p:sldId id="426" r:id="rId39"/>
    <p:sldId id="428" r:id="rId40"/>
    <p:sldId id="424" r:id="rId41"/>
    <p:sldId id="425" r:id="rId42"/>
    <p:sldId id="431" r:id="rId43"/>
    <p:sldId id="432" r:id="rId44"/>
    <p:sldId id="430" r:id="rId45"/>
    <p:sldId id="448" r:id="rId46"/>
    <p:sldId id="449" r:id="rId47"/>
    <p:sldId id="342" r:id="rId48"/>
    <p:sldId id="418" r:id="rId49"/>
    <p:sldId id="419" r:id="rId50"/>
    <p:sldId id="435" r:id="rId51"/>
    <p:sldId id="434" r:id="rId52"/>
    <p:sldId id="442" r:id="rId53"/>
    <p:sldId id="283" r:id="rId54"/>
    <p:sldId id="436" r:id="rId55"/>
    <p:sldId id="437" r:id="rId56"/>
    <p:sldId id="440" r:id="rId57"/>
    <p:sldId id="438" r:id="rId58"/>
    <p:sldId id="439" r:id="rId59"/>
    <p:sldId id="441" r:id="rId60"/>
    <p:sldId id="443" r:id="rId61"/>
    <p:sldId id="444" r:id="rId62"/>
    <p:sldId id="445" r:id="rId63"/>
    <p:sldId id="446" r:id="rId64"/>
    <p:sldId id="447" r:id="rId65"/>
    <p:sldId id="450" r:id="rId6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3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Xu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00CB"/>
    <a:srgbClr val="3333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7717"/>
    <p:restoredTop sz="82326"/>
  </p:normalViewPr>
  <p:slideViewPr>
    <p:cSldViewPr showGuides="1">
      <p:cViewPr varScale="1">
        <p:scale>
          <a:sx n="116" d="100"/>
          <a:sy n="116" d="100"/>
        </p:scale>
        <p:origin x="1052" y="84"/>
      </p:cViewPr>
      <p:guideLst>
        <p:guide orient="horz" pos="303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0" Type="http://schemas.openxmlformats.org/officeDocument/2006/relationships/commentAuthors" Target="commentAuthors.xml"/><Relationship Id="rId7" Type="http://schemas.openxmlformats.org/officeDocument/2006/relationships/slideMaster" Target="slideMasters/slideMaster6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slide" Target="slides/slide58.xml"/><Relationship Id="rId65" Type="http://schemas.openxmlformats.org/officeDocument/2006/relationships/slide" Target="slides/slide57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60" Type="http://schemas.openxmlformats.org/officeDocument/2006/relationships/slide" Target="slides/slide52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1.xml"/><Relationship Id="rId58" Type="http://schemas.openxmlformats.org/officeDocument/2006/relationships/slide" Target="slides/slide50.xml"/><Relationship Id="rId57" Type="http://schemas.openxmlformats.org/officeDocument/2006/relationships/slide" Target="slides/slide49.xml"/><Relationship Id="rId56" Type="http://schemas.openxmlformats.org/officeDocument/2006/relationships/slide" Target="slides/slide48.xml"/><Relationship Id="rId55" Type="http://schemas.openxmlformats.org/officeDocument/2006/relationships/slide" Target="slides/slide47.xml"/><Relationship Id="rId54" Type="http://schemas.openxmlformats.org/officeDocument/2006/relationships/slide" Target="slides/slide46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71077ED-3F98-485E-AD35-AC635059D2A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幻灯片图像占位符 1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文本占位符 2"/>
          <p:cNvSpPr/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marL="0" lvl="1" indent="0" eaLnBrk="1" hangingPunct="1"/>
            <a:r>
              <a:rPr lang="zh-CN" altLang="el-GR" sz="2800" b="1" dirty="0">
                <a:solidFill>
                  <a:schemeClr val="hlink"/>
                </a:solidFill>
                <a:latin typeface="宋体" panose="02010600030101010101" pitchFamily="2" charset="-122"/>
              </a:rPr>
              <a:t>最小错误率</a:t>
            </a:r>
            <a:r>
              <a:rPr lang="zh-CN" altLang="en-US" sz="2800" b="1" dirty="0">
                <a:solidFill>
                  <a:schemeClr val="hlink"/>
                </a:solidFill>
                <a:latin typeface="宋体" panose="02010600030101010101" pitchFamily="2" charset="-122"/>
              </a:rPr>
              <a:t>准则：</a:t>
            </a:r>
            <a:r>
              <a:rPr lang="zh-CN" altLang="en-US" sz="2600" b="1" dirty="0">
                <a:latin typeface="宋体" panose="02010600030101010101" pitchFamily="2" charset="-122"/>
              </a:rPr>
              <a:t>使错误率为最小的分类规则。</a:t>
            </a:r>
            <a:endParaRPr lang="en-US" altLang="zh-CN" sz="2600" b="1" dirty="0">
              <a:latin typeface="宋体" panose="02010600030101010101" pitchFamily="2" charset="-122"/>
            </a:endParaRPr>
          </a:p>
          <a:p>
            <a:pPr marL="0" lvl="1" indent="0" eaLnBrk="1" hangingPunct="1"/>
            <a:r>
              <a:rPr lang="zh-CN" altLang="en-US" sz="28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最小风险准则：</a:t>
            </a:r>
            <a:r>
              <a:rPr lang="zh-CN" altLang="en-US" sz="2600" b="1" dirty="0">
                <a:latin typeface="宋体" panose="02010600030101010101" pitchFamily="2" charset="-122"/>
              </a:rPr>
              <a:t>宁可扩大一些总的错误率，但也要使总的损失减少。</a:t>
            </a:r>
            <a:endParaRPr lang="en-US" altLang="zh-CN" sz="2600" b="1" dirty="0">
              <a:latin typeface="宋体" panose="02010600030101010101" pitchFamily="2" charset="-122"/>
            </a:endParaRPr>
          </a:p>
          <a:p>
            <a:pPr marL="0" lvl="1" indent="0" eaLnBrk="1" hangingPunct="1"/>
            <a:endParaRPr lang="en-US" altLang="zh-CN" sz="2600" b="1" dirty="0">
              <a:latin typeface="宋体" panose="02010600030101010101" pitchFamily="2" charset="-122"/>
            </a:endParaRPr>
          </a:p>
          <a:p>
            <a:pPr lvl="0" eaLnBrk="1" hangingPunct="1"/>
            <a:endParaRPr lang="zh-CN" altLang="en-US" dirty="0"/>
          </a:p>
        </p:txBody>
      </p:sp>
      <p:sp>
        <p:nvSpPr>
          <p:cNvPr id="30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3584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891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608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en-US" altLang="zh-CN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/>
          </a:p>
        </p:txBody>
      </p:sp>
      <p:sp>
        <p:nvSpPr>
          <p:cNvPr id="460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813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481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017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501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2227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5222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427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542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632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563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0419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2467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451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i="1" dirty="0"/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656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37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987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798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2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  <p:sp>
        <p:nvSpPr>
          <p:cNvPr id="819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39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r>
              <a:rPr lang="zh-CN" altLang="en-US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先验概率</a:t>
            </a:r>
            <a:r>
              <a:rPr lang="en-US" altLang="zh-CN" b="1" dirty="0">
                <a:solidFill>
                  <a:srgbClr val="00006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: </a:t>
            </a:r>
            <a:r>
              <a:rPr lang="zh-CN" altLang="en-US" dirty="0"/>
              <a:t>预先已知的或者可以估计的模式识别系统位于某种类型的概率。</a:t>
            </a:r>
            <a:endParaRPr lang="en-US" altLang="zh-CN" b="1" dirty="0"/>
          </a:p>
          <a:p>
            <a:pPr lvl="0" eaLnBrk="1" hangingPunct="1"/>
            <a:r>
              <a:rPr lang="zh-CN" altLang="en-US" b="1" dirty="0"/>
              <a:t>类（条件）概率：</a:t>
            </a:r>
            <a:r>
              <a:rPr lang="zh-CN" altLang="en-US" dirty="0"/>
              <a:t>是系统位于某种类型条件下，模式样本</a:t>
            </a:r>
            <a:r>
              <a:rPr lang="en-US" altLang="zh-CN" dirty="0"/>
              <a:t>x</a:t>
            </a:r>
            <a:r>
              <a:rPr lang="zh-CN" altLang="en-US" dirty="0"/>
              <a:t>出现的概率密度分布。</a:t>
            </a:r>
            <a:endParaRPr lang="en-US" altLang="zh-CN" dirty="0"/>
          </a:p>
          <a:p>
            <a:pPr lvl="0" eaLnBrk="1" hangingPunct="1"/>
            <a:r>
              <a:rPr lang="zh-CN" altLang="en-US" b="1" dirty="0"/>
              <a:t>后验概率：</a:t>
            </a:r>
            <a:r>
              <a:rPr lang="zh-CN" altLang="en-US" dirty="0"/>
              <a:t>是系统在某个具体的模式样本</a:t>
            </a:r>
            <a:r>
              <a:rPr lang="en-US" altLang="zh-CN" dirty="0"/>
              <a:t> </a:t>
            </a:r>
            <a:r>
              <a:rPr lang="zh-CN" altLang="en-US" dirty="0"/>
              <a:t>条件下，属于某种类型的概率分布。</a:t>
            </a:r>
            <a:endParaRPr lang="zh-CN" altLang="en-US" dirty="0"/>
          </a:p>
          <a:p>
            <a:pPr lvl="0" eaLnBrk="1" hangingPunct="1"/>
            <a:endParaRPr lang="zh-CN" altLang="en-US" dirty="0"/>
          </a:p>
        </p:txBody>
      </p:sp>
      <p:sp>
        <p:nvSpPr>
          <p:cNvPr id="839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sz="1800" dirty="0">
                <a:latin typeface="Times New Roman" panose="02020603050405020304" pitchFamily="18" charset="0"/>
              </a:rPr>
            </a:fld>
            <a:endParaRPr lang="zh-CN" altLang="en-US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860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911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CN" altLang="en-US" sz="3600" b="1" kern="12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936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华文新魏" panose="0201080004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2263" y="765175"/>
            <a:ext cx="1947862" cy="54721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7088" y="765175"/>
            <a:ext cx="5692775" cy="54721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270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270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27088" y="765175"/>
            <a:ext cx="7793037" cy="5472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CN" altLang="en-US" sz="3600" b="1" kern="12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936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华文新魏" panose="0201080004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2263" y="765175"/>
            <a:ext cx="1947862" cy="54721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7088" y="765175"/>
            <a:ext cx="5692775" cy="54721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270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270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27088" y="765175"/>
            <a:ext cx="7793037" cy="5472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CN" altLang="en-US" sz="3600" b="1" kern="12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936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华文新魏" panose="0201080004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2263" y="765175"/>
            <a:ext cx="1947862" cy="54721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7088" y="765175"/>
            <a:ext cx="5692775" cy="54721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270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270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27088" y="765175"/>
            <a:ext cx="7793037" cy="5472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CN" altLang="en-US" sz="3600" b="1" kern="12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936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华文新魏" panose="0201080004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2263" y="765175"/>
            <a:ext cx="1947862" cy="54721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7088" y="765175"/>
            <a:ext cx="5692775" cy="54721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270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270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27088" y="765175"/>
            <a:ext cx="7793037" cy="5472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CN" altLang="en-US" sz="3600" b="1" kern="12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936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华文新魏" panose="0201080004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2263" y="765175"/>
            <a:ext cx="1947862" cy="54721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7088" y="765175"/>
            <a:ext cx="5692775" cy="54721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270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270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27088" y="765175"/>
            <a:ext cx="7793037" cy="5472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zh-CN" altLang="en-US" sz="3600" b="1" kern="12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0438" y="632936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</a:fld>
            <a:endParaRPr lang="en-US" altLang="zh-CN" dirty="0">
              <a:latin typeface="Tahoma" panose="020B060403050404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华文新魏" panose="0201080004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72263" y="765175"/>
            <a:ext cx="1947862" cy="54721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27088" y="765175"/>
            <a:ext cx="5692775" cy="54721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94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270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270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27088" y="765175"/>
            <a:ext cx="7793037" cy="54721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93037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27088" y="2122488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89488" y="21224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89488" y="4256088"/>
            <a:ext cx="3810000" cy="1981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8" Type="http://schemas.openxmlformats.org/officeDocument/2006/relationships/theme" Target="../theme/theme2.xml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8" Type="http://schemas.openxmlformats.org/officeDocument/2006/relationships/theme" Target="../theme/theme4.xml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8" Type="http://schemas.openxmlformats.org/officeDocument/2006/relationships/theme" Target="../theme/theme5.xml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74.xml"/><Relationship Id="rId1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9.xml"/><Relationship Id="rId3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7.xml"/><Relationship Id="rId18" Type="http://schemas.openxmlformats.org/officeDocument/2006/relationships/theme" Target="../theme/theme6.xml"/><Relationship Id="rId17" Type="http://schemas.openxmlformats.org/officeDocument/2006/relationships/image" Target="../media/image2.jpeg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5.xml"/><Relationship Id="rId1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1036" name="Picture 15" descr="blue00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-38100"/>
            <a:ext cx="9144000" cy="6896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Picture 14" descr="GoogleBalls_small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27900" y="5734050"/>
            <a:ext cx="1435100" cy="641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8" name="Rectangle 17"/>
          <p:cNvSpPr>
            <a:spLocks noChangeArrowheads="1"/>
          </p:cNvSpPr>
          <p:nvPr/>
        </p:nvSpPr>
        <p:spPr bwMode="auto">
          <a:xfrm>
            <a:off x="6443663" y="476250"/>
            <a:ext cx="2411413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1039" name="Rectangle 9"/>
          <p:cNvSpPr>
            <a:spLocks noGrp="1"/>
          </p:cNvSpPr>
          <p:nvPr>
            <p:ph type="title"/>
          </p:nvPr>
        </p:nvSpPr>
        <p:spPr>
          <a:xfrm>
            <a:off x="827088" y="404813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0" name="Rectangle 10"/>
          <p:cNvSpPr>
            <a:spLocks noGrp="1"/>
          </p:cNvSpPr>
          <p:nvPr>
            <p:ph type="body"/>
          </p:nvPr>
        </p:nvSpPr>
        <p:spPr>
          <a:xfrm>
            <a:off x="827088" y="1700213"/>
            <a:ext cx="7772400" cy="46085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+mj-lt"/>
          <a:ea typeface="+mj-ea"/>
          <a:cs typeface="华文新魏" panose="0201080004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2060" name="Picture 15" descr="blue00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-38100"/>
            <a:ext cx="9144000" cy="6896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Picture 14" descr="GoogleBalls_small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27900" y="5734050"/>
            <a:ext cx="1435100" cy="641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2" name="Rectangle 17"/>
          <p:cNvSpPr>
            <a:spLocks noChangeArrowheads="1"/>
          </p:cNvSpPr>
          <p:nvPr/>
        </p:nvSpPr>
        <p:spPr bwMode="auto">
          <a:xfrm>
            <a:off x="6443663" y="476250"/>
            <a:ext cx="2411413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2063" name="Rectangle 9"/>
          <p:cNvSpPr>
            <a:spLocks noGrp="1"/>
          </p:cNvSpPr>
          <p:nvPr>
            <p:ph type="title"/>
          </p:nvPr>
        </p:nvSpPr>
        <p:spPr>
          <a:xfrm>
            <a:off x="827088" y="404813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64" name="Rectangle 10"/>
          <p:cNvSpPr>
            <a:spLocks noGrp="1"/>
          </p:cNvSpPr>
          <p:nvPr>
            <p:ph type="body"/>
          </p:nvPr>
        </p:nvSpPr>
        <p:spPr>
          <a:xfrm>
            <a:off x="827088" y="1700213"/>
            <a:ext cx="7772400" cy="46085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+mj-lt"/>
          <a:ea typeface="+mj-ea"/>
          <a:cs typeface="华文新魏" panose="0201080004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2" name="Picture 15" descr="blue00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-38100"/>
            <a:ext cx="9144000" cy="6896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Picture 14" descr="GoogleBalls_small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27900" y="5734050"/>
            <a:ext cx="1435100" cy="641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6" name="Rectangle 17"/>
          <p:cNvSpPr>
            <a:spLocks noChangeArrowheads="1"/>
          </p:cNvSpPr>
          <p:nvPr/>
        </p:nvSpPr>
        <p:spPr bwMode="auto">
          <a:xfrm>
            <a:off x="6443663" y="476250"/>
            <a:ext cx="2411413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3087" name="Rectangle 9"/>
          <p:cNvSpPr>
            <a:spLocks noGrp="1"/>
          </p:cNvSpPr>
          <p:nvPr>
            <p:ph type="title"/>
          </p:nvPr>
        </p:nvSpPr>
        <p:spPr>
          <a:xfrm>
            <a:off x="827088" y="404813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88" name="Rectangle 10"/>
          <p:cNvSpPr>
            <a:spLocks noGrp="1"/>
          </p:cNvSpPr>
          <p:nvPr>
            <p:ph type="body"/>
          </p:nvPr>
        </p:nvSpPr>
        <p:spPr>
          <a:xfrm>
            <a:off x="827088" y="1700213"/>
            <a:ext cx="7772400" cy="46085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+mj-lt"/>
          <a:ea typeface="+mj-ea"/>
          <a:cs typeface="华文新魏" panose="0201080004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4108" name="Picture 15" descr="blue00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-38100"/>
            <a:ext cx="9144000" cy="6896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9" name="Picture 14" descr="GoogleBalls_small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27900" y="5734050"/>
            <a:ext cx="1435100" cy="641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10" name="Rectangle 17"/>
          <p:cNvSpPr>
            <a:spLocks noChangeArrowheads="1"/>
          </p:cNvSpPr>
          <p:nvPr/>
        </p:nvSpPr>
        <p:spPr bwMode="auto">
          <a:xfrm>
            <a:off x="6443663" y="476250"/>
            <a:ext cx="2411413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4111" name="Rectangle 9"/>
          <p:cNvSpPr>
            <a:spLocks noGrp="1"/>
          </p:cNvSpPr>
          <p:nvPr>
            <p:ph type="title"/>
          </p:nvPr>
        </p:nvSpPr>
        <p:spPr>
          <a:xfrm>
            <a:off x="827088" y="404813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112" name="Rectangle 10"/>
          <p:cNvSpPr>
            <a:spLocks noGrp="1"/>
          </p:cNvSpPr>
          <p:nvPr>
            <p:ph type="body"/>
          </p:nvPr>
        </p:nvSpPr>
        <p:spPr>
          <a:xfrm>
            <a:off x="827088" y="1700213"/>
            <a:ext cx="7772400" cy="46085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+mj-lt"/>
          <a:ea typeface="+mj-ea"/>
          <a:cs typeface="华文新魏" panose="0201080004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5132" name="Picture 15" descr="blue00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-38100"/>
            <a:ext cx="9144000" cy="6896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33" name="Picture 14" descr="GoogleBalls_small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27900" y="5734050"/>
            <a:ext cx="1435100" cy="641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34" name="Rectangle 17"/>
          <p:cNvSpPr>
            <a:spLocks noChangeArrowheads="1"/>
          </p:cNvSpPr>
          <p:nvPr/>
        </p:nvSpPr>
        <p:spPr bwMode="auto">
          <a:xfrm>
            <a:off x="6443663" y="476250"/>
            <a:ext cx="2411413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5135" name="Rectangle 9"/>
          <p:cNvSpPr>
            <a:spLocks noGrp="1"/>
          </p:cNvSpPr>
          <p:nvPr>
            <p:ph type="title"/>
          </p:nvPr>
        </p:nvSpPr>
        <p:spPr>
          <a:xfrm>
            <a:off x="827088" y="404813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36" name="Rectangle 10"/>
          <p:cNvSpPr>
            <a:spLocks noGrp="1"/>
          </p:cNvSpPr>
          <p:nvPr>
            <p:ph type="body"/>
          </p:nvPr>
        </p:nvSpPr>
        <p:spPr>
          <a:xfrm>
            <a:off x="827088" y="1700213"/>
            <a:ext cx="7772400" cy="46085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+mj-lt"/>
          <a:ea typeface="+mj-ea"/>
          <a:cs typeface="华文新魏" panose="0201080004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2" name="Rectangle 8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ct val="0"/>
              </a:spcBef>
              <a:spcAft>
                <a:spcPts val="0"/>
              </a:spcAft>
              <a:defRPr sz="1400" b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6156" name="Picture 15" descr="blue002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-38100"/>
            <a:ext cx="9144000" cy="6896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57" name="Picture 14" descr="GoogleBalls_small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7327900" y="5734050"/>
            <a:ext cx="1435100" cy="641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8" name="Rectangle 17"/>
          <p:cNvSpPr>
            <a:spLocks noChangeArrowheads="1"/>
          </p:cNvSpPr>
          <p:nvPr/>
        </p:nvSpPr>
        <p:spPr bwMode="auto">
          <a:xfrm>
            <a:off x="6443663" y="476250"/>
            <a:ext cx="2411413" cy="43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anose="02010609030101010101" pitchFamily="49" charset="-122"/>
              <a:cs typeface="+mn-cs"/>
            </a:endParaRPr>
          </a:p>
        </p:txBody>
      </p:sp>
      <p:sp>
        <p:nvSpPr>
          <p:cNvPr id="6159" name="Rectangle 9"/>
          <p:cNvSpPr>
            <a:spLocks noGrp="1"/>
          </p:cNvSpPr>
          <p:nvPr>
            <p:ph type="title"/>
          </p:nvPr>
        </p:nvSpPr>
        <p:spPr>
          <a:xfrm>
            <a:off x="827088" y="404813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160" name="Rectangle 10"/>
          <p:cNvSpPr>
            <a:spLocks noGrp="1"/>
          </p:cNvSpPr>
          <p:nvPr>
            <p:ph type="body"/>
          </p:nvPr>
        </p:nvSpPr>
        <p:spPr>
          <a:xfrm>
            <a:off x="827088" y="1700213"/>
            <a:ext cx="7772400" cy="460851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+mj-lt"/>
          <a:ea typeface="+mj-ea"/>
          <a:cs typeface="华文新魏" panose="0201080004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  <a:cs typeface="华文新魏" panose="020108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hlink"/>
          </a:solidFill>
          <a:latin typeface="Times New Roman" panose="02020603050405020304" pitchFamily="18" charset="0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华文新魏" panose="0201080004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7.xml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2.jpeg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14.jpeg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5.GIF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2.jpeg"/><Relationship Id="rId1" Type="http://schemas.openxmlformats.org/officeDocument/2006/relationships/image" Target="../media/image21.GI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4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5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7.xml"/><Relationship Id="rId1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7.xml"/><Relationship Id="rId1" Type="http://schemas.openxmlformats.org/officeDocument/2006/relationships/image" Target="../media/image28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9.xml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0482" name="Group 12"/>
          <p:cNvGrpSpPr/>
          <p:nvPr/>
        </p:nvGrpSpPr>
        <p:grpSpPr>
          <a:xfrm>
            <a:off x="250825" y="1243013"/>
            <a:ext cx="5267325" cy="1393825"/>
            <a:chOff x="279" y="661"/>
            <a:chExt cx="3318" cy="878"/>
          </a:xfrm>
        </p:grpSpPr>
        <p:pic>
          <p:nvPicPr>
            <p:cNvPr id="20484" name="Picture 13" descr="logo00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9" y="663"/>
              <a:ext cx="1104" cy="87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485" name="Picture 14" descr="headerpers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3" y="661"/>
              <a:ext cx="1104" cy="87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486" name="Picture 15" descr="blue0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3" y="663"/>
              <a:ext cx="1104" cy="87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0483" name="Rectangle 16"/>
          <p:cNvSpPr/>
          <p:nvPr/>
        </p:nvSpPr>
        <p:spPr>
          <a:xfrm>
            <a:off x="465138" y="3238500"/>
            <a:ext cx="8353425" cy="2359025"/>
          </a:xfrm>
          <a:prstGeom prst="rect">
            <a:avLst/>
          </a:prstGeom>
          <a:noFill/>
          <a:ln w="9525">
            <a:noFill/>
          </a:ln>
        </p:spPr>
        <p:txBody>
          <a:bodyPr lIns="9000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>
              <a:spcBef>
                <a:spcPts val="1200"/>
              </a:spcBef>
              <a:buFontTx/>
              <a:buNone/>
            </a:pPr>
            <a:r>
              <a:rPr lang="zh-CN" altLang="en-US" sz="38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第九章</a:t>
            </a:r>
            <a:endParaRPr lang="en-US" altLang="zh-CN" sz="3800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algn="ctr">
              <a:spcBef>
                <a:spcPts val="1200"/>
              </a:spcBef>
              <a:buFontTx/>
              <a:buNone/>
            </a:pPr>
            <a:r>
              <a:rPr lang="zh-CN" altLang="en-US" sz="38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组合分类器</a:t>
            </a:r>
            <a:endParaRPr lang="en-US" altLang="zh-CN" sz="3800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algn="ctr">
              <a:spcBef>
                <a:spcPts val="4000"/>
              </a:spcBef>
              <a:buFontTx/>
              <a:buNone/>
            </a:pPr>
            <a:endParaRPr lang="en-US" altLang="zh-CN" sz="2800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11"/>
          <p:cNvSpPr txBox="1"/>
          <p:nvPr/>
        </p:nvSpPr>
        <p:spPr>
          <a:xfrm>
            <a:off x="395288" y="1646238"/>
            <a:ext cx="8135937" cy="829945"/>
          </a:xfrm>
          <a:prstGeom prst="rect">
            <a:avLst/>
          </a:prstGeom>
          <a:noFill/>
          <a:ln w="57150">
            <a:noFill/>
          </a:ln>
        </p:spPr>
        <p:txBody>
          <a:bodyPr anchor="t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组合分类器的核心思想是对于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多个单独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的分类器的结果进行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加权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整合，以获得一个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更好的性能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2"/>
          <p:cNvSpPr txBox="1">
            <a:spLocks noRot="1" noChangeArrowheads="1"/>
          </p:cNvSpPr>
          <p:nvPr/>
        </p:nvSpPr>
        <p:spPr bwMode="auto">
          <a:xfrm>
            <a:off x="827088" y="404813"/>
            <a:ext cx="779303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个体与组合的关系</a:t>
            </a:r>
            <a:endParaRPr kumimoji="1" lang="zh-CN" altLang="en-US" sz="3600" b="1" kern="1200" cap="none" spc="0" normalizeH="0" baseline="0" noProof="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22532" name="AutoShape 4"/>
          <p:cNvSpPr/>
          <p:nvPr/>
        </p:nvSpPr>
        <p:spPr>
          <a:xfrm>
            <a:off x="539750" y="3763963"/>
            <a:ext cx="1371600" cy="8382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训练数据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AutoShape 5"/>
          <p:cNvSpPr/>
          <p:nvPr/>
        </p:nvSpPr>
        <p:spPr>
          <a:xfrm>
            <a:off x="2597150" y="3078163"/>
            <a:ext cx="10668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C1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AutoShape 6"/>
          <p:cNvSpPr/>
          <p:nvPr/>
        </p:nvSpPr>
        <p:spPr>
          <a:xfrm>
            <a:off x="2597150" y="3840163"/>
            <a:ext cx="10668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C2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5" name="AutoShape 7"/>
          <p:cNvSpPr/>
          <p:nvPr/>
        </p:nvSpPr>
        <p:spPr>
          <a:xfrm>
            <a:off x="2597150" y="5287963"/>
            <a:ext cx="1066800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Ct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6" name="AutoShape 8"/>
          <p:cNvSpPr/>
          <p:nvPr/>
        </p:nvSpPr>
        <p:spPr>
          <a:xfrm>
            <a:off x="4425950" y="3992563"/>
            <a:ext cx="1219200" cy="6096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组合得票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7" name="Oval 9"/>
          <p:cNvSpPr/>
          <p:nvPr/>
        </p:nvSpPr>
        <p:spPr>
          <a:xfrm>
            <a:off x="4273550" y="2925763"/>
            <a:ext cx="1524000" cy="7620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测试数据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8" name="Oval 10"/>
          <p:cNvSpPr/>
          <p:nvPr/>
        </p:nvSpPr>
        <p:spPr>
          <a:xfrm>
            <a:off x="6178550" y="3916363"/>
            <a:ext cx="1524000" cy="6096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类预测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2539" name="Rectangle 11"/>
          <p:cNvSpPr/>
          <p:nvPr/>
        </p:nvSpPr>
        <p:spPr>
          <a:xfrm>
            <a:off x="2749550" y="4602163"/>
            <a:ext cx="685800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  <a:sym typeface="Wingdings" panose="05000000000000000000" pitchFamily="2" charset="2"/>
              </a:rPr>
              <a:t>···</a:t>
            </a:r>
            <a:endParaRPr lang="en-US" altLang="zh-CN" sz="2800" dirty="0">
              <a:latin typeface="Tahoma" panose="020B060403050404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22540" name="Line 12"/>
          <p:cNvSpPr/>
          <p:nvPr/>
        </p:nvSpPr>
        <p:spPr>
          <a:xfrm flipV="1">
            <a:off x="1911350" y="3382963"/>
            <a:ext cx="6858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1" name="Line 13"/>
          <p:cNvSpPr/>
          <p:nvPr/>
        </p:nvSpPr>
        <p:spPr>
          <a:xfrm flipV="1">
            <a:off x="1911350" y="4068763"/>
            <a:ext cx="6858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2" name="Line 14"/>
          <p:cNvSpPr/>
          <p:nvPr/>
        </p:nvSpPr>
        <p:spPr>
          <a:xfrm>
            <a:off x="1911350" y="4525963"/>
            <a:ext cx="68580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3" name="Line 15"/>
          <p:cNvSpPr/>
          <p:nvPr/>
        </p:nvSpPr>
        <p:spPr>
          <a:xfrm>
            <a:off x="3663950" y="3382963"/>
            <a:ext cx="7620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4" name="Line 16"/>
          <p:cNvSpPr/>
          <p:nvPr/>
        </p:nvSpPr>
        <p:spPr>
          <a:xfrm>
            <a:off x="3663950" y="4144963"/>
            <a:ext cx="76200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5" name="Line 17"/>
          <p:cNvSpPr/>
          <p:nvPr/>
        </p:nvSpPr>
        <p:spPr>
          <a:xfrm flipV="1">
            <a:off x="3663950" y="4602163"/>
            <a:ext cx="83820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6" name="Line 18"/>
          <p:cNvSpPr/>
          <p:nvPr/>
        </p:nvSpPr>
        <p:spPr>
          <a:xfrm>
            <a:off x="4959350" y="3687763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47" name="Line 19"/>
          <p:cNvSpPr/>
          <p:nvPr/>
        </p:nvSpPr>
        <p:spPr>
          <a:xfrm>
            <a:off x="5645150" y="4221163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438" y="519113"/>
            <a:ext cx="8239125" cy="5819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285" y="893445"/>
            <a:ext cx="7211695" cy="5016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矩形 1"/>
          <p:cNvSpPr/>
          <p:nvPr/>
        </p:nvSpPr>
        <p:spPr>
          <a:xfrm>
            <a:off x="4716145" y="5012690"/>
            <a:ext cx="3938905" cy="89789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539750" y="1700213"/>
            <a:ext cx="8316913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评估分类法的准确率</a:t>
            </a:r>
            <a:endParaRPr kumimoji="1" lang="zh-CN" altLang="en-US" sz="26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1" lang="en-US" altLang="zh-CN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holdout</a:t>
            </a:r>
            <a:endParaRPr kumimoji="1" lang="en-US" altLang="zh-CN" sz="26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1" lang="en-US" altLang="zh-CN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K-</a:t>
            </a:r>
            <a:r>
              <a:rPr kumimoji="1" lang="zh-CN" altLang="en-US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倍交叉验证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k-fold cross validation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kumimoji="1" lang="zh-CN" altLang="en-US" sz="26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提高分类法的准确率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Arcing (adaptive reweighting and combining):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重新使用或选择数据，以期达到改善分类器性能的目的。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bagging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boosting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 bwMode="auto">
          <a:xfrm>
            <a:off x="979805" y="1075055"/>
            <a:ext cx="7793355" cy="7035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0" lang="zh-CN" altLang="en-US" sz="3600" b="1" kern="1200" cap="none" spc="0" normalizeH="0" baseline="0" noProof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分类法的准确性评估</a:t>
            </a:r>
            <a:endParaRPr kumimoji="1" lang="zh-CN" altLang="en-US" sz="3600" b="1" kern="1200" cap="none" spc="0" normalizeH="0" baseline="0" noProof="1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827088" y="1700213"/>
            <a:ext cx="7772400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holdout</a:t>
            </a:r>
            <a:endParaRPr kumimoji="1" lang="en-US" altLang="zh-CN" sz="26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划分为两个</a:t>
            </a:r>
            <a:r>
              <a:rPr kumimoji="1" lang="zh-CN" altLang="en-US" sz="26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独立</a:t>
            </a:r>
            <a:r>
              <a:rPr kumimoji="1" lang="zh-CN" altLang="en-US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的数据集：</a:t>
            </a:r>
            <a:endParaRPr kumimoji="1" lang="zh-CN" altLang="en-US" sz="26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charset="0"/>
              <a:buNone/>
              <a:defRPr/>
            </a:pPr>
            <a:r>
              <a:rPr kumimoji="1" lang="zh-CN" altLang="en-US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    训练集，测试集</a:t>
            </a:r>
            <a:endParaRPr kumimoji="1" lang="en-US" altLang="zh-CN" sz="26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1" lang="zh-CN" altLang="en-US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变形：随机</a:t>
            </a:r>
            <a:r>
              <a:rPr kumimoji="1" lang="zh-CN" altLang="en-US" sz="26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子集选择</a:t>
            </a:r>
            <a:endParaRPr kumimoji="1" lang="zh-CN" altLang="en-US" sz="26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 bwMode="auto">
          <a:xfrm>
            <a:off x="979488" y="1074738"/>
            <a:ext cx="779303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评估分类法的准确率评估（</a:t>
            </a:r>
            <a:r>
              <a:rPr kumimoji="0" lang="zh-CN" altLang="zh-CN" sz="3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endParaRPr kumimoji="0" lang="zh-CN" altLang="en-US" sz="3600" b="1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7652" name="Group 15"/>
          <p:cNvGrpSpPr/>
          <p:nvPr/>
        </p:nvGrpSpPr>
        <p:grpSpPr>
          <a:xfrm>
            <a:off x="914400" y="4114800"/>
            <a:ext cx="7391400" cy="1752600"/>
            <a:chOff x="576" y="2592"/>
            <a:chExt cx="4656" cy="1104"/>
          </a:xfrm>
        </p:grpSpPr>
        <p:sp>
          <p:nvSpPr>
            <p:cNvPr id="27653" name="AutoShape 4"/>
            <p:cNvSpPr/>
            <p:nvPr/>
          </p:nvSpPr>
          <p:spPr>
            <a:xfrm>
              <a:off x="576" y="2928"/>
              <a:ext cx="768" cy="576"/>
            </a:xfrm>
            <a:prstGeom prst="can">
              <a:avLst>
                <a:gd name="adj" fmla="val 42361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数据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4" name="Line 5"/>
            <p:cNvSpPr/>
            <p:nvPr/>
          </p:nvSpPr>
          <p:spPr>
            <a:xfrm flipV="1">
              <a:off x="1392" y="2976"/>
              <a:ext cx="384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55" name="Line 6"/>
            <p:cNvSpPr/>
            <p:nvPr/>
          </p:nvSpPr>
          <p:spPr>
            <a:xfrm>
              <a:off x="1344" y="3360"/>
              <a:ext cx="48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56" name="AutoShape 7"/>
            <p:cNvSpPr/>
            <p:nvPr/>
          </p:nvSpPr>
          <p:spPr>
            <a:xfrm>
              <a:off x="1776" y="2688"/>
              <a:ext cx="672" cy="432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训练集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7" name="AutoShape 8"/>
            <p:cNvSpPr/>
            <p:nvPr/>
          </p:nvSpPr>
          <p:spPr>
            <a:xfrm>
              <a:off x="1824" y="3264"/>
              <a:ext cx="720" cy="432"/>
            </a:xfrm>
            <a:prstGeom prst="can">
              <a:avLst>
                <a:gd name="adj" fmla="val 25000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测试集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8" name="Oval 9"/>
            <p:cNvSpPr/>
            <p:nvPr/>
          </p:nvSpPr>
          <p:spPr>
            <a:xfrm>
              <a:off x="2928" y="2640"/>
              <a:ext cx="864" cy="48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导出分类法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59" name="Oval 10"/>
            <p:cNvSpPr/>
            <p:nvPr/>
          </p:nvSpPr>
          <p:spPr>
            <a:xfrm>
              <a:off x="4320" y="2592"/>
              <a:ext cx="912" cy="528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 dirty="0">
                  <a:latin typeface="Tahoma" panose="020B0604030504040204" pitchFamily="34" charset="0"/>
                  <a:ea typeface="宋体" panose="02010600030101010101" pitchFamily="2" charset="-122"/>
                </a:rPr>
                <a:t>评估准确性</a:t>
              </a:r>
              <a:endParaRPr lang="zh-CN" altLang="en-US" sz="2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60" name="Line 11"/>
            <p:cNvSpPr/>
            <p:nvPr/>
          </p:nvSpPr>
          <p:spPr>
            <a:xfrm>
              <a:off x="2496" y="2928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61" name="Line 12"/>
            <p:cNvSpPr/>
            <p:nvPr/>
          </p:nvSpPr>
          <p:spPr>
            <a:xfrm>
              <a:off x="3888" y="2928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cxnSp>
          <p:nvCxnSpPr>
            <p:cNvPr id="27662" name="AutoShape 13"/>
            <p:cNvCxnSpPr>
              <a:stCxn id="27657" idx="4"/>
              <a:endCxn id="27659" idx="4"/>
            </p:cNvCxnSpPr>
            <p:nvPr/>
          </p:nvCxnSpPr>
          <p:spPr>
            <a:xfrm flipV="1">
              <a:off x="2544" y="3120"/>
              <a:ext cx="2232" cy="360"/>
            </a:xfrm>
            <a:prstGeom prst="bentConnector2">
              <a:avLst/>
            </a:prstGeom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3"/>
          <p:cNvSpPr>
            <a:spLocks noGrp="1"/>
          </p:cNvSpPr>
          <p:nvPr>
            <p:ph idx="1"/>
          </p:nvPr>
        </p:nvSpPr>
        <p:spPr>
          <a:xfrm>
            <a:off x="827088" y="1700213"/>
            <a:ext cx="7772400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k-fold cross validation</a:t>
            </a:r>
            <a:endParaRPr kumimoji="0" lang="en-US" altLang="zh-CN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将数据集分为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个子集；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k-1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子集作训练集，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个子集作测试集，然后</a:t>
            </a:r>
            <a:r>
              <a:rPr kumimoji="0" lang="en-US" altLang="zh-CN" sz="2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k</a:t>
            </a:r>
            <a:r>
              <a:rPr kumimoji="0" lang="zh-CN" altLang="en-US" sz="26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次交叉验证求平均。</a:t>
            </a:r>
            <a:endParaRPr kumimoji="0" lang="zh-CN" altLang="en-US" sz="2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charset="0"/>
              <a:buNone/>
              <a:defRPr/>
            </a:pP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 bwMode="auto">
          <a:xfrm>
            <a:off x="979488" y="1576388"/>
            <a:ext cx="7793038" cy="627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评估分类法的准确率评估（</a:t>
            </a:r>
            <a:r>
              <a:rPr kumimoji="0" lang="zh-CN" altLang="zh-CN" sz="3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endParaRPr kumimoji="0" lang="zh-CN" altLang="en-US" sz="3600" b="1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1200" cap="none" spc="0" normalizeH="0" baseline="0" noProof="1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676" name="AutoShape 4"/>
          <p:cNvSpPr/>
          <p:nvPr/>
        </p:nvSpPr>
        <p:spPr>
          <a:xfrm>
            <a:off x="1695450" y="4505325"/>
            <a:ext cx="1219200" cy="914400"/>
          </a:xfrm>
          <a:prstGeom prst="can">
            <a:avLst>
              <a:gd name="adj" fmla="val 42361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数据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AutoShape 5"/>
          <p:cNvSpPr/>
          <p:nvPr/>
        </p:nvSpPr>
        <p:spPr>
          <a:xfrm>
            <a:off x="3600450" y="3667125"/>
            <a:ext cx="1066800" cy="6858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S1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AutoShape 6"/>
          <p:cNvSpPr/>
          <p:nvPr/>
        </p:nvSpPr>
        <p:spPr>
          <a:xfrm>
            <a:off x="3600450" y="4429125"/>
            <a:ext cx="1066800" cy="6858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S2</a:t>
            </a:r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9" name="AutoShape 7"/>
          <p:cNvSpPr/>
          <p:nvPr/>
        </p:nvSpPr>
        <p:spPr>
          <a:xfrm>
            <a:off x="3657600" y="5648325"/>
            <a:ext cx="1066800" cy="6858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Tahoma" panose="020B060403050404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1500" dirty="0">
                <a:latin typeface="Tahoma" panose="020B0604030504040204" pitchFamily="34" charset="0"/>
                <a:ea typeface="宋体" panose="02010600030101010101" pitchFamily="2" charset="-122"/>
              </a:rPr>
              <a:t>k</a:t>
            </a:r>
            <a:endParaRPr lang="en-US" altLang="zh-CN" sz="15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0" name="Line 8"/>
          <p:cNvSpPr/>
          <p:nvPr/>
        </p:nvSpPr>
        <p:spPr>
          <a:xfrm flipV="1">
            <a:off x="2819400" y="4048125"/>
            <a:ext cx="70485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81" name="Line 9"/>
          <p:cNvSpPr/>
          <p:nvPr/>
        </p:nvSpPr>
        <p:spPr>
          <a:xfrm flipV="1">
            <a:off x="2895600" y="4886325"/>
            <a:ext cx="6096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82" name="Line 10"/>
          <p:cNvSpPr/>
          <p:nvPr/>
        </p:nvSpPr>
        <p:spPr>
          <a:xfrm>
            <a:off x="2819400" y="5343525"/>
            <a:ext cx="8382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83" name="Rectangle 11"/>
          <p:cNvSpPr/>
          <p:nvPr/>
        </p:nvSpPr>
        <p:spPr>
          <a:xfrm>
            <a:off x="3829050" y="5191125"/>
            <a:ext cx="685800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  <a:sym typeface="Wingdings" panose="05000000000000000000" pitchFamily="2" charset="2"/>
              </a:rPr>
              <a:t>···</a:t>
            </a:r>
            <a:endParaRPr lang="en-US" altLang="zh-CN" sz="2800" dirty="0">
              <a:latin typeface="Tahoma" panose="020B060403050404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28684" name="AutoShape 12"/>
          <p:cNvSpPr/>
          <p:nvPr/>
        </p:nvSpPr>
        <p:spPr>
          <a:xfrm>
            <a:off x="4972050" y="4810125"/>
            <a:ext cx="304800" cy="1371600"/>
          </a:xfrm>
          <a:prstGeom prst="rightBrace">
            <a:avLst>
              <a:gd name="adj1" fmla="val 375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5" name="AutoShape 13"/>
          <p:cNvSpPr/>
          <p:nvPr/>
        </p:nvSpPr>
        <p:spPr>
          <a:xfrm>
            <a:off x="6191250" y="5191125"/>
            <a:ext cx="990600" cy="6858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训练集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6" name="AutoShape 14"/>
          <p:cNvSpPr/>
          <p:nvPr/>
        </p:nvSpPr>
        <p:spPr>
          <a:xfrm>
            <a:off x="6115050" y="3667125"/>
            <a:ext cx="1066800" cy="6858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  <a:ea typeface="宋体" panose="02010600030101010101" pitchFamily="2" charset="-122"/>
              </a:rPr>
              <a:t>测试集</a:t>
            </a:r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7" name="Line 15"/>
          <p:cNvSpPr/>
          <p:nvPr/>
        </p:nvSpPr>
        <p:spPr>
          <a:xfrm>
            <a:off x="4819650" y="3971925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28688" name="Line 16"/>
          <p:cNvSpPr/>
          <p:nvPr/>
        </p:nvSpPr>
        <p:spPr>
          <a:xfrm>
            <a:off x="5429250" y="5495925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triangle" w="med" len="med"/>
          </a:ln>
        </p:spPr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3"/>
          <p:cNvSpPr>
            <a:spLocks noGrp="1" noRot="1"/>
          </p:cNvSpPr>
          <p:nvPr>
            <p:ph idx="1"/>
          </p:nvPr>
        </p:nvSpPr>
        <p:spPr>
          <a:xfrm>
            <a:off x="827088" y="1916113"/>
            <a:ext cx="7772400" cy="4608512"/>
          </a:xfrm>
        </p:spPr>
        <p:txBody>
          <a:bodyPr vert="horz" wrap="square" lIns="91440" tIns="45720" rIns="91440" bIns="45720" anchor="t" anchorCtr="0"/>
          <a:p>
            <a:pPr>
              <a:spcAft>
                <a:spcPct val="20000"/>
              </a:spcAf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泛化误差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ct val="20000"/>
              </a:spcAf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计算复杂度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ct val="20000"/>
              </a:spcAf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其他评价标准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 bwMode="auto">
          <a:xfrm>
            <a:off x="827088" y="404813"/>
            <a:ext cx="779303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分类器组合评价</a:t>
            </a:r>
            <a:endParaRPr kumimoji="1" lang="zh-CN" altLang="en-US" sz="3600" b="1" kern="1200" cap="none" spc="0" normalizeH="0" baseline="0" noProof="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40080" y="2493010"/>
          <a:ext cx="7846060" cy="2082800"/>
        </p:xfrm>
        <a:graphic>
          <a:graphicData uri="http://schemas.openxmlformats.org/drawingml/2006/table">
            <a:tbl>
              <a:tblPr/>
              <a:tblGrid>
                <a:gridCol w="1961515"/>
                <a:gridCol w="1961515"/>
                <a:gridCol w="1961515"/>
                <a:gridCol w="1961515"/>
              </a:tblGrid>
              <a:tr h="616585"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</a:t>
                      </a:r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数据来源</a:t>
                      </a:r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20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意义</a:t>
                      </a:r>
                      <a:endParaRPr lang="zh-CN" altLang="en-US" sz="20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</a:tr>
              <a:tr h="615950"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经验误差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Empirical Error</a:t>
                      </a:r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模型在训练数据上的平均误差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训练集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衡量拟合能力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</a:tr>
              <a:tr h="850265"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泛化误差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Generalization Error</a:t>
                      </a:r>
                      <a:r>
                        <a:rPr lang="zh-CN" altLang="en-US" sz="12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模型在未知数据上的平均误差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测试集</a:t>
                      </a:r>
                      <a:r>
                        <a:rPr lang="en-US" altLang="zh-CN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真实分布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衡量推广能力</a:t>
                      </a:r>
                      <a:endParaRPr lang="zh-CN" altLang="en-US" sz="16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0F0">
                        <a:alpha val="2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88085" y="981075"/>
            <a:ext cx="717042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Aft>
                <a:spcPct val="60000"/>
              </a:spcAft>
            </a:pP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泛化误差（</a:t>
            </a:r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Generalization Error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1030" y="1575435"/>
            <a:ext cx="7882890" cy="8102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定义：泛化误差是指学习到的模型在新样本（即未参与训练的数据）上的预测误差。换句话说，它衡量模型从训练数据推广到未知数据的能力。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40080" y="4784725"/>
            <a:ext cx="3896360" cy="10509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机器学习的核心目标之一，就是在最小化训练误差的同时，最小化泛化误差。也就是：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既学得好，又不死记。</a:t>
            </a: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endParaRPr lang="en-US" altLang="zh-CN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4784725"/>
            <a:ext cx="3848735" cy="10337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3"/>
          <p:cNvSpPr>
            <a:spLocks noGrp="1" noRot="1"/>
          </p:cNvSpPr>
          <p:nvPr>
            <p:ph type="body" sz="half" idx="1"/>
          </p:nvPr>
        </p:nvSpPr>
        <p:spPr>
          <a:xfrm>
            <a:off x="301625" y="1714500"/>
            <a:ext cx="8663305" cy="470154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假设</a:t>
            </a:r>
            <a:r>
              <a:rPr kumimoji="1" 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E(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s)</a:t>
            </a: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表示在数据集</a:t>
            </a:r>
            <a:r>
              <a:rPr kumimoji="1" 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s</a:t>
            </a: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上的组合分类结果，那么</a:t>
            </a:r>
            <a:endParaRPr kumimoji="1" 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E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（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s)</a:t>
            </a: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的泛化误差则是根据</a:t>
            </a: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带类标</a:t>
            </a: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的示例空间分布对</a:t>
            </a: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任意数量</a:t>
            </a: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选定示例的</a:t>
            </a: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误分类概率</a:t>
            </a:r>
            <a:r>
              <a:rPr kumimoji="1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。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估计泛化误差实验方法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持续法：将数据集随机划分为两个互不重叠的部分：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交叉验证估计：将数据集分成</a:t>
            </a: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k 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个大小大致相等的子集（称为折，</a:t>
            </a: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folds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）。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自举法：从原始数据集中有放回地随机抽样生成若干</a:t>
            </a: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“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重采样数据集</a:t>
            </a: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”</a:t>
            </a:r>
            <a:endParaRPr kumimoji="1" lang="en-US" altLang="zh-CN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  <p:sp>
        <p:nvSpPr>
          <p:cNvPr id="8" name="Rectangle 2"/>
          <p:cNvSpPr txBox="1">
            <a:spLocks noRot="1" noChangeArrowheads="1"/>
          </p:cNvSpPr>
          <p:nvPr/>
        </p:nvSpPr>
        <p:spPr bwMode="auto">
          <a:xfrm>
            <a:off x="827088" y="404813"/>
            <a:ext cx="779303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泛化误差</a:t>
            </a:r>
            <a:endParaRPr kumimoji="1" lang="zh-CN" altLang="en-US" sz="3600" b="1" kern="1200" cap="none" spc="0" normalizeH="0" baseline="0" noProof="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11"/>
          <p:cNvSpPr txBox="1"/>
          <p:nvPr/>
        </p:nvSpPr>
        <p:spPr>
          <a:xfrm>
            <a:off x="755650" y="1958975"/>
            <a:ext cx="7699375" cy="828675"/>
          </a:xfrm>
          <a:prstGeom prst="rect">
            <a:avLst/>
          </a:prstGeom>
          <a:noFill/>
          <a:ln w="57150">
            <a:noFill/>
          </a:ln>
        </p:spPr>
        <p:txBody>
          <a:bodyPr anchor="t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计算复杂度一般是通过比较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每一分类器</a:t>
            </a:r>
            <a:r>
              <a:rPr lang="zh-CN" altLang="en-US" sz="2400" b="1" dirty="0">
                <a:ea typeface="宋体" panose="02010600030101010101" pitchFamily="2" charset="-122"/>
              </a:rPr>
              <a:t>在执行过程中耗费的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CPU总数</a:t>
            </a:r>
            <a:r>
              <a:rPr lang="zh-CN" altLang="en-US" sz="2400" b="1" dirty="0">
                <a:ea typeface="宋体" panose="02010600030101010101" pitchFamily="2" charset="-122"/>
              </a:rPr>
              <a:t>，可以将其分为如下三种度量：</a:t>
            </a:r>
            <a:endParaRPr lang="zh-CN" altLang="en-US" sz="2400" b="1" dirty="0">
              <a:ea typeface="宋体" panose="02010600030101010101" pitchFamily="2" charset="-122"/>
            </a:endParaRPr>
          </a:p>
        </p:txBody>
      </p:sp>
      <p:sp>
        <p:nvSpPr>
          <p:cNvPr id="13" name="Rectangle 2"/>
          <p:cNvSpPr txBox="1">
            <a:spLocks noRot="1" noChangeArrowheads="1"/>
          </p:cNvSpPr>
          <p:nvPr/>
        </p:nvSpPr>
        <p:spPr bwMode="auto">
          <a:xfrm>
            <a:off x="827088" y="404813"/>
            <a:ext cx="779303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计算复杂度</a:t>
            </a:r>
            <a:endParaRPr kumimoji="1" lang="zh-CN" altLang="en-US" sz="3600" b="1" kern="1200" cap="none" spc="0" normalizeH="0" baseline="0" noProof="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32772" name="文本占位符 5"/>
          <p:cNvSpPr>
            <a:spLocks noGrp="1"/>
          </p:cNvSpPr>
          <p:nvPr>
            <p:ph idx="1"/>
          </p:nvPr>
        </p:nvSpPr>
        <p:spPr>
          <a:xfrm>
            <a:off x="1600200" y="3013075"/>
            <a:ext cx="5754688" cy="3916363"/>
          </a:xfrm>
        </p:spPr>
        <p:txBody>
          <a:bodyPr vert="horz" wrap="square" lIns="91440" tIns="45720" rIns="91440" bIns="45720" anchor="t" anchorCtr="0"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产生一个新的分类器的计算复杂度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更新一个分类器的计算复杂度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将一个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新样本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进行分类的计算复杂度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773" name="Text Box 11"/>
          <p:cNvSpPr txBox="1"/>
          <p:nvPr/>
        </p:nvSpPr>
        <p:spPr>
          <a:xfrm>
            <a:off x="1089025" y="4740275"/>
            <a:ext cx="6743700" cy="1198563"/>
          </a:xfrm>
          <a:prstGeom prst="rect">
            <a:avLst/>
          </a:prstGeom>
          <a:noFill/>
          <a:ln w="57150">
            <a:noFill/>
          </a:ln>
        </p:spPr>
        <p:txBody>
          <a:bodyPr anchor="t" anchorCtr="1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</a:rPr>
              <a:t>总体复杂度可以看作是这三种度量方式的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总和</a:t>
            </a: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</a:rPr>
              <a:t>，特别是当</a:t>
            </a:r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数据集数量较大</a:t>
            </a:r>
            <a:r>
              <a:rPr lang="zh-CN" altLang="en-US" sz="2400" b="1" dirty="0">
                <a:solidFill>
                  <a:schemeClr val="tx2"/>
                </a:solidFill>
                <a:ea typeface="宋体" panose="02010600030101010101" pitchFamily="2" charset="-122"/>
              </a:rPr>
              <a:t>时，更应当考虑到产生某一新的分类器的损耗。</a:t>
            </a:r>
            <a:endParaRPr lang="zh-CN" altLang="en-US" sz="2400" b="1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3"/>
          <p:cNvSpPr>
            <a:spLocks noGrp="1" noRot="1"/>
          </p:cNvSpPr>
          <p:nvPr>
            <p:ph type="body" sz="half" idx="1"/>
          </p:nvPr>
        </p:nvSpPr>
        <p:spPr>
          <a:xfrm>
            <a:off x="1198880" y="2227580"/>
            <a:ext cx="7616190" cy="438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鲁棒性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稳定性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可解释性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大规模数据的可测量性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  <p:sp>
        <p:nvSpPr>
          <p:cNvPr id="8" name="Rectangle 2"/>
          <p:cNvSpPr txBox="1">
            <a:spLocks noRot="1" noChangeArrowheads="1"/>
          </p:cNvSpPr>
          <p:nvPr/>
        </p:nvSpPr>
        <p:spPr bwMode="auto">
          <a:xfrm>
            <a:off x="827088" y="404813"/>
            <a:ext cx="7793038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zh-CN" altLang="en-US" sz="3600" b="1" kern="120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其他评价标准</a:t>
            </a:r>
            <a:endParaRPr kumimoji="1" lang="zh-CN" altLang="en-US" sz="3600" b="1" kern="1200" cap="none" spc="0" normalizeH="0" baseline="0" noProof="0" dirty="0">
              <a:solidFill>
                <a:srgbClr val="00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8" name="Picture 2"/>
          <p:cNvPicPr>
            <a:picLocks noChangeAspect="1"/>
          </p:cNvPicPr>
          <p:nvPr/>
        </p:nvPicPr>
        <p:blipFill>
          <a:blip r:embed="rId1"/>
          <a:srcRect t="16444" r="23721" b="26073"/>
          <a:stretch>
            <a:fillRect/>
          </a:stretch>
        </p:blipFill>
        <p:spPr>
          <a:xfrm>
            <a:off x="468630" y="3860800"/>
            <a:ext cx="6121400" cy="2596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19" name="文本框 8"/>
          <p:cNvSpPr txBox="1"/>
          <p:nvPr/>
        </p:nvSpPr>
        <p:spPr>
          <a:xfrm>
            <a:off x="468313" y="1341438"/>
            <a:ext cx="8135937" cy="24549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Bootstrap</a:t>
            </a:r>
            <a:r>
              <a:rPr lang="zh-CN" altLang="en-US" sz="28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采样方法</a:t>
            </a:r>
            <a:r>
              <a:rPr lang="zh-CN" altLang="en-US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是非常有用的一种统计学上的估计方法。 </a:t>
            </a:r>
            <a:r>
              <a:rPr lang="en-US" altLang="zh-CN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Bootstrap</a:t>
            </a:r>
            <a:r>
              <a:rPr lang="zh-CN" altLang="en-US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是一类非参</a:t>
            </a:r>
            <a:r>
              <a:rPr lang="en-US" altLang="zh-CN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Monte Carlo</a:t>
            </a:r>
            <a:r>
              <a:rPr lang="zh-CN" altLang="en-US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</a:t>
            </a:r>
            <a:r>
              <a:rPr lang="en-US" altLang="zh-CN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其实质是对观测信息进行再抽样，进而对总体的分布特性进行统计推断。首先，</a:t>
            </a:r>
            <a:r>
              <a:rPr lang="en-US" altLang="zh-CN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Bootstrap</a:t>
            </a:r>
            <a:r>
              <a:rPr lang="zh-CN" altLang="en-US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通过重抽样，避免了</a:t>
            </a:r>
            <a:r>
              <a:rPr lang="en-US" altLang="zh-CN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Cross-Validation</a:t>
            </a:r>
            <a:r>
              <a:rPr lang="zh-CN" altLang="en-US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造成的样本减少问题，其次，</a:t>
            </a:r>
            <a:r>
              <a:rPr lang="en-US" altLang="zh-CN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Bootstrap</a:t>
            </a:r>
            <a:r>
              <a:rPr lang="zh-CN" altLang="en-US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也可以创造数据的随机性。</a:t>
            </a:r>
            <a:r>
              <a:rPr lang="en-US" altLang="zh-CN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Bootstrap</a:t>
            </a:r>
            <a:r>
              <a:rPr lang="zh-CN" altLang="en-US" sz="20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是一种有放回的重复抽样方法（可能抽到重复的样本），抽样策略就是简单的随机抽样。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76279" b="7600"/>
          <a:stretch>
            <a:fillRect/>
          </a:stretch>
        </p:blipFill>
        <p:spPr>
          <a:xfrm>
            <a:off x="6588125" y="3538855"/>
            <a:ext cx="1477645" cy="32397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6" name="Picture 2" descr="自助采样法bootstrap 与0.632_weixin_33755554的博客-CSDN博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1557338"/>
            <a:ext cx="8820150" cy="4121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Bagging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10241" name="Rectangle 3"/>
          <p:cNvSpPr>
            <a:spLocks noGrp="1" noRot="1"/>
          </p:cNvSpPr>
          <p:nvPr>
            <p:ph idx="1"/>
          </p:nvPr>
        </p:nvSpPr>
        <p:spPr>
          <a:xfrm>
            <a:off x="301625" y="1844675"/>
            <a:ext cx="8053070" cy="438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基本思想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30000"/>
              </a:lnSpc>
              <a:spcBef>
                <a:spcPts val="20"/>
              </a:spcBef>
              <a:spcAft>
                <a:spcPts val="2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给定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一个学习算法和一个训练集（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个样本），让该学习算法训练多轮，每轮的训练集由从初始的训练集中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随机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取出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个样本组成（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放回取样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），初始训练样本在某轮训练集中可以出现多次或根本不出现。训练之后得到一个预测函数序列，最终的预测函数对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分类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问题采用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投票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方式，对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回归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问题采用简单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平均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kumimoji="1" lang="zh-CN" altLang="en-US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20000"/>
              </a:spcAft>
              <a:buClr>
                <a:schemeClr val="hlink"/>
              </a:buClr>
              <a:buSzPct val="55000"/>
              <a:buFont typeface="Wingdings" panose="05000000000000000000" charset="0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最后结果准确率将得到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提高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892" name="文本框 3"/>
          <p:cNvSpPr txBox="1"/>
          <p:nvPr/>
        </p:nvSpPr>
        <p:spPr>
          <a:xfrm>
            <a:off x="2484120" y="1844675"/>
            <a:ext cx="62369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Bagging</a:t>
            </a:r>
            <a:r>
              <a:rPr lang="zh-CN" altLang="en-US" sz="24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Bootstrapped Aggregation</a:t>
            </a:r>
            <a:r>
              <a:rPr lang="zh-CN" altLang="en-US" sz="2400" b="1" dirty="0">
                <a:solidFill>
                  <a:srgbClr val="24292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的简称</a:t>
            </a:r>
            <a:r>
              <a:rPr lang="zh-CN" altLang="en-US" sz="2400" b="1" dirty="0">
                <a:solidFill>
                  <a:srgbClr val="24292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Bagging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10241" name="Rectangle 3"/>
          <p:cNvSpPr>
            <a:spLocks noGrp="1" noRot="1"/>
          </p:cNvSpPr>
          <p:nvPr>
            <p:ph idx="1"/>
          </p:nvPr>
        </p:nvSpPr>
        <p:spPr>
          <a:xfrm>
            <a:off x="1259840" y="1844675"/>
            <a:ext cx="7096760" cy="438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算法：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  t = 1, 2, …, T Do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从数据集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中取样（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放回选样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	      训练得到模型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0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endParaRPr kumimoji="0" lang="en-US" altLang="zh-CN" sz="2400" b="1" i="0" u="none" strike="noStrike" kern="0" cap="none" spc="0" normalizeH="0" baseline="-2500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ts val="20"/>
              </a:spcBef>
              <a:spcAft>
                <a:spcPts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对未知样本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分类时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每个模型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</a:t>
            </a:r>
            <a:r>
              <a:rPr kumimoji="0" lang="en-US" altLang="zh-CN" sz="2400" b="1" i="0" u="none" strike="noStrike" kern="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都得出一个分类，得票最高的即为未知样本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X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的分类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也可通过得票的平均值用于连续值的预测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Bagging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41987" name="Text Box 3"/>
          <p:cNvSpPr txBox="1"/>
          <p:nvPr/>
        </p:nvSpPr>
        <p:spPr>
          <a:xfrm>
            <a:off x="5181600" y="4343400"/>
            <a:ext cx="600075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sv-SE" altLang="zh-CN" sz="4000" dirty="0">
                <a:latin typeface="Tahoma" panose="020B0604030504040204" pitchFamily="34" charset="0"/>
                <a:ea typeface="宋体" panose="02010600030101010101" pitchFamily="2" charset="-122"/>
              </a:rPr>
              <a:t>…</a:t>
            </a:r>
            <a:endParaRPr lang="en-US" altLang="zh-CN" sz="4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388" name="Group 4"/>
          <p:cNvGrpSpPr/>
          <p:nvPr/>
        </p:nvGrpSpPr>
        <p:grpSpPr>
          <a:xfrm>
            <a:off x="990600" y="3352800"/>
            <a:ext cx="7043738" cy="1295400"/>
            <a:chOff x="864" y="2928"/>
            <a:chExt cx="4437" cy="816"/>
          </a:xfrm>
        </p:grpSpPr>
        <p:sp>
          <p:nvSpPr>
            <p:cNvPr id="42008" name="Text Box 5"/>
            <p:cNvSpPr txBox="1"/>
            <p:nvPr/>
          </p:nvSpPr>
          <p:spPr>
            <a:xfrm>
              <a:off x="864" y="3024"/>
              <a:ext cx="385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sv-SE" altLang="zh-CN" sz="2400" baseline="30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9" name="Text Box 6"/>
            <p:cNvSpPr txBox="1"/>
            <p:nvPr/>
          </p:nvSpPr>
          <p:spPr>
            <a:xfrm>
              <a:off x="2352" y="3024"/>
              <a:ext cx="385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sv-SE" altLang="zh-CN" sz="2400" baseline="30000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0" name="Text Box 7"/>
            <p:cNvSpPr txBox="1"/>
            <p:nvPr/>
          </p:nvSpPr>
          <p:spPr>
            <a:xfrm>
              <a:off x="4560" y="3024"/>
              <a:ext cx="390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sv-SE" altLang="zh-CN" sz="2400" baseline="30000" dirty="0">
                  <a:latin typeface="Tahoma" panose="020B0604030504040204" pitchFamily="34" charset="0"/>
                  <a:ea typeface="宋体" panose="02010600030101010101" pitchFamily="2" charset="-122"/>
                </a:rPr>
                <a:t>T</a:t>
              </a: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1" name="Line 8"/>
            <p:cNvSpPr/>
            <p:nvPr/>
          </p:nvSpPr>
          <p:spPr>
            <a:xfrm flipV="1">
              <a:off x="1056" y="3408"/>
              <a:ext cx="0" cy="336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2012" name="Text Box 9"/>
            <p:cNvSpPr txBox="1"/>
            <p:nvPr/>
          </p:nvSpPr>
          <p:spPr>
            <a:xfrm>
              <a:off x="1142" y="3429"/>
              <a:ext cx="5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train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3" name="Line 10"/>
            <p:cNvSpPr/>
            <p:nvPr/>
          </p:nvSpPr>
          <p:spPr>
            <a:xfrm flipV="1">
              <a:off x="2506" y="3387"/>
              <a:ext cx="0" cy="336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2014" name="Text Box 11"/>
            <p:cNvSpPr txBox="1"/>
            <p:nvPr/>
          </p:nvSpPr>
          <p:spPr>
            <a:xfrm>
              <a:off x="2592" y="3408"/>
              <a:ext cx="5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train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5" name="Line 12"/>
            <p:cNvSpPr/>
            <p:nvPr/>
          </p:nvSpPr>
          <p:spPr>
            <a:xfrm flipV="1">
              <a:off x="4714" y="3387"/>
              <a:ext cx="0" cy="336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2016" name="Text Box 13"/>
            <p:cNvSpPr txBox="1"/>
            <p:nvPr/>
          </p:nvSpPr>
          <p:spPr>
            <a:xfrm>
              <a:off x="4800" y="3408"/>
              <a:ext cx="5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train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7" name="Text Box 14"/>
            <p:cNvSpPr txBox="1"/>
            <p:nvPr/>
          </p:nvSpPr>
          <p:spPr>
            <a:xfrm>
              <a:off x="3504" y="2928"/>
              <a:ext cx="37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4000" dirty="0">
                  <a:latin typeface="Tahoma" panose="020B0604030504040204" pitchFamily="34" charset="0"/>
                  <a:ea typeface="宋体" panose="02010600030101010101" pitchFamily="2" charset="-122"/>
                </a:rPr>
                <a:t>…</a:t>
              </a:r>
              <a:endParaRPr lang="en-US" altLang="zh-CN" sz="40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399" name="Group 15"/>
          <p:cNvGrpSpPr/>
          <p:nvPr/>
        </p:nvGrpSpPr>
        <p:grpSpPr>
          <a:xfrm>
            <a:off x="1752600" y="3352800"/>
            <a:ext cx="6553200" cy="609600"/>
            <a:chOff x="1392" y="3168"/>
            <a:chExt cx="4128" cy="384"/>
          </a:xfrm>
        </p:grpSpPr>
        <p:sp>
          <p:nvSpPr>
            <p:cNvPr id="42005" name="Rectangle 16"/>
            <p:cNvSpPr/>
            <p:nvPr/>
          </p:nvSpPr>
          <p:spPr>
            <a:xfrm>
              <a:off x="1392" y="3168"/>
              <a:ext cx="480" cy="336"/>
            </a:xfrm>
            <a:prstGeom prst="rect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sv-SE" altLang="zh-CN" sz="2400" baseline="-250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(x)</a:t>
              </a:r>
              <a:endParaRPr lang="sv-SE" altLang="zh-CN" sz="2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6" name="Rectangle 17"/>
            <p:cNvSpPr/>
            <p:nvPr/>
          </p:nvSpPr>
          <p:spPr>
            <a:xfrm>
              <a:off x="2832" y="3216"/>
              <a:ext cx="480" cy="336"/>
            </a:xfrm>
            <a:prstGeom prst="rect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sv-SE" altLang="zh-CN" sz="2400" baseline="-250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(x)</a:t>
              </a:r>
              <a:endParaRPr lang="sv-SE" altLang="zh-CN" sz="2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7" name="Rectangle 18"/>
            <p:cNvSpPr/>
            <p:nvPr/>
          </p:nvSpPr>
          <p:spPr>
            <a:xfrm>
              <a:off x="5040" y="3216"/>
              <a:ext cx="480" cy="336"/>
            </a:xfrm>
            <a:prstGeom prst="rect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sv-SE" altLang="zh-CN" sz="2400" baseline="-250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T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(x)</a:t>
              </a:r>
              <a:endParaRPr lang="sv-SE" altLang="zh-CN" sz="2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403" name="Group 19"/>
          <p:cNvGrpSpPr/>
          <p:nvPr/>
        </p:nvGrpSpPr>
        <p:grpSpPr>
          <a:xfrm>
            <a:off x="2133600" y="2057400"/>
            <a:ext cx="5791200" cy="1311275"/>
            <a:chOff x="1632" y="2390"/>
            <a:chExt cx="3648" cy="826"/>
          </a:xfrm>
        </p:grpSpPr>
        <p:sp>
          <p:nvSpPr>
            <p:cNvPr id="42000" name="Text Box 20"/>
            <p:cNvSpPr txBox="1"/>
            <p:nvPr/>
          </p:nvSpPr>
          <p:spPr>
            <a:xfrm>
              <a:off x="2544" y="2438"/>
              <a:ext cx="385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C</a:t>
              </a:r>
              <a:r>
                <a:rPr lang="sv-SE" altLang="zh-CN" sz="2400" baseline="30000" dirty="0">
                  <a:latin typeface="Tahoma" panose="020B0604030504040204" pitchFamily="34" charset="0"/>
                  <a:ea typeface="宋体" panose="02010600030101010101" pitchFamily="2" charset="-122"/>
                </a:rPr>
                <a:t>*</a:t>
              </a: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1" name="Line 21"/>
            <p:cNvSpPr/>
            <p:nvPr/>
          </p:nvSpPr>
          <p:spPr>
            <a:xfrm flipV="1">
              <a:off x="1632" y="2784"/>
              <a:ext cx="2736" cy="38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2002" name="Line 22"/>
            <p:cNvSpPr/>
            <p:nvPr/>
          </p:nvSpPr>
          <p:spPr>
            <a:xfrm flipV="1">
              <a:off x="3120" y="2784"/>
              <a:ext cx="1632" cy="432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2003" name="Line 23"/>
            <p:cNvSpPr/>
            <p:nvPr/>
          </p:nvSpPr>
          <p:spPr>
            <a:xfrm flipH="1" flipV="1">
              <a:off x="4944" y="2736"/>
              <a:ext cx="336" cy="48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42004" name="Rectangle 24"/>
            <p:cNvSpPr/>
            <p:nvPr/>
          </p:nvSpPr>
          <p:spPr>
            <a:xfrm>
              <a:off x="3264" y="2390"/>
              <a:ext cx="2016" cy="346"/>
            </a:xfrm>
            <a:prstGeom prst="rect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c*(x) = maxcnt</a:t>
              </a:r>
              <a:r>
                <a:rPr lang="sv-SE" altLang="zh-CN" sz="2400" baseline="-250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t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c</a:t>
              </a:r>
              <a:r>
                <a:rPr lang="sv-SE" altLang="zh-CN" sz="2400" baseline="-250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t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(x)</a:t>
              </a:r>
              <a:endParaRPr lang="sv-SE" altLang="zh-CN" sz="2400" dirty="0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409" name="Group 25"/>
          <p:cNvGrpSpPr/>
          <p:nvPr/>
        </p:nvGrpSpPr>
        <p:grpSpPr>
          <a:xfrm>
            <a:off x="990600" y="4648200"/>
            <a:ext cx="6473825" cy="495300"/>
            <a:chOff x="864" y="3974"/>
            <a:chExt cx="4078" cy="312"/>
          </a:xfrm>
        </p:grpSpPr>
        <p:sp>
          <p:nvSpPr>
            <p:cNvPr id="41997" name="Text Box 26"/>
            <p:cNvSpPr txBox="1"/>
            <p:nvPr/>
          </p:nvSpPr>
          <p:spPr>
            <a:xfrm>
              <a:off x="864" y="3974"/>
              <a:ext cx="377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S</a:t>
              </a:r>
              <a:r>
                <a:rPr lang="sv-SE" altLang="zh-CN" sz="24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8" name="Text Box 27"/>
            <p:cNvSpPr txBox="1"/>
            <p:nvPr/>
          </p:nvSpPr>
          <p:spPr>
            <a:xfrm>
              <a:off x="2352" y="3974"/>
              <a:ext cx="377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S</a:t>
              </a:r>
              <a:r>
                <a:rPr lang="sv-SE" altLang="zh-CN" sz="24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9" name="Text Box 28"/>
            <p:cNvSpPr txBox="1"/>
            <p:nvPr/>
          </p:nvSpPr>
          <p:spPr>
            <a:xfrm>
              <a:off x="4560" y="3974"/>
              <a:ext cx="382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S</a:t>
              </a:r>
              <a:r>
                <a:rPr lang="sv-SE" altLang="zh-CN" sz="2400" baseline="-25000" dirty="0">
                  <a:latin typeface="Tahoma" panose="020B0604030504040204" pitchFamily="34" charset="0"/>
                  <a:ea typeface="宋体" panose="02010600030101010101" pitchFamily="2" charset="-122"/>
                </a:rPr>
                <a:t>T</a:t>
              </a:r>
              <a:r>
                <a:rPr lang="sv-SE" altLang="zh-CN" sz="2400" dirty="0">
                  <a:latin typeface="Tahoma" panose="020B0604030504040204" pitchFamily="34" charset="0"/>
                  <a:ea typeface="宋体" panose="02010600030101010101" pitchFamily="2" charset="-122"/>
                </a:rPr>
                <a:t> </a:t>
              </a:r>
              <a:endParaRPr lang="en-US" altLang="zh-CN" sz="2400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1992" name="Rectangle 29"/>
          <p:cNvSpPr/>
          <p:nvPr/>
        </p:nvSpPr>
        <p:spPr>
          <a:xfrm>
            <a:off x="3429000" y="5943600"/>
            <a:ext cx="1600200" cy="466725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  <a:ea typeface="宋体" panose="02010600030101010101" pitchFamily="2" charset="-122"/>
              </a:rPr>
              <a:t>X</a:t>
            </a:r>
            <a:endParaRPr lang="en-US" altLang="zh-CN" sz="24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41993" name="Line 30"/>
          <p:cNvSpPr/>
          <p:nvPr/>
        </p:nvSpPr>
        <p:spPr>
          <a:xfrm flipH="1" flipV="1">
            <a:off x="1219200" y="5257800"/>
            <a:ext cx="2514600" cy="6096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94" name="Line 31"/>
          <p:cNvSpPr/>
          <p:nvPr/>
        </p:nvSpPr>
        <p:spPr>
          <a:xfrm flipH="1" flipV="1">
            <a:off x="3733800" y="5181600"/>
            <a:ext cx="457200" cy="6858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95" name="Line 32"/>
          <p:cNvSpPr/>
          <p:nvPr/>
        </p:nvSpPr>
        <p:spPr>
          <a:xfrm flipV="1">
            <a:off x="4648200" y="5181600"/>
            <a:ext cx="2362200" cy="6858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96" name="AutoShape 33"/>
          <p:cNvSpPr/>
          <p:nvPr/>
        </p:nvSpPr>
        <p:spPr>
          <a:xfrm>
            <a:off x="7543800" y="4800600"/>
            <a:ext cx="304800" cy="1371600"/>
          </a:xfrm>
          <a:prstGeom prst="rightBrace">
            <a:avLst>
              <a:gd name="adj1" fmla="val 375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 </a:t>
            </a:r>
            <a:r>
              <a:rPr lang="zh-CN" altLang="en-US" sz="1800" dirty="0">
                <a:ea typeface="宋体" panose="02010600030101010101" pitchFamily="2" charset="-122"/>
              </a:rPr>
              <a:t>预处理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4" name="Picture 2" descr="在这里插入图片描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Bagging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10241" name="Rectangle 3"/>
          <p:cNvSpPr>
            <a:spLocks noGrp="1" noRot="1"/>
          </p:cNvSpPr>
          <p:nvPr>
            <p:ph idx="1"/>
          </p:nvPr>
        </p:nvSpPr>
        <p:spPr>
          <a:xfrm>
            <a:off x="301625" y="1543050"/>
            <a:ext cx="8662988" cy="438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200" b="1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现有10个人的两门课程考试数据如表9.1所示：(10 70)，(20 70)，(30 10)，(40 60)，(60 80)，(60 50)，(70 90)，(80 70)，(90 80)，(100 60)。每一门课程（分别用X1，X2表示）要求大于60分为合格，未达到60分的视为不合格，其中“X”表示至少有一门课程未通过，而“O”表示两门课程均通过。</a:t>
            </a:r>
            <a:endParaRPr kumimoji="1" lang="zh-CN" altLang="en-US" sz="20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  <p:pic>
        <p:nvPicPr>
          <p:cNvPr id="45060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4749"/>
          <a:stretch>
            <a:fillRect/>
          </a:stretch>
        </p:blipFill>
        <p:spPr>
          <a:xfrm>
            <a:off x="2492375" y="3187700"/>
            <a:ext cx="4528820" cy="3022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1" name="文本框 3"/>
          <p:cNvSpPr txBox="1"/>
          <p:nvPr/>
        </p:nvSpPr>
        <p:spPr>
          <a:xfrm>
            <a:off x="2994025" y="6164263"/>
            <a:ext cx="4716463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根据10个样本数据绘制数据分布图</a:t>
            </a:r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3"/>
          <p:cNvSpPr>
            <a:spLocks noGrp="1" noRot="1"/>
          </p:cNvSpPr>
          <p:nvPr>
            <p:ph idx="1"/>
          </p:nvPr>
        </p:nvSpPr>
        <p:spPr>
          <a:xfrm>
            <a:off x="301625" y="1543050"/>
            <a:ext cx="8662988" cy="438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539750" y="1355725"/>
          <a:ext cx="8280401" cy="1500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3834"/>
                <a:gridCol w="706052"/>
                <a:gridCol w="709009"/>
                <a:gridCol w="849480"/>
                <a:gridCol w="705313"/>
                <a:gridCol w="709009"/>
                <a:gridCol w="705313"/>
                <a:gridCol w="764459"/>
                <a:gridCol w="779245"/>
                <a:gridCol w="863528"/>
                <a:gridCol w="785159"/>
              </a:tblGrid>
              <a:tr h="185381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学号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02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03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04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05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06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07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08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09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739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成绩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10,70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20,70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30,10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40,60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60,80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60,50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70,90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80,70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90,80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100,60</a:t>
                      </a:r>
                      <a:r>
                        <a:rPr lang="en-US" alt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412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是否全通过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否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否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否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否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否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endParaRPr lang="en-US" altLang="en-US" sz="12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  <a:endParaRPr lang="en-US" altLang="en-US" sz="12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4" marR="68584" marT="0" marB="0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57" name="文本框 6"/>
          <p:cNvSpPr txBox="1"/>
          <p:nvPr/>
        </p:nvSpPr>
        <p:spPr>
          <a:xfrm>
            <a:off x="2908300" y="987425"/>
            <a:ext cx="344963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ea typeface="宋体" panose="02010600030101010101" pitchFamily="2" charset="-122"/>
              </a:rPr>
              <a:t>10个考试成绩样本数据及其类标</a:t>
            </a:r>
            <a:endParaRPr lang="zh-CN" altLang="en-US" sz="1800" b="1" dirty="0">
              <a:ea typeface="宋体" panose="02010600030101010101" pitchFamily="2" charset="-122"/>
            </a:endParaRPr>
          </a:p>
        </p:txBody>
      </p:sp>
      <p:graphicFrame>
        <p:nvGraphicFramePr>
          <p:cNvPr id="47158" name="对象 -2147482608"/>
          <p:cNvGraphicFramePr>
            <a:graphicFrameLocks noChangeAspect="1"/>
          </p:cNvGraphicFramePr>
          <p:nvPr/>
        </p:nvGraphicFramePr>
        <p:xfrm>
          <a:off x="4148138" y="4953000"/>
          <a:ext cx="430530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997200" imgH="457200" progId="Equation.DSMT4">
                  <p:embed/>
                </p:oleObj>
              </mc:Choice>
              <mc:Fallback>
                <p:oleObj name="" r:id="rId1" imgW="2997200" imgH="457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48138" y="4953000"/>
                        <a:ext cx="4305300" cy="842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>
            <a:spLocks noGrp="1" noRot="1"/>
          </p:cNvSpPr>
          <p:nvPr/>
        </p:nvSpPr>
        <p:spPr>
          <a:xfrm>
            <a:off x="230188" y="3190875"/>
            <a:ext cx="8662988" cy="2679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线性分类器对样本进行划分，首先从10个样本成绩中随机抽取5个样本，一共抽取三轮，抽取结果如下：第一轮：02、03、05、05、10号样本，第二轮：04、04、06、09、10号样本，第三轮：03、04、08、08、09号样本，因此构造出三个线性分类器分别为：</a:t>
            </a:r>
            <a:endParaRPr kumimoji="1" lang="zh-CN" altLang="en-US" sz="18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1" lang="zh-CN" altLang="en-US" sz="2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1" lang="zh-CN" altLang="en-US" sz="32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  <p:pic>
        <p:nvPicPr>
          <p:cNvPr id="47160" name="图片 4"/>
          <p:cNvPicPr>
            <a:picLocks noChangeAspect="1"/>
          </p:cNvPicPr>
          <p:nvPr/>
        </p:nvPicPr>
        <p:blipFill>
          <a:blip r:embed="rId3"/>
          <a:srcRect l="3615"/>
          <a:stretch>
            <a:fillRect/>
          </a:stretch>
        </p:blipFill>
        <p:spPr>
          <a:xfrm>
            <a:off x="828675" y="4383088"/>
            <a:ext cx="2879725" cy="2238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3"/>
          <p:cNvSpPr>
            <a:spLocks noGrp="1" noRot="1"/>
          </p:cNvSpPr>
          <p:nvPr>
            <p:ph idx="1"/>
          </p:nvPr>
        </p:nvSpPr>
        <p:spPr>
          <a:xfrm>
            <a:off x="301625" y="1543050"/>
            <a:ext cx="8662988" cy="438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01625" y="4017963"/>
          <a:ext cx="8540752" cy="18462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3955"/>
                <a:gridCol w="838910"/>
                <a:gridCol w="776432"/>
                <a:gridCol w="776432"/>
                <a:gridCol w="776432"/>
                <a:gridCol w="748211"/>
                <a:gridCol w="719990"/>
                <a:gridCol w="791989"/>
                <a:gridCol w="791989"/>
                <a:gridCol w="791989"/>
                <a:gridCol w="814423"/>
              </a:tblGrid>
              <a:tr h="16923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学号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02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03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04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05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06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07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08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09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769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 err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成绩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10，70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20，70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30，10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40，60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60，80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60，50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70，90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80，70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90，80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en-US" altLang="zh-CN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100，60</a:t>
                      </a:r>
                      <a:r>
                        <a:rPr lang="en-US" alt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56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569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h2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10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h3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101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投票结果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100" b="1" dirty="0"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en-US" sz="1100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2" marR="68572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1335" name="Rectangle 7"/>
          <p:cNvSpPr>
            <a:spLocks noGrp="1" noChangeArrowheads="1"/>
          </p:cNvSpPr>
          <p:nvPr/>
        </p:nvSpPr>
        <p:spPr>
          <a:xfrm>
            <a:off x="206375" y="1739900"/>
            <a:ext cx="8458200" cy="49006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使用不同的分类器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      对样本数据进行划分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/>
        </p:nvSpPr>
        <p:spPr>
          <a:xfrm>
            <a:off x="1260475" y="5927725"/>
            <a:ext cx="8458200" cy="444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根据这三个线性分类器进行投票表决</a:t>
            </a:r>
            <a:endParaRPr kumimoji="1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9243" name="图片 4"/>
          <p:cNvPicPr>
            <a:picLocks noChangeAspect="1"/>
          </p:cNvPicPr>
          <p:nvPr/>
        </p:nvPicPr>
        <p:blipFill>
          <a:blip r:embed="rId1"/>
          <a:srcRect l="3615"/>
          <a:stretch>
            <a:fillRect/>
          </a:stretch>
        </p:blipFill>
        <p:spPr>
          <a:xfrm>
            <a:off x="2771775" y="957263"/>
            <a:ext cx="3810000" cy="295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Bagging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10241" name="Rectangle 3"/>
          <p:cNvSpPr>
            <a:spLocks noGrp="1" noRot="1"/>
          </p:cNvSpPr>
          <p:nvPr>
            <p:ph idx="1"/>
          </p:nvPr>
        </p:nvSpPr>
        <p:spPr>
          <a:xfrm>
            <a:off x="874713" y="1830388"/>
            <a:ext cx="7421563" cy="438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Bagging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</a:t>
            </a: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不稳定</a:t>
            </a: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的分类方法；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比如：决策树，神经网络算法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不稳定：数据集的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的变动能够使得分类结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charset="0"/>
              <a:buNone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果的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显著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的变动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弱学习算法的稳定性是</a:t>
            </a: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Bagging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能否提高预测准确率的关键因素：</a:t>
            </a:r>
            <a:r>
              <a:rPr kumimoji="1" lang="en-US" altLang="zh-CN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Bagging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不稳定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的学习算法能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提高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预测的准确度，而对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稳定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的学习算法效果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不明显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，有时甚至使预测的准确度降低。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47625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集成学习方法之随机森林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46082" name="Rectangle 3"/>
          <p:cNvSpPr>
            <a:spLocks noGrp="1" noRot="1"/>
          </p:cNvSpPr>
          <p:nvPr>
            <p:ph idx="1"/>
          </p:nvPr>
        </p:nvSpPr>
        <p:spPr>
          <a:xfrm>
            <a:off x="622300" y="1628775"/>
            <a:ext cx="8077200" cy="438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随机森林（Random Forest，RF）是Bagging的一种扩展算法，它以决策树作为基本的弱分类器，与Bagging不同的是，它并非从所有特征中选择最优特征作为分界，而是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在一个特征子集中选择最优</a:t>
            </a: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，即引入了随机特征选择，并因此提升了其方法的泛化性能。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charset="0"/>
              <a:buNone/>
              <a:defRPr/>
            </a:pP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3252" name="Picture 9" descr="TensorFlow 决策森林来啦！ - 技术分享- tf.wiki 社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932555"/>
            <a:ext cx="7380605" cy="28771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集成学习方法之随机森林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10241" name="Rectangle 3"/>
          <p:cNvSpPr>
            <a:spLocks noGrp="1" noRot="1"/>
          </p:cNvSpPr>
          <p:nvPr>
            <p:ph idx="1"/>
          </p:nvPr>
        </p:nvSpPr>
        <p:spPr>
          <a:xfrm>
            <a:off x="1138238" y="1800225"/>
            <a:ext cx="8662988" cy="4384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算法：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输入：训练集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D={(x</a:t>
            </a:r>
            <a:r>
              <a:rPr kumimoji="1" lang="en-US" altLang="zh-CN" sz="20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r>
              <a:rPr kumimoji="1" lang="en-US" altLang="zh-CN" sz="20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(x</a:t>
            </a:r>
            <a:r>
              <a:rPr kumimoji="1" lang="en-US" altLang="zh-CN" sz="20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2,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kumimoji="1" lang="en-US" altLang="zh-CN" sz="20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r>
              <a:rPr kumimoji="1" lang="en-US" altLang="zh-CN" sz="2000" b="1" i="0" u="none" strike="noStrike" kern="0" cap="none" spc="0" normalizeH="0" baseline="30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...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,(x</a:t>
            </a:r>
            <a:r>
              <a:rPr kumimoji="1" lang="en-US" altLang="zh-CN" sz="20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,y</a:t>
            </a:r>
            <a:r>
              <a:rPr kumimoji="1" lang="en-US" altLang="zh-CN" sz="20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)}</a:t>
            </a:r>
            <a:endParaRPr kumimoji="1" lang="en-US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决策树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：重采样的样本分布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kumimoji="1" lang="en-US" altLang="zh-CN" sz="20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endParaRPr kumimoji="1" lang="en-US" altLang="zh-CN" sz="2000" b="1" i="0" u="none" strike="noStrike" kern="0" cap="none" spc="0" normalizeH="0" baseline="-2500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样本集训练特征数目为M，训练轮数T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训练过程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: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1.for t=1，2，……，T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	</a:t>
            </a: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for m=1，2，……，（为M的子集）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2.		h</a:t>
            </a:r>
            <a:r>
              <a:rPr kumimoji="1" lang="en-US" altLang="zh-CN" sz="2000" b="1" i="0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t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=</a:t>
            </a:r>
            <a:r>
              <a:rPr kumimoji="1" lang="en-US" altLang="zh-CN" sz="2000" b="1" i="1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H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(m,D</a:t>
            </a:r>
            <a:r>
              <a:rPr kumimoji="1" lang="en-US" altLang="zh-CN" sz="2000" b="1" i="1" u="none" strike="noStrike" kern="0" cap="none" spc="0" normalizeH="0" baseline="-2500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b</a:t>
            </a: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)</a:t>
            </a:r>
            <a:endParaRPr kumimoji="1" lang="en-US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3.	end for </a:t>
            </a:r>
            <a:endParaRPr kumimoji="1" lang="en-US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4.end for </a:t>
            </a:r>
            <a:endParaRPr kumimoji="1" lang="en-US" altLang="zh-CN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40"/>
              </a:spcBef>
              <a:spcAft>
                <a:spcPts val="4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输出：</a:t>
            </a: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40000"/>
              </a:spcBef>
              <a:spcAft>
                <a:spcPct val="4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20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  <p:graphicFrame>
        <p:nvGraphicFramePr>
          <p:cNvPr id="55300" name="对象 8"/>
          <p:cNvGraphicFramePr>
            <a:graphicFrameLocks noChangeAspect="1"/>
          </p:cNvGraphicFramePr>
          <p:nvPr/>
        </p:nvGraphicFramePr>
        <p:xfrm>
          <a:off x="2305050" y="5594350"/>
          <a:ext cx="26050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057400" imgH="368300" progId="Equation.DSMT4">
                  <p:embed/>
                </p:oleObj>
              </mc:Choice>
              <mc:Fallback>
                <p:oleObj name="" r:id="rId1" imgW="2057400" imgH="3683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5050" y="5594350"/>
                        <a:ext cx="2605088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Boosting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57347" name="Rectangle 3"/>
          <p:cNvSpPr>
            <a:spLocks noGrp="1"/>
          </p:cNvSpPr>
          <p:nvPr/>
        </p:nvSpPr>
        <p:spPr>
          <a:xfrm>
            <a:off x="755650" y="2492375"/>
            <a:ext cx="7772400" cy="28273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342900" lvl="0" indent="-342900" eaLnBrk="1" hangingPunct="1">
              <a:lnSpc>
                <a:spcPct val="11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存在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的问题：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1" hangingPunct="1">
              <a:lnSpc>
                <a:spcPct val="110000"/>
              </a:lnSpc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强学习算法：准确率很高的学习算法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eaLnBrk="1" hangingPunct="1">
              <a:lnSpc>
                <a:spcPct val="110000"/>
              </a:lnSpc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弱学习算法：准确率不高，仅比随机猜测略好</a:t>
            </a:r>
            <a:endParaRPr lang="en-US" altLang="zh-CN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10000"/>
              </a:lnSpc>
              <a:spcAft>
                <a:spcPct val="20000"/>
              </a:spcAft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是否可以将弱学习算法提升为强学习算法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lnSpc>
                <a:spcPct val="110000"/>
              </a:lnSpc>
              <a:spcAft>
                <a:spcPct val="20000"/>
              </a:spcAft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目标：提高任何给定的学习算法的分类准确率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394" name="Picture 7" descr="The History of Machine Learning: How Did It All Start?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5375" y="1870075"/>
            <a:ext cx="5437188" cy="4392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Boosting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6146" name="Rectangle 3"/>
          <p:cNvSpPr>
            <a:spLocks noGrp="1"/>
          </p:cNvSpPr>
          <p:nvPr/>
        </p:nvSpPr>
        <p:spPr>
          <a:xfrm>
            <a:off x="328613" y="2168525"/>
            <a:ext cx="7772400" cy="46085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最初的</a:t>
            </a:r>
            <a:r>
              <a:rPr kumimoji="1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Boosting</a:t>
            </a:r>
            <a:r>
              <a:rPr kumimoji="1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算法：</a:t>
            </a:r>
            <a:endParaRPr kumimoji="1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</a:t>
            </a:r>
            <a:r>
              <a:rPr kumimoji="1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Schapire 1989</a:t>
            </a:r>
            <a:endParaRPr kumimoji="1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1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AdaBoost</a:t>
            </a:r>
            <a:r>
              <a:rPr kumimoji="1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（</a:t>
            </a:r>
            <a:r>
              <a:rPr kumimoji="1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adaptive boosting</a:t>
            </a:r>
            <a:r>
              <a:rPr kumimoji="1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）</a:t>
            </a:r>
            <a:endParaRPr kumimoji="1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charset="0"/>
              <a:buNone/>
              <a:defRPr/>
            </a:pPr>
            <a:r>
              <a:rPr kumimoji="1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</a:t>
            </a:r>
            <a:r>
              <a:rPr kumimoji="1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Freund and Schapire 1995</a:t>
            </a:r>
            <a:endParaRPr kumimoji="1" lang="zh-CN" altLang="en-US" sz="2000" b="1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Boosting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611335" name="Rectangle 7"/>
          <p:cNvSpPr>
            <a:spLocks noGrp="1" noChangeArrowheads="1"/>
          </p:cNvSpPr>
          <p:nvPr>
            <p:ph idx="1"/>
          </p:nvPr>
        </p:nvSpPr>
        <p:spPr>
          <a:xfrm>
            <a:off x="823913" y="2781300"/>
            <a:ext cx="7496175" cy="2024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基本思想：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每个</a:t>
            </a:r>
            <a:r>
              <a:rPr kumimoji="1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样本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都赋予一个权重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T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次迭代，每次迭代后，对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分类错误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的样本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加大权重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，使得下一次的迭代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更加关注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这些样本。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Boosting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611335" name="Rectangle 7"/>
          <p:cNvSpPr>
            <a:spLocks noGrp="1" noChangeArrowheads="1"/>
          </p:cNvSpPr>
          <p:nvPr>
            <p:ph idx="1"/>
          </p:nvPr>
        </p:nvSpPr>
        <p:spPr>
          <a:xfrm>
            <a:off x="890588" y="1957388"/>
            <a:ext cx="6481763" cy="4900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过程：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在一定的权重条件下训练数据，得出分类器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Ct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根据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Ct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华文新魏" panose="02010800040101010101" pitchFamily="2" charset="-122"/>
              </a:rPr>
              <a:t>的错误率调整权重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  <p:sp>
        <p:nvSpPr>
          <p:cNvPr id="63492" name="Rectangle 4"/>
          <p:cNvSpPr/>
          <p:nvPr/>
        </p:nvSpPr>
        <p:spPr>
          <a:xfrm>
            <a:off x="762000" y="4495800"/>
            <a:ext cx="2438400" cy="167640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bg1"/>
                </a:solidFill>
                <a:latin typeface="Tahoma" panose="020B0604030504040204" pitchFamily="34" charset="0"/>
              </a:rPr>
              <a:t>Set of </a:t>
            </a:r>
            <a:endParaRPr lang="en-US" altLang="zh-CN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bg1"/>
                </a:solidFill>
                <a:latin typeface="Tahoma" panose="020B0604030504040204" pitchFamily="34" charset="0"/>
              </a:rPr>
              <a:t>weighted</a:t>
            </a:r>
            <a:endParaRPr lang="en-US" altLang="zh-CN" dirty="0">
              <a:solidFill>
                <a:schemeClr val="bg1"/>
              </a:solidFill>
              <a:latin typeface="Tahoma" panose="020B060403050404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bg1"/>
                </a:solidFill>
                <a:latin typeface="Tahoma" panose="020B0604030504040204" pitchFamily="34" charset="0"/>
              </a:rPr>
              <a:t>instances </a:t>
            </a:r>
            <a:endParaRPr lang="en-US" altLang="zh-CN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63493" name="Rectangle 5"/>
          <p:cNvSpPr/>
          <p:nvPr/>
        </p:nvSpPr>
        <p:spPr>
          <a:xfrm>
            <a:off x="5715000" y="4495800"/>
            <a:ext cx="2590800" cy="167640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chemeClr val="bg1"/>
                </a:solidFill>
                <a:latin typeface="Tahoma" panose="020B0604030504040204" pitchFamily="34" charset="0"/>
              </a:rPr>
              <a:t>Classifier C</a:t>
            </a:r>
            <a:r>
              <a:rPr lang="en-US" altLang="zh-CN" baseline="30000" dirty="0">
                <a:solidFill>
                  <a:schemeClr val="bg1"/>
                </a:solidFill>
                <a:latin typeface="Tahoma" panose="020B0604030504040204" pitchFamily="34" charset="0"/>
              </a:rPr>
              <a:t>t</a:t>
            </a:r>
            <a:r>
              <a:rPr lang="en-US" altLang="zh-CN" dirty="0">
                <a:solidFill>
                  <a:schemeClr val="bg1"/>
                </a:solidFill>
                <a:latin typeface="Tahoma" panose="020B0604030504040204" pitchFamily="34" charset="0"/>
              </a:rPr>
              <a:t> </a:t>
            </a:r>
            <a:endParaRPr lang="en-US" altLang="zh-CN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63494" name="Text Box 7"/>
          <p:cNvSpPr txBox="1"/>
          <p:nvPr/>
        </p:nvSpPr>
        <p:spPr>
          <a:xfrm>
            <a:off x="3276600" y="4191000"/>
            <a:ext cx="23495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Tahoma" panose="020B0604030504040204" pitchFamily="34" charset="0"/>
              </a:rPr>
              <a:t>train classifier</a:t>
            </a:r>
            <a:endParaRPr lang="en-US" altLang="zh-CN" sz="28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63495" name="Text Box 9"/>
          <p:cNvSpPr txBox="1"/>
          <p:nvPr/>
        </p:nvSpPr>
        <p:spPr>
          <a:xfrm>
            <a:off x="3200400" y="5181600"/>
            <a:ext cx="30480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Tahoma" panose="020B0604030504040204" pitchFamily="34" charset="0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Tahoma" panose="020B0604030504040204" pitchFamily="34" charset="0"/>
              </a:rPr>
              <a:t>adjust weights</a:t>
            </a:r>
            <a:endParaRPr lang="en-US" altLang="zh-CN" sz="2800" dirty="0">
              <a:solidFill>
                <a:schemeClr val="tx2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800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63496" name="Line 6"/>
          <p:cNvSpPr/>
          <p:nvPr/>
        </p:nvSpPr>
        <p:spPr>
          <a:xfrm>
            <a:off x="3200400" y="4800600"/>
            <a:ext cx="2514600" cy="0"/>
          </a:xfrm>
          <a:prstGeom prst="line">
            <a:avLst/>
          </a:prstGeom>
          <a:ln w="57150" cap="flat" cmpd="sng">
            <a:solidFill>
              <a:schemeClr val="tx2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63497" name="Line 8"/>
          <p:cNvSpPr/>
          <p:nvPr/>
        </p:nvSpPr>
        <p:spPr>
          <a:xfrm>
            <a:off x="3200400" y="5791200"/>
            <a:ext cx="2438400" cy="0"/>
          </a:xfrm>
          <a:prstGeom prst="line">
            <a:avLst/>
          </a:prstGeom>
          <a:ln w="57150" cap="flat" cmpd="sng">
            <a:solidFill>
              <a:schemeClr val="tx2"/>
            </a:solidFill>
            <a:prstDash val="solid"/>
            <a:miter/>
            <a:headEnd type="triangle" w="med" len="med"/>
            <a:tailEnd type="none" w="med" len="med"/>
          </a:ln>
        </p:spPr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集成学习方法之</a:t>
            </a:r>
            <a:r>
              <a:rPr kumimoji="1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Boosting</a:t>
            </a:r>
            <a:endParaRPr kumimoji="1" lang="zh-CN" altLang="en-US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65539" name="Text Box 3"/>
          <p:cNvSpPr txBox="1"/>
          <p:nvPr/>
        </p:nvSpPr>
        <p:spPr>
          <a:xfrm>
            <a:off x="5638800" y="4343400"/>
            <a:ext cx="600075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sv-SE" altLang="zh-CN" sz="4000" dirty="0">
                <a:latin typeface="Tahoma" panose="020B0604030504040204" pitchFamily="34" charset="0"/>
              </a:rPr>
              <a:t>…</a:t>
            </a:r>
            <a:endParaRPr lang="en-US" altLang="zh-CN" sz="4000" dirty="0">
              <a:latin typeface="Tahoma" panose="020B0604030504040204" pitchFamily="34" charset="0"/>
            </a:endParaRPr>
          </a:p>
        </p:txBody>
      </p:sp>
      <p:sp>
        <p:nvSpPr>
          <p:cNvPr id="65540" name="Text Box 4"/>
          <p:cNvSpPr txBox="1"/>
          <p:nvPr/>
        </p:nvSpPr>
        <p:spPr>
          <a:xfrm>
            <a:off x="5715000" y="3124200"/>
            <a:ext cx="600075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sv-SE" altLang="zh-CN" sz="4000" dirty="0">
                <a:latin typeface="Tahoma" panose="020B0604030504040204" pitchFamily="34" charset="0"/>
              </a:rPr>
              <a:t>…</a:t>
            </a:r>
            <a:endParaRPr lang="en-US" altLang="zh-CN" sz="4000" dirty="0">
              <a:latin typeface="Tahoma" panose="020B0604030504040204" pitchFamily="34" charset="0"/>
            </a:endParaRPr>
          </a:p>
        </p:txBody>
      </p:sp>
      <p:grpSp>
        <p:nvGrpSpPr>
          <p:cNvPr id="65541" name="Group 5"/>
          <p:cNvGrpSpPr/>
          <p:nvPr/>
        </p:nvGrpSpPr>
        <p:grpSpPr>
          <a:xfrm>
            <a:off x="1981200" y="3276600"/>
            <a:ext cx="6553200" cy="609600"/>
            <a:chOff x="1392" y="3168"/>
            <a:chExt cx="4128" cy="384"/>
          </a:xfrm>
        </p:grpSpPr>
        <p:sp>
          <p:nvSpPr>
            <p:cNvPr id="65574" name="Rectangle 6"/>
            <p:cNvSpPr/>
            <p:nvPr/>
          </p:nvSpPr>
          <p:spPr>
            <a:xfrm>
              <a:off x="1392" y="3168"/>
              <a:ext cx="480" cy="336"/>
            </a:xfrm>
            <a:prstGeom prst="rect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h</a:t>
              </a:r>
              <a:r>
                <a:rPr lang="sv-SE" altLang="zh-CN" sz="2400" baseline="-25000" dirty="0">
                  <a:solidFill>
                    <a:schemeClr val="bg1"/>
                  </a:solidFill>
                  <a:latin typeface="Tahoma" panose="020B0604030504040204" pitchFamily="34" charset="0"/>
                </a:rPr>
                <a:t>1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(x)</a:t>
              </a:r>
              <a:endParaRPr lang="sv-SE" altLang="zh-CN" sz="2400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5575" name="Rectangle 7"/>
            <p:cNvSpPr/>
            <p:nvPr/>
          </p:nvSpPr>
          <p:spPr>
            <a:xfrm>
              <a:off x="2832" y="3216"/>
              <a:ext cx="480" cy="336"/>
            </a:xfrm>
            <a:prstGeom prst="rect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h</a:t>
              </a:r>
              <a:r>
                <a:rPr lang="sv-SE" altLang="zh-CN" sz="2400" baseline="-25000" dirty="0">
                  <a:solidFill>
                    <a:schemeClr val="bg1"/>
                  </a:solidFill>
                  <a:latin typeface="Tahoma" panose="020B0604030504040204" pitchFamily="34" charset="0"/>
                </a:rPr>
                <a:t>2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(x)</a:t>
              </a:r>
              <a:endParaRPr lang="sv-SE" altLang="zh-CN" sz="2400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65576" name="Rectangle 8"/>
            <p:cNvSpPr/>
            <p:nvPr/>
          </p:nvSpPr>
          <p:spPr>
            <a:xfrm>
              <a:off x="5040" y="3216"/>
              <a:ext cx="480" cy="336"/>
            </a:xfrm>
            <a:prstGeom prst="rect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h</a:t>
              </a:r>
              <a:r>
                <a:rPr lang="sv-SE" altLang="zh-CN" sz="2400" baseline="-25000" dirty="0">
                  <a:solidFill>
                    <a:schemeClr val="bg1"/>
                  </a:solidFill>
                  <a:latin typeface="Tahoma" panose="020B0604030504040204" pitchFamily="34" charset="0"/>
                </a:rPr>
                <a:t>T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(x)</a:t>
              </a:r>
              <a:endParaRPr lang="sv-SE" altLang="zh-CN" sz="2400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65545" name="Group 9"/>
          <p:cNvGrpSpPr/>
          <p:nvPr/>
        </p:nvGrpSpPr>
        <p:grpSpPr>
          <a:xfrm>
            <a:off x="2209800" y="1828800"/>
            <a:ext cx="6553200" cy="1524000"/>
            <a:chOff x="1632" y="2304"/>
            <a:chExt cx="4128" cy="912"/>
          </a:xfrm>
        </p:grpSpPr>
        <p:sp>
          <p:nvSpPr>
            <p:cNvPr id="65569" name="Text Box 10"/>
            <p:cNvSpPr txBox="1"/>
            <p:nvPr/>
          </p:nvSpPr>
          <p:spPr>
            <a:xfrm>
              <a:off x="1920" y="2400"/>
              <a:ext cx="385" cy="296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</a:rPr>
                <a:t>C</a:t>
              </a:r>
              <a:r>
                <a:rPr lang="sv-SE" altLang="zh-CN" sz="2400" baseline="30000" dirty="0">
                  <a:latin typeface="Tahoma" panose="020B0604030504040204" pitchFamily="34" charset="0"/>
                </a:rPr>
                <a:t>*</a:t>
              </a:r>
              <a:r>
                <a:rPr lang="sv-SE" altLang="zh-CN" sz="2400" dirty="0">
                  <a:latin typeface="Tahoma" panose="020B0604030504040204" pitchFamily="34" charset="0"/>
                </a:rPr>
                <a:t> </a:t>
              </a:r>
              <a:endParaRPr lang="en-US" altLang="zh-CN" sz="2400" dirty="0">
                <a:latin typeface="Tahoma" panose="020B0604030504040204" pitchFamily="34" charset="0"/>
              </a:endParaRPr>
            </a:p>
          </p:txBody>
        </p:sp>
        <p:sp>
          <p:nvSpPr>
            <p:cNvPr id="65570" name="Line 11"/>
            <p:cNvSpPr/>
            <p:nvPr/>
          </p:nvSpPr>
          <p:spPr>
            <a:xfrm flipV="1">
              <a:off x="1632" y="2832"/>
              <a:ext cx="2496" cy="336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65571" name="Line 12"/>
            <p:cNvSpPr/>
            <p:nvPr/>
          </p:nvSpPr>
          <p:spPr>
            <a:xfrm flipV="1">
              <a:off x="3120" y="2832"/>
              <a:ext cx="1632" cy="38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65572" name="Line 13"/>
            <p:cNvSpPr/>
            <p:nvPr/>
          </p:nvSpPr>
          <p:spPr>
            <a:xfrm flipH="1" flipV="1">
              <a:off x="4992" y="2784"/>
              <a:ext cx="288" cy="432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65573" name="Rectangle 14"/>
            <p:cNvSpPr/>
            <p:nvPr/>
          </p:nvSpPr>
          <p:spPr>
            <a:xfrm>
              <a:off x="2400" y="2304"/>
              <a:ext cx="3360" cy="480"/>
            </a:xfrm>
            <a:prstGeom prst="rect">
              <a:avLst/>
            </a:prstGeom>
            <a:solidFill>
              <a:schemeClr val="tx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c*(x) =</a:t>
              </a:r>
              <a:r>
                <a:rPr lang="en-US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sign(</a:t>
              </a:r>
              <a:r>
                <a:rPr lang="sv-SE" altLang="zh-CN" sz="3600" dirty="0">
                  <a:solidFill>
                    <a:schemeClr val="bg1"/>
                  </a:solidFill>
                  <a:latin typeface="Symbol" panose="05050102010706020507" pitchFamily="18" charset="2"/>
                </a:rPr>
                <a:t>Sa</a:t>
              </a:r>
              <a:r>
                <a:rPr lang="sv-SE" altLang="zh-CN" baseline="-40000" dirty="0">
                  <a:solidFill>
                    <a:schemeClr val="bg1"/>
                  </a:solidFill>
                  <a:latin typeface="Tahoma" panose="020B0604030504040204" pitchFamily="34" charset="0"/>
                </a:rPr>
                <a:t>t 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h</a:t>
              </a:r>
              <a:r>
                <a:rPr lang="sv-SE" altLang="zh-CN" sz="2400" baseline="-25000" dirty="0">
                  <a:solidFill>
                    <a:schemeClr val="bg1"/>
                  </a:solidFill>
                  <a:latin typeface="Tahoma" panose="020B0604030504040204" pitchFamily="34" charset="0"/>
                </a:rPr>
                <a:t>2t</a:t>
              </a:r>
              <a:r>
                <a:rPr lang="sv-SE" altLang="zh-CN" sz="2400" dirty="0">
                  <a:solidFill>
                    <a:schemeClr val="bg1"/>
                  </a:solidFill>
                  <a:latin typeface="Tahoma" panose="020B0604030504040204" pitchFamily="34" charset="0"/>
                </a:rPr>
                <a:t>(x))</a:t>
              </a:r>
              <a:endParaRPr lang="sv-SE" altLang="zh-CN" sz="2400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65551" name="Group 15"/>
          <p:cNvGrpSpPr/>
          <p:nvPr/>
        </p:nvGrpSpPr>
        <p:grpSpPr>
          <a:xfrm>
            <a:off x="1066800" y="3429000"/>
            <a:ext cx="1236663" cy="1714500"/>
            <a:chOff x="864" y="3206"/>
            <a:chExt cx="779" cy="1080"/>
          </a:xfrm>
        </p:grpSpPr>
        <p:sp>
          <p:nvSpPr>
            <p:cNvPr id="65565" name="Text Box 16"/>
            <p:cNvSpPr txBox="1"/>
            <p:nvPr/>
          </p:nvSpPr>
          <p:spPr>
            <a:xfrm>
              <a:off x="864" y="3206"/>
              <a:ext cx="385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</a:rPr>
                <a:t>C</a:t>
              </a:r>
              <a:r>
                <a:rPr lang="sv-SE" altLang="zh-CN" sz="2400" baseline="30000" dirty="0">
                  <a:latin typeface="Tahoma" panose="020B0604030504040204" pitchFamily="34" charset="0"/>
                </a:rPr>
                <a:t>1</a:t>
              </a:r>
              <a:r>
                <a:rPr lang="sv-SE" altLang="zh-CN" sz="2400" dirty="0">
                  <a:latin typeface="Tahoma" panose="020B0604030504040204" pitchFamily="34" charset="0"/>
                </a:rPr>
                <a:t> </a:t>
              </a:r>
              <a:endParaRPr lang="en-US" altLang="zh-CN" sz="2400" dirty="0">
                <a:latin typeface="Tahoma" panose="020B0604030504040204" pitchFamily="34" charset="0"/>
              </a:endParaRPr>
            </a:p>
          </p:txBody>
        </p:sp>
        <p:sp>
          <p:nvSpPr>
            <p:cNvPr id="65566" name="Line 17"/>
            <p:cNvSpPr/>
            <p:nvPr/>
          </p:nvSpPr>
          <p:spPr>
            <a:xfrm flipV="1">
              <a:off x="1056" y="3590"/>
              <a:ext cx="0" cy="336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65567" name="Text Box 18"/>
            <p:cNvSpPr txBox="1"/>
            <p:nvPr/>
          </p:nvSpPr>
          <p:spPr>
            <a:xfrm>
              <a:off x="1142" y="3611"/>
              <a:ext cx="5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</a:rPr>
                <a:t>train</a:t>
              </a:r>
              <a:endParaRPr lang="en-US" altLang="zh-CN" sz="2400" dirty="0">
                <a:latin typeface="Tahoma" panose="020B0604030504040204" pitchFamily="34" charset="0"/>
              </a:endParaRPr>
            </a:p>
          </p:txBody>
        </p:sp>
        <p:sp>
          <p:nvSpPr>
            <p:cNvPr id="65568" name="Text Box 19"/>
            <p:cNvSpPr txBox="1"/>
            <p:nvPr/>
          </p:nvSpPr>
          <p:spPr>
            <a:xfrm>
              <a:off x="864" y="3974"/>
              <a:ext cx="317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</a:rPr>
                <a:t>S</a:t>
              </a:r>
              <a:r>
                <a:rPr lang="sv-SE" altLang="zh-CN" sz="2400" baseline="-25000" dirty="0">
                  <a:latin typeface="Tahoma" panose="020B0604030504040204" pitchFamily="34" charset="0"/>
                </a:rPr>
                <a:t>1</a:t>
              </a:r>
              <a:endParaRPr lang="en-US" altLang="zh-CN" sz="2400" baseline="-25000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65556" name="Group 20"/>
          <p:cNvGrpSpPr/>
          <p:nvPr/>
        </p:nvGrpSpPr>
        <p:grpSpPr>
          <a:xfrm>
            <a:off x="1828800" y="3467100"/>
            <a:ext cx="2852738" cy="1714500"/>
            <a:chOff x="1296" y="3206"/>
            <a:chExt cx="1797" cy="1080"/>
          </a:xfrm>
        </p:grpSpPr>
        <p:sp>
          <p:nvSpPr>
            <p:cNvPr id="65560" name="Text Box 21"/>
            <p:cNvSpPr txBox="1"/>
            <p:nvPr/>
          </p:nvSpPr>
          <p:spPr>
            <a:xfrm>
              <a:off x="2592" y="3590"/>
              <a:ext cx="5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</a:rPr>
                <a:t>train</a:t>
              </a:r>
              <a:endParaRPr lang="en-US" altLang="zh-CN" sz="2400" dirty="0">
                <a:latin typeface="Tahoma" panose="020B0604030504040204" pitchFamily="34" charset="0"/>
              </a:endParaRPr>
            </a:p>
          </p:txBody>
        </p:sp>
        <p:sp>
          <p:nvSpPr>
            <p:cNvPr id="65561" name="Text Box 22"/>
            <p:cNvSpPr txBox="1"/>
            <p:nvPr/>
          </p:nvSpPr>
          <p:spPr>
            <a:xfrm>
              <a:off x="2352" y="3206"/>
              <a:ext cx="385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</a:rPr>
                <a:t>C</a:t>
              </a:r>
              <a:r>
                <a:rPr lang="sv-SE" altLang="zh-CN" sz="2400" baseline="30000" dirty="0">
                  <a:latin typeface="Tahoma" panose="020B0604030504040204" pitchFamily="34" charset="0"/>
                </a:rPr>
                <a:t>2</a:t>
              </a:r>
              <a:r>
                <a:rPr lang="sv-SE" altLang="zh-CN" sz="2400" dirty="0">
                  <a:latin typeface="Tahoma" panose="020B0604030504040204" pitchFamily="34" charset="0"/>
                </a:rPr>
                <a:t> </a:t>
              </a:r>
              <a:endParaRPr lang="en-US" altLang="zh-CN" sz="2400" dirty="0">
                <a:latin typeface="Tahoma" panose="020B0604030504040204" pitchFamily="34" charset="0"/>
              </a:endParaRPr>
            </a:p>
          </p:txBody>
        </p:sp>
        <p:sp>
          <p:nvSpPr>
            <p:cNvPr id="65562" name="Line 23"/>
            <p:cNvSpPr/>
            <p:nvPr/>
          </p:nvSpPr>
          <p:spPr>
            <a:xfrm flipV="1">
              <a:off x="2506" y="3569"/>
              <a:ext cx="0" cy="336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65563" name="Text Box 24"/>
            <p:cNvSpPr txBox="1"/>
            <p:nvPr/>
          </p:nvSpPr>
          <p:spPr>
            <a:xfrm>
              <a:off x="2352" y="3974"/>
              <a:ext cx="377" cy="312"/>
            </a:xfrm>
            <a:prstGeom prst="rect">
              <a:avLst/>
            </a:prstGeom>
            <a:noFill/>
            <a:ln w="38100" cap="flat" cmpd="sng">
              <a:solidFill>
                <a:schemeClr val="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+mn-lt"/>
                  <a:ea typeface="+mn-ea"/>
                  <a:cs typeface="华文新魏" panose="02010800040101010101" pitchFamily="2" charset="-122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sv-SE" altLang="zh-CN" sz="2400" dirty="0">
                  <a:latin typeface="Tahoma" panose="020B0604030504040204" pitchFamily="34" charset="0"/>
                </a:rPr>
                <a:t> S</a:t>
              </a:r>
              <a:r>
                <a:rPr lang="sv-SE" altLang="zh-CN" sz="2400" baseline="-25000" dirty="0">
                  <a:latin typeface="Tahoma" panose="020B0604030504040204" pitchFamily="34" charset="0"/>
                </a:rPr>
                <a:t>2</a:t>
              </a:r>
              <a:endParaRPr lang="en-US" altLang="zh-CN" sz="2400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65564" name="Line 25"/>
            <p:cNvSpPr/>
            <p:nvPr/>
          </p:nvSpPr>
          <p:spPr>
            <a:xfrm>
              <a:off x="1296" y="3504"/>
              <a:ext cx="960" cy="48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grpSp>
        <p:nvGrpSpPr>
          <p:cNvPr id="2" name="Group 26"/>
          <p:cNvGrpSpPr/>
          <p:nvPr/>
        </p:nvGrpSpPr>
        <p:grpSpPr>
          <a:xfrm>
            <a:off x="5486400" y="3429000"/>
            <a:ext cx="2722563" cy="1741488"/>
            <a:chOff x="3552" y="3206"/>
            <a:chExt cx="1763" cy="1073"/>
          </a:xfrm>
        </p:grpSpPr>
        <p:grpSp>
          <p:nvGrpSpPr>
            <p:cNvPr id="65554" name="Group 27"/>
            <p:cNvGrpSpPr/>
            <p:nvPr/>
          </p:nvGrpSpPr>
          <p:grpSpPr>
            <a:xfrm>
              <a:off x="4560" y="3206"/>
              <a:ext cx="755" cy="1073"/>
              <a:chOff x="4560" y="3206"/>
              <a:chExt cx="755" cy="1073"/>
            </a:xfrm>
          </p:grpSpPr>
          <p:sp>
            <p:nvSpPr>
              <p:cNvPr id="3" name="Text Box 28"/>
              <p:cNvSpPr txBox="1"/>
              <p:nvPr/>
            </p:nvSpPr>
            <p:spPr>
              <a:xfrm>
                <a:off x="4560" y="3206"/>
                <a:ext cx="401" cy="305"/>
              </a:xfrm>
              <a:prstGeom prst="rect">
                <a:avLst/>
              </a:prstGeom>
              <a:noFill/>
              <a:ln w="381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sv-SE" altLang="zh-CN" sz="2400" dirty="0">
                    <a:latin typeface="Tahoma" panose="020B0604030504040204" pitchFamily="34" charset="0"/>
                  </a:rPr>
                  <a:t>C</a:t>
                </a:r>
                <a:r>
                  <a:rPr lang="sv-SE" altLang="zh-CN" sz="2400" baseline="30000" dirty="0">
                    <a:latin typeface="Tahoma" panose="020B0604030504040204" pitchFamily="34" charset="0"/>
                  </a:rPr>
                  <a:t>T</a:t>
                </a:r>
                <a:r>
                  <a:rPr lang="sv-SE" altLang="zh-CN" sz="2400" dirty="0">
                    <a:latin typeface="Tahoma" panose="020B0604030504040204" pitchFamily="34" charset="0"/>
                  </a:rPr>
                  <a:t> </a:t>
                </a:r>
                <a:endParaRPr lang="en-US" altLang="zh-CN" sz="24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5557" name="Line 29"/>
              <p:cNvSpPr/>
              <p:nvPr/>
            </p:nvSpPr>
            <p:spPr>
              <a:xfrm flipV="1">
                <a:off x="4714" y="3569"/>
                <a:ext cx="0" cy="336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triangle" w="med" len="med"/>
              </a:ln>
            </p:spPr>
          </p:sp>
          <p:sp>
            <p:nvSpPr>
              <p:cNvPr id="65558" name="Text Box 30"/>
              <p:cNvSpPr txBox="1"/>
              <p:nvPr/>
            </p:nvSpPr>
            <p:spPr>
              <a:xfrm>
                <a:off x="4800" y="3590"/>
                <a:ext cx="515" cy="28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sv-SE" altLang="zh-CN" sz="2400" dirty="0">
                    <a:latin typeface="Tahoma" panose="020B0604030504040204" pitchFamily="34" charset="0"/>
                  </a:rPr>
                  <a:t>train</a:t>
                </a:r>
                <a:endParaRPr lang="en-US" altLang="zh-CN" sz="24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65559" name="Text Box 31"/>
              <p:cNvSpPr txBox="1"/>
              <p:nvPr/>
            </p:nvSpPr>
            <p:spPr>
              <a:xfrm>
                <a:off x="4560" y="3974"/>
                <a:ext cx="331" cy="305"/>
              </a:xfrm>
              <a:prstGeom prst="rect">
                <a:avLst/>
              </a:prstGeom>
              <a:noFill/>
              <a:ln w="38100" cap="flat" cmpd="sng">
                <a:solidFill>
                  <a:schemeClr val="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  <a:cs typeface="华文新魏" panose="02010800040101010101" pitchFamily="2" charset="-122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sv-SE" altLang="zh-CN" sz="2400" dirty="0">
                    <a:latin typeface="Tahoma" panose="020B0604030504040204" pitchFamily="34" charset="0"/>
                  </a:rPr>
                  <a:t>S</a:t>
                </a:r>
                <a:r>
                  <a:rPr lang="sv-SE" altLang="zh-CN" sz="2400" baseline="-25000" dirty="0">
                    <a:latin typeface="Tahoma" panose="020B0604030504040204" pitchFamily="34" charset="0"/>
                  </a:rPr>
                  <a:t>T</a:t>
                </a:r>
                <a:endParaRPr lang="en-US" altLang="zh-CN" sz="2400" baseline="-25000"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65555" name="Line 32"/>
            <p:cNvSpPr/>
            <p:nvPr/>
          </p:nvSpPr>
          <p:spPr>
            <a:xfrm>
              <a:off x="3552" y="3600"/>
              <a:ext cx="960" cy="48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triangle" w="med" len="med"/>
            </a:ln>
          </p:spPr>
        </p:sp>
      </p:grpSp>
      <p:sp>
        <p:nvSpPr>
          <p:cNvPr id="65546" name="Rectangle 33"/>
          <p:cNvSpPr/>
          <p:nvPr/>
        </p:nvSpPr>
        <p:spPr>
          <a:xfrm>
            <a:off x="3505200" y="5791200"/>
            <a:ext cx="1219200" cy="46990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X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65547" name="Line 34"/>
          <p:cNvSpPr/>
          <p:nvPr/>
        </p:nvSpPr>
        <p:spPr>
          <a:xfrm flipH="1" flipV="1">
            <a:off x="3962400" y="5181600"/>
            <a:ext cx="152400" cy="5334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48" name="Line 35"/>
          <p:cNvSpPr/>
          <p:nvPr/>
        </p:nvSpPr>
        <p:spPr>
          <a:xfrm flipH="1" flipV="1">
            <a:off x="1752600" y="5029200"/>
            <a:ext cx="2286000" cy="6858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49" name="Line 36"/>
          <p:cNvSpPr/>
          <p:nvPr/>
        </p:nvSpPr>
        <p:spPr>
          <a:xfrm flipV="1">
            <a:off x="4267200" y="5029200"/>
            <a:ext cx="2590800" cy="6858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50" name="Rectangle 37"/>
          <p:cNvSpPr/>
          <p:nvPr/>
        </p:nvSpPr>
        <p:spPr>
          <a:xfrm>
            <a:off x="5638800" y="5594350"/>
            <a:ext cx="1981200" cy="469900"/>
          </a:xfrm>
          <a:prstGeom prst="rect">
            <a:avLst/>
          </a:prstGeom>
          <a:solidFill>
            <a:srgbClr val="0070C0"/>
          </a:solidFill>
          <a:ln w="127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X-&gt;S:</a:t>
            </a:r>
            <a:r>
              <a:rPr lang="zh-CN" altLang="en-US" sz="2400" dirty="0">
                <a:solidFill>
                  <a:schemeClr val="bg1"/>
                </a:solidFill>
              </a:rPr>
              <a:t>预处理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Rectangle 38"/>
          <p:cNvSpPr/>
          <p:nvPr/>
        </p:nvSpPr>
        <p:spPr>
          <a:xfrm>
            <a:off x="2743200" y="5486400"/>
            <a:ext cx="457200" cy="2286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buFontTx/>
              <a:buNone/>
            </a:pPr>
            <a:r>
              <a:rPr lang="sv-SE" altLang="zh-CN" sz="2400" dirty="0">
                <a:latin typeface="Tahoma" panose="020B0604030504040204" pitchFamily="34" charset="0"/>
              </a:rPr>
              <a:t>D</a:t>
            </a:r>
            <a:r>
              <a:rPr lang="sv-SE" altLang="zh-CN" sz="2400" baseline="-25000" dirty="0">
                <a:latin typeface="Tahoma" panose="020B0604030504040204" pitchFamily="34" charset="0"/>
              </a:rPr>
              <a:t>1</a:t>
            </a:r>
            <a:endParaRPr lang="en-US" altLang="zh-CN" sz="2400" baseline="-25000" dirty="0">
              <a:latin typeface="Tahoma" panose="020B0604030504040204" pitchFamily="34" charset="0"/>
            </a:endParaRPr>
          </a:p>
        </p:txBody>
      </p:sp>
      <p:sp>
        <p:nvSpPr>
          <p:cNvPr id="65552" name="Rectangle 39"/>
          <p:cNvSpPr/>
          <p:nvPr/>
        </p:nvSpPr>
        <p:spPr>
          <a:xfrm>
            <a:off x="2590800" y="4038600"/>
            <a:ext cx="457200" cy="30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buFontTx/>
              <a:buNone/>
            </a:pPr>
            <a:r>
              <a:rPr lang="sv-SE" altLang="zh-CN" sz="2400" dirty="0">
                <a:latin typeface="Tahoma" panose="020B0604030504040204" pitchFamily="34" charset="0"/>
              </a:rPr>
              <a:t>D</a:t>
            </a:r>
            <a:r>
              <a:rPr lang="sv-SE" altLang="zh-CN" sz="2400" baseline="-25000" dirty="0">
                <a:latin typeface="Tahoma" panose="020B0604030504040204" pitchFamily="34" charset="0"/>
              </a:rPr>
              <a:t>2</a:t>
            </a:r>
            <a:endParaRPr lang="en-US" altLang="zh-CN" sz="2400" baseline="-25000" dirty="0">
              <a:latin typeface="Tahoma" panose="020B0604030504040204" pitchFamily="34" charset="0"/>
            </a:endParaRPr>
          </a:p>
        </p:txBody>
      </p:sp>
      <p:sp>
        <p:nvSpPr>
          <p:cNvPr id="65553" name="Rectangle 40"/>
          <p:cNvSpPr/>
          <p:nvPr/>
        </p:nvSpPr>
        <p:spPr>
          <a:xfrm>
            <a:off x="6096000" y="39624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ctr" eaLnBrk="1" hangingPunct="1">
              <a:buFontTx/>
              <a:buNone/>
            </a:pPr>
            <a:r>
              <a:rPr lang="sv-SE" altLang="zh-CN" sz="2400" dirty="0">
                <a:latin typeface="Tahoma" panose="020B0604030504040204" pitchFamily="34" charset="0"/>
              </a:rPr>
              <a:t> D</a:t>
            </a:r>
            <a:r>
              <a:rPr lang="sv-SE" altLang="zh-CN" sz="2400" baseline="-25000" dirty="0">
                <a:latin typeface="Tahoma" panose="020B0604030504040204" pitchFamily="34" charset="0"/>
              </a:rPr>
              <a:t>T</a:t>
            </a:r>
            <a:endParaRPr lang="en-US" altLang="zh-CN" sz="2400" baseline="-250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5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5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7586" name="Picture 2" descr="adaboost算法原理- CSD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28775"/>
            <a:ext cx="9144000" cy="42878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87" name="矩形 2"/>
          <p:cNvSpPr/>
          <p:nvPr/>
        </p:nvSpPr>
        <p:spPr>
          <a:xfrm>
            <a:off x="7740650" y="5084763"/>
            <a:ext cx="1295400" cy="6477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楷体_GB2312" panose="02010609030101010101" pitchFamily="49" charset="-122"/>
            </a:endParaRPr>
          </a:p>
        </p:txBody>
      </p:sp>
      <p:sp>
        <p:nvSpPr>
          <p:cNvPr id="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701675"/>
            <a:ext cx="8540750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华文新魏" panose="02010800040101010101" pitchFamily="2" charset="-122"/>
              </a:rPr>
              <a:t>集成学习方法之</a:t>
            </a:r>
            <a:r>
              <a:rPr kumimoji="0" lang="en-US" altLang="zh-CN" sz="4000" b="1" i="0" u="none" strike="noStrike" kern="0" cap="all" spc="0" normalizeH="0" baseline="0" noProof="0" dirty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华文新魏" panose="02010800040101010101" pitchFamily="2" charset="-122"/>
              </a:rPr>
              <a:t>Boosting</a:t>
            </a:r>
            <a:endParaRPr kumimoji="0" sz="4000" b="1" i="0" u="none" strike="noStrike" kern="0" cap="all" spc="0" normalizeH="0" baseline="0" noProof="0" dirty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6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88" y="1844675"/>
            <a:ext cx="7396162" cy="4211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8611" name="矩形 1"/>
          <p:cNvSpPr/>
          <p:nvPr/>
        </p:nvSpPr>
        <p:spPr>
          <a:xfrm>
            <a:off x="5508625" y="5445125"/>
            <a:ext cx="2879725" cy="6477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ea typeface="楷体_GB2312" panose="02010609030101010101" pitchFamily="49" charset="-122"/>
            </a:endParaRPr>
          </a:p>
        </p:txBody>
      </p:sp>
      <p:sp>
        <p:nvSpPr>
          <p:cNvPr id="68612" name="文本框 7"/>
          <p:cNvSpPr txBox="1"/>
          <p:nvPr/>
        </p:nvSpPr>
        <p:spPr>
          <a:xfrm>
            <a:off x="2339975" y="981075"/>
            <a:ext cx="4895850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ea typeface="宋体" panose="02010600030101010101" pitchFamily="2" charset="-122"/>
              </a:rPr>
              <a:t>集成学习之</a:t>
            </a:r>
            <a:r>
              <a:rPr lang="en-US" altLang="zh-CN" sz="4000" b="1" dirty="0">
                <a:ea typeface="宋体" panose="02010600030101010101" pitchFamily="2" charset="-122"/>
              </a:rPr>
              <a:t>AdaBoost</a:t>
            </a:r>
            <a:endParaRPr lang="zh-CN" altLang="en-US" sz="4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9634" name="Picture 2" descr="AdaBoost算法（一）——基础知识篇_天泽28的博客-CSDN博客_adaboo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-1587"/>
            <a:ext cx="7167562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0658" name="Picture 2" descr="100天搞定机器学习|Day57 Adaboost知识手册(理论篇) - 机器学习算法与Python - 博客园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3" y="636588"/>
            <a:ext cx="3889375" cy="29162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0659" name="Picture 4" descr="Fig. 9.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038" y="3213100"/>
            <a:ext cx="5400675" cy="3365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682" name="Picture 2" descr="Understand different types of Boosting Algorithm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875" y="1814513"/>
            <a:ext cx="8096250" cy="3228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83" name="AutoShape 4" descr="北大开源协会培训之“Adaboost\GBDT\XGBoost\lightGBM”（附75页PPT） - 知乎"/>
          <p:cNvSpPr>
            <a:spLocks noChangeAspect="1"/>
          </p:cNvSpPr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71684" name="文本框 3"/>
          <p:cNvSpPr txBox="1"/>
          <p:nvPr/>
        </p:nvSpPr>
        <p:spPr>
          <a:xfrm>
            <a:off x="2339975" y="981075"/>
            <a:ext cx="4895850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ea typeface="宋体" panose="02010600030101010101" pitchFamily="2" charset="-122"/>
              </a:rPr>
              <a:t>集成学习之</a:t>
            </a:r>
            <a:r>
              <a:rPr lang="en-US" altLang="zh-CN" sz="4000" b="1" dirty="0">
                <a:ea typeface="宋体" panose="02010600030101010101" pitchFamily="2" charset="-122"/>
              </a:rPr>
              <a:t>AdaBoost</a:t>
            </a:r>
            <a:endParaRPr lang="zh-CN" altLang="en-US" sz="4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2706" name="Picture 2" descr="在这里插入图片描述"/>
          <p:cNvPicPr>
            <a:picLocks noChangeAspect="1"/>
          </p:cNvPicPr>
          <p:nvPr/>
        </p:nvPicPr>
        <p:blipFill>
          <a:blip r:embed="rId1"/>
          <a:srcRect t="17667"/>
          <a:stretch>
            <a:fillRect/>
          </a:stretch>
        </p:blipFill>
        <p:spPr>
          <a:xfrm>
            <a:off x="9525" y="1357313"/>
            <a:ext cx="8905875" cy="55006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707" name="文本框 2"/>
          <p:cNvSpPr txBox="1"/>
          <p:nvPr/>
        </p:nvSpPr>
        <p:spPr>
          <a:xfrm>
            <a:off x="1908175" y="765175"/>
            <a:ext cx="4895850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ea typeface="宋体" panose="02010600030101010101" pitchFamily="2" charset="-122"/>
              </a:rPr>
              <a:t>集成学习之</a:t>
            </a:r>
            <a:r>
              <a:rPr lang="en-US" altLang="zh-CN" sz="4000" b="1" dirty="0">
                <a:ea typeface="宋体" panose="02010600030101010101" pitchFamily="2" charset="-122"/>
              </a:rPr>
              <a:t>AdaBoost</a:t>
            </a:r>
            <a:endParaRPr lang="zh-CN" altLang="en-US" sz="4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4754" name="Picture 2" descr="在这里插入图片描述"/>
          <p:cNvPicPr>
            <a:picLocks noChangeAspect="1"/>
          </p:cNvPicPr>
          <p:nvPr/>
        </p:nvPicPr>
        <p:blipFill>
          <a:blip r:embed="rId1"/>
          <a:srcRect t="12418" b="6403"/>
          <a:stretch>
            <a:fillRect/>
          </a:stretch>
        </p:blipFill>
        <p:spPr>
          <a:xfrm>
            <a:off x="0" y="1341438"/>
            <a:ext cx="8988425" cy="5472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755" name="文本框 3"/>
          <p:cNvSpPr txBox="1"/>
          <p:nvPr/>
        </p:nvSpPr>
        <p:spPr>
          <a:xfrm>
            <a:off x="1908175" y="765175"/>
            <a:ext cx="4895850" cy="708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ea typeface="宋体" panose="02010600030101010101" pitchFamily="2" charset="-122"/>
              </a:rPr>
              <a:t>集成学习之</a:t>
            </a:r>
            <a:r>
              <a:rPr lang="en-US" altLang="zh-CN" sz="4000" b="1" dirty="0">
                <a:ea typeface="宋体" panose="02010600030101010101" pitchFamily="2" charset="-122"/>
              </a:rPr>
              <a:t>AdaBoost</a:t>
            </a:r>
            <a:endParaRPr lang="zh-CN" altLang="en-US" sz="4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5778" name="图片 4"/>
          <p:cNvPicPr>
            <a:picLocks noChangeAspect="1"/>
          </p:cNvPicPr>
          <p:nvPr/>
        </p:nvPicPr>
        <p:blipFill>
          <a:blip r:embed="rId1"/>
          <a:srcRect b="12238"/>
          <a:stretch>
            <a:fillRect/>
          </a:stretch>
        </p:blipFill>
        <p:spPr>
          <a:xfrm>
            <a:off x="468313" y="1125538"/>
            <a:ext cx="8207375" cy="4606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文本框 4"/>
          <p:cNvSpPr txBox="1"/>
          <p:nvPr/>
        </p:nvSpPr>
        <p:spPr>
          <a:xfrm>
            <a:off x="177800" y="1484313"/>
            <a:ext cx="8858250" cy="1689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XGBoost是2014年由中国学者陈天奇提出。XGBoost实现的是一种通用的Tree Boosting算法。 xgboost即能解决分类问题，也能解决回归问题。      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824865"/>
            <a:ext cx="8540750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华文新魏" panose="02010800040101010101" pitchFamily="2" charset="-122"/>
              </a:rPr>
              <a:t>集成学习之</a:t>
            </a:r>
            <a:r>
              <a:rPr kumimoji="0" lang="en-US" altLang="zh-CN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华文新魏" panose="02010800040101010101" pitchFamily="2" charset="-122"/>
              </a:rPr>
              <a:t>XGBoost</a:t>
            </a:r>
            <a:endParaRPr kumimoji="0" lang="en-US" altLang="zh-CN" sz="4000" b="1" i="0" u="none" strike="noStrike" kern="0" cap="all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+mj-ea"/>
              <a:cs typeface="华文新魏" panose="02010800040101010101" pitchFamily="2" charset="-122"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 bwMode="auto">
          <a:xfrm>
            <a:off x="301625" y="3321050"/>
            <a:ext cx="8589963" cy="19431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 sz="1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  <a:lvl6pPr marL="22860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XGBoost全称是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eXtreme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Gradient Boosting,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一种对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多个回归树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进行集成的方法，构造出的多个回归树通过优化使得树群的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预测值尽可能接近真实值且具有泛化能力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，它是对Boosting族算法的改进，能够对单个弱分类器进行优化。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文本框 4"/>
          <p:cNvSpPr txBox="1">
            <a:spLocks noChangeArrowheads="1"/>
          </p:cNvSpPr>
          <p:nvPr/>
        </p:nvSpPr>
        <p:spPr bwMode="auto">
          <a:xfrm>
            <a:off x="0" y="1484313"/>
            <a:ext cx="9144000" cy="4459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原理：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首先使用训练集和样本标签训练一棵树，然后使用这棵树预测训练集，得到每个样本的预测值，由于预测值与真值存在偏差，所以二者相减可以得到“残差”。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接下来训练第二棵树，此时不再使用真值，而是使用残差作为标准答案。两棵树训练完成后，可以再次得到每个样本的残差，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然后进一步训练第三棵树，以此类推。树的总棵数可以人为指定，也可以监控某些指标（例如验证集上的误差）来停止训练。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all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华文新魏" panose="02010800040101010101" pitchFamily="2" charset="-122"/>
              </a:rPr>
              <a:t>集成学习之</a:t>
            </a:r>
            <a:r>
              <a:rPr kumimoji="0" lang="en-US" altLang="zh-CN" sz="4000" b="1" i="0" u="none" strike="noStrike" kern="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华文新魏" panose="02010800040101010101" pitchFamily="2" charset="-122"/>
              </a:rPr>
              <a:t>XGBoost</a:t>
            </a:r>
            <a:endParaRPr kumimoji="0" lang="en-US" altLang="zh-CN" sz="4000" b="1" i="0" u="none" strike="noStrike" kern="0" cap="all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+mj-ea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集成学习之</a:t>
            </a:r>
            <a:r>
              <a:rPr kumimoji="1" lang="en-US" altLang="zh-CN" sz="3600" b="1" i="0" u="none" strike="noStrike" kern="1200" cap="none" spc="0" normalizeH="0" baseline="0" noProof="0" err="1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新魏" panose="02010800040101010101" pitchFamily="2" charset="-122"/>
              </a:rPr>
              <a:t>XGBoost</a:t>
            </a:r>
            <a:endParaRPr kumimoji="1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新魏" panose="02010800040101010101" pitchFamily="2" charset="-122"/>
            </a:endParaRPr>
          </a:p>
        </p:txBody>
      </p:sp>
      <p:sp>
        <p:nvSpPr>
          <p:cNvPr id="78851" name="文本框 6"/>
          <p:cNvSpPr txBox="1"/>
          <p:nvPr/>
        </p:nvSpPr>
        <p:spPr>
          <a:xfrm>
            <a:off x="684213" y="2205038"/>
            <a:ext cx="8064500" cy="3351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XGBoost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和随机森林虽然用的基础模型都是决策树，但是它们在本质上是不同的，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XGBoost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是串行的组合决策树，也就是先有了第一个，然后根据某个算法计算出要不要第二棵树，如果要，才有了第二个，依次类推，不可能并行地同时处理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个；而随机森林是并行的组合，意思是可以并行计算，一次并行处理多个。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Bagging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和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boosting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区别联系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(1)</a:t>
            </a:r>
            <a:endParaRPr kumimoji="1" lang="en-US" altLang="zh-CN" sz="3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11335" name="Rectangle 7"/>
          <p:cNvSpPr>
            <a:spLocks noGrp="1" noChangeArrowheads="1"/>
          </p:cNvSpPr>
          <p:nvPr>
            <p:ph idx="1"/>
          </p:nvPr>
        </p:nvSpPr>
        <p:spPr>
          <a:xfrm>
            <a:off x="890588" y="1706563"/>
            <a:ext cx="8148638" cy="4900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训练集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zh-CN" altLang="en-US" sz="2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Bagging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随机选择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，各轮训练集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相互独立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Boosting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：各轮训练集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并不独立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，它的选择与前轮的学习结果有关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预测函数</a:t>
            </a: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lang="zh-CN" altLang="en-US" sz="2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Bagging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：没有权重；可以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并行生成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charset="0"/>
              <a:buChar char="n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Boosting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：有权重；只能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顺序生成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charset="0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3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3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 vert="horz" wrap="square" lIns="91440" tIns="45720" rIns="91440" bIns="45720" numCol="1" anchor="b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Bagging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和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boosting</a:t>
            </a: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区别联系</a:t>
            </a:r>
            <a:r>
              <a:rPr kumimoji="0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+mn-ea"/>
              </a:rPr>
              <a:t>(2)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11335" name="Rectangle 7"/>
          <p:cNvSpPr>
            <a:spLocks noGrp="1" noChangeArrowheads="1"/>
          </p:cNvSpPr>
          <p:nvPr>
            <p:ph idx="1"/>
          </p:nvPr>
        </p:nvSpPr>
        <p:spPr>
          <a:xfrm>
            <a:off x="674688" y="1922463"/>
            <a:ext cx="8148638" cy="49006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在许多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应用中，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准确率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比运算速度更为重要，因为计算机的性价比提高很快。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bagging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boosting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都可以有效地提高分类的准确性。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在大多数数据集中，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boosting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的准确性比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bagging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高。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在有些数据集中，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boosting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会引起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退化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。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--Overfit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3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499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3" y="3186113"/>
            <a:ext cx="8712200" cy="3689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995" name="文本框 5"/>
          <p:cNvSpPr txBox="1"/>
          <p:nvPr/>
        </p:nvSpPr>
        <p:spPr>
          <a:xfrm>
            <a:off x="828675" y="981075"/>
            <a:ext cx="75596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Stacking</a:t>
            </a:r>
            <a:r>
              <a:rPr lang="zh-CN" altLang="en-US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方法是一种分层模型集成框架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84996" name="文本框 7"/>
          <p:cNvSpPr txBox="1"/>
          <p:nvPr/>
        </p:nvSpPr>
        <p:spPr>
          <a:xfrm>
            <a:off x="540068" y="1701483"/>
            <a:ext cx="8640762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3333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2000" b="1" dirty="0">
                <a:solidFill>
                  <a:srgbClr val="3333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划分训练数据集为两个不相交的集合。</a:t>
            </a:r>
            <a:br>
              <a:rPr lang="zh-CN" altLang="en-US" sz="2000" b="1" dirty="0"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3333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2. </a:t>
            </a:r>
            <a:r>
              <a:rPr lang="zh-CN" altLang="en-US" sz="2000" b="1" dirty="0">
                <a:solidFill>
                  <a:srgbClr val="3333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在第一个集合上训练多个学习器。</a:t>
            </a:r>
            <a:br>
              <a:rPr lang="zh-CN" altLang="en-US" sz="2000" b="1" dirty="0"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3333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3. </a:t>
            </a:r>
            <a:r>
              <a:rPr lang="zh-CN" altLang="en-US" sz="2000" b="1" dirty="0">
                <a:solidFill>
                  <a:srgbClr val="3333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在第二个集合上测试这几个学习器</a:t>
            </a:r>
            <a:br>
              <a:rPr lang="zh-CN" altLang="en-US" sz="2000" b="1" dirty="0">
                <a:ea typeface="宋体" panose="02010600030101010101" pitchFamily="2" charset="-122"/>
              </a:rPr>
            </a:br>
            <a:r>
              <a:rPr lang="en-US" altLang="zh-CN" sz="2000" b="1" dirty="0">
                <a:solidFill>
                  <a:srgbClr val="3333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4. </a:t>
            </a:r>
            <a:r>
              <a:rPr lang="zh-CN" altLang="en-US" sz="2000" b="1" dirty="0">
                <a:solidFill>
                  <a:srgbClr val="3333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把第三步得到的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预测结果作为输入</a:t>
            </a:r>
            <a:r>
              <a:rPr lang="zh-CN" altLang="en-US" sz="2000" b="1" dirty="0">
                <a:solidFill>
                  <a:srgbClr val="3333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，把正确的回应作为输出，训练一个高层学习器，</a:t>
            </a:r>
            <a:endParaRPr lang="zh-CN" altLang="en-US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7042" name="Picture 2" descr="在这里插入图片描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806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438" y="519113"/>
            <a:ext cx="8239125" cy="5819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  <a:ea typeface="宋体" panose="02010600030101010101" pitchFamily="2" charset="-122"/>
              </a:rPr>
            </a:fld>
            <a:endParaRPr lang="en-US" altLang="zh-CN" sz="14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89091" name="Group 4"/>
          <p:cNvGrpSpPr/>
          <p:nvPr/>
        </p:nvGrpSpPr>
        <p:grpSpPr>
          <a:xfrm>
            <a:off x="684213" y="1268413"/>
            <a:ext cx="5267325" cy="1393825"/>
            <a:chOff x="279" y="661"/>
            <a:chExt cx="3318" cy="878"/>
          </a:xfrm>
        </p:grpSpPr>
        <p:pic>
          <p:nvPicPr>
            <p:cNvPr id="89093" name="Picture 5" descr="logo00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9" y="663"/>
              <a:ext cx="1104" cy="87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9094" name="Picture 6" descr="headerpers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3" y="661"/>
              <a:ext cx="1104" cy="87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89095" name="Picture 7" descr="blue00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3" y="663"/>
              <a:ext cx="1104" cy="87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0724" name="Rectangle 8"/>
          <p:cNvSpPr>
            <a:spLocks noChangeArrowheads="1"/>
          </p:cNvSpPr>
          <p:nvPr/>
        </p:nvSpPr>
        <p:spPr bwMode="auto">
          <a:xfrm>
            <a:off x="1370013" y="3429000"/>
            <a:ext cx="7559675" cy="1225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26267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谢谢！</a:t>
            </a:r>
            <a:endParaRPr kumimoji="1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26267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0114" name="Picture 2" descr="决策树算法--CART分类树算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341438"/>
            <a:ext cx="8310562" cy="5111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文本框 4"/>
          <p:cNvSpPr txBox="1">
            <a:spLocks noChangeArrowheads="1"/>
          </p:cNvSpPr>
          <p:nvPr/>
        </p:nvSpPr>
        <p:spPr bwMode="auto">
          <a:xfrm>
            <a:off x="6588125" y="1052513"/>
            <a:ext cx="2357438" cy="1200150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宋体" panose="02010600030101010101" pitchFamily="2" charset="-122"/>
                <a:cs typeface="+mn-cs"/>
              </a:rPr>
              <a:t>CART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宋体" panose="02010600030101010101" pitchFamily="2" charset="-122"/>
                <a:cs typeface="+mn-cs"/>
              </a:rPr>
              <a:t>算法步骤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-apple-system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宋体" panose="02010600030101010101" pitchFamily="2" charset="-122"/>
                <a:cs typeface="+mn-cs"/>
              </a:rPr>
              <a:t>特征选择；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-apple-system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宋体" panose="02010600030101010101" pitchFamily="2" charset="-122"/>
                <a:cs typeface="+mn-cs"/>
              </a:rPr>
              <a:t>递归建立决策树；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-apple-system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AutoNum type="arabicPeriod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-apple-system"/>
                <a:ea typeface="宋体" panose="02010600030101010101" pitchFamily="2" charset="-122"/>
                <a:cs typeface="+mn-cs"/>
              </a:rPr>
              <a:t>决策树剪枝；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-apple-system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3" name="文本框 6"/>
          <p:cNvSpPr txBox="1"/>
          <p:nvPr/>
        </p:nvSpPr>
        <p:spPr>
          <a:xfrm>
            <a:off x="539750" y="1341438"/>
            <a:ext cx="8064500" cy="2168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CART</a:t>
            </a:r>
            <a:r>
              <a:rPr lang="zh-CN" altLang="en-US" sz="20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分类树算法（</a:t>
            </a:r>
            <a:r>
              <a:rPr lang="en-US" altLang="zh-CN" sz="20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Classification and</a:t>
            </a:r>
            <a:r>
              <a:rPr lang="zh-CN" altLang="en-US" sz="20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Regression Tree</a:t>
            </a:r>
            <a:r>
              <a:rPr lang="zh-CN" altLang="en-US" sz="20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）</a:t>
            </a:r>
            <a:endParaRPr lang="zh-CN" altLang="en-US" sz="2000" b="1" dirty="0">
              <a:solidFill>
                <a:srgbClr val="121212"/>
              </a:solidFill>
              <a:latin typeface="-apple-system"/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ID3</a:t>
            </a:r>
            <a:r>
              <a:rPr lang="zh-CN" altLang="en-US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中，使用了信息增益选择特征</a:t>
            </a:r>
            <a:r>
              <a:rPr lang="zh-CN" altLang="en-US" sz="18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，增益大优先选择。</a:t>
            </a:r>
            <a:endParaRPr lang="en-US" altLang="zh-CN" sz="1800" dirty="0">
              <a:solidFill>
                <a:srgbClr val="121212"/>
              </a:solidFill>
              <a:latin typeface="-apple-system"/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C4.5</a:t>
            </a:r>
            <a:r>
              <a:rPr lang="zh-CN" altLang="en-US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中，采用信息增益率选择特征</a:t>
            </a:r>
            <a:r>
              <a:rPr lang="zh-CN" altLang="en-US" sz="18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，减少因特征值多导致信息增益大的问题。</a:t>
            </a:r>
            <a:endParaRPr lang="en-US" altLang="zh-CN" sz="1800" dirty="0">
              <a:solidFill>
                <a:srgbClr val="121212"/>
              </a:solidFill>
              <a:latin typeface="-apple-system"/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CART</a:t>
            </a:r>
            <a:r>
              <a:rPr lang="zh-CN" altLang="en-US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分类树算法使用基尼系数选择特征</a:t>
            </a:r>
            <a:r>
              <a:rPr lang="zh-CN" altLang="en-US" sz="18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，基尼系数代表了模型的不纯度，</a:t>
            </a:r>
            <a:r>
              <a:rPr lang="zh-CN" altLang="en-US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基尼系数越小，不纯度越低，特征越好</a:t>
            </a:r>
            <a:r>
              <a:rPr lang="zh-CN" altLang="en-US" sz="18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。这和信息增益（率）相反。</a:t>
            </a:r>
            <a:endParaRPr lang="zh-CN" altLang="en-US" sz="1800" dirty="0">
              <a:solidFill>
                <a:srgbClr val="121212"/>
              </a:solidFill>
              <a:latin typeface="-apple-system"/>
              <a:ea typeface="宋体" panose="02010600030101010101" pitchFamily="2" charset="-122"/>
            </a:endParaRPr>
          </a:p>
        </p:txBody>
      </p:sp>
      <p:sp>
        <p:nvSpPr>
          <p:cNvPr id="92164" name="文本框 9"/>
          <p:cNvSpPr txBox="1"/>
          <p:nvPr/>
        </p:nvSpPr>
        <p:spPr>
          <a:xfrm>
            <a:off x="539750" y="4005263"/>
            <a:ext cx="6840538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基尼系数：</a:t>
            </a:r>
            <a:r>
              <a:rPr lang="zh-CN" altLang="en-US" sz="18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数据集</a:t>
            </a:r>
            <a:r>
              <a:rPr lang="en-US" altLang="zh-CN" sz="18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D</a:t>
            </a:r>
            <a:r>
              <a:rPr lang="zh-CN" altLang="en-US" sz="1800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的纯度可用基尼值来度量</a:t>
            </a:r>
            <a:endParaRPr lang="zh-CN" altLang="en-US" sz="1800" dirty="0">
              <a:solidFill>
                <a:srgbClr val="121212"/>
              </a:solidFill>
              <a:latin typeface="-apple-system"/>
              <a:ea typeface="宋体" panose="02010600030101010101" pitchFamily="2" charset="-122"/>
            </a:endParaRPr>
          </a:p>
        </p:txBody>
      </p:sp>
      <p:pic>
        <p:nvPicPr>
          <p:cNvPr id="92165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700" y="4427538"/>
            <a:ext cx="2843213" cy="1089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66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5599113"/>
            <a:ext cx="7775575" cy="719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318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3" y="2133600"/>
            <a:ext cx="8459787" cy="36401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3187" name="文本框 5"/>
          <p:cNvSpPr txBox="1"/>
          <p:nvPr/>
        </p:nvSpPr>
        <p:spPr>
          <a:xfrm>
            <a:off x="323850" y="1155700"/>
            <a:ext cx="63357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CART</a:t>
            </a:r>
            <a:r>
              <a:rPr lang="zh-CN" altLang="en-US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分类树算法（</a:t>
            </a:r>
            <a:r>
              <a:rPr lang="en-US" altLang="zh-CN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Classification and</a:t>
            </a:r>
            <a:r>
              <a:rPr lang="zh-CN" altLang="en-US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Regression Tree</a:t>
            </a:r>
            <a:r>
              <a:rPr lang="zh-CN" altLang="en-US" sz="1800" b="1" dirty="0">
                <a:solidFill>
                  <a:srgbClr val="121212"/>
                </a:solidFill>
                <a:latin typeface="-apple-system"/>
                <a:ea typeface="宋体" panose="02010600030101010101" pitchFamily="2" charset="-122"/>
              </a:rPr>
              <a:t>）</a:t>
            </a:r>
            <a:endParaRPr lang="zh-CN" altLang="en-US" sz="1800" b="1" dirty="0">
              <a:solidFill>
                <a:srgbClr val="121212"/>
              </a:solidFill>
              <a:latin typeface="-apple-system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文本框 5"/>
          <p:cNvSpPr txBox="1"/>
          <p:nvPr/>
        </p:nvSpPr>
        <p:spPr>
          <a:xfrm>
            <a:off x="395288" y="11969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对连续特征和离散特征的处理</a:t>
            </a:r>
            <a:endParaRPr lang="zh-CN" altLang="en-US" sz="2400" b="1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4211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2349500"/>
            <a:ext cx="8331200" cy="30241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文本框 2"/>
          <p:cNvSpPr txBox="1"/>
          <p:nvPr/>
        </p:nvSpPr>
        <p:spPr>
          <a:xfrm>
            <a:off x="395288" y="11969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对连续特征和离散特征的处理</a:t>
            </a:r>
            <a:endParaRPr lang="zh-CN" altLang="en-US" sz="2400" b="1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5235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8" y="2492375"/>
            <a:ext cx="8747125" cy="2536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625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575" y="2432050"/>
            <a:ext cx="6696075" cy="432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59" name="Rectangle 1"/>
          <p:cNvSpPr/>
          <p:nvPr/>
        </p:nvSpPr>
        <p:spPr>
          <a:xfrm>
            <a:off x="252413" y="1143000"/>
            <a:ext cx="9215437" cy="1193800"/>
          </a:xfrm>
          <a:prstGeom prst="rect">
            <a:avLst/>
          </a:prstGeom>
          <a:noFill/>
          <a:ln w="9525">
            <a:noFill/>
          </a:ln>
        </p:spPr>
        <p:txBody>
          <a:bodyPr lIns="95220" tIns="0" rIns="0" bIns="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1800" dirty="0">
                <a:ea typeface="宋体" panose="02010600030101010101" pitchFamily="2" charset="-122"/>
              </a:rPr>
              <a:t>CART剪枝由两步组成：</a:t>
            </a:r>
            <a:endParaRPr lang="zh-CN" altLang="zh-CN" sz="18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zh-CN" sz="1800" dirty="0">
                <a:ea typeface="宋体" panose="02010600030101010101" pitchFamily="2" charset="-122"/>
              </a:rPr>
              <a:t>从生成的决策树 T0 底端开始不断剪枝，直到 T0T根结点，形成子树序列 {T0,T1,...,Tn} </a:t>
            </a:r>
            <a:endParaRPr lang="zh-CN" altLang="zh-CN" sz="18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lang="zh-CN" altLang="zh-CN" sz="1800" dirty="0">
                <a:ea typeface="宋体" panose="02010600030101010101" pitchFamily="2" charset="-122"/>
              </a:rPr>
              <a:t>通过交叉验证法在验证集上对子树序列进行测试，从中选择最优子树。</a:t>
            </a:r>
            <a:endParaRPr lang="zh-CN" altLang="zh-CN" sz="1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728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913" y="1125538"/>
            <a:ext cx="6829425" cy="4749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830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412875"/>
            <a:ext cx="8172450" cy="44815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933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3" y="1844675"/>
            <a:ext cx="8531225" cy="2998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35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575" y="1052513"/>
            <a:ext cx="7499350" cy="5348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355" name="文本框 5"/>
          <p:cNvSpPr txBox="1"/>
          <p:nvPr/>
        </p:nvSpPr>
        <p:spPr>
          <a:xfrm>
            <a:off x="5075238" y="260350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回归问题的提升树算法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1"/>
          <p:cNvSpPr/>
          <p:nvPr/>
        </p:nvSpPr>
        <p:spPr>
          <a:xfrm>
            <a:off x="0" y="90488"/>
            <a:ext cx="0" cy="276225"/>
          </a:xfrm>
          <a:prstGeom prst="rect">
            <a:avLst/>
          </a:prstGeom>
          <a:solidFill>
            <a:srgbClr val="FEFEF2"/>
          </a:solidFill>
          <a:ln w="9525">
            <a:noFill/>
          </a:ln>
        </p:spPr>
        <p:txBody>
          <a:bodyPr wrap="none" lIns="0" tIns="0" rIns="0" bIns="0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dirty="0">
              <a:ea typeface="宋体" panose="02010600030101010101" pitchFamily="2" charset="-122"/>
            </a:endParaRPr>
          </a:p>
        </p:txBody>
      </p:sp>
      <p:sp>
        <p:nvSpPr>
          <p:cNvPr id="101379" name="文本框 5"/>
          <p:cNvSpPr txBox="1"/>
          <p:nvPr/>
        </p:nvSpPr>
        <p:spPr>
          <a:xfrm>
            <a:off x="395288" y="981075"/>
            <a:ext cx="8353425" cy="5953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GBDT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en-US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(Gradient Boosting Decision Tree</a:t>
            </a:r>
            <a:r>
              <a:rPr lang="zh-CN" altLang="en-US" sz="2200" dirty="0">
                <a:solidFill>
                  <a:srgbClr val="000000"/>
                </a:solidFill>
                <a:ea typeface="宋体" panose="02010600030101010101" pitchFamily="2" charset="-122"/>
              </a:rPr>
              <a:t>梯度提升决策树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有很多简称，</a:t>
            </a:r>
            <a:r>
              <a:rPr lang="zh-CN" altLang="en-US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如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endParaRPr lang="en-US" altLang="zh-CN" sz="22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914400" lvl="2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GBT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(Gradient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Boosting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Tree)</a:t>
            </a:r>
            <a:endParaRPr lang="en-US" altLang="zh-CN" sz="22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914400" lvl="2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GTB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(Gradient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Tree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Boosting、GBRT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(Gradient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Boosting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Regression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Tree) MART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(Multiple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Additive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Regression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Tree)，</a:t>
            </a:r>
            <a:endParaRPr lang="en-US" altLang="zh-CN" sz="22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其实都指同一种算法。</a:t>
            </a:r>
            <a:r>
              <a:rPr lang="zh-CN" altLang="zh-CN" sz="2200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GBDT是加法模型，学习算法使用前向分步算法，基(弱)学习器只能使用</a:t>
            </a:r>
            <a:r>
              <a:rPr lang="zh-CN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CART</a:t>
            </a:r>
            <a:r>
              <a:rPr lang="zh-CN" altLang="zh-CN" sz="2200" dirty="0">
                <a:solidFill>
                  <a:srgbClr val="0000FF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回归树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。</a:t>
            </a:r>
            <a:endParaRPr lang="zh-CN" altLang="zh-CN" sz="2200" dirty="0">
              <a:ea typeface="宋体" panose="02010600030101010101" pitchFamily="2" charset="-122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GBDT的思想用一个通俗的例子解释，假设有个人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30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岁，我们首先用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20岁去拟合，发现损失有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10岁，这时用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6岁去拟合，发现损失有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4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岁，第三轮用</a:t>
            </a:r>
            <a:r>
              <a:rPr lang="zh-CN" altLang="zh-CN" sz="2200" dirty="0">
                <a:solidFill>
                  <a:srgbClr val="000000"/>
                </a:solidFill>
                <a:ea typeface="宋体" panose="02010600030101010101" pitchFamily="2" charset="-122"/>
              </a:rPr>
              <a:t> </a:t>
            </a:r>
            <a:r>
              <a:rPr lang="zh-CN" altLang="zh-CN" sz="22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3岁去拟合，损失有一岁了。如果迭代次数还没完，可以继续迭代下面，每一轮迭代，拟合的岁数损失都会减小。</a:t>
            </a:r>
            <a:endParaRPr lang="zh-CN" altLang="zh-CN" sz="2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116013" y="908050"/>
            <a:ext cx="714375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marR="0" algn="ctr" defTabSz="914400">
              <a:buClrTx/>
              <a:buSzTx/>
              <a:buFontTx/>
              <a:buNone/>
              <a:defRPr/>
            </a:pPr>
            <a:r>
              <a:rPr kumimoji="1" lang="zh-CN" altLang="en-US" sz="4000" b="1" kern="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第四次大作业</a:t>
            </a:r>
            <a:endParaRPr kumimoji="1" lang="en-US" altLang="zh-CN" sz="4000" b="1" kern="0" cap="none" spc="0" normalizeH="0" baseline="0" noProof="0" dirty="0">
              <a:solidFill>
                <a:srgbClr val="FF0000"/>
              </a:solidFill>
              <a:latin typeface="宋体" panose="02010600030101010101" pitchFamily="2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03" name="Rectangle 1"/>
          <p:cNvSpPr/>
          <p:nvPr/>
        </p:nvSpPr>
        <p:spPr>
          <a:xfrm>
            <a:off x="612140" y="1599248"/>
            <a:ext cx="8353425" cy="474281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  <a:cs typeface="华文新魏" panose="02010800040101010101" pitchFamily="2" charset="-122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使用百度飞浆平台，建立项目并公开（名称设置为：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秋模型识别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AdaBoost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张三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学号），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自行选取合适的两个数据集实现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AdaBoost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并选取两个弱分类器进行对比，体现组合分类器的优势。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提交报告，最终将公开项目的链接。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just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617*164"/>
  <p:tag name="TABLE_ENDDRAG_RECT" val="50*196*617*164"/>
</p:tagLst>
</file>

<file path=ppt/tags/tag2.xml><?xml version="1.0" encoding="utf-8"?>
<p:tagLst xmlns:p="http://schemas.openxmlformats.org/presentationml/2006/main">
  <p:tag name="REFSHAPE" val="889140052"/>
  <p:tag name="KSO_WM_UNIT_PLACING_PICTURE_USER_VIEWPORT" val="{&quot;height&quot;:4590,&quot;width&quot;:6552}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华文新魏"/>
        <a:cs typeface=""/>
      </a:majorFont>
      <a:minorFont>
        <a:latin typeface="Times New Roman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5302</Words>
  <Application>WPS 演示</Application>
  <PresentationFormat>全屏显示(4:3)</PresentationFormat>
  <Paragraphs>634</Paragraphs>
  <Slides>58</Slides>
  <Notes>24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84" baseType="lpstr">
      <vt:lpstr>Arial</vt:lpstr>
      <vt:lpstr>宋体</vt:lpstr>
      <vt:lpstr>Wingdings</vt:lpstr>
      <vt:lpstr>Times New Roman</vt:lpstr>
      <vt:lpstr>楷体_GB2312</vt:lpstr>
      <vt:lpstr>Tahoma</vt:lpstr>
      <vt:lpstr>华文新魏</vt:lpstr>
      <vt:lpstr>黑体</vt:lpstr>
      <vt:lpstr>华文中宋</vt:lpstr>
      <vt:lpstr>微软雅黑</vt:lpstr>
      <vt:lpstr>Wingdings</vt:lpstr>
      <vt:lpstr>Verdana</vt:lpstr>
      <vt:lpstr>Arial Unicode MS</vt:lpstr>
      <vt:lpstr>Calibri</vt:lpstr>
      <vt:lpstr>Symbol</vt:lpstr>
      <vt:lpstr>-apple-system</vt:lpstr>
      <vt:lpstr>Segoe Print</vt:lpstr>
      <vt:lpstr>汉仪君黑-45简</vt:lpstr>
      <vt:lpstr>Blends</vt:lpstr>
      <vt:lpstr>1_Blends</vt:lpstr>
      <vt:lpstr>2_Blends</vt:lpstr>
      <vt:lpstr>3_Blends</vt:lpstr>
      <vt:lpstr>4_Blends</vt:lpstr>
      <vt:lpstr>5_Blends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集成学习方法之Bagging</vt:lpstr>
      <vt:lpstr>集成学习方法之Bagging</vt:lpstr>
      <vt:lpstr>集成学习方法之Bagging</vt:lpstr>
      <vt:lpstr>PowerPoint 演示文稿</vt:lpstr>
      <vt:lpstr>集成学习方法之Bagging</vt:lpstr>
      <vt:lpstr>PowerPoint 演示文稿</vt:lpstr>
      <vt:lpstr>PowerPoint 演示文稿</vt:lpstr>
      <vt:lpstr>集成学习方法之Bagging</vt:lpstr>
      <vt:lpstr>集成学习方法之随机森林</vt:lpstr>
      <vt:lpstr>集成学习方法之随机森林</vt:lpstr>
      <vt:lpstr>集成学习方法之Boosting</vt:lpstr>
      <vt:lpstr>集成学习方法之Boosting</vt:lpstr>
      <vt:lpstr>集成学习方法之Boosting</vt:lpstr>
      <vt:lpstr>集成学习方法之Boosting</vt:lpstr>
      <vt:lpstr>集成学习方法之Boosting</vt:lpstr>
      <vt:lpstr>集成学习方法之Boosting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集成学习之XGBoost</vt:lpstr>
      <vt:lpstr>集成学习之XGBoost</vt:lpstr>
      <vt:lpstr>集成学习之XGBoost</vt:lpstr>
      <vt:lpstr>Bagging和boosting区别联系(1)</vt:lpstr>
      <vt:lpstr>Bagging和boosting区别联系(2)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刘旭</cp:lastModifiedBy>
  <cp:revision>492</cp:revision>
  <dcterms:created xsi:type="dcterms:W3CDTF">2013-04-25T08:06:00Z</dcterms:created>
  <dcterms:modified xsi:type="dcterms:W3CDTF">2025-11-17T14:02:29Z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6310B61B2AE648358563FCDB38225E37_12</vt:lpwstr>
  </property>
</Properties>
</file>
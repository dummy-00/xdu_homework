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0"/>
  </p:notesMasterIdLst>
  <p:sldIdLst>
    <p:sldId id="756" r:id="rId2"/>
    <p:sldId id="294" r:id="rId3"/>
    <p:sldId id="757" r:id="rId4"/>
    <p:sldId id="691" r:id="rId5"/>
    <p:sldId id="916" r:id="rId6"/>
    <p:sldId id="900" r:id="rId7"/>
    <p:sldId id="904" r:id="rId8"/>
    <p:sldId id="826" r:id="rId9"/>
    <p:sldId id="693" r:id="rId10"/>
    <p:sldId id="894" r:id="rId11"/>
    <p:sldId id="758" r:id="rId12"/>
    <p:sldId id="759" r:id="rId13"/>
    <p:sldId id="760" r:id="rId14"/>
    <p:sldId id="762" r:id="rId15"/>
    <p:sldId id="763" r:id="rId16"/>
    <p:sldId id="764" r:id="rId17"/>
    <p:sldId id="766" r:id="rId18"/>
    <p:sldId id="767" r:id="rId19"/>
    <p:sldId id="769" r:id="rId20"/>
    <p:sldId id="827" r:id="rId21"/>
    <p:sldId id="770" r:id="rId22"/>
    <p:sldId id="772" r:id="rId23"/>
    <p:sldId id="773" r:id="rId24"/>
    <p:sldId id="776" r:id="rId25"/>
    <p:sldId id="777" r:id="rId26"/>
    <p:sldId id="778" r:id="rId27"/>
    <p:sldId id="779" r:id="rId28"/>
    <p:sldId id="780" r:id="rId29"/>
    <p:sldId id="782" r:id="rId30"/>
    <p:sldId id="783" r:id="rId31"/>
    <p:sldId id="784" r:id="rId32"/>
    <p:sldId id="896" r:id="rId33"/>
    <p:sldId id="897" r:id="rId34"/>
    <p:sldId id="786" r:id="rId35"/>
    <p:sldId id="787" r:id="rId36"/>
    <p:sldId id="899" r:id="rId37"/>
    <p:sldId id="788" r:id="rId38"/>
    <p:sldId id="789" r:id="rId39"/>
    <p:sldId id="790" r:id="rId40"/>
    <p:sldId id="791" r:id="rId41"/>
    <p:sldId id="792" r:id="rId42"/>
    <p:sldId id="793" r:id="rId43"/>
    <p:sldId id="794" r:id="rId44"/>
    <p:sldId id="795" r:id="rId45"/>
    <p:sldId id="796" r:id="rId46"/>
    <p:sldId id="797" r:id="rId47"/>
    <p:sldId id="798" r:id="rId48"/>
    <p:sldId id="799" r:id="rId49"/>
    <p:sldId id="800" r:id="rId50"/>
    <p:sldId id="801" r:id="rId51"/>
    <p:sldId id="828" r:id="rId52"/>
    <p:sldId id="802" r:id="rId53"/>
    <p:sldId id="803" r:id="rId54"/>
    <p:sldId id="804" r:id="rId55"/>
    <p:sldId id="911" r:id="rId56"/>
    <p:sldId id="912" r:id="rId57"/>
    <p:sldId id="806" r:id="rId58"/>
    <p:sldId id="807" r:id="rId59"/>
    <p:sldId id="915" r:id="rId60"/>
    <p:sldId id="829" r:id="rId61"/>
    <p:sldId id="808" r:id="rId62"/>
    <p:sldId id="809" r:id="rId63"/>
    <p:sldId id="810" r:id="rId64"/>
    <p:sldId id="811" r:id="rId65"/>
    <p:sldId id="812" r:id="rId66"/>
    <p:sldId id="813" r:id="rId67"/>
    <p:sldId id="814" r:id="rId68"/>
    <p:sldId id="815" r:id="rId69"/>
    <p:sldId id="830" r:id="rId70"/>
    <p:sldId id="816" r:id="rId71"/>
    <p:sldId id="817" r:id="rId72"/>
    <p:sldId id="818" r:id="rId73"/>
    <p:sldId id="819" r:id="rId74"/>
    <p:sldId id="820" r:id="rId75"/>
    <p:sldId id="821" r:id="rId76"/>
    <p:sldId id="822" r:id="rId77"/>
    <p:sldId id="823" r:id="rId78"/>
    <p:sldId id="901" r:id="rId79"/>
    <p:sldId id="902" r:id="rId80"/>
    <p:sldId id="903" r:id="rId81"/>
    <p:sldId id="905" r:id="rId82"/>
    <p:sldId id="906" r:id="rId83"/>
    <p:sldId id="907" r:id="rId84"/>
    <p:sldId id="908" r:id="rId85"/>
    <p:sldId id="909" r:id="rId86"/>
    <p:sldId id="898" r:id="rId87"/>
    <p:sldId id="917" r:id="rId88"/>
    <p:sldId id="910" r:id="rId89"/>
  </p:sldIdLst>
  <p:sldSz cx="12192000" cy="6858000"/>
  <p:notesSz cx="6858000" cy="9144000"/>
  <p:custDataLst>
    <p:tags r:id="rId91"/>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Times New Roman" panose="02020603050405020304" pitchFamily="18" charset="0"/>
        <a:ea typeface="华文新魏" panose="020108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3333CC"/>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76"/>
    <p:restoredTop sz="91772"/>
  </p:normalViewPr>
  <p:slideViewPr>
    <p:cSldViewPr snapToGrid="0" showGuides="1">
      <p:cViewPr>
        <p:scale>
          <a:sx n="50" d="100"/>
          <a:sy n="50" d="100"/>
        </p:scale>
        <p:origin x="1215" y="2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image" Target="../media/image22.wmf"/><Relationship Id="rId7" Type="http://schemas.openxmlformats.org/officeDocument/2006/relationships/image" Target="../media/image26.w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5" Type="http://schemas.openxmlformats.org/officeDocument/2006/relationships/image" Target="../media/image24.wmf"/><Relationship Id="rId4"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image" Target="../media/image30.wmf"/><Relationship Id="rId7" Type="http://schemas.openxmlformats.org/officeDocument/2006/relationships/image" Target="../media/image25.wmf"/><Relationship Id="rId2" Type="http://schemas.openxmlformats.org/officeDocument/2006/relationships/image" Target="../media/image29.wmf"/><Relationship Id="rId1" Type="http://schemas.openxmlformats.org/officeDocument/2006/relationships/image" Target="../media/image28.wmf"/><Relationship Id="rId6" Type="http://schemas.openxmlformats.org/officeDocument/2006/relationships/image" Target="../media/image32.wmf"/><Relationship Id="rId11" Type="http://schemas.openxmlformats.org/officeDocument/2006/relationships/image" Target="../media/image36.wmf"/><Relationship Id="rId5" Type="http://schemas.openxmlformats.org/officeDocument/2006/relationships/image" Target="../media/image31.wmf"/><Relationship Id="rId10" Type="http://schemas.openxmlformats.org/officeDocument/2006/relationships/image" Target="../media/image35.wmf"/><Relationship Id="rId4" Type="http://schemas.openxmlformats.org/officeDocument/2006/relationships/image" Target="../media/image20.wmf"/><Relationship Id="rId9" Type="http://schemas.openxmlformats.org/officeDocument/2006/relationships/image" Target="../media/image3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43.wmf"/><Relationship Id="rId1" Type="http://schemas.openxmlformats.org/officeDocument/2006/relationships/image" Target="../media/image42.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25.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8.wmf"/><Relationship Id="rId5" Type="http://schemas.openxmlformats.org/officeDocument/2006/relationships/image" Target="../media/image39.wmf"/><Relationship Id="rId4"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1.wmf"/><Relationship Id="rId7" Type="http://schemas.openxmlformats.org/officeDocument/2006/relationships/image" Target="../media/image55.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60.wmf"/><Relationship Id="rId7" Type="http://schemas.openxmlformats.org/officeDocument/2006/relationships/image" Target="../media/image64.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63.wmf"/><Relationship Id="rId5" Type="http://schemas.openxmlformats.org/officeDocument/2006/relationships/image" Target="../media/image62.wmf"/><Relationship Id="rId10" Type="http://schemas.openxmlformats.org/officeDocument/2006/relationships/image" Target="../media/image67.wmf"/><Relationship Id="rId4" Type="http://schemas.openxmlformats.org/officeDocument/2006/relationships/image" Target="../media/image61.wmf"/><Relationship Id="rId9" Type="http://schemas.openxmlformats.org/officeDocument/2006/relationships/image" Target="../media/image66.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image" Target="../media/image70.wmf"/><Relationship Id="rId7" Type="http://schemas.openxmlformats.org/officeDocument/2006/relationships/image" Target="../media/image74.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10" Type="http://schemas.openxmlformats.org/officeDocument/2006/relationships/image" Target="../media/image77.wmf"/><Relationship Id="rId4" Type="http://schemas.openxmlformats.org/officeDocument/2006/relationships/image" Target="../media/image71.wmf"/><Relationship Id="rId9" Type="http://schemas.openxmlformats.org/officeDocument/2006/relationships/image" Target="../media/image7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image" Target="../media/image66.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 Id="rId5" Type="http://schemas.openxmlformats.org/officeDocument/2006/relationships/image" Target="../media/image90.wmf"/><Relationship Id="rId4" Type="http://schemas.openxmlformats.org/officeDocument/2006/relationships/image" Target="../media/image89.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image" Target="../media/image89.wmf"/><Relationship Id="rId7" Type="http://schemas.openxmlformats.org/officeDocument/2006/relationships/image" Target="../media/image94.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91.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89.wmf"/><Relationship Id="rId3" Type="http://schemas.openxmlformats.org/officeDocument/2006/relationships/image" Target="../media/image96.wmf"/><Relationship Id="rId7" Type="http://schemas.openxmlformats.org/officeDocument/2006/relationships/image" Target="../media/image100.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9.wmf"/><Relationship Id="rId5" Type="http://schemas.openxmlformats.org/officeDocument/2006/relationships/image" Target="../media/image98.wmf"/><Relationship Id="rId4" Type="http://schemas.openxmlformats.org/officeDocument/2006/relationships/image" Target="../media/image97.wmf"/><Relationship Id="rId9" Type="http://schemas.openxmlformats.org/officeDocument/2006/relationships/image" Target="../media/image10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88.wmf"/><Relationship Id="rId1" Type="http://schemas.openxmlformats.org/officeDocument/2006/relationships/image" Target="../media/image8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21893DF-BECE-4D3F-AD81-6801604B630C}" type="datetimeFigureOut">
              <a:rPr kumimoji="0" lang="zh-CN" altLang="en-US" sz="1200" b="0" i="0" u="none" strike="noStrike" kern="1200" cap="none" spc="0" normalizeH="0" baseline="0" noProof="0">
                <a:ln>
                  <a:noFill/>
                </a:ln>
                <a:solidFill>
                  <a:schemeClr val="tx1"/>
                </a:solidFill>
                <a:effectLst/>
                <a:uLnTx/>
                <a:uFillTx/>
                <a:latin typeface="+mn-lt"/>
                <a:ea typeface="+mn-ea"/>
                <a:cs typeface="+mn-cs"/>
              </a:rPr>
              <a:t>2025/12/8</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wrap="square" lIns="91440" tIns="45720" rIns="91440" bIns="45720" numCol="1" anchor="b" anchorCtr="0" compatLnSpc="1"/>
          <a:lstStyle>
            <a:lvl1pPr algn="r" eaLnBrk="1" hangingPunct="1">
              <a:defRPr sz="1200" smtClean="0">
                <a:latin typeface="等线" panose="02010600030101010101" pitchFamily="2" charset="-122"/>
                <a:ea typeface="等线"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BA6B463-610E-417C-B1ED-85FE33A33FCE}" type="slidenum">
              <a:rPr kumimoji="0" lang="zh-CN" altLang="en-US" sz="12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rPr>
              <a:t>‹#›</a:t>
            </a:fld>
            <a:endParaRPr kumimoji="0" lang="zh-CN" altLang="en-US" sz="1200" b="0" i="0" u="none" strike="noStrike" kern="1200" cap="none" spc="0" normalizeH="0" baseline="0" noProof="0">
              <a:ln>
                <a:noFill/>
              </a:ln>
              <a:solidFill>
                <a:schemeClr val="tx1"/>
              </a:solidFill>
              <a:effectLst/>
              <a:uLnTx/>
              <a:uFillTx/>
              <a:latin typeface="等线" panose="02010600030101010101" pitchFamily="2" charset="-122"/>
              <a:ea typeface="等线"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幻灯片图像占位符 1"/>
          <p:cNvSpPr>
            <a:spLocks noGrp="1" noRot="1" noChangeAspect="1" noTextEdit="1"/>
          </p:cNvSpPr>
          <p:nvPr>
            <p:ph type="sldImg"/>
          </p:nvPr>
        </p:nvSpPr>
        <p:spPr>
          <a:ln>
            <a:solidFill>
              <a:srgbClr val="000000"/>
            </a:solidFill>
            <a:miter/>
          </a:ln>
        </p:spPr>
      </p:sp>
      <p:sp>
        <p:nvSpPr>
          <p:cNvPr id="2150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15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幻灯片图像占位符 1"/>
          <p:cNvSpPr>
            <a:spLocks noGrp="1" noRot="1" noChangeAspect="1" noTextEdit="1"/>
          </p:cNvSpPr>
          <p:nvPr>
            <p:ph type="sldImg"/>
          </p:nvPr>
        </p:nvSpPr>
        <p:spPr>
          <a:ln>
            <a:solidFill>
              <a:srgbClr val="000000"/>
            </a:solidFill>
            <a:miter/>
          </a:ln>
        </p:spPr>
      </p:sp>
      <p:sp>
        <p:nvSpPr>
          <p:cNvPr id="2355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23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276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9</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307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幻灯片图像占位符 1"/>
          <p:cNvSpPr>
            <a:spLocks noGrp="1" noRot="1" noChangeAspect="1" noTextEdit="1"/>
          </p:cNvSpPr>
          <p:nvPr>
            <p:ph type="sldImg"/>
          </p:nvPr>
        </p:nvSpPr>
        <p:spPr>
          <a:ln>
            <a:solidFill>
              <a:srgbClr val="000000"/>
            </a:solidFill>
            <a:miter/>
          </a:ln>
        </p:spPr>
      </p:sp>
      <p:sp>
        <p:nvSpPr>
          <p:cNvPr id="3277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277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幻灯片图像占位符 1"/>
          <p:cNvSpPr>
            <a:spLocks noGrp="1" noRot="1" noChangeAspect="1" noTextEdit="1"/>
          </p:cNvSpPr>
          <p:nvPr>
            <p:ph type="sldImg"/>
          </p:nvPr>
        </p:nvSpPr>
        <p:spPr>
          <a:ln>
            <a:solidFill>
              <a:srgbClr val="000000"/>
            </a:solidFill>
            <a:miter/>
          </a:ln>
        </p:spPr>
      </p:sp>
      <p:sp>
        <p:nvSpPr>
          <p:cNvPr id="3481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481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3686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幻灯片图像占位符 1"/>
          <p:cNvSpPr>
            <a:spLocks noGrp="1" noRot="1" noChangeAspect="1" noTextEdit="1"/>
          </p:cNvSpPr>
          <p:nvPr>
            <p:ph type="sldImg"/>
          </p:nvPr>
        </p:nvSpPr>
        <p:spPr>
          <a:ln>
            <a:solidFill>
              <a:srgbClr val="000000"/>
            </a:solidFill>
            <a:miter/>
          </a:ln>
        </p:spPr>
      </p:sp>
      <p:sp>
        <p:nvSpPr>
          <p:cNvPr id="3891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3891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10000"/>
              </a:lnSpc>
              <a:spcBef>
                <a:spcPts val="0"/>
              </a:spcBef>
              <a:spcAft>
                <a:spcPts val="0"/>
              </a:spcAft>
              <a:buClrTx/>
              <a:buSzTx/>
              <a:buFontTx/>
              <a:buNone/>
              <a:defRPr/>
            </a:pPr>
            <a:endParaRPr kumimoji="0" lang="en-US" altLang="zh-CN" sz="11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4096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16</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幻灯片图像占位符 1"/>
          <p:cNvSpPr>
            <a:spLocks noGrp="1" noRot="1" noChangeAspect="1" noTextEdit="1"/>
          </p:cNvSpPr>
          <p:nvPr>
            <p:ph type="sldImg"/>
          </p:nvPr>
        </p:nvSpPr>
        <p:spPr>
          <a:ln>
            <a:solidFill>
              <a:srgbClr val="000000"/>
            </a:solidFill>
            <a:miter/>
          </a:ln>
        </p:spPr>
      </p:sp>
      <p:sp>
        <p:nvSpPr>
          <p:cNvPr id="4301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430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1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在流形假设中，“邻近”的程度常用“相似”程度来刻画，因此，流形假设可以看作是聚类假设的推广，但流形假设对输出值没有限制，因此比聚类假设的使用范围更广，可用于更多类型的学习任务。</a:t>
            </a:r>
            <a:endParaRPr kumimoji="0" lang="en-US" altLang="zh-CN" sz="1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endParaRPr>
          </a:p>
        </p:txBody>
      </p:sp>
      <p:sp>
        <p:nvSpPr>
          <p:cNvPr id="450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18</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幻灯片图像占位符 1"/>
          <p:cNvSpPr>
            <a:spLocks noGrp="1" noRot="1" noChangeAspect="1" noTextEdit="1"/>
          </p:cNvSpPr>
          <p:nvPr>
            <p:ph type="sldImg"/>
          </p:nvPr>
        </p:nvSpPr>
        <p:spPr>
          <a:ln>
            <a:solidFill>
              <a:srgbClr val="000000"/>
            </a:solidFill>
            <a:miter/>
          </a:ln>
        </p:spPr>
      </p:sp>
      <p:sp>
        <p:nvSpPr>
          <p:cNvPr id="4915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latin typeface="宋体" panose="02010600030101010101" pitchFamily="2" charset="-122"/>
              <a:ea typeface="宋体" panose="02010600030101010101" pitchFamily="2" charset="-122"/>
            </a:endParaRPr>
          </a:p>
        </p:txBody>
      </p:sp>
      <p:sp>
        <p:nvSpPr>
          <p:cNvPr id="491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19</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幻灯片图像占位符 1"/>
          <p:cNvSpPr>
            <a:spLocks noGrp="1" noRot="1" noChangeAspect="1" noTextEdit="1"/>
          </p:cNvSpPr>
          <p:nvPr>
            <p:ph type="sldImg"/>
          </p:nvPr>
        </p:nvSpPr>
        <p:spPr>
          <a:ln>
            <a:solidFill>
              <a:srgbClr val="000000"/>
            </a:solidFill>
            <a:miter/>
          </a:ln>
        </p:spPr>
      </p:sp>
      <p:sp>
        <p:nvSpPr>
          <p:cNvPr id="5222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5222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幻灯片图像占位符 1"/>
          <p:cNvSpPr>
            <a:spLocks noGrp="1" noRot="1" noChangeAspect="1" noTextEdit="1"/>
          </p:cNvSpPr>
          <p:nvPr>
            <p:ph type="sldImg"/>
          </p:nvPr>
        </p:nvSpPr>
        <p:spPr>
          <a:ln>
            <a:solidFill>
              <a:srgbClr val="000000"/>
            </a:solidFill>
            <a:miter/>
          </a:ln>
        </p:spPr>
      </p:sp>
      <p:sp>
        <p:nvSpPr>
          <p:cNvPr id="5427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zh-CN" dirty="0"/>
              <a:t>生成式模型是最早期的半监督学习方法，这类方法假设有标记和无标记样本都是由同一个潜在模型生成的。由此我们可以将未标记数据和学习目标通过模型的参数联系起来，而把未标记数据看作是模型缺少的参数</a:t>
            </a:r>
            <a:r>
              <a:rPr lang="zh-CN" altLang="en-US" dirty="0"/>
              <a:t>。</a:t>
            </a:r>
          </a:p>
        </p:txBody>
      </p:sp>
      <p:sp>
        <p:nvSpPr>
          <p:cNvPr id="5427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幻灯片图像占位符 1"/>
          <p:cNvSpPr>
            <a:spLocks noGrp="1" noRot="1" noChangeAspect="1" noTextEdit="1"/>
          </p:cNvSpPr>
          <p:nvPr>
            <p:ph type="sldImg"/>
          </p:nvPr>
        </p:nvSpPr>
        <p:spPr>
          <a:ln>
            <a:solidFill>
              <a:srgbClr val="000000"/>
            </a:solidFill>
            <a:miter/>
          </a:ln>
        </p:spPr>
      </p:sp>
      <p:sp>
        <p:nvSpPr>
          <p:cNvPr id="5632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a:t>
            </a:r>
            <a:r>
              <a:rPr lang="zh-CN" altLang="en-US" dirty="0"/>
              <a:t>（</a:t>
            </a:r>
            <a:r>
              <a:rPr lang="en-US" altLang="zh-CN" dirty="0"/>
              <a:t>.</a:t>
            </a:r>
            <a:r>
              <a:rPr lang="zh-CN" altLang="en-US" dirty="0"/>
              <a:t>最后）</a:t>
            </a:r>
            <a:r>
              <a:rPr lang="zh-CN" altLang="zh-CN" dirty="0"/>
              <a:t>假设每个类别对应了一个高斯混合成分，所以</a:t>
            </a:r>
            <a:r>
              <a:rPr lang="en-US" altLang="zh-CN" dirty="0">
                <a:latin typeface="Cambria Math" panose="02040503050406030204" pitchFamily="18" charset="0"/>
              </a:rPr>
              <a:t>𝑝</a:t>
            </a:r>
            <a:r>
              <a:rPr lang="zh-CN" altLang="zh-CN" dirty="0">
                <a:latin typeface="Cambria Math" panose="02040503050406030204" pitchFamily="18" charset="0"/>
              </a:rPr>
              <a:t>(</a:t>
            </a:r>
            <a:r>
              <a:rPr lang="en-US" altLang="zh-CN" dirty="0">
                <a:latin typeface="Cambria Math" panose="02040503050406030204" pitchFamily="18" charset="0"/>
              </a:rPr>
              <a:t>𝑦=𝑗,𝛩=𝑖|,𝑥)</a:t>
            </a:r>
            <a:r>
              <a:rPr lang="en-US" altLang="zh-CN" dirty="0"/>
              <a:t> </a:t>
            </a:r>
            <a:r>
              <a:rPr lang="zh-CN" altLang="zh-CN" dirty="0"/>
              <a:t>只与样本所属的高斯混合成分</a:t>
            </a:r>
            <a:r>
              <a:rPr lang="en-US" altLang="zh-CN" dirty="0">
                <a:latin typeface="Cambria Math" panose="02040503050406030204" pitchFamily="18" charset="0"/>
              </a:rPr>
              <a:t>𝛩</a:t>
            </a:r>
            <a:r>
              <a:rPr lang="zh-CN" altLang="zh-CN" dirty="0"/>
              <a:t>有关，可以用</a:t>
            </a:r>
            <a:r>
              <a:rPr lang="en-US" altLang="zh-CN" dirty="0">
                <a:latin typeface="Cambria Math" panose="02040503050406030204" pitchFamily="18" charset="0"/>
              </a:rPr>
              <a:t>𝑝</a:t>
            </a:r>
            <a:r>
              <a:rPr lang="zh-CN" altLang="zh-CN" dirty="0">
                <a:latin typeface="Cambria Math" panose="02040503050406030204" pitchFamily="18" charset="0"/>
              </a:rPr>
              <a:t>(</a:t>
            </a:r>
            <a:r>
              <a:rPr lang="en-US" altLang="zh-CN" dirty="0">
                <a:latin typeface="Cambria Math" panose="02040503050406030204" pitchFamily="18" charset="0"/>
              </a:rPr>
              <a:t>𝑦=𝑗|𝛩=𝑖)</a:t>
            </a:r>
            <a:r>
              <a:rPr lang="en-US" altLang="zh-CN" dirty="0"/>
              <a:t> </a:t>
            </a:r>
            <a:r>
              <a:rPr lang="zh-CN" altLang="zh-CN" dirty="0"/>
              <a:t>进行代替。一般的，当且仅当</a:t>
            </a:r>
            <a:r>
              <a:rPr lang="en-US" altLang="zh-CN" dirty="0">
                <a:latin typeface="Cambria Math" panose="02040503050406030204" pitchFamily="18" charset="0"/>
              </a:rPr>
              <a:t>𝑖=𝑗</a:t>
            </a:r>
            <a:r>
              <a:rPr lang="en-US" altLang="zh-CN" dirty="0"/>
              <a:t> </a:t>
            </a:r>
            <a:r>
              <a:rPr lang="zh-CN" altLang="zh-CN" dirty="0"/>
              <a:t>时，</a:t>
            </a:r>
            <a:r>
              <a:rPr lang="en-US" altLang="zh-CN" dirty="0"/>
              <a:t> </a:t>
            </a:r>
            <a:r>
              <a:rPr lang="en-US" altLang="zh-CN" dirty="0">
                <a:latin typeface="Cambria Math" panose="02040503050406030204" pitchFamily="18" charset="0"/>
              </a:rPr>
              <a:t>𝑝</a:t>
            </a:r>
            <a:r>
              <a:rPr lang="zh-CN" altLang="zh-CN" dirty="0">
                <a:latin typeface="Cambria Math" panose="02040503050406030204" pitchFamily="18" charset="0"/>
              </a:rPr>
              <a:t>(</a:t>
            </a:r>
            <a:r>
              <a:rPr lang="en-US" altLang="zh-CN" dirty="0">
                <a:latin typeface="Cambria Math" panose="02040503050406030204" pitchFamily="18" charset="0"/>
              </a:rPr>
              <a:t>𝑦=𝑗|𝛩=𝑖)</a:t>
            </a:r>
            <a:r>
              <a:rPr lang="en-US" altLang="zh-CN" dirty="0"/>
              <a:t>=1</a:t>
            </a:r>
            <a:r>
              <a:rPr lang="zh-CN" altLang="zh-CN" dirty="0"/>
              <a:t>，即第</a:t>
            </a:r>
            <a:r>
              <a:rPr lang="en-US" altLang="zh-CN" dirty="0"/>
              <a:t> j</a:t>
            </a:r>
            <a:r>
              <a:rPr lang="zh-CN" altLang="zh-CN" dirty="0"/>
              <a:t>个类别对应第</a:t>
            </a:r>
            <a:r>
              <a:rPr lang="en-US" altLang="zh-CN" dirty="0"/>
              <a:t> i</a:t>
            </a:r>
            <a:r>
              <a:rPr lang="zh-CN" altLang="zh-CN" dirty="0"/>
              <a:t>个高斯混合成分。</a:t>
            </a:r>
            <a:endParaRPr lang="zh-CN" altLang="en-US" dirty="0"/>
          </a:p>
        </p:txBody>
      </p:sp>
      <p:sp>
        <p:nvSpPr>
          <p:cNvPr id="563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幻灯片图像占位符 1"/>
          <p:cNvSpPr>
            <a:spLocks noGrp="1" noRot="1" noChangeAspect="1" noTextEdit="1"/>
          </p:cNvSpPr>
          <p:nvPr>
            <p:ph type="sldImg"/>
          </p:nvPr>
        </p:nvSpPr>
        <p:spPr>
          <a:ln>
            <a:solidFill>
              <a:srgbClr val="000000"/>
            </a:solidFill>
            <a:miter/>
          </a:ln>
        </p:spPr>
      </p:sp>
      <p:sp>
        <p:nvSpPr>
          <p:cNvPr id="6246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246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幻灯片图像占位符 1"/>
          <p:cNvSpPr>
            <a:spLocks noGrp="1" noRot="1" noChangeAspect="1" noTextEdit="1"/>
          </p:cNvSpPr>
          <p:nvPr>
            <p:ph type="sldImg"/>
          </p:nvPr>
        </p:nvSpPr>
        <p:spPr>
          <a:ln>
            <a:solidFill>
              <a:srgbClr val="000000"/>
            </a:solidFill>
            <a:miter/>
          </a:ln>
        </p:spPr>
      </p:sp>
      <p:sp>
        <p:nvSpPr>
          <p:cNvPr id="6451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6451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幻灯片图像占位符 1"/>
          <p:cNvSpPr>
            <a:spLocks noGrp="1" noRot="1" noChangeAspect="1" noTextEdit="1"/>
          </p:cNvSpPr>
          <p:nvPr>
            <p:ph type="sldImg"/>
          </p:nvPr>
        </p:nvSpPr>
        <p:spPr>
          <a:ln>
            <a:solidFill>
              <a:srgbClr val="000000"/>
            </a:solidFill>
            <a:miter/>
          </a:ln>
        </p:spPr>
      </p:sp>
      <p:sp>
        <p:nvSpPr>
          <p:cNvPr id="6656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zh-CN" dirty="0"/>
              <a:t>目前最常用的是使用</a:t>
            </a:r>
            <a:r>
              <a:rPr lang="en-US" altLang="zh-CN" dirty="0"/>
              <a:t>EM</a:t>
            </a:r>
            <a:r>
              <a:rPr lang="zh-CN" altLang="zh-CN" dirty="0"/>
              <a:t>算法对其参数进行求解</a:t>
            </a:r>
            <a:r>
              <a:rPr lang="zh-CN" altLang="en-US" dirty="0"/>
              <a:t>，（下页）</a:t>
            </a:r>
            <a:r>
              <a:rPr lang="en-US" altLang="zh-CN" dirty="0"/>
              <a:t>M</a:t>
            </a:r>
            <a:r>
              <a:rPr lang="zh-CN" altLang="zh-CN" dirty="0"/>
              <a:t>步骤：根据</a:t>
            </a:r>
            <a:r>
              <a:rPr lang="en-US" altLang="zh-CN" dirty="0"/>
              <a:t> rji</a:t>
            </a:r>
            <a:r>
              <a:rPr lang="zh-CN" altLang="zh-CN" dirty="0"/>
              <a:t>重新更新模型参数</a:t>
            </a:r>
            <a:endParaRPr lang="zh-CN" altLang="en-US" dirty="0"/>
          </a:p>
        </p:txBody>
      </p:sp>
      <p:sp>
        <p:nvSpPr>
          <p:cNvPr id="6656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26</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幻灯片图像占位符 1"/>
          <p:cNvSpPr>
            <a:spLocks noGrp="1" noRot="1" noChangeAspect="1" noTextEdit="1"/>
          </p:cNvSpPr>
          <p:nvPr>
            <p:ph type="sldImg"/>
          </p:nvPr>
        </p:nvSpPr>
        <p:spPr>
          <a:ln>
            <a:solidFill>
              <a:srgbClr val="000000"/>
            </a:solidFill>
            <a:miter/>
          </a:ln>
        </p:spPr>
      </p:sp>
      <p:sp>
        <p:nvSpPr>
          <p:cNvPr id="6861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zh-CN" dirty="0"/>
              <a:t>不断重复上述</a:t>
            </a:r>
            <a:r>
              <a:rPr lang="en-US" altLang="zh-CN" dirty="0"/>
              <a:t>E,M</a:t>
            </a:r>
            <a:r>
              <a:rPr lang="zh-CN" altLang="zh-CN" dirty="0"/>
              <a:t>两个步骤直到结果收敛，就可以得到估计的模型参数</a:t>
            </a:r>
            <a:r>
              <a:rPr lang="zh-CN" altLang="en-US" dirty="0"/>
              <a:t>。</a:t>
            </a:r>
            <a:r>
              <a:rPr lang="zh-CN" altLang="zh-CN" dirty="0"/>
              <a:t>然后通过</a:t>
            </a:r>
            <a:r>
              <a:rPr lang="en-US" altLang="zh-CN" dirty="0"/>
              <a:t>23</a:t>
            </a:r>
            <a:r>
              <a:rPr lang="zh-CN" altLang="en-US" dirty="0"/>
              <a:t>页中的高斯混合模型</a:t>
            </a:r>
            <a:r>
              <a:rPr lang="zh-CN" altLang="zh-CN" dirty="0"/>
              <a:t>即可对样本进行分类。</a:t>
            </a:r>
            <a:endParaRPr lang="zh-CN" altLang="en-US" dirty="0"/>
          </a:p>
        </p:txBody>
      </p:sp>
      <p:sp>
        <p:nvSpPr>
          <p:cNvPr id="686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幻灯片图像占位符 1"/>
          <p:cNvSpPr>
            <a:spLocks noGrp="1" noRot="1" noChangeAspect="1" noTextEdit="1"/>
          </p:cNvSpPr>
          <p:nvPr>
            <p:ph type="sldImg"/>
          </p:nvPr>
        </p:nvSpPr>
        <p:spPr>
          <a:ln>
            <a:solidFill>
              <a:srgbClr val="000000"/>
            </a:solidFill>
            <a:miter/>
          </a:ln>
        </p:spPr>
      </p:sp>
      <p:sp>
        <p:nvSpPr>
          <p:cNvPr id="7065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zh-CN" dirty="0"/>
              <a:t>我们把此过程中的高斯混合模型替换成其他各类模型，可以得到其他多种生成式半监督模型。这种模型方法实现十分简单，但值得注意的是，如果我们使用的模型不能和真实数据的分布相符合，那么采用未标记数据会降低模型的性能，方法就不再有效。而在实际应用中，我们很难做出一个正确的模型假设，所以该方法的实用性并不高。</a:t>
            </a:r>
            <a:endParaRPr lang="zh-CN" altLang="en-US" dirty="0"/>
          </a:p>
        </p:txBody>
      </p:sp>
      <p:sp>
        <p:nvSpPr>
          <p:cNvPr id="706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28</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图像占位符 1"/>
          <p:cNvSpPr>
            <a:spLocks noGrp="1" noRot="1" noChangeAspect="1" noTextEdit="1"/>
          </p:cNvSpPr>
          <p:nvPr>
            <p:ph type="sldImg"/>
          </p:nvPr>
        </p:nvSpPr>
        <p:spPr>
          <a:ln>
            <a:solidFill>
              <a:srgbClr val="000000"/>
            </a:solidFill>
            <a:miter/>
          </a:ln>
        </p:spPr>
      </p:sp>
      <p:sp>
        <p:nvSpPr>
          <p:cNvPr id="7270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727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29</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p:cNvSpPr>
            <a:spLocks noGrp="1" noRot="1" noChangeAspect="1" noTextEdit="1"/>
          </p:cNvSpPr>
          <p:nvPr>
            <p:ph type="sldImg"/>
          </p:nvPr>
        </p:nvSpPr>
        <p:spPr>
          <a:ln>
            <a:solidFill>
              <a:srgbClr val="000000"/>
            </a:solidFill>
            <a:miter/>
          </a:ln>
        </p:spPr>
      </p:sp>
      <p:sp>
        <p:nvSpPr>
          <p:cNvPr id="7475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zh-CN" dirty="0"/>
              <a:t>与标准</a:t>
            </a:r>
            <a:r>
              <a:rPr lang="en-US" altLang="zh-CN" dirty="0"/>
              <a:t>SVM</a:t>
            </a:r>
            <a:r>
              <a:rPr lang="zh-CN" altLang="zh-CN" dirty="0"/>
              <a:t>相同，</a:t>
            </a:r>
            <a:r>
              <a:rPr lang="en-US" altLang="zh-CN" dirty="0"/>
              <a:t>TSVM</a:t>
            </a:r>
            <a:r>
              <a:rPr lang="zh-CN" altLang="zh-CN" dirty="0"/>
              <a:t>针对的是二分类问题，它首先试图将未标记样本都分别看作正例或者反例，接着在所有这些结果中，寻求一个在所有样本（有标记样本和进行了标记指派的未标记样本）上间隔最大化的划分超平面。当划分超平面确定后，未标记样本最终的标记指派也就是它的预测结果。</a:t>
            </a:r>
            <a:endParaRPr lang="zh-CN" altLang="en-US" dirty="0"/>
          </a:p>
        </p:txBody>
      </p:sp>
      <p:sp>
        <p:nvSpPr>
          <p:cNvPr id="747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30</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幻灯片图像占位符 1"/>
          <p:cNvSpPr>
            <a:spLocks noGrp="1" noRot="1" noChangeAspect="1" noTextEdit="1"/>
          </p:cNvSpPr>
          <p:nvPr>
            <p:ph type="sldImg"/>
          </p:nvPr>
        </p:nvSpPr>
        <p:spPr>
          <a:ln>
            <a:solidFill>
              <a:srgbClr val="000000"/>
            </a:solidFill>
            <a:miter/>
          </a:ln>
        </p:spPr>
      </p:sp>
      <p:sp>
        <p:nvSpPr>
          <p:cNvPr id="7680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768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noTextEdit="1"/>
          </p:cNvSpPr>
          <p:nvPr>
            <p:ph type="sldImg"/>
          </p:nvPr>
        </p:nvSpPr>
        <p:spPr>
          <a:ln>
            <a:solidFill>
              <a:srgbClr val="000000"/>
            </a:solidFill>
            <a:miter/>
          </a:ln>
        </p:spPr>
      </p:sp>
      <p:sp>
        <p:nvSpPr>
          <p:cNvPr id="8089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808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829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幻灯片图像占位符 1"/>
          <p:cNvSpPr>
            <a:spLocks noGrp="1" noRot="1" noChangeAspect="1" noTextEdit="1"/>
          </p:cNvSpPr>
          <p:nvPr>
            <p:ph type="sldImg"/>
          </p:nvPr>
        </p:nvSpPr>
        <p:spPr>
          <a:ln>
            <a:solidFill>
              <a:srgbClr val="000000"/>
            </a:solidFill>
            <a:miter/>
          </a:ln>
        </p:spPr>
      </p:sp>
      <p:sp>
        <p:nvSpPr>
          <p:cNvPr id="8499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8499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幻灯片图像占位符 1"/>
          <p:cNvSpPr>
            <a:spLocks noGrp="1" noRot="1" noChangeAspect="1" noTextEdit="1"/>
          </p:cNvSpPr>
          <p:nvPr>
            <p:ph type="sldImg"/>
          </p:nvPr>
        </p:nvSpPr>
        <p:spPr>
          <a:ln>
            <a:solidFill>
              <a:srgbClr val="000000"/>
            </a:solidFill>
            <a:miter/>
          </a:ln>
        </p:spPr>
      </p:sp>
      <p:sp>
        <p:nvSpPr>
          <p:cNvPr id="8704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zh-CN" dirty="0"/>
          </a:p>
          <a:p>
            <a:pPr lvl="0" eaLnBrk="1" hangingPunct="1">
              <a:spcBef>
                <a:spcPct val="0"/>
              </a:spcBef>
            </a:pPr>
            <a:endParaRPr lang="zh-CN" altLang="en-US" dirty="0"/>
          </a:p>
        </p:txBody>
      </p:sp>
      <p:sp>
        <p:nvSpPr>
          <p:cNvPr id="8704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38</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幻灯片图像占位符 1"/>
          <p:cNvSpPr>
            <a:spLocks noGrp="1" noRot="1" noChangeAspect="1" noTextEdit="1"/>
          </p:cNvSpPr>
          <p:nvPr>
            <p:ph type="sldImg"/>
          </p:nvPr>
        </p:nvSpPr>
        <p:spPr>
          <a:ln>
            <a:solidFill>
              <a:srgbClr val="000000"/>
            </a:solidFill>
            <a:miter/>
          </a:ln>
        </p:spPr>
      </p:sp>
      <p:sp>
        <p:nvSpPr>
          <p:cNvPr id="8909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890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39</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幻灯片图像占位符 1"/>
          <p:cNvSpPr>
            <a:spLocks noGrp="1" noRot="1" noChangeAspect="1" noTextEdit="1"/>
          </p:cNvSpPr>
          <p:nvPr>
            <p:ph type="sldImg"/>
          </p:nvPr>
        </p:nvSpPr>
        <p:spPr>
          <a:ln>
            <a:solidFill>
              <a:srgbClr val="000000"/>
            </a:solidFill>
            <a:miter/>
          </a:ln>
        </p:spPr>
      </p:sp>
      <p:sp>
        <p:nvSpPr>
          <p:cNvPr id="9113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911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40</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幻灯片图像占位符 1"/>
          <p:cNvSpPr>
            <a:spLocks noGrp="1" noRot="1" noChangeAspect="1" noTextEdit="1"/>
          </p:cNvSpPr>
          <p:nvPr>
            <p:ph type="sldImg"/>
          </p:nvPr>
        </p:nvSpPr>
        <p:spPr>
          <a:ln>
            <a:solidFill>
              <a:srgbClr val="000000"/>
            </a:solidFill>
            <a:miter/>
          </a:ln>
        </p:spPr>
      </p:sp>
      <p:sp>
        <p:nvSpPr>
          <p:cNvPr id="9318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zh-CN" dirty="0"/>
          </a:p>
          <a:p>
            <a:pPr lvl="0" eaLnBrk="1" hangingPunct="1">
              <a:spcBef>
                <a:spcPct val="0"/>
              </a:spcBef>
            </a:pPr>
            <a:endParaRPr lang="zh-CN" altLang="en-US" dirty="0"/>
          </a:p>
        </p:txBody>
      </p:sp>
      <p:sp>
        <p:nvSpPr>
          <p:cNvPr id="9318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幻灯片图像占位符 1"/>
          <p:cNvSpPr>
            <a:spLocks noGrp="1" noRot="1" noChangeAspect="1" noTextEdit="1"/>
          </p:cNvSpPr>
          <p:nvPr>
            <p:ph type="sldImg"/>
          </p:nvPr>
        </p:nvSpPr>
        <p:spPr>
          <a:ln>
            <a:solidFill>
              <a:srgbClr val="000000"/>
            </a:solidFill>
            <a:miter/>
          </a:ln>
        </p:spPr>
      </p:sp>
      <p:sp>
        <p:nvSpPr>
          <p:cNvPr id="9523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zh-CN" dirty="0"/>
          </a:p>
          <a:p>
            <a:pPr lvl="0" eaLnBrk="1" hangingPunct="1">
              <a:spcBef>
                <a:spcPct val="0"/>
              </a:spcBef>
            </a:pPr>
            <a:endParaRPr lang="zh-CN" altLang="en-US" dirty="0"/>
          </a:p>
        </p:txBody>
      </p:sp>
      <p:sp>
        <p:nvSpPr>
          <p:cNvPr id="9523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幻灯片图像占位符 1"/>
          <p:cNvSpPr>
            <a:spLocks noGrp="1" noRot="1" noChangeAspect="1" noTextEdit="1"/>
          </p:cNvSpPr>
          <p:nvPr>
            <p:ph type="sldImg"/>
          </p:nvPr>
        </p:nvSpPr>
        <p:spPr>
          <a:ln>
            <a:solidFill>
              <a:srgbClr val="000000"/>
            </a:solidFill>
            <a:miter/>
          </a:ln>
        </p:spPr>
      </p:sp>
      <p:sp>
        <p:nvSpPr>
          <p:cNvPr id="9728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9728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幻灯片图像占位符 1"/>
          <p:cNvSpPr>
            <a:spLocks noGrp="1" noRot="1" noChangeAspect="1" noTextEdit="1"/>
          </p:cNvSpPr>
          <p:nvPr>
            <p:ph type="sldImg"/>
          </p:nvPr>
        </p:nvSpPr>
        <p:spPr>
          <a:ln>
            <a:solidFill>
              <a:srgbClr val="000000"/>
            </a:solidFill>
            <a:miter/>
          </a:ln>
        </p:spPr>
      </p:sp>
      <p:sp>
        <p:nvSpPr>
          <p:cNvPr id="9933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9933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幻灯片图像占位符 1"/>
          <p:cNvSpPr>
            <a:spLocks noGrp="1" noRot="1" noChangeAspect="1" noTextEdit="1"/>
          </p:cNvSpPr>
          <p:nvPr>
            <p:ph type="sldImg"/>
          </p:nvPr>
        </p:nvSpPr>
        <p:spPr>
          <a:ln>
            <a:solidFill>
              <a:srgbClr val="000000"/>
            </a:solidFill>
            <a:miter/>
          </a:ln>
        </p:spPr>
      </p:sp>
      <p:sp>
        <p:nvSpPr>
          <p:cNvPr id="10137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0137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幻灯片图像占位符 1"/>
          <p:cNvSpPr>
            <a:spLocks noGrp="1" noRot="1" noChangeAspect="1" noTextEdit="1"/>
          </p:cNvSpPr>
          <p:nvPr>
            <p:ph type="sldImg"/>
          </p:nvPr>
        </p:nvSpPr>
        <p:spPr>
          <a:ln>
            <a:solidFill>
              <a:srgbClr val="000000"/>
            </a:solidFill>
            <a:miter/>
          </a:ln>
        </p:spPr>
      </p:sp>
      <p:sp>
        <p:nvSpPr>
          <p:cNvPr id="10342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0342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46</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幻灯片图像占位符 1"/>
          <p:cNvSpPr>
            <a:spLocks noGrp="1" noRot="1" noChangeAspect="1" noTextEdit="1"/>
          </p:cNvSpPr>
          <p:nvPr>
            <p:ph type="sldImg"/>
          </p:nvPr>
        </p:nvSpPr>
        <p:spPr>
          <a:ln>
            <a:solidFill>
              <a:srgbClr val="000000"/>
            </a:solidFill>
            <a:miter/>
          </a:ln>
        </p:spPr>
      </p:sp>
      <p:sp>
        <p:nvSpPr>
          <p:cNvPr id="10547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0547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幻灯片图像占位符 1"/>
          <p:cNvSpPr>
            <a:spLocks noGrp="1" noRot="1" noChangeAspect="1" noTextEdit="1"/>
          </p:cNvSpPr>
          <p:nvPr>
            <p:ph type="sldImg"/>
          </p:nvPr>
        </p:nvSpPr>
        <p:spPr>
          <a:ln>
            <a:solidFill>
              <a:srgbClr val="000000"/>
            </a:solidFill>
            <a:miter/>
          </a:ln>
        </p:spPr>
      </p:sp>
      <p:sp>
        <p:nvSpPr>
          <p:cNvPr id="10752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0752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48</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幻灯片图像占位符 1"/>
          <p:cNvSpPr>
            <a:spLocks noGrp="1" noRot="1" noChangeAspect="1" noTextEdit="1"/>
          </p:cNvSpPr>
          <p:nvPr>
            <p:ph type="sldImg"/>
          </p:nvPr>
        </p:nvSpPr>
        <p:spPr>
          <a:ln>
            <a:solidFill>
              <a:srgbClr val="000000"/>
            </a:solidFill>
            <a:miter/>
          </a:ln>
        </p:spPr>
      </p:sp>
      <p:sp>
        <p:nvSpPr>
          <p:cNvPr id="10957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0957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49</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幻灯片图像占位符 1"/>
          <p:cNvSpPr>
            <a:spLocks noGrp="1" noRot="1" noChangeAspect="1" noTextEdit="1"/>
          </p:cNvSpPr>
          <p:nvPr>
            <p:ph type="sldImg"/>
          </p:nvPr>
        </p:nvSpPr>
        <p:spPr>
          <a:ln>
            <a:solidFill>
              <a:srgbClr val="000000"/>
            </a:solidFill>
            <a:miter/>
          </a:ln>
        </p:spPr>
      </p:sp>
      <p:sp>
        <p:nvSpPr>
          <p:cNvPr id="11161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1161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50</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幻灯片图像占位符 1"/>
          <p:cNvSpPr>
            <a:spLocks noGrp="1" noRot="1" noChangeAspect="1" noTextEdit="1"/>
          </p:cNvSpPr>
          <p:nvPr>
            <p:ph type="sldImg"/>
          </p:nvPr>
        </p:nvSpPr>
        <p:spPr>
          <a:ln>
            <a:solidFill>
              <a:srgbClr val="000000"/>
            </a:solidFill>
            <a:miter/>
          </a:ln>
        </p:spPr>
      </p:sp>
      <p:sp>
        <p:nvSpPr>
          <p:cNvPr id="11469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146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52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幻灯片图像占位符 1"/>
          <p:cNvSpPr>
            <a:spLocks noGrp="1" noRot="1" noChangeAspect="1" noTextEdit="1"/>
          </p:cNvSpPr>
          <p:nvPr>
            <p:ph type="sldImg"/>
          </p:nvPr>
        </p:nvSpPr>
        <p:spPr>
          <a:ln>
            <a:solidFill>
              <a:srgbClr val="000000"/>
            </a:solidFill>
            <a:miter/>
          </a:ln>
        </p:spPr>
      </p:sp>
      <p:sp>
        <p:nvSpPr>
          <p:cNvPr id="11673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en-US" dirty="0"/>
              <a:t> </a:t>
            </a:r>
          </a:p>
        </p:txBody>
      </p:sp>
      <p:sp>
        <p:nvSpPr>
          <p:cNvPr id="1167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53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幻灯片图像占位符 1"/>
          <p:cNvSpPr>
            <a:spLocks noGrp="1" noRot="1" noChangeAspect="1" noTextEdit="1"/>
          </p:cNvSpPr>
          <p:nvPr>
            <p:ph type="sldImg"/>
          </p:nvPr>
        </p:nvSpPr>
        <p:spPr>
          <a:ln>
            <a:solidFill>
              <a:srgbClr val="000000"/>
            </a:solidFill>
            <a:miter/>
          </a:ln>
        </p:spPr>
      </p:sp>
      <p:sp>
        <p:nvSpPr>
          <p:cNvPr id="11878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1878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54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幻灯片图像占位符 1"/>
          <p:cNvSpPr>
            <a:spLocks noGrp="1" noRot="1" noChangeAspect="1" noTextEdit="1"/>
          </p:cNvSpPr>
          <p:nvPr>
            <p:ph type="sldImg"/>
          </p:nvPr>
        </p:nvSpPr>
        <p:spPr>
          <a:ln>
            <a:solidFill>
              <a:srgbClr val="000000"/>
            </a:solidFill>
            <a:miter/>
          </a:ln>
        </p:spPr>
      </p:sp>
      <p:sp>
        <p:nvSpPr>
          <p:cNvPr id="12288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2288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57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幻灯片图像占位符 1"/>
          <p:cNvSpPr>
            <a:spLocks noGrp="1" noRot="1" noChangeAspect="1" noTextEdit="1"/>
          </p:cNvSpPr>
          <p:nvPr>
            <p:ph type="sldImg"/>
          </p:nvPr>
        </p:nvSpPr>
        <p:spPr>
          <a:ln>
            <a:solidFill>
              <a:srgbClr val="000000"/>
            </a:solidFill>
            <a:miter/>
          </a:ln>
        </p:spPr>
      </p:sp>
      <p:sp>
        <p:nvSpPr>
          <p:cNvPr id="12493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2493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58</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mn-cs"/>
              </a:rPr>
              <a:t> </a:t>
            </a: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1280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幻灯片图像占位符 1"/>
          <p:cNvSpPr>
            <a:spLocks noGrp="1" noRot="1" noChangeAspect="1" noTextEdit="1"/>
          </p:cNvSpPr>
          <p:nvPr>
            <p:ph type="sldImg"/>
          </p:nvPr>
        </p:nvSpPr>
        <p:spPr>
          <a:ln>
            <a:solidFill>
              <a:srgbClr val="000000"/>
            </a:solidFill>
            <a:miter/>
          </a:ln>
        </p:spPr>
      </p:sp>
      <p:sp>
        <p:nvSpPr>
          <p:cNvPr id="13005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300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幻灯片图像占位符 1"/>
          <p:cNvSpPr>
            <a:spLocks noGrp="1" noRot="1" noChangeAspect="1" noTextEdit="1"/>
          </p:cNvSpPr>
          <p:nvPr>
            <p:ph type="sldImg"/>
          </p:nvPr>
        </p:nvSpPr>
        <p:spPr>
          <a:ln>
            <a:solidFill>
              <a:srgbClr val="000000"/>
            </a:solidFill>
            <a:miter/>
          </a:ln>
        </p:spPr>
      </p:sp>
      <p:sp>
        <p:nvSpPr>
          <p:cNvPr id="13209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320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幻灯片图像占位符 1"/>
          <p:cNvSpPr>
            <a:spLocks noGrp="1" noRot="1" noChangeAspect="1" noTextEdit="1"/>
          </p:cNvSpPr>
          <p:nvPr>
            <p:ph type="sldImg"/>
          </p:nvPr>
        </p:nvSpPr>
        <p:spPr>
          <a:ln>
            <a:solidFill>
              <a:srgbClr val="000000"/>
            </a:solidFill>
            <a:miter/>
          </a:ln>
        </p:spPr>
      </p:sp>
      <p:sp>
        <p:nvSpPr>
          <p:cNvPr id="1341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341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幻灯片图像占位符 1"/>
          <p:cNvSpPr>
            <a:spLocks noGrp="1" noRot="1" noChangeAspect="1" noTextEdit="1"/>
          </p:cNvSpPr>
          <p:nvPr>
            <p:ph type="sldImg"/>
          </p:nvPr>
        </p:nvSpPr>
        <p:spPr>
          <a:ln>
            <a:solidFill>
              <a:srgbClr val="000000"/>
            </a:solidFill>
            <a:miter/>
          </a:ln>
        </p:spPr>
      </p:sp>
      <p:sp>
        <p:nvSpPr>
          <p:cNvPr id="136194"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3619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幻灯片图像占位符 1"/>
          <p:cNvSpPr>
            <a:spLocks noGrp="1" noRot="1" noChangeAspect="1" noTextEdit="1"/>
          </p:cNvSpPr>
          <p:nvPr>
            <p:ph type="sldImg"/>
          </p:nvPr>
        </p:nvSpPr>
        <p:spPr>
          <a:ln>
            <a:solidFill>
              <a:srgbClr val="000000"/>
            </a:solidFill>
            <a:miter/>
          </a:ln>
        </p:spPr>
      </p:sp>
      <p:sp>
        <p:nvSpPr>
          <p:cNvPr id="13824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b="1" dirty="0">
                <a:solidFill>
                  <a:srgbClr val="FF0000"/>
                </a:solidFill>
              </a:rPr>
              <a:t> </a:t>
            </a:r>
            <a:endParaRPr lang="zh-CN" altLang="en-US" dirty="0"/>
          </a:p>
        </p:txBody>
      </p:sp>
      <p:sp>
        <p:nvSpPr>
          <p:cNvPr id="13824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66</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幻灯片图像占位符 1"/>
          <p:cNvSpPr>
            <a:spLocks noGrp="1" noRot="1" noChangeAspect="1" noTextEdit="1"/>
          </p:cNvSpPr>
          <p:nvPr>
            <p:ph type="sldImg"/>
          </p:nvPr>
        </p:nvSpPr>
        <p:spPr>
          <a:ln>
            <a:solidFill>
              <a:srgbClr val="000000"/>
            </a:solidFill>
            <a:miter/>
          </a:ln>
        </p:spPr>
      </p:sp>
      <p:sp>
        <p:nvSpPr>
          <p:cNvPr id="14029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4029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幻灯片图像占位符 1"/>
          <p:cNvSpPr>
            <a:spLocks noGrp="1" noRot="1" noChangeAspect="1" noTextEdit="1"/>
          </p:cNvSpPr>
          <p:nvPr>
            <p:ph type="sldImg"/>
          </p:nvPr>
        </p:nvSpPr>
        <p:spPr>
          <a:ln>
            <a:solidFill>
              <a:srgbClr val="000000"/>
            </a:solidFill>
            <a:miter/>
          </a:ln>
        </p:spPr>
      </p:sp>
      <p:sp>
        <p:nvSpPr>
          <p:cNvPr id="14233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endParaRPr lang="zh-CN" altLang="en-US" dirty="0"/>
          </a:p>
        </p:txBody>
      </p:sp>
      <p:sp>
        <p:nvSpPr>
          <p:cNvPr id="1423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68</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幻灯片图像占位符 1"/>
          <p:cNvSpPr>
            <a:spLocks noGrp="1" noRot="1" noChangeAspect="1" noTextEdit="1"/>
          </p:cNvSpPr>
          <p:nvPr>
            <p:ph type="sldImg"/>
          </p:nvPr>
        </p:nvSpPr>
        <p:spPr>
          <a:ln>
            <a:solidFill>
              <a:srgbClr val="000000"/>
            </a:solidFill>
            <a:miter/>
          </a:ln>
        </p:spPr>
      </p:sp>
      <p:sp>
        <p:nvSpPr>
          <p:cNvPr id="14541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zh-CN" altLang="en-US" dirty="0"/>
              <a:t> </a:t>
            </a:r>
          </a:p>
        </p:txBody>
      </p:sp>
      <p:sp>
        <p:nvSpPr>
          <p:cNvPr id="14541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70</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幻灯片图像占位符 1"/>
          <p:cNvSpPr>
            <a:spLocks noGrp="1" noRot="1" noChangeAspect="1" noTextEdit="1"/>
          </p:cNvSpPr>
          <p:nvPr>
            <p:ph type="sldImg"/>
          </p:nvPr>
        </p:nvSpPr>
        <p:spPr>
          <a:ln>
            <a:solidFill>
              <a:srgbClr val="000000"/>
            </a:solidFill>
            <a:miter/>
          </a:ln>
        </p:spPr>
      </p:sp>
      <p:sp>
        <p:nvSpPr>
          <p:cNvPr id="14745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4745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71</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幻灯片图像占位符 1"/>
          <p:cNvSpPr>
            <a:spLocks noGrp="1" noRot="1" noChangeAspect="1" noTextEdit="1"/>
          </p:cNvSpPr>
          <p:nvPr>
            <p:ph type="sldImg"/>
          </p:nvPr>
        </p:nvSpPr>
        <p:spPr>
          <a:ln>
            <a:solidFill>
              <a:srgbClr val="000000"/>
            </a:solidFill>
            <a:miter/>
          </a:ln>
        </p:spPr>
      </p:sp>
      <p:sp>
        <p:nvSpPr>
          <p:cNvPr id="14950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4950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72</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幻灯片图像占位符 1"/>
          <p:cNvSpPr>
            <a:spLocks noGrp="1" noRot="1" noChangeAspect="1" noTextEdit="1"/>
          </p:cNvSpPr>
          <p:nvPr>
            <p:ph type="sldImg"/>
          </p:nvPr>
        </p:nvSpPr>
        <p:spPr>
          <a:ln>
            <a:solidFill>
              <a:srgbClr val="000000"/>
            </a:solidFill>
            <a:miter/>
          </a:ln>
        </p:spPr>
      </p:sp>
      <p:sp>
        <p:nvSpPr>
          <p:cNvPr id="3" name="备注占位符 2"/>
          <p:cNvSpPr>
            <a:spLocks noGrp="1"/>
          </p:cNvSpPr>
          <p:nvPr>
            <p:ph type="body" idx="1"/>
          </p:nvPr>
        </p:nvSpPr>
        <p:spPr/>
        <p:txBody>
          <a:bodyPr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tx1"/>
                </a:solidFill>
                <a:effectLst/>
                <a:uLnTx/>
                <a:uFillTx/>
                <a:latin typeface="+mn-lt"/>
                <a:ea typeface="+mn-ea"/>
                <a:cs typeface="+mn-cs"/>
              </a:rPr>
              <a:t> </a:t>
            </a:r>
            <a:endParaRPr kumimoji="0" lang="en-US" altLang="zh-CN" sz="12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dirty="0">
              <a:ln>
                <a:noFill/>
              </a:ln>
              <a:solidFill>
                <a:schemeClr val="tx1"/>
              </a:solidFill>
              <a:effectLst/>
              <a:uLnTx/>
              <a:uFillTx/>
              <a:latin typeface="+mn-lt"/>
              <a:ea typeface="+mn-ea"/>
              <a:cs typeface="+mn-cs"/>
            </a:endParaRPr>
          </a:p>
        </p:txBody>
      </p:sp>
      <p:sp>
        <p:nvSpPr>
          <p:cNvPr id="15155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73</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幻灯片图像占位符 1"/>
          <p:cNvSpPr>
            <a:spLocks noGrp="1" noRot="1" noChangeAspect="1" noTextEdit="1"/>
          </p:cNvSpPr>
          <p:nvPr>
            <p:ph type="sldImg"/>
          </p:nvPr>
        </p:nvSpPr>
        <p:spPr>
          <a:ln>
            <a:solidFill>
              <a:srgbClr val="000000"/>
            </a:solidFill>
            <a:miter/>
          </a:ln>
        </p:spPr>
      </p:sp>
      <p:sp>
        <p:nvSpPr>
          <p:cNvPr id="153602"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en-US" dirty="0"/>
          </a:p>
        </p:txBody>
      </p:sp>
      <p:sp>
        <p:nvSpPr>
          <p:cNvPr id="15360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74</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幻灯片图像占位符 1"/>
          <p:cNvSpPr>
            <a:spLocks noGrp="1" noRot="1" noChangeAspect="1" noTextEdit="1"/>
          </p:cNvSpPr>
          <p:nvPr>
            <p:ph type="sldImg"/>
          </p:nvPr>
        </p:nvSpPr>
        <p:spPr>
          <a:ln>
            <a:solidFill>
              <a:srgbClr val="000000"/>
            </a:solidFill>
            <a:miter/>
          </a:ln>
        </p:spPr>
      </p:sp>
      <p:sp>
        <p:nvSpPr>
          <p:cNvPr id="155650"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zh-CN" dirty="0"/>
          </a:p>
          <a:p>
            <a:pPr lvl="0" eaLnBrk="1" hangingPunct="1">
              <a:spcBef>
                <a:spcPct val="0"/>
              </a:spcBef>
            </a:pPr>
            <a:endParaRPr lang="zh-CN" altLang="en-US" dirty="0"/>
          </a:p>
        </p:txBody>
      </p:sp>
      <p:sp>
        <p:nvSpPr>
          <p:cNvPr id="15565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75</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幻灯片图像占位符 1"/>
          <p:cNvSpPr>
            <a:spLocks noGrp="1" noRot="1" noChangeAspect="1" noTextEdit="1"/>
          </p:cNvSpPr>
          <p:nvPr>
            <p:ph type="sldImg"/>
          </p:nvPr>
        </p:nvSpPr>
        <p:spPr>
          <a:ln>
            <a:solidFill>
              <a:srgbClr val="000000"/>
            </a:solidFill>
            <a:miter/>
          </a:ln>
        </p:spPr>
      </p:sp>
      <p:sp>
        <p:nvSpPr>
          <p:cNvPr id="157698"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zh-CN" dirty="0"/>
          </a:p>
          <a:p>
            <a:pPr lvl="0" eaLnBrk="1" hangingPunct="1">
              <a:spcBef>
                <a:spcPct val="0"/>
              </a:spcBef>
            </a:pPr>
            <a:endParaRPr lang="zh-CN" altLang="en-US" dirty="0"/>
          </a:p>
        </p:txBody>
      </p:sp>
      <p:sp>
        <p:nvSpPr>
          <p:cNvPr id="1576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76</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幻灯片图像占位符 1"/>
          <p:cNvSpPr>
            <a:spLocks noGrp="1" noRot="1" noChangeAspect="1" noTextEdit="1"/>
          </p:cNvSpPr>
          <p:nvPr>
            <p:ph type="sldImg"/>
          </p:nvPr>
        </p:nvSpPr>
        <p:spPr>
          <a:ln>
            <a:solidFill>
              <a:srgbClr val="000000"/>
            </a:solidFill>
            <a:miter/>
          </a:ln>
        </p:spPr>
      </p:sp>
      <p:sp>
        <p:nvSpPr>
          <p:cNvPr id="159746" name="备注占位符 2"/>
          <p:cNvSpPr>
            <a:spLocks noGrp="1"/>
          </p:cNvSpPr>
          <p:nvPr>
            <p:ph type="body"/>
          </p:nvPr>
        </p:nvSpPr>
        <p:spPr>
          <a:noFill/>
          <a:ln>
            <a:noFill/>
          </a:ln>
        </p:spPr>
        <p:txBody>
          <a:bodyPr wrap="square" lIns="91440" tIns="45720" rIns="91440" bIns="45720" anchor="t" anchorCtr="0"/>
          <a:lstStyle/>
          <a:p>
            <a:pPr lvl="0" eaLnBrk="1" hangingPunct="1">
              <a:spcBef>
                <a:spcPct val="0"/>
              </a:spcBef>
            </a:pPr>
            <a:r>
              <a:rPr lang="en-US" altLang="zh-CN" dirty="0"/>
              <a:t> </a:t>
            </a:r>
            <a:endParaRPr lang="zh-CN" altLang="zh-CN" dirty="0"/>
          </a:p>
          <a:p>
            <a:pPr lvl="0" eaLnBrk="1" hangingPunct="1">
              <a:spcBef>
                <a:spcPct val="0"/>
              </a:spcBef>
            </a:pPr>
            <a:endParaRPr lang="zh-CN" altLang="en-US" dirty="0"/>
          </a:p>
        </p:txBody>
      </p:sp>
      <p:sp>
        <p:nvSpPr>
          <p:cNvPr id="15974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nchorCtr="0"/>
          <a:lstStyle/>
          <a:p>
            <a:pPr lvl="0" algn="r"/>
            <a:fld id="{9A0DB2DC-4C9A-4742-B13C-FB6460FD3503}" type="slidenum">
              <a:rPr lang="zh-CN" altLang="en-US" sz="1200" dirty="0">
                <a:latin typeface="等线" panose="02010600030101010101" pitchFamily="2" charset="-122"/>
                <a:ea typeface="等线" panose="02010600030101010101" pitchFamily="2" charset="-122"/>
              </a:rPr>
              <a:t>77</a:t>
            </a:fld>
            <a:endParaRPr lang="zh-CN" altLang="en-US" sz="1200" dirty="0">
              <a:latin typeface="等线" panose="02010600030101010101" pitchFamily="2" charset="-122"/>
              <a:ea typeface="等线"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4F97E58D-0478-49B4-BDC7-96CCCEB1702E}"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1102784" y="2122488"/>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385984" y="2122488"/>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C70082B3-06D8-47AE-83AB-EBAB260A5A91}"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1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1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B9EC7A4D-88E7-414B-B968-9C47D30B9F24}"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C464DD22-DDA4-42B0-AC3F-869C6A9DEF48}"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747250" y="6329363"/>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27CDD4D8-9DA7-48D5-840E-9D5A38D62FE2}"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62CD5D78-193C-4778-B032-2A6F5BC5C5A4}"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folHlink"/>
              </a:buClr>
              <a:buSzPct val="60000"/>
              <a:buFont typeface="Wingdings" panose="05000000000000000000" pitchFamily="2" charset="2"/>
              <a:buNone/>
              <a:defRPr/>
            </a:pPr>
            <a:endParaRPr kumimoji="1" lang="zh-CN" altLang="en-US" sz="3200" b="0" i="0" u="none" strike="noStrike" kern="0" cap="none" spc="0" normalizeH="0" baseline="0" noProof="0">
              <a:ln>
                <a:noFill/>
              </a:ln>
              <a:solidFill>
                <a:schemeClr val="tx1"/>
              </a:solidFill>
              <a:effectLst/>
              <a:uLnTx/>
              <a:uFillTx/>
              <a:latin typeface="+mn-lt"/>
              <a:ea typeface="+mn-ea"/>
              <a:cs typeface="华文新魏" panose="02010800040101010101" pitchFamily="2" charset="-122"/>
            </a:endParaRP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63C380E4-B9F5-4F31-9D36-AF23B365B3EC}"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EAAABD15-899E-4AA2-A990-D5C2CD297B5A}"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96351" y="765176"/>
            <a:ext cx="2597149" cy="5472113"/>
          </a:xfr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1102785" y="765176"/>
            <a:ext cx="7590367" cy="5472113"/>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4CB5F64C-8DFD-4807-9B51-0CE453C2BC3D}"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xAndObj" preserve="1">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02785" y="765175"/>
            <a:ext cx="10390716"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102784" y="2122488"/>
            <a:ext cx="508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385984" y="2122488"/>
            <a:ext cx="508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982ACD45-ED56-44AE-BF12-BFD0B0209124}"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标题和四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102785" y="765175"/>
            <a:ext cx="10390716" cy="1143000"/>
          </a:xfrm>
        </p:spPr>
        <p:txBody>
          <a:bodyPr/>
          <a:lstStyle/>
          <a:p>
            <a:pPr fontAlgn="base"/>
            <a:r>
              <a:rPr lang="zh-CN" altLang="en-US" strike="noStrike" noProof="1"/>
              <a:t>单击此处编辑母版标题样式</a:t>
            </a:r>
          </a:p>
        </p:txBody>
      </p:sp>
      <p:sp>
        <p:nvSpPr>
          <p:cNvPr id="3" name="内容占位符 2"/>
          <p:cNvSpPr>
            <a:spLocks noGrp="1"/>
          </p:cNvSpPr>
          <p:nvPr>
            <p:ph sz="quarter" idx="1"/>
          </p:nvPr>
        </p:nvSpPr>
        <p:spPr>
          <a:xfrm>
            <a:off x="1102784" y="2122488"/>
            <a:ext cx="508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6385984" y="2122488"/>
            <a:ext cx="508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1102784" y="4256088"/>
            <a:ext cx="508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6" name="内容占位符 5"/>
          <p:cNvSpPr>
            <a:spLocks noGrp="1"/>
          </p:cNvSpPr>
          <p:nvPr>
            <p:ph sz="quarter" idx="4"/>
          </p:nvPr>
        </p:nvSpPr>
        <p:spPr>
          <a:xfrm>
            <a:off x="6385984" y="4256088"/>
            <a:ext cx="508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1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1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5E15D017-FEF4-4A34-B8F3-A2095921D528}"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1102785" y="765176"/>
            <a:ext cx="10390716" cy="5472113"/>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F845A028-4822-4DB6-A73A-DB18BA26EA51}"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6"/>
            <a:ext cx="10363200" cy="1470025"/>
          </a:xfr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67094FA4-DD1D-4527-B171-E153C4E7B14D}"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02785" y="765175"/>
            <a:ext cx="10390716" cy="1143000"/>
          </a:xfrm>
        </p:spPr>
        <p:txBody>
          <a:bodyPr/>
          <a:lstStyle/>
          <a:p>
            <a:pPr fontAlgn="base"/>
            <a:r>
              <a:rPr lang="zh-CN" altLang="en-US" strike="noStrike" noProof="1"/>
              <a:t>单击此处编辑母版标题样式</a:t>
            </a:r>
          </a:p>
        </p:txBody>
      </p:sp>
      <p:sp>
        <p:nvSpPr>
          <p:cNvPr id="3" name="文本占位符 2"/>
          <p:cNvSpPr>
            <a:spLocks noGrp="1"/>
          </p:cNvSpPr>
          <p:nvPr>
            <p:ph type="body" sz="half" idx="1"/>
          </p:nvPr>
        </p:nvSpPr>
        <p:spPr>
          <a:xfrm>
            <a:off x="1102784" y="2122488"/>
            <a:ext cx="5080000" cy="41148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quarter" idx="2"/>
          </p:nvPr>
        </p:nvSpPr>
        <p:spPr>
          <a:xfrm>
            <a:off x="6385984" y="2122488"/>
            <a:ext cx="508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内容占位符 4"/>
          <p:cNvSpPr>
            <a:spLocks noGrp="1"/>
          </p:cNvSpPr>
          <p:nvPr>
            <p:ph sz="quarter" idx="3"/>
          </p:nvPr>
        </p:nvSpPr>
        <p:spPr>
          <a:xfrm>
            <a:off x="6385984" y="4256088"/>
            <a:ext cx="5080000" cy="1981200"/>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1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1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C3447200-5286-4689-AAD0-9F497C711B2A}"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bg>
      <p:bgPr>
        <a:solidFill>
          <a:schemeClr val="bg1"/>
        </a:solidFill>
        <a:effectLst/>
      </p:bgPr>
    </p:bg>
    <p:spTree>
      <p:nvGrpSpPr>
        <p:cNvPr id="1" name=""/>
        <p:cNvGrpSpPr/>
        <p:nvPr/>
      </p:nvGrpSpPr>
      <p:grpSpPr>
        <a:xfrm>
          <a:off x="0" y="0"/>
          <a:ext cx="0" cy="0"/>
          <a:chOff x="0" y="0"/>
          <a:chExt cx="0" cy="0"/>
        </a:xfrm>
      </p:grpSpPr>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6E68462F-DDA1-4F8B-B708-B015E01FCDD7}"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102785" y="404813"/>
            <a:ext cx="10390716" cy="1143000"/>
          </a:xfr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a:xfrm>
            <a:off x="1102784" y="1700213"/>
            <a:ext cx="10363200" cy="4608512"/>
          </a:xfrm>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17"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8"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l" eaLnBrk="0" hangingPunct="0">
              <a:defRPr/>
            </a:lvl1pPr>
          </a:lstStyle>
          <a:p>
            <a:pPr marL="0" marR="0" lvl="0" indent="0" algn="l" defTabSz="914400" rtl="0" eaLnBrk="0" fontAlgn="auto" latinLnBrk="0" hangingPunct="0">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9"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eaLnBrk="0" hangingPunct="0">
              <a:defRPr smtClean="0"/>
            </a:lvl1pPr>
          </a:lstStyle>
          <a:p>
            <a:pPr marL="0" marR="0" lvl="0" indent="0" algn="r" defTabSz="914400" rtl="0" eaLnBrk="0" fontAlgn="base" latinLnBrk="0" hangingPunct="0">
              <a:lnSpc>
                <a:spcPct val="100000"/>
              </a:lnSpc>
              <a:spcBef>
                <a:spcPct val="0"/>
              </a:spcBef>
              <a:spcAft>
                <a:spcPct val="0"/>
              </a:spcAft>
              <a:buClrTx/>
              <a:buSzTx/>
              <a:buFontTx/>
              <a:buNone/>
              <a:defRPr/>
            </a:pPr>
            <a:fld id="{8ECE75A6-92D9-448A-B83B-D4EF6EEC4C49}"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ltGray">
          <a:xfrm>
            <a:off x="557213" y="1098550"/>
            <a:ext cx="584200" cy="474663"/>
          </a:xfrm>
          <a:prstGeom prst="rect">
            <a:avLst/>
          </a:prstGeom>
          <a:solidFill>
            <a:schemeClr val="accent2"/>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7" name="Rectangle 3"/>
          <p:cNvSpPr>
            <a:spLocks noChangeArrowheads="1"/>
          </p:cNvSpPr>
          <p:nvPr/>
        </p:nvSpPr>
        <p:spPr bwMode="ltGray">
          <a:xfrm>
            <a:off x="1066800" y="1098550"/>
            <a:ext cx="438150" cy="474663"/>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8" name="Rectangle 4"/>
          <p:cNvSpPr>
            <a:spLocks noChangeArrowheads="1"/>
          </p:cNvSpPr>
          <p:nvPr/>
        </p:nvSpPr>
        <p:spPr bwMode="ltGray">
          <a:xfrm>
            <a:off x="722313" y="1520825"/>
            <a:ext cx="561975" cy="474663"/>
          </a:xfrm>
          <a:prstGeom prst="rect">
            <a:avLst/>
          </a:prstGeom>
          <a:solidFill>
            <a:schemeClr val="folHlink"/>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29" name="Rectangle 5"/>
          <p:cNvSpPr>
            <a:spLocks noChangeArrowheads="1"/>
          </p:cNvSpPr>
          <p:nvPr/>
        </p:nvSpPr>
        <p:spPr bwMode="ltGray">
          <a:xfrm>
            <a:off x="1214438" y="1520825"/>
            <a:ext cx="492125" cy="474663"/>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0" name="Rectangle 6"/>
          <p:cNvSpPr>
            <a:spLocks noChangeArrowheads="1"/>
          </p:cNvSpPr>
          <p:nvPr/>
        </p:nvSpPr>
        <p:spPr bwMode="ltGray">
          <a:xfrm>
            <a:off x="169863" y="1447800"/>
            <a:ext cx="746125"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1" name="Rectangle 7"/>
          <p:cNvSpPr>
            <a:spLocks noChangeArrowheads="1"/>
          </p:cNvSpPr>
          <p:nvPr/>
        </p:nvSpPr>
        <p:spPr bwMode="gray">
          <a:xfrm>
            <a:off x="1016000" y="990600"/>
            <a:ext cx="42863" cy="1052513"/>
          </a:xfrm>
          <a:prstGeom prst="rect">
            <a:avLst/>
          </a:prstGeom>
          <a:solidFill>
            <a:schemeClr val="bg2"/>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1032" name="Rectangle 8"/>
          <p:cNvSpPr>
            <a:spLocks noChangeArrowheads="1"/>
          </p:cNvSpPr>
          <p:nvPr/>
        </p:nvSpPr>
        <p:spPr bwMode="gray">
          <a:xfrm>
            <a:off x="590550" y="1781175"/>
            <a:ext cx="10968038"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zh-CN" sz="2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3" name="Rectangle 11"/>
          <p:cNvSpPr>
            <a:spLocks noGrp="1" noChangeArrowheads="1"/>
          </p:cNvSpPr>
          <p:nvPr>
            <p:ph type="dt" sz="half" idx="2"/>
          </p:nvPr>
        </p:nvSpPr>
        <p:spPr bwMode="auto">
          <a:xfrm>
            <a:off x="1219200" y="6324600"/>
            <a:ext cx="2540000" cy="457200"/>
          </a:xfrm>
          <a:prstGeom prst="rect">
            <a:avLst/>
          </a:prstGeom>
          <a:noFill/>
          <a:ln w="9525">
            <a:noFill/>
            <a:miter lim="800000"/>
          </a:ln>
          <a:effectLst/>
        </p:spPr>
        <p:txBody>
          <a:bodyPr vert="horz" wrap="square" lIns="91440" tIns="45720" rIns="91440" bIns="45720" numCol="1" anchor="b" anchorCtr="0" compatLnSpc="1"/>
          <a:lstStyle>
            <a:lvl1pPr algn="l" eaLnBrk="1" fontAlgn="auto" hangingPunct="1">
              <a:spcBef>
                <a:spcPct val="0"/>
              </a:spcBef>
              <a:spcAft>
                <a:spcPts val="0"/>
              </a:spcAft>
              <a:defRPr sz="1400" b="0">
                <a:solidFill>
                  <a:srgbClr val="000000"/>
                </a:solidFill>
                <a:latin typeface="Tahoma" panose="020B0604030504040204" pitchFamily="34" charset="0"/>
                <a:ea typeface="宋体" panose="02010600030101010101" pitchFamily="2" charset="-122"/>
              </a:defRPr>
            </a:lvl1p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4" name="Rectangle 12"/>
          <p:cNvSpPr>
            <a:spLocks noGrp="1" noChangeArrowheads="1"/>
          </p:cNvSpPr>
          <p:nvPr>
            <p:ph type="ftr" sz="quarter" idx="3"/>
          </p:nvPr>
        </p:nvSpPr>
        <p:spPr bwMode="auto">
          <a:xfrm>
            <a:off x="4470400" y="6324600"/>
            <a:ext cx="3860800" cy="457200"/>
          </a:xfrm>
          <a:prstGeom prst="rect">
            <a:avLst/>
          </a:prstGeom>
          <a:noFill/>
          <a:ln w="9525">
            <a:noFill/>
            <a:miter lim="800000"/>
          </a:ln>
          <a:effectLst/>
        </p:spPr>
        <p:txBody>
          <a:bodyPr vert="horz" wrap="square" lIns="91440" tIns="45720" rIns="91440" bIns="45720" numCol="1" anchor="b" anchorCtr="0" compatLnSpc="1"/>
          <a:lstStyle>
            <a:lvl1pPr algn="ctr" eaLnBrk="1" fontAlgn="auto" hangingPunct="1">
              <a:spcBef>
                <a:spcPct val="0"/>
              </a:spcBef>
              <a:spcAft>
                <a:spcPts val="0"/>
              </a:spcAft>
              <a:defRPr sz="1400" b="0">
                <a:solidFill>
                  <a:srgbClr val="000000"/>
                </a:solidFill>
                <a:latin typeface="Tahoma" panose="020B0604030504040204" pitchFamily="34" charset="0"/>
                <a:ea typeface="宋体" panose="02010600030101010101" pitchFamily="2"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宋体" panose="02010600030101010101" pitchFamily="2" charset="-122"/>
              <a:cs typeface="+mn-cs"/>
            </a:endParaRPr>
          </a:p>
        </p:txBody>
      </p:sp>
      <p:sp>
        <p:nvSpPr>
          <p:cNvPr id="3085" name="Rectangle 13"/>
          <p:cNvSpPr>
            <a:spLocks noGrp="1" noChangeArrowheads="1"/>
          </p:cNvSpPr>
          <p:nvPr>
            <p:ph type="sldNum" sz="quarter" idx="4"/>
          </p:nvPr>
        </p:nvSpPr>
        <p:spPr bwMode="auto">
          <a:xfrm>
            <a:off x="9042400" y="6324600"/>
            <a:ext cx="25400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400" smtClean="0">
                <a:solidFill>
                  <a:srgbClr val="000000"/>
                </a:solidFill>
                <a:latin typeface="Tahoma" panose="020B060403050404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15C264-9B5D-4146-9800-8EA3C681A448}" type="slidenum">
              <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rPr>
              <a:t>‹#›</a:t>
            </a:fld>
            <a:endParaRPr kumimoji="0" lang="en-US" altLang="zh-CN" sz="1400" b="0" i="0" u="none" strike="noStrike" kern="1200" cap="none" spc="0" normalizeH="0" baseline="0" noProof="0">
              <a:ln>
                <a:noFill/>
              </a:ln>
              <a:solidFill>
                <a:srgbClr val="000000"/>
              </a:solidFill>
              <a:effectLst/>
              <a:uLnTx/>
              <a:uFillTx/>
              <a:latin typeface="Tahoma" panose="020B0604030504040204" pitchFamily="34" charset="0"/>
              <a:ea typeface="华文新魏" panose="02010800040101010101" pitchFamily="2" charset="-122"/>
              <a:cs typeface="+mn-cs"/>
            </a:endParaRPr>
          </a:p>
        </p:txBody>
      </p:sp>
      <p:pic>
        <p:nvPicPr>
          <p:cNvPr id="1036" name="Picture 15" descr="blue002"/>
          <p:cNvPicPr>
            <a:picLocks noChangeAspect="1"/>
          </p:cNvPicPr>
          <p:nvPr userDrawn="1"/>
        </p:nvPicPr>
        <p:blipFill>
          <a:blip r:embed="rId18"/>
          <a:stretch>
            <a:fillRect/>
          </a:stretch>
        </p:blipFill>
        <p:spPr>
          <a:xfrm>
            <a:off x="0" y="-38100"/>
            <a:ext cx="12192000" cy="6896100"/>
          </a:xfrm>
          <a:prstGeom prst="rect">
            <a:avLst/>
          </a:prstGeom>
          <a:noFill/>
          <a:ln w="9525">
            <a:noFill/>
          </a:ln>
        </p:spPr>
      </p:pic>
      <p:pic>
        <p:nvPicPr>
          <p:cNvPr id="1037" name="Picture 14" descr="GoogleBalls_small"/>
          <p:cNvPicPr>
            <a:picLocks noChangeAspect="1"/>
          </p:cNvPicPr>
          <p:nvPr userDrawn="1"/>
        </p:nvPicPr>
        <p:blipFill>
          <a:blip r:embed="rId19"/>
          <a:stretch>
            <a:fillRect/>
          </a:stretch>
        </p:blipFill>
        <p:spPr>
          <a:xfrm>
            <a:off x="9771063" y="5734050"/>
            <a:ext cx="1912937" cy="641350"/>
          </a:xfrm>
          <a:prstGeom prst="rect">
            <a:avLst/>
          </a:prstGeom>
          <a:noFill/>
          <a:ln w="9525">
            <a:noFill/>
          </a:ln>
        </p:spPr>
      </p:pic>
      <p:sp>
        <p:nvSpPr>
          <p:cNvPr id="1038" name="Rectangle 17"/>
          <p:cNvSpPr>
            <a:spLocks noChangeArrowheads="1"/>
          </p:cNvSpPr>
          <p:nvPr/>
        </p:nvSpPr>
        <p:spPr bwMode="auto">
          <a:xfrm>
            <a:off x="8591550" y="476250"/>
            <a:ext cx="3214688" cy="431800"/>
          </a:xfrm>
          <a:prstGeom prst="rect">
            <a:avLst/>
          </a:prstGeom>
          <a:solidFill>
            <a:schemeClr val="bg1"/>
          </a:solidFill>
          <a:ln>
            <a:noFill/>
          </a:ln>
        </p:spPr>
        <p:txBody>
          <a:bodyPr wrap="none" anchor="ctr"/>
          <a:lstStyle>
            <a:lvl1pPr eaLnBrk="0" hangingPunct="0">
              <a:defRPr sz="2400" b="1">
                <a:solidFill>
                  <a:schemeClr val="hlink"/>
                </a:solidFill>
                <a:latin typeface="Times New Roman" panose="02020603050405020304" pitchFamily="18" charset="0"/>
                <a:ea typeface="华文中宋" panose="02010600040101010101" pitchFamily="2" charset="-122"/>
              </a:defRPr>
            </a:lvl1pPr>
            <a:lvl2pPr marL="742950" indent="-285750" eaLnBrk="0" hangingPunct="0">
              <a:defRPr sz="2400" b="1">
                <a:solidFill>
                  <a:schemeClr val="hlink"/>
                </a:solidFill>
                <a:latin typeface="Times New Roman" panose="02020603050405020304" pitchFamily="18" charset="0"/>
                <a:ea typeface="华文中宋" panose="02010600040101010101" pitchFamily="2" charset="-122"/>
              </a:defRPr>
            </a:lvl2pPr>
            <a:lvl3pPr marL="1143000" indent="-228600" eaLnBrk="0" hangingPunct="0">
              <a:defRPr sz="2400" b="1">
                <a:solidFill>
                  <a:schemeClr val="hlink"/>
                </a:solidFill>
                <a:latin typeface="Times New Roman" panose="02020603050405020304" pitchFamily="18" charset="0"/>
                <a:ea typeface="华文中宋" panose="02010600040101010101" pitchFamily="2" charset="-122"/>
              </a:defRPr>
            </a:lvl3pPr>
            <a:lvl4pPr marL="1600200" indent="-228600" eaLnBrk="0" hangingPunct="0">
              <a:defRPr sz="2400" b="1">
                <a:solidFill>
                  <a:schemeClr val="hlink"/>
                </a:solidFill>
                <a:latin typeface="Times New Roman" panose="02020603050405020304" pitchFamily="18" charset="0"/>
                <a:ea typeface="华文中宋" panose="02010600040101010101" pitchFamily="2" charset="-122"/>
              </a:defRPr>
            </a:lvl4pPr>
            <a:lvl5pPr marL="2057400" indent="-228600" eaLnBrk="0" hangingPunct="0">
              <a:defRPr sz="2400" b="1">
                <a:solidFill>
                  <a:schemeClr val="hlink"/>
                </a:solidFill>
                <a:latin typeface="Times New Roman" panose="02020603050405020304" pitchFamily="18" charset="0"/>
                <a:ea typeface="华文中宋" panose="02010600040101010101" pitchFamily="2" charset="-122"/>
              </a:defRPr>
            </a:lvl5pPr>
            <a:lvl6pPr marL="25146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6pPr>
            <a:lvl7pPr marL="29718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7pPr>
            <a:lvl8pPr marL="34290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8pPr>
            <a:lvl9pPr marL="3886200" indent="-228600" algn="ctr" eaLnBrk="0" fontAlgn="base" hangingPunct="0">
              <a:spcBef>
                <a:spcPct val="50000"/>
              </a:spcBef>
              <a:spcAft>
                <a:spcPct val="0"/>
              </a:spcAft>
              <a:defRPr sz="2400" b="1">
                <a:solidFill>
                  <a:schemeClr val="hlink"/>
                </a:solidFill>
                <a:latin typeface="Times New Roman" panose="02020603050405020304" pitchFamily="18" charset="0"/>
                <a:ea typeface="华文中宋" panose="0201060004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zh-CN" altLang="en-US" sz="2400" b="0" i="0" u="none" strike="noStrike" kern="1200" cap="none" spc="0" normalizeH="0" baseline="0" noProof="0">
              <a:ln>
                <a:noFill/>
              </a:ln>
              <a:solidFill>
                <a:srgbClr val="000000"/>
              </a:solidFill>
              <a:effectLst/>
              <a:uLnTx/>
              <a:uFillTx/>
              <a:latin typeface="Times New Roman" panose="02020603050405020304" pitchFamily="18" charset="0"/>
              <a:ea typeface="楷体_GB2312" panose="02010609030101010101" charset="-122"/>
              <a:cs typeface="+mn-cs"/>
            </a:endParaRPr>
          </a:p>
        </p:txBody>
      </p:sp>
      <p:sp>
        <p:nvSpPr>
          <p:cNvPr id="1039" name="Rectangle 9"/>
          <p:cNvSpPr>
            <a:spLocks noGrp="1"/>
          </p:cNvSpPr>
          <p:nvPr>
            <p:ph type="title"/>
          </p:nvPr>
        </p:nvSpPr>
        <p:spPr>
          <a:xfrm>
            <a:off x="1103313" y="404813"/>
            <a:ext cx="10390187" cy="1143000"/>
          </a:xfrm>
          <a:prstGeom prst="rect">
            <a:avLst/>
          </a:prstGeom>
          <a:noFill/>
          <a:ln w="9525">
            <a:noFill/>
          </a:ln>
        </p:spPr>
        <p:txBody>
          <a:bodyPr anchor="b" anchorCtr="0"/>
          <a:lstStyle/>
          <a:p>
            <a:pPr lvl="0"/>
            <a:r>
              <a:rPr lang="zh-CN" altLang="en-US" dirty="0"/>
              <a:t>单击此处编辑母版标题样式</a:t>
            </a:r>
          </a:p>
        </p:txBody>
      </p:sp>
      <p:sp>
        <p:nvSpPr>
          <p:cNvPr id="1040" name="Rectangle 10"/>
          <p:cNvSpPr>
            <a:spLocks noGrp="1"/>
          </p:cNvSpPr>
          <p:nvPr>
            <p:ph type="body"/>
          </p:nvPr>
        </p:nvSpPr>
        <p:spPr>
          <a:xfrm>
            <a:off x="1103313" y="1700213"/>
            <a:ext cx="10363200" cy="4608512"/>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ransition/>
  <p:hf sldNum="0" hdr="0" ftr="0" dt="0"/>
  <p:txStyles>
    <p:titleStyle>
      <a:lvl1pPr algn="ctr" rtl="0" eaLnBrk="0" fontAlgn="base" hangingPunct="0">
        <a:spcBef>
          <a:spcPct val="0"/>
        </a:spcBef>
        <a:spcAft>
          <a:spcPct val="0"/>
        </a:spcAft>
        <a:defRPr kumimoji="1" sz="4000">
          <a:solidFill>
            <a:schemeClr val="hlink"/>
          </a:solidFill>
          <a:latin typeface="+mj-lt"/>
          <a:ea typeface="+mj-ea"/>
          <a:cs typeface="华文新魏" panose="02010800040101010101" pitchFamily="2" charset="-122"/>
        </a:defRPr>
      </a:lvl1pPr>
      <a:lvl2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2pPr>
      <a:lvl3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3pPr>
      <a:lvl4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4pPr>
      <a:lvl5pPr algn="ctr" rtl="0" eaLnBrk="0" fontAlgn="base" hangingPunct="0">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cs typeface="华文新魏" panose="02010800040101010101" pitchFamily="2" charset="-122"/>
        </a:defRPr>
      </a:lvl5pPr>
      <a:lvl6pPr marL="4572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6pPr>
      <a:lvl7pPr marL="9144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7pPr>
      <a:lvl8pPr marL="13716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8pPr>
      <a:lvl9pPr marL="1828800" algn="l" rtl="0" fontAlgn="base">
        <a:spcBef>
          <a:spcPct val="0"/>
        </a:spcBef>
        <a:spcAft>
          <a:spcPct val="0"/>
        </a:spcAft>
        <a:defRPr kumimoji="1" sz="4000">
          <a:solidFill>
            <a:schemeClr val="hlink"/>
          </a:solidFill>
          <a:latin typeface="Times New Roman" panose="02020603050405020304" pitchFamily="18" charset="0"/>
          <a:ea typeface="华文新魏" panose="02010800040101010101"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6.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9.wmf"/><Relationship Id="rId2" Type="http://schemas.openxmlformats.org/officeDocument/2006/relationships/slideLayout" Target="../slideLayouts/slideLayout16.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8.wmf"/><Relationship Id="rId4"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6.xml"/><Relationship Id="rId7" Type="http://schemas.openxmlformats.org/officeDocument/2006/relationships/oleObject" Target="../embeddings/oleObject5.bin"/><Relationship Id="rId2" Type="http://schemas.openxmlformats.org/officeDocument/2006/relationships/slideLayout" Target="../slideLayouts/slideLayout16.xml"/><Relationship Id="rId1" Type="http://schemas.openxmlformats.org/officeDocument/2006/relationships/vmlDrawing" Target="../drawings/vmlDrawing2.vml"/><Relationship Id="rId6" Type="http://schemas.openxmlformats.org/officeDocument/2006/relationships/oleObject" Target="../embeddings/oleObject4.bin"/><Relationship Id="rId5" Type="http://schemas.openxmlformats.org/officeDocument/2006/relationships/image" Target="../media/image10.wmf"/><Relationship Id="rId4" Type="http://schemas.openxmlformats.org/officeDocument/2006/relationships/oleObject" Target="../embeddings/oleObject3.bin"/><Relationship Id="rId9" Type="http://schemas.openxmlformats.org/officeDocument/2006/relationships/oleObject" Target="../embeddings/oleObject6.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6.xml"/><Relationship Id="rId1" Type="http://schemas.openxmlformats.org/officeDocument/2006/relationships/vmlDrawing" Target="../drawings/vmlDrawing3.vml"/><Relationship Id="rId6" Type="http://schemas.openxmlformats.org/officeDocument/2006/relationships/image" Target="../media/image12.GIF"/><Relationship Id="rId5" Type="http://schemas.openxmlformats.org/officeDocument/2006/relationships/image" Target="../media/image11.wmf"/><Relationship Id="rId4" Type="http://schemas.openxmlformats.org/officeDocument/2006/relationships/oleObject" Target="../embeddings/oleObject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8.xml"/><Relationship Id="rId7" Type="http://schemas.openxmlformats.org/officeDocument/2006/relationships/image" Target="../media/image11.wmf"/><Relationship Id="rId2" Type="http://schemas.openxmlformats.org/officeDocument/2006/relationships/slideLayout" Target="../slideLayouts/slideLayout16.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image" Target="../media/image10.wmf"/><Relationship Id="rId10" Type="http://schemas.openxmlformats.org/officeDocument/2006/relationships/image" Target="../media/image13.png"/><Relationship Id="rId4" Type="http://schemas.openxmlformats.org/officeDocument/2006/relationships/oleObject" Target="../embeddings/oleObject8.bin"/><Relationship Id="rId9"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24.wmf"/><Relationship Id="rId18" Type="http://schemas.openxmlformats.org/officeDocument/2006/relationships/oleObject" Target="../embeddings/oleObject19.bin"/><Relationship Id="rId3" Type="http://schemas.openxmlformats.org/officeDocument/2006/relationships/notesSlide" Target="../notesSlides/notesSlide15.xml"/><Relationship Id="rId7" Type="http://schemas.openxmlformats.org/officeDocument/2006/relationships/image" Target="../media/image21.wmf"/><Relationship Id="rId12" Type="http://schemas.openxmlformats.org/officeDocument/2006/relationships/oleObject" Target="../embeddings/oleObject16.bin"/><Relationship Id="rId17" Type="http://schemas.openxmlformats.org/officeDocument/2006/relationships/image" Target="../media/image26.wmf"/><Relationship Id="rId2" Type="http://schemas.openxmlformats.org/officeDocument/2006/relationships/slideLayout" Target="../slideLayouts/slideLayout16.xml"/><Relationship Id="rId16" Type="http://schemas.openxmlformats.org/officeDocument/2006/relationships/oleObject" Target="../embeddings/oleObject18.bin"/><Relationship Id="rId1" Type="http://schemas.openxmlformats.org/officeDocument/2006/relationships/vmlDrawing" Target="../drawings/vmlDrawing5.vml"/><Relationship Id="rId6" Type="http://schemas.openxmlformats.org/officeDocument/2006/relationships/oleObject" Target="../embeddings/oleObject13.bin"/><Relationship Id="rId11" Type="http://schemas.openxmlformats.org/officeDocument/2006/relationships/image" Target="../media/image23.wmf"/><Relationship Id="rId5" Type="http://schemas.openxmlformats.org/officeDocument/2006/relationships/image" Target="../media/image20.wmf"/><Relationship Id="rId15" Type="http://schemas.openxmlformats.org/officeDocument/2006/relationships/image" Target="../media/image25.wmf"/><Relationship Id="rId10" Type="http://schemas.openxmlformats.org/officeDocument/2006/relationships/oleObject" Target="../embeddings/oleObject15.bin"/><Relationship Id="rId19" Type="http://schemas.openxmlformats.org/officeDocument/2006/relationships/image" Target="../media/image27.wmf"/><Relationship Id="rId4" Type="http://schemas.openxmlformats.org/officeDocument/2006/relationships/oleObject" Target="../embeddings/oleObject12.bin"/><Relationship Id="rId9" Type="http://schemas.openxmlformats.org/officeDocument/2006/relationships/image" Target="../media/image22.wmf"/><Relationship Id="rId14" Type="http://schemas.openxmlformats.org/officeDocument/2006/relationships/oleObject" Target="../embeddings/oleObject17.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22.bin"/><Relationship Id="rId13" Type="http://schemas.openxmlformats.org/officeDocument/2006/relationships/image" Target="../media/image31.wmf"/><Relationship Id="rId18" Type="http://schemas.openxmlformats.org/officeDocument/2006/relationships/oleObject" Target="../embeddings/oleObject27.bin"/><Relationship Id="rId26" Type="http://schemas.openxmlformats.org/officeDocument/2006/relationships/image" Target="../media/image36.wmf"/><Relationship Id="rId3" Type="http://schemas.openxmlformats.org/officeDocument/2006/relationships/notesSlide" Target="../notesSlides/notesSlide16.xml"/><Relationship Id="rId21" Type="http://schemas.openxmlformats.org/officeDocument/2006/relationships/image" Target="../media/image34.wmf"/><Relationship Id="rId7" Type="http://schemas.openxmlformats.org/officeDocument/2006/relationships/image" Target="../media/image29.wmf"/><Relationship Id="rId12" Type="http://schemas.openxmlformats.org/officeDocument/2006/relationships/oleObject" Target="../embeddings/oleObject24.bin"/><Relationship Id="rId17" Type="http://schemas.openxmlformats.org/officeDocument/2006/relationships/image" Target="../media/image25.wmf"/><Relationship Id="rId25" Type="http://schemas.openxmlformats.org/officeDocument/2006/relationships/oleObject" Target="../embeddings/oleObject31.bin"/><Relationship Id="rId2" Type="http://schemas.openxmlformats.org/officeDocument/2006/relationships/slideLayout" Target="../slideLayouts/slideLayout16.xml"/><Relationship Id="rId16" Type="http://schemas.openxmlformats.org/officeDocument/2006/relationships/oleObject" Target="../embeddings/oleObject26.bin"/><Relationship Id="rId20" Type="http://schemas.openxmlformats.org/officeDocument/2006/relationships/oleObject" Target="../embeddings/oleObject28.bin"/><Relationship Id="rId1" Type="http://schemas.openxmlformats.org/officeDocument/2006/relationships/vmlDrawing" Target="../drawings/vmlDrawing6.vml"/><Relationship Id="rId6" Type="http://schemas.openxmlformats.org/officeDocument/2006/relationships/oleObject" Target="../embeddings/oleObject21.bin"/><Relationship Id="rId11" Type="http://schemas.openxmlformats.org/officeDocument/2006/relationships/image" Target="../media/image20.wmf"/><Relationship Id="rId24" Type="http://schemas.openxmlformats.org/officeDocument/2006/relationships/image" Target="../media/image35.wmf"/><Relationship Id="rId5" Type="http://schemas.openxmlformats.org/officeDocument/2006/relationships/image" Target="../media/image28.wmf"/><Relationship Id="rId15" Type="http://schemas.openxmlformats.org/officeDocument/2006/relationships/image" Target="../media/image32.wmf"/><Relationship Id="rId23" Type="http://schemas.openxmlformats.org/officeDocument/2006/relationships/oleObject" Target="../embeddings/oleObject30.bin"/><Relationship Id="rId10" Type="http://schemas.openxmlformats.org/officeDocument/2006/relationships/oleObject" Target="../embeddings/oleObject23.bin"/><Relationship Id="rId19" Type="http://schemas.openxmlformats.org/officeDocument/2006/relationships/image" Target="../media/image33.wmf"/><Relationship Id="rId4" Type="http://schemas.openxmlformats.org/officeDocument/2006/relationships/oleObject" Target="../embeddings/oleObject20.bin"/><Relationship Id="rId9" Type="http://schemas.openxmlformats.org/officeDocument/2006/relationships/image" Target="../media/image30.wmf"/><Relationship Id="rId14" Type="http://schemas.openxmlformats.org/officeDocument/2006/relationships/oleObject" Target="../embeddings/oleObject25.bin"/><Relationship Id="rId22" Type="http://schemas.openxmlformats.org/officeDocument/2006/relationships/oleObject" Target="../embeddings/oleObject29.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notesSlide" Target="../notesSlides/notesSlide17.xml"/><Relationship Id="rId7" Type="http://schemas.openxmlformats.org/officeDocument/2006/relationships/image" Target="../media/image38.wmf"/><Relationship Id="rId2" Type="http://schemas.openxmlformats.org/officeDocument/2006/relationships/slideLayout" Target="../slideLayouts/slideLayout16.xml"/><Relationship Id="rId1" Type="http://schemas.openxmlformats.org/officeDocument/2006/relationships/vmlDrawing" Target="../drawings/vmlDrawing7.vml"/><Relationship Id="rId6" Type="http://schemas.openxmlformats.org/officeDocument/2006/relationships/oleObject" Target="../embeddings/oleObject33.bin"/><Relationship Id="rId5" Type="http://schemas.openxmlformats.org/officeDocument/2006/relationships/image" Target="../media/image37.wmf"/><Relationship Id="rId4" Type="http://schemas.openxmlformats.org/officeDocument/2006/relationships/oleObject" Target="../embeddings/oleObject32.bin"/><Relationship Id="rId9" Type="http://schemas.openxmlformats.org/officeDocument/2006/relationships/image" Target="../media/image39.wmf"/></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37.bin"/><Relationship Id="rId3" Type="http://schemas.openxmlformats.org/officeDocument/2006/relationships/notesSlide" Target="../notesSlides/notesSlide18.xml"/><Relationship Id="rId7" Type="http://schemas.openxmlformats.org/officeDocument/2006/relationships/image" Target="../media/image40.wmf"/><Relationship Id="rId2" Type="http://schemas.openxmlformats.org/officeDocument/2006/relationships/slideLayout" Target="../slideLayouts/slideLayout16.xml"/><Relationship Id="rId1" Type="http://schemas.openxmlformats.org/officeDocument/2006/relationships/vmlDrawing" Target="../drawings/vmlDrawing8.vml"/><Relationship Id="rId6" Type="http://schemas.openxmlformats.org/officeDocument/2006/relationships/oleObject" Target="../embeddings/oleObject36.bin"/><Relationship Id="rId5" Type="http://schemas.openxmlformats.org/officeDocument/2006/relationships/image" Target="../media/image39.wmf"/><Relationship Id="rId4" Type="http://schemas.openxmlformats.org/officeDocument/2006/relationships/oleObject" Target="../embeddings/oleObject35.bin"/><Relationship Id="rId9" Type="http://schemas.openxmlformats.org/officeDocument/2006/relationships/image" Target="../media/image41.w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40.bin"/><Relationship Id="rId3" Type="http://schemas.openxmlformats.org/officeDocument/2006/relationships/notesSlide" Target="../notesSlides/notesSlide19.xml"/><Relationship Id="rId7" Type="http://schemas.openxmlformats.org/officeDocument/2006/relationships/image" Target="../media/image43.wmf"/><Relationship Id="rId2" Type="http://schemas.openxmlformats.org/officeDocument/2006/relationships/slideLayout" Target="../slideLayouts/slideLayout16.xml"/><Relationship Id="rId1" Type="http://schemas.openxmlformats.org/officeDocument/2006/relationships/vmlDrawing" Target="../drawings/vmlDrawing9.vml"/><Relationship Id="rId6" Type="http://schemas.openxmlformats.org/officeDocument/2006/relationships/oleObject" Target="../embeddings/oleObject39.bin"/><Relationship Id="rId5" Type="http://schemas.openxmlformats.org/officeDocument/2006/relationships/image" Target="../media/image42.wmf"/><Relationship Id="rId4" Type="http://schemas.openxmlformats.org/officeDocument/2006/relationships/oleObject" Target="../embeddings/oleObject38.bin"/><Relationship Id="rId9" Type="http://schemas.openxmlformats.org/officeDocument/2006/relationships/image" Target="../media/image39.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3.bin"/><Relationship Id="rId13" Type="http://schemas.openxmlformats.org/officeDocument/2006/relationships/image" Target="../media/image39.wmf"/><Relationship Id="rId3" Type="http://schemas.openxmlformats.org/officeDocument/2006/relationships/notesSlide" Target="../notesSlides/notesSlide20.xml"/><Relationship Id="rId7" Type="http://schemas.openxmlformats.org/officeDocument/2006/relationships/image" Target="../media/image45.wmf"/><Relationship Id="rId12" Type="http://schemas.openxmlformats.org/officeDocument/2006/relationships/oleObject" Target="../embeddings/oleObject45.bin"/><Relationship Id="rId17" Type="http://schemas.openxmlformats.org/officeDocument/2006/relationships/image" Target="../media/image25.wmf"/><Relationship Id="rId2" Type="http://schemas.openxmlformats.org/officeDocument/2006/relationships/slideLayout" Target="../slideLayouts/slideLayout16.xml"/><Relationship Id="rId16" Type="http://schemas.openxmlformats.org/officeDocument/2006/relationships/oleObject" Target="../embeddings/oleObject47.bin"/><Relationship Id="rId1" Type="http://schemas.openxmlformats.org/officeDocument/2006/relationships/vmlDrawing" Target="../drawings/vmlDrawing10.vml"/><Relationship Id="rId6" Type="http://schemas.openxmlformats.org/officeDocument/2006/relationships/oleObject" Target="../embeddings/oleObject42.bin"/><Relationship Id="rId11" Type="http://schemas.openxmlformats.org/officeDocument/2006/relationships/image" Target="../media/image47.wmf"/><Relationship Id="rId5" Type="http://schemas.openxmlformats.org/officeDocument/2006/relationships/image" Target="../media/image44.wmf"/><Relationship Id="rId15" Type="http://schemas.openxmlformats.org/officeDocument/2006/relationships/image" Target="../media/image48.wmf"/><Relationship Id="rId10" Type="http://schemas.openxmlformats.org/officeDocument/2006/relationships/oleObject" Target="../embeddings/oleObject44.bin"/><Relationship Id="rId4" Type="http://schemas.openxmlformats.org/officeDocument/2006/relationships/oleObject" Target="../embeddings/oleObject41.bin"/><Relationship Id="rId9" Type="http://schemas.openxmlformats.org/officeDocument/2006/relationships/image" Target="../media/image46.wmf"/><Relationship Id="rId14" Type="http://schemas.openxmlformats.org/officeDocument/2006/relationships/oleObject" Target="../embeddings/oleObject46.bin"/></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53.wmf"/><Relationship Id="rId18" Type="http://schemas.openxmlformats.org/officeDocument/2006/relationships/image" Target="../media/image56.emf"/><Relationship Id="rId3" Type="http://schemas.openxmlformats.org/officeDocument/2006/relationships/notesSlide" Target="../notesSlides/notesSlide24.xml"/><Relationship Id="rId7" Type="http://schemas.openxmlformats.org/officeDocument/2006/relationships/image" Target="../media/image50.wmf"/><Relationship Id="rId12" Type="http://schemas.openxmlformats.org/officeDocument/2006/relationships/oleObject" Target="../embeddings/oleObject52.bin"/><Relationship Id="rId17" Type="http://schemas.openxmlformats.org/officeDocument/2006/relationships/image" Target="../media/image55.wmf"/><Relationship Id="rId2" Type="http://schemas.openxmlformats.org/officeDocument/2006/relationships/slideLayout" Target="../slideLayouts/slideLayout16.xml"/><Relationship Id="rId16" Type="http://schemas.openxmlformats.org/officeDocument/2006/relationships/oleObject" Target="../embeddings/oleObject54.bin"/><Relationship Id="rId1" Type="http://schemas.openxmlformats.org/officeDocument/2006/relationships/vmlDrawing" Target="../drawings/vmlDrawing11.vml"/><Relationship Id="rId6" Type="http://schemas.openxmlformats.org/officeDocument/2006/relationships/oleObject" Target="../embeddings/oleObject49.bin"/><Relationship Id="rId11" Type="http://schemas.openxmlformats.org/officeDocument/2006/relationships/image" Target="../media/image52.wmf"/><Relationship Id="rId5" Type="http://schemas.openxmlformats.org/officeDocument/2006/relationships/image" Target="../media/image49.wmf"/><Relationship Id="rId15" Type="http://schemas.openxmlformats.org/officeDocument/2006/relationships/image" Target="../media/image54.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51.wmf"/><Relationship Id="rId14" Type="http://schemas.openxmlformats.org/officeDocument/2006/relationships/oleObject" Target="../embeddings/oleObject53.bin"/></Relationships>
</file>

<file path=ppt/slides/_rels/slide32.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image" Target="../media/image62.wmf"/><Relationship Id="rId18" Type="http://schemas.openxmlformats.org/officeDocument/2006/relationships/oleObject" Target="../embeddings/oleObject62.bin"/><Relationship Id="rId3" Type="http://schemas.openxmlformats.org/officeDocument/2006/relationships/notesSlide" Target="../notesSlides/notesSlide27.xml"/><Relationship Id="rId21" Type="http://schemas.openxmlformats.org/officeDocument/2006/relationships/image" Target="../media/image66.wmf"/><Relationship Id="rId7" Type="http://schemas.openxmlformats.org/officeDocument/2006/relationships/image" Target="../media/image50.wmf"/><Relationship Id="rId12" Type="http://schemas.openxmlformats.org/officeDocument/2006/relationships/oleObject" Target="../embeddings/oleObject59.bin"/><Relationship Id="rId17" Type="http://schemas.openxmlformats.org/officeDocument/2006/relationships/image" Target="../media/image64.wmf"/><Relationship Id="rId2" Type="http://schemas.openxmlformats.org/officeDocument/2006/relationships/slideLayout" Target="../slideLayouts/slideLayout16.xml"/><Relationship Id="rId16" Type="http://schemas.openxmlformats.org/officeDocument/2006/relationships/oleObject" Target="../embeddings/oleObject61.bin"/><Relationship Id="rId20" Type="http://schemas.openxmlformats.org/officeDocument/2006/relationships/oleObject" Target="../embeddings/oleObject63.bin"/><Relationship Id="rId1" Type="http://schemas.openxmlformats.org/officeDocument/2006/relationships/vmlDrawing" Target="../drawings/vmlDrawing12.vml"/><Relationship Id="rId6" Type="http://schemas.openxmlformats.org/officeDocument/2006/relationships/oleObject" Target="../embeddings/oleObject56.bin"/><Relationship Id="rId11" Type="http://schemas.openxmlformats.org/officeDocument/2006/relationships/image" Target="../media/image61.wmf"/><Relationship Id="rId5" Type="http://schemas.openxmlformats.org/officeDocument/2006/relationships/image" Target="../media/image49.wmf"/><Relationship Id="rId15" Type="http://schemas.openxmlformats.org/officeDocument/2006/relationships/image" Target="../media/image63.wmf"/><Relationship Id="rId23" Type="http://schemas.openxmlformats.org/officeDocument/2006/relationships/image" Target="../media/image67.wmf"/><Relationship Id="rId10" Type="http://schemas.openxmlformats.org/officeDocument/2006/relationships/oleObject" Target="../embeddings/oleObject58.bin"/><Relationship Id="rId19" Type="http://schemas.openxmlformats.org/officeDocument/2006/relationships/image" Target="../media/image65.wmf"/><Relationship Id="rId4" Type="http://schemas.openxmlformats.org/officeDocument/2006/relationships/oleObject" Target="../embeddings/oleObject55.bin"/><Relationship Id="rId9" Type="http://schemas.openxmlformats.org/officeDocument/2006/relationships/image" Target="../media/image60.wmf"/><Relationship Id="rId14" Type="http://schemas.openxmlformats.org/officeDocument/2006/relationships/oleObject" Target="../embeddings/oleObject60.bin"/><Relationship Id="rId22" Type="http://schemas.openxmlformats.org/officeDocument/2006/relationships/oleObject" Target="../embeddings/oleObject64.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67.bin"/><Relationship Id="rId13" Type="http://schemas.openxmlformats.org/officeDocument/2006/relationships/image" Target="../media/image72.wmf"/><Relationship Id="rId18" Type="http://schemas.openxmlformats.org/officeDocument/2006/relationships/oleObject" Target="../embeddings/oleObject72.bin"/><Relationship Id="rId3" Type="http://schemas.openxmlformats.org/officeDocument/2006/relationships/notesSlide" Target="../notesSlides/notesSlide28.xml"/><Relationship Id="rId21" Type="http://schemas.openxmlformats.org/officeDocument/2006/relationships/image" Target="../media/image76.wmf"/><Relationship Id="rId7" Type="http://schemas.openxmlformats.org/officeDocument/2006/relationships/image" Target="../media/image69.wmf"/><Relationship Id="rId12" Type="http://schemas.openxmlformats.org/officeDocument/2006/relationships/oleObject" Target="../embeddings/oleObject69.bin"/><Relationship Id="rId17" Type="http://schemas.openxmlformats.org/officeDocument/2006/relationships/image" Target="../media/image74.wmf"/><Relationship Id="rId2" Type="http://schemas.openxmlformats.org/officeDocument/2006/relationships/slideLayout" Target="../slideLayouts/slideLayout16.xml"/><Relationship Id="rId16" Type="http://schemas.openxmlformats.org/officeDocument/2006/relationships/oleObject" Target="../embeddings/oleObject71.bin"/><Relationship Id="rId20" Type="http://schemas.openxmlformats.org/officeDocument/2006/relationships/oleObject" Target="../embeddings/oleObject73.bin"/><Relationship Id="rId1" Type="http://schemas.openxmlformats.org/officeDocument/2006/relationships/vmlDrawing" Target="../drawings/vmlDrawing13.vml"/><Relationship Id="rId6" Type="http://schemas.openxmlformats.org/officeDocument/2006/relationships/oleObject" Target="../embeddings/oleObject66.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23" Type="http://schemas.openxmlformats.org/officeDocument/2006/relationships/image" Target="../media/image77.wmf"/><Relationship Id="rId10" Type="http://schemas.openxmlformats.org/officeDocument/2006/relationships/oleObject" Target="../embeddings/oleObject68.bin"/><Relationship Id="rId19" Type="http://schemas.openxmlformats.org/officeDocument/2006/relationships/image" Target="../media/image75.wmf"/><Relationship Id="rId4" Type="http://schemas.openxmlformats.org/officeDocument/2006/relationships/oleObject" Target="../embeddings/oleObject65.bin"/><Relationship Id="rId9" Type="http://schemas.openxmlformats.org/officeDocument/2006/relationships/image" Target="../media/image70.wmf"/><Relationship Id="rId14" Type="http://schemas.openxmlformats.org/officeDocument/2006/relationships/oleObject" Target="../embeddings/oleObject70.bin"/><Relationship Id="rId22" Type="http://schemas.openxmlformats.org/officeDocument/2006/relationships/oleObject" Target="../embeddings/oleObject74.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81.wmf"/><Relationship Id="rId18" Type="http://schemas.openxmlformats.org/officeDocument/2006/relationships/oleObject" Target="../embeddings/oleObject82.bin"/><Relationship Id="rId3" Type="http://schemas.openxmlformats.org/officeDocument/2006/relationships/notesSlide" Target="../notesSlides/notesSlide29.xml"/><Relationship Id="rId7" Type="http://schemas.openxmlformats.org/officeDocument/2006/relationships/image" Target="../media/image78.wmf"/><Relationship Id="rId12" Type="http://schemas.openxmlformats.org/officeDocument/2006/relationships/oleObject" Target="../embeddings/oleObject79.bin"/><Relationship Id="rId17" Type="http://schemas.openxmlformats.org/officeDocument/2006/relationships/image" Target="../media/image83.wmf"/><Relationship Id="rId2" Type="http://schemas.openxmlformats.org/officeDocument/2006/relationships/slideLayout" Target="../slideLayouts/slideLayout16.xml"/><Relationship Id="rId16" Type="http://schemas.openxmlformats.org/officeDocument/2006/relationships/oleObject" Target="../embeddings/oleObject81.bin"/><Relationship Id="rId1" Type="http://schemas.openxmlformats.org/officeDocument/2006/relationships/vmlDrawing" Target="../drawings/vmlDrawing14.vml"/><Relationship Id="rId6" Type="http://schemas.openxmlformats.org/officeDocument/2006/relationships/oleObject" Target="../embeddings/oleObject76.bin"/><Relationship Id="rId11" Type="http://schemas.openxmlformats.org/officeDocument/2006/relationships/image" Target="../media/image80.wmf"/><Relationship Id="rId5" Type="http://schemas.openxmlformats.org/officeDocument/2006/relationships/image" Target="../media/image66.wmf"/><Relationship Id="rId15" Type="http://schemas.openxmlformats.org/officeDocument/2006/relationships/image" Target="../media/image82.wmf"/><Relationship Id="rId10" Type="http://schemas.openxmlformats.org/officeDocument/2006/relationships/oleObject" Target="../embeddings/oleObject78.bin"/><Relationship Id="rId4" Type="http://schemas.openxmlformats.org/officeDocument/2006/relationships/oleObject" Target="../embeddings/oleObject75.bin"/><Relationship Id="rId9" Type="http://schemas.openxmlformats.org/officeDocument/2006/relationships/image" Target="../media/image79.wmf"/><Relationship Id="rId14" Type="http://schemas.openxmlformats.org/officeDocument/2006/relationships/oleObject" Target="../embeddings/oleObject80.bin"/></Relationships>
</file>

<file path=ppt/slides/_rels/slide4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4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image" Target="../media/image90.wmf"/><Relationship Id="rId3" Type="http://schemas.openxmlformats.org/officeDocument/2006/relationships/notesSlide" Target="../notesSlides/notesSlide33.xml"/><Relationship Id="rId7" Type="http://schemas.openxmlformats.org/officeDocument/2006/relationships/image" Target="../media/image87.wmf"/><Relationship Id="rId12" Type="http://schemas.openxmlformats.org/officeDocument/2006/relationships/oleObject" Target="../embeddings/oleObject87.bin"/><Relationship Id="rId2" Type="http://schemas.openxmlformats.org/officeDocument/2006/relationships/slideLayout" Target="../slideLayouts/slideLayout16.xml"/><Relationship Id="rId1" Type="http://schemas.openxmlformats.org/officeDocument/2006/relationships/vmlDrawing" Target="../drawings/vmlDrawing15.vml"/><Relationship Id="rId6" Type="http://schemas.openxmlformats.org/officeDocument/2006/relationships/oleObject" Target="../embeddings/oleObject84.bin"/><Relationship Id="rId11" Type="http://schemas.openxmlformats.org/officeDocument/2006/relationships/image" Target="../media/image89.wmf"/><Relationship Id="rId5" Type="http://schemas.openxmlformats.org/officeDocument/2006/relationships/image" Target="../media/image86.wmf"/><Relationship Id="rId10" Type="http://schemas.openxmlformats.org/officeDocument/2006/relationships/oleObject" Target="../embeddings/oleObject86.bin"/><Relationship Id="rId4" Type="http://schemas.openxmlformats.org/officeDocument/2006/relationships/oleObject" Target="../embeddings/oleObject83.bin"/><Relationship Id="rId9" Type="http://schemas.openxmlformats.org/officeDocument/2006/relationships/image" Target="../media/image88.wmf"/><Relationship Id="rId14" Type="http://schemas.openxmlformats.org/officeDocument/2006/relationships/image" Target="../media/image85.png"/></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90.bin"/><Relationship Id="rId13" Type="http://schemas.openxmlformats.org/officeDocument/2006/relationships/image" Target="../media/image92.wmf"/><Relationship Id="rId18" Type="http://schemas.openxmlformats.org/officeDocument/2006/relationships/oleObject" Target="../embeddings/oleObject96.bin"/><Relationship Id="rId3" Type="http://schemas.openxmlformats.org/officeDocument/2006/relationships/notesSlide" Target="../notesSlides/notesSlide34.xml"/><Relationship Id="rId21" Type="http://schemas.openxmlformats.org/officeDocument/2006/relationships/image" Target="../media/image95.wmf"/><Relationship Id="rId7" Type="http://schemas.openxmlformats.org/officeDocument/2006/relationships/image" Target="../media/image88.wmf"/><Relationship Id="rId12" Type="http://schemas.openxmlformats.org/officeDocument/2006/relationships/oleObject" Target="../embeddings/oleObject92.bin"/><Relationship Id="rId17" Type="http://schemas.openxmlformats.org/officeDocument/2006/relationships/oleObject" Target="../embeddings/oleObject95.bin"/><Relationship Id="rId2" Type="http://schemas.openxmlformats.org/officeDocument/2006/relationships/slideLayout" Target="../slideLayouts/slideLayout16.xml"/><Relationship Id="rId16" Type="http://schemas.openxmlformats.org/officeDocument/2006/relationships/image" Target="../media/image93.wmf"/><Relationship Id="rId20" Type="http://schemas.openxmlformats.org/officeDocument/2006/relationships/oleObject" Target="../embeddings/oleObject97.bin"/><Relationship Id="rId1" Type="http://schemas.openxmlformats.org/officeDocument/2006/relationships/vmlDrawing" Target="../drawings/vmlDrawing16.vml"/><Relationship Id="rId6" Type="http://schemas.openxmlformats.org/officeDocument/2006/relationships/oleObject" Target="../embeddings/oleObject89.bin"/><Relationship Id="rId11" Type="http://schemas.openxmlformats.org/officeDocument/2006/relationships/image" Target="../media/image91.wmf"/><Relationship Id="rId5" Type="http://schemas.openxmlformats.org/officeDocument/2006/relationships/image" Target="../media/image87.wmf"/><Relationship Id="rId15" Type="http://schemas.openxmlformats.org/officeDocument/2006/relationships/oleObject" Target="../embeddings/oleObject94.bin"/><Relationship Id="rId10" Type="http://schemas.openxmlformats.org/officeDocument/2006/relationships/oleObject" Target="../embeddings/oleObject91.bin"/><Relationship Id="rId19" Type="http://schemas.openxmlformats.org/officeDocument/2006/relationships/image" Target="../media/image94.wmf"/><Relationship Id="rId4" Type="http://schemas.openxmlformats.org/officeDocument/2006/relationships/oleObject" Target="../embeddings/oleObject88.bin"/><Relationship Id="rId9" Type="http://schemas.openxmlformats.org/officeDocument/2006/relationships/image" Target="../media/image89.wmf"/><Relationship Id="rId14" Type="http://schemas.openxmlformats.org/officeDocument/2006/relationships/oleObject" Target="../embeddings/oleObject93.bin"/><Relationship Id="rId22" Type="http://schemas.openxmlformats.org/officeDocument/2006/relationships/image" Target="../media/image85.png"/></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100.bin"/><Relationship Id="rId13" Type="http://schemas.openxmlformats.org/officeDocument/2006/relationships/image" Target="../media/image98.wmf"/><Relationship Id="rId18" Type="http://schemas.openxmlformats.org/officeDocument/2006/relationships/image" Target="../media/image100.wmf"/><Relationship Id="rId3" Type="http://schemas.openxmlformats.org/officeDocument/2006/relationships/notesSlide" Target="../notesSlides/notesSlide35.xml"/><Relationship Id="rId21" Type="http://schemas.openxmlformats.org/officeDocument/2006/relationships/oleObject" Target="../embeddings/oleObject107.bin"/><Relationship Id="rId7" Type="http://schemas.openxmlformats.org/officeDocument/2006/relationships/image" Target="../media/image88.wmf"/><Relationship Id="rId12" Type="http://schemas.openxmlformats.org/officeDocument/2006/relationships/oleObject" Target="../embeddings/oleObject102.bin"/><Relationship Id="rId17" Type="http://schemas.openxmlformats.org/officeDocument/2006/relationships/oleObject" Target="../embeddings/oleObject105.bin"/><Relationship Id="rId2" Type="http://schemas.openxmlformats.org/officeDocument/2006/relationships/slideLayout" Target="../slideLayouts/slideLayout16.xml"/><Relationship Id="rId16" Type="http://schemas.openxmlformats.org/officeDocument/2006/relationships/oleObject" Target="../embeddings/oleObject104.bin"/><Relationship Id="rId20" Type="http://schemas.openxmlformats.org/officeDocument/2006/relationships/image" Target="../media/image89.wmf"/><Relationship Id="rId1" Type="http://schemas.openxmlformats.org/officeDocument/2006/relationships/vmlDrawing" Target="../drawings/vmlDrawing17.vml"/><Relationship Id="rId6" Type="http://schemas.openxmlformats.org/officeDocument/2006/relationships/oleObject" Target="../embeddings/oleObject99.bin"/><Relationship Id="rId11" Type="http://schemas.openxmlformats.org/officeDocument/2006/relationships/image" Target="../media/image97.wmf"/><Relationship Id="rId5" Type="http://schemas.openxmlformats.org/officeDocument/2006/relationships/image" Target="../media/image87.wmf"/><Relationship Id="rId15" Type="http://schemas.openxmlformats.org/officeDocument/2006/relationships/image" Target="../media/image99.wmf"/><Relationship Id="rId23" Type="http://schemas.openxmlformats.org/officeDocument/2006/relationships/oleObject" Target="../embeddings/oleObject108.bin"/><Relationship Id="rId10" Type="http://schemas.openxmlformats.org/officeDocument/2006/relationships/oleObject" Target="../embeddings/oleObject101.bin"/><Relationship Id="rId19" Type="http://schemas.openxmlformats.org/officeDocument/2006/relationships/oleObject" Target="../embeddings/oleObject106.bin"/><Relationship Id="rId4" Type="http://schemas.openxmlformats.org/officeDocument/2006/relationships/oleObject" Target="../embeddings/oleObject98.bin"/><Relationship Id="rId9" Type="http://schemas.openxmlformats.org/officeDocument/2006/relationships/image" Target="../media/image96.wmf"/><Relationship Id="rId14" Type="http://schemas.openxmlformats.org/officeDocument/2006/relationships/oleObject" Target="../embeddings/oleObject103.bin"/><Relationship Id="rId22" Type="http://schemas.openxmlformats.org/officeDocument/2006/relationships/image" Target="../media/image101.w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111.bin"/><Relationship Id="rId3" Type="http://schemas.openxmlformats.org/officeDocument/2006/relationships/notesSlide" Target="../notesSlides/notesSlide36.xml"/><Relationship Id="rId7" Type="http://schemas.openxmlformats.org/officeDocument/2006/relationships/image" Target="../media/image88.wmf"/><Relationship Id="rId2" Type="http://schemas.openxmlformats.org/officeDocument/2006/relationships/slideLayout" Target="../slideLayouts/slideLayout16.xml"/><Relationship Id="rId1" Type="http://schemas.openxmlformats.org/officeDocument/2006/relationships/vmlDrawing" Target="../drawings/vmlDrawing18.vml"/><Relationship Id="rId6" Type="http://schemas.openxmlformats.org/officeDocument/2006/relationships/oleObject" Target="../embeddings/oleObject110.bin"/><Relationship Id="rId5" Type="http://schemas.openxmlformats.org/officeDocument/2006/relationships/image" Target="../media/image87.wmf"/><Relationship Id="rId4" Type="http://schemas.openxmlformats.org/officeDocument/2006/relationships/oleObject" Target="../embeddings/oleObject109.bin"/><Relationship Id="rId9" Type="http://schemas.openxmlformats.org/officeDocument/2006/relationships/image" Target="../media/image97.wmf"/></Relationships>
</file>

<file path=ppt/slides/_rels/slide47.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notesSlide" Target="../notesSlides/notesSlide37.xml"/><Relationship Id="rId1" Type="http://schemas.openxmlformats.org/officeDocument/2006/relationships/slideLayout" Target="../slideLayouts/slideLayout16.xml"/><Relationship Id="rId4" Type="http://schemas.openxmlformats.org/officeDocument/2006/relationships/image" Target="../media/image10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64.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50.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6.xml"/></Relationships>
</file>

<file path=ppt/slides/_rels/slide79.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6.xml"/></Relationships>
</file>

<file path=ppt/slides/_rels/slide86.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16.xml"/><Relationship Id="rId4" Type="http://schemas.openxmlformats.org/officeDocument/2006/relationships/image" Target="../media/image11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p:cNvSpPr>
          <p:nvPr>
            <p:ph type="ctrTitle"/>
          </p:nvPr>
        </p:nvSpPr>
        <p:spPr>
          <a:xfrm>
            <a:off x="2209800" y="1611755"/>
            <a:ext cx="7772400" cy="2924803"/>
          </a:xfrm>
        </p:spPr>
        <p:txBody>
          <a:bodyPr vert="horz" wrap="square" lIns="91440" tIns="45720" rIns="91440" bIns="45720" anchor="b" anchorCtr="0"/>
          <a:lstStyle/>
          <a:p>
            <a:pPr>
              <a:buClrTx/>
              <a:buSzTx/>
              <a:buFontTx/>
            </a:pPr>
            <a:r>
              <a:rPr lang="zh-CN" altLang="en-US" sz="4800" b="1" dirty="0">
                <a:solidFill>
                  <a:srgbClr val="0000CC"/>
                </a:solidFill>
                <a:latin typeface="宋体" panose="02010600030101010101" pitchFamily="2" charset="-122"/>
                <a:ea typeface="宋体" panose="02010600030101010101" pitchFamily="2" charset="-122"/>
              </a:rPr>
              <a:t>第十章 半监督学习</a:t>
            </a:r>
            <a:br>
              <a:rPr lang="en-US" altLang="zh-CN" sz="4800" b="1" dirty="0">
                <a:solidFill>
                  <a:srgbClr val="0000CC"/>
                </a:solidFill>
                <a:latin typeface="宋体" panose="02010600030101010101" pitchFamily="2" charset="-122"/>
                <a:ea typeface="宋体" panose="02010600030101010101" pitchFamily="2" charset="-122"/>
              </a:rPr>
            </a:br>
            <a:br>
              <a:rPr lang="en-US" altLang="zh-CN" sz="4800" b="1" dirty="0">
                <a:solidFill>
                  <a:schemeClr val="tx1"/>
                </a:solidFill>
                <a:latin typeface="宋体" panose="02010600030101010101" pitchFamily="2" charset="-122"/>
                <a:ea typeface="宋体" panose="02010600030101010101" pitchFamily="2" charset="-122"/>
              </a:rPr>
            </a:br>
            <a:br>
              <a:rPr lang="en-US" altLang="zh-CN" sz="4800" b="1" dirty="0">
                <a:solidFill>
                  <a:schemeClr val="tx1"/>
                </a:solidFill>
                <a:latin typeface="宋体" panose="02010600030101010101" pitchFamily="2" charset="-122"/>
                <a:ea typeface="宋体" panose="02010600030101010101" pitchFamily="2" charset="-122"/>
              </a:rPr>
            </a:br>
            <a:endParaRPr lang="zh-CN" altLang="en-US" sz="3000" b="1" dirty="0">
              <a:solidFill>
                <a:schemeClr val="tx1"/>
              </a:solidFill>
              <a:latin typeface="宋体" panose="02010600030101010101" pitchFamily="2" charset="-122"/>
              <a:ea typeface="宋体" panose="02010600030101010101" pitchFamily="2" charset="-122"/>
            </a:endParaRP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3367" y="4005263"/>
            <a:ext cx="6825266" cy="21909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3"/>
          <p:cNvSpPr>
            <a:spLocks noGrp="1"/>
          </p:cNvSpPr>
          <p:nvPr>
            <p:ph idx="1"/>
          </p:nvPr>
        </p:nvSpPr>
        <p:spPr>
          <a:xfrm>
            <a:off x="63795" y="1725613"/>
            <a:ext cx="6216503" cy="4608512"/>
          </a:xfrm>
        </p:spPr>
        <p:txBody>
          <a:bodyPr vert="horz" wrap="square" lIns="91440" tIns="45720" rIns="91440" bIns="45720" anchor="t" anchorCtr="0"/>
          <a:lstStyle/>
          <a:p>
            <a:pPr eaLnBrk="1" hangingPunct="1">
              <a:lnSpc>
                <a:spcPct val="110000"/>
              </a:lnSpc>
            </a:pPr>
            <a:r>
              <a:rPr lang="zh-CN" altLang="en-US" sz="2800" b="1" dirty="0">
                <a:latin typeface="微软雅黑" panose="020B0503020204020204" pitchFamily="34" charset="-122"/>
                <a:ea typeface="微软雅黑" panose="020B0503020204020204" pitchFamily="34" charset="-122"/>
              </a:rPr>
              <a:t>传统机器学习分两类：监督学习、无监督学习</a:t>
            </a:r>
            <a:endParaRPr lang="zh-CN" altLang="en-US" sz="2600" b="1" dirty="0">
              <a:latin typeface="微软雅黑" panose="020B0503020204020204" pitchFamily="34" charset="-122"/>
              <a:ea typeface="微软雅黑" panose="020B0503020204020204" pitchFamily="34" charset="-122"/>
            </a:endParaRPr>
          </a:p>
          <a:p>
            <a:pPr eaLnBrk="1" hangingPunct="1">
              <a:lnSpc>
                <a:spcPct val="110000"/>
              </a:lnSpc>
            </a:pPr>
            <a:r>
              <a:rPr lang="zh-CN" altLang="en-US" sz="2800" b="1" dirty="0">
                <a:latin typeface="微软雅黑" panose="020B0503020204020204" pitchFamily="34" charset="-122"/>
                <a:ea typeface="微软雅黑" panose="020B0503020204020204" pitchFamily="34" charset="-122"/>
              </a:rPr>
              <a:t>监督学习利用</a:t>
            </a:r>
            <a:r>
              <a:rPr lang="zh-CN" altLang="en-US" sz="2800" b="1" dirty="0">
                <a:solidFill>
                  <a:srgbClr val="FF0000"/>
                </a:solidFill>
                <a:latin typeface="微软雅黑" panose="020B0503020204020204" pitchFamily="34" charset="-122"/>
                <a:ea typeface="微软雅黑" panose="020B0503020204020204" pitchFamily="34" charset="-122"/>
              </a:rPr>
              <a:t>有标记样本</a:t>
            </a:r>
            <a:r>
              <a:rPr lang="zh-CN" altLang="en-US" sz="2800" b="1" dirty="0">
                <a:latin typeface="微软雅黑" panose="020B0503020204020204" pitchFamily="34" charset="-122"/>
                <a:ea typeface="微软雅黑" panose="020B0503020204020204" pitchFamily="34" charset="-122"/>
              </a:rPr>
              <a:t>进行学习，对标记样本的数量要求较多；无监督学习仅仅是对</a:t>
            </a:r>
            <a:r>
              <a:rPr lang="zh-CN" altLang="en-US" sz="2800" b="1" dirty="0">
                <a:solidFill>
                  <a:srgbClr val="FF0000"/>
                </a:solidFill>
                <a:latin typeface="微软雅黑" panose="020B0503020204020204" pitchFamily="34" charset="-122"/>
                <a:ea typeface="微软雅黑" panose="020B0503020204020204" pitchFamily="34" charset="-122"/>
              </a:rPr>
              <a:t>未标记样本</a:t>
            </a:r>
            <a:r>
              <a:rPr lang="zh-CN" altLang="en-US" sz="2800" b="1" dirty="0">
                <a:latin typeface="微软雅黑" panose="020B0503020204020204" pitchFamily="34" charset="-122"/>
                <a:ea typeface="微软雅黑" panose="020B0503020204020204" pitchFamily="34" charset="-122"/>
              </a:rPr>
              <a:t>进行学习，不能保证精度。</a:t>
            </a:r>
            <a:endParaRPr lang="en-US" altLang="zh-CN" sz="2600" b="1" dirty="0">
              <a:latin typeface="微软雅黑" panose="020B0503020204020204" pitchFamily="34" charset="-122"/>
              <a:ea typeface="微软雅黑" panose="020B0503020204020204" pitchFamily="34" charset="-122"/>
            </a:endParaRPr>
          </a:p>
          <a:p>
            <a:pPr>
              <a:lnSpc>
                <a:spcPct val="110000"/>
              </a:lnSpc>
              <a:spcAft>
                <a:spcPct val="20000"/>
              </a:spcAft>
            </a:pPr>
            <a:r>
              <a:rPr lang="zh-CN" altLang="en-US" sz="2800" b="1" dirty="0">
                <a:latin typeface="微软雅黑" panose="020B0503020204020204" pitchFamily="34" charset="-122"/>
                <a:ea typeface="微软雅黑" panose="020B0503020204020204" pitchFamily="34" charset="-122"/>
              </a:rPr>
              <a:t>现实情况下，同时存在</a:t>
            </a:r>
            <a:r>
              <a:rPr lang="zh-CN" altLang="en-US" sz="2800" b="1" dirty="0">
                <a:solidFill>
                  <a:srgbClr val="FF0000"/>
                </a:solidFill>
                <a:latin typeface="微软雅黑" panose="020B0503020204020204" pitchFamily="34" charset="-122"/>
                <a:ea typeface="微软雅黑" panose="020B0503020204020204" pitchFamily="34" charset="-122"/>
              </a:rPr>
              <a:t>有标记样本</a:t>
            </a:r>
            <a:r>
              <a:rPr lang="zh-CN" altLang="en-US" sz="2800" b="1" dirty="0">
                <a:latin typeface="微软雅黑" panose="020B0503020204020204" pitchFamily="34" charset="-122"/>
                <a:ea typeface="微软雅黑" panose="020B0503020204020204" pitchFamily="34" charset="-122"/>
              </a:rPr>
              <a:t>和</a:t>
            </a:r>
            <a:r>
              <a:rPr lang="zh-CN" altLang="en-US" sz="2800" b="1" dirty="0">
                <a:solidFill>
                  <a:srgbClr val="FF0000"/>
                </a:solidFill>
                <a:latin typeface="微软雅黑" panose="020B0503020204020204" pitchFamily="34" charset="-122"/>
                <a:ea typeface="微软雅黑" panose="020B0503020204020204" pitchFamily="34" charset="-122"/>
              </a:rPr>
              <a:t>未标记样本</a:t>
            </a:r>
            <a:r>
              <a:rPr lang="zh-CN" altLang="en-US" sz="2800" b="1" dirty="0">
                <a:latin typeface="微软雅黑" panose="020B0503020204020204" pitchFamily="34" charset="-122"/>
                <a:ea typeface="微软雅黑" panose="020B0503020204020204" pitchFamily="34" charset="-122"/>
              </a:rPr>
              <a:t>的情况也会经常出现。</a:t>
            </a:r>
          </a:p>
        </p:txBody>
      </p:sp>
      <p:sp>
        <p:nvSpPr>
          <p:cNvPr id="5" name="Rectangle 2"/>
          <p:cNvSpPr txBox="1">
            <a:spLocks noRot="1" noChangeArrowheads="1"/>
          </p:cNvSpPr>
          <p:nvPr/>
        </p:nvSpPr>
        <p:spPr bwMode="auto">
          <a:xfrm>
            <a:off x="2503488" y="428625"/>
            <a:ext cx="7793038" cy="1143000"/>
          </a:xfrm>
          <a:prstGeom prst="rect">
            <a:avLst/>
          </a:prstGeom>
          <a:noFill/>
          <a:ln w="9525">
            <a:noFill/>
            <a:miter lim="800000"/>
          </a:ln>
        </p:spPr>
        <p:txBody>
          <a:bodyPr anchor="b"/>
          <a:lstStyle/>
          <a:p>
            <a:pPr marR="0" algn="ctr" defTabSz="914400" eaLnBrk="0" fontAlgn="auto" hangingPunct="0">
              <a:spcBef>
                <a:spcPts val="0"/>
              </a:spcBef>
              <a:spcAft>
                <a:spcPts val="0"/>
              </a:spcAft>
              <a:buClrTx/>
              <a:buSzTx/>
              <a:buFontTx/>
              <a:buNone/>
              <a:defRPr/>
            </a:pPr>
            <a:r>
              <a:rPr kumimoji="1" lang="zh-CN" altLang="en-US" sz="3600" b="1" kern="120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rPr>
              <a:t>引言</a:t>
            </a:r>
          </a:p>
        </p:txBody>
      </p:sp>
      <p:pic>
        <p:nvPicPr>
          <p:cNvPr id="4" name="图片 3"/>
          <p:cNvPicPr>
            <a:picLocks noChangeAspect="1"/>
          </p:cNvPicPr>
          <p:nvPr/>
        </p:nvPicPr>
        <p:blipFill>
          <a:blip r:embed="rId3"/>
          <a:stretch>
            <a:fillRect/>
          </a:stretch>
        </p:blipFill>
        <p:spPr>
          <a:xfrm>
            <a:off x="6207138" y="1789409"/>
            <a:ext cx="5855314" cy="3975100"/>
          </a:xfrm>
          <a:prstGeom prst="rect">
            <a:avLst/>
          </a:prstGeom>
        </p:spPr>
      </p:pic>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a:spLocks noGrp="1"/>
          </p:cNvSpPr>
          <p:nvPr>
            <p:ph idx="1"/>
          </p:nvPr>
        </p:nvSpPr>
        <p:spPr>
          <a:xfrm>
            <a:off x="1103313" y="1700213"/>
            <a:ext cx="10363200" cy="4608512"/>
          </a:xfrm>
        </p:spPr>
        <p:txBody>
          <a:bodyPr vert="horz" wrap="square" lIns="91440" tIns="45720" rIns="91440" bIns="45720" anchor="t" anchorCtr="0"/>
          <a:lstStyle/>
          <a:p>
            <a:pPr eaLnBrk="1" hangingPunct="1">
              <a:lnSpc>
                <a:spcPct val="120000"/>
              </a:lnSpc>
            </a:pPr>
            <a:r>
              <a:rPr lang="zh-CN" altLang="en-US" sz="2800" b="1" dirty="0">
                <a:latin typeface="宋体" panose="02010600030101010101" pitchFamily="2" charset="-122"/>
                <a:ea typeface="宋体" panose="02010600030101010101" pitchFamily="2" charset="-122"/>
              </a:rPr>
              <a:t>实际上，</a:t>
            </a:r>
            <a:r>
              <a:rPr lang="zh-CN" altLang="en-US" sz="2800" b="1" dirty="0">
                <a:solidFill>
                  <a:srgbClr val="FF0000"/>
                </a:solidFill>
                <a:latin typeface="微软雅黑" panose="020B0503020204020204" pitchFamily="34" charset="-122"/>
                <a:ea typeface="微软雅黑" panose="020B0503020204020204" pitchFamily="34" charset="-122"/>
              </a:rPr>
              <a:t>未标记样本</a:t>
            </a:r>
            <a:r>
              <a:rPr lang="zh-CN" altLang="en-US" sz="2800" b="1" dirty="0">
                <a:latin typeface="宋体" panose="02010600030101010101" pitchFamily="2" charset="-122"/>
                <a:ea typeface="宋体" panose="02010600030101010101" pitchFamily="2" charset="-122"/>
              </a:rPr>
              <a:t>虽然没有直接含有类别标记信息，但如果它们和有标记样本是从相同的数据中</a:t>
            </a:r>
            <a:r>
              <a:rPr lang="zh-CN" altLang="en-US" sz="2800" b="1" dirty="0">
                <a:solidFill>
                  <a:srgbClr val="FF0000"/>
                </a:solidFill>
                <a:latin typeface="宋体" panose="02010600030101010101" pitchFamily="2" charset="-122"/>
                <a:ea typeface="宋体" panose="02010600030101010101" pitchFamily="2" charset="-122"/>
              </a:rPr>
              <a:t>独立同分布</a:t>
            </a:r>
            <a:r>
              <a:rPr lang="zh-CN" altLang="en-US" sz="2800" b="1" dirty="0">
                <a:latin typeface="宋体" panose="02010600030101010101" pitchFamily="2" charset="-122"/>
                <a:ea typeface="宋体" panose="02010600030101010101" pitchFamily="2" charset="-122"/>
              </a:rPr>
              <a:t>采样得到的，则它们包含的有关</a:t>
            </a:r>
            <a:r>
              <a:rPr lang="zh-CN" altLang="en-US" sz="2800" b="1" dirty="0">
                <a:solidFill>
                  <a:srgbClr val="FF0000"/>
                </a:solidFill>
                <a:latin typeface="宋体" panose="02010600030101010101" pitchFamily="2" charset="-122"/>
                <a:ea typeface="宋体" panose="02010600030101010101" pitchFamily="2" charset="-122"/>
              </a:rPr>
              <a:t>数据分布</a:t>
            </a:r>
            <a:r>
              <a:rPr lang="zh-CN" altLang="en-US" sz="2800" b="1" dirty="0">
                <a:latin typeface="宋体" panose="02010600030101010101" pitchFamily="2" charset="-122"/>
                <a:ea typeface="宋体" panose="02010600030101010101" pitchFamily="2" charset="-122"/>
              </a:rPr>
              <a:t>的信息对学习模型有很大帮助。</a:t>
            </a:r>
            <a:endParaRPr lang="en-US" altLang="zh-CN" sz="2800" b="1" dirty="0">
              <a:latin typeface="宋体" panose="02010600030101010101" pitchFamily="2" charset="-122"/>
              <a:ea typeface="宋体" panose="02010600030101010101" pitchFamily="2" charset="-122"/>
            </a:endParaRPr>
          </a:p>
          <a:p>
            <a:pPr eaLnBrk="1" hangingPunct="1">
              <a:lnSpc>
                <a:spcPct val="120000"/>
              </a:lnSpc>
            </a:pPr>
            <a:endParaRPr lang="en-US" altLang="zh-CN" sz="2800" b="1" dirty="0">
              <a:latin typeface="宋体" panose="02010600030101010101" pitchFamily="2" charset="-122"/>
              <a:ea typeface="宋体" panose="02010600030101010101" pitchFamily="2" charset="-122"/>
            </a:endParaRPr>
          </a:p>
          <a:p>
            <a:pPr eaLnBrk="1" hangingPunct="1">
              <a:lnSpc>
                <a:spcPct val="120000"/>
              </a:lnSpc>
            </a:pPr>
            <a:r>
              <a:rPr lang="zh-CN" altLang="en-US" sz="2800" b="1" dirty="0">
                <a:latin typeface="宋体" panose="02010600030101010101" pitchFamily="2" charset="-122"/>
                <a:ea typeface="宋体" panose="02010600030101010101" pitchFamily="2" charset="-122"/>
              </a:rPr>
              <a:t>如何让学习过程不依赖外界的</a:t>
            </a:r>
            <a:r>
              <a:rPr lang="zh-CN" altLang="en-US" sz="2800" b="1" dirty="0">
                <a:solidFill>
                  <a:srgbClr val="FF0000"/>
                </a:solidFill>
                <a:latin typeface="宋体" panose="02010600030101010101" pitchFamily="2" charset="-122"/>
                <a:ea typeface="宋体" panose="02010600030101010101" pitchFamily="2" charset="-122"/>
              </a:rPr>
              <a:t>咨询交互</a:t>
            </a:r>
            <a:r>
              <a:rPr lang="zh-CN" altLang="en-US" sz="2800" b="1" dirty="0">
                <a:latin typeface="宋体" panose="02010600030101010101" pitchFamily="2" charset="-122"/>
                <a:ea typeface="宋体" panose="02010600030101010101" pitchFamily="2" charset="-122"/>
              </a:rPr>
              <a:t>，</a:t>
            </a:r>
            <a:r>
              <a:rPr lang="zh-CN" altLang="en-US" sz="2800" b="1" dirty="0">
                <a:latin typeface="微软雅黑" panose="020B0503020204020204" pitchFamily="34" charset="-122"/>
                <a:ea typeface="微软雅黑" panose="020B0503020204020204" pitchFamily="34" charset="-122"/>
              </a:rPr>
              <a:t>自动利用未标记样本所含信息来提高模型性能便是</a:t>
            </a:r>
            <a:r>
              <a:rPr lang="zh-CN" altLang="en-US" sz="2800" b="1" dirty="0">
                <a:solidFill>
                  <a:srgbClr val="FF0000"/>
                </a:solidFill>
                <a:latin typeface="宋体" panose="02010600030101010101" pitchFamily="2" charset="-122"/>
                <a:ea typeface="宋体" panose="02010600030101010101" pitchFamily="2" charset="-122"/>
              </a:rPr>
              <a:t>半监督学习</a:t>
            </a:r>
            <a:r>
              <a:rPr lang="en-US" altLang="zh-CN" sz="2800" b="1" dirty="0">
                <a:latin typeface="宋体" panose="02010600030101010101" pitchFamily="2" charset="-122"/>
                <a:ea typeface="宋体" panose="02010600030101010101" pitchFamily="2" charset="-122"/>
              </a:rPr>
              <a:t>(Semi-Supervised Learning</a:t>
            </a:r>
            <a:r>
              <a:rPr lang="zh-CN" altLang="en-US" sz="2800" b="1" dirty="0">
                <a:latin typeface="宋体" panose="02010600030101010101" pitchFamily="2" charset="-122"/>
                <a:ea typeface="宋体" panose="02010600030101010101" pitchFamily="2" charset="-122"/>
              </a:rPr>
              <a:t>，</a:t>
            </a:r>
            <a:r>
              <a:rPr lang="en-US" altLang="zh-CN" sz="2800" b="1" dirty="0">
                <a:latin typeface="宋体" panose="02010600030101010101" pitchFamily="2" charset="-122"/>
                <a:ea typeface="宋体" panose="02010600030101010101" pitchFamily="2" charset="-122"/>
              </a:rPr>
              <a:t>SSL)</a:t>
            </a:r>
            <a:r>
              <a:rPr lang="zh-CN" altLang="en-US" sz="2800" b="1" dirty="0">
                <a:latin typeface="宋体" panose="02010600030101010101" pitchFamily="2" charset="-122"/>
                <a:ea typeface="宋体" panose="02010600030101010101" pitchFamily="2" charset="-122"/>
              </a:rPr>
              <a:t>的核心内容。</a:t>
            </a:r>
            <a:endParaRPr lang="en-US" altLang="zh-CN" sz="2800" b="1" dirty="0">
              <a:latin typeface="宋体" panose="02010600030101010101" pitchFamily="2" charset="-122"/>
              <a:ea typeface="宋体" panose="02010600030101010101" pitchFamily="2" charset="-122"/>
            </a:endParaRPr>
          </a:p>
        </p:txBody>
      </p:sp>
      <p:sp>
        <p:nvSpPr>
          <p:cNvPr id="5" name="Rectangle 2"/>
          <p:cNvSpPr txBox="1">
            <a:spLocks noRot="1" noChangeArrowheads="1"/>
          </p:cNvSpPr>
          <p:nvPr/>
        </p:nvSpPr>
        <p:spPr bwMode="auto">
          <a:xfrm>
            <a:off x="2503488" y="428625"/>
            <a:ext cx="7793038" cy="1143000"/>
          </a:xfrm>
          <a:prstGeom prst="rect">
            <a:avLst/>
          </a:prstGeom>
          <a:noFill/>
          <a:ln w="9525">
            <a:noFill/>
            <a:miter lim="800000"/>
          </a:ln>
        </p:spPr>
        <p:txBody>
          <a:bodyPr anchor="b"/>
          <a:lstStyle/>
          <a:p>
            <a:pPr marR="0" algn="ctr" defTabSz="914400" eaLnBrk="0" fontAlgn="auto" hangingPunct="0">
              <a:spcBef>
                <a:spcPts val="0"/>
              </a:spcBef>
              <a:spcAft>
                <a:spcPts val="0"/>
              </a:spcAft>
              <a:buClrTx/>
              <a:buSzTx/>
              <a:buFontTx/>
              <a:buNone/>
              <a:defRPr/>
            </a:pPr>
            <a:r>
              <a:rPr kumimoji="1" lang="zh-CN" altLang="en-US" sz="3600" b="1" kern="1200" cap="none" spc="0" normalizeH="0" baseline="0" noProof="0" dirty="0">
                <a:solidFill>
                  <a:srgbClr val="0000CC"/>
                </a:solidFill>
                <a:effectLst>
                  <a:outerShdw blurRad="38100" dist="38100" dir="2700000" algn="tl">
                    <a:srgbClr val="C0C0C0"/>
                  </a:outerShdw>
                </a:effectLst>
                <a:latin typeface="黑体" panose="02010609060101010101" pitchFamily="49" charset="-122"/>
                <a:ea typeface="黑体" panose="02010609060101010101" pitchFamily="49" charset="-122"/>
                <a:cs typeface="华文新魏" panose="02010800040101010101" pitchFamily="2" charset="-122"/>
              </a:rPr>
              <a:t>引言</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a:xfrm>
            <a:off x="1103313" y="404813"/>
            <a:ext cx="10390187" cy="1143000"/>
          </a:xfrm>
        </p:spPr>
        <p:txBody>
          <a:bodyPr vert="horz" wrap="square" lIns="91440" tIns="45720" rIns="91440" bIns="45720" anchor="b" anchorCtr="0"/>
          <a:lstStyle/>
          <a:p>
            <a:r>
              <a:rPr lang="zh-CN" altLang="zh-CN" dirty="0"/>
              <a:t>目录</a:t>
            </a:r>
            <a:endParaRPr lang="en-US" altLang="zh-CN" dirty="0"/>
          </a:p>
        </p:txBody>
      </p:sp>
      <p:sp>
        <p:nvSpPr>
          <p:cNvPr id="24578" name="Rectangle 3"/>
          <p:cNvSpPr>
            <a:spLocks noGrp="1"/>
          </p:cNvSpPr>
          <p:nvPr>
            <p:ph idx="1"/>
          </p:nvPr>
        </p:nvSpPr>
        <p:spPr>
          <a:xfrm>
            <a:off x="1586271" y="1758168"/>
            <a:ext cx="10363200" cy="4608512"/>
          </a:xfrm>
        </p:spPr>
        <p:txBody>
          <a:bodyPr vert="horz" wrap="square" lIns="91440" tIns="45720" rIns="91440" bIns="45720" anchor="t" anchorCtr="0"/>
          <a:lstStyle/>
          <a:p>
            <a:pPr algn="just"/>
            <a:endParaRPr lang="en-US" altLang="zh-CN" b="1" dirty="0"/>
          </a:p>
          <a:p>
            <a:pPr algn="just"/>
            <a:r>
              <a:rPr lang="en-US" altLang="zh-CN" b="1" dirty="0"/>
              <a:t>10.1 </a:t>
            </a:r>
            <a:r>
              <a:rPr lang="zh-CN" altLang="zh-CN" b="1" dirty="0">
                <a:ea typeface="宋体" panose="02010600030101010101" pitchFamily="2" charset="-122"/>
              </a:rPr>
              <a:t>半监督学习</a:t>
            </a:r>
            <a:endParaRPr lang="en-US" altLang="zh-CN" b="1" dirty="0">
              <a:ea typeface="宋体" panose="02010600030101010101" pitchFamily="2" charset="-122"/>
            </a:endParaRPr>
          </a:p>
          <a:p>
            <a:pPr algn="just"/>
            <a:r>
              <a:rPr lang="en-US" altLang="zh-CN" b="1" dirty="0">
                <a:ea typeface="宋体" panose="02010600030101010101" pitchFamily="2" charset="-122"/>
              </a:rPr>
              <a:t>10.2 </a:t>
            </a:r>
            <a:r>
              <a:rPr lang="zh-CN" altLang="en-US" b="1" dirty="0">
                <a:ea typeface="宋体" panose="02010600030101010101" pitchFamily="2" charset="-122"/>
              </a:rPr>
              <a:t>半监督分类</a:t>
            </a:r>
            <a:endParaRPr lang="zh-CN" altLang="en-US" b="1" dirty="0"/>
          </a:p>
          <a:p>
            <a:pPr algn="just"/>
            <a:r>
              <a:rPr lang="en-US" altLang="zh-CN" b="1" dirty="0">
                <a:ea typeface="宋体" panose="02010600030101010101" pitchFamily="2" charset="-122"/>
              </a:rPr>
              <a:t>10.3 </a:t>
            </a:r>
            <a:r>
              <a:rPr lang="zh-CN" altLang="en-US" b="1" dirty="0">
                <a:ea typeface="宋体" panose="02010600030101010101" pitchFamily="2" charset="-122"/>
              </a:rPr>
              <a:t>半监督聚类</a:t>
            </a:r>
            <a:endParaRPr lang="en-US" altLang="zh-CN" b="1" dirty="0">
              <a:ea typeface="宋体" panose="02010600030101010101" pitchFamily="2" charset="-122"/>
            </a:endParaRPr>
          </a:p>
          <a:p>
            <a:pPr algn="just"/>
            <a:r>
              <a:rPr lang="en-US" altLang="zh-CN" b="1" dirty="0">
                <a:ea typeface="宋体" panose="02010600030101010101" pitchFamily="2" charset="-122"/>
              </a:rPr>
              <a:t>10.4 </a:t>
            </a:r>
            <a:r>
              <a:rPr lang="zh-CN" altLang="zh-CN" b="1" dirty="0">
                <a:ea typeface="宋体" panose="02010600030101010101" pitchFamily="2" charset="-122"/>
              </a:rPr>
              <a:t>应用实例</a:t>
            </a:r>
            <a:endParaRPr lang="en-US" altLang="zh-CN" b="1" dirty="0">
              <a:ea typeface="宋体" panose="02010600030101010101" pitchFamily="2" charset="-122"/>
            </a:endParaRPr>
          </a:p>
          <a:p>
            <a:pPr algn="just"/>
            <a:r>
              <a:rPr lang="en-US" altLang="zh-CN" b="1" dirty="0"/>
              <a:t>10.5 </a:t>
            </a:r>
            <a:r>
              <a:rPr lang="zh-CN" altLang="en-US" b="1" dirty="0">
                <a:latin typeface="宋体" panose="02010600030101010101" pitchFamily="2" charset="-122"/>
                <a:ea typeface="宋体" panose="02010600030101010101" pitchFamily="2" charset="-122"/>
              </a:rPr>
              <a:t>延伸阅读</a:t>
            </a:r>
          </a:p>
          <a:p>
            <a:endParaRPr lang="en-US" altLang="zh-CN" b="1"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7CEDFE4D-050B-4575-90E9-8EBABDB60A8F}"/>
              </a:ext>
            </a:extLst>
          </p:cNvPr>
          <p:cNvSpPr txBox="1"/>
          <p:nvPr/>
        </p:nvSpPr>
        <p:spPr>
          <a:xfrm>
            <a:off x="348200" y="181770"/>
            <a:ext cx="11495599" cy="5444888"/>
          </a:xfrm>
          <a:prstGeom prst="rect">
            <a:avLst/>
          </a:prstGeom>
          <a:solidFill>
            <a:schemeClr val="bg2">
              <a:lumMod val="10000"/>
              <a:lumOff val="90000"/>
            </a:schemeClr>
          </a:solidFill>
        </p:spPr>
        <p:txBody>
          <a:bodyPr wrap="square">
            <a:spAutoFit/>
          </a:bodyPr>
          <a:lstStyle/>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：传统假设驱动（</a:t>
            </a:r>
            <a:r>
              <a:rPr lang="en-US" altLang="zh-CN" b="1" dirty="0">
                <a:latin typeface="微软雅黑" panose="020B0503020204020204" pitchFamily="34" charset="-122"/>
                <a:ea typeface="微软雅黑" panose="020B0503020204020204" pitchFamily="34" charset="-122"/>
              </a:rPr>
              <a:t>2000–2010</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特点：基于统计假设，方法依赖局部一致性或低维流形</a:t>
            </a:r>
            <a:r>
              <a:rPr lang="zh-CN" altLang="en-US" b="1" dirty="0">
                <a:latin typeface="微软雅黑" panose="020B0503020204020204" pitchFamily="34" charset="-122"/>
                <a:ea typeface="微软雅黑" panose="020B0503020204020204" pitchFamily="34" charset="-122"/>
              </a:rPr>
              <a:t>，代表方法：</a:t>
            </a:r>
            <a:r>
              <a:rPr lang="en-US" altLang="zh-CN" b="1" dirty="0">
                <a:latin typeface="微软雅黑" panose="020B0503020204020204" pitchFamily="34" charset="-122"/>
                <a:ea typeface="微软雅黑" panose="020B0503020204020204" pitchFamily="34" charset="-122"/>
              </a:rPr>
              <a:t>Self-Training / Co-</a:t>
            </a:r>
            <a:r>
              <a:rPr lang="en-US" altLang="zh-CN" b="1" dirty="0" err="1">
                <a:latin typeface="微软雅黑" panose="020B0503020204020204" pitchFamily="34" charset="-122"/>
                <a:ea typeface="微软雅黑" panose="020B0503020204020204" pitchFamily="34" charset="-122"/>
              </a:rPr>
              <a:t>TrainingTSVM</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Transductive</a:t>
            </a:r>
            <a:r>
              <a:rPr lang="en-US" altLang="zh-CN" b="1" dirty="0">
                <a:latin typeface="微软雅黑" panose="020B0503020204020204" pitchFamily="34" charset="-122"/>
                <a:ea typeface="微软雅黑" panose="020B0503020204020204" pitchFamily="34" charset="-122"/>
              </a:rPr>
              <a:t> SVM</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Graph-based SSL</a:t>
            </a: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：深度学习复兴（</a:t>
            </a:r>
            <a:r>
              <a:rPr lang="en-US" altLang="zh-CN" b="1" dirty="0">
                <a:latin typeface="微软雅黑" panose="020B0503020204020204" pitchFamily="34" charset="-122"/>
                <a:ea typeface="微软雅黑" panose="020B0503020204020204" pitchFamily="34" charset="-122"/>
              </a:rPr>
              <a:t>2014–2018</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特点：深度网络增强表征能力核心思想：伪标签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一致性正则</a:t>
            </a:r>
            <a:r>
              <a:rPr lang="zh-CN" altLang="en-US" b="1" dirty="0">
                <a:latin typeface="微软雅黑" panose="020B0503020204020204" pitchFamily="34" charset="-122"/>
                <a:ea typeface="微软雅黑" panose="020B0503020204020204" pitchFamily="34" charset="-122"/>
              </a:rPr>
              <a:t>，代表方法：</a:t>
            </a:r>
            <a:r>
              <a:rPr lang="en-US" altLang="zh-CN" b="1" dirty="0">
                <a:latin typeface="微软雅黑" panose="020B0503020204020204" pitchFamily="34" charset="-122"/>
                <a:ea typeface="微软雅黑" panose="020B0503020204020204" pitchFamily="34" charset="-122"/>
              </a:rPr>
              <a:t>Pseudo-Labeling</a:t>
            </a:r>
            <a:r>
              <a:rPr lang="zh-CN" altLang="en-US" b="1" dirty="0">
                <a:latin typeface="微软雅黑" panose="020B0503020204020204" pitchFamily="34" charset="-122"/>
                <a:ea typeface="微软雅黑" panose="020B0503020204020204" pitchFamily="34" charset="-122"/>
              </a:rPr>
              <a:t>、</a:t>
            </a:r>
            <a:r>
              <a:rPr lang="el-GR" altLang="zh-CN" b="1" dirty="0">
                <a:latin typeface="微软雅黑" panose="020B0503020204020204" pitchFamily="34" charset="-122"/>
                <a:ea typeface="微软雅黑" panose="020B0503020204020204" pitchFamily="34" charset="-122"/>
              </a:rPr>
              <a:t>Π-</a:t>
            </a:r>
            <a:r>
              <a:rPr lang="en-US" altLang="zh-CN" b="1" dirty="0">
                <a:latin typeface="微软雅黑" panose="020B0503020204020204" pitchFamily="34" charset="-122"/>
                <a:ea typeface="微软雅黑" panose="020B0503020204020204" pitchFamily="34" charset="-122"/>
              </a:rPr>
              <a:t>model / Mean Teacher</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Virtual Adversarial Training (VAT)</a:t>
            </a: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Mix/Match </a:t>
            </a:r>
            <a:r>
              <a:rPr lang="zh-CN" altLang="en-US" b="1" dirty="0">
                <a:latin typeface="微软雅黑" panose="020B0503020204020204" pitchFamily="34" charset="-122"/>
                <a:ea typeface="微软雅黑" panose="020B0503020204020204" pitchFamily="34" charset="-122"/>
              </a:rPr>
              <a:t>系列（</a:t>
            </a:r>
            <a:r>
              <a:rPr lang="en-US" altLang="zh-CN" b="1" dirty="0">
                <a:latin typeface="微软雅黑" panose="020B0503020204020204" pitchFamily="34" charset="-122"/>
                <a:ea typeface="微软雅黑" panose="020B0503020204020204" pitchFamily="34" charset="-122"/>
              </a:rPr>
              <a:t>2019–2020</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特点：结合增强、伪标签和一致性正则，</a:t>
            </a:r>
            <a:r>
              <a:rPr lang="zh-CN" altLang="en-US" b="1" dirty="0">
                <a:latin typeface="微软雅黑" panose="020B0503020204020204" pitchFamily="34" charset="-122"/>
                <a:ea typeface="微软雅黑" panose="020B0503020204020204" pitchFamily="34" charset="-122"/>
              </a:rPr>
              <a:t>代表方法：</a:t>
            </a:r>
            <a:r>
              <a:rPr lang="en-US" altLang="zh-CN" b="1" dirty="0" err="1">
                <a:latin typeface="微软雅黑" panose="020B0503020204020204" pitchFamily="34" charset="-122"/>
                <a:ea typeface="微软雅黑" panose="020B0503020204020204" pitchFamily="34" charset="-122"/>
              </a:rPr>
              <a:t>MixMatch</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UDA</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FixMatch</a:t>
            </a:r>
            <a:r>
              <a:rPr lang="zh-CN" altLang="en-US" b="1" dirty="0">
                <a:latin typeface="微软雅黑" panose="020B0503020204020204" pitchFamily="34" charset="-122"/>
                <a:ea typeface="微软雅黑" panose="020B0503020204020204" pitchFamily="34" charset="-122"/>
              </a:rPr>
              <a:t>（经典基线）</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：生成式与对比学习（</a:t>
            </a:r>
            <a:r>
              <a:rPr lang="en-US" altLang="zh-CN" b="1" dirty="0">
                <a:latin typeface="微软雅黑" panose="020B0503020204020204" pitchFamily="34" charset="-122"/>
                <a:ea typeface="微软雅黑" panose="020B0503020204020204" pitchFamily="34" charset="-122"/>
              </a:rPr>
              <a:t>2020–2022</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特点：利用自监督表征增强 </a:t>
            </a:r>
            <a:r>
              <a:rPr lang="en-US" altLang="zh-CN" b="1" dirty="0">
                <a:solidFill>
                  <a:srgbClr val="C00000"/>
                </a:solidFill>
                <a:latin typeface="微软雅黑" panose="020B0503020204020204" pitchFamily="34" charset="-122"/>
                <a:ea typeface="微软雅黑" panose="020B0503020204020204" pitchFamily="34" charset="-122"/>
              </a:rPr>
              <a:t>SSL</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代表方法：</a:t>
            </a:r>
            <a:r>
              <a:rPr lang="en-US" altLang="zh-CN" b="1" dirty="0">
                <a:latin typeface="微软雅黑" panose="020B0503020204020204" pitchFamily="34" charset="-122"/>
                <a:ea typeface="微软雅黑" panose="020B0503020204020204" pitchFamily="34" charset="-122"/>
              </a:rPr>
              <a:t>GAN / VAE SSL</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Contrastive Learning + SSL</a:t>
            </a: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：大模型时代（</a:t>
            </a:r>
            <a:r>
              <a:rPr lang="en-US" altLang="zh-CN" b="1" dirty="0">
                <a:latin typeface="微软雅黑" panose="020B0503020204020204" pitchFamily="34" charset="-122"/>
                <a:ea typeface="微软雅黑" panose="020B0503020204020204" pitchFamily="34" charset="-122"/>
              </a:rPr>
              <a:t>2022–</a:t>
            </a:r>
            <a:r>
              <a:rPr lang="zh-CN" altLang="en-US" b="1" dirty="0">
                <a:latin typeface="微软雅黑" panose="020B0503020204020204" pitchFamily="34" charset="-122"/>
                <a:ea typeface="微软雅黑" panose="020B0503020204020204" pitchFamily="34" charset="-122"/>
              </a:rPr>
              <a:t>至今）</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a:t>
            </a:r>
            <a:r>
              <a:rPr lang="en-US" altLang="zh-CN" b="1" dirty="0">
                <a:solidFill>
                  <a:srgbClr val="C00000"/>
                </a:solidFill>
                <a:latin typeface="微软雅黑" panose="020B0503020204020204" pitchFamily="34" charset="-122"/>
                <a:ea typeface="微软雅黑" panose="020B0503020204020204" pitchFamily="34" charset="-122"/>
              </a:rPr>
              <a:t>SSL </a:t>
            </a:r>
            <a:r>
              <a:rPr lang="zh-CN" altLang="en-US" b="1" dirty="0">
                <a:solidFill>
                  <a:srgbClr val="C00000"/>
                </a:solidFill>
                <a:latin typeface="微软雅黑" panose="020B0503020204020204" pitchFamily="34" charset="-122"/>
                <a:ea typeface="微软雅黑" panose="020B0503020204020204" pitchFamily="34" charset="-122"/>
              </a:rPr>
              <a:t>融合自监督预训练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少量标注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弱监督</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零样本</a:t>
            </a:r>
            <a:endParaRPr lang="en-US" altLang="zh-CN" b="1" dirty="0">
              <a:solidFill>
                <a:srgbClr val="C00000"/>
              </a:solidFill>
              <a:latin typeface="微软雅黑" panose="020B0503020204020204" pitchFamily="34" charset="-122"/>
              <a:ea typeface="微软雅黑" panose="020B0503020204020204" pitchFamily="34" charset="-122"/>
            </a:endParaRPr>
          </a:p>
          <a:p>
            <a:pPr lvl="1">
              <a:lnSpc>
                <a:spcPct val="150000"/>
              </a:lnSpc>
            </a:pPr>
            <a:r>
              <a:rPr lang="zh-CN" altLang="en-US" b="1" dirty="0">
                <a:latin typeface="微软雅黑" panose="020B0503020204020204" pitchFamily="34" charset="-122"/>
                <a:ea typeface="微软雅黑" panose="020B0503020204020204" pitchFamily="34" charset="-122"/>
              </a:rPr>
              <a:t>代表应用：</a:t>
            </a:r>
            <a:r>
              <a:rPr lang="en-US" altLang="zh-CN" b="1" dirty="0">
                <a:latin typeface="微软雅黑" panose="020B0503020204020204" pitchFamily="34" charset="-122"/>
                <a:ea typeface="微软雅黑" panose="020B0503020204020204" pitchFamily="34" charset="-122"/>
              </a:rPr>
              <a:t>CLIP / MAE</a:t>
            </a:r>
            <a:r>
              <a:rPr lang="zh-CN" altLang="en-US" b="1" dirty="0">
                <a:latin typeface="微软雅黑" panose="020B0503020204020204" pitchFamily="34" charset="-122"/>
                <a:ea typeface="微软雅黑" panose="020B0503020204020204" pitchFamily="34" charset="-122"/>
              </a:rPr>
              <a:t>（视觉）</a:t>
            </a:r>
            <a:r>
              <a:rPr lang="en-US" altLang="zh-CN" b="1" dirty="0">
                <a:latin typeface="微软雅黑" panose="020B0503020204020204" pitchFamily="34" charset="-122"/>
                <a:ea typeface="微软雅黑" panose="020B0503020204020204" pitchFamily="34" charset="-122"/>
              </a:rPr>
              <a:t>LLM </a:t>
            </a:r>
            <a:r>
              <a:rPr lang="zh-CN" altLang="en-US" b="1" dirty="0">
                <a:latin typeface="微软雅黑" panose="020B0503020204020204" pitchFamily="34" charset="-122"/>
                <a:ea typeface="微软雅黑" panose="020B0503020204020204" pitchFamily="34" charset="-122"/>
              </a:rPr>
              <a:t>自监督 </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微调（文本）</a:t>
            </a:r>
          </a:p>
        </p:txBody>
      </p:sp>
      <p:sp>
        <p:nvSpPr>
          <p:cNvPr id="16" name="文本框 15">
            <a:extLst>
              <a:ext uri="{FF2B5EF4-FFF2-40B4-BE49-F238E27FC236}">
                <a16:creationId xmlns:a16="http://schemas.microsoft.com/office/drawing/2014/main" id="{C034BC34-1ED7-4771-A7C6-DF44087E7A75}"/>
              </a:ext>
            </a:extLst>
          </p:cNvPr>
          <p:cNvSpPr txBox="1"/>
          <p:nvPr/>
        </p:nvSpPr>
        <p:spPr>
          <a:xfrm>
            <a:off x="348200" y="5801823"/>
            <a:ext cx="11495599" cy="988925"/>
          </a:xfrm>
          <a:prstGeom prst="rect">
            <a:avLst/>
          </a:prstGeom>
          <a:solidFill>
            <a:schemeClr val="tx2">
              <a:lumMod val="60000"/>
              <a:lumOff val="40000"/>
            </a:schemeClr>
          </a:solidFill>
        </p:spPr>
        <p:txBody>
          <a:bodyPr wrap="square">
            <a:spAutoFit/>
          </a:bodyPr>
          <a:lstStyle/>
          <a:p>
            <a:pPr algn="ctr">
              <a:lnSpc>
                <a:spcPct val="140000"/>
              </a:lnSpc>
            </a:pPr>
            <a:r>
              <a:rPr lang="zh-CN" altLang="en-US" sz="2200" b="1" dirty="0">
                <a:solidFill>
                  <a:srgbClr val="FFFFFF"/>
                </a:solidFill>
                <a:latin typeface="微软雅黑" panose="020B0503020204020204" pitchFamily="34" charset="-122"/>
                <a:ea typeface="微软雅黑" panose="020B0503020204020204" pitchFamily="34" charset="-122"/>
              </a:rPr>
              <a:t>大模型利用</a:t>
            </a:r>
            <a:r>
              <a:rPr lang="zh-CN" altLang="en-US" sz="2200" b="1" u="sng" dirty="0">
                <a:solidFill>
                  <a:srgbClr val="FFFFFF"/>
                </a:solidFill>
                <a:latin typeface="微软雅黑" panose="020B0503020204020204" pitchFamily="34" charset="-122"/>
                <a:ea typeface="微软雅黑" panose="020B0503020204020204" pitchFamily="34" charset="-122"/>
              </a:rPr>
              <a:t>丰富的无标签数据</a:t>
            </a:r>
            <a:r>
              <a:rPr lang="zh-CN" altLang="en-US" sz="2200" b="1" dirty="0">
                <a:solidFill>
                  <a:srgbClr val="FFFFFF"/>
                </a:solidFill>
                <a:latin typeface="微软雅黑" panose="020B0503020204020204" pitchFamily="34" charset="-122"/>
                <a:ea typeface="微软雅黑" panose="020B0503020204020204" pitchFamily="34" charset="-122"/>
              </a:rPr>
              <a:t>和</a:t>
            </a:r>
            <a:r>
              <a:rPr lang="zh-CN" altLang="en-US" sz="2200" b="1" u="sng" dirty="0">
                <a:solidFill>
                  <a:srgbClr val="FFFFFF"/>
                </a:solidFill>
                <a:latin typeface="微软雅黑" panose="020B0503020204020204" pitchFamily="34" charset="-122"/>
                <a:ea typeface="微软雅黑" panose="020B0503020204020204" pitchFamily="34" charset="-122"/>
              </a:rPr>
              <a:t>预训练知识</a:t>
            </a:r>
            <a:r>
              <a:rPr lang="zh-CN" altLang="en-US" sz="2200" b="1" dirty="0">
                <a:solidFill>
                  <a:srgbClr val="FFFFFF"/>
                </a:solidFill>
                <a:latin typeface="微软雅黑" panose="020B0503020204020204" pitchFamily="34" charset="-122"/>
                <a:ea typeface="微软雅黑" panose="020B0503020204020204" pitchFamily="34" charset="-122"/>
              </a:rPr>
              <a:t>增强半监督学习的</a:t>
            </a:r>
            <a:r>
              <a:rPr lang="zh-CN" altLang="en-US" sz="2200" b="1" u="sng" dirty="0">
                <a:solidFill>
                  <a:srgbClr val="FFFFFF"/>
                </a:solidFill>
                <a:latin typeface="微软雅黑" panose="020B0503020204020204" pitchFamily="34" charset="-122"/>
                <a:ea typeface="微软雅黑" panose="020B0503020204020204" pitchFamily="34" charset="-122"/>
              </a:rPr>
              <a:t>泛化能力</a:t>
            </a:r>
            <a:r>
              <a:rPr lang="zh-CN" altLang="en-US" sz="2200" b="1" dirty="0">
                <a:solidFill>
                  <a:srgbClr val="FFFFFF"/>
                </a:solidFill>
                <a:latin typeface="微软雅黑" panose="020B0503020204020204" pitchFamily="34" charset="-122"/>
                <a:ea typeface="微软雅黑" panose="020B0503020204020204" pitchFamily="34" charset="-122"/>
              </a:rPr>
              <a:t>，从而在</a:t>
            </a:r>
            <a:r>
              <a:rPr lang="zh-CN" altLang="en-US" sz="2200" b="1" u="sng" dirty="0">
                <a:solidFill>
                  <a:srgbClr val="FFFFFF"/>
                </a:solidFill>
                <a:latin typeface="微软雅黑" panose="020B0503020204020204" pitchFamily="34" charset="-122"/>
                <a:ea typeface="微软雅黑" panose="020B0503020204020204" pitchFamily="34" charset="-122"/>
              </a:rPr>
              <a:t>标注有限的情况下</a:t>
            </a:r>
            <a:r>
              <a:rPr lang="zh-CN" altLang="en-US" sz="2200" b="1" dirty="0">
                <a:solidFill>
                  <a:srgbClr val="FFFFFF"/>
                </a:solidFill>
                <a:latin typeface="微软雅黑" panose="020B0503020204020204" pitchFamily="34" charset="-122"/>
                <a:ea typeface="微软雅黑" panose="020B0503020204020204" pitchFamily="34" charset="-122"/>
              </a:rPr>
              <a:t>实现更高效的学习。</a:t>
            </a:r>
          </a:p>
        </p:txBody>
      </p:sp>
    </p:spTree>
    <p:extLst>
      <p:ext uri="{BB962C8B-B14F-4D97-AF65-F5344CB8AC3E}">
        <p14:creationId xmlns:p14="http://schemas.microsoft.com/office/powerpoint/2010/main" val="3995738613"/>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1651346"/>
            <a:ext cx="12192000" cy="3555307"/>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0" y="1102342"/>
            <a:ext cx="12192000" cy="4653315"/>
          </a:xfrm>
          <a:prstGeom prst="rect">
            <a:avLst/>
          </a:prstGeom>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p:cNvSpPr>
          <p:nvPr>
            <p:ph type="title"/>
          </p:nvPr>
        </p:nvSpPr>
        <p:spPr>
          <a:xfrm>
            <a:off x="1103313" y="404813"/>
            <a:ext cx="10390187" cy="1143000"/>
          </a:xfrm>
        </p:spPr>
        <p:txBody>
          <a:bodyPr vert="horz" wrap="square" lIns="91440" tIns="45720" rIns="91440" bIns="45720" anchor="b" anchorCtr="0"/>
          <a:lstStyle/>
          <a:p>
            <a:r>
              <a:rPr lang="zh-CN" altLang="zh-CN" dirty="0"/>
              <a:t>目录</a:t>
            </a:r>
            <a:endParaRPr lang="en-US" altLang="zh-CN" dirty="0"/>
          </a:p>
        </p:txBody>
      </p:sp>
      <p:sp>
        <p:nvSpPr>
          <p:cNvPr id="25602" name="Rectangle 3"/>
          <p:cNvSpPr>
            <a:spLocks noGrp="1"/>
          </p:cNvSpPr>
          <p:nvPr>
            <p:ph idx="1"/>
          </p:nvPr>
        </p:nvSpPr>
        <p:spPr>
          <a:xfrm>
            <a:off x="1103313" y="1700213"/>
            <a:ext cx="10363200" cy="4608512"/>
          </a:xfrm>
        </p:spPr>
        <p:txBody>
          <a:bodyPr vert="horz" wrap="square" lIns="91440" tIns="45720" rIns="91440" bIns="45720" anchor="t" anchorCtr="0"/>
          <a:lstStyle/>
          <a:p>
            <a:pPr algn="just"/>
            <a:endParaRPr lang="en-US" altLang="zh-CN" b="1" dirty="0"/>
          </a:p>
          <a:p>
            <a:pPr algn="just"/>
            <a:r>
              <a:rPr lang="en-US" altLang="zh-CN" b="1" dirty="0"/>
              <a:t>10.1 </a:t>
            </a:r>
            <a:r>
              <a:rPr lang="zh-CN" altLang="zh-CN" b="1" dirty="0">
                <a:solidFill>
                  <a:srgbClr val="FF0000"/>
                </a:solidFill>
                <a:ea typeface="宋体" panose="02010600030101010101" pitchFamily="2" charset="-122"/>
              </a:rPr>
              <a:t>半监督学习</a:t>
            </a:r>
            <a:endParaRPr lang="en-US" altLang="zh-CN" b="1" dirty="0">
              <a:solidFill>
                <a:srgbClr val="FF0000"/>
              </a:solidFill>
              <a:ea typeface="宋体" panose="02010600030101010101" pitchFamily="2" charset="-122"/>
            </a:endParaRPr>
          </a:p>
          <a:p>
            <a:pPr algn="just"/>
            <a:r>
              <a:rPr lang="en-US" altLang="zh-CN" b="1" dirty="0">
                <a:ea typeface="宋体" panose="02010600030101010101" pitchFamily="2" charset="-122"/>
              </a:rPr>
              <a:t>10.2 </a:t>
            </a:r>
            <a:r>
              <a:rPr lang="zh-CN" altLang="en-US" b="1" dirty="0">
                <a:ea typeface="宋体" panose="02010600030101010101" pitchFamily="2" charset="-122"/>
              </a:rPr>
              <a:t>半监督分类</a:t>
            </a:r>
            <a:endParaRPr lang="zh-CN" altLang="en-US" b="1" dirty="0"/>
          </a:p>
          <a:p>
            <a:pPr algn="just"/>
            <a:r>
              <a:rPr lang="en-US" altLang="zh-CN" b="1" dirty="0">
                <a:ea typeface="宋体" panose="02010600030101010101" pitchFamily="2" charset="-122"/>
              </a:rPr>
              <a:t>10.3 </a:t>
            </a:r>
            <a:r>
              <a:rPr lang="zh-CN" altLang="en-US" b="1" dirty="0">
                <a:ea typeface="宋体" panose="02010600030101010101" pitchFamily="2" charset="-122"/>
              </a:rPr>
              <a:t>半监督聚类</a:t>
            </a:r>
            <a:endParaRPr lang="en-US" altLang="zh-CN" b="1" dirty="0">
              <a:ea typeface="宋体" panose="02010600030101010101" pitchFamily="2" charset="-122"/>
            </a:endParaRPr>
          </a:p>
          <a:p>
            <a:pPr algn="just"/>
            <a:r>
              <a:rPr lang="en-US" altLang="zh-CN" b="1" dirty="0">
                <a:ea typeface="宋体" panose="02010600030101010101" pitchFamily="2" charset="-122"/>
              </a:rPr>
              <a:t>10.4 </a:t>
            </a:r>
            <a:r>
              <a:rPr lang="zh-CN" altLang="zh-CN" b="1" dirty="0">
                <a:ea typeface="宋体" panose="02010600030101010101" pitchFamily="2" charset="-122"/>
              </a:rPr>
              <a:t>应用实例</a:t>
            </a:r>
            <a:endParaRPr lang="en-US" altLang="zh-CN" b="1" dirty="0">
              <a:ea typeface="宋体" panose="02010600030101010101" pitchFamily="2" charset="-122"/>
            </a:endParaRPr>
          </a:p>
          <a:p>
            <a:pPr algn="just"/>
            <a:r>
              <a:rPr lang="en-US" altLang="zh-CN" b="1" dirty="0"/>
              <a:t>10.5 </a:t>
            </a:r>
            <a:r>
              <a:rPr lang="zh-CN" altLang="en-US" b="1" dirty="0">
                <a:latin typeface="宋体" panose="02010600030101010101" pitchFamily="2" charset="-122"/>
                <a:ea typeface="宋体" panose="02010600030101010101" pitchFamily="2" charset="-122"/>
              </a:rPr>
              <a:t>延伸阅读</a:t>
            </a:r>
          </a:p>
          <a:p>
            <a:endParaRPr lang="en-US" altLang="zh-CN" b="1"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1177740" y="2256650"/>
            <a:ext cx="10363200" cy="341404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在互联网应用中，有一项叫做</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网页推荐</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，其应用十分广泛。在商家进行网页推荐时，需要用户先对感兴趣的网页进行标记。</a:t>
            </a:r>
            <a:endParaRPr kumimoji="1"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实际上，</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有标记</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的网页样本是</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少数</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的。仅仅利用少部分有标记网页来进行训练，得到的模型泛化能力不会太好。</a:t>
            </a:r>
            <a:endParaRPr kumimoji="1"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2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互联网上存在着</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大量未标记样本</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，能不能有效的利用这些</a:t>
            </a:r>
            <a:r>
              <a:rPr kumimoji="1" lang="zh-CN" altLang="en-US" sz="28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未标记网页</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来提高模型的性能呢？</a:t>
            </a:r>
            <a:endParaRPr kumimoji="1"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3" name="图片 3"/>
          <p:cNvPicPr>
            <a:picLocks noChangeAspect="1"/>
          </p:cNvPicPr>
          <p:nvPr>
            <p:custDataLst>
              <p:tags r:id="rId1"/>
            </p:custDataLst>
          </p:nvPr>
        </p:nvPicPr>
        <p:blipFill>
          <a:blip r:embed="rId3"/>
          <a:srcRect b="12415"/>
          <a:stretch>
            <a:fillRect/>
          </a:stretch>
        </p:blipFill>
        <p:spPr>
          <a:xfrm>
            <a:off x="5507037" y="1956723"/>
            <a:ext cx="6684963" cy="4462462"/>
          </a:xfrm>
          <a:prstGeom prst="rect">
            <a:avLst/>
          </a:prstGeom>
          <a:noFill/>
          <a:ln w="9525">
            <a:noFill/>
          </a:ln>
        </p:spPr>
      </p:pic>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2" name="文本框 1"/>
          <p:cNvSpPr txBox="1"/>
          <p:nvPr/>
        </p:nvSpPr>
        <p:spPr>
          <a:xfrm>
            <a:off x="301050" y="1871663"/>
            <a:ext cx="5588665" cy="1976951"/>
          </a:xfrm>
          <a:prstGeom prst="rect">
            <a:avLst/>
          </a:prstGeom>
          <a:noFill/>
        </p:spPr>
        <p:txBody>
          <a:bodyPr wrap="square" rtlCol="0" anchor="t">
            <a:spAutoFit/>
          </a:bodyPr>
          <a:lstStyle/>
          <a:p>
            <a:pPr>
              <a:lnSpc>
                <a:spcPct val="150000"/>
              </a:lnSpc>
            </a:pPr>
            <a:r>
              <a:rPr lang="zh-CN" altLang="en-US" sz="2400" b="1" noProof="1">
                <a:latin typeface="微软雅黑" panose="020B0503020204020204" pitchFamily="34" charset="-122"/>
                <a:ea typeface="微软雅黑" panose="020B0503020204020204" pitchFamily="34" charset="-122"/>
                <a:cs typeface="微软雅黑" panose="020B0503020204020204" pitchFamily="34" charset="-122"/>
              </a:rPr>
              <a:t>利用未标记示例的技术有三大类</a:t>
            </a:r>
            <a:r>
              <a:rPr lang="en-US" altLang="zh-CN" sz="2400" b="1" noProof="1">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400" b="1" noProof="1">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50000"/>
              </a:lnSpc>
              <a:buFont typeface="Wingdings" panose="05000000000000000000" charset="0"/>
              <a:buChar char="n"/>
            </a:pPr>
            <a:r>
              <a:rPr lang="zh-CN" altLang="en-US" sz="2000" b="1" noProof="1">
                <a:latin typeface="微软雅黑" panose="020B0503020204020204" pitchFamily="34" charset="-122"/>
                <a:ea typeface="微软雅黑" panose="020B0503020204020204" pitchFamily="34" charset="-122"/>
                <a:cs typeface="微软雅黑" panose="020B0503020204020204" pitchFamily="34" charset="-122"/>
              </a:rPr>
              <a:t>主动学习（active learning）</a:t>
            </a:r>
          </a:p>
          <a:p>
            <a:pPr marL="342900" indent="-342900">
              <a:lnSpc>
                <a:spcPct val="150000"/>
              </a:lnSpc>
              <a:buFont typeface="Wingdings" panose="05000000000000000000" charset="0"/>
              <a:buChar char="n"/>
            </a:pPr>
            <a:r>
              <a:rPr lang="zh-CN" altLang="en-US" sz="2000" b="1" noProof="1">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半监督学习（semi-supervised learning）</a:t>
            </a:r>
          </a:p>
          <a:p>
            <a:pPr marL="342900" indent="-342900">
              <a:lnSpc>
                <a:spcPct val="150000"/>
              </a:lnSpc>
              <a:buFont typeface="Wingdings" panose="05000000000000000000" charset="0"/>
              <a:buChar char="n"/>
            </a:pPr>
            <a:r>
              <a:rPr lang="zh-CN" altLang="en-US" sz="2000" b="1" noProof="1">
                <a:highlight>
                  <a:srgbClr val="FFFF00"/>
                </a:highlight>
                <a:latin typeface="微软雅黑" panose="020B0503020204020204" pitchFamily="34" charset="-122"/>
                <a:ea typeface="微软雅黑" panose="020B0503020204020204" pitchFamily="34" charset="-122"/>
                <a:cs typeface="微软雅黑" panose="020B0503020204020204" pitchFamily="34" charset="-122"/>
              </a:rPr>
              <a:t>直推学习（transductive learning）</a:t>
            </a:r>
          </a:p>
        </p:txBody>
      </p:sp>
      <p:sp>
        <p:nvSpPr>
          <p:cNvPr id="3" name="文本框 2"/>
          <p:cNvSpPr txBox="1"/>
          <p:nvPr/>
        </p:nvSpPr>
        <p:spPr>
          <a:xfrm>
            <a:off x="370059" y="4337776"/>
            <a:ext cx="5294704" cy="1895519"/>
          </a:xfrm>
          <a:prstGeom prst="rect">
            <a:avLst/>
          </a:prstGeom>
          <a:noFill/>
        </p:spPr>
        <p:txBody>
          <a:bodyPr wrap="square" rtlCol="0" anchor="t">
            <a:spAutoFit/>
          </a:bodyPr>
          <a:lstStyle/>
          <a:p>
            <a:pPr>
              <a:lnSpc>
                <a:spcPct val="150000"/>
              </a:lnSpc>
            </a:pPr>
            <a:r>
              <a:rPr lang="zh-CN" altLang="en-US"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通常所说的learning一般都是指inductive leanring</a:t>
            </a:r>
            <a:r>
              <a:rPr lang="en-US" altLang="zh-CN"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b="1"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归纳性学习</a:t>
            </a:r>
            <a:r>
              <a:rPr lang="en-US" altLang="zh-CN"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：训练集D = { X_{tr}, Y_{tr} }，而测试的数据X_{te} 并没有出现在训练集中。</a:t>
            </a:r>
          </a:p>
          <a:p>
            <a:pPr>
              <a:lnSpc>
                <a:spcPct val="150000"/>
              </a:lnSpc>
            </a:pPr>
            <a:r>
              <a:rPr lang="zh-CN" altLang="en-US"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而transductive learning（</a:t>
            </a:r>
            <a:r>
              <a:rPr lang="zh-CN" altLang="en-US" sz="1600" b="1"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直推式</a:t>
            </a:r>
            <a:r>
              <a:rPr lang="zh-CN" altLang="en-US"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）的训练集</a:t>
            </a:r>
          </a:p>
          <a:p>
            <a:pPr>
              <a:lnSpc>
                <a:spcPct val="150000"/>
              </a:lnSpc>
            </a:pPr>
            <a:r>
              <a:rPr lang="zh-CN" altLang="en-US" sz="1600" noProof="1">
                <a:highlight>
                  <a:srgbClr val="00FFFF"/>
                </a:highlight>
                <a:latin typeface="微软雅黑" panose="020B0503020204020204" pitchFamily="34" charset="-122"/>
                <a:ea typeface="微软雅黑" panose="020B0503020204020204" pitchFamily="34" charset="-122"/>
                <a:cs typeface="微软雅黑" panose="020B0503020204020204" pitchFamily="34" charset="-122"/>
              </a:rPr>
              <a:t>D = { X_{tr}, Y_{tr} , X_{te} }</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将这个问题形式化，用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具体的公式符号</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来表示。</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3333CC"/>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训练样本集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类别标记是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已知</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的，称为“有标记”（</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labeled</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）样本。</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3333CC"/>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样本集</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类标标记是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未知</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的，称为“未标记”（</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unlabeled</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）样本。</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2969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29700" name="对象 2"/>
          <p:cNvGraphicFramePr>
            <a:graphicFrameLocks noChangeAspect="1"/>
          </p:cNvGraphicFramePr>
          <p:nvPr/>
        </p:nvGraphicFramePr>
        <p:xfrm>
          <a:off x="3606800" y="2879725"/>
          <a:ext cx="4978400" cy="652463"/>
        </p:xfrm>
        <a:graphic>
          <a:graphicData uri="http://schemas.openxmlformats.org/presentationml/2006/ole">
            <mc:AlternateContent xmlns:mc="http://schemas.openxmlformats.org/markup-compatibility/2006">
              <mc:Choice xmlns:v="urn:schemas-microsoft-com:vml" Requires="v">
                <p:oleObj spid="_x0000_s3201" r:id="rId4" imgW="2108200" imgH="279400" progId="Equation.DSMT4">
                  <p:embed/>
                </p:oleObj>
              </mc:Choice>
              <mc:Fallback>
                <p:oleObj r:id="rId4" imgW="2108200" imgH="279400" progId="Equation.DSMT4">
                  <p:embed/>
                  <p:pic>
                    <p:nvPicPr>
                      <p:cNvPr id="0" name="图片 3077"/>
                      <p:cNvPicPr/>
                      <p:nvPr/>
                    </p:nvPicPr>
                    <p:blipFill>
                      <a:blip r:embed="rId5"/>
                      <a:stretch>
                        <a:fillRect/>
                      </a:stretch>
                    </p:blipFill>
                    <p:spPr>
                      <a:xfrm>
                        <a:off x="3606800" y="2879725"/>
                        <a:ext cx="4978400" cy="652463"/>
                      </a:xfrm>
                      <a:prstGeom prst="rect">
                        <a:avLst/>
                      </a:prstGeom>
                      <a:noFill/>
                      <a:ln w="38100">
                        <a:noFill/>
                        <a:miter/>
                      </a:ln>
                    </p:spPr>
                  </p:pic>
                </p:oleObj>
              </mc:Fallback>
            </mc:AlternateContent>
          </a:graphicData>
        </a:graphic>
      </p:graphicFrame>
      <p:sp>
        <p:nvSpPr>
          <p:cNvPr id="29701"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29702" name="对象 6"/>
          <p:cNvGraphicFramePr>
            <a:graphicFrameLocks noChangeAspect="1"/>
          </p:cNvGraphicFramePr>
          <p:nvPr/>
        </p:nvGraphicFramePr>
        <p:xfrm>
          <a:off x="2934494" y="4559300"/>
          <a:ext cx="7005637" cy="654050"/>
        </p:xfrm>
        <a:graphic>
          <a:graphicData uri="http://schemas.openxmlformats.org/presentationml/2006/ole">
            <mc:AlternateContent xmlns:mc="http://schemas.openxmlformats.org/markup-compatibility/2006">
              <mc:Choice xmlns:v="urn:schemas-microsoft-com:vml" Requires="v">
                <p:oleObj spid="_x0000_s3202" r:id="rId6" imgW="2959100" imgH="279400" progId="Equation.DSMT4">
                  <p:embed/>
                </p:oleObj>
              </mc:Choice>
              <mc:Fallback>
                <p:oleObj r:id="rId6" imgW="2959100" imgH="279400" progId="Equation.DSMT4">
                  <p:embed/>
                  <p:pic>
                    <p:nvPicPr>
                      <p:cNvPr id="0" name="图片 3076"/>
                      <p:cNvPicPr/>
                      <p:nvPr/>
                    </p:nvPicPr>
                    <p:blipFill>
                      <a:blip r:embed="rId7"/>
                      <a:stretch>
                        <a:fillRect/>
                      </a:stretch>
                    </p:blipFill>
                    <p:spPr>
                      <a:xfrm>
                        <a:off x="2934494" y="4559300"/>
                        <a:ext cx="7005637" cy="654050"/>
                      </a:xfrm>
                      <a:prstGeom prst="rect">
                        <a:avLst/>
                      </a:prstGeom>
                      <a:noFill/>
                      <a:ln w="38100">
                        <a:noFill/>
                        <a:miter/>
                      </a:ln>
                    </p:spPr>
                  </p:pic>
                </p:oleObj>
              </mc:Fallback>
            </mc:AlternateContent>
          </a:graphicData>
        </a:graphic>
      </p:graphicFrame>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一般思路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仅利用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已标记样本集</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中的样本进行模型构建。</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弊端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未标记样本集   </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中的信息就会被浪费，此外，  样本数量一般</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较小</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，也就是说训练样本数量不足，那么学习得到的模型的泛化能力和性能往往是不好的。</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解决思路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合理的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结合使用</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样本集。</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3174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174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174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31750" name="对象 8"/>
          <p:cNvGraphicFramePr>
            <a:graphicFrameLocks noChangeAspect="1"/>
          </p:cNvGraphicFramePr>
          <p:nvPr/>
        </p:nvGraphicFramePr>
        <p:xfrm>
          <a:off x="5283200" y="2365375"/>
          <a:ext cx="536575" cy="644525"/>
        </p:xfrm>
        <a:graphic>
          <a:graphicData uri="http://schemas.openxmlformats.org/presentationml/2006/ole">
            <mc:AlternateContent xmlns:mc="http://schemas.openxmlformats.org/markup-compatibility/2006">
              <mc:Choice xmlns:v="urn:schemas-microsoft-com:vml" Requires="v">
                <p:oleObj spid="_x0000_s4343" r:id="rId4" imgW="190500" imgH="228600" progId="Equation.DSMT4">
                  <p:embed/>
                </p:oleObj>
              </mc:Choice>
              <mc:Fallback>
                <p:oleObj r:id="rId4" imgW="190500" imgH="228600" progId="Equation.DSMT4">
                  <p:embed/>
                  <p:pic>
                    <p:nvPicPr>
                      <p:cNvPr id="0" name="图片 3078"/>
                      <p:cNvPicPr/>
                      <p:nvPr/>
                    </p:nvPicPr>
                    <p:blipFill>
                      <a:blip r:embed="rId5"/>
                      <a:stretch>
                        <a:fillRect/>
                      </a:stretch>
                    </p:blipFill>
                    <p:spPr>
                      <a:xfrm>
                        <a:off x="5283200" y="2365375"/>
                        <a:ext cx="536575" cy="644525"/>
                      </a:xfrm>
                      <a:prstGeom prst="rect">
                        <a:avLst/>
                      </a:prstGeom>
                      <a:noFill/>
                      <a:ln w="38100">
                        <a:noFill/>
                        <a:miter/>
                      </a:ln>
                    </p:spPr>
                  </p:pic>
                </p:oleObj>
              </mc:Fallback>
            </mc:AlternateContent>
          </a:graphicData>
        </a:graphic>
      </p:graphicFrame>
      <p:sp>
        <p:nvSpPr>
          <p:cNvPr id="31751"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31752" name="对象 15"/>
          <p:cNvGraphicFramePr>
            <a:graphicFrameLocks noChangeAspect="1"/>
          </p:cNvGraphicFramePr>
          <p:nvPr/>
        </p:nvGraphicFramePr>
        <p:xfrm>
          <a:off x="9136063" y="3462338"/>
          <a:ext cx="538162" cy="644525"/>
        </p:xfrm>
        <a:graphic>
          <a:graphicData uri="http://schemas.openxmlformats.org/presentationml/2006/ole">
            <mc:AlternateContent xmlns:mc="http://schemas.openxmlformats.org/markup-compatibility/2006">
              <mc:Choice xmlns:v="urn:schemas-microsoft-com:vml" Requires="v">
                <p:oleObj spid="_x0000_s4344" r:id="rId6" imgW="190500" imgH="228600" progId="Equation.DSMT4">
                  <p:embed/>
                </p:oleObj>
              </mc:Choice>
              <mc:Fallback>
                <p:oleObj r:id="rId6" imgW="190500" imgH="228600" progId="Equation.DSMT4">
                  <p:embed/>
                  <p:pic>
                    <p:nvPicPr>
                      <p:cNvPr id="0" name="图片 3079"/>
                      <p:cNvPicPr/>
                      <p:nvPr/>
                    </p:nvPicPr>
                    <p:blipFill>
                      <a:blip r:embed="rId5"/>
                      <a:stretch>
                        <a:fillRect/>
                      </a:stretch>
                    </p:blipFill>
                    <p:spPr>
                      <a:xfrm>
                        <a:off x="9136063" y="3462338"/>
                        <a:ext cx="538162" cy="644525"/>
                      </a:xfrm>
                      <a:prstGeom prst="rect">
                        <a:avLst/>
                      </a:prstGeom>
                      <a:noFill/>
                      <a:ln w="38100">
                        <a:noFill/>
                        <a:miter/>
                      </a:ln>
                    </p:spPr>
                  </p:pic>
                </p:oleObj>
              </mc:Fallback>
            </mc:AlternateContent>
          </a:graphicData>
        </a:graphic>
      </p:graphicFrame>
      <p:sp>
        <p:nvSpPr>
          <p:cNvPr id="3175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31754" name="对象 17"/>
          <p:cNvGraphicFramePr>
            <a:graphicFrameLocks noChangeAspect="1"/>
          </p:cNvGraphicFramePr>
          <p:nvPr/>
        </p:nvGraphicFramePr>
        <p:xfrm>
          <a:off x="4498975" y="5500688"/>
          <a:ext cx="566738" cy="647700"/>
        </p:xfrm>
        <a:graphic>
          <a:graphicData uri="http://schemas.openxmlformats.org/presentationml/2006/ole">
            <mc:AlternateContent xmlns:mc="http://schemas.openxmlformats.org/markup-compatibility/2006">
              <mc:Choice xmlns:v="urn:schemas-microsoft-com:vml" Requires="v">
                <p:oleObj spid="_x0000_s4345" r:id="rId7" imgW="203200" imgH="228600" progId="Equation.DSMT4">
                  <p:embed/>
                </p:oleObj>
              </mc:Choice>
              <mc:Fallback>
                <p:oleObj r:id="rId7" imgW="203200" imgH="228600" progId="Equation.DSMT4">
                  <p:embed/>
                  <p:pic>
                    <p:nvPicPr>
                      <p:cNvPr id="0" name="图片 3080"/>
                      <p:cNvPicPr/>
                      <p:nvPr/>
                    </p:nvPicPr>
                    <p:blipFill>
                      <a:blip r:embed="rId8"/>
                      <a:stretch>
                        <a:fillRect/>
                      </a:stretch>
                    </p:blipFill>
                    <p:spPr>
                      <a:xfrm>
                        <a:off x="4498975" y="5500688"/>
                        <a:ext cx="566738" cy="647700"/>
                      </a:xfrm>
                      <a:prstGeom prst="rect">
                        <a:avLst/>
                      </a:prstGeom>
                      <a:noFill/>
                      <a:ln w="38100">
                        <a:noFill/>
                        <a:miter/>
                      </a:ln>
                    </p:spPr>
                  </p:pic>
                </p:oleObj>
              </mc:Fallback>
            </mc:AlternateContent>
          </a:graphicData>
        </a:graphic>
      </p:graphicFrame>
      <p:graphicFrame>
        <p:nvGraphicFramePr>
          <p:cNvPr id="31755" name="对象 18"/>
          <p:cNvGraphicFramePr>
            <a:graphicFrameLocks noChangeAspect="1"/>
          </p:cNvGraphicFramePr>
          <p:nvPr/>
        </p:nvGraphicFramePr>
        <p:xfrm>
          <a:off x="4202113" y="3462338"/>
          <a:ext cx="565150" cy="646112"/>
        </p:xfrm>
        <a:graphic>
          <a:graphicData uri="http://schemas.openxmlformats.org/presentationml/2006/ole">
            <mc:AlternateContent xmlns:mc="http://schemas.openxmlformats.org/markup-compatibility/2006">
              <mc:Choice xmlns:v="urn:schemas-microsoft-com:vml" Requires="v">
                <p:oleObj spid="_x0000_s4346" r:id="rId9" imgW="203200" imgH="228600" progId="Equation.DSMT4">
                  <p:embed/>
                </p:oleObj>
              </mc:Choice>
              <mc:Fallback>
                <p:oleObj r:id="rId9" imgW="203200" imgH="228600" progId="Equation.DSMT4">
                  <p:embed/>
                  <p:pic>
                    <p:nvPicPr>
                      <p:cNvPr id="0" name="图片 3075"/>
                      <p:cNvPicPr/>
                      <p:nvPr/>
                    </p:nvPicPr>
                    <p:blipFill>
                      <a:blip r:embed="rId8"/>
                      <a:stretch>
                        <a:fillRect/>
                      </a:stretch>
                    </p:blipFill>
                    <p:spPr>
                      <a:xfrm>
                        <a:off x="4202113" y="3462338"/>
                        <a:ext cx="565150" cy="646112"/>
                      </a:xfrm>
                      <a:prstGeom prst="rect">
                        <a:avLst/>
                      </a:prstGeom>
                      <a:noFill/>
                      <a:ln w="38100">
                        <a:noFill/>
                        <a:miter/>
                      </a:ln>
                    </p:spPr>
                  </p:pic>
                </p:oleObj>
              </mc:Fallback>
            </mc:AlternateContent>
          </a:graphicData>
        </a:graphic>
      </p:graphicFrame>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1204913" y="1852614"/>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解决思路一</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把   中的样本全部进行标记，也就是把</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未标记样本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转化成</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后用于学习。</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弊端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显然需要大量精力和时间。</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3379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379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379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379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379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33800" name="对象 18"/>
          <p:cNvGraphicFramePr>
            <a:graphicFrameLocks noChangeAspect="1"/>
          </p:cNvGraphicFramePr>
          <p:nvPr/>
        </p:nvGraphicFramePr>
        <p:xfrm>
          <a:off x="2446338" y="2373313"/>
          <a:ext cx="565150" cy="646112"/>
        </p:xfrm>
        <a:graphic>
          <a:graphicData uri="http://schemas.openxmlformats.org/presentationml/2006/ole">
            <mc:AlternateContent xmlns:mc="http://schemas.openxmlformats.org/markup-compatibility/2006">
              <mc:Choice xmlns:v="urn:schemas-microsoft-com:vml" Requires="v">
                <p:oleObj spid="_x0000_s5185" r:id="rId4" imgW="203200" imgH="228600" progId="Equation.DSMT4">
                  <p:embed/>
                </p:oleObj>
              </mc:Choice>
              <mc:Fallback>
                <p:oleObj r:id="rId4" imgW="203200" imgH="228600" progId="Equation.DSMT4">
                  <p:embed/>
                  <p:pic>
                    <p:nvPicPr>
                      <p:cNvPr id="0" name="图片 3081"/>
                      <p:cNvPicPr/>
                      <p:nvPr/>
                    </p:nvPicPr>
                    <p:blipFill>
                      <a:blip r:embed="rId5"/>
                      <a:stretch>
                        <a:fillRect/>
                      </a:stretch>
                    </p:blipFill>
                    <p:spPr>
                      <a:xfrm>
                        <a:off x="2446338" y="2373313"/>
                        <a:ext cx="565150" cy="646112"/>
                      </a:xfrm>
                      <a:prstGeom prst="rect">
                        <a:avLst/>
                      </a:prstGeom>
                      <a:noFill/>
                      <a:ln w="38100">
                        <a:noFill/>
                        <a:miter/>
                      </a:ln>
                    </p:spPr>
                  </p:pic>
                </p:oleObj>
              </mc:Fallback>
            </mc:AlternateContent>
          </a:graphicData>
        </a:graphic>
      </p:graphicFrame>
      <p:pic>
        <p:nvPicPr>
          <p:cNvPr id="5166" name="Picture 46"/>
          <p:cNvPicPr>
            <a:picLocks noChangeAspect="1" noChangeArrowheads="1" noCrop="1"/>
          </p:cNvPicPr>
          <p:nvPr/>
        </p:nvPicPr>
        <p:blipFill>
          <a:blip r:embed="rId6"/>
          <a:srcRect/>
          <a:stretch>
            <a:fillRect/>
          </a:stretch>
        </p:blipFill>
        <p:spPr bwMode="auto">
          <a:xfrm>
            <a:off x="6156326" y="3019424"/>
            <a:ext cx="4333874" cy="34670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6796087" y="-437224"/>
            <a:ext cx="3806826"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862807" y="965994"/>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解决思路二</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None/>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可以利用   中的样本先学习得到一个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，然后利用这个模型从   中挑出</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一个样本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，对这个样本的标签进行</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查询</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，然后把这个获得标签的样本作为</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新的标记样本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加入   中重新学习一个模型，之后再去   中挑样本，不断重复这个操作。</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graphicFrame>
        <p:nvGraphicFramePr>
          <p:cNvPr id="35848" name="对象 10"/>
          <p:cNvGraphicFramePr>
            <a:graphicFrameLocks noChangeAspect="1"/>
          </p:cNvGraphicFramePr>
          <p:nvPr/>
        </p:nvGraphicFramePr>
        <p:xfrm>
          <a:off x="2757488" y="1514475"/>
          <a:ext cx="538162" cy="644525"/>
        </p:xfrm>
        <a:graphic>
          <a:graphicData uri="http://schemas.openxmlformats.org/presentationml/2006/ole">
            <mc:AlternateContent xmlns:mc="http://schemas.openxmlformats.org/markup-compatibility/2006">
              <mc:Choice xmlns:v="urn:schemas-microsoft-com:vml" Requires="v">
                <p:oleObj spid="_x0000_s6389" r:id="rId4" imgW="190500" imgH="228600" progId="Equation.DSMT4">
                  <p:embed/>
                </p:oleObj>
              </mc:Choice>
              <mc:Fallback>
                <p:oleObj r:id="rId4" imgW="190500" imgH="228600" progId="Equation.DSMT4">
                  <p:embed/>
                  <p:pic>
                    <p:nvPicPr>
                      <p:cNvPr id="0" name="图片 3077"/>
                      <p:cNvPicPr/>
                      <p:nvPr/>
                    </p:nvPicPr>
                    <p:blipFill>
                      <a:blip r:embed="rId5"/>
                      <a:stretch>
                        <a:fillRect/>
                      </a:stretch>
                    </p:blipFill>
                    <p:spPr>
                      <a:xfrm>
                        <a:off x="2757488" y="1514475"/>
                        <a:ext cx="538162" cy="644525"/>
                      </a:xfrm>
                      <a:prstGeom prst="rect">
                        <a:avLst/>
                      </a:prstGeom>
                      <a:noFill/>
                      <a:ln w="38100">
                        <a:noFill/>
                        <a:miter/>
                      </a:ln>
                    </p:spPr>
                  </p:pic>
                </p:oleObj>
              </mc:Fallback>
            </mc:AlternateContent>
          </a:graphicData>
        </a:graphic>
      </p:graphicFrame>
      <p:graphicFrame>
        <p:nvGraphicFramePr>
          <p:cNvPr id="35849" name="对象 11"/>
          <p:cNvGraphicFramePr>
            <a:graphicFrameLocks noChangeAspect="1"/>
          </p:cNvGraphicFramePr>
          <p:nvPr/>
        </p:nvGraphicFramePr>
        <p:xfrm>
          <a:off x="1628775" y="1985963"/>
          <a:ext cx="566738" cy="647700"/>
        </p:xfrm>
        <a:graphic>
          <a:graphicData uri="http://schemas.openxmlformats.org/presentationml/2006/ole">
            <mc:AlternateContent xmlns:mc="http://schemas.openxmlformats.org/markup-compatibility/2006">
              <mc:Choice xmlns:v="urn:schemas-microsoft-com:vml" Requires="v">
                <p:oleObj spid="_x0000_s6390" r:id="rId6" imgW="203200" imgH="228600" progId="Equation.DSMT4">
                  <p:embed/>
                </p:oleObj>
              </mc:Choice>
              <mc:Fallback>
                <p:oleObj r:id="rId6" imgW="203200" imgH="228600" progId="Equation.DSMT4">
                  <p:embed/>
                  <p:pic>
                    <p:nvPicPr>
                      <p:cNvPr id="0" name="图片 3075"/>
                      <p:cNvPicPr/>
                      <p:nvPr/>
                    </p:nvPicPr>
                    <p:blipFill>
                      <a:blip r:embed="rId7"/>
                      <a:stretch>
                        <a:fillRect/>
                      </a:stretch>
                    </p:blipFill>
                    <p:spPr>
                      <a:xfrm>
                        <a:off x="1628775" y="1985963"/>
                        <a:ext cx="566738" cy="647700"/>
                      </a:xfrm>
                      <a:prstGeom prst="rect">
                        <a:avLst/>
                      </a:prstGeom>
                      <a:noFill/>
                      <a:ln w="38100">
                        <a:noFill/>
                        <a:miter/>
                      </a:ln>
                    </p:spPr>
                  </p:pic>
                </p:oleObj>
              </mc:Fallback>
            </mc:AlternateContent>
          </a:graphicData>
        </a:graphic>
      </p:graphicFrame>
      <p:graphicFrame>
        <p:nvGraphicFramePr>
          <p:cNvPr id="35850" name="对象 13"/>
          <p:cNvGraphicFramePr>
            <a:graphicFrameLocks noChangeAspect="1"/>
          </p:cNvGraphicFramePr>
          <p:nvPr/>
        </p:nvGraphicFramePr>
        <p:xfrm>
          <a:off x="7794625" y="2420938"/>
          <a:ext cx="536575" cy="644525"/>
        </p:xfrm>
        <a:graphic>
          <a:graphicData uri="http://schemas.openxmlformats.org/presentationml/2006/ole">
            <mc:AlternateContent xmlns:mc="http://schemas.openxmlformats.org/markup-compatibility/2006">
              <mc:Choice xmlns:v="urn:schemas-microsoft-com:vml" Requires="v">
                <p:oleObj spid="_x0000_s6391" r:id="rId8" imgW="190500" imgH="228600" progId="Equation.DSMT4">
                  <p:embed/>
                </p:oleObj>
              </mc:Choice>
              <mc:Fallback>
                <p:oleObj r:id="rId8" imgW="190500" imgH="228600" progId="Equation.DSMT4">
                  <p:embed/>
                  <p:pic>
                    <p:nvPicPr>
                      <p:cNvPr id="0" name="图片 3078"/>
                      <p:cNvPicPr/>
                      <p:nvPr/>
                    </p:nvPicPr>
                    <p:blipFill>
                      <a:blip r:embed="rId5"/>
                      <a:stretch>
                        <a:fillRect/>
                      </a:stretch>
                    </p:blipFill>
                    <p:spPr>
                      <a:xfrm>
                        <a:off x="7794625" y="2420938"/>
                        <a:ext cx="536575" cy="644525"/>
                      </a:xfrm>
                      <a:prstGeom prst="rect">
                        <a:avLst/>
                      </a:prstGeom>
                      <a:noFill/>
                      <a:ln w="38100">
                        <a:noFill/>
                        <a:miter/>
                      </a:ln>
                    </p:spPr>
                  </p:pic>
                </p:oleObj>
              </mc:Fallback>
            </mc:AlternateContent>
          </a:graphicData>
        </a:graphic>
      </p:graphicFrame>
      <p:graphicFrame>
        <p:nvGraphicFramePr>
          <p:cNvPr id="35851" name="对象 14"/>
          <p:cNvGraphicFramePr>
            <a:graphicFrameLocks noChangeAspect="1"/>
          </p:cNvGraphicFramePr>
          <p:nvPr/>
        </p:nvGraphicFramePr>
        <p:xfrm>
          <a:off x="3495675" y="2905125"/>
          <a:ext cx="566738" cy="646113"/>
        </p:xfrm>
        <a:graphic>
          <a:graphicData uri="http://schemas.openxmlformats.org/presentationml/2006/ole">
            <mc:AlternateContent xmlns:mc="http://schemas.openxmlformats.org/markup-compatibility/2006">
              <mc:Choice xmlns:v="urn:schemas-microsoft-com:vml" Requires="v">
                <p:oleObj spid="_x0000_s6392" r:id="rId9" imgW="203200" imgH="228600" progId="Equation.DSMT4">
                  <p:embed/>
                </p:oleObj>
              </mc:Choice>
              <mc:Fallback>
                <p:oleObj r:id="rId9" imgW="203200" imgH="228600" progId="Equation.DSMT4">
                  <p:embed/>
                  <p:pic>
                    <p:nvPicPr>
                      <p:cNvPr id="0" name="图片 3076"/>
                      <p:cNvPicPr/>
                      <p:nvPr/>
                    </p:nvPicPr>
                    <p:blipFill>
                      <a:blip r:embed="rId7"/>
                      <a:stretch>
                        <a:fillRect/>
                      </a:stretch>
                    </p:blipFill>
                    <p:spPr>
                      <a:xfrm>
                        <a:off x="3495675" y="2905125"/>
                        <a:ext cx="566738" cy="646113"/>
                      </a:xfrm>
                      <a:prstGeom prst="rect">
                        <a:avLst/>
                      </a:prstGeom>
                      <a:noFill/>
                      <a:ln w="38100">
                        <a:noFill/>
                        <a:miter/>
                      </a:ln>
                    </p:spPr>
                  </p:pic>
                </p:oleObj>
              </mc:Fallback>
            </mc:AlternateContent>
          </a:graphicData>
        </a:graphic>
      </p:graphicFrame>
      <p:pic>
        <p:nvPicPr>
          <p:cNvPr id="13" name="图片 12"/>
          <p:cNvPicPr>
            <a:picLocks noChangeAspect="1"/>
          </p:cNvPicPr>
          <p:nvPr/>
        </p:nvPicPr>
        <p:blipFill rotWithShape="1">
          <a:blip r:embed="rId10"/>
          <a:srcRect l="2012" r="1273"/>
          <a:stretch>
            <a:fillRect/>
          </a:stretch>
        </p:blipFill>
        <p:spPr>
          <a:xfrm>
            <a:off x="1840356" y="3425562"/>
            <a:ext cx="8587488" cy="2466444"/>
          </a:xfrm>
          <a:prstGeom prst="rect">
            <a:avLst/>
          </a:prstGeom>
        </p:spPr>
      </p:pic>
      <p:sp>
        <p:nvSpPr>
          <p:cNvPr id="15" name="文本框 14"/>
          <p:cNvSpPr txBox="1"/>
          <p:nvPr/>
        </p:nvSpPr>
        <p:spPr>
          <a:xfrm>
            <a:off x="1052956" y="5908047"/>
            <a:ext cx="10478644" cy="855234"/>
          </a:xfrm>
          <a:prstGeom prst="rect">
            <a:avLst/>
          </a:prstGeom>
          <a:solidFill>
            <a:srgbClr val="FFFFFF"/>
          </a:solidFill>
        </p:spPr>
        <p:txBody>
          <a:bodyPr wrap="square">
            <a:spAutoFit/>
          </a:bodyPr>
          <a:lstStyle/>
          <a:p>
            <a:pPr marR="0" lvl="0" algn="l" defTabSz="914400" rtl="0" eaLnBrk="1" fontAlgn="base" latinLnBrk="0" hangingPunct="1">
              <a:lnSpc>
                <a:spcPct val="110000"/>
              </a:lnSpc>
              <a:spcBef>
                <a:spcPct val="20000"/>
              </a:spcBef>
              <a:spcAft>
                <a:spcPct val="0"/>
              </a:spcAft>
              <a:buClr>
                <a:schemeClr val="folHlink"/>
              </a:buClr>
              <a:buSzPct val="60000"/>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这样的学习方式被称为</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主动学习</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Active Learning</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）。其目标是希望</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尽可能少</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的查询标签来获得尽量好的模型性能。</a:t>
            </a:r>
            <a:endPar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弊端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R="0" lvl="0" indent="0" algn="l" defTabSz="914400" rtl="0" eaLnBrk="1" fontAlgn="base" latinLnBrk="0" hangingPunct="1">
              <a:lnSpc>
                <a:spcPct val="110000"/>
              </a:lnSpc>
              <a:spcBef>
                <a:spcPct val="20000"/>
              </a:spcBef>
              <a:spcAft>
                <a:spcPct val="0"/>
              </a:spcAft>
              <a:buClr>
                <a:srgbClr val="FF0000"/>
              </a:buClr>
              <a:buSzPct val="60000"/>
              <a:buNone/>
              <a:defRPr/>
            </a:pPr>
            <a:r>
              <a:rPr kumimoji="1" lang="zh-CN"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显然主动学习引入了额外的专家知识，仍然需要与外界</a:t>
            </a:r>
            <a:r>
              <a:rPr kumimoji="1" lang="zh-CN" altLang="zh-CN"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产生交互</a:t>
            </a:r>
            <a:r>
              <a:rPr kumimoji="1" lang="zh-CN"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来将部分未标记样本转变为有标记样本。</a:t>
            </a:r>
            <a:endPar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3789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789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789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789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789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37896" name="图片 12"/>
          <p:cNvPicPr>
            <a:picLocks noChangeAspect="1"/>
          </p:cNvPicPr>
          <p:nvPr/>
        </p:nvPicPr>
        <p:blipFill>
          <a:blip r:embed="rId3"/>
          <a:stretch>
            <a:fillRect/>
          </a:stretch>
        </p:blipFill>
        <p:spPr>
          <a:xfrm>
            <a:off x="2503488" y="3846513"/>
            <a:ext cx="7326312" cy="2222500"/>
          </a:xfrm>
          <a:prstGeom prst="rect">
            <a:avLst/>
          </a:prstGeom>
          <a:noFill/>
          <a:ln w="9525">
            <a:noFill/>
          </a:ln>
        </p:spPr>
      </p:pic>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2270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385597" y="1394751"/>
            <a:ext cx="11695814"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解决思路三</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0" marR="0" lvl="0" indent="0" algn="just" defTabSz="914400" rtl="0" eaLnBrk="1" fontAlgn="base" latinLnBrk="0" hangingPunct="1">
              <a:lnSpc>
                <a:spcPct val="110000"/>
              </a:lnSpc>
              <a:spcBef>
                <a:spcPct val="20000"/>
              </a:spcBef>
              <a:spcAft>
                <a:spcPct val="0"/>
              </a:spcAft>
              <a:buClr>
                <a:schemeClr val="folHlink"/>
              </a:buClr>
              <a:buSzPct val="60000"/>
              <a:buNone/>
              <a:defRPr/>
            </a:pPr>
            <a:r>
              <a:rPr kumimoji="1"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利用未标记样本提供的</a:t>
            </a:r>
            <a:r>
              <a:rPr kumimoji="1" lang="zh-CN" altLang="en-US" sz="26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数据分布</a:t>
            </a:r>
            <a:r>
              <a:rPr kumimoji="1"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的信息。下图给出一个直观的例示</a:t>
            </a:r>
            <a:r>
              <a:rPr kumimoji="1" lang="en-US" altLang="zh-CN"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zh-CN" altLang="en-US" sz="26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若仅基于图中的一个正例和一个反例，则由于待判别样本恰位于两者正中间，大体上只能随机猜测</a:t>
            </a:r>
            <a:r>
              <a:rPr lang="zh-CN" altLang="en-US" sz="2600" b="1" kern="0" dirty="0">
                <a:latin typeface="宋体" panose="02010600030101010101" pitchFamily="2" charset="-122"/>
                <a:ea typeface="宋体" panose="02010600030101010101" pitchFamily="2" charset="-122"/>
              </a:rPr>
              <a:t>。</a:t>
            </a:r>
            <a:r>
              <a:rPr kumimoji="1" lang="zh-CN" altLang="en-US" sz="26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rPr>
              <a:t>若能观察到图中的未标记样本</a:t>
            </a:r>
            <a:r>
              <a:rPr kumimoji="1" lang="zh-CN" altLang="en-US" sz="26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，则将很有把握地判别为正例</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endParaRPr kumimoji="1" lang="en-US" altLang="zh-CN" sz="24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3993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994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994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994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994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39944" name="图片 10"/>
          <p:cNvPicPr>
            <a:picLocks noChangeAspect="1"/>
          </p:cNvPicPr>
          <p:nvPr/>
        </p:nvPicPr>
        <p:blipFill>
          <a:blip r:embed="rId3"/>
          <a:srcRect b="3638"/>
          <a:stretch>
            <a:fillRect/>
          </a:stretch>
        </p:blipFill>
        <p:spPr>
          <a:xfrm>
            <a:off x="980281" y="3609038"/>
            <a:ext cx="3046413" cy="2063750"/>
          </a:xfrm>
          <a:prstGeom prst="rect">
            <a:avLst/>
          </a:prstGeom>
          <a:noFill/>
          <a:ln w="9525">
            <a:noFill/>
          </a:ln>
        </p:spPr>
      </p:pic>
      <p:pic>
        <p:nvPicPr>
          <p:cNvPr id="39945" name="图片 11"/>
          <p:cNvPicPr>
            <a:picLocks noChangeAspect="1"/>
          </p:cNvPicPr>
          <p:nvPr/>
        </p:nvPicPr>
        <p:blipFill>
          <a:blip r:embed="rId4"/>
          <a:stretch>
            <a:fillRect/>
          </a:stretch>
        </p:blipFill>
        <p:spPr>
          <a:xfrm>
            <a:off x="4710298" y="3603482"/>
            <a:ext cx="3046412" cy="2074862"/>
          </a:xfrm>
          <a:prstGeom prst="rect">
            <a:avLst/>
          </a:prstGeom>
          <a:noFill/>
          <a:ln w="9525">
            <a:noFill/>
          </a:ln>
        </p:spPr>
      </p:pic>
      <p:sp>
        <p:nvSpPr>
          <p:cNvPr id="39946" name="文本框 2"/>
          <p:cNvSpPr txBox="1"/>
          <p:nvPr/>
        </p:nvSpPr>
        <p:spPr>
          <a:xfrm>
            <a:off x="4026694" y="6028002"/>
            <a:ext cx="5181600" cy="368300"/>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聚类模型（</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）无未标记样本（</a:t>
            </a:r>
            <a:r>
              <a:rPr lang="en-US" altLang="zh-CN" b="1" dirty="0">
                <a:latin typeface="宋体" panose="02010600030101010101" pitchFamily="2" charset="-122"/>
                <a:ea typeface="宋体" panose="02010600030101010101" pitchFamily="2" charset="-122"/>
              </a:rPr>
              <a:t>b</a:t>
            </a:r>
            <a:r>
              <a:rPr lang="zh-CN" altLang="en-US" b="1" dirty="0">
                <a:latin typeface="宋体" panose="02010600030101010101" pitchFamily="2" charset="-122"/>
                <a:ea typeface="宋体" panose="02010600030101010101" pitchFamily="2" charset="-122"/>
              </a:rPr>
              <a:t>）有未标记样本</a:t>
            </a:r>
          </a:p>
        </p:txBody>
      </p:sp>
      <p:sp>
        <p:nvSpPr>
          <p:cNvPr id="39947" name="文本框 6"/>
          <p:cNvSpPr txBox="1"/>
          <p:nvPr/>
        </p:nvSpPr>
        <p:spPr>
          <a:xfrm>
            <a:off x="2057802" y="5623995"/>
            <a:ext cx="739775" cy="369887"/>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sp>
        <p:nvSpPr>
          <p:cNvPr id="39948" name="文本框 13"/>
          <p:cNvSpPr txBox="1"/>
          <p:nvPr/>
        </p:nvSpPr>
        <p:spPr>
          <a:xfrm>
            <a:off x="5987769" y="5616057"/>
            <a:ext cx="741362" cy="368300"/>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a:t>
            </a:r>
            <a:r>
              <a:rPr lang="en-US" altLang="zh-CN" b="1" dirty="0">
                <a:latin typeface="宋体" panose="02010600030101010101" pitchFamily="2" charset="-122"/>
                <a:ea typeface="宋体" panose="02010600030101010101" pitchFamily="2" charset="-122"/>
              </a:rPr>
              <a:t>b</a:t>
            </a:r>
            <a:r>
              <a:rPr lang="zh-CN" altLang="en-US" b="1" dirty="0">
                <a:latin typeface="宋体" panose="02010600030101010101" pitchFamily="2" charset="-122"/>
                <a:ea typeface="宋体" panose="02010600030101010101" pitchFamily="2" charset="-122"/>
              </a:rPr>
              <a:t>）</a:t>
            </a:r>
            <a:endParaRPr lang="zh-CN" altLang="en-US" dirty="0">
              <a:latin typeface="Times New Roman" panose="02020603050405020304" pitchFamily="18" charset="0"/>
              <a:ea typeface="宋体" panose="02010600030101010101" pitchFamily="2" charset="-122"/>
            </a:endParaRPr>
          </a:p>
        </p:txBody>
      </p:sp>
      <p:pic>
        <p:nvPicPr>
          <p:cNvPr id="2" name="图片 1"/>
          <p:cNvPicPr>
            <a:picLocks noChangeAspect="1"/>
          </p:cNvPicPr>
          <p:nvPr/>
        </p:nvPicPr>
        <p:blipFill>
          <a:blip r:embed="rId5"/>
          <a:stretch>
            <a:fillRect/>
          </a:stretch>
        </p:blipFill>
        <p:spPr>
          <a:xfrm>
            <a:off x="8440314" y="3556275"/>
            <a:ext cx="3126842" cy="2169275"/>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792126" y="2533097"/>
            <a:ext cx="10789481" cy="219130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just"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以上这样的学习方式被称为</a:t>
            </a:r>
            <a:r>
              <a:rPr kumimoji="1" lang="zh-CN" altLang="en-US" sz="30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a:t>
            </a:r>
            <a:r>
              <a:rPr kumimoji="1" lang="zh-CN" altLang="en-US"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30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just"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让学习器不依赖外界交互、自动的利用未标记样本来提升学习性能，就是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Semi-Supervised Learning</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SSL</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）。即训练集中</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同时包含</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有</a:t>
            </a:r>
            <a:r>
              <a:rPr kumimoji="1" lang="zh-CN" altLang="en-US" sz="2800" b="1" i="0" u="sng"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标记样本数据</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和</a:t>
            </a:r>
            <a:r>
              <a:rPr kumimoji="1" lang="zh-CN" altLang="en-US" sz="2800" b="1" i="0" u="sng"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未标记样本数据</a:t>
            </a: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a:t>
            </a:r>
            <a:endParaRPr kumimoji="1"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4198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198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198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199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199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1003300" y="1852613"/>
            <a:ext cx="10931525"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marR="0" lvl="0" indent="0" algn="l" defTabSz="914400" rtl="0" eaLnBrk="1" fontAlgn="base" latinLnBrk="0" hangingPunct="1">
              <a:lnSpc>
                <a:spcPct val="110000"/>
              </a:lnSpc>
              <a:spcBef>
                <a:spcPct val="20000"/>
              </a:spcBef>
              <a:spcAft>
                <a:spcPct val="0"/>
              </a:spcAft>
              <a:buClr>
                <a:schemeClr val="folHlink"/>
              </a:buClr>
              <a:buSzPct val="60000"/>
              <a:buNone/>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前提假设</a:t>
            </a:r>
            <a:endParaRPr kumimoji="1" lang="en-US" altLang="zh-CN"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聚类假设</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Cluster Assumption</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）：假设数据存在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簇结构</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，同一个簇的样本属于同一个类别。处在相同聚类中的示例有较大的可能拥有相同的标记</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indent="342900" eaLnBrk="1" hangingPunct="1">
              <a:lnSpc>
                <a:spcPct val="110000"/>
              </a:lnSpc>
              <a:buClr>
                <a:srgbClr val="FF0000"/>
              </a:buClr>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流形假设</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Manifold Assumption</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）：假设数据分布在一个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流形结构</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上，邻近的样本拥有相似的输出值。具有相似性质的示例；</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indent="342900" eaLnBrk="1" hangingPunct="1">
              <a:lnSpc>
                <a:spcPct val="110000"/>
              </a:lnSpc>
              <a:buClr>
                <a:srgbClr val="FF0000"/>
              </a:buClr>
              <a:defRPr/>
            </a:pPr>
            <a:r>
              <a:rPr kumimoji="1" lang="zh-CN" altLang="en-US" sz="2800" b="1" i="0" u="none" strike="noStrike" kern="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半监督假设</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：如果两个样本相似，那么他们具有相似的输出。</a:t>
            </a: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4403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403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403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403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403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10.1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半监督学习</a:t>
            </a:r>
          </a:p>
        </p:txBody>
      </p:sp>
      <p:sp>
        <p:nvSpPr>
          <p:cNvPr id="6" name="Rectangle 3"/>
          <p:cNvSpPr txBox="1">
            <a:spLocks noChangeArrowheads="1"/>
          </p:cNvSpPr>
          <p:nvPr/>
        </p:nvSpPr>
        <p:spPr bwMode="auto">
          <a:xfrm>
            <a:off x="434975" y="1680369"/>
            <a:ext cx="11183937"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a:t>
            </a:r>
            <a:r>
              <a:rPr lang="zh-CN" altLang="en-US" sz="2800" b="1" kern="0" dirty="0">
                <a:latin typeface="宋体" panose="02010600030101010101" pitchFamily="2" charset="-122"/>
                <a:ea typeface="宋体" panose="02010600030101010101" pitchFamily="2" charset="-122"/>
              </a:rPr>
              <a:t>算法</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分类</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一般地，半监督学习可以进一步划分为</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纯（</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pure</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和</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直推学习</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Transudative Learning</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4813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813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813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813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4813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48136" name="图片 15"/>
          <p:cNvPicPr>
            <a:picLocks noChangeAspect="1"/>
          </p:cNvPicPr>
          <p:nvPr/>
        </p:nvPicPr>
        <p:blipFill>
          <a:blip r:embed="rId3"/>
          <a:stretch>
            <a:fillRect/>
          </a:stretch>
        </p:blipFill>
        <p:spPr>
          <a:xfrm>
            <a:off x="6400800" y="3340101"/>
            <a:ext cx="5486400" cy="1203324"/>
          </a:xfrm>
          <a:prstGeom prst="rect">
            <a:avLst/>
          </a:prstGeom>
          <a:noFill/>
          <a:ln w="9525">
            <a:noFill/>
          </a:ln>
        </p:spPr>
      </p:pic>
      <p:cxnSp>
        <p:nvCxnSpPr>
          <p:cNvPr id="12" name="直接连接符 11"/>
          <p:cNvCxnSpPr/>
          <p:nvPr/>
        </p:nvCxnSpPr>
        <p:spPr bwMode="auto">
          <a:xfrm>
            <a:off x="6240463" y="3429000"/>
            <a:ext cx="0" cy="1419225"/>
          </a:xfrm>
          <a:prstGeom prst="line">
            <a:avLst/>
          </a:prstGeom>
          <a:ln w="9525"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8138" name="文本框 17"/>
          <p:cNvSpPr txBox="1"/>
          <p:nvPr/>
        </p:nvSpPr>
        <p:spPr>
          <a:xfrm>
            <a:off x="3981449" y="4807744"/>
            <a:ext cx="4911725" cy="369887"/>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半监督学习（</a:t>
            </a:r>
            <a:r>
              <a:rPr lang="en-US" altLang="zh-CN" b="1" dirty="0">
                <a:latin typeface="宋体" panose="02010600030101010101" pitchFamily="2" charset="-122"/>
                <a:ea typeface="宋体" panose="02010600030101010101" pitchFamily="2" charset="-122"/>
              </a:rPr>
              <a:t>a</a:t>
            </a:r>
            <a:r>
              <a:rPr lang="zh-CN" altLang="en-US" b="1" dirty="0">
                <a:latin typeface="宋体" panose="02010600030101010101" pitchFamily="2" charset="-122"/>
                <a:ea typeface="宋体" panose="02010600030101010101" pitchFamily="2" charset="-122"/>
              </a:rPr>
              <a:t>）纯半监督学习（</a:t>
            </a:r>
            <a:r>
              <a:rPr lang="en-US" altLang="zh-CN" b="1" dirty="0">
                <a:latin typeface="宋体" panose="02010600030101010101" pitchFamily="2" charset="-122"/>
                <a:ea typeface="宋体" panose="02010600030101010101" pitchFamily="2" charset="-122"/>
              </a:rPr>
              <a:t>b</a:t>
            </a:r>
            <a:r>
              <a:rPr lang="zh-CN" altLang="en-US" b="1" dirty="0">
                <a:latin typeface="宋体" panose="02010600030101010101" pitchFamily="2" charset="-122"/>
                <a:ea typeface="宋体" panose="02010600030101010101" pitchFamily="2" charset="-122"/>
              </a:rPr>
              <a:t>）直推学习</a:t>
            </a:r>
          </a:p>
        </p:txBody>
      </p:sp>
      <p:pic>
        <p:nvPicPr>
          <p:cNvPr id="48139" name="图片 20"/>
          <p:cNvPicPr>
            <a:picLocks noChangeAspect="1"/>
          </p:cNvPicPr>
          <p:nvPr/>
        </p:nvPicPr>
        <p:blipFill>
          <a:blip r:embed="rId4"/>
          <a:stretch>
            <a:fillRect/>
          </a:stretch>
        </p:blipFill>
        <p:spPr>
          <a:xfrm>
            <a:off x="708895" y="3429000"/>
            <a:ext cx="5372818" cy="1114425"/>
          </a:xfrm>
          <a:prstGeom prst="rect">
            <a:avLst/>
          </a:prstGeom>
          <a:noFill/>
          <a:ln w="9525">
            <a:noFill/>
          </a:ln>
        </p:spPr>
      </p:pic>
      <p:sp>
        <p:nvSpPr>
          <p:cNvPr id="16" name="文本框 15"/>
          <p:cNvSpPr txBox="1"/>
          <p:nvPr/>
        </p:nvSpPr>
        <p:spPr>
          <a:xfrm>
            <a:off x="482933" y="5298358"/>
            <a:ext cx="11515060" cy="1535036"/>
          </a:xfrm>
          <a:prstGeom prst="rect">
            <a:avLst/>
          </a:prstGeom>
          <a:solidFill>
            <a:schemeClr val="accent3">
              <a:lumMod val="95000"/>
            </a:schemeClr>
          </a:solidFill>
        </p:spPr>
        <p:txBody>
          <a:bodyPr wrap="square">
            <a:spAutoFit/>
          </a:bodyPr>
          <a:lstStyle/>
          <a:p>
            <a:pPr>
              <a:lnSpc>
                <a:spcPct val="120000"/>
              </a:lnSpc>
            </a:pPr>
            <a:r>
              <a:rPr lang="zh-CN" altLang="en-US" sz="2000" b="1" dirty="0">
                <a:latin typeface="宋体" panose="02010600030101010101" pitchFamily="2" charset="-122"/>
                <a:ea typeface="宋体" panose="02010600030101010101" pitchFamily="2" charset="-122"/>
              </a:rPr>
              <a:t>纯半监督学习</a:t>
            </a:r>
            <a:r>
              <a:rPr lang="zh-CN" altLang="en-US" sz="2000" dirty="0">
                <a:latin typeface="宋体" panose="02010600030101010101" pitchFamily="2" charset="-122"/>
                <a:ea typeface="宋体" panose="02010600030101010101" pitchFamily="2" charset="-122"/>
              </a:rPr>
              <a:t>是指假设训练样本中的</a:t>
            </a:r>
            <a:r>
              <a:rPr lang="zh-CN" altLang="en-US" sz="2000" b="1" dirty="0">
                <a:latin typeface="微软雅黑" panose="020B0503020204020204" pitchFamily="34" charset="-122"/>
                <a:ea typeface="微软雅黑" panose="020B0503020204020204" pitchFamily="34" charset="-122"/>
              </a:rPr>
              <a:t>未标记样本并非待预测的数据</a:t>
            </a:r>
            <a:r>
              <a:rPr lang="zh-CN" altLang="en-US" sz="2000" dirty="0">
                <a:latin typeface="宋体" panose="02010600030101010101" pitchFamily="2" charset="-122"/>
                <a:ea typeface="宋体" panose="02010600030101010101" pitchFamily="2" charset="-122"/>
              </a:rPr>
              <a:t>，希望学得模型能适用于训练过程中未观察到的数据。</a:t>
            </a:r>
            <a:endParaRPr lang="en-US" altLang="zh-CN" sz="2000" dirty="0">
              <a:latin typeface="宋体" panose="02010600030101010101" pitchFamily="2" charset="-122"/>
              <a:ea typeface="宋体" panose="02010600030101010101" pitchFamily="2" charset="-122"/>
            </a:endParaRPr>
          </a:p>
          <a:p>
            <a:pPr>
              <a:lnSpc>
                <a:spcPct val="120000"/>
              </a:lnSpc>
            </a:pPr>
            <a:r>
              <a:rPr lang="zh-CN" altLang="en-US" sz="2000" b="1" dirty="0">
                <a:latin typeface="宋体" panose="02010600030101010101" pitchFamily="2" charset="-122"/>
                <a:ea typeface="宋体" panose="02010600030101010101" pitchFamily="2" charset="-122"/>
              </a:rPr>
              <a:t>直推学习</a:t>
            </a:r>
            <a:r>
              <a:rPr lang="zh-CN" altLang="en-US" sz="2000" dirty="0">
                <a:latin typeface="宋体" panose="02010600030101010101" pitchFamily="2" charset="-122"/>
                <a:ea typeface="宋体" panose="02010600030101010101" pitchFamily="2" charset="-122"/>
              </a:rPr>
              <a:t>假定学习过程中所考虑的</a:t>
            </a:r>
            <a:r>
              <a:rPr lang="zh-CN" altLang="en-US" sz="2000" b="1" dirty="0">
                <a:latin typeface="微软雅黑" panose="020B0503020204020204" pitchFamily="34" charset="-122"/>
                <a:ea typeface="微软雅黑" panose="020B0503020204020204" pitchFamily="34" charset="-122"/>
              </a:rPr>
              <a:t>未标记样本</a:t>
            </a:r>
            <a:r>
              <a:rPr lang="zh-CN" altLang="en-US" sz="2000" dirty="0">
                <a:latin typeface="宋体" panose="02010600030101010101" pitchFamily="2" charset="-122"/>
                <a:ea typeface="宋体" panose="02010600030101010101" pitchFamily="2" charset="-122"/>
              </a:rPr>
              <a:t>恰巧是</a:t>
            </a:r>
            <a:r>
              <a:rPr lang="zh-CN" altLang="en-US" sz="2000" b="1" dirty="0">
                <a:latin typeface="微软雅黑" panose="020B0503020204020204" pitchFamily="34" charset="-122"/>
                <a:ea typeface="微软雅黑" panose="020B0503020204020204" pitchFamily="34" charset="-122"/>
              </a:rPr>
              <a:t>待预测数据</a:t>
            </a:r>
            <a:r>
              <a:rPr lang="zh-CN" altLang="en-US" sz="2000" dirty="0">
                <a:latin typeface="宋体" panose="02010600030101010101" pitchFamily="2" charset="-122"/>
                <a:ea typeface="宋体" panose="02010600030101010101" pitchFamily="2" charset="-122"/>
              </a:rPr>
              <a:t>，学习的目的就是在这些未标记样本上获得最优泛化性能，仅试图对学习过程中</a:t>
            </a:r>
            <a:r>
              <a:rPr lang="zh-CN" altLang="en-US" sz="2000" b="1" dirty="0">
                <a:latin typeface="微软雅黑" panose="020B0503020204020204" pitchFamily="34" charset="-122"/>
                <a:ea typeface="微软雅黑" panose="020B0503020204020204" pitchFamily="34" charset="-122"/>
              </a:rPr>
              <a:t>观察到的未标记数据</a:t>
            </a:r>
            <a:r>
              <a:rPr lang="zh-CN" altLang="en-US" sz="2000" dirty="0">
                <a:latin typeface="宋体" panose="02010600030101010101" pitchFamily="2" charset="-122"/>
                <a:ea typeface="宋体" panose="02010600030101010101" pitchFamily="2" charset="-122"/>
              </a:rPr>
              <a:t>进行预测。</a:t>
            </a:r>
            <a:endParaRPr lang="zh-CN" altLang="en-US" sz="2000" dirty="0"/>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p:cNvSpPr>
          <p:nvPr>
            <p:ph type="title"/>
          </p:nvPr>
        </p:nvSpPr>
        <p:spPr>
          <a:xfrm>
            <a:off x="1103313" y="404813"/>
            <a:ext cx="10390187" cy="1143000"/>
          </a:xfrm>
        </p:spPr>
        <p:txBody>
          <a:bodyPr vert="horz" wrap="square" lIns="91440" tIns="45720" rIns="91440" bIns="45720" anchor="b" anchorCtr="0"/>
          <a:lstStyle/>
          <a:p>
            <a:r>
              <a:rPr lang="zh-CN" altLang="zh-CN" dirty="0"/>
              <a:t>目录</a:t>
            </a:r>
            <a:endParaRPr lang="en-US" altLang="zh-CN" dirty="0"/>
          </a:p>
        </p:txBody>
      </p:sp>
      <p:sp>
        <p:nvSpPr>
          <p:cNvPr id="50178" name="Rectangle 3"/>
          <p:cNvSpPr>
            <a:spLocks noGrp="1"/>
          </p:cNvSpPr>
          <p:nvPr>
            <p:ph idx="1"/>
          </p:nvPr>
        </p:nvSpPr>
        <p:spPr>
          <a:xfrm>
            <a:off x="1103313" y="1700213"/>
            <a:ext cx="10363200" cy="4608512"/>
          </a:xfrm>
        </p:spPr>
        <p:txBody>
          <a:bodyPr vert="horz" wrap="square" lIns="91440" tIns="45720" rIns="91440" bIns="45720" anchor="t" anchorCtr="0"/>
          <a:lstStyle/>
          <a:p>
            <a:pPr algn="just"/>
            <a:endParaRPr lang="en-US" altLang="zh-CN" b="1" dirty="0"/>
          </a:p>
          <a:p>
            <a:pPr algn="just"/>
            <a:r>
              <a:rPr lang="en-US" altLang="zh-CN" b="1" dirty="0"/>
              <a:t>10.1 </a:t>
            </a:r>
            <a:r>
              <a:rPr lang="zh-CN" altLang="zh-CN" b="1" dirty="0">
                <a:ea typeface="宋体" panose="02010600030101010101" pitchFamily="2" charset="-122"/>
              </a:rPr>
              <a:t>半监督学习</a:t>
            </a:r>
            <a:endParaRPr lang="en-US" altLang="zh-CN" b="1" dirty="0">
              <a:ea typeface="宋体" panose="02010600030101010101" pitchFamily="2" charset="-122"/>
            </a:endParaRPr>
          </a:p>
          <a:p>
            <a:pPr algn="just"/>
            <a:r>
              <a:rPr lang="en-US" altLang="zh-CN" b="1" dirty="0">
                <a:ea typeface="宋体" panose="02010600030101010101" pitchFamily="2" charset="-122"/>
              </a:rPr>
              <a:t>10.2 </a:t>
            </a:r>
            <a:r>
              <a:rPr lang="zh-CN" altLang="en-US" b="1" dirty="0">
                <a:solidFill>
                  <a:srgbClr val="FF0000"/>
                </a:solidFill>
                <a:ea typeface="宋体" panose="02010600030101010101" pitchFamily="2" charset="-122"/>
              </a:rPr>
              <a:t>半监督分类</a:t>
            </a:r>
            <a:endParaRPr lang="zh-CN" altLang="en-US" b="1" dirty="0">
              <a:solidFill>
                <a:srgbClr val="FF0000"/>
              </a:solidFill>
            </a:endParaRPr>
          </a:p>
          <a:p>
            <a:pPr algn="just"/>
            <a:r>
              <a:rPr lang="en-US" altLang="zh-CN" b="1" dirty="0">
                <a:ea typeface="宋体" panose="02010600030101010101" pitchFamily="2" charset="-122"/>
              </a:rPr>
              <a:t>10.3 </a:t>
            </a:r>
            <a:r>
              <a:rPr lang="zh-CN" altLang="en-US" b="1" dirty="0">
                <a:ea typeface="宋体" panose="02010600030101010101" pitchFamily="2" charset="-122"/>
              </a:rPr>
              <a:t>半监督聚类</a:t>
            </a:r>
            <a:endParaRPr lang="en-US" altLang="zh-CN" b="1" dirty="0">
              <a:ea typeface="宋体" panose="02010600030101010101" pitchFamily="2" charset="-122"/>
            </a:endParaRPr>
          </a:p>
          <a:p>
            <a:pPr algn="just"/>
            <a:r>
              <a:rPr lang="en-US" altLang="zh-CN" b="1" dirty="0">
                <a:ea typeface="宋体" panose="02010600030101010101" pitchFamily="2" charset="-122"/>
              </a:rPr>
              <a:t>10.4 </a:t>
            </a:r>
            <a:r>
              <a:rPr lang="zh-CN" altLang="zh-CN" b="1" dirty="0">
                <a:ea typeface="宋体" panose="02010600030101010101" pitchFamily="2" charset="-122"/>
              </a:rPr>
              <a:t>应用实例</a:t>
            </a:r>
            <a:endParaRPr lang="en-US" altLang="zh-CN" b="1" dirty="0">
              <a:ea typeface="宋体" panose="02010600030101010101" pitchFamily="2" charset="-122"/>
            </a:endParaRPr>
          </a:p>
          <a:p>
            <a:pPr algn="just"/>
            <a:r>
              <a:rPr lang="en-US" altLang="zh-CN" b="1" dirty="0"/>
              <a:t>10.5 </a:t>
            </a:r>
            <a:r>
              <a:rPr lang="zh-CN" altLang="en-US" b="1" dirty="0">
                <a:latin typeface="宋体" panose="02010600030101010101" pitchFamily="2" charset="-122"/>
                <a:ea typeface="宋体" panose="02010600030101010101" pitchFamily="2" charset="-122"/>
              </a:rPr>
              <a:t>延伸阅读</a:t>
            </a:r>
          </a:p>
          <a:p>
            <a:endParaRPr lang="en-US" altLang="zh-CN" b="1" dirty="0"/>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914400" y="2322692"/>
            <a:ext cx="10363200" cy="3286057"/>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半监督学习的提出</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R="0" lvl="0" indent="0" algn="l" defTabSz="914400" rtl="0" eaLnBrk="1" fontAlgn="base" latinLnBrk="0" hangingPunct="1">
              <a:lnSpc>
                <a:spcPct val="110000"/>
              </a:lnSpc>
              <a:spcBef>
                <a:spcPct val="20000"/>
              </a:spcBef>
              <a:spcAft>
                <a:spcPct val="0"/>
              </a:spcAft>
              <a:buClr>
                <a:srgbClr val="FF0000"/>
              </a:buClr>
              <a:buSzPct val="60000"/>
              <a:buNone/>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半监督学习提出于大约</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20</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世纪</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60</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年代中期，随着对未标记数据的利用需求，提出了许多</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半监督思想</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3333CC"/>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生成式模型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是最早的半监督学习方法，紧接着出现了转导</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Transductive</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）、基于图的半监督算法等一系列经典算法。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5120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120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120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120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120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华文新魏" panose="02010800040101010101" pitchFamily="2" charset="-122"/>
              </a:rPr>
              <a:t>10.2.1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生成式模型</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给定样本  ，类别标记为</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假设样本是由</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高斯混合模型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生成的。且每一个类别都对应一个高斯混合成分，数据是由如下概率密度生成：</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5325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325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325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325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325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3256"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57" name="对象 6"/>
          <p:cNvGraphicFramePr>
            <a:graphicFrameLocks noChangeAspect="1"/>
          </p:cNvGraphicFramePr>
          <p:nvPr/>
        </p:nvGraphicFramePr>
        <p:xfrm>
          <a:off x="3482975" y="2511425"/>
          <a:ext cx="363538" cy="363538"/>
        </p:xfrm>
        <a:graphic>
          <a:graphicData uri="http://schemas.openxmlformats.org/presentationml/2006/ole">
            <mc:AlternateContent xmlns:mc="http://schemas.openxmlformats.org/markup-compatibility/2006">
              <mc:Choice xmlns:v="urn:schemas-microsoft-com:vml" Requires="v">
                <p:oleObj spid="_x0000_s7651" r:id="rId4" imgW="139700" imgH="139700" progId="Equation.DSMT4">
                  <p:embed/>
                </p:oleObj>
              </mc:Choice>
              <mc:Fallback>
                <p:oleObj r:id="rId4" imgW="139700" imgH="139700" progId="Equation.DSMT4">
                  <p:embed/>
                  <p:pic>
                    <p:nvPicPr>
                      <p:cNvPr id="0" name="图片 3079"/>
                      <p:cNvPicPr/>
                      <p:nvPr/>
                    </p:nvPicPr>
                    <p:blipFill>
                      <a:blip r:embed="rId5"/>
                      <a:stretch>
                        <a:fillRect/>
                      </a:stretch>
                    </p:blipFill>
                    <p:spPr>
                      <a:xfrm>
                        <a:off x="3482975" y="2511425"/>
                        <a:ext cx="363538" cy="363538"/>
                      </a:xfrm>
                      <a:prstGeom prst="rect">
                        <a:avLst/>
                      </a:prstGeom>
                      <a:noFill/>
                      <a:ln w="38100">
                        <a:noFill/>
                        <a:miter/>
                      </a:ln>
                    </p:spPr>
                  </p:pic>
                </p:oleObj>
              </mc:Fallback>
            </mc:AlternateContent>
          </a:graphicData>
        </a:graphic>
      </p:graphicFrame>
      <p:sp>
        <p:nvSpPr>
          <p:cNvPr id="53258" name="Rectangle 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59" name="对象 13"/>
          <p:cNvGraphicFramePr>
            <a:graphicFrameLocks noChangeAspect="1"/>
          </p:cNvGraphicFramePr>
          <p:nvPr/>
        </p:nvGraphicFramePr>
        <p:xfrm>
          <a:off x="6034088" y="2346325"/>
          <a:ext cx="2578100" cy="619125"/>
        </p:xfrm>
        <a:graphic>
          <a:graphicData uri="http://schemas.openxmlformats.org/presentationml/2006/ole">
            <mc:AlternateContent xmlns:mc="http://schemas.openxmlformats.org/markup-compatibility/2006">
              <mc:Choice xmlns:v="urn:schemas-microsoft-com:vml" Requires="v">
                <p:oleObj spid="_x0000_s7652" r:id="rId6" imgW="1143000" imgH="254000" progId="Equation.DSMT4">
                  <p:embed/>
                </p:oleObj>
              </mc:Choice>
              <mc:Fallback>
                <p:oleObj r:id="rId6" imgW="1143000" imgH="254000" progId="Equation.DSMT4">
                  <p:embed/>
                  <p:pic>
                    <p:nvPicPr>
                      <p:cNvPr id="0" name="图片 3080"/>
                      <p:cNvPicPr/>
                      <p:nvPr/>
                    </p:nvPicPr>
                    <p:blipFill>
                      <a:blip r:embed="rId7"/>
                      <a:stretch>
                        <a:fillRect/>
                      </a:stretch>
                    </p:blipFill>
                    <p:spPr>
                      <a:xfrm>
                        <a:off x="6034088" y="2346325"/>
                        <a:ext cx="2578100" cy="619125"/>
                      </a:xfrm>
                      <a:prstGeom prst="rect">
                        <a:avLst/>
                      </a:prstGeom>
                      <a:noFill/>
                      <a:ln w="38100">
                        <a:noFill/>
                        <a:miter/>
                      </a:ln>
                    </p:spPr>
                  </p:pic>
                </p:oleObj>
              </mc:Fallback>
            </mc:AlternateContent>
          </a:graphicData>
        </a:graphic>
      </p:graphicFrame>
      <p:sp>
        <p:nvSpPr>
          <p:cNvPr id="53260" name="Rectangle 1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61" name="对象 15"/>
          <p:cNvGraphicFramePr>
            <a:graphicFrameLocks noChangeAspect="1"/>
          </p:cNvGraphicFramePr>
          <p:nvPr/>
        </p:nvGraphicFramePr>
        <p:xfrm>
          <a:off x="4384675" y="4064000"/>
          <a:ext cx="3422650" cy="885825"/>
        </p:xfrm>
        <a:graphic>
          <a:graphicData uri="http://schemas.openxmlformats.org/presentationml/2006/ole">
            <mc:AlternateContent xmlns:mc="http://schemas.openxmlformats.org/markup-compatibility/2006">
              <mc:Choice xmlns:v="urn:schemas-microsoft-com:vml" Requires="v">
                <p:oleObj spid="_x0000_s7653" r:id="rId8" imgW="1651000" imgH="431800" progId="Equation.DSMT4">
                  <p:embed/>
                </p:oleObj>
              </mc:Choice>
              <mc:Fallback>
                <p:oleObj r:id="rId8" imgW="1651000" imgH="431800" progId="Equation.DSMT4">
                  <p:embed/>
                  <p:pic>
                    <p:nvPicPr>
                      <p:cNvPr id="0" name="图片 3081"/>
                      <p:cNvPicPr/>
                      <p:nvPr/>
                    </p:nvPicPr>
                    <p:blipFill>
                      <a:blip r:embed="rId9"/>
                      <a:stretch>
                        <a:fillRect/>
                      </a:stretch>
                    </p:blipFill>
                    <p:spPr>
                      <a:xfrm>
                        <a:off x="4384675" y="4064000"/>
                        <a:ext cx="3422650" cy="885825"/>
                      </a:xfrm>
                      <a:prstGeom prst="rect">
                        <a:avLst/>
                      </a:prstGeom>
                      <a:noFill/>
                      <a:ln w="38100">
                        <a:noFill/>
                        <a:miter/>
                      </a:ln>
                    </p:spPr>
                  </p:pic>
                </p:oleObj>
              </mc:Fallback>
            </mc:AlternateContent>
          </a:graphicData>
        </a:graphic>
      </p:graphicFrame>
      <p:sp>
        <p:nvSpPr>
          <p:cNvPr id="53262" name="文本框 17"/>
          <p:cNvSpPr txBox="1"/>
          <p:nvPr/>
        </p:nvSpPr>
        <p:spPr>
          <a:xfrm>
            <a:off x="2014538" y="4949825"/>
            <a:ext cx="8035925" cy="646331"/>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              为</a:t>
            </a:r>
            <a:r>
              <a:rPr lang="zh-CN" altLang="en-US" b="1" dirty="0">
                <a:solidFill>
                  <a:srgbClr val="FF0000"/>
                </a:solidFill>
                <a:latin typeface="宋体" panose="02010600030101010101" pitchFamily="2" charset="-122"/>
                <a:ea typeface="宋体" panose="02010600030101010101" pitchFamily="2" charset="-122"/>
              </a:rPr>
              <a:t>混合系数</a:t>
            </a:r>
            <a:r>
              <a:rPr lang="zh-CN" altLang="en-US" b="1" dirty="0">
                <a:latin typeface="宋体" panose="02010600030101010101" pitchFamily="2" charset="-122"/>
                <a:ea typeface="宋体" panose="02010600030101010101" pitchFamily="2" charset="-122"/>
              </a:rPr>
              <a:t>；         是样本属于第  个高斯混合成分的</a:t>
            </a:r>
            <a:r>
              <a:rPr lang="zh-CN" altLang="en-US" b="1" dirty="0">
                <a:solidFill>
                  <a:srgbClr val="FF0000"/>
                </a:solidFill>
                <a:latin typeface="宋体" panose="02010600030101010101" pitchFamily="2" charset="-122"/>
                <a:ea typeface="宋体" panose="02010600030101010101" pitchFamily="2" charset="-122"/>
              </a:rPr>
              <a:t>概率</a:t>
            </a:r>
            <a:r>
              <a:rPr lang="zh-CN" altLang="en-US" b="1" dirty="0">
                <a:latin typeface="宋体" panose="02010600030101010101" pitchFamily="2" charset="-122"/>
                <a:ea typeface="宋体" panose="02010600030101010101" pitchFamily="2" charset="-122"/>
              </a:rPr>
              <a:t>； 和  为高斯混合成分的</a:t>
            </a:r>
            <a:r>
              <a:rPr lang="zh-CN" altLang="en-US" b="1" dirty="0">
                <a:solidFill>
                  <a:srgbClr val="FF0000"/>
                </a:solidFill>
                <a:latin typeface="宋体" panose="02010600030101010101" pitchFamily="2" charset="-122"/>
                <a:ea typeface="宋体" panose="02010600030101010101" pitchFamily="2" charset="-122"/>
              </a:rPr>
              <a:t>参数</a:t>
            </a:r>
          </a:p>
        </p:txBody>
      </p:sp>
      <p:sp>
        <p:nvSpPr>
          <p:cNvPr id="53263" name="Rectangle 1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64" name="对象 19"/>
          <p:cNvGraphicFramePr>
            <a:graphicFrameLocks noChangeAspect="1"/>
          </p:cNvGraphicFramePr>
          <p:nvPr/>
        </p:nvGraphicFramePr>
        <p:xfrm>
          <a:off x="2166938" y="4949825"/>
          <a:ext cx="1536700" cy="409575"/>
        </p:xfrm>
        <a:graphic>
          <a:graphicData uri="http://schemas.openxmlformats.org/presentationml/2006/ole">
            <mc:AlternateContent xmlns:mc="http://schemas.openxmlformats.org/markup-compatibility/2006">
              <mc:Choice xmlns:v="urn:schemas-microsoft-com:vml" Requires="v">
                <p:oleObj spid="_x0000_s7654" r:id="rId10" imgW="1104900" imgH="292100" progId="Equation.DSMT4">
                  <p:embed/>
                </p:oleObj>
              </mc:Choice>
              <mc:Fallback>
                <p:oleObj r:id="rId10" imgW="1104900" imgH="292100" progId="Equation.DSMT4">
                  <p:embed/>
                  <p:pic>
                    <p:nvPicPr>
                      <p:cNvPr id="0" name="图片 3084"/>
                      <p:cNvPicPr/>
                      <p:nvPr/>
                    </p:nvPicPr>
                    <p:blipFill>
                      <a:blip r:embed="rId11"/>
                      <a:stretch>
                        <a:fillRect/>
                      </a:stretch>
                    </p:blipFill>
                    <p:spPr>
                      <a:xfrm>
                        <a:off x="2166938" y="4949825"/>
                        <a:ext cx="1536700" cy="409575"/>
                      </a:xfrm>
                      <a:prstGeom prst="rect">
                        <a:avLst/>
                      </a:prstGeom>
                      <a:noFill/>
                      <a:ln w="38100">
                        <a:noFill/>
                        <a:miter/>
                      </a:ln>
                    </p:spPr>
                  </p:pic>
                </p:oleObj>
              </mc:Fallback>
            </mc:AlternateContent>
          </a:graphicData>
        </a:graphic>
      </p:graphicFrame>
      <p:sp>
        <p:nvSpPr>
          <p:cNvPr id="53265" name="Rectangle 1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66" name="对象 21"/>
          <p:cNvGraphicFramePr>
            <a:graphicFrameLocks noChangeAspect="1"/>
          </p:cNvGraphicFramePr>
          <p:nvPr/>
        </p:nvGraphicFramePr>
        <p:xfrm>
          <a:off x="5049838" y="4978400"/>
          <a:ext cx="1068387" cy="347663"/>
        </p:xfrm>
        <a:graphic>
          <a:graphicData uri="http://schemas.openxmlformats.org/presentationml/2006/ole">
            <mc:AlternateContent xmlns:mc="http://schemas.openxmlformats.org/markup-compatibility/2006">
              <mc:Choice xmlns:v="urn:schemas-microsoft-com:vml" Requires="v">
                <p:oleObj spid="_x0000_s7655" r:id="rId12" imgW="786765" imgH="254000" progId="Equation.DSMT4">
                  <p:embed/>
                </p:oleObj>
              </mc:Choice>
              <mc:Fallback>
                <p:oleObj r:id="rId12" imgW="786765" imgH="254000" progId="Equation.DSMT4">
                  <p:embed/>
                  <p:pic>
                    <p:nvPicPr>
                      <p:cNvPr id="0" name="图片 3085"/>
                      <p:cNvPicPr/>
                      <p:nvPr/>
                    </p:nvPicPr>
                    <p:blipFill>
                      <a:blip r:embed="rId13"/>
                      <a:stretch>
                        <a:fillRect/>
                      </a:stretch>
                    </p:blipFill>
                    <p:spPr>
                      <a:xfrm>
                        <a:off x="5049838" y="4978400"/>
                        <a:ext cx="1068387" cy="347663"/>
                      </a:xfrm>
                      <a:prstGeom prst="rect">
                        <a:avLst/>
                      </a:prstGeom>
                      <a:noFill/>
                      <a:ln w="38100">
                        <a:noFill/>
                        <a:miter/>
                      </a:ln>
                    </p:spPr>
                  </p:pic>
                </p:oleObj>
              </mc:Fallback>
            </mc:AlternateContent>
          </a:graphicData>
        </a:graphic>
      </p:graphicFrame>
      <p:sp>
        <p:nvSpPr>
          <p:cNvPr id="53267" name="Rectangle 2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68" name="对象 23"/>
          <p:cNvGraphicFramePr>
            <a:graphicFrameLocks noChangeAspect="1"/>
          </p:cNvGraphicFramePr>
          <p:nvPr/>
        </p:nvGraphicFramePr>
        <p:xfrm>
          <a:off x="7577138" y="4992688"/>
          <a:ext cx="223837" cy="311150"/>
        </p:xfrm>
        <a:graphic>
          <a:graphicData uri="http://schemas.openxmlformats.org/presentationml/2006/ole">
            <mc:AlternateContent xmlns:mc="http://schemas.openxmlformats.org/markup-compatibility/2006">
              <mc:Choice xmlns:v="urn:schemas-microsoft-com:vml" Requires="v">
                <p:oleObj spid="_x0000_s7656" r:id="rId14" imgW="88900" imgH="164465" progId="Equation.DSMT4">
                  <p:embed/>
                </p:oleObj>
              </mc:Choice>
              <mc:Fallback>
                <p:oleObj r:id="rId14" imgW="88900" imgH="164465" progId="Equation.DSMT4">
                  <p:embed/>
                  <p:pic>
                    <p:nvPicPr>
                      <p:cNvPr id="0" name="图片 3086"/>
                      <p:cNvPicPr/>
                      <p:nvPr/>
                    </p:nvPicPr>
                    <p:blipFill>
                      <a:blip r:embed="rId15"/>
                      <a:stretch>
                        <a:fillRect/>
                      </a:stretch>
                    </p:blipFill>
                    <p:spPr>
                      <a:xfrm>
                        <a:off x="7577138" y="4992688"/>
                        <a:ext cx="223837" cy="311150"/>
                      </a:xfrm>
                      <a:prstGeom prst="rect">
                        <a:avLst/>
                      </a:prstGeom>
                      <a:noFill/>
                      <a:ln w="38100">
                        <a:noFill/>
                        <a:miter/>
                      </a:ln>
                    </p:spPr>
                  </p:pic>
                </p:oleObj>
              </mc:Fallback>
            </mc:AlternateContent>
          </a:graphicData>
        </a:graphic>
      </p:graphicFrame>
      <p:sp>
        <p:nvSpPr>
          <p:cNvPr id="53269" name="Rectangle 23"/>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70" name="对象 25"/>
          <p:cNvGraphicFramePr>
            <a:graphicFrameLocks noChangeAspect="1"/>
          </p:cNvGraphicFramePr>
          <p:nvPr/>
        </p:nvGraphicFramePr>
        <p:xfrm>
          <a:off x="2449513" y="5251450"/>
          <a:ext cx="223837" cy="315913"/>
        </p:xfrm>
        <a:graphic>
          <a:graphicData uri="http://schemas.openxmlformats.org/presentationml/2006/ole">
            <mc:AlternateContent xmlns:mc="http://schemas.openxmlformats.org/markup-compatibility/2006">
              <mc:Choice xmlns:v="urn:schemas-microsoft-com:vml" Requires="v">
                <p:oleObj spid="_x0000_s7657" r:id="rId16" imgW="165100" imgH="228600" progId="Equation.DSMT4">
                  <p:embed/>
                </p:oleObj>
              </mc:Choice>
              <mc:Fallback>
                <p:oleObj r:id="rId16" imgW="165100" imgH="228600" progId="Equation.DSMT4">
                  <p:embed/>
                  <p:pic>
                    <p:nvPicPr>
                      <p:cNvPr id="0" name="图片 3082"/>
                      <p:cNvPicPr/>
                      <p:nvPr/>
                    </p:nvPicPr>
                    <p:blipFill>
                      <a:blip r:embed="rId17"/>
                      <a:stretch>
                        <a:fillRect/>
                      </a:stretch>
                    </p:blipFill>
                    <p:spPr>
                      <a:xfrm>
                        <a:off x="2449513" y="5251450"/>
                        <a:ext cx="223837" cy="315913"/>
                      </a:xfrm>
                      <a:prstGeom prst="rect">
                        <a:avLst/>
                      </a:prstGeom>
                      <a:noFill/>
                      <a:ln w="38100">
                        <a:noFill/>
                        <a:miter/>
                      </a:ln>
                    </p:spPr>
                  </p:pic>
                </p:oleObj>
              </mc:Fallback>
            </mc:AlternateContent>
          </a:graphicData>
        </a:graphic>
      </p:graphicFrame>
      <p:sp>
        <p:nvSpPr>
          <p:cNvPr id="53271" name="Rectangle 2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3272" name="对象 27"/>
          <p:cNvGraphicFramePr>
            <a:graphicFrameLocks noChangeAspect="1"/>
          </p:cNvGraphicFramePr>
          <p:nvPr/>
        </p:nvGraphicFramePr>
        <p:xfrm>
          <a:off x="2925763" y="5284788"/>
          <a:ext cx="223837" cy="314325"/>
        </p:xfrm>
        <a:graphic>
          <a:graphicData uri="http://schemas.openxmlformats.org/presentationml/2006/ole">
            <mc:AlternateContent xmlns:mc="http://schemas.openxmlformats.org/markup-compatibility/2006">
              <mc:Choice xmlns:v="urn:schemas-microsoft-com:vml" Requires="v">
                <p:oleObj spid="_x0000_s7658" r:id="rId18" imgW="165100" imgH="228600" progId="Equation.DSMT4">
                  <p:embed/>
                </p:oleObj>
              </mc:Choice>
              <mc:Fallback>
                <p:oleObj r:id="rId18" imgW="165100" imgH="228600" progId="Equation.DSMT4">
                  <p:embed/>
                  <p:pic>
                    <p:nvPicPr>
                      <p:cNvPr id="0" name="图片 3083"/>
                      <p:cNvPicPr/>
                      <p:nvPr/>
                    </p:nvPicPr>
                    <p:blipFill>
                      <a:blip r:embed="rId19"/>
                      <a:stretch>
                        <a:fillRect/>
                      </a:stretch>
                    </p:blipFill>
                    <p:spPr>
                      <a:xfrm>
                        <a:off x="2925763" y="5284788"/>
                        <a:ext cx="223837" cy="314325"/>
                      </a:xfrm>
                      <a:prstGeom prst="rect">
                        <a:avLst/>
                      </a:prstGeom>
                      <a:noFill/>
                      <a:ln w="38100">
                        <a:noFill/>
                        <a:miter/>
                      </a:ln>
                    </p:spPr>
                  </p:pic>
                </p:oleObj>
              </mc:Fallback>
            </mc:AlternateContent>
          </a:graphicData>
        </a:graphic>
      </p:graphicFrame>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bwMode="auto">
          <a:xfrm>
            <a:off x="2714324" y="5654613"/>
            <a:ext cx="9403882" cy="1203387"/>
          </a:xfrm>
          <a:prstGeom prst="rect">
            <a:avLst/>
          </a:prstGeom>
          <a:solidFill>
            <a:schemeClr val="bg1"/>
          </a:solidFill>
          <a:ln w="9525" cap="flat" cmpd="sng" algn="ctr">
            <a:noFill/>
            <a:prstDash val="solid"/>
            <a:miter lim="800000"/>
            <a:headEnd type="none" w="med" len="med"/>
            <a:tailEnd type="none" w="med" len="med"/>
          </a:ln>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Times New Roman" panose="02020603050405020304" pitchFamily="18" charset="0"/>
              <a:ea typeface="楷体_GB2312" panose="02010609030101010101" charset="-122"/>
            </a:endParaRPr>
          </a:p>
        </p:txBody>
      </p:sp>
      <p:sp>
        <p:nvSpPr>
          <p:cNvPr id="5" name="Rectangle 2"/>
          <p:cNvSpPr txBox="1">
            <a:spLocks noChangeArrowheads="1"/>
          </p:cNvSpPr>
          <p:nvPr/>
        </p:nvSpPr>
        <p:spPr bwMode="auto">
          <a:xfrm>
            <a:off x="2503488" y="181831"/>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5529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530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530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530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530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55304"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5305" name="对象 6"/>
          <p:cNvGraphicFramePr>
            <a:graphicFrameLocks noChangeAspect="1"/>
          </p:cNvGraphicFramePr>
          <p:nvPr/>
        </p:nvGraphicFramePr>
        <p:xfrm>
          <a:off x="2384425" y="2115406"/>
          <a:ext cx="1074738" cy="427037"/>
        </p:xfrm>
        <a:graphic>
          <a:graphicData uri="http://schemas.openxmlformats.org/presentationml/2006/ole">
            <mc:AlternateContent xmlns:mc="http://schemas.openxmlformats.org/markup-compatibility/2006">
              <mc:Choice xmlns:v="urn:schemas-microsoft-com:vml" Requires="v">
                <p:oleObj spid="_x0000_s8751" r:id="rId4" imgW="647700" imgH="254000" progId="Equation.DSMT4">
                  <p:embed/>
                </p:oleObj>
              </mc:Choice>
              <mc:Fallback>
                <p:oleObj r:id="rId4" imgW="647700" imgH="254000" progId="Equation.DSMT4">
                  <p:embed/>
                  <p:pic>
                    <p:nvPicPr>
                      <p:cNvPr id="0" name="图片 3089"/>
                      <p:cNvPicPr/>
                      <p:nvPr/>
                    </p:nvPicPr>
                    <p:blipFill>
                      <a:blip r:embed="rId5"/>
                      <a:stretch>
                        <a:fillRect/>
                      </a:stretch>
                    </p:blipFill>
                    <p:spPr>
                      <a:xfrm>
                        <a:off x="2384425" y="2115406"/>
                        <a:ext cx="1074738" cy="427037"/>
                      </a:xfrm>
                      <a:prstGeom prst="rect">
                        <a:avLst/>
                      </a:prstGeom>
                      <a:noFill/>
                      <a:ln w="38100">
                        <a:noFill/>
                        <a:miter/>
                      </a:ln>
                    </p:spPr>
                  </p:pic>
                </p:oleObj>
              </mc:Fallback>
            </mc:AlternateContent>
          </a:graphicData>
        </a:graphic>
      </p:graphicFrame>
      <p:sp>
        <p:nvSpPr>
          <p:cNvPr id="5530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5307" name="对象 10"/>
          <p:cNvGraphicFramePr>
            <a:graphicFrameLocks noChangeAspect="1"/>
          </p:cNvGraphicFramePr>
          <p:nvPr/>
        </p:nvGraphicFramePr>
        <p:xfrm>
          <a:off x="4953000" y="2139318"/>
          <a:ext cx="271463" cy="371475"/>
        </p:xfrm>
        <a:graphic>
          <a:graphicData uri="http://schemas.openxmlformats.org/presentationml/2006/ole">
            <mc:AlternateContent xmlns:mc="http://schemas.openxmlformats.org/markup-compatibility/2006">
              <mc:Choice xmlns:v="urn:schemas-microsoft-com:vml" Requires="v">
                <p:oleObj spid="_x0000_s8752" r:id="rId6" imgW="152400" imgH="203200" progId="Equation.DSMT4">
                  <p:embed/>
                </p:oleObj>
              </mc:Choice>
              <mc:Fallback>
                <p:oleObj r:id="rId6" imgW="152400" imgH="203200" progId="Equation.DSMT4">
                  <p:embed/>
                  <p:pic>
                    <p:nvPicPr>
                      <p:cNvPr id="0" name="图片 3093"/>
                      <p:cNvPicPr/>
                      <p:nvPr/>
                    </p:nvPicPr>
                    <p:blipFill>
                      <a:blip r:embed="rId7"/>
                      <a:stretch>
                        <a:fillRect/>
                      </a:stretch>
                    </p:blipFill>
                    <p:spPr>
                      <a:xfrm>
                        <a:off x="4953000" y="2139318"/>
                        <a:ext cx="271463" cy="371475"/>
                      </a:xfrm>
                      <a:prstGeom prst="rect">
                        <a:avLst/>
                      </a:prstGeom>
                      <a:noFill/>
                      <a:ln w="38100">
                        <a:noFill/>
                        <a:miter/>
                      </a:ln>
                    </p:spPr>
                  </p:pic>
                </p:oleObj>
              </mc:Fallback>
            </mc:AlternateContent>
          </a:graphicData>
        </a:graphic>
      </p:graphicFrame>
      <p:sp>
        <p:nvSpPr>
          <p:cNvPr id="55308" name="Rectangle 6"/>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5309" name="对象 12"/>
          <p:cNvGraphicFramePr>
            <a:graphicFrameLocks noChangeAspect="1"/>
          </p:cNvGraphicFramePr>
          <p:nvPr/>
        </p:nvGraphicFramePr>
        <p:xfrm>
          <a:off x="8005763" y="2126718"/>
          <a:ext cx="1454150" cy="427038"/>
        </p:xfrm>
        <a:graphic>
          <a:graphicData uri="http://schemas.openxmlformats.org/presentationml/2006/ole">
            <mc:AlternateContent xmlns:mc="http://schemas.openxmlformats.org/markup-compatibility/2006">
              <mc:Choice xmlns:v="urn:schemas-microsoft-com:vml" Requires="v">
                <p:oleObj spid="_x0000_s8753" r:id="rId8" imgW="875665" imgH="254000" progId="Equation.DSMT4">
                  <p:embed/>
                </p:oleObj>
              </mc:Choice>
              <mc:Fallback>
                <p:oleObj r:id="rId8" imgW="875665" imgH="254000" progId="Equation.DSMT4">
                  <p:embed/>
                  <p:pic>
                    <p:nvPicPr>
                      <p:cNvPr id="0" name="图片 3095"/>
                      <p:cNvPicPr/>
                      <p:nvPr/>
                    </p:nvPicPr>
                    <p:blipFill>
                      <a:blip r:embed="rId9"/>
                      <a:stretch>
                        <a:fillRect/>
                      </a:stretch>
                    </p:blipFill>
                    <p:spPr>
                      <a:xfrm>
                        <a:off x="8005763" y="2126718"/>
                        <a:ext cx="1454150" cy="427038"/>
                      </a:xfrm>
                      <a:prstGeom prst="rect">
                        <a:avLst/>
                      </a:prstGeom>
                      <a:noFill/>
                      <a:ln w="38100">
                        <a:noFill/>
                        <a:miter/>
                      </a:ln>
                    </p:spPr>
                  </p:pic>
                </p:oleObj>
              </mc:Fallback>
            </mc:AlternateContent>
          </a:graphicData>
        </a:graphic>
      </p:graphicFrame>
      <p:graphicFrame>
        <p:nvGraphicFramePr>
          <p:cNvPr id="55310" name="对象 14"/>
          <p:cNvGraphicFramePr>
            <a:graphicFrameLocks noChangeAspect="1"/>
          </p:cNvGraphicFramePr>
          <p:nvPr/>
        </p:nvGraphicFramePr>
        <p:xfrm>
          <a:off x="10607675" y="2155293"/>
          <a:ext cx="363538" cy="363538"/>
        </p:xfrm>
        <a:graphic>
          <a:graphicData uri="http://schemas.openxmlformats.org/presentationml/2006/ole">
            <mc:AlternateContent xmlns:mc="http://schemas.openxmlformats.org/markup-compatibility/2006">
              <mc:Choice xmlns:v="urn:schemas-microsoft-com:vml" Requires="v">
                <p:oleObj spid="_x0000_s8754" r:id="rId10" imgW="139700" imgH="139700" progId="Equation.DSMT4">
                  <p:embed/>
                </p:oleObj>
              </mc:Choice>
              <mc:Fallback>
                <p:oleObj r:id="rId10" imgW="139700" imgH="139700" progId="Equation.DSMT4">
                  <p:embed/>
                  <p:pic>
                    <p:nvPicPr>
                      <p:cNvPr id="0" name="图片 3090"/>
                      <p:cNvPicPr/>
                      <p:nvPr/>
                    </p:nvPicPr>
                    <p:blipFill>
                      <a:blip r:embed="rId11"/>
                      <a:stretch>
                        <a:fillRect/>
                      </a:stretch>
                    </p:blipFill>
                    <p:spPr>
                      <a:xfrm>
                        <a:off x="10607675" y="2155293"/>
                        <a:ext cx="363538" cy="363538"/>
                      </a:xfrm>
                      <a:prstGeom prst="rect">
                        <a:avLst/>
                      </a:prstGeom>
                      <a:noFill/>
                      <a:ln w="38100">
                        <a:noFill/>
                        <a:miter/>
                      </a:ln>
                    </p:spPr>
                  </p:pic>
                </p:oleObj>
              </mc:Fallback>
            </mc:AlternateContent>
          </a:graphicData>
        </a:graphic>
      </p:graphicFrame>
      <p:sp>
        <p:nvSpPr>
          <p:cNvPr id="55311" name="Rectangle 1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5312" name="对象 15"/>
          <p:cNvGraphicFramePr>
            <a:graphicFrameLocks noChangeAspect="1"/>
          </p:cNvGraphicFramePr>
          <p:nvPr/>
        </p:nvGraphicFramePr>
        <p:xfrm>
          <a:off x="1489840" y="3096072"/>
          <a:ext cx="5089525" cy="1973262"/>
        </p:xfrm>
        <a:graphic>
          <a:graphicData uri="http://schemas.openxmlformats.org/presentationml/2006/ole">
            <mc:AlternateContent xmlns:mc="http://schemas.openxmlformats.org/markup-compatibility/2006">
              <mc:Choice xmlns:v="urn:schemas-microsoft-com:vml" Requires="v">
                <p:oleObj spid="_x0000_s8755" r:id="rId12" imgW="3136900" imgH="1219200" progId="Equation.DSMT4">
                  <p:embed/>
                </p:oleObj>
              </mc:Choice>
              <mc:Fallback>
                <p:oleObj r:id="rId12" imgW="3136900" imgH="1219200" progId="Equation.DSMT4">
                  <p:embed/>
                  <p:pic>
                    <p:nvPicPr>
                      <p:cNvPr id="0" name="图片 3094"/>
                      <p:cNvPicPr/>
                      <p:nvPr/>
                    </p:nvPicPr>
                    <p:blipFill>
                      <a:blip r:embed="rId13"/>
                      <a:stretch>
                        <a:fillRect/>
                      </a:stretch>
                    </p:blipFill>
                    <p:spPr>
                      <a:xfrm>
                        <a:off x="1489840" y="3096072"/>
                        <a:ext cx="5089525" cy="1973262"/>
                      </a:xfrm>
                      <a:prstGeom prst="rect">
                        <a:avLst/>
                      </a:prstGeom>
                      <a:noFill/>
                      <a:ln w="38100">
                        <a:noFill/>
                        <a:miter/>
                      </a:ln>
                    </p:spPr>
                  </p:pic>
                </p:oleObj>
              </mc:Fallback>
            </mc:AlternateContent>
          </a:graphicData>
        </a:graphic>
      </p:graphicFrame>
      <p:sp>
        <p:nvSpPr>
          <p:cNvPr id="55313" name="文本框 17"/>
          <p:cNvSpPr txBox="1"/>
          <p:nvPr/>
        </p:nvSpPr>
        <p:spPr>
          <a:xfrm>
            <a:off x="7333178" y="3389853"/>
            <a:ext cx="5268912" cy="369887"/>
          </a:xfrm>
          <a:prstGeom prst="rect">
            <a:avLst/>
          </a:prstGeom>
          <a:noFill/>
          <a:ln w="9525">
            <a:noFill/>
          </a:ln>
        </p:spPr>
        <p:txBody>
          <a:bodyPr anchor="t" anchorCtr="0">
            <a:spAutoFit/>
          </a:bodyPr>
          <a:lstStyle/>
          <a:p>
            <a:pPr>
              <a:buClrTx/>
              <a:buFontTx/>
            </a:pPr>
            <a:r>
              <a:rPr lang="zh-CN" altLang="en-US" dirty="0">
                <a:latin typeface="Times New Roman" panose="02020603050405020304" pitchFamily="18" charset="0"/>
                <a:ea typeface="华文新魏" panose="02010800040101010101" pitchFamily="2" charset="-122"/>
              </a:rPr>
              <a:t> </a:t>
            </a:r>
            <a:r>
              <a:rPr lang="zh-CN" altLang="en-US" b="1" dirty="0">
                <a:latin typeface="宋体" panose="02010600030101010101" pitchFamily="2" charset="-122"/>
                <a:ea typeface="宋体" panose="02010600030101010101" pitchFamily="2" charset="-122"/>
              </a:rPr>
              <a:t>是第  个</a:t>
            </a:r>
            <a:r>
              <a:rPr lang="zh-CN" altLang="en-US" b="1" dirty="0">
                <a:solidFill>
                  <a:srgbClr val="FF0000"/>
                </a:solidFill>
                <a:latin typeface="宋体" panose="02010600030101010101" pitchFamily="2" charset="-122"/>
                <a:ea typeface="宋体" panose="02010600030101010101" pitchFamily="2" charset="-122"/>
              </a:rPr>
              <a:t>高斯混合成分</a:t>
            </a:r>
            <a:r>
              <a:rPr lang="zh-CN" altLang="en-US" b="1" dirty="0">
                <a:latin typeface="宋体" panose="02010600030101010101" pitchFamily="2" charset="-122"/>
                <a:ea typeface="宋体" panose="02010600030101010101" pitchFamily="2" charset="-122"/>
              </a:rPr>
              <a:t>生成且类别为  的</a:t>
            </a:r>
            <a:r>
              <a:rPr lang="zh-CN" altLang="en-US" b="1" dirty="0">
                <a:solidFill>
                  <a:srgbClr val="FF0000"/>
                </a:solidFill>
                <a:latin typeface="宋体" panose="02010600030101010101" pitchFamily="2" charset="-122"/>
                <a:ea typeface="宋体" panose="02010600030101010101" pitchFamily="2" charset="-122"/>
              </a:rPr>
              <a:t>概率</a:t>
            </a:r>
          </a:p>
        </p:txBody>
      </p:sp>
      <p:sp>
        <p:nvSpPr>
          <p:cNvPr id="55314" name="Rectangle 1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5315" name="对象 19"/>
          <p:cNvGraphicFramePr>
            <a:graphicFrameLocks noChangeAspect="1"/>
          </p:cNvGraphicFramePr>
          <p:nvPr/>
        </p:nvGraphicFramePr>
        <p:xfrm>
          <a:off x="5874265" y="3394615"/>
          <a:ext cx="1600200" cy="368300"/>
        </p:xfrm>
        <a:graphic>
          <a:graphicData uri="http://schemas.openxmlformats.org/presentationml/2006/ole">
            <mc:AlternateContent xmlns:mc="http://schemas.openxmlformats.org/markup-compatibility/2006">
              <mc:Choice xmlns:v="urn:schemas-microsoft-com:vml" Requires="v">
                <p:oleObj spid="_x0000_s8756" r:id="rId14" imgW="1116965" imgH="254000" progId="Equation.DSMT4">
                  <p:embed/>
                </p:oleObj>
              </mc:Choice>
              <mc:Fallback>
                <p:oleObj r:id="rId14" imgW="1116965" imgH="254000" progId="Equation.DSMT4">
                  <p:embed/>
                  <p:pic>
                    <p:nvPicPr>
                      <p:cNvPr id="0" name="图片 3087"/>
                      <p:cNvPicPr/>
                      <p:nvPr/>
                    </p:nvPicPr>
                    <p:blipFill>
                      <a:blip r:embed="rId15"/>
                      <a:stretch>
                        <a:fillRect/>
                      </a:stretch>
                    </p:blipFill>
                    <p:spPr>
                      <a:xfrm>
                        <a:off x="5874265" y="3394615"/>
                        <a:ext cx="1600200" cy="368300"/>
                      </a:xfrm>
                      <a:prstGeom prst="rect">
                        <a:avLst/>
                      </a:prstGeom>
                      <a:noFill/>
                      <a:ln w="38100">
                        <a:noFill/>
                        <a:miter/>
                      </a:ln>
                    </p:spPr>
                  </p:pic>
                </p:oleObj>
              </mc:Fallback>
            </mc:AlternateContent>
          </a:graphicData>
        </a:graphic>
      </p:graphicFrame>
      <p:graphicFrame>
        <p:nvGraphicFramePr>
          <p:cNvPr id="55316" name="对象 20"/>
          <p:cNvGraphicFramePr>
            <a:graphicFrameLocks noChangeAspect="1"/>
          </p:cNvGraphicFramePr>
          <p:nvPr/>
        </p:nvGraphicFramePr>
        <p:xfrm>
          <a:off x="7972940" y="3448790"/>
          <a:ext cx="207963" cy="287338"/>
        </p:xfrm>
        <a:graphic>
          <a:graphicData uri="http://schemas.openxmlformats.org/presentationml/2006/ole">
            <mc:AlternateContent xmlns:mc="http://schemas.openxmlformats.org/markup-compatibility/2006">
              <mc:Choice xmlns:v="urn:schemas-microsoft-com:vml" Requires="v">
                <p:oleObj spid="_x0000_s8757" r:id="rId16" imgW="88900" imgH="164465" progId="Equation.DSMT4">
                  <p:embed/>
                </p:oleObj>
              </mc:Choice>
              <mc:Fallback>
                <p:oleObj r:id="rId16" imgW="88900" imgH="164465" progId="Equation.DSMT4">
                  <p:embed/>
                  <p:pic>
                    <p:nvPicPr>
                      <p:cNvPr id="0" name="图片 3088"/>
                      <p:cNvPicPr/>
                      <p:nvPr/>
                    </p:nvPicPr>
                    <p:blipFill>
                      <a:blip r:embed="rId17"/>
                      <a:stretch>
                        <a:fillRect/>
                      </a:stretch>
                    </p:blipFill>
                    <p:spPr>
                      <a:xfrm>
                        <a:off x="7972940" y="3448790"/>
                        <a:ext cx="207963" cy="287338"/>
                      </a:xfrm>
                      <a:prstGeom prst="rect">
                        <a:avLst/>
                      </a:prstGeom>
                      <a:noFill/>
                      <a:ln w="38100">
                        <a:noFill/>
                        <a:miter/>
                      </a:ln>
                    </p:spPr>
                  </p:pic>
                </p:oleObj>
              </mc:Fallback>
            </mc:AlternateContent>
          </a:graphicData>
        </a:graphic>
      </p:graphicFrame>
      <p:sp>
        <p:nvSpPr>
          <p:cNvPr id="55317" name="Rectangle 2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55318" name="对象 22"/>
          <p:cNvGraphicFramePr>
            <a:graphicFrameLocks noChangeAspect="1"/>
          </p:cNvGraphicFramePr>
          <p:nvPr/>
        </p:nvGraphicFramePr>
        <p:xfrm>
          <a:off x="11168137" y="3457032"/>
          <a:ext cx="206375" cy="319087"/>
        </p:xfrm>
        <a:graphic>
          <a:graphicData uri="http://schemas.openxmlformats.org/presentationml/2006/ole">
            <mc:AlternateContent xmlns:mc="http://schemas.openxmlformats.org/markup-compatibility/2006">
              <mc:Choice xmlns:v="urn:schemas-microsoft-com:vml" Requires="v">
                <p:oleObj spid="_x0000_s8758" r:id="rId18" imgW="127000" imgH="190500" progId="Equation.DSMT4">
                  <p:embed/>
                </p:oleObj>
              </mc:Choice>
              <mc:Fallback>
                <p:oleObj r:id="rId18" imgW="127000" imgH="190500" progId="Equation.DSMT4">
                  <p:embed/>
                  <p:pic>
                    <p:nvPicPr>
                      <p:cNvPr id="0" name="图片 3091"/>
                      <p:cNvPicPr/>
                      <p:nvPr/>
                    </p:nvPicPr>
                    <p:blipFill>
                      <a:blip r:embed="rId19"/>
                      <a:stretch>
                        <a:fillRect/>
                      </a:stretch>
                    </p:blipFill>
                    <p:spPr>
                      <a:xfrm>
                        <a:off x="11168137" y="3457032"/>
                        <a:ext cx="206375" cy="319087"/>
                      </a:xfrm>
                      <a:prstGeom prst="rect">
                        <a:avLst/>
                      </a:prstGeom>
                      <a:noFill/>
                      <a:ln w="38100">
                        <a:noFill/>
                        <a:miter/>
                      </a:ln>
                    </p:spPr>
                  </p:pic>
                </p:oleObj>
              </mc:Fallback>
            </mc:AlternateContent>
          </a:graphicData>
        </a:graphic>
      </p:graphicFrame>
      <p:graphicFrame>
        <p:nvGraphicFramePr>
          <p:cNvPr id="24" name="对象 6"/>
          <p:cNvGraphicFramePr>
            <a:graphicFrameLocks noChangeAspect="1"/>
          </p:cNvGraphicFramePr>
          <p:nvPr/>
        </p:nvGraphicFramePr>
        <p:xfrm>
          <a:off x="8591636" y="4111585"/>
          <a:ext cx="2401815" cy="746031"/>
        </p:xfrm>
        <a:graphic>
          <a:graphicData uri="http://schemas.openxmlformats.org/presentationml/2006/ole">
            <mc:AlternateContent xmlns:mc="http://schemas.openxmlformats.org/markup-compatibility/2006">
              <mc:Choice xmlns:v="urn:schemas-microsoft-com:vml" Requires="v">
                <p:oleObj spid="_x0000_s8759" r:id="rId20" imgW="2082800" imgH="647700" progId="Equation.DSMT4">
                  <p:embed/>
                </p:oleObj>
              </mc:Choice>
              <mc:Fallback>
                <p:oleObj r:id="rId20" imgW="2082800" imgH="647700" progId="Equation.DSMT4">
                  <p:embed/>
                  <p:pic>
                    <p:nvPicPr>
                      <p:cNvPr id="0" name="对象 6"/>
                      <p:cNvPicPr/>
                      <p:nvPr/>
                    </p:nvPicPr>
                    <p:blipFill>
                      <a:blip r:embed="rId21"/>
                      <a:stretch>
                        <a:fillRect/>
                      </a:stretch>
                    </p:blipFill>
                    <p:spPr>
                      <a:xfrm>
                        <a:off x="8591636" y="4111585"/>
                        <a:ext cx="2401815" cy="746031"/>
                      </a:xfrm>
                      <a:prstGeom prst="rect">
                        <a:avLst/>
                      </a:prstGeom>
                      <a:noFill/>
                      <a:ln w="38100">
                        <a:noFill/>
                        <a:miter/>
                      </a:ln>
                    </p:spPr>
                  </p:pic>
                </p:oleObj>
              </mc:Fallback>
            </mc:AlternateContent>
          </a:graphicData>
        </a:graphic>
      </p:graphicFrame>
      <p:sp>
        <p:nvSpPr>
          <p:cNvPr id="25" name="文本框 8"/>
          <p:cNvSpPr txBox="1"/>
          <p:nvPr/>
        </p:nvSpPr>
        <p:spPr>
          <a:xfrm>
            <a:off x="7280929" y="4299656"/>
            <a:ext cx="2297308" cy="369888"/>
          </a:xfrm>
          <a:prstGeom prst="rect">
            <a:avLst/>
          </a:prstGeom>
          <a:noFill/>
          <a:ln w="9525">
            <a:noFill/>
          </a:ln>
        </p:spPr>
        <p:txBody>
          <a:bodyPr wrap="square" anchor="t" anchorCtr="0">
            <a:spAutoFit/>
          </a:bodyPr>
          <a:lstStyle/>
          <a:p>
            <a:pPr>
              <a:buClrTx/>
              <a:buFontTx/>
            </a:pPr>
            <a:r>
              <a:rPr lang="zh-CN" altLang="en-US" b="1" dirty="0">
                <a:latin typeface="宋体" panose="02010600030101010101" pitchFamily="2" charset="-122"/>
                <a:ea typeface="宋体" panose="02010600030101010101" pitchFamily="2" charset="-122"/>
              </a:rPr>
              <a:t>后验概率：</a:t>
            </a:r>
          </a:p>
        </p:txBody>
      </p:sp>
      <p:sp>
        <p:nvSpPr>
          <p:cNvPr id="26" name="文本框 14"/>
          <p:cNvSpPr txBox="1"/>
          <p:nvPr/>
        </p:nvSpPr>
        <p:spPr>
          <a:xfrm>
            <a:off x="788276" y="4027979"/>
            <a:ext cx="1223265" cy="707886"/>
          </a:xfrm>
          <a:prstGeom prst="rect">
            <a:avLst/>
          </a:prstGeom>
          <a:noFill/>
          <a:ln w="9525">
            <a:noFill/>
          </a:ln>
        </p:spPr>
        <p:txBody>
          <a:bodyPr wrap="square" anchor="t" anchorCtr="0">
            <a:spAutoFit/>
          </a:bodyPr>
          <a:lstStyle/>
          <a:p>
            <a:pPr algn="ctr">
              <a:buClrTx/>
              <a:buFontTx/>
            </a:pPr>
            <a:r>
              <a:rPr lang="zh-CN" altLang="en-US" sz="2000" b="1" dirty="0">
                <a:solidFill>
                  <a:srgbClr val="FF0000"/>
                </a:solidFill>
                <a:latin typeface="宋体" panose="02010600030101010101" pitchFamily="2" charset="-122"/>
                <a:ea typeface="宋体" panose="02010600030101010101" pitchFamily="2" charset="-122"/>
              </a:rPr>
              <a:t>高斯混合</a:t>
            </a:r>
            <a:endParaRPr lang="en-US" altLang="zh-CN" sz="2000" b="1" dirty="0">
              <a:solidFill>
                <a:srgbClr val="FF0000"/>
              </a:solidFill>
              <a:latin typeface="宋体" panose="02010600030101010101" pitchFamily="2" charset="-122"/>
              <a:ea typeface="宋体" panose="02010600030101010101" pitchFamily="2" charset="-122"/>
            </a:endParaRPr>
          </a:p>
          <a:p>
            <a:pPr algn="ctr">
              <a:buClrTx/>
              <a:buFontTx/>
            </a:pPr>
            <a:r>
              <a:rPr lang="zh-CN" altLang="en-US" sz="2000" b="1" dirty="0">
                <a:solidFill>
                  <a:srgbClr val="FF0000"/>
                </a:solidFill>
                <a:latin typeface="宋体" panose="02010600030101010101" pitchFamily="2" charset="-122"/>
                <a:ea typeface="宋体" panose="02010600030101010101" pitchFamily="2" charset="-122"/>
              </a:rPr>
              <a:t>模型</a:t>
            </a:r>
          </a:p>
        </p:txBody>
      </p:sp>
      <p:grpSp>
        <p:nvGrpSpPr>
          <p:cNvPr id="31" name="组合 30"/>
          <p:cNvGrpSpPr/>
          <p:nvPr/>
        </p:nvGrpSpPr>
        <p:grpSpPr>
          <a:xfrm>
            <a:off x="-73794" y="3315828"/>
            <a:ext cx="12192000" cy="3487479"/>
            <a:chOff x="0" y="0"/>
            <a:chExt cx="12192000" cy="3487479"/>
          </a:xfrm>
        </p:grpSpPr>
        <p:sp>
          <p:nvSpPr>
            <p:cNvPr id="32" name="Rectangle 3"/>
            <p:cNvSpPr txBox="1">
              <a:spLocks noChangeArrowheads="1"/>
            </p:cNvSpPr>
            <p:nvPr/>
          </p:nvSpPr>
          <p:spPr bwMode="auto">
            <a:xfrm>
              <a:off x="1255713" y="1831348"/>
              <a:ext cx="10363200" cy="1656131"/>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0" marR="0" lvl="0" indent="0" algn="l" defTabSz="914400" rtl="0" eaLnBrk="1" fontAlgn="base" latinLnBrk="0" hangingPunct="1">
                <a:lnSpc>
                  <a:spcPct val="110000"/>
                </a:lnSpc>
                <a:spcBef>
                  <a:spcPct val="20000"/>
                </a:spcBef>
                <a:spcAft>
                  <a:spcPct val="0"/>
                </a:spcAft>
                <a:buClr>
                  <a:schemeClr val="folHlink"/>
                </a:buClr>
                <a:buSzPct val="60000"/>
                <a:buNone/>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在上式中，要想估计          ，需要已知样本的标记  ，也就是说要必须使用有标记样本，而        中则</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不需要</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有标记样本。这样，就可以</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同时利用</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有标记和未标记样本。</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3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38"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39" name="对象 6"/>
            <p:cNvGraphicFramePr>
              <a:graphicFrameLocks noChangeAspect="1"/>
            </p:cNvGraphicFramePr>
            <p:nvPr/>
          </p:nvGraphicFramePr>
          <p:xfrm>
            <a:off x="4495098" y="1932322"/>
            <a:ext cx="1797050" cy="414338"/>
          </p:xfrm>
          <a:graphic>
            <a:graphicData uri="http://schemas.openxmlformats.org/presentationml/2006/ole">
              <mc:AlternateContent xmlns:mc="http://schemas.openxmlformats.org/markup-compatibility/2006">
                <mc:Choice xmlns:v="urn:schemas-microsoft-com:vml" Requires="v">
                  <p:oleObj spid="_x0000_s8760" r:id="rId22" imgW="1116965" imgH="254000" progId="Equation.DSMT4">
                    <p:embed/>
                  </p:oleObj>
                </mc:Choice>
                <mc:Fallback>
                  <p:oleObj r:id="rId22" imgW="1116965" imgH="254000" progId="Equation.DSMT4">
                    <p:embed/>
                    <p:pic>
                      <p:nvPicPr>
                        <p:cNvPr id="0" name="对象 6"/>
                        <p:cNvPicPr/>
                        <p:nvPr/>
                      </p:nvPicPr>
                      <p:blipFill>
                        <a:blip r:embed="rId15"/>
                        <a:stretch>
                          <a:fillRect/>
                        </a:stretch>
                      </p:blipFill>
                      <p:spPr>
                        <a:xfrm>
                          <a:off x="4495098" y="1932322"/>
                          <a:ext cx="1797050" cy="414338"/>
                        </a:xfrm>
                        <a:prstGeom prst="rect">
                          <a:avLst/>
                        </a:prstGeom>
                        <a:noFill/>
                        <a:ln w="38100">
                          <a:noFill/>
                          <a:miter/>
                        </a:ln>
                      </p:spPr>
                    </p:pic>
                  </p:oleObj>
                </mc:Fallback>
              </mc:AlternateContent>
            </a:graphicData>
          </a:graphic>
        </p:graphicFrame>
        <p:sp>
          <p:nvSpPr>
            <p:cNvPr id="40" name="Rectangle 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41" name="对象 11"/>
            <p:cNvGraphicFramePr>
              <a:graphicFrameLocks noChangeAspect="1"/>
            </p:cNvGraphicFramePr>
            <p:nvPr/>
          </p:nvGraphicFramePr>
          <p:xfrm>
            <a:off x="10026651" y="2022810"/>
            <a:ext cx="269875" cy="323850"/>
          </p:xfrm>
          <a:graphic>
            <a:graphicData uri="http://schemas.openxmlformats.org/presentationml/2006/ole">
              <mc:AlternateContent xmlns:mc="http://schemas.openxmlformats.org/markup-compatibility/2006">
                <mc:Choice xmlns:v="urn:schemas-microsoft-com:vml" Requires="v">
                  <p:oleObj spid="_x0000_s8761" r:id="rId23" imgW="139700" imgH="165100" progId="Equation.DSMT4">
                    <p:embed/>
                  </p:oleObj>
                </mc:Choice>
                <mc:Fallback>
                  <p:oleObj r:id="rId23" imgW="139700" imgH="165100" progId="Equation.DSMT4">
                    <p:embed/>
                    <p:pic>
                      <p:nvPicPr>
                        <p:cNvPr id="0" name="对象 11"/>
                        <p:cNvPicPr/>
                        <p:nvPr/>
                      </p:nvPicPr>
                      <p:blipFill>
                        <a:blip r:embed="rId24"/>
                        <a:stretch>
                          <a:fillRect/>
                        </a:stretch>
                      </p:blipFill>
                      <p:spPr>
                        <a:xfrm>
                          <a:off x="10026651" y="2022810"/>
                          <a:ext cx="269875" cy="323850"/>
                        </a:xfrm>
                        <a:prstGeom prst="rect">
                          <a:avLst/>
                        </a:prstGeom>
                        <a:noFill/>
                        <a:ln w="38100">
                          <a:noFill/>
                          <a:miter/>
                        </a:ln>
                      </p:spPr>
                    </p:pic>
                  </p:oleObj>
                </mc:Fallback>
              </mc:AlternateContent>
            </a:graphicData>
          </a:graphic>
        </p:graphicFrame>
        <p:sp>
          <p:nvSpPr>
            <p:cNvPr id="42" name="Rectangle 1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43" name="对象 13"/>
            <p:cNvGraphicFramePr>
              <a:graphicFrameLocks noChangeAspect="1"/>
            </p:cNvGraphicFramePr>
            <p:nvPr/>
          </p:nvGraphicFramePr>
          <p:xfrm>
            <a:off x="6437313" y="2436408"/>
            <a:ext cx="1223963" cy="412750"/>
          </p:xfrm>
          <a:graphic>
            <a:graphicData uri="http://schemas.openxmlformats.org/presentationml/2006/ole">
              <mc:AlternateContent xmlns:mc="http://schemas.openxmlformats.org/markup-compatibility/2006">
                <mc:Choice xmlns:v="urn:schemas-microsoft-com:vml" Requires="v">
                  <p:oleObj spid="_x0000_s8762" r:id="rId25" imgW="761365" imgH="254000" progId="Equation.DSMT4">
                    <p:embed/>
                  </p:oleObj>
                </mc:Choice>
                <mc:Fallback>
                  <p:oleObj r:id="rId25" imgW="761365" imgH="254000" progId="Equation.DSMT4">
                    <p:embed/>
                    <p:pic>
                      <p:nvPicPr>
                        <p:cNvPr id="0" name="对象 13"/>
                        <p:cNvPicPr/>
                        <p:nvPr/>
                      </p:nvPicPr>
                      <p:blipFill>
                        <a:blip r:embed="rId26"/>
                        <a:stretch>
                          <a:fillRect/>
                        </a:stretch>
                      </p:blipFill>
                      <p:spPr>
                        <a:xfrm>
                          <a:off x="6437313" y="2436408"/>
                          <a:ext cx="1223963" cy="412750"/>
                        </a:xfrm>
                        <a:prstGeom prst="rect">
                          <a:avLst/>
                        </a:prstGeom>
                        <a:noFill/>
                        <a:ln w="38100">
                          <a:noFill/>
                          <a:miter/>
                        </a:ln>
                      </p:spPr>
                    </p:pic>
                  </p:oleObj>
                </mc:Fallback>
              </mc:AlternateContent>
            </a:graphicData>
          </a:graphic>
        </p:graphicFrame>
      </p:grpSp>
      <p:sp>
        <p:nvSpPr>
          <p:cNvPr id="6" name="Rectangle 3"/>
          <p:cNvSpPr txBox="1">
            <a:spLocks noChangeArrowheads="1"/>
          </p:cNvSpPr>
          <p:nvPr/>
        </p:nvSpPr>
        <p:spPr bwMode="auto">
          <a:xfrm>
            <a:off x="1259642" y="1506662"/>
            <a:ext cx="10829446" cy="157303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通过标记与未标记样本预测模型的参数</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用      表示模型  对样本的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预测值</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是样本  隶属的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高斯混合成分</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。最大化后验概率得</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参数求解过程</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假设给定了有标记数据集                   ，未标记数据集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假设所有样本</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独立同分布</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且由同一个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高斯混合模型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生成。</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使用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极大似然估计</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得到高斯混合模型的参数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使用</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EM</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算法</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对其参数进行求解。</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6144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144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144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144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144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1448"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1449" name="对象 14"/>
          <p:cNvGraphicFramePr>
            <a:graphicFrameLocks noChangeAspect="1"/>
          </p:cNvGraphicFramePr>
          <p:nvPr/>
        </p:nvGraphicFramePr>
        <p:xfrm>
          <a:off x="6010275" y="2457450"/>
          <a:ext cx="3349625" cy="447675"/>
        </p:xfrm>
        <a:graphic>
          <a:graphicData uri="http://schemas.openxmlformats.org/presentationml/2006/ole">
            <mc:AlternateContent xmlns:mc="http://schemas.openxmlformats.org/markup-compatibility/2006">
              <mc:Choice xmlns:v="urn:schemas-microsoft-com:vml" Requires="v">
                <p:oleObj spid="_x0000_s11444" r:id="rId4" imgW="2070100" imgH="279400" progId="Equation.DSMT4">
                  <p:embed/>
                </p:oleObj>
              </mc:Choice>
              <mc:Fallback>
                <p:oleObj r:id="rId4" imgW="2070100" imgH="279400" progId="Equation.DSMT4">
                  <p:embed/>
                  <p:pic>
                    <p:nvPicPr>
                      <p:cNvPr id="0" name="图片 3103"/>
                      <p:cNvPicPr/>
                      <p:nvPr/>
                    </p:nvPicPr>
                    <p:blipFill>
                      <a:blip r:embed="rId5"/>
                      <a:stretch>
                        <a:fillRect/>
                      </a:stretch>
                    </p:blipFill>
                    <p:spPr>
                      <a:xfrm>
                        <a:off x="6010275" y="2457450"/>
                        <a:ext cx="3349625" cy="447675"/>
                      </a:xfrm>
                      <a:prstGeom prst="rect">
                        <a:avLst/>
                      </a:prstGeom>
                      <a:noFill/>
                      <a:ln w="38100">
                        <a:noFill/>
                        <a:miter/>
                      </a:ln>
                    </p:spPr>
                  </p:pic>
                </p:oleObj>
              </mc:Fallback>
            </mc:AlternateContent>
          </a:graphicData>
        </a:graphic>
      </p:graphicFrame>
      <p:sp>
        <p:nvSpPr>
          <p:cNvPr id="61450" name="Rectangle 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1451" name="对象 17"/>
          <p:cNvGraphicFramePr>
            <a:graphicFrameLocks noChangeAspect="1"/>
          </p:cNvGraphicFramePr>
          <p:nvPr/>
        </p:nvGraphicFramePr>
        <p:xfrm>
          <a:off x="2095500" y="2943225"/>
          <a:ext cx="4044950" cy="447675"/>
        </p:xfrm>
        <a:graphic>
          <a:graphicData uri="http://schemas.openxmlformats.org/presentationml/2006/ole">
            <mc:AlternateContent xmlns:mc="http://schemas.openxmlformats.org/markup-compatibility/2006">
              <mc:Choice xmlns:v="urn:schemas-microsoft-com:vml" Requires="v">
                <p:oleObj spid="_x0000_s11445" r:id="rId6" imgW="2324100" imgH="254000" progId="Equation.DSMT4">
                  <p:embed/>
                </p:oleObj>
              </mc:Choice>
              <mc:Fallback>
                <p:oleObj r:id="rId6" imgW="2324100" imgH="254000" progId="Equation.DSMT4">
                  <p:embed/>
                  <p:pic>
                    <p:nvPicPr>
                      <p:cNvPr id="0" name="图片 3102"/>
                      <p:cNvPicPr/>
                      <p:nvPr/>
                    </p:nvPicPr>
                    <p:blipFill>
                      <a:blip r:embed="rId7"/>
                      <a:stretch>
                        <a:fillRect/>
                      </a:stretch>
                    </p:blipFill>
                    <p:spPr>
                      <a:xfrm>
                        <a:off x="2095500" y="2943225"/>
                        <a:ext cx="4044950" cy="447675"/>
                      </a:xfrm>
                      <a:prstGeom prst="rect">
                        <a:avLst/>
                      </a:prstGeom>
                      <a:noFill/>
                      <a:ln w="38100">
                        <a:noFill/>
                        <a:miter/>
                      </a:ln>
                    </p:spPr>
                  </p:pic>
                </p:oleObj>
              </mc:Fallback>
            </mc:AlternateContent>
          </a:graphicData>
        </a:graphic>
      </p:graphicFrame>
      <p:sp>
        <p:nvSpPr>
          <p:cNvPr id="61452" name="Rectangle 2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1453" name="对象 22"/>
          <p:cNvGraphicFramePr>
            <a:graphicFrameLocks noChangeAspect="1"/>
          </p:cNvGraphicFramePr>
          <p:nvPr/>
        </p:nvGraphicFramePr>
        <p:xfrm>
          <a:off x="8915400" y="4021138"/>
          <a:ext cx="1044575" cy="423862"/>
        </p:xfrm>
        <a:graphic>
          <a:graphicData uri="http://schemas.openxmlformats.org/presentationml/2006/ole">
            <mc:AlternateContent xmlns:mc="http://schemas.openxmlformats.org/markup-compatibility/2006">
              <mc:Choice xmlns:v="urn:schemas-microsoft-com:vml" Requires="v">
                <p:oleObj spid="_x0000_s11446" r:id="rId8" imgW="558800" imgH="228600" progId="Equation.DSMT4">
                  <p:embed/>
                </p:oleObj>
              </mc:Choice>
              <mc:Fallback>
                <p:oleObj r:id="rId8" imgW="558800" imgH="228600" progId="Equation.DSMT4">
                  <p:embed/>
                  <p:pic>
                    <p:nvPicPr>
                      <p:cNvPr id="0" name="图片 3104"/>
                      <p:cNvPicPr/>
                      <p:nvPr/>
                    </p:nvPicPr>
                    <p:blipFill>
                      <a:blip r:embed="rId9"/>
                      <a:stretch>
                        <a:fillRect/>
                      </a:stretch>
                    </p:blipFill>
                    <p:spPr>
                      <a:xfrm>
                        <a:off x="8915400" y="4021138"/>
                        <a:ext cx="1044575" cy="423862"/>
                      </a:xfrm>
                      <a:prstGeom prst="rect">
                        <a:avLst/>
                      </a:prstGeom>
                      <a:noFill/>
                      <a:ln w="38100">
                        <a:noFill/>
                        <a:miter/>
                      </a:ln>
                    </p:spPr>
                  </p:pic>
                </p:oleObj>
              </mc:Fallback>
            </mc:AlternateContent>
          </a:graphicData>
        </a:graphic>
      </p:graphicFrame>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使用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极大似然估计</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得到高斯混合模型的参数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的对数似然可以写作</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6349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349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349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349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349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3496" name="对象 8"/>
          <p:cNvGraphicFramePr>
            <a:graphicFrameLocks noChangeAspect="1"/>
          </p:cNvGraphicFramePr>
          <p:nvPr/>
        </p:nvGraphicFramePr>
        <p:xfrm>
          <a:off x="8572500" y="1906588"/>
          <a:ext cx="1044575" cy="423862"/>
        </p:xfrm>
        <a:graphic>
          <a:graphicData uri="http://schemas.openxmlformats.org/presentationml/2006/ole">
            <mc:AlternateContent xmlns:mc="http://schemas.openxmlformats.org/markup-compatibility/2006">
              <mc:Choice xmlns:v="urn:schemas-microsoft-com:vml" Requires="v">
                <p:oleObj spid="_x0000_s12471" r:id="rId4" imgW="558800" imgH="228600" progId="Equation.DSMT4">
                  <p:embed/>
                </p:oleObj>
              </mc:Choice>
              <mc:Fallback>
                <p:oleObj r:id="rId4" imgW="558800" imgH="228600" progId="Equation.DSMT4">
                  <p:embed/>
                  <p:pic>
                    <p:nvPicPr>
                      <p:cNvPr id="0" name="图片 3105"/>
                      <p:cNvPicPr/>
                      <p:nvPr/>
                    </p:nvPicPr>
                    <p:blipFill>
                      <a:blip r:embed="rId5"/>
                      <a:stretch>
                        <a:fillRect/>
                      </a:stretch>
                    </p:blipFill>
                    <p:spPr>
                      <a:xfrm>
                        <a:off x="8572500" y="1906588"/>
                        <a:ext cx="1044575" cy="423862"/>
                      </a:xfrm>
                      <a:prstGeom prst="rect">
                        <a:avLst/>
                      </a:prstGeom>
                      <a:noFill/>
                      <a:ln w="38100">
                        <a:noFill/>
                        <a:miter/>
                      </a:ln>
                    </p:spPr>
                  </p:pic>
                </p:oleObj>
              </mc:Fallback>
            </mc:AlternateContent>
          </a:graphicData>
        </a:graphic>
      </p:graphicFrame>
      <p:sp>
        <p:nvSpPr>
          <p:cNvPr id="63497"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3498" name="对象 6"/>
          <p:cNvGraphicFramePr>
            <a:graphicFrameLocks noChangeAspect="1"/>
          </p:cNvGraphicFramePr>
          <p:nvPr/>
        </p:nvGraphicFramePr>
        <p:xfrm>
          <a:off x="2030413" y="2495550"/>
          <a:ext cx="946150" cy="419100"/>
        </p:xfrm>
        <a:graphic>
          <a:graphicData uri="http://schemas.openxmlformats.org/presentationml/2006/ole">
            <mc:AlternateContent xmlns:mc="http://schemas.openxmlformats.org/markup-compatibility/2006">
              <mc:Choice xmlns:v="urn:schemas-microsoft-com:vml" Requires="v">
                <p:oleObj spid="_x0000_s12472" r:id="rId6" imgW="508000" imgH="228600" progId="Equation.DSMT4">
                  <p:embed/>
                </p:oleObj>
              </mc:Choice>
              <mc:Fallback>
                <p:oleObj r:id="rId6" imgW="508000" imgH="228600" progId="Equation.DSMT4">
                  <p:embed/>
                  <p:pic>
                    <p:nvPicPr>
                      <p:cNvPr id="0" name="图片 3107"/>
                      <p:cNvPicPr/>
                      <p:nvPr/>
                    </p:nvPicPr>
                    <p:blipFill>
                      <a:blip r:embed="rId7"/>
                      <a:stretch>
                        <a:fillRect/>
                      </a:stretch>
                    </p:blipFill>
                    <p:spPr>
                      <a:xfrm>
                        <a:off x="2030413" y="2495550"/>
                        <a:ext cx="946150" cy="419100"/>
                      </a:xfrm>
                      <a:prstGeom prst="rect">
                        <a:avLst/>
                      </a:prstGeom>
                      <a:noFill/>
                      <a:ln w="38100">
                        <a:noFill/>
                        <a:miter/>
                      </a:ln>
                    </p:spPr>
                  </p:pic>
                </p:oleObj>
              </mc:Fallback>
            </mc:AlternateContent>
          </a:graphicData>
        </a:graphic>
      </p:graphicFrame>
      <p:sp>
        <p:nvSpPr>
          <p:cNvPr id="63499" name="Rectangle 1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3500" name="对象 12"/>
          <p:cNvGraphicFramePr>
            <a:graphicFrameLocks noChangeAspect="1"/>
          </p:cNvGraphicFramePr>
          <p:nvPr/>
        </p:nvGraphicFramePr>
        <p:xfrm>
          <a:off x="2811463" y="3284538"/>
          <a:ext cx="6569075" cy="1638300"/>
        </p:xfrm>
        <a:graphic>
          <a:graphicData uri="http://schemas.openxmlformats.org/presentationml/2006/ole">
            <mc:AlternateContent xmlns:mc="http://schemas.openxmlformats.org/markup-compatibility/2006">
              <mc:Choice xmlns:v="urn:schemas-microsoft-com:vml" Requires="v">
                <p:oleObj spid="_x0000_s12473" name="Equation" r:id="rId8" imgW="95402400" imgH="23774400" progId="Equation.DSMT4">
                  <p:embed/>
                </p:oleObj>
              </mc:Choice>
              <mc:Fallback>
                <p:oleObj name="Equation" r:id="rId8" imgW="95402400" imgH="23774400" progId="Equation.DSMT4">
                  <p:embed/>
                  <p:pic>
                    <p:nvPicPr>
                      <p:cNvPr id="0" name="图片 3106"/>
                      <p:cNvPicPr/>
                      <p:nvPr/>
                    </p:nvPicPr>
                    <p:blipFill>
                      <a:blip r:embed="rId9"/>
                      <a:stretch>
                        <a:fillRect/>
                      </a:stretch>
                    </p:blipFill>
                    <p:spPr>
                      <a:xfrm>
                        <a:off x="2811463" y="3284538"/>
                        <a:ext cx="6569075" cy="1638300"/>
                      </a:xfrm>
                      <a:prstGeom prst="rect">
                        <a:avLst/>
                      </a:prstGeom>
                      <a:noFill/>
                      <a:ln w="38100">
                        <a:noFill/>
                        <a:miter/>
                      </a:ln>
                    </p:spPr>
                  </p:pic>
                </p:oleObj>
              </mc:Fallback>
            </mc:AlternateContent>
          </a:graphicData>
        </a:graphic>
      </p:graphicFrame>
      <p:sp>
        <p:nvSpPr>
          <p:cNvPr id="63501" name="文本框 13"/>
          <p:cNvSpPr txBox="1"/>
          <p:nvPr/>
        </p:nvSpPr>
        <p:spPr>
          <a:xfrm>
            <a:off x="2119313" y="5292725"/>
            <a:ext cx="7953375" cy="369888"/>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第一项是基于有标记数据的</a:t>
            </a:r>
            <a:r>
              <a:rPr lang="zh-CN" altLang="en-US" b="1" dirty="0">
                <a:solidFill>
                  <a:srgbClr val="FF0000"/>
                </a:solidFill>
                <a:latin typeface="宋体" panose="02010600030101010101" pitchFamily="2" charset="-122"/>
                <a:ea typeface="宋体" panose="02010600030101010101" pitchFamily="2" charset="-122"/>
              </a:rPr>
              <a:t>有监督项</a:t>
            </a:r>
            <a:r>
              <a:rPr lang="zh-CN" altLang="en-US" b="1" dirty="0">
                <a:latin typeface="宋体" panose="02010600030101010101" pitchFamily="2" charset="-122"/>
                <a:ea typeface="宋体" panose="02010600030101010101" pitchFamily="2" charset="-122"/>
              </a:rPr>
              <a:t>，第二项是基于未标记数据的</a:t>
            </a:r>
            <a:r>
              <a:rPr lang="zh-CN" altLang="en-US" b="1" dirty="0">
                <a:solidFill>
                  <a:srgbClr val="FF0000"/>
                </a:solidFill>
                <a:latin typeface="宋体" panose="02010600030101010101" pitchFamily="2" charset="-122"/>
                <a:ea typeface="宋体" panose="02010600030101010101" pitchFamily="2" charset="-122"/>
              </a:rPr>
              <a:t>无监督项</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使用</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EM</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算法</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对其参数       进行求解</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E</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步骤：根据目前的模型各参数计算未标记样本  属于各高斯混合成分的概率。</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6553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554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554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554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554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5544"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5545" name="对象 6"/>
          <p:cNvGraphicFramePr>
            <a:graphicFrameLocks noChangeAspect="1"/>
          </p:cNvGraphicFramePr>
          <p:nvPr/>
        </p:nvGraphicFramePr>
        <p:xfrm>
          <a:off x="9372600" y="2409825"/>
          <a:ext cx="342900" cy="485775"/>
        </p:xfrm>
        <a:graphic>
          <a:graphicData uri="http://schemas.openxmlformats.org/presentationml/2006/ole">
            <mc:AlternateContent xmlns:mc="http://schemas.openxmlformats.org/markup-compatibility/2006">
              <mc:Choice xmlns:v="urn:schemas-microsoft-com:vml" Requires="v">
                <p:oleObj spid="_x0000_s13492" r:id="rId4" imgW="152400" imgH="228600" progId="Equation.DSMT4">
                  <p:embed/>
                </p:oleObj>
              </mc:Choice>
              <mc:Fallback>
                <p:oleObj r:id="rId4" imgW="152400" imgH="228600" progId="Equation.DSMT4">
                  <p:embed/>
                  <p:pic>
                    <p:nvPicPr>
                      <p:cNvPr id="0" name="图片 3108"/>
                      <p:cNvPicPr/>
                      <p:nvPr/>
                    </p:nvPicPr>
                    <p:blipFill>
                      <a:blip r:embed="rId5"/>
                      <a:stretch>
                        <a:fillRect/>
                      </a:stretch>
                    </p:blipFill>
                    <p:spPr>
                      <a:xfrm>
                        <a:off x="9372600" y="2409825"/>
                        <a:ext cx="342900" cy="485775"/>
                      </a:xfrm>
                      <a:prstGeom prst="rect">
                        <a:avLst/>
                      </a:prstGeom>
                      <a:noFill/>
                      <a:ln w="38100">
                        <a:noFill/>
                        <a:miter/>
                      </a:ln>
                    </p:spPr>
                  </p:pic>
                </p:oleObj>
              </mc:Fallback>
            </mc:AlternateContent>
          </a:graphicData>
        </a:graphic>
      </p:graphicFrame>
      <p:sp>
        <p:nvSpPr>
          <p:cNvPr id="6554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5547" name="对象 10"/>
          <p:cNvGraphicFramePr>
            <a:graphicFrameLocks noChangeAspect="1"/>
          </p:cNvGraphicFramePr>
          <p:nvPr/>
        </p:nvGraphicFramePr>
        <p:xfrm>
          <a:off x="4441825" y="3552825"/>
          <a:ext cx="3308350" cy="1409700"/>
        </p:xfrm>
        <a:graphic>
          <a:graphicData uri="http://schemas.openxmlformats.org/presentationml/2006/ole">
            <mc:AlternateContent xmlns:mc="http://schemas.openxmlformats.org/markup-compatibility/2006">
              <mc:Choice xmlns:v="urn:schemas-microsoft-com:vml" Requires="v">
                <p:oleObj spid="_x0000_s13493" r:id="rId6" imgW="1600200" imgH="685800" progId="Equation.DSMT4">
                  <p:embed/>
                </p:oleObj>
              </mc:Choice>
              <mc:Fallback>
                <p:oleObj r:id="rId6" imgW="1600200" imgH="685800" progId="Equation.DSMT4">
                  <p:embed/>
                  <p:pic>
                    <p:nvPicPr>
                      <p:cNvPr id="0" name="图片 3109"/>
                      <p:cNvPicPr/>
                      <p:nvPr/>
                    </p:nvPicPr>
                    <p:blipFill>
                      <a:blip r:embed="rId7"/>
                      <a:stretch>
                        <a:fillRect/>
                      </a:stretch>
                    </p:blipFill>
                    <p:spPr>
                      <a:xfrm>
                        <a:off x="4441825" y="3552825"/>
                        <a:ext cx="3308350" cy="1409700"/>
                      </a:xfrm>
                      <a:prstGeom prst="rect">
                        <a:avLst/>
                      </a:prstGeom>
                      <a:noFill/>
                      <a:ln w="38100">
                        <a:noFill/>
                        <a:miter/>
                      </a:ln>
                    </p:spPr>
                  </p:pic>
                </p:oleObj>
              </mc:Fallback>
            </mc:AlternateContent>
          </a:graphicData>
        </a:graphic>
      </p:graphicFrame>
      <p:graphicFrame>
        <p:nvGraphicFramePr>
          <p:cNvPr id="65548" name="对象 12"/>
          <p:cNvGraphicFramePr>
            <a:graphicFrameLocks noChangeAspect="1"/>
          </p:cNvGraphicFramePr>
          <p:nvPr/>
        </p:nvGraphicFramePr>
        <p:xfrm>
          <a:off x="5000625" y="1906588"/>
          <a:ext cx="1044575" cy="423862"/>
        </p:xfrm>
        <a:graphic>
          <a:graphicData uri="http://schemas.openxmlformats.org/presentationml/2006/ole">
            <mc:AlternateContent xmlns:mc="http://schemas.openxmlformats.org/markup-compatibility/2006">
              <mc:Choice xmlns:v="urn:schemas-microsoft-com:vml" Requires="v">
                <p:oleObj spid="_x0000_s13494" r:id="rId8" imgW="558800" imgH="228600" progId="Equation.DSMT4">
                  <p:embed/>
                </p:oleObj>
              </mc:Choice>
              <mc:Fallback>
                <p:oleObj r:id="rId8" imgW="558800" imgH="228600" progId="Equation.DSMT4">
                  <p:embed/>
                  <p:pic>
                    <p:nvPicPr>
                      <p:cNvPr id="0" name="图片 3110"/>
                      <p:cNvPicPr/>
                      <p:nvPr/>
                    </p:nvPicPr>
                    <p:blipFill>
                      <a:blip r:embed="rId9"/>
                      <a:stretch>
                        <a:fillRect/>
                      </a:stretch>
                    </p:blipFill>
                    <p:spPr>
                      <a:xfrm>
                        <a:off x="5000625" y="1906588"/>
                        <a:ext cx="1044575" cy="423862"/>
                      </a:xfrm>
                      <a:prstGeom prst="rect">
                        <a:avLst/>
                      </a:prstGeom>
                      <a:noFill/>
                      <a:ln w="38100">
                        <a:noFill/>
                        <a:miter/>
                      </a:ln>
                    </p:spPr>
                  </p:pic>
                </p:oleObj>
              </mc:Fallback>
            </mc:AlternateContent>
          </a:graphicData>
        </a:graphic>
      </p:graphicFrame>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使用</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EM</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算法</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对其</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参数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进行求解</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步骤：根据   重新更新</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参数。</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6758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8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8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9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9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92"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93"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7594"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7595" name="对象 12"/>
          <p:cNvGraphicFramePr>
            <a:graphicFrameLocks noChangeAspect="1"/>
          </p:cNvGraphicFramePr>
          <p:nvPr/>
        </p:nvGraphicFramePr>
        <p:xfrm>
          <a:off x="4070350" y="2446338"/>
          <a:ext cx="419100" cy="455612"/>
        </p:xfrm>
        <a:graphic>
          <a:graphicData uri="http://schemas.openxmlformats.org/presentationml/2006/ole">
            <mc:AlternateContent xmlns:mc="http://schemas.openxmlformats.org/markup-compatibility/2006">
              <mc:Choice xmlns:v="urn:schemas-microsoft-com:vml" Requires="v">
                <p:oleObj spid="_x0000_s14752" r:id="rId4" imgW="215900" imgH="241300" progId="Equation.DSMT4">
                  <p:embed/>
                </p:oleObj>
              </mc:Choice>
              <mc:Fallback>
                <p:oleObj r:id="rId4" imgW="215900" imgH="241300" progId="Equation.DSMT4">
                  <p:embed/>
                  <p:pic>
                    <p:nvPicPr>
                      <p:cNvPr id="0" name="图片 3117"/>
                      <p:cNvPicPr/>
                      <p:nvPr/>
                    </p:nvPicPr>
                    <p:blipFill>
                      <a:blip r:embed="rId5"/>
                      <a:stretch>
                        <a:fillRect/>
                      </a:stretch>
                    </p:blipFill>
                    <p:spPr>
                      <a:xfrm>
                        <a:off x="4070350" y="2446338"/>
                        <a:ext cx="419100" cy="455612"/>
                      </a:xfrm>
                      <a:prstGeom prst="rect">
                        <a:avLst/>
                      </a:prstGeom>
                      <a:noFill/>
                      <a:ln w="38100">
                        <a:noFill/>
                        <a:miter/>
                      </a:ln>
                    </p:spPr>
                  </p:pic>
                </p:oleObj>
              </mc:Fallback>
            </mc:AlternateContent>
          </a:graphicData>
        </a:graphic>
      </p:graphicFrame>
      <p:sp>
        <p:nvSpPr>
          <p:cNvPr id="67596" name="Rectangle 1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7597" name="对象 14"/>
          <p:cNvGraphicFramePr>
            <a:graphicFrameLocks noChangeAspect="1"/>
          </p:cNvGraphicFramePr>
          <p:nvPr/>
        </p:nvGraphicFramePr>
        <p:xfrm>
          <a:off x="1255713" y="4591050"/>
          <a:ext cx="4551362" cy="1049338"/>
        </p:xfrm>
        <a:graphic>
          <a:graphicData uri="http://schemas.openxmlformats.org/presentationml/2006/ole">
            <mc:AlternateContent xmlns:mc="http://schemas.openxmlformats.org/markup-compatibility/2006">
              <mc:Choice xmlns:v="urn:schemas-microsoft-com:vml" Requires="v">
                <p:oleObj spid="_x0000_s14753" r:id="rId6" imgW="2806700" imgH="647700" progId="Equation.DSMT4">
                  <p:embed/>
                </p:oleObj>
              </mc:Choice>
              <mc:Fallback>
                <p:oleObj r:id="rId6" imgW="2806700" imgH="647700" progId="Equation.DSMT4">
                  <p:embed/>
                  <p:pic>
                    <p:nvPicPr>
                      <p:cNvPr id="0" name="图片 3113"/>
                      <p:cNvPicPr/>
                      <p:nvPr/>
                    </p:nvPicPr>
                    <p:blipFill>
                      <a:blip r:embed="rId7"/>
                      <a:stretch>
                        <a:fillRect/>
                      </a:stretch>
                    </p:blipFill>
                    <p:spPr>
                      <a:xfrm>
                        <a:off x="1255713" y="4591050"/>
                        <a:ext cx="4551362" cy="1049338"/>
                      </a:xfrm>
                      <a:prstGeom prst="rect">
                        <a:avLst/>
                      </a:prstGeom>
                      <a:noFill/>
                      <a:ln w="38100">
                        <a:noFill/>
                        <a:miter/>
                      </a:ln>
                    </p:spPr>
                  </p:pic>
                </p:oleObj>
              </mc:Fallback>
            </mc:AlternateContent>
          </a:graphicData>
        </a:graphic>
      </p:graphicFrame>
      <p:sp>
        <p:nvSpPr>
          <p:cNvPr id="67598" name="Rectangle 13"/>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7599" name="对象 17"/>
          <p:cNvGraphicFramePr>
            <a:graphicFrameLocks noChangeAspect="1"/>
          </p:cNvGraphicFramePr>
          <p:nvPr/>
        </p:nvGraphicFramePr>
        <p:xfrm>
          <a:off x="6437313" y="3273425"/>
          <a:ext cx="4587875" cy="1990725"/>
        </p:xfrm>
        <a:graphic>
          <a:graphicData uri="http://schemas.openxmlformats.org/presentationml/2006/ole">
            <mc:AlternateContent xmlns:mc="http://schemas.openxmlformats.org/markup-compatibility/2006">
              <mc:Choice xmlns:v="urn:schemas-microsoft-com:vml" Requires="v">
                <p:oleObj spid="_x0000_s14754" r:id="rId8" imgW="2806700" imgH="1219200" progId="Equation.DSMT4">
                  <p:embed/>
                </p:oleObj>
              </mc:Choice>
              <mc:Fallback>
                <p:oleObj r:id="rId8" imgW="2806700" imgH="1219200" progId="Equation.DSMT4">
                  <p:embed/>
                  <p:pic>
                    <p:nvPicPr>
                      <p:cNvPr id="0" name="图片 3115"/>
                      <p:cNvPicPr/>
                      <p:nvPr/>
                    </p:nvPicPr>
                    <p:blipFill>
                      <a:blip r:embed="rId9"/>
                      <a:stretch>
                        <a:fillRect/>
                      </a:stretch>
                    </p:blipFill>
                    <p:spPr>
                      <a:xfrm>
                        <a:off x="6437313" y="3273425"/>
                        <a:ext cx="4587875" cy="1990725"/>
                      </a:xfrm>
                      <a:prstGeom prst="rect">
                        <a:avLst/>
                      </a:prstGeom>
                      <a:noFill/>
                      <a:ln w="38100">
                        <a:noFill/>
                        <a:miter/>
                      </a:ln>
                    </p:spPr>
                  </p:pic>
                </p:oleObj>
              </mc:Fallback>
            </mc:AlternateContent>
          </a:graphicData>
        </a:graphic>
      </p:graphicFrame>
      <p:sp>
        <p:nvSpPr>
          <p:cNvPr id="67600"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7601" name="对象 19"/>
          <p:cNvGraphicFramePr>
            <a:graphicFrameLocks noChangeAspect="1"/>
          </p:cNvGraphicFramePr>
          <p:nvPr/>
        </p:nvGraphicFramePr>
        <p:xfrm>
          <a:off x="2341563" y="3273425"/>
          <a:ext cx="2386012" cy="960438"/>
        </p:xfrm>
        <a:graphic>
          <a:graphicData uri="http://schemas.openxmlformats.org/presentationml/2006/ole">
            <mc:AlternateContent xmlns:mc="http://schemas.openxmlformats.org/markup-compatibility/2006">
              <mc:Choice xmlns:v="urn:schemas-microsoft-com:vml" Requires="v">
                <p:oleObj spid="_x0000_s14755" r:id="rId10" imgW="1320165" imgH="533400" progId="Equation.DSMT4">
                  <p:embed/>
                </p:oleObj>
              </mc:Choice>
              <mc:Fallback>
                <p:oleObj r:id="rId10" imgW="1320165" imgH="533400" progId="Equation.DSMT4">
                  <p:embed/>
                  <p:pic>
                    <p:nvPicPr>
                      <p:cNvPr id="0" name="图片 3111"/>
                      <p:cNvPicPr/>
                      <p:nvPr/>
                    </p:nvPicPr>
                    <p:blipFill>
                      <a:blip r:embed="rId11"/>
                      <a:stretch>
                        <a:fillRect/>
                      </a:stretch>
                    </p:blipFill>
                    <p:spPr>
                      <a:xfrm>
                        <a:off x="2341563" y="3273425"/>
                        <a:ext cx="2386012" cy="960438"/>
                      </a:xfrm>
                      <a:prstGeom prst="rect">
                        <a:avLst/>
                      </a:prstGeom>
                      <a:noFill/>
                      <a:ln w="38100">
                        <a:noFill/>
                        <a:miter/>
                      </a:ln>
                    </p:spPr>
                  </p:pic>
                </p:oleObj>
              </mc:Fallback>
            </mc:AlternateContent>
          </a:graphicData>
        </a:graphic>
      </p:graphicFrame>
      <p:graphicFrame>
        <p:nvGraphicFramePr>
          <p:cNvPr id="67602" name="对象 20"/>
          <p:cNvGraphicFramePr>
            <a:graphicFrameLocks noChangeAspect="1"/>
          </p:cNvGraphicFramePr>
          <p:nvPr/>
        </p:nvGraphicFramePr>
        <p:xfrm>
          <a:off x="5000625" y="1906588"/>
          <a:ext cx="1044575" cy="423862"/>
        </p:xfrm>
        <a:graphic>
          <a:graphicData uri="http://schemas.openxmlformats.org/presentationml/2006/ole">
            <mc:AlternateContent xmlns:mc="http://schemas.openxmlformats.org/markup-compatibility/2006">
              <mc:Choice xmlns:v="urn:schemas-microsoft-com:vml" Requires="v">
                <p:oleObj spid="_x0000_s14756" r:id="rId12" imgW="558800" imgH="228600" progId="Equation.DSMT4">
                  <p:embed/>
                </p:oleObj>
              </mc:Choice>
              <mc:Fallback>
                <p:oleObj r:id="rId12" imgW="558800" imgH="228600" progId="Equation.DSMT4">
                  <p:embed/>
                  <p:pic>
                    <p:nvPicPr>
                      <p:cNvPr id="0" name="图片 3116"/>
                      <p:cNvPicPr/>
                      <p:nvPr/>
                    </p:nvPicPr>
                    <p:blipFill>
                      <a:blip r:embed="rId13"/>
                      <a:stretch>
                        <a:fillRect/>
                      </a:stretch>
                    </p:blipFill>
                    <p:spPr>
                      <a:xfrm>
                        <a:off x="5000625" y="1906588"/>
                        <a:ext cx="1044575" cy="423862"/>
                      </a:xfrm>
                      <a:prstGeom prst="rect">
                        <a:avLst/>
                      </a:prstGeom>
                      <a:noFill/>
                      <a:ln w="38100">
                        <a:noFill/>
                        <a:miter/>
                      </a:ln>
                    </p:spPr>
                  </p:pic>
                </p:oleObj>
              </mc:Fallback>
            </mc:AlternateContent>
          </a:graphicData>
        </a:graphic>
      </p:graphicFrame>
      <p:cxnSp>
        <p:nvCxnSpPr>
          <p:cNvPr id="23" name="直接连接符 22"/>
          <p:cNvCxnSpPr/>
          <p:nvPr/>
        </p:nvCxnSpPr>
        <p:spPr bwMode="auto">
          <a:xfrm>
            <a:off x="6096000" y="3200400"/>
            <a:ext cx="0" cy="2439988"/>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7604" name="文本框 23"/>
          <p:cNvSpPr txBox="1"/>
          <p:nvPr/>
        </p:nvSpPr>
        <p:spPr>
          <a:xfrm>
            <a:off x="4470400" y="6000750"/>
            <a:ext cx="4340225" cy="369888"/>
          </a:xfrm>
          <a:prstGeom prst="rect">
            <a:avLst/>
          </a:prstGeom>
          <a:noFill/>
          <a:ln w="9525">
            <a:noFill/>
          </a:ln>
        </p:spPr>
        <p:txBody>
          <a:bodyPr anchor="t" anchorCtr="0">
            <a:spAutoFit/>
          </a:bodyPr>
          <a:lstStyle/>
          <a:p>
            <a:pPr>
              <a:buClrTx/>
              <a:buFontTx/>
            </a:pPr>
            <a:r>
              <a:rPr lang="zh-CN" altLang="en-US" dirty="0">
                <a:latin typeface="Times New Roman" panose="02020603050405020304" pitchFamily="18" charset="0"/>
                <a:ea typeface="华文新魏" panose="02010800040101010101" pitchFamily="2" charset="-122"/>
              </a:rPr>
              <a:t> </a:t>
            </a:r>
            <a:r>
              <a:rPr lang="zh-CN" altLang="en-US" b="1" dirty="0">
                <a:latin typeface="宋体" panose="02010600030101010101" pitchFamily="2" charset="-122"/>
                <a:ea typeface="宋体" panose="02010600030101010101" pitchFamily="2" charset="-122"/>
              </a:rPr>
              <a:t>表示第  类中有标记数据的个数</a:t>
            </a:r>
          </a:p>
        </p:txBody>
      </p:sp>
      <p:sp>
        <p:nvSpPr>
          <p:cNvPr id="67605" name="Rectangle 5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67606" name="对象 30"/>
          <p:cNvGraphicFramePr>
            <a:graphicFrameLocks noChangeAspect="1"/>
          </p:cNvGraphicFramePr>
          <p:nvPr/>
        </p:nvGraphicFramePr>
        <p:xfrm>
          <a:off x="4371975" y="6007100"/>
          <a:ext cx="269875" cy="379413"/>
        </p:xfrm>
        <a:graphic>
          <a:graphicData uri="http://schemas.openxmlformats.org/presentationml/2006/ole">
            <mc:AlternateContent xmlns:mc="http://schemas.openxmlformats.org/markup-compatibility/2006">
              <mc:Choice xmlns:v="urn:schemas-microsoft-com:vml" Requires="v">
                <p:oleObj spid="_x0000_s14757" r:id="rId14" imgW="114300" imgH="228600" progId="Equation.DSMT4">
                  <p:embed/>
                </p:oleObj>
              </mc:Choice>
              <mc:Fallback>
                <p:oleObj r:id="rId14" imgW="114300" imgH="228600" progId="Equation.DSMT4">
                  <p:embed/>
                  <p:pic>
                    <p:nvPicPr>
                      <p:cNvPr id="0" name="图片 3112"/>
                      <p:cNvPicPr/>
                      <p:nvPr/>
                    </p:nvPicPr>
                    <p:blipFill>
                      <a:blip r:embed="rId15"/>
                      <a:stretch>
                        <a:fillRect/>
                      </a:stretch>
                    </p:blipFill>
                    <p:spPr>
                      <a:xfrm>
                        <a:off x="4371975" y="6007100"/>
                        <a:ext cx="269875" cy="379413"/>
                      </a:xfrm>
                      <a:prstGeom prst="rect">
                        <a:avLst/>
                      </a:prstGeom>
                      <a:noFill/>
                      <a:ln w="38100">
                        <a:noFill/>
                        <a:miter/>
                      </a:ln>
                    </p:spPr>
                  </p:pic>
                </p:oleObj>
              </mc:Fallback>
            </mc:AlternateContent>
          </a:graphicData>
        </a:graphic>
      </p:graphicFrame>
      <p:graphicFrame>
        <p:nvGraphicFramePr>
          <p:cNvPr id="67607" name="对象 31"/>
          <p:cNvGraphicFramePr>
            <a:graphicFrameLocks noChangeAspect="1"/>
          </p:cNvGraphicFramePr>
          <p:nvPr/>
        </p:nvGraphicFramePr>
        <p:xfrm>
          <a:off x="5346700" y="6035675"/>
          <a:ext cx="206375" cy="287338"/>
        </p:xfrm>
        <a:graphic>
          <a:graphicData uri="http://schemas.openxmlformats.org/presentationml/2006/ole">
            <mc:AlternateContent xmlns:mc="http://schemas.openxmlformats.org/markup-compatibility/2006">
              <mc:Choice xmlns:v="urn:schemas-microsoft-com:vml" Requires="v">
                <p:oleObj spid="_x0000_s14758" r:id="rId16" imgW="88900" imgH="164465" progId="Equation.DSMT4">
                  <p:embed/>
                </p:oleObj>
              </mc:Choice>
              <mc:Fallback>
                <p:oleObj r:id="rId16" imgW="88900" imgH="164465" progId="Equation.DSMT4">
                  <p:embed/>
                  <p:pic>
                    <p:nvPicPr>
                      <p:cNvPr id="0" name="图片 3114"/>
                      <p:cNvPicPr/>
                      <p:nvPr/>
                    </p:nvPicPr>
                    <p:blipFill>
                      <a:blip r:embed="rId17"/>
                      <a:stretch>
                        <a:fillRect/>
                      </a:stretch>
                    </p:blipFill>
                    <p:spPr>
                      <a:xfrm>
                        <a:off x="5346700" y="6035675"/>
                        <a:ext cx="206375" cy="287338"/>
                      </a:xfrm>
                      <a:prstGeom prst="rect">
                        <a:avLst/>
                      </a:prstGeom>
                      <a:noFill/>
                      <a:ln w="38100">
                        <a:noFill/>
                        <a:miter/>
                      </a:ln>
                    </p:spPr>
                  </p:pic>
                </p:oleObj>
              </mc:Fallback>
            </mc:AlternateContent>
          </a:graphicData>
        </a:graphic>
      </p:graphicFrame>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小结</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将此过程中的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高斯混合模型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替换成其他各类模型，可以得到其他多种生成式半监督模型。</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如果模型不能和</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真实数据的分布</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相符合，那么采用未标记数据会降低模型的性能，方法就不再有效。</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在实际应用中，很难得到一个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正确</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的模型假设，所以此方法实用性并不高。</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6963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963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963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963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6963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120959" y="1814112"/>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华文新魏" panose="02010800040101010101" pitchFamily="2" charset="-122"/>
              </a:rPr>
              <a:t>10.2.2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半监督</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SVM</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鉴于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支持向量机</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）在模式识别领域的蓬勃发展，研究人员将其推广到了半监督学习领域，产生了半监督</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，其中使用最广泛的是</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在统计学习中，</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转导推理</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err="1">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Transductive</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Inference</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）是一种通过观察特定的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训练样本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，进而预测特定的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测试样本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的方法。将转导的思想应用于半监督学习中与</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结合，进而形成</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7168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168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168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168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168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针对的问题</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与标准</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相同，</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针对的是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二分类问题</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3333CC"/>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的实现框架</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首先将未标记样本都分别看作正例或者反例。</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在所有这些结果中，寻求一个在所有样本上间隔最大化的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划分超平面</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当划分超平面确定后，未标记样本最终的标记也就是它的预测结果。</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7373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373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373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373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373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给定标记样本集                     和未标记样本集                ，且</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目标是给出   中的样本的预测标记                     使得划分超平面具有</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最大边界</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7577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578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578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578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578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5784"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75785" name="对象 6"/>
          <p:cNvGraphicFramePr>
            <a:graphicFrameLocks noChangeAspect="1"/>
          </p:cNvGraphicFramePr>
          <p:nvPr/>
        </p:nvGraphicFramePr>
        <p:xfrm>
          <a:off x="4625975" y="2447925"/>
          <a:ext cx="3563938" cy="476250"/>
        </p:xfrm>
        <a:graphic>
          <a:graphicData uri="http://schemas.openxmlformats.org/presentationml/2006/ole">
            <mc:AlternateContent xmlns:mc="http://schemas.openxmlformats.org/markup-compatibility/2006">
              <mc:Choice xmlns:v="urn:schemas-microsoft-com:vml" Requires="v">
                <p:oleObj spid="_x0000_s15684" r:id="rId4" imgW="2070100" imgH="279400" progId="Equation.DSMT4">
                  <p:embed/>
                </p:oleObj>
              </mc:Choice>
              <mc:Fallback>
                <p:oleObj r:id="rId4" imgW="2070100" imgH="279400" progId="Equation.DSMT4">
                  <p:embed/>
                  <p:pic>
                    <p:nvPicPr>
                      <p:cNvPr id="0" name="图片 3120"/>
                      <p:cNvPicPr/>
                      <p:nvPr/>
                    </p:nvPicPr>
                    <p:blipFill>
                      <a:blip r:embed="rId5"/>
                      <a:stretch>
                        <a:fillRect/>
                      </a:stretch>
                    </p:blipFill>
                    <p:spPr>
                      <a:xfrm>
                        <a:off x="4625975" y="2447925"/>
                        <a:ext cx="3563938" cy="476250"/>
                      </a:xfrm>
                      <a:prstGeom prst="rect">
                        <a:avLst/>
                      </a:prstGeom>
                      <a:noFill/>
                      <a:ln w="38100">
                        <a:noFill/>
                        <a:miter/>
                      </a:ln>
                    </p:spPr>
                  </p:pic>
                </p:oleObj>
              </mc:Fallback>
            </mc:AlternateContent>
          </a:graphicData>
        </a:graphic>
      </p:graphicFrame>
      <p:sp>
        <p:nvSpPr>
          <p:cNvPr id="75786" name="Rectangle 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75787" name="对象 10"/>
          <p:cNvGraphicFramePr>
            <a:graphicFrameLocks noChangeAspect="1"/>
          </p:cNvGraphicFramePr>
          <p:nvPr/>
        </p:nvGraphicFramePr>
        <p:xfrm>
          <a:off x="2171700" y="2924175"/>
          <a:ext cx="2698750" cy="476250"/>
        </p:xfrm>
        <a:graphic>
          <a:graphicData uri="http://schemas.openxmlformats.org/presentationml/2006/ole">
            <mc:AlternateContent xmlns:mc="http://schemas.openxmlformats.org/markup-compatibility/2006">
              <mc:Choice xmlns:v="urn:schemas-microsoft-com:vml" Requires="v">
                <p:oleObj spid="_x0000_s15685" r:id="rId6" imgW="1459865" imgH="254000" progId="Equation.DSMT4">
                  <p:embed/>
                </p:oleObj>
              </mc:Choice>
              <mc:Fallback>
                <p:oleObj r:id="rId6" imgW="1459865" imgH="254000" progId="Equation.DSMT4">
                  <p:embed/>
                  <p:pic>
                    <p:nvPicPr>
                      <p:cNvPr id="0" name="图片 3121"/>
                      <p:cNvPicPr/>
                      <p:nvPr/>
                    </p:nvPicPr>
                    <p:blipFill>
                      <a:blip r:embed="rId7"/>
                      <a:stretch>
                        <a:fillRect/>
                      </a:stretch>
                    </p:blipFill>
                    <p:spPr>
                      <a:xfrm>
                        <a:off x="2171700" y="2924175"/>
                        <a:ext cx="2698750" cy="476250"/>
                      </a:xfrm>
                      <a:prstGeom prst="rect">
                        <a:avLst/>
                      </a:prstGeom>
                      <a:noFill/>
                      <a:ln w="38100">
                        <a:noFill/>
                        <a:miter/>
                      </a:ln>
                    </p:spPr>
                  </p:pic>
                </p:oleObj>
              </mc:Fallback>
            </mc:AlternateContent>
          </a:graphicData>
        </a:graphic>
      </p:graphicFrame>
      <p:sp>
        <p:nvSpPr>
          <p:cNvPr id="75788"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75789" name="对象 12"/>
          <p:cNvGraphicFramePr>
            <a:graphicFrameLocks noChangeAspect="1"/>
          </p:cNvGraphicFramePr>
          <p:nvPr/>
        </p:nvGraphicFramePr>
        <p:xfrm>
          <a:off x="5786438" y="2924175"/>
          <a:ext cx="3351212" cy="476250"/>
        </p:xfrm>
        <a:graphic>
          <a:graphicData uri="http://schemas.openxmlformats.org/presentationml/2006/ole">
            <mc:AlternateContent xmlns:mc="http://schemas.openxmlformats.org/markup-compatibility/2006">
              <mc:Choice xmlns:v="urn:schemas-microsoft-com:vml" Requires="v">
                <p:oleObj spid="_x0000_s15686" r:id="rId8" imgW="1803400" imgH="254000" progId="Equation.DSMT4">
                  <p:embed/>
                </p:oleObj>
              </mc:Choice>
              <mc:Fallback>
                <p:oleObj r:id="rId8" imgW="1803400" imgH="254000" progId="Equation.DSMT4">
                  <p:embed/>
                  <p:pic>
                    <p:nvPicPr>
                      <p:cNvPr id="0" name="图片 3118"/>
                      <p:cNvPicPr/>
                      <p:nvPr/>
                    </p:nvPicPr>
                    <p:blipFill>
                      <a:blip r:embed="rId9"/>
                      <a:stretch>
                        <a:fillRect/>
                      </a:stretch>
                    </p:blipFill>
                    <p:spPr>
                      <a:xfrm>
                        <a:off x="5786438" y="2924175"/>
                        <a:ext cx="3351212" cy="476250"/>
                      </a:xfrm>
                      <a:prstGeom prst="rect">
                        <a:avLst/>
                      </a:prstGeom>
                      <a:noFill/>
                      <a:ln w="38100">
                        <a:noFill/>
                        <a:miter/>
                      </a:ln>
                    </p:spPr>
                  </p:pic>
                </p:oleObj>
              </mc:Fallback>
            </mc:AlternateContent>
          </a:graphicData>
        </a:graphic>
      </p:graphicFrame>
      <p:sp>
        <p:nvSpPr>
          <p:cNvPr id="75790" name="Rectangle 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75791" name="对象 14"/>
          <p:cNvGraphicFramePr>
            <a:graphicFrameLocks noChangeAspect="1"/>
          </p:cNvGraphicFramePr>
          <p:nvPr/>
        </p:nvGraphicFramePr>
        <p:xfrm>
          <a:off x="3886200" y="3495675"/>
          <a:ext cx="409575" cy="447675"/>
        </p:xfrm>
        <a:graphic>
          <a:graphicData uri="http://schemas.openxmlformats.org/presentationml/2006/ole">
            <mc:AlternateContent xmlns:mc="http://schemas.openxmlformats.org/markup-compatibility/2006">
              <mc:Choice xmlns:v="urn:schemas-microsoft-com:vml" Requires="v">
                <p:oleObj spid="_x0000_s15687" r:id="rId10" imgW="203200" imgH="228600" progId="Equation.DSMT4">
                  <p:embed/>
                </p:oleObj>
              </mc:Choice>
              <mc:Fallback>
                <p:oleObj r:id="rId10" imgW="203200" imgH="228600" progId="Equation.DSMT4">
                  <p:embed/>
                  <p:pic>
                    <p:nvPicPr>
                      <p:cNvPr id="0" name="图片 3119"/>
                      <p:cNvPicPr/>
                      <p:nvPr/>
                    </p:nvPicPr>
                    <p:blipFill>
                      <a:blip r:embed="rId11"/>
                      <a:stretch>
                        <a:fillRect/>
                      </a:stretch>
                    </p:blipFill>
                    <p:spPr>
                      <a:xfrm>
                        <a:off x="3886200" y="3495675"/>
                        <a:ext cx="409575" cy="447675"/>
                      </a:xfrm>
                      <a:prstGeom prst="rect">
                        <a:avLst/>
                      </a:prstGeom>
                      <a:noFill/>
                      <a:ln w="38100">
                        <a:noFill/>
                        <a:miter/>
                      </a:ln>
                    </p:spPr>
                  </p:pic>
                </p:oleObj>
              </mc:Fallback>
            </mc:AlternateContent>
          </a:graphicData>
        </a:graphic>
      </p:graphicFrame>
      <p:sp>
        <p:nvSpPr>
          <p:cNvPr id="75792"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75793" name="对象 17"/>
          <p:cNvGraphicFramePr>
            <a:graphicFrameLocks noChangeAspect="1"/>
          </p:cNvGraphicFramePr>
          <p:nvPr/>
        </p:nvGraphicFramePr>
        <p:xfrm>
          <a:off x="7596188" y="3476625"/>
          <a:ext cx="4022725" cy="476250"/>
        </p:xfrm>
        <a:graphic>
          <a:graphicData uri="http://schemas.openxmlformats.org/presentationml/2006/ole">
            <mc:AlternateContent xmlns:mc="http://schemas.openxmlformats.org/markup-compatibility/2006">
              <mc:Choice xmlns:v="urn:schemas-microsoft-com:vml" Requires="v">
                <p:oleObj spid="_x0000_s15688" r:id="rId12" imgW="2171700" imgH="254000" progId="Equation.DSMT4">
                  <p:embed/>
                </p:oleObj>
              </mc:Choice>
              <mc:Fallback>
                <p:oleObj r:id="rId12" imgW="2171700" imgH="254000" progId="Equation.DSMT4">
                  <p:embed/>
                  <p:pic>
                    <p:nvPicPr>
                      <p:cNvPr id="0" name="图片 3122"/>
                      <p:cNvPicPr/>
                      <p:nvPr/>
                    </p:nvPicPr>
                    <p:blipFill>
                      <a:blip r:embed="rId13"/>
                      <a:stretch>
                        <a:fillRect/>
                      </a:stretch>
                    </p:blipFill>
                    <p:spPr>
                      <a:xfrm>
                        <a:off x="7596188" y="3476625"/>
                        <a:ext cx="4022725" cy="476250"/>
                      </a:xfrm>
                      <a:prstGeom prst="rect">
                        <a:avLst/>
                      </a:prstGeom>
                      <a:noFill/>
                      <a:ln w="38100">
                        <a:noFill/>
                        <a:miter/>
                      </a:ln>
                    </p:spPr>
                  </p:pic>
                </p:oleObj>
              </mc:Fallback>
            </mc:AlternateContent>
          </a:graphicData>
        </a:graphic>
      </p:graphicFrame>
      <p:graphicFrame>
        <p:nvGraphicFramePr>
          <p:cNvPr id="19" name="对象 6"/>
          <p:cNvGraphicFramePr>
            <a:graphicFrameLocks noChangeAspect="1"/>
          </p:cNvGraphicFramePr>
          <p:nvPr/>
        </p:nvGraphicFramePr>
        <p:xfrm>
          <a:off x="1673225" y="4583579"/>
          <a:ext cx="4238625" cy="895350"/>
        </p:xfrm>
        <a:graphic>
          <a:graphicData uri="http://schemas.openxmlformats.org/presentationml/2006/ole">
            <mc:AlternateContent xmlns:mc="http://schemas.openxmlformats.org/markup-compatibility/2006">
              <mc:Choice xmlns:v="urn:schemas-microsoft-com:vml" Requires="v">
                <p:oleObj spid="_x0000_s15689" r:id="rId14" imgW="2032000" imgH="431800" progId="Equation.DSMT4">
                  <p:embed/>
                </p:oleObj>
              </mc:Choice>
              <mc:Fallback>
                <p:oleObj r:id="rId14" imgW="2032000" imgH="431800" progId="Equation.DSMT4">
                  <p:embed/>
                  <p:pic>
                    <p:nvPicPr>
                      <p:cNvPr id="0" name="对象 6"/>
                      <p:cNvPicPr/>
                      <p:nvPr/>
                    </p:nvPicPr>
                    <p:blipFill>
                      <a:blip r:embed="rId15"/>
                      <a:stretch>
                        <a:fillRect/>
                      </a:stretch>
                    </p:blipFill>
                    <p:spPr>
                      <a:xfrm>
                        <a:off x="1673225" y="4583579"/>
                        <a:ext cx="4238625" cy="895350"/>
                      </a:xfrm>
                      <a:prstGeom prst="rect">
                        <a:avLst/>
                      </a:prstGeom>
                      <a:noFill/>
                      <a:ln w="38100">
                        <a:noFill/>
                        <a:miter/>
                      </a:ln>
                    </p:spPr>
                  </p:pic>
                </p:oleObj>
              </mc:Fallback>
            </mc:AlternateContent>
          </a:graphicData>
        </a:graphic>
      </p:graphicFrame>
      <p:graphicFrame>
        <p:nvGraphicFramePr>
          <p:cNvPr id="20" name="对象 10"/>
          <p:cNvGraphicFramePr>
            <a:graphicFrameLocks noChangeAspect="1"/>
          </p:cNvGraphicFramePr>
          <p:nvPr/>
        </p:nvGraphicFramePr>
        <p:xfrm>
          <a:off x="6437313" y="4471987"/>
          <a:ext cx="4208463" cy="1271588"/>
        </p:xfrm>
        <a:graphic>
          <a:graphicData uri="http://schemas.openxmlformats.org/presentationml/2006/ole">
            <mc:AlternateContent xmlns:mc="http://schemas.openxmlformats.org/markup-compatibility/2006">
              <mc:Choice xmlns:v="urn:schemas-microsoft-com:vml" Requires="v">
                <p:oleObj spid="_x0000_s15690" r:id="rId16" imgW="2743200" imgH="825500" progId="Equation.DSMT4">
                  <p:embed/>
                </p:oleObj>
              </mc:Choice>
              <mc:Fallback>
                <p:oleObj r:id="rId16" imgW="2743200" imgH="825500" progId="Equation.DSMT4">
                  <p:embed/>
                  <p:pic>
                    <p:nvPicPr>
                      <p:cNvPr id="0" name="对象 10"/>
                      <p:cNvPicPr/>
                      <p:nvPr/>
                    </p:nvPicPr>
                    <p:blipFill>
                      <a:blip r:embed="rId17"/>
                      <a:stretch>
                        <a:fillRect/>
                      </a:stretch>
                    </p:blipFill>
                    <p:spPr>
                      <a:xfrm>
                        <a:off x="6437313" y="4471987"/>
                        <a:ext cx="4208463" cy="1271588"/>
                      </a:xfrm>
                      <a:prstGeom prst="rect">
                        <a:avLst/>
                      </a:prstGeom>
                      <a:noFill/>
                      <a:ln w="38100">
                        <a:noFill/>
                        <a:miter/>
                      </a:ln>
                    </p:spPr>
                  </p:pic>
                </p:oleObj>
              </mc:Fallback>
            </mc:AlternateContent>
          </a:graphicData>
        </a:graphic>
      </p:graphicFrame>
      <p:pic>
        <p:nvPicPr>
          <p:cNvPr id="21" name="图片 14"/>
          <p:cNvPicPr>
            <a:picLocks noChangeAspect="1"/>
          </p:cNvPicPr>
          <p:nvPr/>
        </p:nvPicPr>
        <p:blipFill>
          <a:blip r:embed="rId18"/>
          <a:stretch>
            <a:fillRect/>
          </a:stretch>
        </p:blipFill>
        <p:spPr>
          <a:xfrm>
            <a:off x="1548096" y="5924552"/>
            <a:ext cx="7934325" cy="895350"/>
          </a:xfrm>
          <a:prstGeom prst="rect">
            <a:avLst/>
          </a:prstGeom>
          <a:noFill/>
          <a:ln w="9525">
            <a:noFill/>
          </a:ln>
        </p:spPr>
      </p:pic>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998320" y="1295149"/>
            <a:ext cx="10690633" cy="5067150"/>
          </a:xfrm>
          <a:prstGeom prst="rect">
            <a:avLst/>
          </a:prstGeom>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459071" y="233487"/>
            <a:ext cx="9664804" cy="6502425"/>
          </a:xfrm>
          <a:prstGeom prst="rect">
            <a:avLst/>
          </a:prstGeom>
        </p:spPr>
      </p:pic>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小结</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是一个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时间</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和</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计算复杂度</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都十分高的算法。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因此，半监督</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SVM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需要重点研究如何设计出高效的优化策略。</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7987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987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987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987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7987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120541" y="1836710"/>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华文新魏" panose="02010800040101010101" pitchFamily="2" charset="-122"/>
              </a:rPr>
              <a:t>10.2.3</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基于图的半监督学习</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对于一个样本集，我们可以把其样本之间的关系用一个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图</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来表示，其中每个样本对应图中的一个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节点</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如果两个样本直接的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相关性</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很高，则对应的两个结点之间会存在一条边并且边的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权重</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和样本之间的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相似度</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成正比。</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代表算法：一种多分类</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标记传播</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8192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192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192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192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192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8750" y="1474391"/>
            <a:ext cx="11874500" cy="3909218"/>
          </a:xfrm>
          <a:prstGeom prst="rect">
            <a:avLst/>
          </a:prstGeom>
        </p:spPr>
      </p:pic>
      <p:sp>
        <p:nvSpPr>
          <p:cNvPr id="3" name="Rectangle 3">
            <a:extLst>
              <a:ext uri="{FF2B5EF4-FFF2-40B4-BE49-F238E27FC236}">
                <a16:creationId xmlns:a16="http://schemas.microsoft.com/office/drawing/2014/main" id="{5F985D67-B48E-4818-BD72-EDE623BF3463}"/>
              </a:ext>
            </a:extLst>
          </p:cNvPr>
          <p:cNvSpPr txBox="1">
            <a:spLocks noChangeArrowheads="1"/>
          </p:cNvSpPr>
          <p:nvPr/>
        </p:nvSpPr>
        <p:spPr bwMode="auto">
          <a:xfrm>
            <a:off x="722976" y="1009774"/>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华文新魏" panose="02010800040101010101" pitchFamily="2" charset="-122"/>
              </a:rPr>
              <a:t>10.2.3</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基于图的半监督学习</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一种多分类标记传播算法</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假设给定</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                   和</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未标记样本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              ，且    ，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首先用      建立一个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图</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节点</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集为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边</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  可以用一个矩阵  表示。常使用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高斯函数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定义。</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8397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397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397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397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397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3976"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77" name="对象 6"/>
          <p:cNvGraphicFramePr>
            <a:graphicFrameLocks noChangeAspect="1"/>
          </p:cNvGraphicFramePr>
          <p:nvPr/>
        </p:nvGraphicFramePr>
        <p:xfrm>
          <a:off x="5295900" y="2466975"/>
          <a:ext cx="3349625" cy="447675"/>
        </p:xfrm>
        <a:graphic>
          <a:graphicData uri="http://schemas.openxmlformats.org/presentationml/2006/ole">
            <mc:AlternateContent xmlns:mc="http://schemas.openxmlformats.org/markup-compatibility/2006">
              <mc:Choice xmlns:v="urn:schemas-microsoft-com:vml" Requires="v">
                <p:oleObj spid="_x0000_s18001" r:id="rId4" imgW="2070100" imgH="279400" progId="Equation.DSMT4">
                  <p:embed/>
                </p:oleObj>
              </mc:Choice>
              <mc:Fallback>
                <p:oleObj r:id="rId4" imgW="2070100" imgH="279400" progId="Equation.DSMT4">
                  <p:embed/>
                  <p:pic>
                    <p:nvPicPr>
                      <p:cNvPr id="0" name="图片 3128"/>
                      <p:cNvPicPr/>
                      <p:nvPr/>
                    </p:nvPicPr>
                    <p:blipFill>
                      <a:blip r:embed="rId5"/>
                      <a:stretch>
                        <a:fillRect/>
                      </a:stretch>
                    </p:blipFill>
                    <p:spPr>
                      <a:xfrm>
                        <a:off x="5295900" y="2466975"/>
                        <a:ext cx="3349625" cy="447675"/>
                      </a:xfrm>
                      <a:prstGeom prst="rect">
                        <a:avLst/>
                      </a:prstGeom>
                      <a:noFill/>
                      <a:ln w="38100">
                        <a:noFill/>
                        <a:miter/>
                      </a:ln>
                    </p:spPr>
                  </p:pic>
                </p:oleObj>
              </mc:Fallback>
            </mc:AlternateContent>
          </a:graphicData>
        </a:graphic>
      </p:graphicFrame>
      <p:sp>
        <p:nvSpPr>
          <p:cNvPr id="8397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79" name="对象 10"/>
          <p:cNvGraphicFramePr>
            <a:graphicFrameLocks noChangeAspect="1"/>
          </p:cNvGraphicFramePr>
          <p:nvPr/>
        </p:nvGraphicFramePr>
        <p:xfrm>
          <a:off x="2152650" y="2943225"/>
          <a:ext cx="2390775" cy="422275"/>
        </p:xfrm>
        <a:graphic>
          <a:graphicData uri="http://schemas.openxmlformats.org/presentationml/2006/ole">
            <mc:AlternateContent xmlns:mc="http://schemas.openxmlformats.org/markup-compatibility/2006">
              <mc:Choice xmlns:v="urn:schemas-microsoft-com:vml" Requires="v">
                <p:oleObj spid="_x0000_s18002" r:id="rId6" imgW="1459865" imgH="254000" progId="Equation.DSMT4">
                  <p:embed/>
                </p:oleObj>
              </mc:Choice>
              <mc:Fallback>
                <p:oleObj r:id="rId6" imgW="1459865" imgH="254000" progId="Equation.DSMT4">
                  <p:embed/>
                  <p:pic>
                    <p:nvPicPr>
                      <p:cNvPr id="0" name="图片 3126"/>
                      <p:cNvPicPr/>
                      <p:nvPr/>
                    </p:nvPicPr>
                    <p:blipFill>
                      <a:blip r:embed="rId7"/>
                      <a:stretch>
                        <a:fillRect/>
                      </a:stretch>
                    </p:blipFill>
                    <p:spPr>
                      <a:xfrm>
                        <a:off x="2152650" y="2943225"/>
                        <a:ext cx="2390775" cy="422275"/>
                      </a:xfrm>
                      <a:prstGeom prst="rect">
                        <a:avLst/>
                      </a:prstGeom>
                      <a:noFill/>
                      <a:ln w="38100">
                        <a:noFill/>
                        <a:miter/>
                      </a:ln>
                    </p:spPr>
                  </p:pic>
                </p:oleObj>
              </mc:Fallback>
            </mc:AlternateContent>
          </a:graphicData>
        </a:graphic>
      </p:graphicFrame>
      <p:sp>
        <p:nvSpPr>
          <p:cNvPr id="83980" name="Rectangle 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81" name="对象 12"/>
          <p:cNvGraphicFramePr>
            <a:graphicFrameLocks noChangeAspect="1"/>
          </p:cNvGraphicFramePr>
          <p:nvPr/>
        </p:nvGraphicFramePr>
        <p:xfrm>
          <a:off x="5295900" y="2978150"/>
          <a:ext cx="695325" cy="355600"/>
        </p:xfrm>
        <a:graphic>
          <a:graphicData uri="http://schemas.openxmlformats.org/presentationml/2006/ole">
            <mc:AlternateContent xmlns:mc="http://schemas.openxmlformats.org/markup-compatibility/2006">
              <mc:Choice xmlns:v="urn:schemas-microsoft-com:vml" Requires="v">
                <p:oleObj spid="_x0000_s18003" r:id="rId8" imgW="444500" imgH="228600" progId="Equation.DSMT4">
                  <p:embed/>
                </p:oleObj>
              </mc:Choice>
              <mc:Fallback>
                <p:oleObj r:id="rId8" imgW="444500" imgH="228600" progId="Equation.DSMT4">
                  <p:embed/>
                  <p:pic>
                    <p:nvPicPr>
                      <p:cNvPr id="0" name="图片 3129"/>
                      <p:cNvPicPr/>
                      <p:nvPr/>
                    </p:nvPicPr>
                    <p:blipFill>
                      <a:blip r:embed="rId9"/>
                      <a:stretch>
                        <a:fillRect/>
                      </a:stretch>
                    </p:blipFill>
                    <p:spPr>
                      <a:xfrm>
                        <a:off x="5295900" y="2978150"/>
                        <a:ext cx="695325" cy="355600"/>
                      </a:xfrm>
                      <a:prstGeom prst="rect">
                        <a:avLst/>
                      </a:prstGeom>
                      <a:noFill/>
                      <a:ln w="38100">
                        <a:noFill/>
                        <a:miter/>
                      </a:ln>
                    </p:spPr>
                  </p:pic>
                </p:oleObj>
              </mc:Fallback>
            </mc:AlternateContent>
          </a:graphicData>
        </a:graphic>
      </p:graphicFrame>
      <p:sp>
        <p:nvSpPr>
          <p:cNvPr id="83982" name="Rectangle 13"/>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83" name="对象 14"/>
          <p:cNvGraphicFramePr>
            <a:graphicFrameLocks noChangeAspect="1"/>
          </p:cNvGraphicFramePr>
          <p:nvPr/>
        </p:nvGraphicFramePr>
        <p:xfrm>
          <a:off x="6315075" y="2987675"/>
          <a:ext cx="1757363" cy="355600"/>
        </p:xfrm>
        <a:graphic>
          <a:graphicData uri="http://schemas.openxmlformats.org/presentationml/2006/ole">
            <mc:AlternateContent xmlns:mc="http://schemas.openxmlformats.org/markup-compatibility/2006">
              <mc:Choice xmlns:v="urn:schemas-microsoft-com:vml" Requires="v">
                <p:oleObj spid="_x0000_s18004" r:id="rId10" imgW="989965" imgH="203200" progId="Equation.DSMT4">
                  <p:embed/>
                </p:oleObj>
              </mc:Choice>
              <mc:Fallback>
                <p:oleObj r:id="rId10" imgW="989965" imgH="203200" progId="Equation.DSMT4">
                  <p:embed/>
                  <p:pic>
                    <p:nvPicPr>
                      <p:cNvPr id="0" name="图片 3125"/>
                      <p:cNvPicPr/>
                      <p:nvPr/>
                    </p:nvPicPr>
                    <p:blipFill>
                      <a:blip r:embed="rId11"/>
                      <a:stretch>
                        <a:fillRect/>
                      </a:stretch>
                    </p:blipFill>
                    <p:spPr>
                      <a:xfrm>
                        <a:off x="6315075" y="2987675"/>
                        <a:ext cx="1757363" cy="355600"/>
                      </a:xfrm>
                      <a:prstGeom prst="rect">
                        <a:avLst/>
                      </a:prstGeom>
                      <a:noFill/>
                      <a:ln w="38100">
                        <a:noFill/>
                        <a:miter/>
                      </a:ln>
                    </p:spPr>
                  </p:pic>
                </p:oleObj>
              </mc:Fallback>
            </mc:AlternateContent>
          </a:graphicData>
        </a:graphic>
      </p:graphicFrame>
      <p:sp>
        <p:nvSpPr>
          <p:cNvPr id="83984" name="Rectangle 23"/>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85" name="对象 17"/>
          <p:cNvGraphicFramePr>
            <a:graphicFrameLocks noChangeAspect="1"/>
          </p:cNvGraphicFramePr>
          <p:nvPr/>
        </p:nvGraphicFramePr>
        <p:xfrm>
          <a:off x="3167063" y="3495675"/>
          <a:ext cx="960437" cy="419100"/>
        </p:xfrm>
        <a:graphic>
          <a:graphicData uri="http://schemas.openxmlformats.org/presentationml/2006/ole">
            <mc:AlternateContent xmlns:mc="http://schemas.openxmlformats.org/markup-compatibility/2006">
              <mc:Choice xmlns:v="urn:schemas-microsoft-com:vml" Requires="v">
                <p:oleObj spid="_x0000_s18005" r:id="rId12" imgW="520700" imgH="228600" progId="Equation.DSMT4">
                  <p:embed/>
                </p:oleObj>
              </mc:Choice>
              <mc:Fallback>
                <p:oleObj r:id="rId12" imgW="520700" imgH="228600" progId="Equation.DSMT4">
                  <p:embed/>
                  <p:pic>
                    <p:nvPicPr>
                      <p:cNvPr id="0" name="图片 3127"/>
                      <p:cNvPicPr/>
                      <p:nvPr/>
                    </p:nvPicPr>
                    <p:blipFill>
                      <a:blip r:embed="rId13"/>
                      <a:stretch>
                        <a:fillRect/>
                      </a:stretch>
                    </p:blipFill>
                    <p:spPr>
                      <a:xfrm>
                        <a:off x="3167063" y="3495675"/>
                        <a:ext cx="960437" cy="419100"/>
                      </a:xfrm>
                      <a:prstGeom prst="rect">
                        <a:avLst/>
                      </a:prstGeom>
                      <a:noFill/>
                      <a:ln w="38100">
                        <a:noFill/>
                        <a:miter/>
                      </a:ln>
                    </p:spPr>
                  </p:pic>
                </p:oleObj>
              </mc:Fallback>
            </mc:AlternateContent>
          </a:graphicData>
        </a:graphic>
      </p:graphicFrame>
      <p:sp>
        <p:nvSpPr>
          <p:cNvPr id="83986" name="Rectangle 3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87" name="对象 19"/>
          <p:cNvGraphicFramePr>
            <a:graphicFrameLocks noChangeAspect="1"/>
          </p:cNvGraphicFramePr>
          <p:nvPr/>
        </p:nvGraphicFramePr>
        <p:xfrm>
          <a:off x="6000750" y="3495675"/>
          <a:ext cx="1200150" cy="449263"/>
        </p:xfrm>
        <a:graphic>
          <a:graphicData uri="http://schemas.openxmlformats.org/presentationml/2006/ole">
            <mc:AlternateContent xmlns:mc="http://schemas.openxmlformats.org/markup-compatibility/2006">
              <mc:Choice xmlns:v="urn:schemas-microsoft-com:vml" Requires="v">
                <p:oleObj spid="_x0000_s18006" r:id="rId14" imgW="685800" imgH="254000" progId="Equation.DSMT4">
                  <p:embed/>
                </p:oleObj>
              </mc:Choice>
              <mc:Fallback>
                <p:oleObj r:id="rId14" imgW="685800" imgH="254000" progId="Equation.DSMT4">
                  <p:embed/>
                  <p:pic>
                    <p:nvPicPr>
                      <p:cNvPr id="0" name="图片 3132"/>
                      <p:cNvPicPr/>
                      <p:nvPr/>
                    </p:nvPicPr>
                    <p:blipFill>
                      <a:blip r:embed="rId15"/>
                      <a:stretch>
                        <a:fillRect/>
                      </a:stretch>
                    </p:blipFill>
                    <p:spPr>
                      <a:xfrm>
                        <a:off x="6000750" y="3495675"/>
                        <a:ext cx="1200150" cy="449263"/>
                      </a:xfrm>
                      <a:prstGeom prst="rect">
                        <a:avLst/>
                      </a:prstGeom>
                      <a:noFill/>
                      <a:ln w="38100">
                        <a:noFill/>
                        <a:miter/>
                      </a:ln>
                    </p:spPr>
                  </p:pic>
                </p:oleObj>
              </mc:Fallback>
            </mc:AlternateContent>
          </a:graphicData>
        </a:graphic>
      </p:graphicFrame>
      <p:sp>
        <p:nvSpPr>
          <p:cNvPr id="83988" name="Rectangle 4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89" name="对象 21"/>
          <p:cNvGraphicFramePr>
            <a:graphicFrameLocks noChangeAspect="1"/>
          </p:cNvGraphicFramePr>
          <p:nvPr/>
        </p:nvGraphicFramePr>
        <p:xfrm>
          <a:off x="9094788" y="3513138"/>
          <a:ext cx="2219325" cy="415925"/>
        </p:xfrm>
        <a:graphic>
          <a:graphicData uri="http://schemas.openxmlformats.org/presentationml/2006/ole">
            <mc:AlternateContent xmlns:mc="http://schemas.openxmlformats.org/markup-compatibility/2006">
              <mc:Choice xmlns:v="urn:schemas-microsoft-com:vml" Requires="v">
                <p:oleObj spid="_x0000_s18007" r:id="rId16" imgW="1371600" imgH="254000" progId="Equation.DSMT4">
                  <p:embed/>
                </p:oleObj>
              </mc:Choice>
              <mc:Fallback>
                <p:oleObj r:id="rId16" imgW="1371600" imgH="254000" progId="Equation.DSMT4">
                  <p:embed/>
                  <p:pic>
                    <p:nvPicPr>
                      <p:cNvPr id="0" name="图片 3133"/>
                      <p:cNvPicPr/>
                      <p:nvPr/>
                    </p:nvPicPr>
                    <p:blipFill>
                      <a:blip r:embed="rId17"/>
                      <a:stretch>
                        <a:fillRect/>
                      </a:stretch>
                    </p:blipFill>
                    <p:spPr>
                      <a:xfrm>
                        <a:off x="9094788" y="3513138"/>
                        <a:ext cx="2219325" cy="415925"/>
                      </a:xfrm>
                      <a:prstGeom prst="rect">
                        <a:avLst/>
                      </a:prstGeom>
                      <a:noFill/>
                      <a:ln w="38100">
                        <a:noFill/>
                        <a:miter/>
                      </a:ln>
                    </p:spPr>
                  </p:pic>
                </p:oleObj>
              </mc:Fallback>
            </mc:AlternateContent>
          </a:graphicData>
        </a:graphic>
      </p:graphicFrame>
      <p:sp>
        <p:nvSpPr>
          <p:cNvPr id="83990" name="Rectangle 10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91" name="对象 23"/>
          <p:cNvGraphicFramePr>
            <a:graphicFrameLocks noChangeAspect="1"/>
          </p:cNvGraphicFramePr>
          <p:nvPr/>
        </p:nvGraphicFramePr>
        <p:xfrm>
          <a:off x="2427288" y="3995738"/>
          <a:ext cx="285750" cy="322262"/>
        </p:xfrm>
        <a:graphic>
          <a:graphicData uri="http://schemas.openxmlformats.org/presentationml/2006/ole">
            <mc:AlternateContent xmlns:mc="http://schemas.openxmlformats.org/markup-compatibility/2006">
              <mc:Choice xmlns:v="urn:schemas-microsoft-com:vml" Requires="v">
                <p:oleObj spid="_x0000_s18008" r:id="rId18" imgW="152400" imgH="165100" progId="Equation.DSMT4">
                  <p:embed/>
                </p:oleObj>
              </mc:Choice>
              <mc:Fallback>
                <p:oleObj r:id="rId18" imgW="152400" imgH="165100" progId="Equation.DSMT4">
                  <p:embed/>
                  <p:pic>
                    <p:nvPicPr>
                      <p:cNvPr id="0" name="图片 3134"/>
                      <p:cNvPicPr/>
                      <p:nvPr/>
                    </p:nvPicPr>
                    <p:blipFill>
                      <a:blip r:embed="rId19"/>
                      <a:stretch>
                        <a:fillRect/>
                      </a:stretch>
                    </p:blipFill>
                    <p:spPr>
                      <a:xfrm>
                        <a:off x="2427288" y="3995738"/>
                        <a:ext cx="285750" cy="322262"/>
                      </a:xfrm>
                      <a:prstGeom prst="rect">
                        <a:avLst/>
                      </a:prstGeom>
                      <a:noFill/>
                      <a:ln w="38100">
                        <a:noFill/>
                        <a:miter/>
                      </a:ln>
                    </p:spPr>
                  </p:pic>
                </p:oleObj>
              </mc:Fallback>
            </mc:AlternateContent>
          </a:graphicData>
        </a:graphic>
      </p:graphicFrame>
      <p:sp>
        <p:nvSpPr>
          <p:cNvPr id="83992" name="Rectangle 11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93" name="对象 25"/>
          <p:cNvGraphicFramePr>
            <a:graphicFrameLocks noChangeAspect="1"/>
          </p:cNvGraphicFramePr>
          <p:nvPr/>
        </p:nvGraphicFramePr>
        <p:xfrm>
          <a:off x="5276850" y="4010025"/>
          <a:ext cx="392113" cy="320675"/>
        </p:xfrm>
        <a:graphic>
          <a:graphicData uri="http://schemas.openxmlformats.org/presentationml/2006/ole">
            <mc:AlternateContent xmlns:mc="http://schemas.openxmlformats.org/markup-compatibility/2006">
              <mc:Choice xmlns:v="urn:schemas-microsoft-com:vml" Requires="v">
                <p:oleObj spid="_x0000_s18009" r:id="rId20" imgW="203200" imgH="177800" progId="Equation.DSMT4">
                  <p:embed/>
                </p:oleObj>
              </mc:Choice>
              <mc:Fallback>
                <p:oleObj r:id="rId20" imgW="203200" imgH="177800" progId="Equation.DSMT4">
                  <p:embed/>
                  <p:pic>
                    <p:nvPicPr>
                      <p:cNvPr id="0" name="图片 3130"/>
                      <p:cNvPicPr/>
                      <p:nvPr/>
                    </p:nvPicPr>
                    <p:blipFill>
                      <a:blip r:embed="rId21"/>
                      <a:stretch>
                        <a:fillRect/>
                      </a:stretch>
                    </p:blipFill>
                    <p:spPr>
                      <a:xfrm>
                        <a:off x="5276850" y="4010025"/>
                        <a:ext cx="392113" cy="320675"/>
                      </a:xfrm>
                      <a:prstGeom prst="rect">
                        <a:avLst/>
                      </a:prstGeom>
                      <a:noFill/>
                      <a:ln w="38100">
                        <a:noFill/>
                        <a:miter/>
                      </a:ln>
                    </p:spPr>
                  </p:pic>
                </p:oleObj>
              </mc:Fallback>
            </mc:AlternateContent>
          </a:graphicData>
        </a:graphic>
      </p:graphicFrame>
      <p:sp>
        <p:nvSpPr>
          <p:cNvPr id="83994" name="Rectangle 12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3995" name="对象 27"/>
          <p:cNvGraphicFramePr>
            <a:graphicFrameLocks noChangeAspect="1"/>
          </p:cNvGraphicFramePr>
          <p:nvPr/>
        </p:nvGraphicFramePr>
        <p:xfrm>
          <a:off x="4127500" y="4691063"/>
          <a:ext cx="4051300" cy="1404937"/>
        </p:xfrm>
        <a:graphic>
          <a:graphicData uri="http://schemas.openxmlformats.org/presentationml/2006/ole">
            <mc:AlternateContent xmlns:mc="http://schemas.openxmlformats.org/markup-compatibility/2006">
              <mc:Choice xmlns:v="urn:schemas-microsoft-com:vml" Requires="v">
                <p:oleObj spid="_x0000_s18010" r:id="rId22" imgW="2552700" imgH="889000" progId="Equation.DSMT4">
                  <p:embed/>
                </p:oleObj>
              </mc:Choice>
              <mc:Fallback>
                <p:oleObj r:id="rId22" imgW="2552700" imgH="889000" progId="Equation.DSMT4">
                  <p:embed/>
                  <p:pic>
                    <p:nvPicPr>
                      <p:cNvPr id="0" name="图片 3131"/>
                      <p:cNvPicPr/>
                      <p:nvPr/>
                    </p:nvPicPr>
                    <p:blipFill>
                      <a:blip r:embed="rId23"/>
                      <a:stretch>
                        <a:fillRect/>
                      </a:stretch>
                    </p:blipFill>
                    <p:spPr>
                      <a:xfrm>
                        <a:off x="4127500" y="4691063"/>
                        <a:ext cx="4051300" cy="1404937"/>
                      </a:xfrm>
                      <a:prstGeom prst="rect">
                        <a:avLst/>
                      </a:prstGeom>
                      <a:noFill/>
                      <a:ln w="38100">
                        <a:noFill/>
                        <a:miter/>
                      </a:ln>
                    </p:spPr>
                  </p:pic>
                </p:oleObj>
              </mc:Fallback>
            </mc:AlternateContent>
          </a:graphicData>
        </a:graphic>
      </p:graphicFrame>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对角矩阵和标记矩阵</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定义</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对角矩阵</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的对角元素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定义一个大小为       的非负</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标记矩阵</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，其第  行元素               为样本  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标记向量</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，其分类准则为               。</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                ，进行初始化。</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8601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602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602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602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602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6024" name="Rectangle 1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25" name="对象 27"/>
          <p:cNvGraphicFramePr>
            <a:graphicFrameLocks noChangeAspect="1"/>
          </p:cNvGraphicFramePr>
          <p:nvPr/>
        </p:nvGraphicFramePr>
        <p:xfrm>
          <a:off x="4229100" y="2486025"/>
          <a:ext cx="2706688" cy="419100"/>
        </p:xfrm>
        <a:graphic>
          <a:graphicData uri="http://schemas.openxmlformats.org/presentationml/2006/ole">
            <mc:AlternateContent xmlns:mc="http://schemas.openxmlformats.org/markup-compatibility/2006">
              <mc:Choice xmlns:v="urn:schemas-microsoft-com:vml" Requires="v">
                <p:oleObj spid="_x0000_s19025" r:id="rId4" imgW="1473200" imgH="228600" progId="Equation.DSMT4">
                  <p:embed/>
                </p:oleObj>
              </mc:Choice>
              <mc:Fallback>
                <p:oleObj r:id="rId4" imgW="1473200" imgH="228600" progId="Equation.DSMT4">
                  <p:embed/>
                  <p:pic>
                    <p:nvPicPr>
                      <p:cNvPr id="0" name="图片 3138"/>
                      <p:cNvPicPr/>
                      <p:nvPr/>
                    </p:nvPicPr>
                    <p:blipFill>
                      <a:blip r:embed="rId5"/>
                      <a:stretch>
                        <a:fillRect/>
                      </a:stretch>
                    </p:blipFill>
                    <p:spPr>
                      <a:xfrm>
                        <a:off x="4229100" y="2486025"/>
                        <a:ext cx="2706688" cy="419100"/>
                      </a:xfrm>
                      <a:prstGeom prst="rect">
                        <a:avLst/>
                      </a:prstGeom>
                      <a:noFill/>
                      <a:ln w="38100">
                        <a:noFill/>
                        <a:miter/>
                      </a:ln>
                    </p:spPr>
                  </p:pic>
                </p:oleObj>
              </mc:Fallback>
            </mc:AlternateContent>
          </a:graphicData>
        </a:graphic>
      </p:graphicFrame>
      <p:sp>
        <p:nvSpPr>
          <p:cNvPr id="86026" name="Rectangle 2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27" name="对象 29"/>
          <p:cNvGraphicFramePr>
            <a:graphicFrameLocks noChangeAspect="1"/>
          </p:cNvGraphicFramePr>
          <p:nvPr/>
        </p:nvGraphicFramePr>
        <p:xfrm>
          <a:off x="8834438" y="2409825"/>
          <a:ext cx="1671637" cy="495300"/>
        </p:xfrm>
        <a:graphic>
          <a:graphicData uri="http://schemas.openxmlformats.org/presentationml/2006/ole">
            <mc:AlternateContent xmlns:mc="http://schemas.openxmlformats.org/markup-compatibility/2006">
              <mc:Choice xmlns:v="urn:schemas-microsoft-com:vml" Requires="v">
                <p:oleObj spid="_x0000_s19026" r:id="rId6" imgW="1028065" imgH="304800" progId="Equation.DSMT4">
                  <p:embed/>
                </p:oleObj>
              </mc:Choice>
              <mc:Fallback>
                <p:oleObj r:id="rId6" imgW="1028065" imgH="304800" progId="Equation.DSMT4">
                  <p:embed/>
                  <p:pic>
                    <p:nvPicPr>
                      <p:cNvPr id="0" name="图片 3135"/>
                      <p:cNvPicPr/>
                      <p:nvPr/>
                    </p:nvPicPr>
                    <p:blipFill>
                      <a:blip r:embed="rId7"/>
                      <a:stretch>
                        <a:fillRect/>
                      </a:stretch>
                    </p:blipFill>
                    <p:spPr>
                      <a:xfrm>
                        <a:off x="8834438" y="2409825"/>
                        <a:ext cx="1671637" cy="495300"/>
                      </a:xfrm>
                      <a:prstGeom prst="rect">
                        <a:avLst/>
                      </a:prstGeom>
                      <a:noFill/>
                      <a:ln w="38100">
                        <a:noFill/>
                        <a:miter/>
                      </a:ln>
                    </p:spPr>
                  </p:pic>
                </p:oleObj>
              </mc:Fallback>
            </mc:AlternateContent>
          </a:graphicData>
        </a:graphic>
      </p:graphicFrame>
      <p:sp>
        <p:nvSpPr>
          <p:cNvPr id="86028" name="Rectangle 3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29" name="对象 31"/>
          <p:cNvGraphicFramePr>
            <a:graphicFrameLocks noChangeAspect="1"/>
          </p:cNvGraphicFramePr>
          <p:nvPr/>
        </p:nvGraphicFramePr>
        <p:xfrm>
          <a:off x="4568825" y="3001963"/>
          <a:ext cx="1179513" cy="419100"/>
        </p:xfrm>
        <a:graphic>
          <a:graphicData uri="http://schemas.openxmlformats.org/presentationml/2006/ole">
            <mc:AlternateContent xmlns:mc="http://schemas.openxmlformats.org/markup-compatibility/2006">
              <mc:Choice xmlns:v="urn:schemas-microsoft-com:vml" Requires="v">
                <p:oleObj spid="_x0000_s19027" r:id="rId8" imgW="723900" imgH="254000" progId="Equation.DSMT4">
                  <p:embed/>
                </p:oleObj>
              </mc:Choice>
              <mc:Fallback>
                <p:oleObj r:id="rId8" imgW="723900" imgH="254000" progId="Equation.DSMT4">
                  <p:embed/>
                  <p:pic>
                    <p:nvPicPr>
                      <p:cNvPr id="0" name="图片 3136"/>
                      <p:cNvPicPr/>
                      <p:nvPr/>
                    </p:nvPicPr>
                    <p:blipFill>
                      <a:blip r:embed="rId9"/>
                      <a:stretch>
                        <a:fillRect/>
                      </a:stretch>
                    </p:blipFill>
                    <p:spPr>
                      <a:xfrm>
                        <a:off x="4568825" y="3001963"/>
                        <a:ext cx="1179513" cy="419100"/>
                      </a:xfrm>
                      <a:prstGeom prst="rect">
                        <a:avLst/>
                      </a:prstGeom>
                      <a:noFill/>
                      <a:ln w="38100">
                        <a:noFill/>
                        <a:miter/>
                      </a:ln>
                    </p:spPr>
                  </p:pic>
                </p:oleObj>
              </mc:Fallback>
            </mc:AlternateContent>
          </a:graphicData>
        </a:graphic>
      </p:graphicFrame>
      <p:sp>
        <p:nvSpPr>
          <p:cNvPr id="86030" name="Rectangle 46"/>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31" name="对象 33"/>
          <p:cNvGraphicFramePr>
            <a:graphicFrameLocks noChangeAspect="1"/>
          </p:cNvGraphicFramePr>
          <p:nvPr/>
        </p:nvGraphicFramePr>
        <p:xfrm>
          <a:off x="8335963" y="2955925"/>
          <a:ext cx="2133600" cy="506413"/>
        </p:xfrm>
        <a:graphic>
          <a:graphicData uri="http://schemas.openxmlformats.org/presentationml/2006/ole">
            <mc:AlternateContent xmlns:mc="http://schemas.openxmlformats.org/markup-compatibility/2006">
              <mc:Choice xmlns:v="urn:schemas-microsoft-com:vml" Requires="v">
                <p:oleObj spid="_x0000_s19028" r:id="rId10" imgW="1320165" imgH="317500" progId="Equation.DSMT4">
                  <p:embed/>
                </p:oleObj>
              </mc:Choice>
              <mc:Fallback>
                <p:oleObj r:id="rId10" imgW="1320165" imgH="317500" progId="Equation.DSMT4">
                  <p:embed/>
                  <p:pic>
                    <p:nvPicPr>
                      <p:cNvPr id="0" name="图片 3137"/>
                      <p:cNvPicPr/>
                      <p:nvPr/>
                    </p:nvPicPr>
                    <p:blipFill>
                      <a:blip r:embed="rId11"/>
                      <a:stretch>
                        <a:fillRect/>
                      </a:stretch>
                    </p:blipFill>
                    <p:spPr>
                      <a:xfrm>
                        <a:off x="8335963" y="2955925"/>
                        <a:ext cx="2133600" cy="506413"/>
                      </a:xfrm>
                      <a:prstGeom prst="rect">
                        <a:avLst/>
                      </a:prstGeom>
                      <a:noFill/>
                      <a:ln w="38100">
                        <a:noFill/>
                        <a:miter/>
                      </a:ln>
                    </p:spPr>
                  </p:pic>
                </p:oleObj>
              </mc:Fallback>
            </mc:AlternateContent>
          </a:graphicData>
        </a:graphic>
      </p:graphicFrame>
      <p:sp>
        <p:nvSpPr>
          <p:cNvPr id="86032" name="Rectangle 5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33" name="对象 35"/>
          <p:cNvGraphicFramePr>
            <a:graphicFrameLocks noChangeAspect="1"/>
          </p:cNvGraphicFramePr>
          <p:nvPr/>
        </p:nvGraphicFramePr>
        <p:xfrm>
          <a:off x="11515725" y="3009900"/>
          <a:ext cx="207963" cy="414338"/>
        </p:xfrm>
        <a:graphic>
          <a:graphicData uri="http://schemas.openxmlformats.org/presentationml/2006/ole">
            <mc:AlternateContent xmlns:mc="http://schemas.openxmlformats.org/markup-compatibility/2006">
              <mc:Choice xmlns:v="urn:schemas-microsoft-com:vml" Requires="v">
                <p:oleObj spid="_x0000_s19029" r:id="rId12" imgW="88900" imgH="164465" progId="Equation.DSMT4">
                  <p:embed/>
                </p:oleObj>
              </mc:Choice>
              <mc:Fallback>
                <p:oleObj r:id="rId12" imgW="88900" imgH="164465" progId="Equation.DSMT4">
                  <p:embed/>
                  <p:pic>
                    <p:nvPicPr>
                      <p:cNvPr id="0" name="图片 3139"/>
                      <p:cNvPicPr/>
                      <p:nvPr/>
                    </p:nvPicPr>
                    <p:blipFill>
                      <a:blip r:embed="rId13"/>
                      <a:stretch>
                        <a:fillRect/>
                      </a:stretch>
                    </p:blipFill>
                    <p:spPr>
                      <a:xfrm>
                        <a:off x="11515725" y="3009900"/>
                        <a:ext cx="207963" cy="414338"/>
                      </a:xfrm>
                      <a:prstGeom prst="rect">
                        <a:avLst/>
                      </a:prstGeom>
                      <a:noFill/>
                      <a:ln w="38100">
                        <a:noFill/>
                        <a:miter/>
                      </a:ln>
                    </p:spPr>
                  </p:pic>
                </p:oleObj>
              </mc:Fallback>
            </mc:AlternateContent>
          </a:graphicData>
        </a:graphic>
      </p:graphicFrame>
      <p:sp>
        <p:nvSpPr>
          <p:cNvPr id="86034" name="Rectangle 6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35" name="对象 37"/>
          <p:cNvGraphicFramePr>
            <a:graphicFrameLocks noChangeAspect="1"/>
          </p:cNvGraphicFramePr>
          <p:nvPr/>
        </p:nvGraphicFramePr>
        <p:xfrm>
          <a:off x="2835275" y="3436938"/>
          <a:ext cx="2535238" cy="523875"/>
        </p:xfrm>
        <a:graphic>
          <a:graphicData uri="http://schemas.openxmlformats.org/presentationml/2006/ole">
            <mc:AlternateContent xmlns:mc="http://schemas.openxmlformats.org/markup-compatibility/2006">
              <mc:Choice xmlns:v="urn:schemas-microsoft-com:vml" Requires="v">
                <p:oleObj spid="_x0000_s19030" r:id="rId14" imgW="1701800" imgH="355600" progId="Equation.DSMT4">
                  <p:embed/>
                </p:oleObj>
              </mc:Choice>
              <mc:Fallback>
                <p:oleObj r:id="rId14" imgW="1701800" imgH="355600" progId="Equation.DSMT4">
                  <p:embed/>
                  <p:pic>
                    <p:nvPicPr>
                      <p:cNvPr id="0" name="图片 3141"/>
                      <p:cNvPicPr/>
                      <p:nvPr/>
                    </p:nvPicPr>
                    <p:blipFill>
                      <a:blip r:embed="rId15"/>
                      <a:stretch>
                        <a:fillRect/>
                      </a:stretch>
                    </p:blipFill>
                    <p:spPr>
                      <a:xfrm>
                        <a:off x="2835275" y="3436938"/>
                        <a:ext cx="2535238" cy="523875"/>
                      </a:xfrm>
                      <a:prstGeom prst="rect">
                        <a:avLst/>
                      </a:prstGeom>
                      <a:noFill/>
                      <a:ln w="38100">
                        <a:noFill/>
                        <a:miter/>
                      </a:ln>
                    </p:spPr>
                  </p:pic>
                </p:oleObj>
              </mc:Fallback>
            </mc:AlternateContent>
          </a:graphicData>
        </a:graphic>
      </p:graphicFrame>
      <p:sp>
        <p:nvSpPr>
          <p:cNvPr id="86036" name="Rectangle 7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37" name="对象 39"/>
          <p:cNvGraphicFramePr>
            <a:graphicFrameLocks noChangeAspect="1"/>
          </p:cNvGraphicFramePr>
          <p:nvPr/>
        </p:nvGraphicFramePr>
        <p:xfrm>
          <a:off x="6540500" y="3457575"/>
          <a:ext cx="295275" cy="417513"/>
        </p:xfrm>
        <a:graphic>
          <a:graphicData uri="http://schemas.openxmlformats.org/presentationml/2006/ole">
            <mc:AlternateContent xmlns:mc="http://schemas.openxmlformats.org/markup-compatibility/2006">
              <mc:Choice xmlns:v="urn:schemas-microsoft-com:vml" Requires="v">
                <p:oleObj spid="_x0000_s19031" r:id="rId16" imgW="165100" imgH="228600" progId="Equation.DSMT4">
                  <p:embed/>
                </p:oleObj>
              </mc:Choice>
              <mc:Fallback>
                <p:oleObj r:id="rId16" imgW="165100" imgH="228600" progId="Equation.DSMT4">
                  <p:embed/>
                  <p:pic>
                    <p:nvPicPr>
                      <p:cNvPr id="0" name="图片 3140"/>
                      <p:cNvPicPr/>
                      <p:nvPr/>
                    </p:nvPicPr>
                    <p:blipFill>
                      <a:blip r:embed="rId17"/>
                      <a:stretch>
                        <a:fillRect/>
                      </a:stretch>
                    </p:blipFill>
                    <p:spPr>
                      <a:xfrm>
                        <a:off x="6540500" y="3457575"/>
                        <a:ext cx="295275" cy="417513"/>
                      </a:xfrm>
                      <a:prstGeom prst="rect">
                        <a:avLst/>
                      </a:prstGeom>
                      <a:noFill/>
                      <a:ln w="38100">
                        <a:noFill/>
                        <a:miter/>
                      </a:ln>
                    </p:spPr>
                  </p:pic>
                </p:oleObj>
              </mc:Fallback>
            </mc:AlternateContent>
          </a:graphicData>
        </a:graphic>
      </p:graphicFrame>
      <p:sp>
        <p:nvSpPr>
          <p:cNvPr id="86038" name="Rectangle 8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39" name="对象 41"/>
          <p:cNvGraphicFramePr>
            <a:graphicFrameLocks noChangeAspect="1"/>
          </p:cNvGraphicFramePr>
          <p:nvPr/>
        </p:nvGraphicFramePr>
        <p:xfrm>
          <a:off x="2154238" y="3910013"/>
          <a:ext cx="2533650" cy="493712"/>
        </p:xfrm>
        <a:graphic>
          <a:graphicData uri="http://schemas.openxmlformats.org/presentationml/2006/ole">
            <mc:AlternateContent xmlns:mc="http://schemas.openxmlformats.org/markup-compatibility/2006">
              <mc:Choice xmlns:v="urn:schemas-microsoft-com:vml" Requires="v">
                <p:oleObj spid="_x0000_s19032" r:id="rId18" imgW="1422400" imgH="279400" progId="Equation.DSMT4">
                  <p:embed/>
                </p:oleObj>
              </mc:Choice>
              <mc:Fallback>
                <p:oleObj r:id="rId18" imgW="1422400" imgH="279400" progId="Equation.DSMT4">
                  <p:embed/>
                  <p:pic>
                    <p:nvPicPr>
                      <p:cNvPr id="0" name="图片 3143"/>
                      <p:cNvPicPr/>
                      <p:nvPr/>
                    </p:nvPicPr>
                    <p:blipFill>
                      <a:blip r:embed="rId19"/>
                      <a:stretch>
                        <a:fillRect/>
                      </a:stretch>
                    </p:blipFill>
                    <p:spPr>
                      <a:xfrm>
                        <a:off x="2154238" y="3910013"/>
                        <a:ext cx="2533650" cy="493712"/>
                      </a:xfrm>
                      <a:prstGeom prst="rect">
                        <a:avLst/>
                      </a:prstGeom>
                      <a:noFill/>
                      <a:ln w="38100">
                        <a:noFill/>
                        <a:miter/>
                      </a:ln>
                    </p:spPr>
                  </p:pic>
                </p:oleObj>
              </mc:Fallback>
            </mc:AlternateContent>
          </a:graphicData>
        </a:graphic>
      </p:graphicFrame>
      <p:sp>
        <p:nvSpPr>
          <p:cNvPr id="86040" name="Rectangle 106"/>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41" name="对象 43"/>
          <p:cNvGraphicFramePr>
            <a:graphicFrameLocks noChangeAspect="1"/>
          </p:cNvGraphicFramePr>
          <p:nvPr/>
        </p:nvGraphicFramePr>
        <p:xfrm>
          <a:off x="3932238" y="5243513"/>
          <a:ext cx="4327525" cy="852487"/>
        </p:xfrm>
        <a:graphic>
          <a:graphicData uri="http://schemas.openxmlformats.org/presentationml/2006/ole">
            <mc:AlternateContent xmlns:mc="http://schemas.openxmlformats.org/markup-compatibility/2006">
              <mc:Choice xmlns:v="urn:schemas-microsoft-com:vml" Requires="v">
                <p:oleObj spid="_x0000_s19033" r:id="rId20" imgW="2565400" imgH="508000" progId="Equation.DSMT4">
                  <p:embed/>
                </p:oleObj>
              </mc:Choice>
              <mc:Fallback>
                <p:oleObj r:id="rId20" imgW="2565400" imgH="508000" progId="Equation.DSMT4">
                  <p:embed/>
                  <p:pic>
                    <p:nvPicPr>
                      <p:cNvPr id="0" name="图片 3142"/>
                      <p:cNvPicPr/>
                      <p:nvPr/>
                    </p:nvPicPr>
                    <p:blipFill>
                      <a:blip r:embed="rId21"/>
                      <a:stretch>
                        <a:fillRect/>
                      </a:stretch>
                    </p:blipFill>
                    <p:spPr>
                      <a:xfrm>
                        <a:off x="3932238" y="5243513"/>
                        <a:ext cx="4327525" cy="852487"/>
                      </a:xfrm>
                      <a:prstGeom prst="rect">
                        <a:avLst/>
                      </a:prstGeom>
                      <a:noFill/>
                      <a:ln w="38100">
                        <a:noFill/>
                        <a:miter/>
                      </a:ln>
                    </p:spPr>
                  </p:pic>
                </p:oleObj>
              </mc:Fallback>
            </mc:AlternateContent>
          </a:graphicData>
        </a:graphic>
      </p:graphicFrame>
      <p:sp>
        <p:nvSpPr>
          <p:cNvPr id="86042" name="Rectangle 10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6043" name="对象 45"/>
          <p:cNvGraphicFramePr>
            <a:graphicFrameLocks noChangeAspect="1"/>
          </p:cNvGraphicFramePr>
          <p:nvPr/>
        </p:nvGraphicFramePr>
        <p:xfrm>
          <a:off x="2503488" y="4530725"/>
          <a:ext cx="2698750" cy="431800"/>
        </p:xfrm>
        <a:graphic>
          <a:graphicData uri="http://schemas.openxmlformats.org/presentationml/2006/ole">
            <mc:AlternateContent xmlns:mc="http://schemas.openxmlformats.org/markup-compatibility/2006">
              <mc:Choice xmlns:v="urn:schemas-microsoft-com:vml" Requires="v">
                <p:oleObj spid="_x0000_s19034" r:id="rId22" imgW="1600200" imgH="254000" progId="Equation.DSMT4">
                  <p:embed/>
                </p:oleObj>
              </mc:Choice>
              <mc:Fallback>
                <p:oleObj r:id="rId22" imgW="1600200" imgH="254000" progId="Equation.DSMT4">
                  <p:embed/>
                  <p:pic>
                    <p:nvPicPr>
                      <p:cNvPr id="0" name="图片 3144"/>
                      <p:cNvPicPr/>
                      <p:nvPr/>
                    </p:nvPicPr>
                    <p:blipFill>
                      <a:blip r:embed="rId23"/>
                      <a:stretch>
                        <a:fillRect/>
                      </a:stretch>
                    </p:blipFill>
                    <p:spPr>
                      <a:xfrm>
                        <a:off x="2503488" y="4530725"/>
                        <a:ext cx="2698750" cy="431800"/>
                      </a:xfrm>
                      <a:prstGeom prst="rect">
                        <a:avLst/>
                      </a:prstGeom>
                      <a:noFill/>
                      <a:ln w="38100">
                        <a:noFill/>
                        <a:miter/>
                      </a:ln>
                    </p:spPr>
                  </p:pic>
                </p:oleObj>
              </mc:Fallback>
            </mc:AlternateContent>
          </a:graphicData>
        </a:graphic>
      </p:graphicFrame>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标记传播矩阵和迭代公式</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根据矩阵边矩阵  建立一个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标记传播矩阵</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，其中                  ，我们得到</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迭代公式</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经过上式</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迭代</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直到收敛可以得到</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8806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806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806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807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807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8072"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8073" name="对象 6"/>
          <p:cNvGraphicFramePr>
            <a:graphicFrameLocks noChangeAspect="1"/>
          </p:cNvGraphicFramePr>
          <p:nvPr/>
        </p:nvGraphicFramePr>
        <p:xfrm>
          <a:off x="4564063" y="2544763"/>
          <a:ext cx="325437" cy="266700"/>
        </p:xfrm>
        <a:graphic>
          <a:graphicData uri="http://schemas.openxmlformats.org/presentationml/2006/ole">
            <mc:AlternateContent xmlns:mc="http://schemas.openxmlformats.org/markup-compatibility/2006">
              <mc:Choice xmlns:v="urn:schemas-microsoft-com:vml" Requires="v">
                <p:oleObj spid="_x0000_s19931" r:id="rId4" imgW="203200" imgH="177800" progId="Equation.DSMT4">
                  <p:embed/>
                </p:oleObj>
              </mc:Choice>
              <mc:Fallback>
                <p:oleObj r:id="rId4" imgW="203200" imgH="177800" progId="Equation.DSMT4">
                  <p:embed/>
                  <p:pic>
                    <p:nvPicPr>
                      <p:cNvPr id="0" name="图片 3148"/>
                      <p:cNvPicPr/>
                      <p:nvPr/>
                    </p:nvPicPr>
                    <p:blipFill>
                      <a:blip r:embed="rId5"/>
                      <a:stretch>
                        <a:fillRect/>
                      </a:stretch>
                    </p:blipFill>
                    <p:spPr>
                      <a:xfrm>
                        <a:off x="4564063" y="2544763"/>
                        <a:ext cx="325437" cy="266700"/>
                      </a:xfrm>
                      <a:prstGeom prst="rect">
                        <a:avLst/>
                      </a:prstGeom>
                      <a:noFill/>
                      <a:ln w="38100">
                        <a:noFill/>
                        <a:miter/>
                      </a:ln>
                    </p:spPr>
                  </p:pic>
                </p:oleObj>
              </mc:Fallback>
            </mc:AlternateContent>
          </a:graphicData>
        </a:graphic>
      </p:graphicFrame>
      <p:sp>
        <p:nvSpPr>
          <p:cNvPr id="88074" name="Rectangle 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8075" name="对象 10"/>
          <p:cNvGraphicFramePr>
            <a:graphicFrameLocks noChangeAspect="1"/>
          </p:cNvGraphicFramePr>
          <p:nvPr/>
        </p:nvGraphicFramePr>
        <p:xfrm>
          <a:off x="8483600" y="2328863"/>
          <a:ext cx="1447800" cy="498475"/>
        </p:xfrm>
        <a:graphic>
          <a:graphicData uri="http://schemas.openxmlformats.org/presentationml/2006/ole">
            <mc:AlternateContent xmlns:mc="http://schemas.openxmlformats.org/markup-compatibility/2006">
              <mc:Choice xmlns:v="urn:schemas-microsoft-com:vml" Requires="v">
                <p:oleObj spid="_x0000_s19932" r:id="rId6" imgW="888365" imgH="304800" progId="Equation.DSMT4">
                  <p:embed/>
                </p:oleObj>
              </mc:Choice>
              <mc:Fallback>
                <p:oleObj r:id="rId6" imgW="888365" imgH="304800" progId="Equation.DSMT4">
                  <p:embed/>
                  <p:pic>
                    <p:nvPicPr>
                      <p:cNvPr id="0" name="图片 3145"/>
                      <p:cNvPicPr/>
                      <p:nvPr/>
                    </p:nvPicPr>
                    <p:blipFill>
                      <a:blip r:embed="rId7"/>
                      <a:stretch>
                        <a:fillRect/>
                      </a:stretch>
                    </p:blipFill>
                    <p:spPr>
                      <a:xfrm>
                        <a:off x="8483600" y="2328863"/>
                        <a:ext cx="1447800" cy="498475"/>
                      </a:xfrm>
                      <a:prstGeom prst="rect">
                        <a:avLst/>
                      </a:prstGeom>
                      <a:noFill/>
                      <a:ln w="38100">
                        <a:noFill/>
                        <a:miter/>
                      </a:ln>
                    </p:spPr>
                  </p:pic>
                </p:oleObj>
              </mc:Fallback>
            </mc:AlternateContent>
          </a:graphicData>
        </a:graphic>
      </p:graphicFrame>
      <p:sp>
        <p:nvSpPr>
          <p:cNvPr id="88076"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8077" name="对象 12"/>
          <p:cNvGraphicFramePr>
            <a:graphicFrameLocks noChangeAspect="1"/>
          </p:cNvGraphicFramePr>
          <p:nvPr/>
        </p:nvGraphicFramePr>
        <p:xfrm>
          <a:off x="2076450" y="2805113"/>
          <a:ext cx="3138488" cy="798512"/>
        </p:xfrm>
        <a:graphic>
          <a:graphicData uri="http://schemas.openxmlformats.org/presentationml/2006/ole">
            <mc:AlternateContent xmlns:mc="http://schemas.openxmlformats.org/markup-compatibility/2006">
              <mc:Choice xmlns:v="urn:schemas-microsoft-com:vml" Requires="v">
                <p:oleObj spid="_x0000_s19933" r:id="rId8" imgW="2095500" imgH="533400" progId="Equation.DSMT4">
                  <p:embed/>
                </p:oleObj>
              </mc:Choice>
              <mc:Fallback>
                <p:oleObj r:id="rId8" imgW="2095500" imgH="533400" progId="Equation.DSMT4">
                  <p:embed/>
                  <p:pic>
                    <p:nvPicPr>
                      <p:cNvPr id="0" name="图片 3149"/>
                      <p:cNvPicPr/>
                      <p:nvPr/>
                    </p:nvPicPr>
                    <p:blipFill>
                      <a:blip r:embed="rId9"/>
                      <a:stretch>
                        <a:fillRect/>
                      </a:stretch>
                    </p:blipFill>
                    <p:spPr>
                      <a:xfrm>
                        <a:off x="2076450" y="2805113"/>
                        <a:ext cx="3138488" cy="798512"/>
                      </a:xfrm>
                      <a:prstGeom prst="rect">
                        <a:avLst/>
                      </a:prstGeom>
                      <a:noFill/>
                      <a:ln w="38100">
                        <a:noFill/>
                        <a:miter/>
                      </a:ln>
                    </p:spPr>
                  </p:pic>
                </p:oleObj>
              </mc:Fallback>
            </mc:AlternateContent>
          </a:graphicData>
        </a:graphic>
      </p:graphicFrame>
      <p:sp>
        <p:nvSpPr>
          <p:cNvPr id="88078" name="Rectangle 1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8079" name="对象 14"/>
          <p:cNvGraphicFramePr>
            <a:graphicFrameLocks noChangeAspect="1"/>
          </p:cNvGraphicFramePr>
          <p:nvPr/>
        </p:nvGraphicFramePr>
        <p:xfrm>
          <a:off x="4413250" y="3833813"/>
          <a:ext cx="3138488" cy="447675"/>
        </p:xfrm>
        <a:graphic>
          <a:graphicData uri="http://schemas.openxmlformats.org/presentationml/2006/ole">
            <mc:AlternateContent xmlns:mc="http://schemas.openxmlformats.org/markup-compatibility/2006">
              <mc:Choice xmlns:v="urn:schemas-microsoft-com:vml" Requires="v">
                <p:oleObj spid="_x0000_s19934" r:id="rId10" imgW="1803400" imgH="254000" progId="Equation.DSMT4">
                  <p:embed/>
                </p:oleObj>
              </mc:Choice>
              <mc:Fallback>
                <p:oleObj r:id="rId10" imgW="1803400" imgH="254000" progId="Equation.DSMT4">
                  <p:embed/>
                  <p:pic>
                    <p:nvPicPr>
                      <p:cNvPr id="0" name="图片 3152"/>
                      <p:cNvPicPr/>
                      <p:nvPr/>
                    </p:nvPicPr>
                    <p:blipFill>
                      <a:blip r:embed="rId11"/>
                      <a:stretch>
                        <a:fillRect/>
                      </a:stretch>
                    </p:blipFill>
                    <p:spPr>
                      <a:xfrm>
                        <a:off x="4413250" y="3833813"/>
                        <a:ext cx="3138488" cy="447675"/>
                      </a:xfrm>
                      <a:prstGeom prst="rect">
                        <a:avLst/>
                      </a:prstGeom>
                      <a:noFill/>
                      <a:ln w="38100">
                        <a:noFill/>
                        <a:miter/>
                      </a:ln>
                    </p:spPr>
                  </p:pic>
                </p:oleObj>
              </mc:Fallback>
            </mc:AlternateContent>
          </a:graphicData>
        </a:graphic>
      </p:graphicFrame>
      <p:sp>
        <p:nvSpPr>
          <p:cNvPr id="88080" name="文本框 24"/>
          <p:cNvSpPr txBox="1"/>
          <p:nvPr/>
        </p:nvSpPr>
        <p:spPr>
          <a:xfrm>
            <a:off x="8607425" y="3738563"/>
            <a:ext cx="3097213" cy="646112"/>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其中，      是由用户个人控制的参数</a:t>
            </a:r>
          </a:p>
        </p:txBody>
      </p:sp>
      <p:sp>
        <p:nvSpPr>
          <p:cNvPr id="88081" name="Rectangle 3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8082" name="对象 29"/>
          <p:cNvGraphicFramePr>
            <a:graphicFrameLocks noChangeAspect="1"/>
          </p:cNvGraphicFramePr>
          <p:nvPr/>
        </p:nvGraphicFramePr>
        <p:xfrm>
          <a:off x="9326563" y="3835400"/>
          <a:ext cx="739775" cy="327025"/>
        </p:xfrm>
        <a:graphic>
          <a:graphicData uri="http://schemas.openxmlformats.org/presentationml/2006/ole">
            <mc:AlternateContent xmlns:mc="http://schemas.openxmlformats.org/markup-compatibility/2006">
              <mc:Choice xmlns:v="urn:schemas-microsoft-com:vml" Requires="v">
                <p:oleObj spid="_x0000_s19935" r:id="rId12" imgW="584200" imgH="254000" progId="Equation.DSMT4">
                  <p:embed/>
                </p:oleObj>
              </mc:Choice>
              <mc:Fallback>
                <p:oleObj r:id="rId12" imgW="584200" imgH="254000" progId="Equation.DSMT4">
                  <p:embed/>
                  <p:pic>
                    <p:nvPicPr>
                      <p:cNvPr id="0" name="图片 3146"/>
                      <p:cNvPicPr/>
                      <p:nvPr/>
                    </p:nvPicPr>
                    <p:blipFill>
                      <a:blip r:embed="rId13"/>
                      <a:stretch>
                        <a:fillRect/>
                      </a:stretch>
                    </p:blipFill>
                    <p:spPr>
                      <a:xfrm>
                        <a:off x="9326563" y="3835400"/>
                        <a:ext cx="739775" cy="327025"/>
                      </a:xfrm>
                      <a:prstGeom prst="rect">
                        <a:avLst/>
                      </a:prstGeom>
                      <a:noFill/>
                      <a:ln w="38100">
                        <a:noFill/>
                        <a:miter/>
                      </a:ln>
                    </p:spPr>
                  </p:pic>
                </p:oleObj>
              </mc:Fallback>
            </mc:AlternateContent>
          </a:graphicData>
        </a:graphic>
      </p:graphicFrame>
      <p:sp>
        <p:nvSpPr>
          <p:cNvPr id="88083" name="Rectangle 48"/>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88084" name="Rectangle 5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88085" name="对象 34"/>
          <p:cNvGraphicFramePr>
            <a:graphicFrameLocks noChangeAspect="1"/>
          </p:cNvGraphicFramePr>
          <p:nvPr/>
        </p:nvGraphicFramePr>
        <p:xfrm>
          <a:off x="7053263" y="4605338"/>
          <a:ext cx="358775" cy="358775"/>
        </p:xfrm>
        <a:graphic>
          <a:graphicData uri="http://schemas.openxmlformats.org/presentationml/2006/ole">
            <mc:AlternateContent xmlns:mc="http://schemas.openxmlformats.org/markup-compatibility/2006">
              <mc:Choice xmlns:v="urn:schemas-microsoft-com:vml" Requires="v">
                <p:oleObj spid="_x0000_s19936" r:id="rId14" imgW="190500" imgH="190500" progId="Equation.DSMT4">
                  <p:embed/>
                </p:oleObj>
              </mc:Choice>
              <mc:Fallback>
                <p:oleObj r:id="rId14" imgW="190500" imgH="190500" progId="Equation.DSMT4">
                  <p:embed/>
                  <p:pic>
                    <p:nvPicPr>
                      <p:cNvPr id="0" name="图片 3147"/>
                      <p:cNvPicPr/>
                      <p:nvPr/>
                    </p:nvPicPr>
                    <p:blipFill>
                      <a:blip r:embed="rId15"/>
                      <a:stretch>
                        <a:fillRect/>
                      </a:stretch>
                    </p:blipFill>
                    <p:spPr>
                      <a:xfrm>
                        <a:off x="7053263" y="4605338"/>
                        <a:ext cx="358775" cy="358775"/>
                      </a:xfrm>
                      <a:prstGeom prst="rect">
                        <a:avLst/>
                      </a:prstGeom>
                      <a:noFill/>
                      <a:ln w="38100">
                        <a:noFill/>
                        <a:miter/>
                      </a:ln>
                    </p:spPr>
                  </p:pic>
                </p:oleObj>
              </mc:Fallback>
            </mc:AlternateContent>
          </a:graphicData>
        </a:graphic>
      </p:graphicFrame>
      <p:grpSp>
        <p:nvGrpSpPr>
          <p:cNvPr id="88086" name="组合 36"/>
          <p:cNvGrpSpPr/>
          <p:nvPr/>
        </p:nvGrpSpPr>
        <p:grpSpPr>
          <a:xfrm>
            <a:off x="4310063" y="5287963"/>
            <a:ext cx="3822700" cy="592137"/>
            <a:chOff x="4246521" y="5287934"/>
            <a:chExt cx="3822700" cy="592138"/>
          </a:xfrm>
        </p:grpSpPr>
        <p:graphicFrame>
          <p:nvGraphicFramePr>
            <p:cNvPr id="88087" name="对象 32"/>
            <p:cNvGraphicFramePr>
              <a:graphicFrameLocks noChangeAspect="1"/>
            </p:cNvGraphicFramePr>
            <p:nvPr/>
          </p:nvGraphicFramePr>
          <p:xfrm>
            <a:off x="4246521" y="5287934"/>
            <a:ext cx="3822700" cy="592138"/>
          </p:xfrm>
          <a:graphic>
            <a:graphicData uri="http://schemas.openxmlformats.org/presentationml/2006/ole">
              <mc:AlternateContent xmlns:mc="http://schemas.openxmlformats.org/markup-compatibility/2006">
                <mc:Choice xmlns:v="urn:schemas-microsoft-com:vml" Requires="v">
                  <p:oleObj spid="_x0000_s19937" r:id="rId16" imgW="2032000" imgH="317500" progId="Equation.DSMT4">
                    <p:embed/>
                  </p:oleObj>
                </mc:Choice>
                <mc:Fallback>
                  <p:oleObj r:id="rId16" imgW="2032000" imgH="317500" progId="Equation.DSMT4">
                    <p:embed/>
                    <p:pic>
                      <p:nvPicPr>
                        <p:cNvPr id="0" name="图片 3150"/>
                        <p:cNvPicPr/>
                        <p:nvPr/>
                      </p:nvPicPr>
                      <p:blipFill>
                        <a:blip r:embed="rId17"/>
                        <a:stretch>
                          <a:fillRect/>
                        </a:stretch>
                      </p:blipFill>
                      <p:spPr>
                        <a:xfrm>
                          <a:off x="4246521" y="5287934"/>
                          <a:ext cx="3822700" cy="592138"/>
                        </a:xfrm>
                        <a:prstGeom prst="rect">
                          <a:avLst/>
                        </a:prstGeom>
                        <a:noFill/>
                        <a:ln w="38100">
                          <a:noFill/>
                          <a:miter/>
                        </a:ln>
                      </p:spPr>
                    </p:pic>
                  </p:oleObj>
                </mc:Fallback>
              </mc:AlternateContent>
            </a:graphicData>
          </a:graphic>
        </p:graphicFrame>
        <p:sp>
          <p:nvSpPr>
            <p:cNvPr id="88088" name="矩形 35"/>
            <p:cNvSpPr/>
            <p:nvPr/>
          </p:nvSpPr>
          <p:spPr>
            <a:xfrm>
              <a:off x="4246521" y="5375082"/>
              <a:ext cx="317528" cy="333955"/>
            </a:xfrm>
            <a:prstGeom prst="rect">
              <a:avLst/>
            </a:prstGeom>
            <a:solidFill>
              <a:srgbClr val="FFFFFF"/>
            </a:solidFill>
            <a:ln w="9525">
              <a:noFill/>
            </a:ln>
          </p:spPr>
          <p:txBody>
            <a:bodyPr wrap="none" anchor="t" anchorCtr="0"/>
            <a:lstStyle/>
            <a:p>
              <a:pPr>
                <a:buClrTx/>
                <a:buFontTx/>
              </a:pPr>
              <a:endParaRPr lang="zh-CN" altLang="en-US" sz="2400" dirty="0">
                <a:latin typeface="Times New Roman" panose="02020603050405020304" pitchFamily="18" charset="0"/>
                <a:ea typeface="楷体_GB2312" panose="02010609030101010101" charset="-122"/>
              </a:endParaRPr>
            </a:p>
          </p:txBody>
        </p:sp>
      </p:grpSp>
      <p:graphicFrame>
        <p:nvGraphicFramePr>
          <p:cNvPr id="88089" name="对象 37"/>
          <p:cNvGraphicFramePr>
            <a:graphicFrameLocks noChangeAspect="1"/>
          </p:cNvGraphicFramePr>
          <p:nvPr/>
        </p:nvGraphicFramePr>
        <p:xfrm>
          <a:off x="3725863" y="5334000"/>
          <a:ext cx="360362" cy="358775"/>
        </p:xfrm>
        <a:graphic>
          <a:graphicData uri="http://schemas.openxmlformats.org/presentationml/2006/ole">
            <mc:AlternateContent xmlns:mc="http://schemas.openxmlformats.org/markup-compatibility/2006">
              <mc:Choice xmlns:v="urn:schemas-microsoft-com:vml" Requires="v">
                <p:oleObj spid="_x0000_s19938" r:id="rId18" imgW="190500" imgH="190500" progId="Equation.DSMT4">
                  <p:embed/>
                </p:oleObj>
              </mc:Choice>
              <mc:Fallback>
                <p:oleObj r:id="rId18" imgW="190500" imgH="190500" progId="Equation.DSMT4">
                  <p:embed/>
                  <p:pic>
                    <p:nvPicPr>
                      <p:cNvPr id="0" name="图片 3151"/>
                      <p:cNvPicPr/>
                      <p:nvPr/>
                    </p:nvPicPr>
                    <p:blipFill>
                      <a:blip r:embed="rId15"/>
                      <a:stretch>
                        <a:fillRect/>
                      </a:stretch>
                    </p:blipFill>
                    <p:spPr>
                      <a:xfrm>
                        <a:off x="3725863" y="5334000"/>
                        <a:ext cx="360362" cy="358775"/>
                      </a:xfrm>
                      <a:prstGeom prst="rect">
                        <a:avLst/>
                      </a:prstGeom>
                      <a:noFill/>
                      <a:ln w="38100">
                        <a:noFill/>
                        <a:miter/>
                      </a:ln>
                    </p:spPr>
                  </p:pic>
                </p:oleObj>
              </mc:Fallback>
            </mc:AlternateContent>
          </a:graphicData>
        </a:graphic>
      </p:graphicFrame>
      <p:sp>
        <p:nvSpPr>
          <p:cNvPr id="88090" name="箭头: 右 40"/>
          <p:cNvSpPr/>
          <p:nvPr/>
        </p:nvSpPr>
        <p:spPr>
          <a:xfrm>
            <a:off x="4133850" y="5526088"/>
            <a:ext cx="360363" cy="57150"/>
          </a:xfrm>
          <a:prstGeom prst="rightArrow">
            <a:avLst>
              <a:gd name="adj1" fmla="val 50000"/>
              <a:gd name="adj2" fmla="val 50269"/>
            </a:avLst>
          </a:prstGeom>
          <a:noFill/>
          <a:ln w="9525" cap="flat" cmpd="sng">
            <a:solidFill>
              <a:schemeClr val="tx1"/>
            </a:solidFill>
            <a:prstDash val="solid"/>
            <a:miter/>
            <a:headEnd type="none" w="med" len="med"/>
            <a:tailEnd type="none" w="med" len="med"/>
          </a:ln>
        </p:spPr>
        <p:txBody>
          <a:bodyPr wrap="none" anchor="t" anchorCtr="0"/>
          <a:lstStyle/>
          <a:p>
            <a:pPr>
              <a:buClrTx/>
              <a:buFontTx/>
            </a:pPr>
            <a:endParaRPr lang="zh-CN" altLang="en-US" sz="2400" dirty="0">
              <a:latin typeface="Times New Roman" panose="02020603050405020304" pitchFamily="18" charset="0"/>
              <a:ea typeface="楷体_GB2312" panose="02010609030101010101" charset="-122"/>
            </a:endParaRP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算法步骤</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9011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011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011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011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011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2" name="图片 1"/>
          <p:cNvPicPr>
            <a:picLocks noChangeAspect="1"/>
          </p:cNvPicPr>
          <p:nvPr/>
        </p:nvPicPr>
        <p:blipFill rotWithShape="1">
          <a:blip r:embed="rId3"/>
          <a:srcRect t="4806" b="11907"/>
          <a:stretch/>
        </p:blipFill>
        <p:spPr>
          <a:xfrm>
            <a:off x="3140208" y="1648214"/>
            <a:ext cx="7987961" cy="5046779"/>
          </a:xfrm>
          <a:prstGeom prst="rect">
            <a:avLst/>
          </a:prstGeom>
        </p:spPr>
      </p:pic>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小结</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算法复杂度上存在较大的不足，很难处理</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大规模</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数据。</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在构建图的过程中，只考虑到</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训练样本集</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，很难判断</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新的样本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在图中的位置。在出现新的样本时，需要将新样本加入到原样本集对图进行重建且进行标记传播。</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9216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216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216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216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216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972355" y="1852613"/>
            <a:ext cx="10646558"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rgbClr val="3333CC"/>
                </a:solidFill>
                <a:effectLst/>
                <a:uLnTx/>
                <a:uFillTx/>
                <a:latin typeface="宋体" panose="02010600030101010101" pitchFamily="2" charset="-122"/>
                <a:ea typeface="宋体" panose="02010600030101010101" pitchFamily="2" charset="-122"/>
                <a:cs typeface="华文新魏" panose="02010800040101010101" pitchFamily="2" charset="-122"/>
              </a:rPr>
              <a:t>10.2.4</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基于分歧的方法</a:t>
            </a:r>
            <a:endPar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“协同训练”（</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Co-Training</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一种采用</a:t>
            </a:r>
            <a:r>
              <a:rPr kumimoji="1" lang="zh-CN" altLang="en-US" sz="24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多分类器</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的基于分歧的方法，最早提出于</a:t>
            </a:r>
            <a:r>
              <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1998</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年。</a:t>
            </a:r>
            <a:endPar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使用</a:t>
            </a:r>
            <a:r>
              <a:rPr kumimoji="1" lang="zh-CN"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两个学习器</a:t>
            </a:r>
            <a:r>
              <a:rPr kumimoji="1" lang="zh-CN"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来协同训练，在训练过程中，两个分类器挑选</a:t>
            </a:r>
            <a:r>
              <a:rPr kumimoji="1" lang="zh-CN" altLang="zh-CN" sz="24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置信度较高</a:t>
            </a:r>
            <a:r>
              <a:rPr kumimoji="1" lang="zh-CN" altLang="zh-CN"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的已标记和未标记样本交给对方学习，直到达到某个终止条件</a:t>
            </a:r>
            <a:r>
              <a:rPr kumimoji="1" lang="zh-CN" altLang="en-US" sz="24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9421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421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421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421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421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8958" y="4300482"/>
            <a:ext cx="5183143" cy="20551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协同训练的模型</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给出一个样本空间        ，其中  和  对应于一个样本的两种不同“</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视图</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View</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一个样本往往拥有多个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属性</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，在这里，每个属性就构成了一个视图。</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在此基础上，每个样本  可以用一对     来表示。</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9625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626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626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626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626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6264"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6265" name="对象 6"/>
          <p:cNvGraphicFramePr>
            <a:graphicFrameLocks noChangeAspect="1"/>
          </p:cNvGraphicFramePr>
          <p:nvPr/>
        </p:nvGraphicFramePr>
        <p:xfrm>
          <a:off x="4913313" y="2493963"/>
          <a:ext cx="1373187" cy="392112"/>
        </p:xfrm>
        <a:graphic>
          <a:graphicData uri="http://schemas.openxmlformats.org/presentationml/2006/ole">
            <mc:AlternateContent xmlns:mc="http://schemas.openxmlformats.org/markup-compatibility/2006">
              <mc:Choice xmlns:v="urn:schemas-microsoft-com:vml" Requires="v">
                <p:oleObj spid="_x0000_s20783" r:id="rId4" imgW="800100" imgH="228600" progId="Equation.DSMT4">
                  <p:embed/>
                </p:oleObj>
              </mc:Choice>
              <mc:Fallback>
                <p:oleObj r:id="rId4" imgW="800100" imgH="228600" progId="Equation.DSMT4">
                  <p:embed/>
                  <p:pic>
                    <p:nvPicPr>
                      <p:cNvPr id="0" name="图片 3154"/>
                      <p:cNvPicPr/>
                      <p:nvPr/>
                    </p:nvPicPr>
                    <p:blipFill>
                      <a:blip r:embed="rId5"/>
                      <a:stretch>
                        <a:fillRect/>
                      </a:stretch>
                    </p:blipFill>
                    <p:spPr>
                      <a:xfrm>
                        <a:off x="4913313" y="2493963"/>
                        <a:ext cx="1373187" cy="392112"/>
                      </a:xfrm>
                      <a:prstGeom prst="rect">
                        <a:avLst/>
                      </a:prstGeom>
                      <a:noFill/>
                      <a:ln w="38100">
                        <a:noFill/>
                        <a:miter/>
                      </a:ln>
                    </p:spPr>
                  </p:pic>
                </p:oleObj>
              </mc:Fallback>
            </mc:AlternateContent>
          </a:graphicData>
        </a:graphic>
      </p:graphicFrame>
      <p:sp>
        <p:nvSpPr>
          <p:cNvPr id="96266" name="Rectangle 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6267" name="对象 11"/>
          <p:cNvGraphicFramePr>
            <a:graphicFrameLocks noChangeAspect="1"/>
          </p:cNvGraphicFramePr>
          <p:nvPr/>
        </p:nvGraphicFramePr>
        <p:xfrm>
          <a:off x="7402513" y="2495550"/>
          <a:ext cx="341312" cy="390525"/>
        </p:xfrm>
        <a:graphic>
          <a:graphicData uri="http://schemas.openxmlformats.org/presentationml/2006/ole">
            <mc:AlternateContent xmlns:mc="http://schemas.openxmlformats.org/markup-compatibility/2006">
              <mc:Choice xmlns:v="urn:schemas-microsoft-com:vml" Requires="v">
                <p:oleObj spid="_x0000_s20784" r:id="rId6" imgW="203200" imgH="228600" progId="Equation.DSMT4">
                  <p:embed/>
                </p:oleObj>
              </mc:Choice>
              <mc:Fallback>
                <p:oleObj r:id="rId6" imgW="203200" imgH="228600" progId="Equation.DSMT4">
                  <p:embed/>
                  <p:pic>
                    <p:nvPicPr>
                      <p:cNvPr id="0" name="图片 3153"/>
                      <p:cNvPicPr/>
                      <p:nvPr/>
                    </p:nvPicPr>
                    <p:blipFill>
                      <a:blip r:embed="rId7"/>
                      <a:stretch>
                        <a:fillRect/>
                      </a:stretch>
                    </p:blipFill>
                    <p:spPr>
                      <a:xfrm>
                        <a:off x="7402513" y="2495550"/>
                        <a:ext cx="341312" cy="390525"/>
                      </a:xfrm>
                      <a:prstGeom prst="rect">
                        <a:avLst/>
                      </a:prstGeom>
                      <a:noFill/>
                      <a:ln w="38100">
                        <a:noFill/>
                        <a:miter/>
                      </a:ln>
                    </p:spPr>
                  </p:pic>
                </p:oleObj>
              </mc:Fallback>
            </mc:AlternateContent>
          </a:graphicData>
        </a:graphic>
      </p:graphicFrame>
      <p:sp>
        <p:nvSpPr>
          <p:cNvPr id="96268"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6269" name="对象 13"/>
          <p:cNvGraphicFramePr>
            <a:graphicFrameLocks noChangeAspect="1"/>
          </p:cNvGraphicFramePr>
          <p:nvPr/>
        </p:nvGraphicFramePr>
        <p:xfrm>
          <a:off x="8081963" y="2495550"/>
          <a:ext cx="374650" cy="390525"/>
        </p:xfrm>
        <a:graphic>
          <a:graphicData uri="http://schemas.openxmlformats.org/presentationml/2006/ole">
            <mc:AlternateContent xmlns:mc="http://schemas.openxmlformats.org/markup-compatibility/2006">
              <mc:Choice xmlns:v="urn:schemas-microsoft-com:vml" Requires="v">
                <p:oleObj spid="_x0000_s20785" r:id="rId8" imgW="215900" imgH="228600" progId="Equation.DSMT4">
                  <p:embed/>
                </p:oleObj>
              </mc:Choice>
              <mc:Fallback>
                <p:oleObj r:id="rId8" imgW="215900" imgH="228600" progId="Equation.DSMT4">
                  <p:embed/>
                  <p:pic>
                    <p:nvPicPr>
                      <p:cNvPr id="0" name="图片 3157"/>
                      <p:cNvPicPr/>
                      <p:nvPr/>
                    </p:nvPicPr>
                    <p:blipFill>
                      <a:blip r:embed="rId9"/>
                      <a:stretch>
                        <a:fillRect/>
                      </a:stretch>
                    </p:blipFill>
                    <p:spPr>
                      <a:xfrm>
                        <a:off x="8081963" y="2495550"/>
                        <a:ext cx="374650" cy="390525"/>
                      </a:xfrm>
                      <a:prstGeom prst="rect">
                        <a:avLst/>
                      </a:prstGeom>
                      <a:noFill/>
                      <a:ln w="38100">
                        <a:noFill/>
                        <a:miter/>
                      </a:ln>
                    </p:spPr>
                  </p:pic>
                </p:oleObj>
              </mc:Fallback>
            </mc:AlternateContent>
          </a:graphicData>
        </a:graphic>
      </p:graphicFrame>
      <p:sp>
        <p:nvSpPr>
          <p:cNvPr id="96270" name="Rectangle 2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6271" name="对象 21"/>
          <p:cNvGraphicFramePr>
            <a:graphicFrameLocks noChangeAspect="1"/>
          </p:cNvGraphicFramePr>
          <p:nvPr/>
        </p:nvGraphicFramePr>
        <p:xfrm>
          <a:off x="5580063" y="4541838"/>
          <a:ext cx="363537" cy="390525"/>
        </p:xfrm>
        <a:graphic>
          <a:graphicData uri="http://schemas.openxmlformats.org/presentationml/2006/ole">
            <mc:AlternateContent xmlns:mc="http://schemas.openxmlformats.org/markup-compatibility/2006">
              <mc:Choice xmlns:v="urn:schemas-microsoft-com:vml" Requires="v">
                <p:oleObj spid="_x0000_s20786" r:id="rId10" imgW="139700" imgH="139700" progId="Equation.DSMT4">
                  <p:embed/>
                </p:oleObj>
              </mc:Choice>
              <mc:Fallback>
                <p:oleObj r:id="rId10" imgW="139700" imgH="139700" progId="Equation.DSMT4">
                  <p:embed/>
                  <p:pic>
                    <p:nvPicPr>
                      <p:cNvPr id="0" name="图片 3155"/>
                      <p:cNvPicPr/>
                      <p:nvPr/>
                    </p:nvPicPr>
                    <p:blipFill>
                      <a:blip r:embed="rId11"/>
                      <a:stretch>
                        <a:fillRect/>
                      </a:stretch>
                    </p:blipFill>
                    <p:spPr>
                      <a:xfrm>
                        <a:off x="5580063" y="4541838"/>
                        <a:ext cx="363537" cy="390525"/>
                      </a:xfrm>
                      <a:prstGeom prst="rect">
                        <a:avLst/>
                      </a:prstGeom>
                      <a:noFill/>
                      <a:ln w="38100">
                        <a:noFill/>
                        <a:miter/>
                      </a:ln>
                    </p:spPr>
                  </p:pic>
                </p:oleObj>
              </mc:Fallback>
            </mc:AlternateContent>
          </a:graphicData>
        </a:graphic>
      </p:graphicFrame>
      <p:sp>
        <p:nvSpPr>
          <p:cNvPr id="96272" name="Rectangle 2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6273" name="对象 23"/>
          <p:cNvGraphicFramePr>
            <a:graphicFrameLocks noChangeAspect="1"/>
          </p:cNvGraphicFramePr>
          <p:nvPr/>
        </p:nvGraphicFramePr>
        <p:xfrm>
          <a:off x="7770813" y="4533900"/>
          <a:ext cx="846137" cy="390525"/>
        </p:xfrm>
        <a:graphic>
          <a:graphicData uri="http://schemas.openxmlformats.org/presentationml/2006/ole">
            <mc:AlternateContent xmlns:mc="http://schemas.openxmlformats.org/markup-compatibility/2006">
              <mc:Choice xmlns:v="urn:schemas-microsoft-com:vml" Requires="v">
                <p:oleObj spid="_x0000_s20787" r:id="rId12" imgW="495300" imgH="228600" progId="Equation.DSMT4">
                  <p:embed/>
                </p:oleObj>
              </mc:Choice>
              <mc:Fallback>
                <p:oleObj r:id="rId12" imgW="495300" imgH="228600" progId="Equation.DSMT4">
                  <p:embed/>
                  <p:pic>
                    <p:nvPicPr>
                      <p:cNvPr id="0" name="图片 3156"/>
                      <p:cNvPicPr/>
                      <p:nvPr/>
                    </p:nvPicPr>
                    <p:blipFill>
                      <a:blip r:embed="rId13"/>
                      <a:stretch>
                        <a:fillRect/>
                      </a:stretch>
                    </p:blipFill>
                    <p:spPr>
                      <a:xfrm>
                        <a:off x="7770813" y="4533900"/>
                        <a:ext cx="846137" cy="390525"/>
                      </a:xfrm>
                      <a:prstGeom prst="rect">
                        <a:avLst/>
                      </a:prstGeom>
                      <a:noFill/>
                      <a:ln w="38100">
                        <a:noFill/>
                        <a:miter/>
                      </a:ln>
                    </p:spPr>
                  </p:pic>
                </p:oleObj>
              </mc:Fallback>
            </mc:AlternateContent>
          </a:graphicData>
        </a:graphic>
      </p:graphicFrame>
      <p:pic>
        <p:nvPicPr>
          <p:cNvPr id="19"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01693" y="4932363"/>
            <a:ext cx="4263891" cy="169067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前提假设</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假设每个视图本身就足以进行</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正确的分类</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表示样本  在视图  中的</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特征向量</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表示样本  在视图  中的</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特征向量</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假设样本空间的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目标函数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为  ，对于一个样本  来说，               ，其中  是样本的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类别标记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9830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0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0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1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1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12"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13" name="Rectangle 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14" name="对象 11"/>
          <p:cNvGraphicFramePr>
            <a:graphicFrameLocks noChangeAspect="1"/>
          </p:cNvGraphicFramePr>
          <p:nvPr/>
        </p:nvGraphicFramePr>
        <p:xfrm>
          <a:off x="2066925" y="2954338"/>
          <a:ext cx="342900" cy="390525"/>
        </p:xfrm>
        <a:graphic>
          <a:graphicData uri="http://schemas.openxmlformats.org/presentationml/2006/ole">
            <mc:AlternateContent xmlns:mc="http://schemas.openxmlformats.org/markup-compatibility/2006">
              <mc:Choice xmlns:v="urn:schemas-microsoft-com:vml" Requires="v">
                <p:oleObj spid="_x0000_s22107" r:id="rId4" imgW="203200" imgH="228600" progId="Equation.DSMT4">
                  <p:embed/>
                </p:oleObj>
              </mc:Choice>
              <mc:Fallback>
                <p:oleObj r:id="rId4" imgW="203200" imgH="228600" progId="Equation.DSMT4">
                  <p:embed/>
                  <p:pic>
                    <p:nvPicPr>
                      <p:cNvPr id="0" name="图片 3158"/>
                      <p:cNvPicPr/>
                      <p:nvPr/>
                    </p:nvPicPr>
                    <p:blipFill>
                      <a:blip r:embed="rId5"/>
                      <a:stretch>
                        <a:fillRect/>
                      </a:stretch>
                    </p:blipFill>
                    <p:spPr>
                      <a:xfrm>
                        <a:off x="2066925" y="2954338"/>
                        <a:ext cx="342900" cy="390525"/>
                      </a:xfrm>
                      <a:prstGeom prst="rect">
                        <a:avLst/>
                      </a:prstGeom>
                      <a:noFill/>
                      <a:ln w="38100">
                        <a:noFill/>
                        <a:miter/>
                      </a:ln>
                    </p:spPr>
                  </p:pic>
                </p:oleObj>
              </mc:Fallback>
            </mc:AlternateContent>
          </a:graphicData>
        </a:graphic>
      </p:graphicFrame>
      <p:sp>
        <p:nvSpPr>
          <p:cNvPr id="98315"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16" name="对象 13"/>
          <p:cNvGraphicFramePr>
            <a:graphicFrameLocks noChangeAspect="1"/>
          </p:cNvGraphicFramePr>
          <p:nvPr/>
        </p:nvGraphicFramePr>
        <p:xfrm>
          <a:off x="7937500" y="2954338"/>
          <a:ext cx="373063" cy="390525"/>
        </p:xfrm>
        <a:graphic>
          <a:graphicData uri="http://schemas.openxmlformats.org/presentationml/2006/ole">
            <mc:AlternateContent xmlns:mc="http://schemas.openxmlformats.org/markup-compatibility/2006">
              <mc:Choice xmlns:v="urn:schemas-microsoft-com:vml" Requires="v">
                <p:oleObj spid="_x0000_s22108" r:id="rId6" imgW="215900" imgH="228600" progId="Equation.DSMT4">
                  <p:embed/>
                </p:oleObj>
              </mc:Choice>
              <mc:Fallback>
                <p:oleObj r:id="rId6" imgW="215900" imgH="228600" progId="Equation.DSMT4">
                  <p:embed/>
                  <p:pic>
                    <p:nvPicPr>
                      <p:cNvPr id="0" name="图片 3160"/>
                      <p:cNvPicPr/>
                      <p:nvPr/>
                    </p:nvPicPr>
                    <p:blipFill>
                      <a:blip r:embed="rId7"/>
                      <a:stretch>
                        <a:fillRect/>
                      </a:stretch>
                    </p:blipFill>
                    <p:spPr>
                      <a:xfrm>
                        <a:off x="7937500" y="2954338"/>
                        <a:ext cx="373063" cy="390525"/>
                      </a:xfrm>
                      <a:prstGeom prst="rect">
                        <a:avLst/>
                      </a:prstGeom>
                      <a:noFill/>
                      <a:ln w="38100">
                        <a:noFill/>
                        <a:miter/>
                      </a:ln>
                    </p:spPr>
                  </p:pic>
                </p:oleObj>
              </mc:Fallback>
            </mc:AlternateContent>
          </a:graphicData>
        </a:graphic>
      </p:graphicFrame>
      <p:sp>
        <p:nvSpPr>
          <p:cNvPr id="98317" name="Rectangle 2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18" name="对象 21"/>
          <p:cNvGraphicFramePr>
            <a:graphicFrameLocks noChangeAspect="1"/>
          </p:cNvGraphicFramePr>
          <p:nvPr/>
        </p:nvGraphicFramePr>
        <p:xfrm>
          <a:off x="10415588" y="2498725"/>
          <a:ext cx="365125" cy="392113"/>
        </p:xfrm>
        <a:graphic>
          <a:graphicData uri="http://schemas.openxmlformats.org/presentationml/2006/ole">
            <mc:AlternateContent xmlns:mc="http://schemas.openxmlformats.org/markup-compatibility/2006">
              <mc:Choice xmlns:v="urn:schemas-microsoft-com:vml" Requires="v">
                <p:oleObj spid="_x0000_s22109" r:id="rId8" imgW="139700" imgH="139700" progId="Equation.DSMT4">
                  <p:embed/>
                </p:oleObj>
              </mc:Choice>
              <mc:Fallback>
                <p:oleObj r:id="rId8" imgW="139700" imgH="139700" progId="Equation.DSMT4">
                  <p:embed/>
                  <p:pic>
                    <p:nvPicPr>
                      <p:cNvPr id="0" name="图片 3159"/>
                      <p:cNvPicPr/>
                      <p:nvPr/>
                    </p:nvPicPr>
                    <p:blipFill>
                      <a:blip r:embed="rId9"/>
                      <a:stretch>
                        <a:fillRect/>
                      </a:stretch>
                    </p:blipFill>
                    <p:spPr>
                      <a:xfrm>
                        <a:off x="10415588" y="2498725"/>
                        <a:ext cx="365125" cy="392113"/>
                      </a:xfrm>
                      <a:prstGeom prst="rect">
                        <a:avLst/>
                      </a:prstGeom>
                      <a:noFill/>
                      <a:ln w="38100">
                        <a:noFill/>
                        <a:miter/>
                      </a:ln>
                    </p:spPr>
                  </p:pic>
                </p:oleObj>
              </mc:Fallback>
            </mc:AlternateContent>
          </a:graphicData>
        </a:graphic>
      </p:graphicFrame>
      <p:sp>
        <p:nvSpPr>
          <p:cNvPr id="98319" name="Rectangle 2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98320" name="Rectangle 1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21" name="对象 14"/>
          <p:cNvGraphicFramePr>
            <a:graphicFrameLocks noChangeAspect="1"/>
          </p:cNvGraphicFramePr>
          <p:nvPr/>
        </p:nvGraphicFramePr>
        <p:xfrm>
          <a:off x="8659813" y="2416175"/>
          <a:ext cx="365125" cy="514350"/>
        </p:xfrm>
        <a:graphic>
          <a:graphicData uri="http://schemas.openxmlformats.org/presentationml/2006/ole">
            <mc:AlternateContent xmlns:mc="http://schemas.openxmlformats.org/markup-compatibility/2006">
              <mc:Choice xmlns:v="urn:schemas-microsoft-com:vml" Requires="v">
                <p:oleObj spid="_x0000_s22110" r:id="rId10" imgW="165100" imgH="228600" progId="Equation.DSMT4">
                  <p:embed/>
                </p:oleObj>
              </mc:Choice>
              <mc:Fallback>
                <p:oleObj r:id="rId10" imgW="165100" imgH="228600" progId="Equation.DSMT4">
                  <p:embed/>
                  <p:pic>
                    <p:nvPicPr>
                      <p:cNvPr id="0" name="图片 3166"/>
                      <p:cNvPicPr/>
                      <p:nvPr/>
                    </p:nvPicPr>
                    <p:blipFill>
                      <a:blip r:embed="rId11"/>
                      <a:stretch>
                        <a:fillRect/>
                      </a:stretch>
                    </p:blipFill>
                    <p:spPr>
                      <a:xfrm>
                        <a:off x="8659813" y="2416175"/>
                        <a:ext cx="365125" cy="514350"/>
                      </a:xfrm>
                      <a:prstGeom prst="rect">
                        <a:avLst/>
                      </a:prstGeom>
                      <a:noFill/>
                      <a:ln w="38100">
                        <a:noFill/>
                        <a:miter/>
                      </a:ln>
                    </p:spPr>
                  </p:pic>
                </p:oleObj>
              </mc:Fallback>
            </mc:AlternateContent>
          </a:graphicData>
        </a:graphic>
      </p:graphicFrame>
      <p:sp>
        <p:nvSpPr>
          <p:cNvPr id="98322" name="Rectangle 1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23" name="对象 17"/>
          <p:cNvGraphicFramePr>
            <a:graphicFrameLocks noChangeAspect="1"/>
          </p:cNvGraphicFramePr>
          <p:nvPr/>
        </p:nvGraphicFramePr>
        <p:xfrm>
          <a:off x="4711700" y="2865438"/>
          <a:ext cx="428625" cy="515937"/>
        </p:xfrm>
        <a:graphic>
          <a:graphicData uri="http://schemas.openxmlformats.org/presentationml/2006/ole">
            <mc:AlternateContent xmlns:mc="http://schemas.openxmlformats.org/markup-compatibility/2006">
              <mc:Choice xmlns:v="urn:schemas-microsoft-com:vml" Requires="v">
                <p:oleObj spid="_x0000_s22111" r:id="rId12" imgW="190500" imgH="228600" progId="Equation.DSMT4">
                  <p:embed/>
                </p:oleObj>
              </mc:Choice>
              <mc:Fallback>
                <p:oleObj r:id="rId12" imgW="190500" imgH="228600" progId="Equation.DSMT4">
                  <p:embed/>
                  <p:pic>
                    <p:nvPicPr>
                      <p:cNvPr id="0" name="图片 3164"/>
                      <p:cNvPicPr/>
                      <p:nvPr/>
                    </p:nvPicPr>
                    <p:blipFill>
                      <a:blip r:embed="rId13"/>
                      <a:stretch>
                        <a:fillRect/>
                      </a:stretch>
                    </p:blipFill>
                    <p:spPr>
                      <a:xfrm>
                        <a:off x="4711700" y="2865438"/>
                        <a:ext cx="428625" cy="515937"/>
                      </a:xfrm>
                      <a:prstGeom prst="rect">
                        <a:avLst/>
                      </a:prstGeom>
                      <a:noFill/>
                      <a:ln w="38100">
                        <a:noFill/>
                        <a:miter/>
                      </a:ln>
                    </p:spPr>
                  </p:pic>
                </p:oleObj>
              </mc:Fallback>
            </mc:AlternateContent>
          </a:graphicData>
        </a:graphic>
      </p:graphicFrame>
      <p:graphicFrame>
        <p:nvGraphicFramePr>
          <p:cNvPr id="98324" name="对象 24"/>
          <p:cNvGraphicFramePr>
            <a:graphicFrameLocks noChangeAspect="1"/>
          </p:cNvGraphicFramePr>
          <p:nvPr/>
        </p:nvGraphicFramePr>
        <p:xfrm>
          <a:off x="6496050" y="2954338"/>
          <a:ext cx="374650" cy="401637"/>
        </p:xfrm>
        <a:graphic>
          <a:graphicData uri="http://schemas.openxmlformats.org/presentationml/2006/ole">
            <mc:AlternateContent xmlns:mc="http://schemas.openxmlformats.org/markup-compatibility/2006">
              <mc:Choice xmlns:v="urn:schemas-microsoft-com:vml" Requires="v">
                <p:oleObj spid="_x0000_s22112" r:id="rId14" imgW="139700" imgH="139700" progId="Equation.DSMT4">
                  <p:embed/>
                </p:oleObj>
              </mc:Choice>
              <mc:Fallback>
                <p:oleObj r:id="rId14" imgW="139700" imgH="139700" progId="Equation.DSMT4">
                  <p:embed/>
                  <p:pic>
                    <p:nvPicPr>
                      <p:cNvPr id="0" name="图片 3161"/>
                      <p:cNvPicPr/>
                      <p:nvPr/>
                    </p:nvPicPr>
                    <p:blipFill>
                      <a:blip r:embed="rId9"/>
                      <a:stretch>
                        <a:fillRect/>
                      </a:stretch>
                    </p:blipFill>
                    <p:spPr>
                      <a:xfrm>
                        <a:off x="6496050" y="2954338"/>
                        <a:ext cx="374650" cy="401637"/>
                      </a:xfrm>
                      <a:prstGeom prst="rect">
                        <a:avLst/>
                      </a:prstGeom>
                      <a:noFill/>
                      <a:ln w="38100">
                        <a:noFill/>
                        <a:miter/>
                      </a:ln>
                    </p:spPr>
                  </p:pic>
                </p:oleObj>
              </mc:Fallback>
            </mc:AlternateContent>
          </a:graphicData>
        </a:graphic>
      </p:graphicFrame>
      <p:sp>
        <p:nvSpPr>
          <p:cNvPr id="98325" name="Rectangle 6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26" name="对象 19"/>
          <p:cNvGraphicFramePr>
            <a:graphicFrameLocks noChangeAspect="1"/>
          </p:cNvGraphicFramePr>
          <p:nvPr/>
        </p:nvGraphicFramePr>
        <p:xfrm>
          <a:off x="6367463" y="3524250"/>
          <a:ext cx="290512" cy="381000"/>
        </p:xfrm>
        <a:graphic>
          <a:graphicData uri="http://schemas.openxmlformats.org/presentationml/2006/ole">
            <mc:AlternateContent xmlns:mc="http://schemas.openxmlformats.org/markup-compatibility/2006">
              <mc:Choice xmlns:v="urn:schemas-microsoft-com:vml" Requires="v">
                <p:oleObj spid="_x0000_s22113" r:id="rId15" imgW="152400" imgH="203200" progId="Equation.DSMT4">
                  <p:embed/>
                </p:oleObj>
              </mc:Choice>
              <mc:Fallback>
                <p:oleObj r:id="rId15" imgW="152400" imgH="203200" progId="Equation.DSMT4">
                  <p:embed/>
                  <p:pic>
                    <p:nvPicPr>
                      <p:cNvPr id="0" name="图片 3162"/>
                      <p:cNvPicPr/>
                      <p:nvPr/>
                    </p:nvPicPr>
                    <p:blipFill>
                      <a:blip r:embed="rId16"/>
                      <a:stretch>
                        <a:fillRect/>
                      </a:stretch>
                    </p:blipFill>
                    <p:spPr>
                      <a:xfrm>
                        <a:off x="6367463" y="3524250"/>
                        <a:ext cx="290512" cy="381000"/>
                      </a:xfrm>
                      <a:prstGeom prst="rect">
                        <a:avLst/>
                      </a:prstGeom>
                      <a:noFill/>
                      <a:ln w="38100">
                        <a:noFill/>
                        <a:miter/>
                      </a:ln>
                    </p:spPr>
                  </p:pic>
                </p:oleObj>
              </mc:Fallback>
            </mc:AlternateContent>
          </a:graphicData>
        </a:graphic>
      </p:graphicFrame>
      <p:graphicFrame>
        <p:nvGraphicFramePr>
          <p:cNvPr id="98327" name="对象 25"/>
          <p:cNvGraphicFramePr>
            <a:graphicFrameLocks noChangeAspect="1"/>
          </p:cNvGraphicFramePr>
          <p:nvPr/>
        </p:nvGraphicFramePr>
        <p:xfrm>
          <a:off x="9177338" y="3516313"/>
          <a:ext cx="374650" cy="400050"/>
        </p:xfrm>
        <a:graphic>
          <a:graphicData uri="http://schemas.openxmlformats.org/presentationml/2006/ole">
            <mc:AlternateContent xmlns:mc="http://schemas.openxmlformats.org/markup-compatibility/2006">
              <mc:Choice xmlns:v="urn:schemas-microsoft-com:vml" Requires="v">
                <p:oleObj spid="_x0000_s22114" r:id="rId17" imgW="139700" imgH="139700" progId="Equation.DSMT4">
                  <p:embed/>
                </p:oleObj>
              </mc:Choice>
              <mc:Fallback>
                <p:oleObj r:id="rId17" imgW="139700" imgH="139700" progId="Equation.DSMT4">
                  <p:embed/>
                  <p:pic>
                    <p:nvPicPr>
                      <p:cNvPr id="0" name="图片 3163"/>
                      <p:cNvPicPr/>
                      <p:nvPr/>
                    </p:nvPicPr>
                    <p:blipFill>
                      <a:blip r:embed="rId9"/>
                      <a:stretch>
                        <a:fillRect/>
                      </a:stretch>
                    </p:blipFill>
                    <p:spPr>
                      <a:xfrm>
                        <a:off x="9177338" y="3516313"/>
                        <a:ext cx="374650" cy="400050"/>
                      </a:xfrm>
                      <a:prstGeom prst="rect">
                        <a:avLst/>
                      </a:prstGeom>
                      <a:noFill/>
                      <a:ln w="38100">
                        <a:noFill/>
                        <a:miter/>
                      </a:ln>
                    </p:spPr>
                  </p:pic>
                </p:oleObj>
              </mc:Fallback>
            </mc:AlternateContent>
          </a:graphicData>
        </a:graphic>
      </p:graphicFrame>
      <p:sp>
        <p:nvSpPr>
          <p:cNvPr id="98328" name="Rectangle 7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29" name="对象 27"/>
          <p:cNvGraphicFramePr>
            <a:graphicFrameLocks noChangeAspect="1"/>
          </p:cNvGraphicFramePr>
          <p:nvPr/>
        </p:nvGraphicFramePr>
        <p:xfrm>
          <a:off x="2270125" y="3968750"/>
          <a:ext cx="2733675" cy="411163"/>
        </p:xfrm>
        <a:graphic>
          <a:graphicData uri="http://schemas.openxmlformats.org/presentationml/2006/ole">
            <mc:AlternateContent xmlns:mc="http://schemas.openxmlformats.org/markup-compatibility/2006">
              <mc:Choice xmlns:v="urn:schemas-microsoft-com:vml" Requires="v">
                <p:oleObj spid="_x0000_s22115" r:id="rId18" imgW="1714500" imgH="254000" progId="Equation.DSMT4">
                  <p:embed/>
                </p:oleObj>
              </mc:Choice>
              <mc:Fallback>
                <p:oleObj r:id="rId18" imgW="1714500" imgH="254000" progId="Equation.DSMT4">
                  <p:embed/>
                  <p:pic>
                    <p:nvPicPr>
                      <p:cNvPr id="0" name="图片 3167"/>
                      <p:cNvPicPr/>
                      <p:nvPr/>
                    </p:nvPicPr>
                    <p:blipFill>
                      <a:blip r:embed="rId19"/>
                      <a:stretch>
                        <a:fillRect/>
                      </a:stretch>
                    </p:blipFill>
                    <p:spPr>
                      <a:xfrm>
                        <a:off x="2270125" y="3968750"/>
                        <a:ext cx="2733675" cy="411163"/>
                      </a:xfrm>
                      <a:prstGeom prst="rect">
                        <a:avLst/>
                      </a:prstGeom>
                      <a:noFill/>
                      <a:ln w="38100">
                        <a:noFill/>
                        <a:miter/>
                      </a:ln>
                    </p:spPr>
                  </p:pic>
                </p:oleObj>
              </mc:Fallback>
            </mc:AlternateContent>
          </a:graphicData>
        </a:graphic>
      </p:graphicFrame>
      <p:sp>
        <p:nvSpPr>
          <p:cNvPr id="98330" name="Rectangle 9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98331" name="对象 29"/>
          <p:cNvGraphicFramePr>
            <a:graphicFrameLocks noChangeAspect="1"/>
          </p:cNvGraphicFramePr>
          <p:nvPr/>
        </p:nvGraphicFramePr>
        <p:xfrm>
          <a:off x="6223000" y="3986213"/>
          <a:ext cx="185738" cy="393700"/>
        </p:xfrm>
        <a:graphic>
          <a:graphicData uri="http://schemas.openxmlformats.org/presentationml/2006/ole">
            <mc:AlternateContent xmlns:mc="http://schemas.openxmlformats.org/markup-compatibility/2006">
              <mc:Choice xmlns:v="urn:schemas-microsoft-com:vml" Requires="v">
                <p:oleObj spid="_x0000_s22116" r:id="rId20" imgW="88900" imgH="177165" progId="Equation.DSMT4">
                  <p:embed/>
                </p:oleObj>
              </mc:Choice>
              <mc:Fallback>
                <p:oleObj r:id="rId20" imgW="88900" imgH="177165" progId="Equation.DSMT4">
                  <p:embed/>
                  <p:pic>
                    <p:nvPicPr>
                      <p:cNvPr id="0" name="图片 3165"/>
                      <p:cNvPicPr/>
                      <p:nvPr/>
                    </p:nvPicPr>
                    <p:blipFill>
                      <a:blip r:embed="rId21"/>
                      <a:stretch>
                        <a:fillRect/>
                      </a:stretch>
                    </p:blipFill>
                    <p:spPr>
                      <a:xfrm>
                        <a:off x="6223000" y="3986213"/>
                        <a:ext cx="185738" cy="393700"/>
                      </a:xfrm>
                      <a:prstGeom prst="rect">
                        <a:avLst/>
                      </a:prstGeom>
                      <a:noFill/>
                      <a:ln w="38100">
                        <a:noFill/>
                        <a:miter/>
                      </a:ln>
                    </p:spPr>
                  </p:pic>
                </p:oleObj>
              </mc:Fallback>
            </mc:AlternateContent>
          </a:graphicData>
        </a:graphic>
      </p:graphicFrame>
      <p:pic>
        <p:nvPicPr>
          <p:cNvPr id="29" name="Picture 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316913" y="4461994"/>
            <a:ext cx="5183143" cy="20551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相容性概念</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假用  代表样本空间  的</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一个分布</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 和  分别是  和  定义的概念</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类</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，如果在  上满足         的样本  的概率为</a:t>
            </a:r>
            <a:r>
              <a:rPr kumimoji="1" lang="en-US" altLang="zh-CN" sz="2800" b="1" i="0" u="none" strike="noStrike" kern="120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0</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，就称目标函数            与  相容，也就是说</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不同的视图</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具有</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相容性</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，即它们包含的关于输出类别的信息是</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一致</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0035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5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5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5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5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60"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61" name="Rectangle 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62" name="对象 11"/>
          <p:cNvGraphicFramePr>
            <a:graphicFrameLocks noChangeAspect="1"/>
          </p:cNvGraphicFramePr>
          <p:nvPr/>
        </p:nvGraphicFramePr>
        <p:xfrm>
          <a:off x="9718675" y="2505075"/>
          <a:ext cx="341313" cy="390525"/>
        </p:xfrm>
        <a:graphic>
          <a:graphicData uri="http://schemas.openxmlformats.org/presentationml/2006/ole">
            <mc:AlternateContent xmlns:mc="http://schemas.openxmlformats.org/markup-compatibility/2006">
              <mc:Choice xmlns:v="urn:schemas-microsoft-com:vml" Requires="v">
                <p:oleObj spid="_x0000_s23180" r:id="rId4" imgW="203200" imgH="228600" progId="Equation.DSMT4">
                  <p:embed/>
                </p:oleObj>
              </mc:Choice>
              <mc:Fallback>
                <p:oleObj r:id="rId4" imgW="203200" imgH="228600" progId="Equation.DSMT4">
                  <p:embed/>
                  <p:pic>
                    <p:nvPicPr>
                      <p:cNvPr id="0" name="图片 3168"/>
                      <p:cNvPicPr/>
                      <p:nvPr/>
                    </p:nvPicPr>
                    <p:blipFill>
                      <a:blip r:embed="rId5"/>
                      <a:stretch>
                        <a:fillRect/>
                      </a:stretch>
                    </p:blipFill>
                    <p:spPr>
                      <a:xfrm>
                        <a:off x="9718675" y="2505075"/>
                        <a:ext cx="341313" cy="390525"/>
                      </a:xfrm>
                      <a:prstGeom prst="rect">
                        <a:avLst/>
                      </a:prstGeom>
                      <a:noFill/>
                      <a:ln w="38100">
                        <a:noFill/>
                        <a:miter/>
                      </a:ln>
                    </p:spPr>
                  </p:pic>
                </p:oleObj>
              </mc:Fallback>
            </mc:AlternateContent>
          </a:graphicData>
        </a:graphic>
      </p:graphicFrame>
      <p:sp>
        <p:nvSpPr>
          <p:cNvPr id="100363"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64" name="对象 13"/>
          <p:cNvGraphicFramePr>
            <a:graphicFrameLocks noChangeAspect="1"/>
          </p:cNvGraphicFramePr>
          <p:nvPr/>
        </p:nvGraphicFramePr>
        <p:xfrm>
          <a:off x="10421938" y="2505075"/>
          <a:ext cx="374650" cy="390525"/>
        </p:xfrm>
        <a:graphic>
          <a:graphicData uri="http://schemas.openxmlformats.org/presentationml/2006/ole">
            <mc:AlternateContent xmlns:mc="http://schemas.openxmlformats.org/markup-compatibility/2006">
              <mc:Choice xmlns:v="urn:schemas-microsoft-com:vml" Requires="v">
                <p:oleObj spid="_x0000_s23181" r:id="rId6" imgW="215900" imgH="228600" progId="Equation.DSMT4">
                  <p:embed/>
                </p:oleObj>
              </mc:Choice>
              <mc:Fallback>
                <p:oleObj r:id="rId6" imgW="215900" imgH="228600" progId="Equation.DSMT4">
                  <p:embed/>
                  <p:pic>
                    <p:nvPicPr>
                      <p:cNvPr id="0" name="图片 3171"/>
                      <p:cNvPicPr/>
                      <p:nvPr/>
                    </p:nvPicPr>
                    <p:blipFill>
                      <a:blip r:embed="rId7"/>
                      <a:stretch>
                        <a:fillRect/>
                      </a:stretch>
                    </p:blipFill>
                    <p:spPr>
                      <a:xfrm>
                        <a:off x="10421938" y="2505075"/>
                        <a:ext cx="374650" cy="390525"/>
                      </a:xfrm>
                      <a:prstGeom prst="rect">
                        <a:avLst/>
                      </a:prstGeom>
                      <a:noFill/>
                      <a:ln w="38100">
                        <a:noFill/>
                        <a:miter/>
                      </a:ln>
                    </p:spPr>
                  </p:pic>
                </p:oleObj>
              </mc:Fallback>
            </mc:AlternateContent>
          </a:graphicData>
        </a:graphic>
      </p:graphicFrame>
      <p:sp>
        <p:nvSpPr>
          <p:cNvPr id="100365" name="Rectangle 2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66" name="Rectangle 2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67" name="Rectangle 1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68" name="Rectangle 1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69" name="Rectangle 6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70" name="Rectangle 7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71" name="Rectangle 9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0372" name="Rectangle 13"/>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73" name="对象 23"/>
          <p:cNvGraphicFramePr>
            <a:graphicFrameLocks noChangeAspect="1"/>
          </p:cNvGraphicFramePr>
          <p:nvPr/>
        </p:nvGraphicFramePr>
        <p:xfrm>
          <a:off x="2774950" y="2513013"/>
          <a:ext cx="317500" cy="317500"/>
        </p:xfrm>
        <a:graphic>
          <a:graphicData uri="http://schemas.openxmlformats.org/presentationml/2006/ole">
            <mc:AlternateContent xmlns:mc="http://schemas.openxmlformats.org/markup-compatibility/2006">
              <mc:Choice xmlns:v="urn:schemas-microsoft-com:vml" Requires="v">
                <p:oleObj spid="_x0000_s23182" r:id="rId8" imgW="165100" imgH="165100" progId="Equation.DSMT4">
                  <p:embed/>
                </p:oleObj>
              </mc:Choice>
              <mc:Fallback>
                <p:oleObj r:id="rId8" imgW="165100" imgH="165100" progId="Equation.DSMT4">
                  <p:embed/>
                  <p:pic>
                    <p:nvPicPr>
                      <p:cNvPr id="0" name="图片 3170"/>
                      <p:cNvPicPr/>
                      <p:nvPr/>
                    </p:nvPicPr>
                    <p:blipFill>
                      <a:blip r:embed="rId9"/>
                      <a:stretch>
                        <a:fillRect/>
                      </a:stretch>
                    </p:blipFill>
                    <p:spPr>
                      <a:xfrm>
                        <a:off x="2774950" y="2513013"/>
                        <a:ext cx="317500" cy="317500"/>
                      </a:xfrm>
                      <a:prstGeom prst="rect">
                        <a:avLst/>
                      </a:prstGeom>
                      <a:noFill/>
                      <a:ln w="38100">
                        <a:noFill/>
                        <a:miter/>
                      </a:ln>
                    </p:spPr>
                  </p:pic>
                </p:oleObj>
              </mc:Fallback>
            </mc:AlternateContent>
          </a:graphicData>
        </a:graphic>
      </p:graphicFrame>
      <p:sp>
        <p:nvSpPr>
          <p:cNvPr id="100374" name="Rectangle 1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75" name="对象 31"/>
          <p:cNvGraphicFramePr>
            <a:graphicFrameLocks noChangeAspect="1"/>
          </p:cNvGraphicFramePr>
          <p:nvPr/>
        </p:nvGraphicFramePr>
        <p:xfrm>
          <a:off x="5253038" y="2513013"/>
          <a:ext cx="355600" cy="317500"/>
        </p:xfrm>
        <a:graphic>
          <a:graphicData uri="http://schemas.openxmlformats.org/presentationml/2006/ole">
            <mc:AlternateContent xmlns:mc="http://schemas.openxmlformats.org/markup-compatibility/2006">
              <mc:Choice xmlns:v="urn:schemas-microsoft-com:vml" Requires="v">
                <p:oleObj spid="_x0000_s23183" r:id="rId10" imgW="177800" imgH="165100" progId="Equation.DSMT4">
                  <p:embed/>
                </p:oleObj>
              </mc:Choice>
              <mc:Fallback>
                <p:oleObj r:id="rId10" imgW="177800" imgH="165100" progId="Equation.DSMT4">
                  <p:embed/>
                  <p:pic>
                    <p:nvPicPr>
                      <p:cNvPr id="0" name="图片 3177"/>
                      <p:cNvPicPr/>
                      <p:nvPr/>
                    </p:nvPicPr>
                    <p:blipFill>
                      <a:blip r:embed="rId11"/>
                      <a:stretch>
                        <a:fillRect/>
                      </a:stretch>
                    </p:blipFill>
                    <p:spPr>
                      <a:xfrm>
                        <a:off x="5253038" y="2513013"/>
                        <a:ext cx="355600" cy="317500"/>
                      </a:xfrm>
                      <a:prstGeom prst="rect">
                        <a:avLst/>
                      </a:prstGeom>
                      <a:noFill/>
                      <a:ln w="38100">
                        <a:noFill/>
                        <a:miter/>
                      </a:ln>
                    </p:spPr>
                  </p:pic>
                </p:oleObj>
              </mc:Fallback>
            </mc:AlternateContent>
          </a:graphicData>
        </a:graphic>
      </p:graphicFrame>
      <p:sp>
        <p:nvSpPr>
          <p:cNvPr id="100376" name="Rectangle 2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77" name="对象 33"/>
          <p:cNvGraphicFramePr>
            <a:graphicFrameLocks noChangeAspect="1"/>
          </p:cNvGraphicFramePr>
          <p:nvPr/>
        </p:nvGraphicFramePr>
        <p:xfrm>
          <a:off x="7615238" y="2505075"/>
          <a:ext cx="317500" cy="401638"/>
        </p:xfrm>
        <a:graphic>
          <a:graphicData uri="http://schemas.openxmlformats.org/presentationml/2006/ole">
            <mc:AlternateContent xmlns:mc="http://schemas.openxmlformats.org/markup-compatibility/2006">
              <mc:Choice xmlns:v="urn:schemas-microsoft-com:vml" Requires="v">
                <p:oleObj spid="_x0000_s23184" r:id="rId12" imgW="177800" imgH="228600" progId="Equation.DSMT4">
                  <p:embed/>
                </p:oleObj>
              </mc:Choice>
              <mc:Fallback>
                <p:oleObj r:id="rId12" imgW="177800" imgH="228600" progId="Equation.DSMT4">
                  <p:embed/>
                  <p:pic>
                    <p:nvPicPr>
                      <p:cNvPr id="0" name="图片 3173"/>
                      <p:cNvPicPr/>
                      <p:nvPr/>
                    </p:nvPicPr>
                    <p:blipFill>
                      <a:blip r:embed="rId13"/>
                      <a:stretch>
                        <a:fillRect/>
                      </a:stretch>
                    </p:blipFill>
                    <p:spPr>
                      <a:xfrm>
                        <a:off x="7615238" y="2505075"/>
                        <a:ext cx="317500" cy="401638"/>
                      </a:xfrm>
                      <a:prstGeom prst="rect">
                        <a:avLst/>
                      </a:prstGeom>
                      <a:noFill/>
                      <a:ln w="38100">
                        <a:noFill/>
                        <a:miter/>
                      </a:ln>
                    </p:spPr>
                  </p:pic>
                </p:oleObj>
              </mc:Fallback>
            </mc:AlternateContent>
          </a:graphicData>
        </a:graphic>
      </p:graphicFrame>
      <p:sp>
        <p:nvSpPr>
          <p:cNvPr id="100378" name="Rectangle 2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79" name="对象 35"/>
          <p:cNvGraphicFramePr>
            <a:graphicFrameLocks noChangeAspect="1"/>
          </p:cNvGraphicFramePr>
          <p:nvPr/>
        </p:nvGraphicFramePr>
        <p:xfrm>
          <a:off x="8310563" y="2513013"/>
          <a:ext cx="327025" cy="390525"/>
        </p:xfrm>
        <a:graphic>
          <a:graphicData uri="http://schemas.openxmlformats.org/presentationml/2006/ole">
            <mc:AlternateContent xmlns:mc="http://schemas.openxmlformats.org/markup-compatibility/2006">
              <mc:Choice xmlns:v="urn:schemas-microsoft-com:vml" Requires="v">
                <p:oleObj spid="_x0000_s23185" r:id="rId14" imgW="190500" imgH="228600" progId="Equation.DSMT4">
                  <p:embed/>
                </p:oleObj>
              </mc:Choice>
              <mc:Fallback>
                <p:oleObj r:id="rId14" imgW="190500" imgH="228600" progId="Equation.DSMT4">
                  <p:embed/>
                  <p:pic>
                    <p:nvPicPr>
                      <p:cNvPr id="0" name="图片 3178"/>
                      <p:cNvPicPr/>
                      <p:nvPr/>
                    </p:nvPicPr>
                    <p:blipFill>
                      <a:blip r:embed="rId15"/>
                      <a:stretch>
                        <a:fillRect/>
                      </a:stretch>
                    </p:blipFill>
                    <p:spPr>
                      <a:xfrm>
                        <a:off x="8310563" y="2513013"/>
                        <a:ext cx="327025" cy="390525"/>
                      </a:xfrm>
                      <a:prstGeom prst="rect">
                        <a:avLst/>
                      </a:prstGeom>
                      <a:noFill/>
                      <a:ln w="38100">
                        <a:noFill/>
                        <a:miter/>
                      </a:ln>
                    </p:spPr>
                  </p:pic>
                </p:oleObj>
              </mc:Fallback>
            </mc:AlternateContent>
          </a:graphicData>
        </a:graphic>
      </p:graphicFrame>
      <p:graphicFrame>
        <p:nvGraphicFramePr>
          <p:cNvPr id="100380" name="对象 36"/>
          <p:cNvGraphicFramePr>
            <a:graphicFrameLocks noChangeAspect="1"/>
          </p:cNvGraphicFramePr>
          <p:nvPr/>
        </p:nvGraphicFramePr>
        <p:xfrm>
          <a:off x="4573588" y="2982913"/>
          <a:ext cx="317500" cy="317500"/>
        </p:xfrm>
        <a:graphic>
          <a:graphicData uri="http://schemas.openxmlformats.org/presentationml/2006/ole">
            <mc:AlternateContent xmlns:mc="http://schemas.openxmlformats.org/markup-compatibility/2006">
              <mc:Choice xmlns:v="urn:schemas-microsoft-com:vml" Requires="v">
                <p:oleObj spid="_x0000_s23186" r:id="rId16" imgW="165100" imgH="165100" progId="Equation.DSMT4">
                  <p:embed/>
                </p:oleObj>
              </mc:Choice>
              <mc:Fallback>
                <p:oleObj r:id="rId16" imgW="165100" imgH="165100" progId="Equation.DSMT4">
                  <p:embed/>
                  <p:pic>
                    <p:nvPicPr>
                      <p:cNvPr id="0" name="图片 3175"/>
                      <p:cNvPicPr/>
                      <p:nvPr/>
                    </p:nvPicPr>
                    <p:blipFill>
                      <a:blip r:embed="rId9"/>
                      <a:stretch>
                        <a:fillRect/>
                      </a:stretch>
                    </p:blipFill>
                    <p:spPr>
                      <a:xfrm>
                        <a:off x="4573588" y="2982913"/>
                        <a:ext cx="317500" cy="317500"/>
                      </a:xfrm>
                      <a:prstGeom prst="rect">
                        <a:avLst/>
                      </a:prstGeom>
                      <a:noFill/>
                      <a:ln w="38100">
                        <a:noFill/>
                        <a:miter/>
                      </a:ln>
                    </p:spPr>
                  </p:pic>
                </p:oleObj>
              </mc:Fallback>
            </mc:AlternateContent>
          </a:graphicData>
        </a:graphic>
      </p:graphicFrame>
      <p:sp>
        <p:nvSpPr>
          <p:cNvPr id="100381" name="Rectangle 4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82" name="对象 38"/>
          <p:cNvGraphicFramePr>
            <a:graphicFrameLocks noChangeAspect="1"/>
          </p:cNvGraphicFramePr>
          <p:nvPr/>
        </p:nvGraphicFramePr>
        <p:xfrm>
          <a:off x="6007100" y="2941638"/>
          <a:ext cx="1608138" cy="401637"/>
        </p:xfrm>
        <a:graphic>
          <a:graphicData uri="http://schemas.openxmlformats.org/presentationml/2006/ole">
            <mc:AlternateContent xmlns:mc="http://schemas.openxmlformats.org/markup-compatibility/2006">
              <mc:Choice xmlns:v="urn:schemas-microsoft-com:vml" Requires="v">
                <p:oleObj spid="_x0000_s23187" r:id="rId17" imgW="1028065" imgH="254000" progId="Equation.DSMT4">
                  <p:embed/>
                </p:oleObj>
              </mc:Choice>
              <mc:Fallback>
                <p:oleObj r:id="rId17" imgW="1028065" imgH="254000" progId="Equation.DSMT4">
                  <p:embed/>
                  <p:pic>
                    <p:nvPicPr>
                      <p:cNvPr id="0" name="图片 3169"/>
                      <p:cNvPicPr/>
                      <p:nvPr/>
                    </p:nvPicPr>
                    <p:blipFill>
                      <a:blip r:embed="rId18"/>
                      <a:stretch>
                        <a:fillRect/>
                      </a:stretch>
                    </p:blipFill>
                    <p:spPr>
                      <a:xfrm>
                        <a:off x="6007100" y="2941638"/>
                        <a:ext cx="1608138" cy="401637"/>
                      </a:xfrm>
                      <a:prstGeom prst="rect">
                        <a:avLst/>
                      </a:prstGeom>
                      <a:noFill/>
                      <a:ln w="38100">
                        <a:noFill/>
                        <a:miter/>
                      </a:ln>
                    </p:spPr>
                  </p:pic>
                </p:oleObj>
              </mc:Fallback>
            </mc:AlternateContent>
          </a:graphicData>
        </a:graphic>
      </p:graphicFrame>
      <p:graphicFrame>
        <p:nvGraphicFramePr>
          <p:cNvPr id="100383" name="对象 39"/>
          <p:cNvGraphicFramePr>
            <a:graphicFrameLocks noChangeAspect="1"/>
          </p:cNvGraphicFramePr>
          <p:nvPr/>
        </p:nvGraphicFramePr>
        <p:xfrm>
          <a:off x="8637588" y="2957513"/>
          <a:ext cx="373062" cy="401637"/>
        </p:xfrm>
        <a:graphic>
          <a:graphicData uri="http://schemas.openxmlformats.org/presentationml/2006/ole">
            <mc:AlternateContent xmlns:mc="http://schemas.openxmlformats.org/markup-compatibility/2006">
              <mc:Choice xmlns:v="urn:schemas-microsoft-com:vml" Requires="v">
                <p:oleObj spid="_x0000_s23188" r:id="rId19" imgW="139700" imgH="139700" progId="Equation.DSMT4">
                  <p:embed/>
                </p:oleObj>
              </mc:Choice>
              <mc:Fallback>
                <p:oleObj r:id="rId19" imgW="139700" imgH="139700" progId="Equation.DSMT4">
                  <p:embed/>
                  <p:pic>
                    <p:nvPicPr>
                      <p:cNvPr id="0" name="图片 3172"/>
                      <p:cNvPicPr/>
                      <p:nvPr/>
                    </p:nvPicPr>
                    <p:blipFill>
                      <a:blip r:embed="rId20"/>
                      <a:stretch>
                        <a:fillRect/>
                      </a:stretch>
                    </p:blipFill>
                    <p:spPr>
                      <a:xfrm>
                        <a:off x="8637588" y="2957513"/>
                        <a:ext cx="373062" cy="401637"/>
                      </a:xfrm>
                      <a:prstGeom prst="rect">
                        <a:avLst/>
                      </a:prstGeom>
                      <a:noFill/>
                      <a:ln w="38100">
                        <a:noFill/>
                        <a:miter/>
                      </a:ln>
                    </p:spPr>
                  </p:pic>
                </p:oleObj>
              </mc:Fallback>
            </mc:AlternateContent>
          </a:graphicData>
        </a:graphic>
      </p:graphicFrame>
      <p:sp>
        <p:nvSpPr>
          <p:cNvPr id="100384" name="Rectangle 6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0385" name="对象 41"/>
          <p:cNvGraphicFramePr>
            <a:graphicFrameLocks noChangeAspect="1"/>
          </p:cNvGraphicFramePr>
          <p:nvPr/>
        </p:nvGraphicFramePr>
        <p:xfrm>
          <a:off x="3559175" y="3429000"/>
          <a:ext cx="2028825" cy="403225"/>
        </p:xfrm>
        <a:graphic>
          <a:graphicData uri="http://schemas.openxmlformats.org/presentationml/2006/ole">
            <mc:AlternateContent xmlns:mc="http://schemas.openxmlformats.org/markup-compatibility/2006">
              <mc:Choice xmlns:v="urn:schemas-microsoft-com:vml" Requires="v">
                <p:oleObj spid="_x0000_s23189" r:id="rId21" imgW="1295400" imgH="254000" progId="Equation.DSMT4">
                  <p:embed/>
                </p:oleObj>
              </mc:Choice>
              <mc:Fallback>
                <p:oleObj r:id="rId21" imgW="1295400" imgH="254000" progId="Equation.DSMT4">
                  <p:embed/>
                  <p:pic>
                    <p:nvPicPr>
                      <p:cNvPr id="0" name="图片 3176"/>
                      <p:cNvPicPr/>
                      <p:nvPr/>
                    </p:nvPicPr>
                    <p:blipFill>
                      <a:blip r:embed="rId22"/>
                      <a:stretch>
                        <a:fillRect/>
                      </a:stretch>
                    </p:blipFill>
                    <p:spPr>
                      <a:xfrm>
                        <a:off x="3559175" y="3429000"/>
                        <a:ext cx="2028825" cy="403225"/>
                      </a:xfrm>
                      <a:prstGeom prst="rect">
                        <a:avLst/>
                      </a:prstGeom>
                      <a:noFill/>
                      <a:ln w="38100">
                        <a:noFill/>
                        <a:miter/>
                      </a:ln>
                    </p:spPr>
                  </p:pic>
                </p:oleObj>
              </mc:Fallback>
            </mc:AlternateContent>
          </a:graphicData>
        </a:graphic>
      </p:graphicFrame>
      <p:graphicFrame>
        <p:nvGraphicFramePr>
          <p:cNvPr id="100386" name="对象 42"/>
          <p:cNvGraphicFramePr>
            <a:graphicFrameLocks noChangeAspect="1"/>
          </p:cNvGraphicFramePr>
          <p:nvPr/>
        </p:nvGraphicFramePr>
        <p:xfrm>
          <a:off x="6011863" y="3444875"/>
          <a:ext cx="317500" cy="317500"/>
        </p:xfrm>
        <a:graphic>
          <a:graphicData uri="http://schemas.openxmlformats.org/presentationml/2006/ole">
            <mc:AlternateContent xmlns:mc="http://schemas.openxmlformats.org/markup-compatibility/2006">
              <mc:Choice xmlns:v="urn:schemas-microsoft-com:vml" Requires="v">
                <p:oleObj spid="_x0000_s23190" r:id="rId23" imgW="165100" imgH="165100" progId="Equation.DSMT4">
                  <p:embed/>
                </p:oleObj>
              </mc:Choice>
              <mc:Fallback>
                <p:oleObj r:id="rId23" imgW="165100" imgH="165100" progId="Equation.DSMT4">
                  <p:embed/>
                  <p:pic>
                    <p:nvPicPr>
                      <p:cNvPr id="0" name="图片 3174"/>
                      <p:cNvPicPr/>
                      <p:nvPr/>
                    </p:nvPicPr>
                    <p:blipFill>
                      <a:blip r:embed="rId9"/>
                      <a:stretch>
                        <a:fillRect/>
                      </a:stretch>
                    </p:blipFill>
                    <p:spPr>
                      <a:xfrm>
                        <a:off x="6011863" y="3444875"/>
                        <a:ext cx="317500" cy="317500"/>
                      </a:xfrm>
                      <a:prstGeom prst="rect">
                        <a:avLst/>
                      </a:prstGeom>
                      <a:noFill/>
                      <a:ln w="38100">
                        <a:noFill/>
                        <a:miter/>
                      </a:ln>
                    </p:spPr>
                  </p:pic>
                </p:oleObj>
              </mc:Fallback>
            </mc:AlternateContent>
          </a:graphicData>
        </a:graphic>
      </p:graphicFrame>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协同训练的框架</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假设  拥有两个</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条件独立</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且</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充分</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的两个视图  和  。</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利用每个视图基于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有标记样本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分别训练得到一个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分类器</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，然后让每个分类器各自去选择自己“最信任的”的未标记样本赋值一个</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伪标记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，并且把这个伪标记的样本作为一个有标记样本提供给</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另外一个分类器</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进行训练更新。</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这个“互相学习”的过程不断的进行</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迭代</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，直到达到迭代的终止条件为止。</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0240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0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0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0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0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08"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09" name="Rectangle 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2410" name="对象 11"/>
          <p:cNvGraphicFramePr>
            <a:graphicFrameLocks noChangeAspect="1"/>
          </p:cNvGraphicFramePr>
          <p:nvPr/>
        </p:nvGraphicFramePr>
        <p:xfrm>
          <a:off x="8828088" y="2505075"/>
          <a:ext cx="341312" cy="390525"/>
        </p:xfrm>
        <a:graphic>
          <a:graphicData uri="http://schemas.openxmlformats.org/presentationml/2006/ole">
            <mc:AlternateContent xmlns:mc="http://schemas.openxmlformats.org/markup-compatibility/2006">
              <mc:Choice xmlns:v="urn:schemas-microsoft-com:vml" Requires="v">
                <p:oleObj spid="_x0000_s23732" r:id="rId4" imgW="203200" imgH="228600" progId="Equation.DSMT4">
                  <p:embed/>
                </p:oleObj>
              </mc:Choice>
              <mc:Fallback>
                <p:oleObj r:id="rId4" imgW="203200" imgH="228600" progId="Equation.DSMT4">
                  <p:embed/>
                  <p:pic>
                    <p:nvPicPr>
                      <p:cNvPr id="0" name="图片 3179"/>
                      <p:cNvPicPr/>
                      <p:nvPr/>
                    </p:nvPicPr>
                    <p:blipFill>
                      <a:blip r:embed="rId5"/>
                      <a:stretch>
                        <a:fillRect/>
                      </a:stretch>
                    </p:blipFill>
                    <p:spPr>
                      <a:xfrm>
                        <a:off x="8828088" y="2505075"/>
                        <a:ext cx="341312" cy="390525"/>
                      </a:xfrm>
                      <a:prstGeom prst="rect">
                        <a:avLst/>
                      </a:prstGeom>
                      <a:noFill/>
                      <a:ln w="38100">
                        <a:noFill/>
                        <a:miter/>
                      </a:ln>
                    </p:spPr>
                  </p:pic>
                </p:oleObj>
              </mc:Fallback>
            </mc:AlternateContent>
          </a:graphicData>
        </a:graphic>
      </p:graphicFrame>
      <p:sp>
        <p:nvSpPr>
          <p:cNvPr id="102411" name="Rectangle 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2412" name="对象 13"/>
          <p:cNvGraphicFramePr>
            <a:graphicFrameLocks noChangeAspect="1"/>
          </p:cNvGraphicFramePr>
          <p:nvPr/>
        </p:nvGraphicFramePr>
        <p:xfrm>
          <a:off x="9539288" y="2505075"/>
          <a:ext cx="374650" cy="390525"/>
        </p:xfrm>
        <a:graphic>
          <a:graphicData uri="http://schemas.openxmlformats.org/presentationml/2006/ole">
            <mc:AlternateContent xmlns:mc="http://schemas.openxmlformats.org/markup-compatibility/2006">
              <mc:Choice xmlns:v="urn:schemas-microsoft-com:vml" Requires="v">
                <p:oleObj spid="_x0000_s23733" r:id="rId6" imgW="215900" imgH="228600" progId="Equation.DSMT4">
                  <p:embed/>
                </p:oleObj>
              </mc:Choice>
              <mc:Fallback>
                <p:oleObj r:id="rId6" imgW="215900" imgH="228600" progId="Equation.DSMT4">
                  <p:embed/>
                  <p:pic>
                    <p:nvPicPr>
                      <p:cNvPr id="0" name="图片 3180"/>
                      <p:cNvPicPr/>
                      <p:nvPr/>
                    </p:nvPicPr>
                    <p:blipFill>
                      <a:blip r:embed="rId7"/>
                      <a:stretch>
                        <a:fillRect/>
                      </a:stretch>
                    </p:blipFill>
                    <p:spPr>
                      <a:xfrm>
                        <a:off x="9539288" y="2505075"/>
                        <a:ext cx="374650" cy="390525"/>
                      </a:xfrm>
                      <a:prstGeom prst="rect">
                        <a:avLst/>
                      </a:prstGeom>
                      <a:noFill/>
                      <a:ln w="38100">
                        <a:noFill/>
                        <a:miter/>
                      </a:ln>
                    </p:spPr>
                  </p:pic>
                </p:oleObj>
              </mc:Fallback>
            </mc:AlternateContent>
          </a:graphicData>
        </a:graphic>
      </p:graphicFrame>
      <p:sp>
        <p:nvSpPr>
          <p:cNvPr id="102413" name="Rectangle 2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14" name="Rectangle 2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15" name="Rectangle 1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16" name="Rectangle 1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17" name="Rectangle 6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18" name="Rectangle 7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19" name="Rectangle 90"/>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20" name="Rectangle 13"/>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21" name="Rectangle 1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graphicFrame>
        <p:nvGraphicFramePr>
          <p:cNvPr id="102422" name="对象 31"/>
          <p:cNvGraphicFramePr>
            <a:graphicFrameLocks noChangeAspect="1"/>
          </p:cNvGraphicFramePr>
          <p:nvPr/>
        </p:nvGraphicFramePr>
        <p:xfrm>
          <a:off x="2733675" y="2505075"/>
          <a:ext cx="354013" cy="317500"/>
        </p:xfrm>
        <a:graphic>
          <a:graphicData uri="http://schemas.openxmlformats.org/presentationml/2006/ole">
            <mc:AlternateContent xmlns:mc="http://schemas.openxmlformats.org/markup-compatibility/2006">
              <mc:Choice xmlns:v="urn:schemas-microsoft-com:vml" Requires="v">
                <p:oleObj spid="_x0000_s23734" r:id="rId8" imgW="177800" imgH="165100" progId="Equation.DSMT4">
                  <p:embed/>
                </p:oleObj>
              </mc:Choice>
              <mc:Fallback>
                <p:oleObj r:id="rId8" imgW="177800" imgH="165100" progId="Equation.DSMT4">
                  <p:embed/>
                  <p:pic>
                    <p:nvPicPr>
                      <p:cNvPr id="0" name="图片 3181"/>
                      <p:cNvPicPr/>
                      <p:nvPr/>
                    </p:nvPicPr>
                    <p:blipFill>
                      <a:blip r:embed="rId9"/>
                      <a:stretch>
                        <a:fillRect/>
                      </a:stretch>
                    </p:blipFill>
                    <p:spPr>
                      <a:xfrm>
                        <a:off x="2733675" y="2505075"/>
                        <a:ext cx="354013" cy="317500"/>
                      </a:xfrm>
                      <a:prstGeom prst="rect">
                        <a:avLst/>
                      </a:prstGeom>
                      <a:noFill/>
                      <a:ln w="38100">
                        <a:noFill/>
                        <a:miter/>
                      </a:ln>
                    </p:spPr>
                  </p:pic>
                </p:oleObj>
              </mc:Fallback>
            </mc:AlternateContent>
          </a:graphicData>
        </a:graphic>
      </p:graphicFrame>
      <p:sp>
        <p:nvSpPr>
          <p:cNvPr id="102423" name="Rectangle 2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24" name="Rectangle 27"/>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25" name="Rectangle 41"/>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2426" name="Rectangle 69"/>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781" y="1509713"/>
            <a:ext cx="1351769"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算法步骤</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0445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445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445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445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445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104457" name="图片 47"/>
          <p:cNvPicPr>
            <a:picLocks noChangeAspect="1"/>
          </p:cNvPicPr>
          <p:nvPr/>
        </p:nvPicPr>
        <p:blipFill>
          <a:blip r:embed="rId3"/>
          <a:srcRect t="35869" r="15787" b="5702"/>
          <a:stretch>
            <a:fillRect/>
          </a:stretch>
        </p:blipFill>
        <p:spPr>
          <a:xfrm>
            <a:off x="5851525" y="2319338"/>
            <a:ext cx="5767388" cy="3411537"/>
          </a:xfrm>
          <a:prstGeom prst="rect">
            <a:avLst/>
          </a:prstGeom>
          <a:noFill/>
          <a:ln w="9525">
            <a:noFill/>
          </a:ln>
        </p:spPr>
      </p:pic>
      <p:pic>
        <p:nvPicPr>
          <p:cNvPr id="2" name="图片 1"/>
          <p:cNvPicPr>
            <a:picLocks noChangeAspect="1"/>
          </p:cNvPicPr>
          <p:nvPr/>
        </p:nvPicPr>
        <p:blipFill>
          <a:blip r:embed="rId4"/>
          <a:stretch>
            <a:fillRect/>
          </a:stretch>
        </p:blipFill>
        <p:spPr>
          <a:xfrm>
            <a:off x="1474788" y="0"/>
            <a:ext cx="10002033" cy="6858000"/>
          </a:xfrm>
          <a:prstGeom prst="rect">
            <a:avLst/>
          </a:prstGeom>
        </p:spPr>
      </p:pic>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不足与改进</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实际问题中，满足这两个假设的</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样本集</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是很少的。</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err="1">
                <a:ln>
                  <a:noFill/>
                </a:ln>
                <a:solidFill>
                  <a:schemeClr val="tx1"/>
                </a:solidFill>
                <a:effectLst/>
                <a:uLnTx/>
                <a:uFillTx/>
                <a:latin typeface="+mn-lt"/>
                <a:ea typeface="宋体" panose="02010600030101010101" pitchFamily="2" charset="-122"/>
                <a:cs typeface="华文新魏" panose="02010800040101010101" pitchFamily="2" charset="-122"/>
              </a:rPr>
              <a:t>S.Goldman</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和</a:t>
            </a:r>
            <a:r>
              <a:rPr kumimoji="1" lang="en-US" altLang="zh-CN" sz="2800" b="1" i="0" u="none" strike="noStrike" kern="0" cap="none" spc="0" normalizeH="0" baseline="0" noProof="0" dirty="0" err="1">
                <a:ln>
                  <a:noFill/>
                </a:ln>
                <a:solidFill>
                  <a:schemeClr val="tx1"/>
                </a:solidFill>
                <a:effectLst/>
                <a:uLnTx/>
                <a:uFillTx/>
                <a:latin typeface="+mn-lt"/>
                <a:ea typeface="宋体" panose="02010600030101010101" pitchFamily="2" charset="-122"/>
                <a:cs typeface="华文新魏" panose="02010800040101010101" pitchFamily="2" charset="-122"/>
              </a:rPr>
              <a:t>Y.Zhou</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2000</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年提出了一种协同训练算法，该算法</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不要求</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样本集满足上述的两个假设。</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Zhou</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和</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Li</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在</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2007</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年提出了</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Tri-training</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算法</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，即采用三个分类器进行协同训练，对样本集没有</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苛刻</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的要求。</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0649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650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650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650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650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Tri-training</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对于每一个分类器，将剩余的两个分类器作为其</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辅助分类器</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来对未标记样本进行分类，标记</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相同</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的未标记样本就会被作为置信度</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较高</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的样本。</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主分类器</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会随机从中选取一些伪标记样本添加到标记样本集中进行训练。</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每一次被挑选出来的未标记样本在参与完本轮的迭代后，仍然作为</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未标记样本</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保留在未标记数据集中。</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0854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854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854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855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0855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10.2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半监督分类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算法概览</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首先对有标记样本集进行可重复抽样来获得</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三个有标记</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训练集进行初始分类器的训练。</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在迭代过程中，每个分类器</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轮流</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作为主分类器，其余两个作为辅助分类器来为主分类器提供新的无标记数据用来训练。</a:t>
            </a:r>
            <a:endParaRPr kumimoji="1" lang="en-US" altLang="zh-CN"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在进行样本预测时，使用三个分类器的结果进行</a:t>
            </a:r>
            <a:r>
              <a:rPr kumimoji="1" lang="zh-CN" altLang="en-US" sz="2800" b="1" i="0" u="none" strike="noStrike" kern="120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投票</a:t>
            </a:r>
            <a:r>
              <a:rPr kumimoji="1" lang="zh-CN" altLang="en-US" sz="2800" b="1" i="0" u="none" strike="noStrike" kern="120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得到最终的分类标记。</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1059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059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059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059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059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a:xfrm>
            <a:off x="1103313" y="404813"/>
            <a:ext cx="10390187" cy="1143000"/>
          </a:xfrm>
        </p:spPr>
        <p:txBody>
          <a:bodyPr vert="horz" wrap="square" lIns="91440" tIns="45720" rIns="91440" bIns="45720" anchor="b" anchorCtr="0"/>
          <a:lstStyle/>
          <a:p>
            <a:r>
              <a:rPr lang="zh-CN" altLang="zh-CN" dirty="0"/>
              <a:t>目录</a:t>
            </a:r>
            <a:endParaRPr lang="en-US" altLang="zh-CN" dirty="0"/>
          </a:p>
        </p:txBody>
      </p:sp>
      <p:sp>
        <p:nvSpPr>
          <p:cNvPr id="112642" name="Rectangle 3"/>
          <p:cNvSpPr>
            <a:spLocks noGrp="1"/>
          </p:cNvSpPr>
          <p:nvPr>
            <p:ph idx="1"/>
          </p:nvPr>
        </p:nvSpPr>
        <p:spPr>
          <a:xfrm>
            <a:off x="1103313" y="1700213"/>
            <a:ext cx="10363200" cy="4608512"/>
          </a:xfrm>
        </p:spPr>
        <p:txBody>
          <a:bodyPr vert="horz" wrap="square" lIns="91440" tIns="45720" rIns="91440" bIns="45720" anchor="t" anchorCtr="0"/>
          <a:lstStyle/>
          <a:p>
            <a:pPr algn="just"/>
            <a:endParaRPr lang="en-US" altLang="zh-CN" b="1" dirty="0"/>
          </a:p>
          <a:p>
            <a:pPr algn="just"/>
            <a:r>
              <a:rPr lang="en-US" altLang="zh-CN" b="1" dirty="0"/>
              <a:t>10.1 </a:t>
            </a:r>
            <a:r>
              <a:rPr lang="zh-CN" altLang="zh-CN" b="1" dirty="0">
                <a:ea typeface="宋体" panose="02010600030101010101" pitchFamily="2" charset="-122"/>
              </a:rPr>
              <a:t>半监督学习</a:t>
            </a:r>
            <a:endParaRPr lang="en-US" altLang="zh-CN" b="1" dirty="0">
              <a:ea typeface="宋体" panose="02010600030101010101" pitchFamily="2" charset="-122"/>
            </a:endParaRPr>
          </a:p>
          <a:p>
            <a:pPr algn="just"/>
            <a:r>
              <a:rPr lang="en-US" altLang="zh-CN" b="1" dirty="0">
                <a:ea typeface="宋体" panose="02010600030101010101" pitchFamily="2" charset="-122"/>
              </a:rPr>
              <a:t>10.2 </a:t>
            </a:r>
            <a:r>
              <a:rPr lang="zh-CN" altLang="en-US" b="1" dirty="0">
                <a:ea typeface="宋体" panose="02010600030101010101" pitchFamily="2" charset="-122"/>
              </a:rPr>
              <a:t>半监督分类</a:t>
            </a:r>
            <a:endParaRPr lang="zh-CN" altLang="en-US" b="1" dirty="0"/>
          </a:p>
          <a:p>
            <a:pPr algn="just"/>
            <a:r>
              <a:rPr lang="en-US" altLang="zh-CN" b="1" dirty="0">
                <a:ea typeface="宋体" panose="02010600030101010101" pitchFamily="2" charset="-122"/>
              </a:rPr>
              <a:t>10.3 </a:t>
            </a:r>
            <a:r>
              <a:rPr lang="zh-CN" altLang="en-US" b="1" dirty="0">
                <a:solidFill>
                  <a:srgbClr val="FF0000"/>
                </a:solidFill>
                <a:ea typeface="宋体" panose="02010600030101010101" pitchFamily="2" charset="-122"/>
              </a:rPr>
              <a:t>半监督聚类</a:t>
            </a:r>
            <a:endParaRPr lang="en-US" altLang="zh-CN" b="1" dirty="0">
              <a:solidFill>
                <a:srgbClr val="FF0000"/>
              </a:solidFill>
              <a:ea typeface="宋体" panose="02010600030101010101" pitchFamily="2" charset="-122"/>
            </a:endParaRPr>
          </a:p>
          <a:p>
            <a:pPr algn="just"/>
            <a:r>
              <a:rPr lang="en-US" altLang="zh-CN" b="1" dirty="0">
                <a:ea typeface="宋体" panose="02010600030101010101" pitchFamily="2" charset="-122"/>
              </a:rPr>
              <a:t>10.4 </a:t>
            </a:r>
            <a:r>
              <a:rPr lang="zh-CN" altLang="zh-CN" b="1" dirty="0">
                <a:ea typeface="宋体" panose="02010600030101010101" pitchFamily="2" charset="-122"/>
              </a:rPr>
              <a:t>应用实例</a:t>
            </a:r>
            <a:endParaRPr lang="en-US" altLang="zh-CN" b="1" dirty="0">
              <a:ea typeface="宋体" panose="02010600030101010101" pitchFamily="2" charset="-122"/>
            </a:endParaRPr>
          </a:p>
          <a:p>
            <a:pPr algn="just"/>
            <a:r>
              <a:rPr lang="en-US" altLang="zh-CN" b="1" dirty="0"/>
              <a:t>10.5 </a:t>
            </a:r>
            <a:r>
              <a:rPr lang="zh-CN" altLang="en-US" b="1" dirty="0">
                <a:latin typeface="宋体" panose="02010600030101010101" pitchFamily="2" charset="-122"/>
                <a:ea typeface="宋体" panose="02010600030101010101" pitchFamily="2" charset="-122"/>
              </a:rPr>
              <a:t>延伸阅读</a:t>
            </a:r>
          </a:p>
          <a:p>
            <a:endParaRPr lang="en-US" altLang="zh-CN" b="1" dirty="0"/>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聚类是一种典型的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无监督</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学习方法，利用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少量的标记样本</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对聚类算法进行辅助。</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在半监督聚类中，被利用的少量</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监督信息</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的类型有两种，一种是数据对是否属于同一类别的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约束关系</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，另一种则是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类别标记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根据对于少量监督信息的使用方式不同，分成两大类。</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距离</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的半监督聚类算法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约束</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的半监督聚类算法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1366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366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366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367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367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距离</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的半监督聚类算法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传统的聚类算法大部分采用的是基于距离的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度量准则</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来对样本的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相似度</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进行描述。</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不足：对于距离度量方式的选择比较困难，没有一个统一的标准来进行衡量。</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根据约束或者类别信息来构造某种</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距离度量</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，然后在该距离度量的基础上进行聚类。</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1571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571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571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571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571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
        <p:nvSpPr>
          <p:cNvPr id="6" name="Rectangle 3"/>
          <p:cNvSpPr txBox="1">
            <a:spLocks noChangeArrowheads="1"/>
          </p:cNvSpPr>
          <p:nvPr/>
        </p:nvSpPr>
        <p:spPr bwMode="auto">
          <a:xfrm>
            <a:off x="1095375" y="2452689"/>
            <a:ext cx="10428288" cy="2262186"/>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约束</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的半监督聚类算法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利用监督信息对聚类的搜索过程进行约束。</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目前很多半监督聚类算法都是在传统的</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算法上</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改进</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而来的，比如</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Constrained-K-means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算法和</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Seeded-K-means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算法等。</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1776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776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776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776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1776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873616" y="2487029"/>
            <a:ext cx="10444767" cy="3395417"/>
          </a:xfrm>
          <a:prstGeom prst="rect">
            <a:avLst/>
          </a:prstGeom>
          <a:noFill/>
        </p:spPr>
        <p:txBody>
          <a:bodyPr wrap="square">
            <a:spAutoFit/>
          </a:bodyPr>
          <a:lstStyle/>
          <a:p>
            <a:pPr>
              <a:lnSpc>
                <a:spcPct val="120000"/>
              </a:lnSpc>
            </a:pPr>
            <a:r>
              <a:rPr lang="zh-CN" altLang="en-US" sz="2000" b="0" i="0" dirty="0">
                <a:solidFill>
                  <a:srgbClr val="121212"/>
                </a:solidFill>
                <a:effectLst/>
                <a:latin typeface="华文楷体" panose="02010600040101010101" pitchFamily="2" charset="-122"/>
                <a:ea typeface="华文楷体" panose="02010600040101010101" pitchFamily="2" charset="-122"/>
              </a:rPr>
              <a:t>该算法在</a:t>
            </a:r>
            <a:r>
              <a:rPr lang="en-US" altLang="zh-CN" sz="2000" b="0" i="0" dirty="0">
                <a:solidFill>
                  <a:srgbClr val="121212"/>
                </a:solidFill>
                <a:effectLst/>
                <a:latin typeface="华文楷体" panose="02010600040101010101" pitchFamily="2" charset="-122"/>
                <a:ea typeface="华文楷体" panose="02010600040101010101" pitchFamily="2" charset="-122"/>
              </a:rPr>
              <a:t>k-means</a:t>
            </a:r>
            <a:r>
              <a:rPr lang="zh-CN" altLang="en-US" sz="2000" b="0" i="0" dirty="0">
                <a:solidFill>
                  <a:srgbClr val="121212"/>
                </a:solidFill>
                <a:effectLst/>
                <a:latin typeface="华文楷体" panose="02010600040101010101" pitchFamily="2" charset="-122"/>
                <a:ea typeface="华文楷体" panose="02010600040101010101" pitchFamily="2" charset="-122"/>
              </a:rPr>
              <a:t>的基础上引入了称为必连（</a:t>
            </a:r>
            <a:r>
              <a:rPr lang="en-US" altLang="zh-CN" sz="2000" b="0" i="0" dirty="0">
                <a:solidFill>
                  <a:srgbClr val="121212"/>
                </a:solidFill>
                <a:effectLst/>
                <a:latin typeface="华文楷体" panose="02010600040101010101" pitchFamily="2" charset="-122"/>
                <a:ea typeface="华文楷体" panose="02010600040101010101" pitchFamily="2" charset="-122"/>
              </a:rPr>
              <a:t>Must Link</a:t>
            </a:r>
            <a:r>
              <a:rPr lang="zh-CN" altLang="en-US" sz="2000" b="0" i="0" dirty="0">
                <a:solidFill>
                  <a:srgbClr val="121212"/>
                </a:solidFill>
                <a:effectLst/>
                <a:latin typeface="华文楷体" panose="02010600040101010101" pitchFamily="2" charset="-122"/>
                <a:ea typeface="华文楷体" panose="02010600040101010101" pitchFamily="2" charset="-122"/>
              </a:rPr>
              <a:t>）和勿连（</a:t>
            </a:r>
            <a:r>
              <a:rPr lang="en-US" altLang="zh-CN" sz="2000" b="0" i="0" dirty="0" err="1">
                <a:solidFill>
                  <a:srgbClr val="121212"/>
                </a:solidFill>
                <a:effectLst/>
                <a:latin typeface="华文楷体" panose="02010600040101010101" pitchFamily="2" charset="-122"/>
                <a:ea typeface="华文楷体" panose="02010600040101010101" pitchFamily="2" charset="-122"/>
              </a:rPr>
              <a:t>Connot</a:t>
            </a:r>
            <a:r>
              <a:rPr lang="en-US" altLang="zh-CN" sz="2000" b="0" i="0" dirty="0">
                <a:solidFill>
                  <a:srgbClr val="121212"/>
                </a:solidFill>
                <a:effectLst/>
                <a:latin typeface="华文楷体" panose="02010600040101010101" pitchFamily="2" charset="-122"/>
                <a:ea typeface="华文楷体" panose="02010600040101010101" pitchFamily="2" charset="-122"/>
              </a:rPr>
              <a:t> Link</a:t>
            </a:r>
            <a:r>
              <a:rPr lang="zh-CN" altLang="en-US" sz="2000" b="0" i="0" dirty="0">
                <a:solidFill>
                  <a:srgbClr val="121212"/>
                </a:solidFill>
                <a:effectLst/>
                <a:latin typeface="华文楷体" panose="02010600040101010101" pitchFamily="2" charset="-122"/>
                <a:ea typeface="华文楷体" panose="02010600040101010101" pitchFamily="2" charset="-122"/>
              </a:rPr>
              <a:t>）的约束作为监督信息，其中必连约束限制了一些样本必须属于</a:t>
            </a:r>
            <a:r>
              <a:rPr lang="zh-CN" altLang="en-US" sz="2000" b="1" i="0" dirty="0">
                <a:solidFill>
                  <a:srgbClr val="121212"/>
                </a:solidFill>
                <a:effectLst/>
                <a:latin typeface="华文楷体" panose="02010600040101010101" pitchFamily="2" charset="-122"/>
                <a:ea typeface="华文楷体" panose="02010600040101010101" pitchFamily="2" charset="-122"/>
              </a:rPr>
              <a:t>同一聚类簇</a:t>
            </a:r>
            <a:r>
              <a:rPr lang="zh-CN" altLang="en-US" sz="2000" b="0" i="0" dirty="0">
                <a:solidFill>
                  <a:srgbClr val="121212"/>
                </a:solidFill>
                <a:effectLst/>
                <a:latin typeface="华文楷体" panose="02010600040101010101" pitchFamily="2" charset="-122"/>
                <a:ea typeface="华文楷体" panose="02010600040101010101" pitchFamily="2" charset="-122"/>
              </a:rPr>
              <a:t>，而勿连约束限制了一些样本必须属于</a:t>
            </a:r>
            <a:r>
              <a:rPr lang="zh-CN" altLang="en-US" sz="2000" b="1" i="0" dirty="0">
                <a:solidFill>
                  <a:srgbClr val="121212"/>
                </a:solidFill>
                <a:effectLst/>
                <a:latin typeface="华文楷体" panose="02010600040101010101" pitchFamily="2" charset="-122"/>
                <a:ea typeface="华文楷体" panose="02010600040101010101" pitchFamily="2" charset="-122"/>
              </a:rPr>
              <a:t>不同的聚类</a:t>
            </a:r>
            <a:r>
              <a:rPr lang="zh-CN" altLang="en-US" sz="2000" b="0" i="0" dirty="0">
                <a:solidFill>
                  <a:srgbClr val="121212"/>
                </a:solidFill>
                <a:effectLst/>
                <a:latin typeface="华文楷体" panose="02010600040101010101" pitchFamily="2" charset="-122"/>
                <a:ea typeface="华文楷体" panose="02010600040101010101" pitchFamily="2" charset="-122"/>
              </a:rPr>
              <a:t>簇，且必连约束与勿连约束存在传递机制，如</a:t>
            </a:r>
            <a:r>
              <a:rPr lang="en-US" altLang="zh-CN" sz="2000" b="0" i="0" dirty="0">
                <a:solidFill>
                  <a:srgbClr val="121212"/>
                </a:solidFill>
                <a:effectLst/>
                <a:latin typeface="华文楷体" panose="02010600040101010101" pitchFamily="2" charset="-122"/>
                <a:ea typeface="华文楷体" panose="02010600040101010101" pitchFamily="2" charset="-122"/>
              </a:rPr>
              <a:t>A</a:t>
            </a:r>
            <a:r>
              <a:rPr lang="zh-CN" altLang="en-US" sz="2000" b="0" i="0" dirty="0">
                <a:solidFill>
                  <a:srgbClr val="121212"/>
                </a:solidFill>
                <a:effectLst/>
                <a:latin typeface="华文楷体" panose="02010600040101010101" pitchFamily="2" charset="-122"/>
                <a:ea typeface="华文楷体" panose="02010600040101010101" pitchFamily="2" charset="-122"/>
              </a:rPr>
              <a:t>与</a:t>
            </a:r>
            <a:r>
              <a:rPr lang="en-US" altLang="zh-CN" sz="2000" b="0" i="0" dirty="0">
                <a:solidFill>
                  <a:srgbClr val="121212"/>
                </a:solidFill>
                <a:effectLst/>
                <a:latin typeface="华文楷体" panose="02010600040101010101" pitchFamily="2" charset="-122"/>
                <a:ea typeface="华文楷体" panose="02010600040101010101" pitchFamily="2" charset="-122"/>
              </a:rPr>
              <a:t>B</a:t>
            </a:r>
            <a:r>
              <a:rPr lang="zh-CN" altLang="en-US" sz="2000" b="0" i="0" dirty="0">
                <a:solidFill>
                  <a:srgbClr val="121212"/>
                </a:solidFill>
                <a:effectLst/>
                <a:latin typeface="华文楷体" panose="02010600040101010101" pitchFamily="2" charset="-122"/>
                <a:ea typeface="华文楷体" panose="02010600040101010101" pitchFamily="2" charset="-122"/>
              </a:rPr>
              <a:t>必连且</a:t>
            </a:r>
            <a:r>
              <a:rPr lang="en-US" altLang="zh-CN" sz="2000" b="0" i="0" dirty="0">
                <a:solidFill>
                  <a:srgbClr val="121212"/>
                </a:solidFill>
                <a:effectLst/>
                <a:latin typeface="华文楷体" panose="02010600040101010101" pitchFamily="2" charset="-122"/>
                <a:ea typeface="华文楷体" panose="02010600040101010101" pitchFamily="2" charset="-122"/>
              </a:rPr>
              <a:t>B</a:t>
            </a:r>
            <a:r>
              <a:rPr lang="zh-CN" altLang="en-US" sz="2000" b="0" i="0" dirty="0">
                <a:solidFill>
                  <a:srgbClr val="121212"/>
                </a:solidFill>
                <a:effectLst/>
                <a:latin typeface="华文楷体" panose="02010600040101010101" pitchFamily="2" charset="-122"/>
                <a:ea typeface="华文楷体" panose="02010600040101010101" pitchFamily="2" charset="-122"/>
              </a:rPr>
              <a:t>与</a:t>
            </a:r>
            <a:r>
              <a:rPr lang="en-US" altLang="zh-CN" sz="2000" b="0" i="0" dirty="0">
                <a:solidFill>
                  <a:srgbClr val="121212"/>
                </a:solidFill>
                <a:effectLst/>
                <a:latin typeface="华文楷体" panose="02010600040101010101" pitchFamily="2" charset="-122"/>
                <a:ea typeface="华文楷体" panose="02010600040101010101" pitchFamily="2" charset="-122"/>
              </a:rPr>
              <a:t>C</a:t>
            </a:r>
            <a:r>
              <a:rPr lang="zh-CN" altLang="en-US" sz="2000" b="0" i="0" dirty="0">
                <a:solidFill>
                  <a:srgbClr val="121212"/>
                </a:solidFill>
                <a:effectLst/>
                <a:latin typeface="华文楷体" panose="02010600040101010101" pitchFamily="2" charset="-122"/>
                <a:ea typeface="华文楷体" panose="02010600040101010101" pitchFamily="2" charset="-122"/>
              </a:rPr>
              <a:t>必连则</a:t>
            </a:r>
            <a:r>
              <a:rPr lang="en-US" altLang="zh-CN" sz="2000" b="0" i="0" dirty="0">
                <a:solidFill>
                  <a:srgbClr val="121212"/>
                </a:solidFill>
                <a:effectLst/>
                <a:latin typeface="华文楷体" panose="02010600040101010101" pitchFamily="2" charset="-122"/>
                <a:ea typeface="华文楷体" panose="02010600040101010101" pitchFamily="2" charset="-122"/>
              </a:rPr>
              <a:t>A</a:t>
            </a:r>
            <a:r>
              <a:rPr lang="zh-CN" altLang="en-US" sz="2000" b="0" i="0" dirty="0">
                <a:solidFill>
                  <a:srgbClr val="121212"/>
                </a:solidFill>
                <a:effectLst/>
                <a:latin typeface="华文楷体" panose="02010600040101010101" pitchFamily="2" charset="-122"/>
                <a:ea typeface="华文楷体" panose="02010600040101010101" pitchFamily="2" charset="-122"/>
              </a:rPr>
              <a:t>与</a:t>
            </a:r>
            <a:r>
              <a:rPr lang="en-US" altLang="zh-CN" sz="2000" b="0" i="0" dirty="0">
                <a:solidFill>
                  <a:srgbClr val="121212"/>
                </a:solidFill>
                <a:effectLst/>
                <a:latin typeface="华文楷体" panose="02010600040101010101" pitchFamily="2" charset="-122"/>
                <a:ea typeface="华文楷体" panose="02010600040101010101" pitchFamily="2" charset="-122"/>
              </a:rPr>
              <a:t>C</a:t>
            </a:r>
            <a:r>
              <a:rPr lang="zh-CN" altLang="en-US" sz="2000" b="0" i="0" dirty="0">
                <a:solidFill>
                  <a:srgbClr val="121212"/>
                </a:solidFill>
                <a:effectLst/>
                <a:latin typeface="华文楷体" panose="02010600040101010101" pitchFamily="2" charset="-122"/>
                <a:ea typeface="华文楷体" panose="02010600040101010101" pitchFamily="2" charset="-122"/>
              </a:rPr>
              <a:t>必连，</a:t>
            </a:r>
            <a:r>
              <a:rPr lang="en-US" altLang="zh-CN" sz="2000" b="0" i="0" dirty="0">
                <a:solidFill>
                  <a:srgbClr val="121212"/>
                </a:solidFill>
                <a:effectLst/>
                <a:latin typeface="华文楷体" panose="02010600040101010101" pitchFamily="2" charset="-122"/>
                <a:ea typeface="华文楷体" panose="02010600040101010101" pitchFamily="2" charset="-122"/>
              </a:rPr>
              <a:t>A</a:t>
            </a:r>
            <a:r>
              <a:rPr lang="zh-CN" altLang="en-US" sz="2000" b="0" i="0" dirty="0">
                <a:solidFill>
                  <a:srgbClr val="121212"/>
                </a:solidFill>
                <a:effectLst/>
                <a:latin typeface="华文楷体" panose="02010600040101010101" pitchFamily="2" charset="-122"/>
                <a:ea typeface="华文楷体" panose="02010600040101010101" pitchFamily="2" charset="-122"/>
              </a:rPr>
              <a:t>与</a:t>
            </a:r>
            <a:r>
              <a:rPr lang="en-US" altLang="zh-CN" sz="2000" b="0" i="0" dirty="0">
                <a:solidFill>
                  <a:srgbClr val="121212"/>
                </a:solidFill>
                <a:effectLst/>
                <a:latin typeface="华文楷体" panose="02010600040101010101" pitchFamily="2" charset="-122"/>
                <a:ea typeface="华文楷体" panose="02010600040101010101" pitchFamily="2" charset="-122"/>
              </a:rPr>
              <a:t>B</a:t>
            </a:r>
            <a:r>
              <a:rPr lang="zh-CN" altLang="en-US" sz="2000" b="0" i="0" dirty="0">
                <a:solidFill>
                  <a:srgbClr val="121212"/>
                </a:solidFill>
                <a:effectLst/>
                <a:latin typeface="华文楷体" panose="02010600040101010101" pitchFamily="2" charset="-122"/>
                <a:ea typeface="华文楷体" panose="02010600040101010101" pitchFamily="2" charset="-122"/>
              </a:rPr>
              <a:t>勿连且</a:t>
            </a:r>
            <a:r>
              <a:rPr lang="en-US" altLang="zh-CN" sz="2000" b="0" i="0" dirty="0">
                <a:solidFill>
                  <a:srgbClr val="121212"/>
                </a:solidFill>
                <a:effectLst/>
                <a:latin typeface="华文楷体" panose="02010600040101010101" pitchFamily="2" charset="-122"/>
                <a:ea typeface="华文楷体" panose="02010600040101010101" pitchFamily="2" charset="-122"/>
              </a:rPr>
              <a:t>B</a:t>
            </a:r>
            <a:r>
              <a:rPr lang="zh-CN" altLang="en-US" sz="2000" b="0" i="0" dirty="0">
                <a:solidFill>
                  <a:srgbClr val="121212"/>
                </a:solidFill>
                <a:effectLst/>
                <a:latin typeface="华文楷体" panose="02010600040101010101" pitchFamily="2" charset="-122"/>
                <a:ea typeface="华文楷体" panose="02010600040101010101" pitchFamily="2" charset="-122"/>
              </a:rPr>
              <a:t>与</a:t>
            </a:r>
            <a:r>
              <a:rPr lang="en-US" altLang="zh-CN" sz="2000" b="0" i="0" dirty="0">
                <a:solidFill>
                  <a:srgbClr val="121212"/>
                </a:solidFill>
                <a:effectLst/>
                <a:latin typeface="华文楷体" panose="02010600040101010101" pitchFamily="2" charset="-122"/>
                <a:ea typeface="华文楷体" panose="02010600040101010101" pitchFamily="2" charset="-122"/>
              </a:rPr>
              <a:t>C</a:t>
            </a:r>
            <a:r>
              <a:rPr lang="zh-CN" altLang="en-US" sz="2000" b="0" i="0" dirty="0">
                <a:solidFill>
                  <a:srgbClr val="121212"/>
                </a:solidFill>
                <a:effectLst/>
                <a:latin typeface="华文楷体" panose="02010600040101010101" pitchFamily="2" charset="-122"/>
                <a:ea typeface="华文楷体" panose="02010600040101010101" pitchFamily="2" charset="-122"/>
              </a:rPr>
              <a:t>必连则</a:t>
            </a:r>
            <a:r>
              <a:rPr lang="en-US" altLang="zh-CN" sz="2000" b="0" i="0" dirty="0">
                <a:solidFill>
                  <a:srgbClr val="121212"/>
                </a:solidFill>
                <a:effectLst/>
                <a:latin typeface="华文楷体" panose="02010600040101010101" pitchFamily="2" charset="-122"/>
                <a:ea typeface="华文楷体" panose="02010600040101010101" pitchFamily="2" charset="-122"/>
              </a:rPr>
              <a:t>A</a:t>
            </a:r>
            <a:r>
              <a:rPr lang="zh-CN" altLang="en-US" sz="2000" b="0" i="0" dirty="0">
                <a:solidFill>
                  <a:srgbClr val="121212"/>
                </a:solidFill>
                <a:effectLst/>
                <a:latin typeface="华文楷体" panose="02010600040101010101" pitchFamily="2" charset="-122"/>
                <a:ea typeface="华文楷体" panose="02010600040101010101" pitchFamily="2" charset="-122"/>
              </a:rPr>
              <a:t>与</a:t>
            </a:r>
            <a:r>
              <a:rPr lang="en-US" altLang="zh-CN" sz="2000" b="0" i="0" dirty="0">
                <a:solidFill>
                  <a:srgbClr val="121212"/>
                </a:solidFill>
                <a:effectLst/>
                <a:latin typeface="华文楷体" panose="02010600040101010101" pitchFamily="2" charset="-122"/>
                <a:ea typeface="华文楷体" panose="02010600040101010101" pitchFamily="2" charset="-122"/>
              </a:rPr>
              <a:t>C</a:t>
            </a:r>
            <a:r>
              <a:rPr lang="zh-CN" altLang="en-US" sz="2000" b="0" i="0" dirty="0">
                <a:solidFill>
                  <a:srgbClr val="121212"/>
                </a:solidFill>
                <a:effectLst/>
                <a:latin typeface="华文楷体" panose="02010600040101010101" pitchFamily="2" charset="-122"/>
                <a:ea typeface="华文楷体" panose="02010600040101010101" pitchFamily="2" charset="-122"/>
              </a:rPr>
              <a:t>勿连。</a:t>
            </a:r>
            <a:endParaRPr lang="en-US" altLang="zh-CN" sz="2000" b="0" i="0" dirty="0">
              <a:solidFill>
                <a:srgbClr val="121212"/>
              </a:solidFill>
              <a:effectLst/>
              <a:latin typeface="华文楷体" panose="02010600040101010101" pitchFamily="2" charset="-122"/>
              <a:ea typeface="华文楷体" panose="02010600040101010101" pitchFamily="2" charset="-122"/>
            </a:endParaRPr>
          </a:p>
          <a:p>
            <a:pPr>
              <a:lnSpc>
                <a:spcPct val="120000"/>
              </a:lnSpc>
            </a:pPr>
            <a:r>
              <a:rPr lang="en-US" altLang="zh-CN" sz="2000" b="0" i="0" dirty="0">
                <a:solidFill>
                  <a:srgbClr val="121212"/>
                </a:solidFill>
                <a:effectLst/>
                <a:latin typeface="华文楷体" panose="02010600040101010101" pitchFamily="2" charset="-122"/>
                <a:ea typeface="华文楷体" panose="02010600040101010101" pitchFamily="2" charset="-122"/>
              </a:rPr>
              <a:t>         k-means</a:t>
            </a:r>
            <a:r>
              <a:rPr lang="zh-CN" altLang="en-US" sz="2000" b="0" i="0" dirty="0">
                <a:solidFill>
                  <a:srgbClr val="121212"/>
                </a:solidFill>
                <a:effectLst/>
                <a:latin typeface="华文楷体" panose="02010600040101010101" pitchFamily="2" charset="-122"/>
                <a:ea typeface="华文楷体" panose="02010600040101010101" pitchFamily="2" charset="-122"/>
              </a:rPr>
              <a:t>算法将样本归属于簇中心与样本最近的簇，与之相似的是</a:t>
            </a:r>
            <a:r>
              <a:rPr lang="en-US" altLang="zh-CN" sz="2000" b="0" i="0" dirty="0">
                <a:solidFill>
                  <a:srgbClr val="121212"/>
                </a:solidFill>
                <a:effectLst/>
                <a:latin typeface="华文楷体" panose="02010600040101010101" pitchFamily="2" charset="-122"/>
                <a:ea typeface="华文楷体" panose="02010600040101010101" pitchFamily="2" charset="-122"/>
              </a:rPr>
              <a:t>Constrained k-means</a:t>
            </a:r>
            <a:r>
              <a:rPr lang="zh-CN" altLang="en-US" sz="2000" b="0" i="0" dirty="0">
                <a:solidFill>
                  <a:srgbClr val="121212"/>
                </a:solidFill>
                <a:effectLst/>
                <a:latin typeface="华文楷体" panose="02010600040101010101" pitchFamily="2" charset="-122"/>
                <a:ea typeface="华文楷体" panose="02010600040101010101" pitchFamily="2" charset="-122"/>
              </a:rPr>
              <a:t>算法也会优先考虑簇中心与样本最近的簇，</a:t>
            </a:r>
            <a:r>
              <a:rPr lang="zh-CN" altLang="en-US" sz="2000" b="1" i="0" dirty="0">
                <a:solidFill>
                  <a:srgbClr val="121212"/>
                </a:solidFill>
                <a:effectLst/>
                <a:latin typeface="华文楷体" panose="02010600040101010101" pitchFamily="2" charset="-122"/>
                <a:ea typeface="华文楷体" panose="02010600040101010101" pitchFamily="2" charset="-122"/>
              </a:rPr>
              <a:t>但与之不同</a:t>
            </a:r>
            <a:r>
              <a:rPr lang="zh-CN" altLang="en-US" sz="2000" b="0" i="0" dirty="0">
                <a:solidFill>
                  <a:srgbClr val="121212"/>
                </a:solidFill>
                <a:effectLst/>
                <a:latin typeface="华文楷体" panose="02010600040101010101" pitchFamily="2" charset="-122"/>
                <a:ea typeface="华文楷体" panose="02010600040101010101" pitchFamily="2" charset="-122"/>
              </a:rPr>
              <a:t>的是</a:t>
            </a:r>
            <a:r>
              <a:rPr lang="en-US" altLang="zh-CN" sz="2000" b="0" i="0" dirty="0">
                <a:solidFill>
                  <a:srgbClr val="121212"/>
                </a:solidFill>
                <a:effectLst/>
                <a:latin typeface="华文楷体" panose="02010600040101010101" pitchFamily="2" charset="-122"/>
                <a:ea typeface="华文楷体" panose="02010600040101010101" pitchFamily="2" charset="-122"/>
              </a:rPr>
              <a:t>Constrained k-means</a:t>
            </a:r>
            <a:r>
              <a:rPr lang="zh-CN" altLang="en-US" sz="2000" b="0" i="0" dirty="0">
                <a:solidFill>
                  <a:srgbClr val="121212"/>
                </a:solidFill>
                <a:effectLst/>
                <a:latin typeface="华文楷体" panose="02010600040101010101" pitchFamily="2" charset="-122"/>
                <a:ea typeface="华文楷体" panose="02010600040101010101" pitchFamily="2" charset="-122"/>
              </a:rPr>
              <a:t>算法会在将一样本归为一个簇时，</a:t>
            </a:r>
            <a:r>
              <a:rPr lang="zh-CN" altLang="en-US" sz="2000" b="1" i="0" dirty="0">
                <a:solidFill>
                  <a:srgbClr val="121212"/>
                </a:solidFill>
                <a:effectLst/>
                <a:latin typeface="华文楷体" panose="02010600040101010101" pitchFamily="2" charset="-122"/>
                <a:ea typeface="华文楷体" panose="02010600040101010101" pitchFamily="2" charset="-122"/>
              </a:rPr>
              <a:t>会首先</a:t>
            </a:r>
            <a:r>
              <a:rPr lang="zh-CN" altLang="en-US" sz="2000" b="0" i="0" dirty="0">
                <a:solidFill>
                  <a:srgbClr val="121212"/>
                </a:solidFill>
                <a:effectLst/>
                <a:latin typeface="华文楷体" panose="02010600040101010101" pitchFamily="2" charset="-122"/>
                <a:ea typeface="华文楷体" panose="02010600040101010101" pitchFamily="2" charset="-122"/>
              </a:rPr>
              <a:t>判断该样本与簇内样本间是否违反必连和勿连约束，如果违反，</a:t>
            </a:r>
            <a:r>
              <a:rPr lang="en-US" altLang="zh-CN" sz="2000" b="0" i="0" dirty="0">
                <a:solidFill>
                  <a:srgbClr val="121212"/>
                </a:solidFill>
                <a:effectLst/>
                <a:latin typeface="华文楷体" panose="02010600040101010101" pitchFamily="2" charset="-122"/>
                <a:ea typeface="华文楷体" panose="02010600040101010101" pitchFamily="2" charset="-122"/>
              </a:rPr>
              <a:t>Constrained k-means</a:t>
            </a:r>
            <a:r>
              <a:rPr lang="zh-CN" altLang="en-US" sz="2000" b="0" i="0" dirty="0">
                <a:solidFill>
                  <a:srgbClr val="121212"/>
                </a:solidFill>
                <a:effectLst/>
                <a:latin typeface="华文楷体" panose="02010600040101010101" pitchFamily="2" charset="-122"/>
                <a:ea typeface="华文楷体" panose="02010600040101010101" pitchFamily="2" charset="-122"/>
              </a:rPr>
              <a:t>会重新考虑下一个符合条件的簇，如果所有簇都不能满足约束，则会发出聚类失败的警告，需要随机选择不同的聚类中心重新初始化。</a:t>
            </a:r>
            <a:endParaRPr lang="zh-CN" altLang="en-US" sz="2000" dirty="0">
              <a:latin typeface="华文楷体" panose="02010600040101010101" pitchFamily="2" charset="-122"/>
              <a:ea typeface="华文楷体" panose="02010600040101010101" pitchFamily="2" charset="-122"/>
            </a:endParaRPr>
          </a:p>
        </p:txBody>
      </p:sp>
      <p:sp>
        <p:nvSpPr>
          <p:cNvPr id="7" name="文本框 6"/>
          <p:cNvSpPr txBox="1"/>
          <p:nvPr/>
        </p:nvSpPr>
        <p:spPr>
          <a:xfrm>
            <a:off x="767904" y="1700213"/>
            <a:ext cx="6094926" cy="508409"/>
          </a:xfrm>
          <a:prstGeom prst="rect">
            <a:avLst/>
          </a:prstGeom>
          <a:noFill/>
        </p:spPr>
        <p:txBody>
          <a:bodyPr wrap="square">
            <a:spAutoFit/>
          </a:body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Constrained-K-means</a:t>
            </a:r>
          </a:p>
        </p:txBody>
      </p:sp>
      <p:sp>
        <p:nvSpPr>
          <p:cNvPr id="8"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901520" y="2235891"/>
            <a:ext cx="10560677" cy="3395417"/>
          </a:xfrm>
          <a:prstGeom prst="rect">
            <a:avLst/>
          </a:prstGeom>
          <a:noFill/>
        </p:spPr>
        <p:txBody>
          <a:bodyPr wrap="square">
            <a:spAutoFit/>
          </a:bodyPr>
          <a:lstStyle/>
          <a:p>
            <a:pPr>
              <a:lnSpc>
                <a:spcPct val="120000"/>
              </a:lnSpc>
            </a:pPr>
            <a:r>
              <a:rPr lang="zh-CN" altLang="en-US" sz="2000" b="0" i="0" dirty="0">
                <a:solidFill>
                  <a:srgbClr val="121212"/>
                </a:solidFill>
                <a:effectLst/>
                <a:latin typeface="华文楷体" panose="02010600040101010101" pitchFamily="2" charset="-122"/>
                <a:ea typeface="华文楷体" panose="02010600040101010101" pitchFamily="2" charset="-122"/>
              </a:rPr>
              <a:t>         该算法直接采用了有标注数据作为监督信息。由于有了部分有标注数据，可以通过</a:t>
            </a:r>
            <a:r>
              <a:rPr lang="zh-CN" altLang="en-US" sz="2000" b="1" i="0" dirty="0">
                <a:solidFill>
                  <a:srgbClr val="121212"/>
                </a:solidFill>
                <a:effectLst/>
                <a:latin typeface="华文楷体" panose="02010600040101010101" pitchFamily="2" charset="-122"/>
                <a:ea typeface="华文楷体" panose="02010600040101010101" pitchFamily="2" charset="-122"/>
              </a:rPr>
              <a:t>直接在有标注数据集上计算类别均值的方式计算聚类中心</a:t>
            </a:r>
            <a:r>
              <a:rPr lang="zh-CN" altLang="en-US" sz="2000" b="0" i="0" dirty="0">
                <a:solidFill>
                  <a:srgbClr val="121212"/>
                </a:solidFill>
                <a:effectLst/>
                <a:latin typeface="华文楷体" panose="02010600040101010101" pitchFamily="2" charset="-122"/>
                <a:ea typeface="华文楷体" panose="02010600040101010101" pitchFamily="2" charset="-122"/>
              </a:rPr>
              <a:t>，这有效缓解了聚类算法中因初始聚类中心选择的随机性造成的聚类不稳定，且可以将有</a:t>
            </a:r>
            <a:r>
              <a:rPr lang="zh-CN" altLang="en-US" sz="2000" b="1" i="0" dirty="0">
                <a:solidFill>
                  <a:srgbClr val="121212"/>
                </a:solidFill>
                <a:effectLst/>
                <a:latin typeface="华文楷体" panose="02010600040101010101" pitchFamily="2" charset="-122"/>
                <a:ea typeface="华文楷体" panose="02010600040101010101" pitchFamily="2" charset="-122"/>
              </a:rPr>
              <a:t>标注数据集上的类别数量作为聚类算法中的簇数</a:t>
            </a:r>
            <a:r>
              <a:rPr lang="en-US" altLang="zh-CN" sz="2000" b="1" i="0" dirty="0">
                <a:solidFill>
                  <a:srgbClr val="121212"/>
                </a:solidFill>
                <a:effectLst/>
                <a:latin typeface="华文楷体" panose="02010600040101010101" pitchFamily="2" charset="-122"/>
                <a:ea typeface="华文楷体" panose="02010600040101010101" pitchFamily="2" charset="-122"/>
              </a:rPr>
              <a:t>k</a:t>
            </a:r>
            <a:r>
              <a:rPr lang="zh-CN" altLang="en-US" sz="2000" b="0" i="0" dirty="0">
                <a:solidFill>
                  <a:srgbClr val="121212"/>
                </a:solidFill>
                <a:effectLst/>
                <a:latin typeface="华文楷体" panose="02010600040101010101" pitchFamily="2" charset="-122"/>
                <a:ea typeface="华文楷体" panose="02010600040101010101" pitchFamily="2" charset="-122"/>
              </a:rPr>
              <a:t>，不需要再人为选择</a:t>
            </a:r>
            <a:r>
              <a:rPr lang="en-US" altLang="zh-CN" sz="2000" b="0" i="0" dirty="0">
                <a:solidFill>
                  <a:srgbClr val="121212"/>
                </a:solidFill>
                <a:effectLst/>
                <a:latin typeface="华文楷体" panose="02010600040101010101" pitchFamily="2" charset="-122"/>
                <a:ea typeface="华文楷体" panose="02010600040101010101" pitchFamily="2" charset="-122"/>
              </a:rPr>
              <a:t>k</a:t>
            </a:r>
            <a:r>
              <a:rPr lang="zh-CN" altLang="en-US" sz="2000" b="0" i="0" dirty="0">
                <a:solidFill>
                  <a:srgbClr val="121212"/>
                </a:solidFill>
                <a:effectLst/>
                <a:latin typeface="华文楷体" panose="02010600040101010101" pitchFamily="2" charset="-122"/>
                <a:ea typeface="华文楷体" panose="02010600040101010101" pitchFamily="2" charset="-122"/>
              </a:rPr>
              <a:t>值，避免了聚类时不合理的簇数选择造成的聚类结果不理想。</a:t>
            </a:r>
            <a:endParaRPr lang="en-US" altLang="zh-CN" sz="2000" b="0" i="0" dirty="0">
              <a:solidFill>
                <a:srgbClr val="121212"/>
              </a:solidFill>
              <a:effectLst/>
              <a:latin typeface="华文楷体" panose="02010600040101010101" pitchFamily="2" charset="-122"/>
              <a:ea typeface="华文楷体" panose="02010600040101010101" pitchFamily="2" charset="-122"/>
            </a:endParaRPr>
          </a:p>
          <a:p>
            <a:pPr>
              <a:lnSpc>
                <a:spcPct val="120000"/>
              </a:lnSpc>
            </a:pPr>
            <a:r>
              <a:rPr lang="zh-CN" altLang="en-US" sz="2000" b="0" i="0" dirty="0">
                <a:solidFill>
                  <a:srgbClr val="121212"/>
                </a:solidFill>
                <a:effectLst/>
                <a:latin typeface="华文楷体" panose="02010600040101010101" pitchFamily="2" charset="-122"/>
                <a:ea typeface="华文楷体" panose="02010600040101010101" pitchFamily="2" charset="-122"/>
              </a:rPr>
              <a:t>        不同于</a:t>
            </a:r>
            <a:r>
              <a:rPr lang="en-US" altLang="zh-CN" sz="2000" b="0" i="0" dirty="0">
                <a:solidFill>
                  <a:srgbClr val="121212"/>
                </a:solidFill>
                <a:effectLst/>
                <a:latin typeface="华文楷体" panose="02010600040101010101" pitchFamily="2" charset="-122"/>
                <a:ea typeface="华文楷体" panose="02010600040101010101" pitchFamily="2" charset="-122"/>
              </a:rPr>
              <a:t>k-means</a:t>
            </a:r>
            <a:r>
              <a:rPr lang="zh-CN" altLang="en-US" sz="2000" b="0" i="0" dirty="0">
                <a:solidFill>
                  <a:srgbClr val="121212"/>
                </a:solidFill>
                <a:effectLst/>
                <a:latin typeface="华文楷体" panose="02010600040101010101" pitchFamily="2" charset="-122"/>
                <a:ea typeface="华文楷体" panose="02010600040101010101" pitchFamily="2" charset="-122"/>
              </a:rPr>
              <a:t>算法在迭代过程中对所有的样本根据其余目前所有簇中心的距离判断其应归属的簇，</a:t>
            </a:r>
            <a:r>
              <a:rPr lang="en-US" altLang="zh-CN" sz="2000" b="0" i="0" dirty="0">
                <a:solidFill>
                  <a:srgbClr val="121212"/>
                </a:solidFill>
                <a:effectLst/>
                <a:latin typeface="华文楷体" panose="02010600040101010101" pitchFamily="2" charset="-122"/>
                <a:ea typeface="华文楷体" panose="02010600040101010101" pitchFamily="2" charset="-122"/>
              </a:rPr>
              <a:t> Seed k-means</a:t>
            </a:r>
            <a:r>
              <a:rPr lang="zh-CN" altLang="en-US" sz="2000" b="0" i="0" dirty="0">
                <a:solidFill>
                  <a:srgbClr val="121212"/>
                </a:solidFill>
                <a:effectLst/>
                <a:latin typeface="华文楷体" panose="02010600040101010101" pitchFamily="2" charset="-122"/>
                <a:ea typeface="华文楷体" panose="02010600040101010101" pitchFamily="2" charset="-122"/>
              </a:rPr>
              <a:t>算法在迭代过程中仅对无标注数据所属的簇进行更新，</a:t>
            </a:r>
            <a:r>
              <a:rPr lang="zh-CN" altLang="en-US" sz="2000" b="1" i="0" u="sng" dirty="0">
                <a:solidFill>
                  <a:srgbClr val="121212"/>
                </a:solidFill>
                <a:effectLst/>
                <a:latin typeface="华文楷体" panose="02010600040101010101" pitchFamily="2" charset="-122"/>
                <a:ea typeface="华文楷体" panose="02010600040101010101" pitchFamily="2" charset="-122"/>
              </a:rPr>
              <a:t>对于有标注数据会根据其真实标注固定其所属的簇，不会因簇中心的变化而改变</a:t>
            </a:r>
            <a:r>
              <a:rPr lang="zh-CN" altLang="en-US" sz="2000" b="0" i="0" dirty="0">
                <a:solidFill>
                  <a:srgbClr val="121212"/>
                </a:solidFill>
                <a:effectLst/>
                <a:latin typeface="华文楷体" panose="02010600040101010101" pitchFamily="2" charset="-122"/>
                <a:ea typeface="华文楷体" panose="02010600040101010101" pitchFamily="2" charset="-122"/>
              </a:rPr>
              <a:t>。使用有标注数据参与聚类过成时聚类器更加可靠，缓解了无监督聚类的盲目性，有效地减弱了聚类结果与样本真实标注间差距过大和由于随机性带来的不稳定现象。</a:t>
            </a:r>
            <a:endParaRPr lang="zh-CN" altLang="en-US" sz="2000" dirty="0">
              <a:latin typeface="华文楷体" panose="02010600040101010101" pitchFamily="2" charset="-122"/>
              <a:ea typeface="华文楷体" panose="02010600040101010101" pitchFamily="2" charset="-122"/>
            </a:endParaRPr>
          </a:p>
        </p:txBody>
      </p:sp>
      <p:sp>
        <p:nvSpPr>
          <p:cNvPr id="7" name="文本框 6"/>
          <p:cNvSpPr txBox="1"/>
          <p:nvPr/>
        </p:nvSpPr>
        <p:spPr>
          <a:xfrm>
            <a:off x="901520" y="1661778"/>
            <a:ext cx="6094926" cy="508409"/>
          </a:xfrm>
          <a:prstGeom prst="rect">
            <a:avLst/>
          </a:prstGeom>
          <a:noFill/>
        </p:spPr>
        <p:txBody>
          <a:bodyPr wrap="square">
            <a:spAutoFit/>
          </a:body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Seeded-K-means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8"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两种算法的区别与比较</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优化过程有所不同。在</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Seeded-K-means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算法中，</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Seed</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集的标记是可以发生</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改变</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的，而在</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Constrained-K-means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算法中，</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Seed</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集的样本标记是</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固定</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不含噪声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的情况下，</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Constrained-K-means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算法的性能较好，而在</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Seed</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集中</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含有噪声</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的情况下，</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Seeded-K-means</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的性能明显更优。</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2185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186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186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186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186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10.3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半监督聚类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小结</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半监督聚类算法的目标是利用</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少量有标记数据</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来提高聚类算法性能。</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目前半监督聚类算法大多数还都是对以往聚类算法的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改进</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，因此对半监督聚类算法还需进行更加深入的研究。</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2390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390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390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391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391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p:cNvSpPr>
          <p:nvPr>
            <p:ph type="title"/>
          </p:nvPr>
        </p:nvSpPr>
        <p:spPr>
          <a:xfrm>
            <a:off x="1103313" y="404813"/>
            <a:ext cx="10390187" cy="1143000"/>
          </a:xfrm>
        </p:spPr>
        <p:txBody>
          <a:bodyPr vert="horz" wrap="square" lIns="91440" tIns="45720" rIns="91440" bIns="45720" anchor="b" anchorCtr="0"/>
          <a:lstStyle/>
          <a:p>
            <a:r>
              <a:rPr lang="zh-CN" altLang="zh-CN" dirty="0"/>
              <a:t>目录</a:t>
            </a:r>
            <a:endParaRPr lang="en-US" altLang="zh-CN" dirty="0"/>
          </a:p>
        </p:txBody>
      </p:sp>
      <p:sp>
        <p:nvSpPr>
          <p:cNvPr id="125954" name="Rectangle 3"/>
          <p:cNvSpPr>
            <a:spLocks noGrp="1"/>
          </p:cNvSpPr>
          <p:nvPr>
            <p:ph idx="1"/>
          </p:nvPr>
        </p:nvSpPr>
        <p:spPr>
          <a:xfrm>
            <a:off x="1103313" y="1700213"/>
            <a:ext cx="10363200" cy="4608512"/>
          </a:xfrm>
        </p:spPr>
        <p:txBody>
          <a:bodyPr vert="horz" wrap="square" lIns="91440" tIns="45720" rIns="91440" bIns="45720" anchor="t" anchorCtr="0"/>
          <a:lstStyle/>
          <a:p>
            <a:pPr algn="just"/>
            <a:endParaRPr lang="en-US" altLang="zh-CN" b="1" dirty="0"/>
          </a:p>
          <a:p>
            <a:pPr algn="just"/>
            <a:r>
              <a:rPr lang="en-US" altLang="zh-CN" b="1" dirty="0"/>
              <a:t>10.1 </a:t>
            </a:r>
            <a:r>
              <a:rPr lang="zh-CN" altLang="zh-CN" b="1" dirty="0">
                <a:ea typeface="宋体" panose="02010600030101010101" pitchFamily="2" charset="-122"/>
              </a:rPr>
              <a:t>半监督学习</a:t>
            </a:r>
            <a:endParaRPr lang="en-US" altLang="zh-CN" b="1" dirty="0">
              <a:ea typeface="宋体" panose="02010600030101010101" pitchFamily="2" charset="-122"/>
            </a:endParaRPr>
          </a:p>
          <a:p>
            <a:pPr algn="just"/>
            <a:r>
              <a:rPr lang="en-US" altLang="zh-CN" b="1" dirty="0">
                <a:ea typeface="宋体" panose="02010600030101010101" pitchFamily="2" charset="-122"/>
              </a:rPr>
              <a:t>10.2 </a:t>
            </a:r>
            <a:r>
              <a:rPr lang="zh-CN" altLang="en-US" b="1" dirty="0">
                <a:ea typeface="宋体" panose="02010600030101010101" pitchFamily="2" charset="-122"/>
              </a:rPr>
              <a:t>半监督分类</a:t>
            </a:r>
            <a:endParaRPr lang="zh-CN" altLang="en-US" b="1" dirty="0"/>
          </a:p>
          <a:p>
            <a:pPr algn="just"/>
            <a:r>
              <a:rPr lang="en-US" altLang="zh-CN" b="1" dirty="0">
                <a:ea typeface="宋体" panose="02010600030101010101" pitchFamily="2" charset="-122"/>
              </a:rPr>
              <a:t>10.3 </a:t>
            </a:r>
            <a:r>
              <a:rPr lang="zh-CN" altLang="en-US" b="1" dirty="0">
                <a:ea typeface="宋体" panose="02010600030101010101" pitchFamily="2" charset="-122"/>
              </a:rPr>
              <a:t>半监督聚类</a:t>
            </a:r>
            <a:endParaRPr lang="en-US" altLang="zh-CN" b="1" dirty="0">
              <a:ea typeface="宋体" panose="02010600030101010101" pitchFamily="2" charset="-122"/>
            </a:endParaRPr>
          </a:p>
          <a:p>
            <a:pPr algn="just"/>
            <a:r>
              <a:rPr lang="en-US" altLang="zh-CN" b="1" dirty="0">
                <a:ea typeface="宋体" panose="02010600030101010101" pitchFamily="2" charset="-122"/>
              </a:rPr>
              <a:t>10.4 </a:t>
            </a:r>
            <a:r>
              <a:rPr lang="zh-CN" altLang="zh-CN" b="1" dirty="0">
                <a:solidFill>
                  <a:srgbClr val="FF0000"/>
                </a:solidFill>
                <a:ea typeface="宋体" panose="02010600030101010101" pitchFamily="2" charset="-122"/>
              </a:rPr>
              <a:t>应用实例</a:t>
            </a:r>
            <a:endParaRPr lang="en-US" altLang="zh-CN" b="1" dirty="0">
              <a:solidFill>
                <a:srgbClr val="FF0000"/>
              </a:solidFill>
              <a:ea typeface="宋体" panose="02010600030101010101" pitchFamily="2" charset="-122"/>
            </a:endParaRPr>
          </a:p>
          <a:p>
            <a:pPr algn="just"/>
            <a:r>
              <a:rPr lang="en-US" altLang="zh-CN" b="1" dirty="0"/>
              <a:t>10.5 </a:t>
            </a:r>
            <a:r>
              <a:rPr lang="zh-CN" altLang="en-US" b="1" dirty="0">
                <a:latin typeface="宋体" panose="02010600030101010101" pitchFamily="2" charset="-122"/>
                <a:ea typeface="宋体" panose="02010600030101010101" pitchFamily="2" charset="-122"/>
              </a:rPr>
              <a:t>延伸阅读</a:t>
            </a:r>
          </a:p>
          <a:p>
            <a:endParaRPr lang="en-US" altLang="zh-CN" b="1" dirty="0"/>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17613" y="184626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口语语义理解</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语音是口语对话系统中最关键的输入，</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语音识别模块</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可以将输入的音频转换为其对应的文字信息。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这个模块是希望计算机能够</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正确</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地理解用户所说的话以及能够做出</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适当</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的回答。</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口语语义理解</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Spoken Language Understanding</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SLU</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）作为连接模块，将用户输入的文字信息转换成结构化的语义信息。</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2697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698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698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698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698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口语语义理解模块例子</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1</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用户</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Wingdings" panose="05000000000000000000" pitchFamily="2" charset="2"/>
              </a:rPr>
              <a:t></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“帮我查询下周西安的天气情况”</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模块把用户的语句解析为对应的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语义信息</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三个关键语义信息：“时间</a:t>
            </a:r>
            <a:r>
              <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下周”，“地点</a:t>
            </a:r>
            <a:r>
              <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西安”，“事件</a:t>
            </a:r>
            <a:r>
              <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天气状况”</a:t>
            </a:r>
            <a:endParaRPr kumimoji="1" lang="en-US" altLang="zh-CN"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p:txBody>
      </p:sp>
      <p:sp>
        <p:nvSpPr>
          <p:cNvPr id="12902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902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902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903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2903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口语语义理解模块例子</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2</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用户</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sym typeface="Wingdings" panose="05000000000000000000" pitchFamily="2" charset="2"/>
              </a:rPr>
              <a:t></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Show me flights from Boston to New York</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模块把用户的语句解析为对应的</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语义信息</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两个关键语义信息：</a:t>
            </a:r>
            <a:r>
              <a:rPr kumimoji="1"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华文新魏" panose="02010800040101010101" pitchFamily="2" charset="-122"/>
              </a:rPr>
              <a:t>fromloc.city</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 name=Boston, </a:t>
            </a:r>
            <a:r>
              <a:rPr kumimoji="1"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华文新魏" panose="02010800040101010101" pitchFamily="2" charset="-122"/>
              </a:rPr>
              <a:t>toloc.city</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 name=New York</a:t>
            </a: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265" marR="0" lvl="0" indent="-342900" algn="l" defTabSz="914400" rtl="0" eaLnBrk="1" fontAlgn="base" latinLnBrk="0" hangingPunct="1">
              <a:lnSpc>
                <a:spcPct val="110000"/>
              </a:lnSpc>
              <a:spcBef>
                <a:spcPct val="20000"/>
              </a:spcBef>
              <a:spcAft>
                <a:spcPct val="0"/>
              </a:spcAft>
              <a:buClr>
                <a:srgbClr val="3333CC"/>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以上两个例子通常是一个</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语义槽填充</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slot filling</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）任务，对句子中的每个字都分配一个预先定义的</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语义标签</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3107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107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107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107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107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口语对话系统的整体结构</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3312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312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312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312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312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pic>
        <p:nvPicPr>
          <p:cNvPr id="133128" name="图片 8"/>
          <p:cNvPicPr>
            <a:picLocks noChangeAspect="1"/>
          </p:cNvPicPr>
          <p:nvPr/>
        </p:nvPicPr>
        <p:blipFill>
          <a:blip r:embed="rId3"/>
          <a:stretch>
            <a:fillRect/>
          </a:stretch>
        </p:blipFill>
        <p:spPr>
          <a:xfrm>
            <a:off x="3546475" y="2381250"/>
            <a:ext cx="5099050" cy="3136900"/>
          </a:xfrm>
          <a:prstGeom prst="rect">
            <a:avLst/>
          </a:prstGeom>
          <a:noFill/>
          <a:ln w="9525">
            <a:noFill/>
          </a:ln>
        </p:spPr>
      </p:pic>
      <p:sp>
        <p:nvSpPr>
          <p:cNvPr id="133129" name="文本框 2"/>
          <p:cNvSpPr txBox="1"/>
          <p:nvPr/>
        </p:nvSpPr>
        <p:spPr>
          <a:xfrm>
            <a:off x="5591175" y="5862638"/>
            <a:ext cx="1617663" cy="368300"/>
          </a:xfrm>
          <a:prstGeom prst="rect">
            <a:avLst/>
          </a:prstGeom>
          <a:noFill/>
          <a:ln w="9525">
            <a:noFill/>
          </a:ln>
        </p:spPr>
        <p:txBody>
          <a:bodyPr anchor="t" anchorCtr="0">
            <a:spAutoFit/>
          </a:bodyPr>
          <a:lstStyle/>
          <a:p>
            <a:pPr>
              <a:buClrTx/>
              <a:buFontTx/>
            </a:pPr>
            <a:r>
              <a:rPr lang="zh-CN" altLang="en-US" b="1" dirty="0">
                <a:latin typeface="宋体" panose="02010600030101010101" pitchFamily="2" charset="-122"/>
                <a:ea typeface="宋体" panose="02010600030101010101" pitchFamily="2" charset="-122"/>
              </a:rPr>
              <a:t>口语对话系统</a:t>
            </a:r>
          </a:p>
        </p:txBody>
      </p:sp>
      <p:sp>
        <p:nvSpPr>
          <p:cNvPr id="133130" name="矩形 6"/>
          <p:cNvSpPr/>
          <p:nvPr/>
        </p:nvSpPr>
        <p:spPr>
          <a:xfrm>
            <a:off x="5621338" y="2759075"/>
            <a:ext cx="2082800" cy="1057275"/>
          </a:xfrm>
          <a:prstGeom prst="rect">
            <a:avLst/>
          </a:prstGeom>
          <a:noFill/>
          <a:ln w="19050" cap="flat" cmpd="sng">
            <a:solidFill>
              <a:srgbClr val="FF0000"/>
            </a:solidFill>
            <a:prstDash val="solid"/>
            <a:miter/>
            <a:headEnd type="none" w="med" len="med"/>
            <a:tailEnd type="none" w="med" len="med"/>
          </a:ln>
        </p:spPr>
        <p:txBody>
          <a:bodyPr wrap="none" anchor="t" anchorCtr="0"/>
          <a:lstStyle/>
          <a:p>
            <a:pPr>
              <a:buClrTx/>
              <a:buFontTx/>
            </a:pPr>
            <a:endParaRPr lang="zh-CN" altLang="en-US" sz="2400" dirty="0">
              <a:latin typeface="Times New Roman" panose="02020603050405020304" pitchFamily="18" charset="0"/>
              <a:ea typeface="楷体_GB2312" panose="02010609030101010101" charset="-122"/>
            </a:endParaRP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半监督口语语义理解</a:t>
            </a:r>
            <a:endPar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为了获得较好的性能，需要</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大量的</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标记数据。</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由于数据标记的过程需要大量人工成本和时间成本。只有十分</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有限</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的标记数据可以被用于监督学习。</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标记样本的</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缺少</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往往会导致一个</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局部最优</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的结果。</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为了降低这种局限性，希望利用</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半监督学习</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来对这些未标记数据进行有效的利用。</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3517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517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517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517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517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对抗多任务</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的口语语义理解</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一种针对 </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SLU </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半监督训练的对抗多任务学习方法</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把一个</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双向语言模型</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和语义标注模型结合在一起，有效减轻对标注数据的</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依赖性</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双向语言模型作为</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第二目标</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被用于从大量</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未标记数据</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中来学习广泛的无监督知识，从而提高性能。</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提出了一种</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共享</a:t>
            </a:r>
            <a:r>
              <a:rPr kumimoji="1" lang="en-US" altLang="zh-CN"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私有模型</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shared-private model</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SPM</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），更好地改善并泛化 </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SLU </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模型。</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3721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722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722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722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722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共享</a:t>
            </a:r>
            <a:r>
              <a:rPr kumimoji="1" lang="en-US" altLang="zh-CN"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zh-CN" altLang="en-US" sz="2800" b="1" i="0" u="none" strike="noStrike" kern="0" cap="none" spc="0" normalizeH="0" baseline="0" noProof="0" dirty="0">
                <a:ln>
                  <a:noFill/>
                </a:ln>
                <a:solidFill>
                  <a:srgbClr val="FF0000"/>
                </a:solidFill>
                <a:effectLst/>
                <a:uLnTx/>
                <a:uFillTx/>
                <a:latin typeface="宋体" panose="02010600030101010101" pitchFamily="2" charset="-122"/>
                <a:ea typeface="宋体" panose="02010600030101010101" pitchFamily="2" charset="-122"/>
                <a:cs typeface="华文新魏" panose="02010800040101010101" pitchFamily="2" charset="-122"/>
              </a:rPr>
              <a:t>私有模型</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shared-private model</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SPM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SLU </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模型和双向语言模型通过一个</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共享空间</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和</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两个任务</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独立的私有空间结合在一起。</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提出了</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对抗任务判别器。</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判断</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共享特征服务的任务。</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共享空间会保存任务的无关信息来</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混淆</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任务判别器。</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任务判别器为</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每个字或每句话</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预测任务指示的可能性。</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3926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926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926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927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3927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10.4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应用实例</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小结</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研究人员证明了其提出的方法在给出的数据集上</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显著提高</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了半监督学习性能。</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该模型使得语义标注模型</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更具一般性</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，且当标注数据</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显著多余</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无标注数据时，半监督学习方法更加的有效。</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4131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131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131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131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131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p:cNvSpPr>
          <p:nvPr>
            <p:ph type="title"/>
          </p:nvPr>
        </p:nvSpPr>
        <p:spPr>
          <a:xfrm>
            <a:off x="1103313" y="404813"/>
            <a:ext cx="10390187" cy="1143000"/>
          </a:xfrm>
        </p:spPr>
        <p:txBody>
          <a:bodyPr vert="horz" wrap="square" lIns="91440" tIns="45720" rIns="91440" bIns="45720" anchor="b" anchorCtr="0"/>
          <a:lstStyle/>
          <a:p>
            <a:r>
              <a:rPr lang="zh-CN" altLang="zh-CN" dirty="0"/>
              <a:t>目录</a:t>
            </a:r>
            <a:endParaRPr lang="en-US" altLang="zh-CN" dirty="0"/>
          </a:p>
        </p:txBody>
      </p:sp>
      <p:sp>
        <p:nvSpPr>
          <p:cNvPr id="143362" name="Rectangle 3"/>
          <p:cNvSpPr>
            <a:spLocks noGrp="1"/>
          </p:cNvSpPr>
          <p:nvPr>
            <p:ph idx="1"/>
          </p:nvPr>
        </p:nvSpPr>
        <p:spPr>
          <a:xfrm>
            <a:off x="1103313" y="1700213"/>
            <a:ext cx="10363200" cy="4608512"/>
          </a:xfrm>
        </p:spPr>
        <p:txBody>
          <a:bodyPr vert="horz" wrap="square" lIns="91440" tIns="45720" rIns="91440" bIns="45720" anchor="t" anchorCtr="0"/>
          <a:lstStyle/>
          <a:p>
            <a:pPr algn="just"/>
            <a:endParaRPr lang="en-US" altLang="zh-CN" b="1" dirty="0"/>
          </a:p>
          <a:p>
            <a:pPr algn="just"/>
            <a:r>
              <a:rPr lang="en-US" altLang="zh-CN" b="1" dirty="0"/>
              <a:t>10.1 </a:t>
            </a:r>
            <a:r>
              <a:rPr lang="zh-CN" altLang="zh-CN" b="1" dirty="0">
                <a:ea typeface="宋体" panose="02010600030101010101" pitchFamily="2" charset="-122"/>
              </a:rPr>
              <a:t>半监督学习</a:t>
            </a:r>
            <a:endParaRPr lang="en-US" altLang="zh-CN" b="1" dirty="0">
              <a:ea typeface="宋体" panose="02010600030101010101" pitchFamily="2" charset="-122"/>
            </a:endParaRPr>
          </a:p>
          <a:p>
            <a:pPr algn="just"/>
            <a:r>
              <a:rPr lang="en-US" altLang="zh-CN" b="1" dirty="0">
                <a:ea typeface="宋体" panose="02010600030101010101" pitchFamily="2" charset="-122"/>
              </a:rPr>
              <a:t>10.2 </a:t>
            </a:r>
            <a:r>
              <a:rPr lang="zh-CN" altLang="en-US" b="1" dirty="0">
                <a:ea typeface="宋体" panose="02010600030101010101" pitchFamily="2" charset="-122"/>
              </a:rPr>
              <a:t>半监督分类</a:t>
            </a:r>
            <a:endParaRPr lang="zh-CN" altLang="en-US" b="1" dirty="0"/>
          </a:p>
          <a:p>
            <a:pPr algn="just"/>
            <a:r>
              <a:rPr lang="en-US" altLang="zh-CN" b="1" dirty="0">
                <a:ea typeface="宋体" panose="02010600030101010101" pitchFamily="2" charset="-122"/>
              </a:rPr>
              <a:t>10.3 </a:t>
            </a:r>
            <a:r>
              <a:rPr lang="zh-CN" altLang="en-US" b="1" dirty="0">
                <a:ea typeface="宋体" panose="02010600030101010101" pitchFamily="2" charset="-122"/>
              </a:rPr>
              <a:t>半监督聚类</a:t>
            </a:r>
            <a:endParaRPr lang="en-US" altLang="zh-CN" b="1" dirty="0">
              <a:ea typeface="宋体" panose="02010600030101010101" pitchFamily="2" charset="-122"/>
            </a:endParaRPr>
          </a:p>
          <a:p>
            <a:pPr algn="just"/>
            <a:r>
              <a:rPr lang="en-US" altLang="zh-CN" b="1" dirty="0">
                <a:ea typeface="宋体" panose="02010600030101010101" pitchFamily="2" charset="-122"/>
              </a:rPr>
              <a:t>10.4 </a:t>
            </a:r>
            <a:r>
              <a:rPr lang="zh-CN" altLang="zh-CN" b="1" dirty="0">
                <a:ea typeface="宋体" panose="02010600030101010101" pitchFamily="2" charset="-122"/>
              </a:rPr>
              <a:t>应用实例</a:t>
            </a:r>
            <a:endParaRPr lang="en-US" altLang="zh-CN" b="1" dirty="0">
              <a:ea typeface="宋体" panose="02010600030101010101" pitchFamily="2" charset="-122"/>
            </a:endParaRPr>
          </a:p>
          <a:p>
            <a:pPr algn="just"/>
            <a:r>
              <a:rPr lang="en-US" altLang="zh-CN" b="1" dirty="0"/>
              <a:t>10.5 </a:t>
            </a:r>
            <a:r>
              <a:rPr lang="zh-CN" altLang="en-US" b="1" dirty="0">
                <a:solidFill>
                  <a:srgbClr val="FF0000"/>
                </a:solidFill>
                <a:latin typeface="宋体" panose="02010600030101010101" pitchFamily="2" charset="-122"/>
                <a:ea typeface="宋体" panose="02010600030101010101" pitchFamily="2" charset="-122"/>
              </a:rPr>
              <a:t>延伸阅读</a:t>
            </a:r>
          </a:p>
          <a:p>
            <a:endParaRPr lang="en-US" altLang="zh-CN" b="1" dirty="0"/>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半监督学习的涉及领域</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自然语言处理</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神经科学</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图像识别</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4438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438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438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439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439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自然语言处理</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命名实体识别（</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NER</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标记数据的获取成本往往都比较高。</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2011</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年，</a:t>
            </a:r>
            <a:r>
              <a:rPr kumimoji="1" lang="en-US" altLang="zh-CN" sz="2400" b="1" i="0" u="none" strike="noStrike" kern="0" cap="none" spc="0" normalizeH="0" baseline="0" noProof="0" dirty="0" err="1">
                <a:ln>
                  <a:noFill/>
                </a:ln>
                <a:solidFill>
                  <a:schemeClr val="tx1"/>
                </a:solidFill>
                <a:effectLst/>
                <a:uLnTx/>
                <a:uFillTx/>
                <a:latin typeface="+mn-lt"/>
                <a:ea typeface="宋体" panose="02010600030101010101" pitchFamily="2" charset="-122"/>
                <a:cs typeface="华文新魏" panose="02010800040101010101" pitchFamily="2" charset="-122"/>
              </a:rPr>
              <a:t>Xiaohua</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 Liu</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等人研究出了如何建立一种</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半监督学习</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的模型来对使用非正式语言的推特消息（</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Tweet</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）进行命名实体识别。</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作者以</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Tweet</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为研究对象，提出了一种基于</a:t>
            </a:r>
            <a:r>
              <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Bootstrapping</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的半监督学习方案。</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4643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643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643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643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643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基于</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Bootstrapping</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的半监督学习方案</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一种经典的半监督学习方法，通过从大量的</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非标注文本</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中进行学习和补充，来提高训练数据集的规模。</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4848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848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848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848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4848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神经科学</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从人类的大脑中获得灵感，且结合半监督学习创造出了一种新的</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深度学习方法</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在该研究中，使用了最近开发的</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深度渲染混合模型</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Deep Rendering Mixture Model, DRMM</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5053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053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053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053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0535"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深度渲染混合模型（</a:t>
            </a:r>
            <a:r>
              <a:rPr kumimoji="1" lang="en-US" altLang="zh-CN"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Deep Rendering Mixture Model, DRMM</a:t>
            </a: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it-IT"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概率生成模型（</a:t>
            </a:r>
            <a:r>
              <a:rPr kumimoji="1" lang="it-IT"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Probabilistic Generative Model</a:t>
            </a:r>
            <a:r>
              <a:rPr kumimoji="1" lang="zh-CN" altLang="it-IT"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3333CC"/>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模型优化与表现</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EM</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算法使能够同时从标记数据和未标记数据中学习。</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在 </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MNIST </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和 </a:t>
            </a:r>
            <a:r>
              <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SVHN </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数据集上，该方法实现了最佳表现。</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5257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258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2581"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2582"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2583"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图像识别</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精细识别（细粒度）</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标记</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精细</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样本的类别是昂贵的，算法的精细分类能力也非常有限。</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适应性一直不被重视，因而导致图片标记非常昂贵。在这种情况下，许多类别相关的知识以</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分层</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的形式互相关联。</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斯坦福大学李飞飞团队提出了一种半监督</a:t>
            </a:r>
            <a:r>
              <a:rPr kumimoji="1" lang="zh-CN" altLang="en-US" sz="24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适应性</a:t>
            </a:r>
            <a:r>
              <a:rPr kumimoji="1" lang="zh-CN" altLang="en-US"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模型。</a:t>
            </a: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683895" marR="0" lvl="0" indent="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None/>
              <a:defRPr/>
            </a:pPr>
            <a:endParaRPr kumimoji="1" lang="en-US" altLang="zh-CN" sz="24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5462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462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4629"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4630"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4631"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904875" y="2740819"/>
            <a:ext cx="10704513" cy="1776412"/>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半监督适应性模型</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提出了新的</a:t>
            </a:r>
            <a:r>
              <a:rPr kumimoji="1" lang="zh-CN" altLang="en-US" sz="2800" b="1" i="0" u="none" strike="noStrike" kern="0" cap="none" spc="0" normalizeH="0" baseline="0" noProof="0" dirty="0">
                <a:ln>
                  <a:noFill/>
                </a:ln>
                <a:solidFill>
                  <a:srgbClr val="FF0000"/>
                </a:solidFill>
                <a:effectLst/>
                <a:uLnTx/>
                <a:uFillTx/>
                <a:latin typeface="+mn-lt"/>
                <a:ea typeface="宋体" panose="02010600030101010101" pitchFamily="2" charset="-122"/>
                <a:cs typeface="华文新魏" panose="02010800040101010101" pitchFamily="2" charset="-122"/>
              </a:rPr>
              <a:t>多任务</a:t>
            </a: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适应方法，可以从已知的跨类别关系中受益。</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在富有挑战性的细粒度数据子集上有了性能的提升。</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5667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667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6677"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6678"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6679"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503488" y="557213"/>
            <a:ext cx="7793038" cy="1143000"/>
          </a:xfrm>
          <a:prstGeom prst="rect">
            <a:avLst/>
          </a:prstGeom>
          <a:noFill/>
          <a:ln w="9525">
            <a:noFill/>
            <a:miter lim="800000"/>
          </a:ln>
        </p:spPr>
        <p:txBody>
          <a:bodyPr anchor="b"/>
          <a:lstStyle/>
          <a:p>
            <a:pPr marR="0" algn="ctr" defTabSz="914400" fontAlgn="auto">
              <a:spcBef>
                <a:spcPts val="0"/>
              </a:spcBef>
              <a:spcAft>
                <a:spcPts val="0"/>
              </a:spcAft>
              <a:buClrTx/>
              <a:buSzTx/>
              <a:buFontTx/>
              <a:buNone/>
              <a:defRPr/>
            </a:pPr>
            <a:r>
              <a:rPr kumimoji="1" lang="en-US" altLang="zh-CN"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10.5 </a:t>
            </a:r>
            <a:r>
              <a:rPr kumimoji="1" lang="zh-CN" altLang="en-US" sz="3600" b="1" kern="1200" cap="none" spc="0" normalizeH="0" baseline="0" noProof="0" dirty="0">
                <a:solidFill>
                  <a:srgbClr val="0000CC"/>
                </a:solidFill>
                <a:effectLst>
                  <a:outerShdw blurRad="38100" dist="38100" dir="2700000" algn="tl">
                    <a:srgbClr val="C0C0C0"/>
                  </a:outerShdw>
                </a:effectLst>
                <a:latin typeface="宋体" panose="02010600030101010101" pitchFamily="2" charset="-122"/>
                <a:ea typeface="宋体" panose="02010600030101010101" pitchFamily="2" charset="-122"/>
                <a:cs typeface="Times New Roman" panose="02020603050405020304" pitchFamily="18" charset="0"/>
              </a:rPr>
              <a:t>延伸阅读</a:t>
            </a:r>
          </a:p>
        </p:txBody>
      </p:sp>
      <p:sp>
        <p:nvSpPr>
          <p:cNvPr id="6" name="Rectangle 3"/>
          <p:cNvSpPr txBox="1">
            <a:spLocks noChangeArrowheads="1"/>
          </p:cNvSpPr>
          <p:nvPr/>
        </p:nvSpPr>
        <p:spPr bwMode="auto">
          <a:xfrm>
            <a:off x="1255713" y="1852613"/>
            <a:ext cx="10363200" cy="4608513"/>
          </a:xfrm>
          <a:prstGeom prst="rect">
            <a:avLst/>
          </a:prstGeom>
          <a:noFill/>
          <a:ln>
            <a:noFill/>
          </a:ln>
        </p:spPr>
        <p:txBody>
          <a:bodyPr/>
          <a:lst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kumimoji="1" sz="3200">
                <a:solidFill>
                  <a:schemeClr val="tx1"/>
                </a:solidFill>
                <a:latin typeface="+mn-lt"/>
                <a:ea typeface="+mn-ea"/>
                <a:cs typeface="华文新魏" panose="02010800040101010101" pitchFamily="2" charset="-122"/>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kumimoji="1" sz="2800">
                <a:solidFill>
                  <a:schemeClr val="tx1"/>
                </a:solidFill>
                <a:latin typeface="+mn-lt"/>
                <a:ea typeface="+mn-ea"/>
                <a:cs typeface="华文新魏" panose="02010800040101010101" pitchFamily="2" charset="-122"/>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kumimoji="1" sz="2400">
                <a:solidFill>
                  <a:schemeClr val="tx1"/>
                </a:solidFill>
                <a:latin typeface="+mn-lt"/>
                <a:ea typeface="+mn-ea"/>
                <a:cs typeface="华文新魏" panose="02010800040101010101" pitchFamily="2" charset="-122"/>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cs typeface="华文新魏" panose="02010800040101010101" pitchFamily="2" charset="-122"/>
              </a:defRPr>
            </a:lvl5pPr>
            <a:lvl6pPr marL="25146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a:lstStyle>
          <a:p>
            <a:pPr marL="342900" marR="0" lvl="0" indent="-342900" algn="l" defTabSz="914400" rtl="0" eaLnBrk="1" fontAlgn="base" latinLnBrk="0" hangingPunct="1">
              <a:lnSpc>
                <a:spcPct val="110000"/>
              </a:lnSpc>
              <a:spcBef>
                <a:spcPct val="20000"/>
              </a:spcBef>
              <a:spcAft>
                <a:spcPct val="0"/>
              </a:spcAft>
              <a:buClr>
                <a:schemeClr val="folHlink"/>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宋体" panose="02010600030101010101" pitchFamily="2" charset="-122"/>
                <a:ea typeface="宋体" panose="02010600030101010101" pitchFamily="2" charset="-122"/>
                <a:cs typeface="华文新魏" panose="02010800040101010101" pitchFamily="2" charset="-122"/>
              </a:rPr>
              <a:t>小结</a:t>
            </a: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半监督学习在各个领域都取得了令人振奋的发展。</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半监督实际上是一种思想，可以与许多的算法相结合。</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r>
              <a:rPr kumimoji="1"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rPr>
              <a:t>能够理解且灵活应用这种思想。</a:t>
            </a: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a:p>
            <a:pPr marL="342900" marR="0" lvl="0" indent="342900" algn="l" defTabSz="914400" rtl="0" eaLnBrk="1" fontAlgn="base" latinLnBrk="0" hangingPunct="1">
              <a:lnSpc>
                <a:spcPct val="110000"/>
              </a:lnSpc>
              <a:spcBef>
                <a:spcPct val="20000"/>
              </a:spcBef>
              <a:spcAft>
                <a:spcPct val="0"/>
              </a:spcAft>
              <a:buClr>
                <a:srgbClr val="FF0000"/>
              </a:buClr>
              <a:buSzPct val="60000"/>
              <a:buFont typeface="Wingdings" panose="05000000000000000000" pitchFamily="2" charset="2"/>
              <a:buChar char="n"/>
              <a:defRPr/>
            </a:pPr>
            <a:endParaRPr kumimoji="1" lang="en-US" altLang="zh-CN" sz="2800" b="1" i="0" u="none" strike="noStrike" kern="0" cap="none" spc="0" normalizeH="0" baseline="0" noProof="0" dirty="0">
              <a:ln>
                <a:noFill/>
              </a:ln>
              <a:solidFill>
                <a:schemeClr val="tx1"/>
              </a:solidFill>
              <a:effectLst/>
              <a:uLnTx/>
              <a:uFillTx/>
              <a:latin typeface="+mn-lt"/>
              <a:ea typeface="宋体" panose="02010600030101010101" pitchFamily="2" charset="-122"/>
              <a:cs typeface="华文新魏" panose="02010800040101010101" pitchFamily="2" charset="-122"/>
            </a:endParaRPr>
          </a:p>
        </p:txBody>
      </p:sp>
      <p:sp>
        <p:nvSpPr>
          <p:cNvPr id="158723"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8724"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8725" name="Rectangle 2"/>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8726" name="Rectangle 4"/>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
        <p:nvSpPr>
          <p:cNvPr id="158727" name="Rectangle 15"/>
          <p:cNvSpPr/>
          <p:nvPr/>
        </p:nvSpPr>
        <p:spPr>
          <a:xfrm>
            <a:off x="0" y="0"/>
            <a:ext cx="12192000" cy="0"/>
          </a:xfrm>
          <a:prstGeom prst="rect">
            <a:avLst/>
          </a:prstGeom>
          <a:noFill/>
          <a:ln w="9525">
            <a:noFill/>
          </a:ln>
        </p:spPr>
        <p:txBody>
          <a:bodyPr wrap="none" anchor="ctr" anchorCtr="0">
            <a:spAutoFit/>
          </a:bodyPr>
          <a:lstStyle/>
          <a:p>
            <a:pPr>
              <a:buClrTx/>
              <a:buFontTx/>
            </a:pPr>
            <a:endParaRPr lang="zh-CN" altLang="en-US" dirty="0">
              <a:latin typeface="Times New Roman" panose="02020603050405020304" pitchFamily="18" charset="0"/>
              <a:ea typeface="华文新魏" panose="02010800040101010101" pitchFamily="2" charset="-122"/>
            </a:endParaRP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48328" y="0"/>
            <a:ext cx="12095343" cy="6858000"/>
          </a:xfrm>
          <a:prstGeom prst="rect">
            <a:avLst/>
          </a:prstGeom>
        </p:spPr>
      </p:pic>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12209" y="2275370"/>
            <a:ext cx="11542182" cy="2882417"/>
          </a:xfrm>
          <a:prstGeom prst="rect">
            <a:avLst/>
          </a:prstGeom>
        </p:spPr>
      </p:pic>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733425" y="186489"/>
            <a:ext cx="10563225" cy="6671511"/>
          </a:xfrm>
          <a:prstGeom prst="rect">
            <a:avLst/>
          </a:prstGeom>
        </p:spPr>
      </p:pic>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60998" y="242887"/>
            <a:ext cx="4896706" cy="5953125"/>
          </a:xfrm>
          <a:prstGeom prst="rect">
            <a:avLst/>
          </a:prstGeom>
        </p:spPr>
      </p:pic>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2276475" y="-97497"/>
            <a:ext cx="6877050" cy="3411372"/>
          </a:xfrm>
          <a:prstGeom prst="rect">
            <a:avLst/>
          </a:prstGeom>
        </p:spPr>
      </p:pic>
      <p:pic>
        <p:nvPicPr>
          <p:cNvPr id="5" name="图片 4"/>
          <p:cNvPicPr>
            <a:picLocks noChangeAspect="1"/>
          </p:cNvPicPr>
          <p:nvPr/>
        </p:nvPicPr>
        <p:blipFill>
          <a:blip r:embed="rId3"/>
          <a:stretch>
            <a:fillRect/>
          </a:stretch>
        </p:blipFill>
        <p:spPr>
          <a:xfrm>
            <a:off x="2343150" y="3313875"/>
            <a:ext cx="6575971" cy="3262497"/>
          </a:xfrm>
          <a:prstGeom prst="rect">
            <a:avLst/>
          </a:prstGeom>
        </p:spPr>
      </p:pic>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414603" y="228600"/>
            <a:ext cx="9362793" cy="6184933"/>
          </a:xfrm>
          <a:prstGeom prst="rect">
            <a:avLst/>
          </a:prstGeom>
        </p:spPr>
      </p:pic>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285937" y="0"/>
            <a:ext cx="9620125" cy="6858000"/>
          </a:xfrm>
          <a:prstGeom prst="rect">
            <a:avLst/>
          </a:prstGeom>
        </p:spPr>
      </p:pic>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602729" y="714375"/>
            <a:ext cx="8074671" cy="5816853"/>
          </a:xfrm>
          <a:prstGeom prst="rect">
            <a:avLst/>
          </a:prstGeom>
        </p:spPr>
      </p:pic>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55575" y="1552576"/>
            <a:ext cx="3959225" cy="3709714"/>
          </a:xfrm>
          <a:prstGeom prst="rect">
            <a:avLst/>
          </a:prstGeom>
        </p:spPr>
      </p:pic>
      <p:pic>
        <p:nvPicPr>
          <p:cNvPr id="5" name="图片 4"/>
          <p:cNvPicPr>
            <a:picLocks noChangeAspect="1"/>
          </p:cNvPicPr>
          <p:nvPr/>
        </p:nvPicPr>
        <p:blipFill>
          <a:blip r:embed="rId3"/>
          <a:stretch>
            <a:fillRect/>
          </a:stretch>
        </p:blipFill>
        <p:spPr>
          <a:xfrm>
            <a:off x="4102775" y="1616076"/>
            <a:ext cx="3832900" cy="3510420"/>
          </a:xfrm>
          <a:prstGeom prst="rect">
            <a:avLst/>
          </a:prstGeom>
        </p:spPr>
      </p:pic>
      <p:pic>
        <p:nvPicPr>
          <p:cNvPr id="6" name="图片 5"/>
          <p:cNvPicPr>
            <a:picLocks noChangeAspect="1"/>
          </p:cNvPicPr>
          <p:nvPr/>
        </p:nvPicPr>
        <p:blipFill>
          <a:blip r:embed="rId4"/>
          <a:stretch>
            <a:fillRect/>
          </a:stretch>
        </p:blipFill>
        <p:spPr>
          <a:xfrm>
            <a:off x="7991751" y="1648390"/>
            <a:ext cx="3758007" cy="3478106"/>
          </a:xfrm>
          <a:prstGeom prst="rect">
            <a:avLst/>
          </a:prstGeom>
        </p:spPr>
      </p:pic>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7CEDFE4D-050B-4575-90E9-8EBABDB60A8F}"/>
              </a:ext>
            </a:extLst>
          </p:cNvPr>
          <p:cNvSpPr txBox="1"/>
          <p:nvPr/>
        </p:nvSpPr>
        <p:spPr>
          <a:xfrm>
            <a:off x="348200" y="181770"/>
            <a:ext cx="11495599" cy="5444888"/>
          </a:xfrm>
          <a:prstGeom prst="rect">
            <a:avLst/>
          </a:prstGeom>
          <a:solidFill>
            <a:schemeClr val="bg2">
              <a:lumMod val="10000"/>
              <a:lumOff val="90000"/>
            </a:schemeClr>
          </a:solidFill>
        </p:spPr>
        <p:txBody>
          <a:bodyPr wrap="square">
            <a:spAutoFit/>
          </a:bodyPr>
          <a:lstStyle/>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1</a:t>
            </a:r>
            <a:r>
              <a:rPr lang="zh-CN" altLang="en-US" b="1" dirty="0">
                <a:latin typeface="微软雅黑" panose="020B0503020204020204" pitchFamily="34" charset="-122"/>
                <a:ea typeface="微软雅黑" panose="020B0503020204020204" pitchFamily="34" charset="-122"/>
              </a:rPr>
              <a:t>：传统假设驱动（</a:t>
            </a:r>
            <a:r>
              <a:rPr lang="en-US" altLang="zh-CN" b="1" dirty="0">
                <a:latin typeface="微软雅黑" panose="020B0503020204020204" pitchFamily="34" charset="-122"/>
                <a:ea typeface="微软雅黑" panose="020B0503020204020204" pitchFamily="34" charset="-122"/>
              </a:rPr>
              <a:t>2000–2010</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特点：基于统计假设，方法依赖局部一致性或低维流形</a:t>
            </a:r>
            <a:r>
              <a:rPr lang="zh-CN" altLang="en-US" b="1" dirty="0">
                <a:latin typeface="微软雅黑" panose="020B0503020204020204" pitchFamily="34" charset="-122"/>
                <a:ea typeface="微软雅黑" panose="020B0503020204020204" pitchFamily="34" charset="-122"/>
              </a:rPr>
              <a:t>，代表方法：</a:t>
            </a:r>
            <a:r>
              <a:rPr lang="en-US" altLang="zh-CN" b="1" dirty="0">
                <a:latin typeface="微软雅黑" panose="020B0503020204020204" pitchFamily="34" charset="-122"/>
                <a:ea typeface="微软雅黑" panose="020B0503020204020204" pitchFamily="34" charset="-122"/>
              </a:rPr>
              <a:t>Self-Training / Co-</a:t>
            </a:r>
            <a:r>
              <a:rPr lang="en-US" altLang="zh-CN" b="1" dirty="0" err="1">
                <a:latin typeface="微软雅黑" panose="020B0503020204020204" pitchFamily="34" charset="-122"/>
                <a:ea typeface="微软雅黑" panose="020B0503020204020204" pitchFamily="34" charset="-122"/>
              </a:rPr>
              <a:t>TrainingTSVM</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Transductive</a:t>
            </a:r>
            <a:r>
              <a:rPr lang="en-US" altLang="zh-CN" b="1" dirty="0">
                <a:latin typeface="微软雅黑" panose="020B0503020204020204" pitchFamily="34" charset="-122"/>
                <a:ea typeface="微软雅黑" panose="020B0503020204020204" pitchFamily="34" charset="-122"/>
              </a:rPr>
              <a:t> SVM</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Graph-based SSL</a:t>
            </a: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2</a:t>
            </a:r>
            <a:r>
              <a:rPr lang="zh-CN" altLang="en-US" b="1" dirty="0">
                <a:latin typeface="微软雅黑" panose="020B0503020204020204" pitchFamily="34" charset="-122"/>
                <a:ea typeface="微软雅黑" panose="020B0503020204020204" pitchFamily="34" charset="-122"/>
              </a:rPr>
              <a:t>：深度学习复兴（</a:t>
            </a:r>
            <a:r>
              <a:rPr lang="en-US" altLang="zh-CN" b="1" dirty="0">
                <a:latin typeface="微软雅黑" panose="020B0503020204020204" pitchFamily="34" charset="-122"/>
                <a:ea typeface="微软雅黑" panose="020B0503020204020204" pitchFamily="34" charset="-122"/>
              </a:rPr>
              <a:t>2014–2018</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特点：深度网络增强表征能力核心思想：伪标签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一致性正则</a:t>
            </a:r>
            <a:r>
              <a:rPr lang="zh-CN" altLang="en-US" b="1" dirty="0">
                <a:latin typeface="微软雅黑" panose="020B0503020204020204" pitchFamily="34" charset="-122"/>
                <a:ea typeface="微软雅黑" panose="020B0503020204020204" pitchFamily="34" charset="-122"/>
              </a:rPr>
              <a:t>，代表方法：</a:t>
            </a:r>
            <a:r>
              <a:rPr lang="en-US" altLang="zh-CN" b="1" dirty="0">
                <a:latin typeface="微软雅黑" panose="020B0503020204020204" pitchFamily="34" charset="-122"/>
                <a:ea typeface="微软雅黑" panose="020B0503020204020204" pitchFamily="34" charset="-122"/>
              </a:rPr>
              <a:t>Pseudo-Labeling</a:t>
            </a:r>
            <a:r>
              <a:rPr lang="zh-CN" altLang="en-US" b="1" dirty="0">
                <a:latin typeface="微软雅黑" panose="020B0503020204020204" pitchFamily="34" charset="-122"/>
                <a:ea typeface="微软雅黑" panose="020B0503020204020204" pitchFamily="34" charset="-122"/>
              </a:rPr>
              <a:t>、</a:t>
            </a:r>
            <a:r>
              <a:rPr lang="el-GR" altLang="zh-CN" b="1" dirty="0">
                <a:latin typeface="微软雅黑" panose="020B0503020204020204" pitchFamily="34" charset="-122"/>
                <a:ea typeface="微软雅黑" panose="020B0503020204020204" pitchFamily="34" charset="-122"/>
              </a:rPr>
              <a:t>Π-</a:t>
            </a:r>
            <a:r>
              <a:rPr lang="en-US" altLang="zh-CN" b="1" dirty="0">
                <a:latin typeface="微软雅黑" panose="020B0503020204020204" pitchFamily="34" charset="-122"/>
                <a:ea typeface="微软雅黑" panose="020B0503020204020204" pitchFamily="34" charset="-122"/>
              </a:rPr>
              <a:t>model / Mean Teacher</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Virtual Adversarial Training (VAT)</a:t>
            </a: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3</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Mix/Match </a:t>
            </a:r>
            <a:r>
              <a:rPr lang="zh-CN" altLang="en-US" b="1" dirty="0">
                <a:latin typeface="微软雅黑" panose="020B0503020204020204" pitchFamily="34" charset="-122"/>
                <a:ea typeface="微软雅黑" panose="020B0503020204020204" pitchFamily="34" charset="-122"/>
              </a:rPr>
              <a:t>系列（</a:t>
            </a:r>
            <a:r>
              <a:rPr lang="en-US" altLang="zh-CN" b="1" dirty="0">
                <a:latin typeface="微软雅黑" panose="020B0503020204020204" pitchFamily="34" charset="-122"/>
                <a:ea typeface="微软雅黑" panose="020B0503020204020204" pitchFamily="34" charset="-122"/>
              </a:rPr>
              <a:t>2019–2020</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特点：结合增强、伪标签和一致性正则，</a:t>
            </a:r>
            <a:r>
              <a:rPr lang="zh-CN" altLang="en-US" b="1" dirty="0">
                <a:latin typeface="微软雅黑" panose="020B0503020204020204" pitchFamily="34" charset="-122"/>
                <a:ea typeface="微软雅黑" panose="020B0503020204020204" pitchFamily="34" charset="-122"/>
              </a:rPr>
              <a:t>代表方法：</a:t>
            </a:r>
            <a:r>
              <a:rPr lang="en-US" altLang="zh-CN" b="1" dirty="0" err="1">
                <a:latin typeface="微软雅黑" panose="020B0503020204020204" pitchFamily="34" charset="-122"/>
                <a:ea typeface="微软雅黑" panose="020B0503020204020204" pitchFamily="34" charset="-122"/>
              </a:rPr>
              <a:t>MixMatch</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UDA</a:t>
            </a:r>
            <a:r>
              <a:rPr lang="zh-CN" altLang="en-US" b="1" dirty="0">
                <a:latin typeface="微软雅黑" panose="020B0503020204020204" pitchFamily="34" charset="-122"/>
                <a:ea typeface="微软雅黑" panose="020B0503020204020204" pitchFamily="34" charset="-122"/>
              </a:rPr>
              <a:t>、</a:t>
            </a:r>
            <a:r>
              <a:rPr lang="en-US" altLang="zh-CN" b="1" dirty="0" err="1">
                <a:latin typeface="微软雅黑" panose="020B0503020204020204" pitchFamily="34" charset="-122"/>
                <a:ea typeface="微软雅黑" panose="020B0503020204020204" pitchFamily="34" charset="-122"/>
              </a:rPr>
              <a:t>FixMatch</a:t>
            </a:r>
            <a:r>
              <a:rPr lang="zh-CN" altLang="en-US" b="1" dirty="0">
                <a:latin typeface="微软雅黑" panose="020B0503020204020204" pitchFamily="34" charset="-122"/>
                <a:ea typeface="微软雅黑" panose="020B0503020204020204" pitchFamily="34" charset="-122"/>
              </a:rPr>
              <a:t>（经典基线）</a:t>
            </a:r>
            <a:endParaRPr lang="en-US" altLang="zh-CN" b="1"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4</a:t>
            </a:r>
            <a:r>
              <a:rPr lang="zh-CN" altLang="en-US" b="1" dirty="0">
                <a:latin typeface="微软雅黑" panose="020B0503020204020204" pitchFamily="34" charset="-122"/>
                <a:ea typeface="微软雅黑" panose="020B0503020204020204" pitchFamily="34" charset="-122"/>
              </a:rPr>
              <a:t>：生成式与对比学习（</a:t>
            </a:r>
            <a:r>
              <a:rPr lang="en-US" altLang="zh-CN" b="1" dirty="0">
                <a:latin typeface="微软雅黑" panose="020B0503020204020204" pitchFamily="34" charset="-122"/>
                <a:ea typeface="微软雅黑" panose="020B0503020204020204" pitchFamily="34" charset="-122"/>
              </a:rPr>
              <a:t>2020–2022</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特点：利用自监督表征增强 </a:t>
            </a:r>
            <a:r>
              <a:rPr lang="en-US" altLang="zh-CN" b="1" dirty="0">
                <a:solidFill>
                  <a:srgbClr val="C00000"/>
                </a:solidFill>
                <a:latin typeface="微软雅黑" panose="020B0503020204020204" pitchFamily="34" charset="-122"/>
                <a:ea typeface="微软雅黑" panose="020B0503020204020204" pitchFamily="34" charset="-122"/>
              </a:rPr>
              <a:t>SSL</a:t>
            </a:r>
            <a:r>
              <a:rPr lang="zh-CN" altLang="en-US" b="1" dirty="0">
                <a:solidFill>
                  <a:srgbClr val="C00000"/>
                </a:solidFill>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代表方法：</a:t>
            </a:r>
            <a:r>
              <a:rPr lang="en-US" altLang="zh-CN" b="1" dirty="0">
                <a:latin typeface="微软雅黑" panose="020B0503020204020204" pitchFamily="34" charset="-122"/>
                <a:ea typeface="微软雅黑" panose="020B0503020204020204" pitchFamily="34" charset="-122"/>
              </a:rPr>
              <a:t>GAN / VAE SSL</a:t>
            </a:r>
            <a:r>
              <a:rPr lang="zh-CN" altLang="en-US" b="1" dirty="0">
                <a:latin typeface="微软雅黑" panose="020B0503020204020204" pitchFamily="34" charset="-122"/>
                <a:ea typeface="微软雅黑" panose="020B0503020204020204" pitchFamily="34" charset="-122"/>
              </a:rPr>
              <a:t>、</a:t>
            </a:r>
            <a:r>
              <a:rPr lang="en-US" altLang="zh-CN" b="1" dirty="0">
                <a:latin typeface="微软雅黑" panose="020B0503020204020204" pitchFamily="34" charset="-122"/>
                <a:ea typeface="微软雅黑" panose="020B0503020204020204" pitchFamily="34" charset="-122"/>
              </a:rPr>
              <a:t>Contrastive Learning + SSL</a:t>
            </a:r>
          </a:p>
          <a:p>
            <a:pPr marL="285750" indent="-285750">
              <a:lnSpc>
                <a:spcPct val="150000"/>
              </a:lnSpc>
              <a:buFont typeface="Wingdings" panose="05000000000000000000" pitchFamily="2" charset="2"/>
              <a:buChar char="p"/>
            </a:pPr>
            <a:r>
              <a:rPr lang="zh-CN" altLang="en-US" b="1" dirty="0">
                <a:latin typeface="微软雅黑" panose="020B0503020204020204" pitchFamily="34" charset="-122"/>
                <a:ea typeface="微软雅黑" panose="020B0503020204020204" pitchFamily="34" charset="-122"/>
              </a:rPr>
              <a:t>阶段 </a:t>
            </a:r>
            <a:r>
              <a:rPr lang="en-US" altLang="zh-CN" b="1" dirty="0">
                <a:latin typeface="微软雅黑" panose="020B0503020204020204" pitchFamily="34" charset="-122"/>
                <a:ea typeface="微软雅黑" panose="020B0503020204020204" pitchFamily="34" charset="-122"/>
              </a:rPr>
              <a:t>5</a:t>
            </a:r>
            <a:r>
              <a:rPr lang="zh-CN" altLang="en-US" b="1" dirty="0">
                <a:latin typeface="微软雅黑" panose="020B0503020204020204" pitchFamily="34" charset="-122"/>
                <a:ea typeface="微软雅黑" panose="020B0503020204020204" pitchFamily="34" charset="-122"/>
              </a:rPr>
              <a:t>：大模型时代（</a:t>
            </a:r>
            <a:r>
              <a:rPr lang="en-US" altLang="zh-CN" b="1" dirty="0">
                <a:latin typeface="微软雅黑" panose="020B0503020204020204" pitchFamily="34" charset="-122"/>
                <a:ea typeface="微软雅黑" panose="020B0503020204020204" pitchFamily="34" charset="-122"/>
              </a:rPr>
              <a:t>2022–</a:t>
            </a:r>
            <a:r>
              <a:rPr lang="zh-CN" altLang="en-US" b="1" dirty="0">
                <a:latin typeface="微软雅黑" panose="020B0503020204020204" pitchFamily="34" charset="-122"/>
                <a:ea typeface="微软雅黑" panose="020B0503020204020204" pitchFamily="34" charset="-122"/>
              </a:rPr>
              <a:t>至今）</a:t>
            </a:r>
            <a:endParaRPr lang="en-US" altLang="zh-CN" b="1" dirty="0">
              <a:latin typeface="微软雅黑" panose="020B0503020204020204" pitchFamily="34" charset="-122"/>
              <a:ea typeface="微软雅黑" panose="020B0503020204020204" pitchFamily="34" charset="-122"/>
            </a:endParaRPr>
          </a:p>
          <a:p>
            <a:pPr lvl="1">
              <a:lnSpc>
                <a:spcPct val="150000"/>
              </a:lnSpc>
            </a:pPr>
            <a:r>
              <a:rPr lang="zh-CN" altLang="en-US" b="1" dirty="0">
                <a:solidFill>
                  <a:srgbClr val="C00000"/>
                </a:solidFill>
                <a:latin typeface="微软雅黑" panose="020B0503020204020204" pitchFamily="34" charset="-122"/>
                <a:ea typeface="微软雅黑" panose="020B0503020204020204" pitchFamily="34" charset="-122"/>
              </a:rPr>
              <a:t>特点：</a:t>
            </a:r>
            <a:r>
              <a:rPr lang="en-US" altLang="zh-CN" b="1" dirty="0">
                <a:solidFill>
                  <a:srgbClr val="C00000"/>
                </a:solidFill>
                <a:latin typeface="微软雅黑" panose="020B0503020204020204" pitchFamily="34" charset="-122"/>
                <a:ea typeface="微软雅黑" panose="020B0503020204020204" pitchFamily="34" charset="-122"/>
              </a:rPr>
              <a:t>SSL </a:t>
            </a:r>
            <a:r>
              <a:rPr lang="zh-CN" altLang="en-US" b="1" dirty="0">
                <a:solidFill>
                  <a:srgbClr val="C00000"/>
                </a:solidFill>
                <a:latin typeface="微软雅黑" panose="020B0503020204020204" pitchFamily="34" charset="-122"/>
                <a:ea typeface="微软雅黑" panose="020B0503020204020204" pitchFamily="34" charset="-122"/>
              </a:rPr>
              <a:t>融合自监督预训练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少量标注 </a:t>
            </a:r>
            <a:r>
              <a:rPr lang="en-US" altLang="zh-CN" b="1" dirty="0">
                <a:solidFill>
                  <a:srgbClr val="C00000"/>
                </a:solidFill>
                <a:latin typeface="微软雅黑" panose="020B0503020204020204" pitchFamily="34" charset="-122"/>
                <a:ea typeface="微软雅黑" panose="020B0503020204020204" pitchFamily="34" charset="-122"/>
              </a:rPr>
              <a:t>+ </a:t>
            </a:r>
            <a:r>
              <a:rPr lang="zh-CN" altLang="en-US" b="1" dirty="0">
                <a:solidFill>
                  <a:srgbClr val="C00000"/>
                </a:solidFill>
                <a:latin typeface="微软雅黑" panose="020B0503020204020204" pitchFamily="34" charset="-122"/>
                <a:ea typeface="微软雅黑" panose="020B0503020204020204" pitchFamily="34" charset="-122"/>
              </a:rPr>
              <a:t>弱监督</a:t>
            </a:r>
            <a:r>
              <a:rPr lang="en-US" altLang="zh-CN" b="1" dirty="0">
                <a:solidFill>
                  <a:srgbClr val="C00000"/>
                </a:solidFill>
                <a:latin typeface="微软雅黑" panose="020B0503020204020204" pitchFamily="34" charset="-122"/>
                <a:ea typeface="微软雅黑" panose="020B0503020204020204" pitchFamily="34" charset="-122"/>
              </a:rPr>
              <a:t>/</a:t>
            </a:r>
            <a:r>
              <a:rPr lang="zh-CN" altLang="en-US" b="1" dirty="0">
                <a:solidFill>
                  <a:srgbClr val="C00000"/>
                </a:solidFill>
                <a:latin typeface="微软雅黑" panose="020B0503020204020204" pitchFamily="34" charset="-122"/>
                <a:ea typeface="微软雅黑" panose="020B0503020204020204" pitchFamily="34" charset="-122"/>
              </a:rPr>
              <a:t>零样本</a:t>
            </a:r>
            <a:endParaRPr lang="en-US" altLang="zh-CN" b="1" dirty="0">
              <a:solidFill>
                <a:srgbClr val="C00000"/>
              </a:solidFill>
              <a:latin typeface="微软雅黑" panose="020B0503020204020204" pitchFamily="34" charset="-122"/>
              <a:ea typeface="微软雅黑" panose="020B0503020204020204" pitchFamily="34" charset="-122"/>
            </a:endParaRPr>
          </a:p>
          <a:p>
            <a:pPr lvl="1">
              <a:lnSpc>
                <a:spcPct val="150000"/>
              </a:lnSpc>
            </a:pPr>
            <a:r>
              <a:rPr lang="zh-CN" altLang="en-US" b="1" dirty="0">
                <a:latin typeface="微软雅黑" panose="020B0503020204020204" pitchFamily="34" charset="-122"/>
                <a:ea typeface="微软雅黑" panose="020B0503020204020204" pitchFamily="34" charset="-122"/>
              </a:rPr>
              <a:t>代表应用：</a:t>
            </a:r>
            <a:r>
              <a:rPr lang="en-US" altLang="zh-CN" b="1" dirty="0">
                <a:latin typeface="微软雅黑" panose="020B0503020204020204" pitchFamily="34" charset="-122"/>
                <a:ea typeface="微软雅黑" panose="020B0503020204020204" pitchFamily="34" charset="-122"/>
              </a:rPr>
              <a:t>CLIP / MAE</a:t>
            </a:r>
            <a:r>
              <a:rPr lang="zh-CN" altLang="en-US" b="1" dirty="0">
                <a:latin typeface="微软雅黑" panose="020B0503020204020204" pitchFamily="34" charset="-122"/>
                <a:ea typeface="微软雅黑" panose="020B0503020204020204" pitchFamily="34" charset="-122"/>
              </a:rPr>
              <a:t>（视觉）</a:t>
            </a:r>
            <a:r>
              <a:rPr lang="en-US" altLang="zh-CN" b="1" dirty="0">
                <a:latin typeface="微软雅黑" panose="020B0503020204020204" pitchFamily="34" charset="-122"/>
                <a:ea typeface="微软雅黑" panose="020B0503020204020204" pitchFamily="34" charset="-122"/>
              </a:rPr>
              <a:t>LLM </a:t>
            </a:r>
            <a:r>
              <a:rPr lang="zh-CN" altLang="en-US" b="1" dirty="0">
                <a:latin typeface="微软雅黑" panose="020B0503020204020204" pitchFamily="34" charset="-122"/>
                <a:ea typeface="微软雅黑" panose="020B0503020204020204" pitchFamily="34" charset="-122"/>
              </a:rPr>
              <a:t>自监督 </a:t>
            </a:r>
            <a:r>
              <a:rPr lang="en-US" altLang="zh-CN" b="1" dirty="0">
                <a:latin typeface="微软雅黑" panose="020B0503020204020204" pitchFamily="34" charset="-122"/>
                <a:ea typeface="微软雅黑" panose="020B0503020204020204" pitchFamily="34" charset="-122"/>
              </a:rPr>
              <a:t>/ </a:t>
            </a:r>
            <a:r>
              <a:rPr lang="zh-CN" altLang="en-US" b="1" dirty="0">
                <a:latin typeface="微软雅黑" panose="020B0503020204020204" pitchFamily="34" charset="-122"/>
                <a:ea typeface="微软雅黑" panose="020B0503020204020204" pitchFamily="34" charset="-122"/>
              </a:rPr>
              <a:t>微调（文本）</a:t>
            </a:r>
          </a:p>
        </p:txBody>
      </p:sp>
      <p:sp>
        <p:nvSpPr>
          <p:cNvPr id="16" name="文本框 15">
            <a:extLst>
              <a:ext uri="{FF2B5EF4-FFF2-40B4-BE49-F238E27FC236}">
                <a16:creationId xmlns:a16="http://schemas.microsoft.com/office/drawing/2014/main" id="{C034BC34-1ED7-4771-A7C6-DF44087E7A75}"/>
              </a:ext>
            </a:extLst>
          </p:cNvPr>
          <p:cNvSpPr txBox="1"/>
          <p:nvPr/>
        </p:nvSpPr>
        <p:spPr>
          <a:xfrm>
            <a:off x="348200" y="5801823"/>
            <a:ext cx="11495599" cy="988925"/>
          </a:xfrm>
          <a:prstGeom prst="rect">
            <a:avLst/>
          </a:prstGeom>
          <a:solidFill>
            <a:schemeClr val="tx2">
              <a:lumMod val="60000"/>
              <a:lumOff val="40000"/>
            </a:schemeClr>
          </a:solidFill>
        </p:spPr>
        <p:txBody>
          <a:bodyPr wrap="square">
            <a:spAutoFit/>
          </a:bodyPr>
          <a:lstStyle/>
          <a:p>
            <a:pPr algn="ctr">
              <a:lnSpc>
                <a:spcPct val="140000"/>
              </a:lnSpc>
            </a:pPr>
            <a:r>
              <a:rPr lang="zh-CN" altLang="en-US" sz="2200" b="1" dirty="0">
                <a:solidFill>
                  <a:srgbClr val="FFFFFF"/>
                </a:solidFill>
                <a:latin typeface="微软雅黑" panose="020B0503020204020204" pitchFamily="34" charset="-122"/>
                <a:ea typeface="微软雅黑" panose="020B0503020204020204" pitchFamily="34" charset="-122"/>
              </a:rPr>
              <a:t>大模型利用</a:t>
            </a:r>
            <a:r>
              <a:rPr lang="zh-CN" altLang="en-US" sz="2200" b="1" u="sng" dirty="0">
                <a:solidFill>
                  <a:srgbClr val="FFFFFF"/>
                </a:solidFill>
                <a:latin typeface="微软雅黑" panose="020B0503020204020204" pitchFamily="34" charset="-122"/>
                <a:ea typeface="微软雅黑" panose="020B0503020204020204" pitchFamily="34" charset="-122"/>
              </a:rPr>
              <a:t>丰富的无标签数据</a:t>
            </a:r>
            <a:r>
              <a:rPr lang="zh-CN" altLang="en-US" sz="2200" b="1" dirty="0">
                <a:solidFill>
                  <a:srgbClr val="FFFFFF"/>
                </a:solidFill>
                <a:latin typeface="微软雅黑" panose="020B0503020204020204" pitchFamily="34" charset="-122"/>
                <a:ea typeface="微软雅黑" panose="020B0503020204020204" pitchFamily="34" charset="-122"/>
              </a:rPr>
              <a:t>和</a:t>
            </a:r>
            <a:r>
              <a:rPr lang="zh-CN" altLang="en-US" sz="2200" b="1" u="sng" dirty="0">
                <a:solidFill>
                  <a:srgbClr val="FFFFFF"/>
                </a:solidFill>
                <a:latin typeface="微软雅黑" panose="020B0503020204020204" pitchFamily="34" charset="-122"/>
                <a:ea typeface="微软雅黑" panose="020B0503020204020204" pitchFamily="34" charset="-122"/>
              </a:rPr>
              <a:t>预训练知识</a:t>
            </a:r>
            <a:r>
              <a:rPr lang="zh-CN" altLang="en-US" sz="2200" b="1" dirty="0">
                <a:solidFill>
                  <a:srgbClr val="FFFFFF"/>
                </a:solidFill>
                <a:latin typeface="微软雅黑" panose="020B0503020204020204" pitchFamily="34" charset="-122"/>
                <a:ea typeface="微软雅黑" panose="020B0503020204020204" pitchFamily="34" charset="-122"/>
              </a:rPr>
              <a:t>增强半监督学习的</a:t>
            </a:r>
            <a:r>
              <a:rPr lang="zh-CN" altLang="en-US" sz="2200" b="1" u="sng" dirty="0">
                <a:solidFill>
                  <a:srgbClr val="FFFFFF"/>
                </a:solidFill>
                <a:latin typeface="微软雅黑" panose="020B0503020204020204" pitchFamily="34" charset="-122"/>
                <a:ea typeface="微软雅黑" panose="020B0503020204020204" pitchFamily="34" charset="-122"/>
              </a:rPr>
              <a:t>泛化能力</a:t>
            </a:r>
            <a:r>
              <a:rPr lang="zh-CN" altLang="en-US" sz="2200" b="1" dirty="0">
                <a:solidFill>
                  <a:srgbClr val="FFFFFF"/>
                </a:solidFill>
                <a:latin typeface="微软雅黑" panose="020B0503020204020204" pitchFamily="34" charset="-122"/>
                <a:ea typeface="微软雅黑" panose="020B0503020204020204" pitchFamily="34" charset="-122"/>
              </a:rPr>
              <a:t>，从而在</a:t>
            </a:r>
            <a:r>
              <a:rPr lang="zh-CN" altLang="en-US" sz="2200" b="1" u="sng" dirty="0">
                <a:solidFill>
                  <a:srgbClr val="FFFFFF"/>
                </a:solidFill>
                <a:latin typeface="微软雅黑" panose="020B0503020204020204" pitchFamily="34" charset="-122"/>
                <a:ea typeface="微软雅黑" panose="020B0503020204020204" pitchFamily="34" charset="-122"/>
              </a:rPr>
              <a:t>标注有限的情况下</a:t>
            </a:r>
            <a:r>
              <a:rPr lang="zh-CN" altLang="en-US" sz="2200" b="1" dirty="0">
                <a:solidFill>
                  <a:srgbClr val="FFFFFF"/>
                </a:solidFill>
                <a:latin typeface="微软雅黑" panose="020B0503020204020204" pitchFamily="34" charset="-122"/>
                <a:ea typeface="微软雅黑" panose="020B0503020204020204" pitchFamily="34" charset="-122"/>
              </a:rPr>
              <a:t>实现更高效的学习。</a:t>
            </a:r>
          </a:p>
        </p:txBody>
      </p:sp>
    </p:spTree>
    <p:extLst>
      <p:ext uri="{BB962C8B-B14F-4D97-AF65-F5344CB8AC3E}">
        <p14:creationId xmlns:p14="http://schemas.microsoft.com/office/powerpoint/2010/main" val="3341554833"/>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5153" y="938766"/>
            <a:ext cx="9600900" cy="4980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PP_MARK_KEY" val="8de9009a-b437-47be-9fd1-bc75b762fa31"/>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7830,&quot;width&quot;:10275}"/>
</p:tagLst>
</file>

<file path=ppt/theme/theme1.xml><?xml version="1.0" encoding="utf-8"?>
<a:theme xmlns:a="http://schemas.openxmlformats.org/drawingml/2006/main" name="1_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华文新魏"/>
        <a:cs typeface=""/>
      </a:majorFont>
      <a:minorFont>
        <a:latin typeface="Times New Roman"/>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1" lang="zh-CN" altLang="en-US" sz="2400" b="0" i="0" u="none" strike="noStrike" cap="none" normalizeH="0" baseline="0" smtClean="0">
            <a:ln>
              <a:noFill/>
            </a:ln>
            <a:solidFill>
              <a:schemeClr val="tx1"/>
            </a:solidFill>
            <a:effectLst/>
            <a:latin typeface="Times New Roman" panose="02020603050405020304" pitchFamily="18" charset="0"/>
            <a:ea typeface="楷体_GB2312" panose="02010609030101010101"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5273</Words>
  <Application>Microsoft Office PowerPoint</Application>
  <PresentationFormat>宽屏</PresentationFormat>
  <Paragraphs>468</Paragraphs>
  <Slides>88</Slides>
  <Notes>62</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88</vt:i4>
      </vt:variant>
    </vt:vector>
  </HeadingPairs>
  <TitlesOfParts>
    <vt:vector size="100" baseType="lpstr">
      <vt:lpstr>等线</vt:lpstr>
      <vt:lpstr>黑体</vt:lpstr>
      <vt:lpstr>华文楷体</vt:lpstr>
      <vt:lpstr>宋体</vt:lpstr>
      <vt:lpstr>微软雅黑</vt:lpstr>
      <vt:lpstr>Cambria Math</vt:lpstr>
      <vt:lpstr>Tahoma</vt:lpstr>
      <vt:lpstr>Times New Roman</vt:lpstr>
      <vt:lpstr>Wingdings</vt:lpstr>
      <vt:lpstr>1_Blends</vt:lpstr>
      <vt:lpstr>MathType 7.0 Equation</vt:lpstr>
      <vt:lpstr>Equation</vt:lpstr>
      <vt:lpstr>第十章 半监督学习   </vt:lpstr>
      <vt:lpstr>PowerPoint 演示文稿</vt:lpstr>
      <vt:lpstr>PowerPoint 演示文稿</vt:lpstr>
      <vt:lpstr>目录</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peng zelin</dc:creator>
  <cp:lastModifiedBy>Xu</cp:lastModifiedBy>
  <cp:revision>600</cp:revision>
  <dcterms:created xsi:type="dcterms:W3CDTF">2020-05-27T14:11:00Z</dcterms:created>
  <dcterms:modified xsi:type="dcterms:W3CDTF">2025-12-08T14:44:46Z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52B7D6F874EF456C8455EAF1232AEB12</vt:lpwstr>
  </property>
  <property fmtid="{D5CDD505-2E9C-101B-9397-08002B2CF9AE}" pid="3" name="KSOProductBuildVer">
    <vt:lpwstr>2052-12.1.0.23542</vt:lpwstr>
  </property>
</Properties>
</file>
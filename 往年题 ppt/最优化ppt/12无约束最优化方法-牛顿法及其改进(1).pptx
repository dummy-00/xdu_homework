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5"/>
  </p:notesMasterIdLst>
  <p:handoutMasterIdLst>
    <p:handoutMasterId r:id="rId56"/>
  </p:handoutMasterIdLst>
  <p:sldIdLst>
    <p:sldId id="256" r:id="rId2"/>
    <p:sldId id="617" r:id="rId3"/>
    <p:sldId id="700" r:id="rId4"/>
    <p:sldId id="706" r:id="rId5"/>
    <p:sldId id="663" r:id="rId6"/>
    <p:sldId id="701" r:id="rId7"/>
    <p:sldId id="702" r:id="rId8"/>
    <p:sldId id="703" r:id="rId9"/>
    <p:sldId id="704" r:id="rId10"/>
    <p:sldId id="705" r:id="rId11"/>
    <p:sldId id="707" r:id="rId12"/>
    <p:sldId id="770" r:id="rId13"/>
    <p:sldId id="710" r:id="rId14"/>
    <p:sldId id="708" r:id="rId15"/>
    <p:sldId id="709" r:id="rId16"/>
    <p:sldId id="711" r:id="rId17"/>
    <p:sldId id="761" r:id="rId18"/>
    <p:sldId id="712" r:id="rId19"/>
    <p:sldId id="725" r:id="rId20"/>
    <p:sldId id="719" r:id="rId21"/>
    <p:sldId id="720" r:id="rId22"/>
    <p:sldId id="762" r:id="rId23"/>
    <p:sldId id="735" r:id="rId24"/>
    <p:sldId id="739" r:id="rId25"/>
    <p:sldId id="740" r:id="rId26"/>
    <p:sldId id="741" r:id="rId27"/>
    <p:sldId id="742" r:id="rId28"/>
    <p:sldId id="743" r:id="rId29"/>
    <p:sldId id="744" r:id="rId30"/>
    <p:sldId id="745" r:id="rId31"/>
    <p:sldId id="746" r:id="rId32"/>
    <p:sldId id="747" r:id="rId33"/>
    <p:sldId id="748" r:id="rId34"/>
    <p:sldId id="749" r:id="rId35"/>
    <p:sldId id="750" r:id="rId36"/>
    <p:sldId id="751" r:id="rId37"/>
    <p:sldId id="752" r:id="rId38"/>
    <p:sldId id="753" r:id="rId39"/>
    <p:sldId id="754" r:id="rId40"/>
    <p:sldId id="755" r:id="rId41"/>
    <p:sldId id="756" r:id="rId42"/>
    <p:sldId id="757" r:id="rId43"/>
    <p:sldId id="758" r:id="rId44"/>
    <p:sldId id="759" r:id="rId45"/>
    <p:sldId id="760" r:id="rId46"/>
    <p:sldId id="763" r:id="rId47"/>
    <p:sldId id="764" r:id="rId48"/>
    <p:sldId id="767" r:id="rId49"/>
    <p:sldId id="765" r:id="rId50"/>
    <p:sldId id="766" r:id="rId51"/>
    <p:sldId id="769" r:id="rId52"/>
    <p:sldId id="768" r:id="rId53"/>
    <p:sldId id="661" r:id="rId54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97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F70C"/>
    <a:srgbClr val="005AA5"/>
    <a:srgbClr val="005A9E"/>
    <a:srgbClr val="99E307"/>
    <a:srgbClr val="0000FF"/>
    <a:srgbClr val="004182"/>
    <a:srgbClr val="99F707"/>
    <a:srgbClr val="0042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436" autoAdjust="0"/>
    <p:restoredTop sz="96387" autoAdjust="0"/>
  </p:normalViewPr>
  <p:slideViewPr>
    <p:cSldViewPr>
      <p:cViewPr varScale="1">
        <p:scale>
          <a:sx n="100" d="100"/>
          <a:sy n="100" d="100"/>
        </p:scale>
        <p:origin x="773" y="96"/>
      </p:cViewPr>
      <p:guideLst>
        <p:guide orient="horz" pos="2160"/>
        <p:guide pos="2971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7" d="100"/>
          <a:sy n="87" d="100"/>
        </p:scale>
        <p:origin x="-3738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Relationship Id="rId4" Type="http://schemas.openxmlformats.org/officeDocument/2006/relationships/image" Target="../media/image9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3" Type="http://schemas.openxmlformats.org/officeDocument/2006/relationships/image" Target="../media/image16.wmf"/><Relationship Id="rId7" Type="http://schemas.openxmlformats.org/officeDocument/2006/relationships/image" Target="../media/image20.wmf"/><Relationship Id="rId2" Type="http://schemas.openxmlformats.org/officeDocument/2006/relationships/image" Target="../media/image15.wmf"/><Relationship Id="rId1" Type="http://schemas.openxmlformats.org/officeDocument/2006/relationships/image" Target="../media/image14.wmf"/><Relationship Id="rId6" Type="http://schemas.openxmlformats.org/officeDocument/2006/relationships/image" Target="../media/image19.wmf"/><Relationship Id="rId11" Type="http://schemas.openxmlformats.org/officeDocument/2006/relationships/image" Target="../media/image24.wmf"/><Relationship Id="rId5" Type="http://schemas.openxmlformats.org/officeDocument/2006/relationships/image" Target="../media/image18.wmf"/><Relationship Id="rId10" Type="http://schemas.openxmlformats.org/officeDocument/2006/relationships/image" Target="../media/image23.wmf"/><Relationship Id="rId4" Type="http://schemas.openxmlformats.org/officeDocument/2006/relationships/image" Target="../media/image17.wmf"/><Relationship Id="rId9" Type="http://schemas.openxmlformats.org/officeDocument/2006/relationships/image" Target="../media/image22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image" Target="../media/image26.wmf"/><Relationship Id="rId1" Type="http://schemas.openxmlformats.org/officeDocument/2006/relationships/image" Target="../media/image25.wmf"/><Relationship Id="rId6" Type="http://schemas.openxmlformats.org/officeDocument/2006/relationships/image" Target="../media/image30.wmf"/><Relationship Id="rId5" Type="http://schemas.openxmlformats.org/officeDocument/2006/relationships/image" Target="../media/image29.wmf"/><Relationship Id="rId4" Type="http://schemas.openxmlformats.org/officeDocument/2006/relationships/image" Target="../media/image28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38.wmf"/><Relationship Id="rId3" Type="http://schemas.openxmlformats.org/officeDocument/2006/relationships/image" Target="../media/image33.wmf"/><Relationship Id="rId7" Type="http://schemas.openxmlformats.org/officeDocument/2006/relationships/image" Target="../media/image37.wmf"/><Relationship Id="rId2" Type="http://schemas.openxmlformats.org/officeDocument/2006/relationships/image" Target="../media/image32.wmf"/><Relationship Id="rId1" Type="http://schemas.openxmlformats.org/officeDocument/2006/relationships/image" Target="../media/image31.wmf"/><Relationship Id="rId6" Type="http://schemas.openxmlformats.org/officeDocument/2006/relationships/image" Target="../media/image36.wmf"/><Relationship Id="rId11" Type="http://schemas.openxmlformats.org/officeDocument/2006/relationships/image" Target="../media/image41.wmf"/><Relationship Id="rId5" Type="http://schemas.openxmlformats.org/officeDocument/2006/relationships/image" Target="../media/image35.wmf"/><Relationship Id="rId10" Type="http://schemas.openxmlformats.org/officeDocument/2006/relationships/image" Target="../media/image40.wmf"/><Relationship Id="rId4" Type="http://schemas.openxmlformats.org/officeDocument/2006/relationships/image" Target="../media/image34.wmf"/><Relationship Id="rId9" Type="http://schemas.openxmlformats.org/officeDocument/2006/relationships/image" Target="../media/image39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49.wmf"/><Relationship Id="rId13" Type="http://schemas.openxmlformats.org/officeDocument/2006/relationships/image" Target="../media/image54.wmf"/><Relationship Id="rId3" Type="http://schemas.openxmlformats.org/officeDocument/2006/relationships/image" Target="../media/image44.wmf"/><Relationship Id="rId7" Type="http://schemas.openxmlformats.org/officeDocument/2006/relationships/image" Target="../media/image48.wmf"/><Relationship Id="rId12" Type="http://schemas.openxmlformats.org/officeDocument/2006/relationships/image" Target="../media/image53.wmf"/><Relationship Id="rId2" Type="http://schemas.openxmlformats.org/officeDocument/2006/relationships/image" Target="../media/image43.wmf"/><Relationship Id="rId1" Type="http://schemas.openxmlformats.org/officeDocument/2006/relationships/image" Target="../media/image42.wmf"/><Relationship Id="rId6" Type="http://schemas.openxmlformats.org/officeDocument/2006/relationships/image" Target="../media/image47.wmf"/><Relationship Id="rId11" Type="http://schemas.openxmlformats.org/officeDocument/2006/relationships/image" Target="../media/image52.wmf"/><Relationship Id="rId5" Type="http://schemas.openxmlformats.org/officeDocument/2006/relationships/image" Target="../media/image46.wmf"/><Relationship Id="rId10" Type="http://schemas.openxmlformats.org/officeDocument/2006/relationships/image" Target="../media/image51.wmf"/><Relationship Id="rId4" Type="http://schemas.openxmlformats.org/officeDocument/2006/relationships/image" Target="../media/image45.wmf"/><Relationship Id="rId9" Type="http://schemas.openxmlformats.org/officeDocument/2006/relationships/image" Target="../media/image50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57.wmf"/><Relationship Id="rId2" Type="http://schemas.openxmlformats.org/officeDocument/2006/relationships/image" Target="../media/image56.wmf"/><Relationship Id="rId1" Type="http://schemas.openxmlformats.org/officeDocument/2006/relationships/image" Target="../media/image55.wmf"/><Relationship Id="rId5" Type="http://schemas.openxmlformats.org/officeDocument/2006/relationships/image" Target="../media/image59.wmf"/><Relationship Id="rId4" Type="http://schemas.openxmlformats.org/officeDocument/2006/relationships/image" Target="../media/image58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61.wmf"/><Relationship Id="rId1" Type="http://schemas.openxmlformats.org/officeDocument/2006/relationships/image" Target="../media/image60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67.wmf"/><Relationship Id="rId3" Type="http://schemas.openxmlformats.org/officeDocument/2006/relationships/image" Target="../media/image62.wmf"/><Relationship Id="rId7" Type="http://schemas.openxmlformats.org/officeDocument/2006/relationships/image" Target="../media/image66.wmf"/><Relationship Id="rId2" Type="http://schemas.openxmlformats.org/officeDocument/2006/relationships/image" Target="../media/image61.wmf"/><Relationship Id="rId1" Type="http://schemas.openxmlformats.org/officeDocument/2006/relationships/image" Target="../media/image60.wmf"/><Relationship Id="rId6" Type="http://schemas.openxmlformats.org/officeDocument/2006/relationships/image" Target="../media/image65.wmf"/><Relationship Id="rId5" Type="http://schemas.openxmlformats.org/officeDocument/2006/relationships/image" Target="../media/image64.wmf"/><Relationship Id="rId4" Type="http://schemas.openxmlformats.org/officeDocument/2006/relationships/image" Target="../media/image63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68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70.wmf"/><Relationship Id="rId2" Type="http://schemas.openxmlformats.org/officeDocument/2006/relationships/image" Target="../media/image37.wmf"/><Relationship Id="rId1" Type="http://schemas.openxmlformats.org/officeDocument/2006/relationships/image" Target="../media/image69.w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77.wmf"/><Relationship Id="rId13" Type="http://schemas.openxmlformats.org/officeDocument/2006/relationships/image" Target="../media/image82.wmf"/><Relationship Id="rId3" Type="http://schemas.openxmlformats.org/officeDocument/2006/relationships/image" Target="../media/image72.wmf"/><Relationship Id="rId7" Type="http://schemas.openxmlformats.org/officeDocument/2006/relationships/image" Target="../media/image76.wmf"/><Relationship Id="rId12" Type="http://schemas.openxmlformats.org/officeDocument/2006/relationships/image" Target="../media/image81.wmf"/><Relationship Id="rId2" Type="http://schemas.openxmlformats.org/officeDocument/2006/relationships/image" Target="../media/image71.wmf"/><Relationship Id="rId1" Type="http://schemas.openxmlformats.org/officeDocument/2006/relationships/image" Target="../media/image68.wmf"/><Relationship Id="rId6" Type="http://schemas.openxmlformats.org/officeDocument/2006/relationships/image" Target="../media/image75.wmf"/><Relationship Id="rId11" Type="http://schemas.openxmlformats.org/officeDocument/2006/relationships/image" Target="../media/image80.wmf"/><Relationship Id="rId5" Type="http://schemas.openxmlformats.org/officeDocument/2006/relationships/image" Target="../media/image74.wmf"/><Relationship Id="rId10" Type="http://schemas.openxmlformats.org/officeDocument/2006/relationships/image" Target="../media/image79.wmf"/><Relationship Id="rId4" Type="http://schemas.openxmlformats.org/officeDocument/2006/relationships/image" Target="../media/image73.wmf"/><Relationship Id="rId9" Type="http://schemas.openxmlformats.org/officeDocument/2006/relationships/image" Target="../media/image78.wmf"/><Relationship Id="rId14" Type="http://schemas.openxmlformats.org/officeDocument/2006/relationships/image" Target="../media/image83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82.wmf"/><Relationship Id="rId3" Type="http://schemas.openxmlformats.org/officeDocument/2006/relationships/image" Target="../media/image86.wmf"/><Relationship Id="rId7" Type="http://schemas.openxmlformats.org/officeDocument/2006/relationships/image" Target="../media/image81.wmf"/><Relationship Id="rId2" Type="http://schemas.openxmlformats.org/officeDocument/2006/relationships/image" Target="../media/image85.wmf"/><Relationship Id="rId1" Type="http://schemas.openxmlformats.org/officeDocument/2006/relationships/image" Target="../media/image84.wmf"/><Relationship Id="rId6" Type="http://schemas.openxmlformats.org/officeDocument/2006/relationships/image" Target="../media/image80.wmf"/><Relationship Id="rId5" Type="http://schemas.openxmlformats.org/officeDocument/2006/relationships/image" Target="../media/image88.wmf"/><Relationship Id="rId4" Type="http://schemas.openxmlformats.org/officeDocument/2006/relationships/image" Target="../media/image87.wmf"/><Relationship Id="rId9" Type="http://schemas.openxmlformats.org/officeDocument/2006/relationships/image" Target="../media/image78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96.wmf"/><Relationship Id="rId3" Type="http://schemas.openxmlformats.org/officeDocument/2006/relationships/image" Target="../media/image91.wmf"/><Relationship Id="rId7" Type="http://schemas.openxmlformats.org/officeDocument/2006/relationships/image" Target="../media/image95.wmf"/><Relationship Id="rId2" Type="http://schemas.openxmlformats.org/officeDocument/2006/relationships/image" Target="../media/image90.wmf"/><Relationship Id="rId1" Type="http://schemas.openxmlformats.org/officeDocument/2006/relationships/image" Target="../media/image89.wmf"/><Relationship Id="rId6" Type="http://schemas.openxmlformats.org/officeDocument/2006/relationships/image" Target="../media/image94.wmf"/><Relationship Id="rId5" Type="http://schemas.openxmlformats.org/officeDocument/2006/relationships/image" Target="../media/image93.wmf"/><Relationship Id="rId4" Type="http://schemas.openxmlformats.org/officeDocument/2006/relationships/image" Target="../media/image92.wmf"/><Relationship Id="rId9" Type="http://schemas.openxmlformats.org/officeDocument/2006/relationships/image" Target="../media/image97.w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wmf"/><Relationship Id="rId3" Type="http://schemas.openxmlformats.org/officeDocument/2006/relationships/image" Target="../media/image100.wmf"/><Relationship Id="rId7" Type="http://schemas.openxmlformats.org/officeDocument/2006/relationships/image" Target="../media/image104.wmf"/><Relationship Id="rId2" Type="http://schemas.openxmlformats.org/officeDocument/2006/relationships/image" Target="../media/image99.wmf"/><Relationship Id="rId1" Type="http://schemas.openxmlformats.org/officeDocument/2006/relationships/image" Target="../media/image98.wmf"/><Relationship Id="rId6" Type="http://schemas.openxmlformats.org/officeDocument/2006/relationships/image" Target="../media/image103.wmf"/><Relationship Id="rId11" Type="http://schemas.openxmlformats.org/officeDocument/2006/relationships/image" Target="../media/image108.wmf"/><Relationship Id="rId5" Type="http://schemas.openxmlformats.org/officeDocument/2006/relationships/image" Target="../media/image102.wmf"/><Relationship Id="rId10" Type="http://schemas.openxmlformats.org/officeDocument/2006/relationships/image" Target="../media/image107.wmf"/><Relationship Id="rId4" Type="http://schemas.openxmlformats.org/officeDocument/2006/relationships/image" Target="../media/image101.wmf"/><Relationship Id="rId9" Type="http://schemas.openxmlformats.org/officeDocument/2006/relationships/image" Target="../media/image106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wmf"/><Relationship Id="rId7" Type="http://schemas.openxmlformats.org/officeDocument/2006/relationships/image" Target="../media/image113.wmf"/><Relationship Id="rId2" Type="http://schemas.openxmlformats.org/officeDocument/2006/relationships/image" Target="../media/image110.wmf"/><Relationship Id="rId1" Type="http://schemas.openxmlformats.org/officeDocument/2006/relationships/image" Target="../media/image109.wmf"/><Relationship Id="rId6" Type="http://schemas.openxmlformats.org/officeDocument/2006/relationships/image" Target="../media/image112.wmf"/><Relationship Id="rId5" Type="http://schemas.openxmlformats.org/officeDocument/2006/relationships/image" Target="../media/image103.wmf"/><Relationship Id="rId4" Type="http://schemas.openxmlformats.org/officeDocument/2006/relationships/image" Target="../media/image100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wmf"/><Relationship Id="rId2" Type="http://schemas.openxmlformats.org/officeDocument/2006/relationships/image" Target="../media/image115.wmf"/><Relationship Id="rId1" Type="http://schemas.openxmlformats.org/officeDocument/2006/relationships/image" Target="../media/image114.wmf"/><Relationship Id="rId4" Type="http://schemas.openxmlformats.org/officeDocument/2006/relationships/image" Target="../media/image117.w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5.wmf"/><Relationship Id="rId3" Type="http://schemas.openxmlformats.org/officeDocument/2006/relationships/image" Target="../media/image120.wmf"/><Relationship Id="rId7" Type="http://schemas.openxmlformats.org/officeDocument/2006/relationships/image" Target="../media/image124.wmf"/><Relationship Id="rId2" Type="http://schemas.openxmlformats.org/officeDocument/2006/relationships/image" Target="../media/image119.wmf"/><Relationship Id="rId1" Type="http://schemas.openxmlformats.org/officeDocument/2006/relationships/image" Target="../media/image118.wmf"/><Relationship Id="rId6" Type="http://schemas.openxmlformats.org/officeDocument/2006/relationships/image" Target="../media/image123.wmf"/><Relationship Id="rId11" Type="http://schemas.openxmlformats.org/officeDocument/2006/relationships/image" Target="../media/image128.wmf"/><Relationship Id="rId5" Type="http://schemas.openxmlformats.org/officeDocument/2006/relationships/image" Target="../media/image122.wmf"/><Relationship Id="rId10" Type="http://schemas.openxmlformats.org/officeDocument/2006/relationships/image" Target="../media/image127.wmf"/><Relationship Id="rId4" Type="http://schemas.openxmlformats.org/officeDocument/2006/relationships/image" Target="../media/image121.wmf"/><Relationship Id="rId9" Type="http://schemas.openxmlformats.org/officeDocument/2006/relationships/image" Target="../media/image126.wmf"/></Relationships>
</file>

<file path=ppt/drawings/_rels/vmlDrawing1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6.wmf"/><Relationship Id="rId3" Type="http://schemas.openxmlformats.org/officeDocument/2006/relationships/image" Target="../media/image131.wmf"/><Relationship Id="rId7" Type="http://schemas.openxmlformats.org/officeDocument/2006/relationships/image" Target="../media/image135.wmf"/><Relationship Id="rId2" Type="http://schemas.openxmlformats.org/officeDocument/2006/relationships/image" Target="../media/image130.wmf"/><Relationship Id="rId1" Type="http://schemas.openxmlformats.org/officeDocument/2006/relationships/image" Target="../media/image129.wmf"/><Relationship Id="rId6" Type="http://schemas.openxmlformats.org/officeDocument/2006/relationships/image" Target="../media/image134.wmf"/><Relationship Id="rId5" Type="http://schemas.openxmlformats.org/officeDocument/2006/relationships/image" Target="../media/image133.wmf"/><Relationship Id="rId4" Type="http://schemas.openxmlformats.org/officeDocument/2006/relationships/image" Target="../media/image132.wmf"/><Relationship Id="rId9" Type="http://schemas.openxmlformats.org/officeDocument/2006/relationships/image" Target="../media/image137.wmf"/></Relationships>
</file>

<file path=ppt/drawings/_rels/vmlDrawing2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5.wmf"/><Relationship Id="rId3" Type="http://schemas.openxmlformats.org/officeDocument/2006/relationships/image" Target="../media/image140.wmf"/><Relationship Id="rId7" Type="http://schemas.openxmlformats.org/officeDocument/2006/relationships/image" Target="../media/image144.wmf"/><Relationship Id="rId12" Type="http://schemas.openxmlformats.org/officeDocument/2006/relationships/image" Target="../media/image149.wmf"/><Relationship Id="rId2" Type="http://schemas.openxmlformats.org/officeDocument/2006/relationships/image" Target="../media/image139.wmf"/><Relationship Id="rId1" Type="http://schemas.openxmlformats.org/officeDocument/2006/relationships/image" Target="../media/image138.wmf"/><Relationship Id="rId6" Type="http://schemas.openxmlformats.org/officeDocument/2006/relationships/image" Target="../media/image143.wmf"/><Relationship Id="rId11" Type="http://schemas.openxmlformats.org/officeDocument/2006/relationships/image" Target="../media/image148.wmf"/><Relationship Id="rId5" Type="http://schemas.openxmlformats.org/officeDocument/2006/relationships/image" Target="../media/image142.wmf"/><Relationship Id="rId10" Type="http://schemas.openxmlformats.org/officeDocument/2006/relationships/image" Target="../media/image147.wmf"/><Relationship Id="rId4" Type="http://schemas.openxmlformats.org/officeDocument/2006/relationships/image" Target="../media/image141.wmf"/><Relationship Id="rId9" Type="http://schemas.openxmlformats.org/officeDocument/2006/relationships/image" Target="../media/image146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2.wmf"/><Relationship Id="rId2" Type="http://schemas.openxmlformats.org/officeDocument/2006/relationships/image" Target="../media/image151.wmf"/><Relationship Id="rId1" Type="http://schemas.openxmlformats.org/officeDocument/2006/relationships/image" Target="../media/image150.wmf"/><Relationship Id="rId4" Type="http://schemas.openxmlformats.org/officeDocument/2006/relationships/image" Target="../media/image153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5.wmf"/><Relationship Id="rId2" Type="http://schemas.openxmlformats.org/officeDocument/2006/relationships/image" Target="../media/image147.wmf"/><Relationship Id="rId1" Type="http://schemas.openxmlformats.org/officeDocument/2006/relationships/image" Target="../media/image154.wmf"/><Relationship Id="rId4" Type="http://schemas.openxmlformats.org/officeDocument/2006/relationships/image" Target="../media/image156.wmf"/></Relationships>
</file>

<file path=ppt/drawings/_rels/vmlDrawing2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4.wmf"/><Relationship Id="rId3" Type="http://schemas.openxmlformats.org/officeDocument/2006/relationships/image" Target="../media/image159.wmf"/><Relationship Id="rId7" Type="http://schemas.openxmlformats.org/officeDocument/2006/relationships/image" Target="../media/image163.wmf"/><Relationship Id="rId2" Type="http://schemas.openxmlformats.org/officeDocument/2006/relationships/image" Target="../media/image158.wmf"/><Relationship Id="rId1" Type="http://schemas.openxmlformats.org/officeDocument/2006/relationships/image" Target="../media/image157.wmf"/><Relationship Id="rId6" Type="http://schemas.openxmlformats.org/officeDocument/2006/relationships/image" Target="../media/image162.wmf"/><Relationship Id="rId5" Type="http://schemas.openxmlformats.org/officeDocument/2006/relationships/image" Target="../media/image161.wmf"/><Relationship Id="rId4" Type="http://schemas.openxmlformats.org/officeDocument/2006/relationships/image" Target="../media/image160.wmf"/></Relationships>
</file>

<file path=ppt/drawings/_rels/vmlDrawing2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2.wmf"/><Relationship Id="rId3" Type="http://schemas.openxmlformats.org/officeDocument/2006/relationships/image" Target="../media/image167.wmf"/><Relationship Id="rId7" Type="http://schemas.openxmlformats.org/officeDocument/2006/relationships/image" Target="../media/image171.wmf"/><Relationship Id="rId2" Type="http://schemas.openxmlformats.org/officeDocument/2006/relationships/image" Target="../media/image166.wmf"/><Relationship Id="rId1" Type="http://schemas.openxmlformats.org/officeDocument/2006/relationships/image" Target="../media/image165.wmf"/><Relationship Id="rId6" Type="http://schemas.openxmlformats.org/officeDocument/2006/relationships/image" Target="../media/image170.wmf"/><Relationship Id="rId11" Type="http://schemas.openxmlformats.org/officeDocument/2006/relationships/image" Target="../media/image175.wmf"/><Relationship Id="rId5" Type="http://schemas.openxmlformats.org/officeDocument/2006/relationships/image" Target="../media/image169.wmf"/><Relationship Id="rId10" Type="http://schemas.openxmlformats.org/officeDocument/2006/relationships/image" Target="../media/image174.wmf"/><Relationship Id="rId4" Type="http://schemas.openxmlformats.org/officeDocument/2006/relationships/image" Target="../media/image168.wmf"/><Relationship Id="rId9" Type="http://schemas.openxmlformats.org/officeDocument/2006/relationships/image" Target="../media/image173.wmf"/></Relationships>
</file>

<file path=ppt/drawings/_rels/vmlDrawing2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3.wmf"/><Relationship Id="rId3" Type="http://schemas.openxmlformats.org/officeDocument/2006/relationships/image" Target="../media/image178.wmf"/><Relationship Id="rId7" Type="http://schemas.openxmlformats.org/officeDocument/2006/relationships/image" Target="../media/image182.wmf"/><Relationship Id="rId2" Type="http://schemas.openxmlformats.org/officeDocument/2006/relationships/image" Target="../media/image177.wmf"/><Relationship Id="rId1" Type="http://schemas.openxmlformats.org/officeDocument/2006/relationships/image" Target="../media/image176.wmf"/><Relationship Id="rId6" Type="http://schemas.openxmlformats.org/officeDocument/2006/relationships/image" Target="../media/image181.wmf"/><Relationship Id="rId5" Type="http://schemas.openxmlformats.org/officeDocument/2006/relationships/image" Target="../media/image180.wmf"/><Relationship Id="rId4" Type="http://schemas.openxmlformats.org/officeDocument/2006/relationships/image" Target="../media/image179.w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6.wmf"/><Relationship Id="rId2" Type="http://schemas.openxmlformats.org/officeDocument/2006/relationships/image" Target="../media/image185.wmf"/><Relationship Id="rId1" Type="http://schemas.openxmlformats.org/officeDocument/2006/relationships/image" Target="../media/image184.wmf"/><Relationship Id="rId4" Type="http://schemas.openxmlformats.org/officeDocument/2006/relationships/image" Target="../media/image187.wmf"/></Relationships>
</file>

<file path=ppt/drawings/_rels/vmlDrawing2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5.wmf"/><Relationship Id="rId13" Type="http://schemas.openxmlformats.org/officeDocument/2006/relationships/image" Target="../media/image200.wmf"/><Relationship Id="rId3" Type="http://schemas.openxmlformats.org/officeDocument/2006/relationships/image" Target="../media/image190.wmf"/><Relationship Id="rId7" Type="http://schemas.openxmlformats.org/officeDocument/2006/relationships/image" Target="../media/image194.wmf"/><Relationship Id="rId12" Type="http://schemas.openxmlformats.org/officeDocument/2006/relationships/image" Target="../media/image199.wmf"/><Relationship Id="rId2" Type="http://schemas.openxmlformats.org/officeDocument/2006/relationships/image" Target="../media/image189.wmf"/><Relationship Id="rId1" Type="http://schemas.openxmlformats.org/officeDocument/2006/relationships/image" Target="../media/image188.wmf"/><Relationship Id="rId6" Type="http://schemas.openxmlformats.org/officeDocument/2006/relationships/image" Target="../media/image193.wmf"/><Relationship Id="rId11" Type="http://schemas.openxmlformats.org/officeDocument/2006/relationships/image" Target="../media/image198.wmf"/><Relationship Id="rId5" Type="http://schemas.openxmlformats.org/officeDocument/2006/relationships/image" Target="../media/image192.wmf"/><Relationship Id="rId10" Type="http://schemas.openxmlformats.org/officeDocument/2006/relationships/image" Target="../media/image197.wmf"/><Relationship Id="rId4" Type="http://schemas.openxmlformats.org/officeDocument/2006/relationships/image" Target="../media/image191.wmf"/><Relationship Id="rId9" Type="http://schemas.openxmlformats.org/officeDocument/2006/relationships/image" Target="../media/image196.w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3.wmf"/><Relationship Id="rId2" Type="http://schemas.openxmlformats.org/officeDocument/2006/relationships/image" Target="../media/image202.wmf"/><Relationship Id="rId1" Type="http://schemas.openxmlformats.org/officeDocument/2006/relationships/image" Target="../media/image201.w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6.wmf"/><Relationship Id="rId2" Type="http://schemas.openxmlformats.org/officeDocument/2006/relationships/image" Target="../media/image205.wmf"/><Relationship Id="rId1" Type="http://schemas.openxmlformats.org/officeDocument/2006/relationships/image" Target="../media/image204.wmf"/><Relationship Id="rId4" Type="http://schemas.openxmlformats.org/officeDocument/2006/relationships/image" Target="../media/image207.wmf"/></Relationships>
</file>

<file path=ppt/drawings/_rels/vmlDrawing30.vml.rels><?xml version="1.0" encoding="UTF-8" standalone="yes"?>
<Relationships xmlns="http://schemas.openxmlformats.org/package/2006/relationships"><Relationship Id="rId8" Type="http://schemas.openxmlformats.org/officeDocument/2006/relationships/image" Target="../media/image215.wmf"/><Relationship Id="rId13" Type="http://schemas.openxmlformats.org/officeDocument/2006/relationships/image" Target="../media/image220.wmf"/><Relationship Id="rId3" Type="http://schemas.openxmlformats.org/officeDocument/2006/relationships/image" Target="../media/image210.wmf"/><Relationship Id="rId7" Type="http://schemas.openxmlformats.org/officeDocument/2006/relationships/image" Target="../media/image214.wmf"/><Relationship Id="rId12" Type="http://schemas.openxmlformats.org/officeDocument/2006/relationships/image" Target="../media/image219.wmf"/><Relationship Id="rId2" Type="http://schemas.openxmlformats.org/officeDocument/2006/relationships/image" Target="../media/image209.wmf"/><Relationship Id="rId1" Type="http://schemas.openxmlformats.org/officeDocument/2006/relationships/image" Target="../media/image208.wmf"/><Relationship Id="rId6" Type="http://schemas.openxmlformats.org/officeDocument/2006/relationships/image" Target="../media/image213.wmf"/><Relationship Id="rId11" Type="http://schemas.openxmlformats.org/officeDocument/2006/relationships/image" Target="../media/image218.wmf"/><Relationship Id="rId5" Type="http://schemas.openxmlformats.org/officeDocument/2006/relationships/image" Target="../media/image212.wmf"/><Relationship Id="rId15" Type="http://schemas.openxmlformats.org/officeDocument/2006/relationships/image" Target="../media/image222.wmf"/><Relationship Id="rId10" Type="http://schemas.openxmlformats.org/officeDocument/2006/relationships/image" Target="../media/image217.wmf"/><Relationship Id="rId4" Type="http://schemas.openxmlformats.org/officeDocument/2006/relationships/image" Target="../media/image211.wmf"/><Relationship Id="rId9" Type="http://schemas.openxmlformats.org/officeDocument/2006/relationships/image" Target="../media/image216.wmf"/><Relationship Id="rId14" Type="http://schemas.openxmlformats.org/officeDocument/2006/relationships/image" Target="../media/image221.wmf"/></Relationships>
</file>

<file path=ppt/drawings/_rels/vmlDrawing31.vml.rels><?xml version="1.0" encoding="UTF-8" standalone="yes"?>
<Relationships xmlns="http://schemas.openxmlformats.org/package/2006/relationships"><Relationship Id="rId8" Type="http://schemas.openxmlformats.org/officeDocument/2006/relationships/image" Target="../media/image230.wmf"/><Relationship Id="rId3" Type="http://schemas.openxmlformats.org/officeDocument/2006/relationships/image" Target="../media/image225.wmf"/><Relationship Id="rId7" Type="http://schemas.openxmlformats.org/officeDocument/2006/relationships/image" Target="../media/image229.wmf"/><Relationship Id="rId2" Type="http://schemas.openxmlformats.org/officeDocument/2006/relationships/image" Target="../media/image224.wmf"/><Relationship Id="rId1" Type="http://schemas.openxmlformats.org/officeDocument/2006/relationships/image" Target="../media/image223.wmf"/><Relationship Id="rId6" Type="http://schemas.openxmlformats.org/officeDocument/2006/relationships/image" Target="../media/image228.wmf"/><Relationship Id="rId5" Type="http://schemas.openxmlformats.org/officeDocument/2006/relationships/image" Target="../media/image227.wmf"/><Relationship Id="rId4" Type="http://schemas.openxmlformats.org/officeDocument/2006/relationships/image" Target="../media/image226.wmf"/><Relationship Id="rId9" Type="http://schemas.openxmlformats.org/officeDocument/2006/relationships/image" Target="../media/image231.wmf"/></Relationships>
</file>

<file path=ppt/drawings/_rels/vmlDrawing32.vml.rels><?xml version="1.0" encoding="UTF-8" standalone="yes"?>
<Relationships xmlns="http://schemas.openxmlformats.org/package/2006/relationships"><Relationship Id="rId8" Type="http://schemas.openxmlformats.org/officeDocument/2006/relationships/image" Target="../media/image226.wmf"/><Relationship Id="rId3" Type="http://schemas.openxmlformats.org/officeDocument/2006/relationships/image" Target="../media/image216.wmf"/><Relationship Id="rId7" Type="http://schemas.openxmlformats.org/officeDocument/2006/relationships/image" Target="../media/image224.wmf"/><Relationship Id="rId2" Type="http://schemas.openxmlformats.org/officeDocument/2006/relationships/image" Target="../media/image215.wmf"/><Relationship Id="rId1" Type="http://schemas.openxmlformats.org/officeDocument/2006/relationships/image" Target="../media/image232.wmf"/><Relationship Id="rId6" Type="http://schemas.openxmlformats.org/officeDocument/2006/relationships/image" Target="../media/image223.wmf"/><Relationship Id="rId5" Type="http://schemas.openxmlformats.org/officeDocument/2006/relationships/image" Target="../media/image234.wmf"/><Relationship Id="rId10" Type="http://schemas.openxmlformats.org/officeDocument/2006/relationships/image" Target="../media/image235.wmf"/><Relationship Id="rId4" Type="http://schemas.openxmlformats.org/officeDocument/2006/relationships/image" Target="../media/image233.wmf"/><Relationship Id="rId9" Type="http://schemas.openxmlformats.org/officeDocument/2006/relationships/image" Target="../media/image227.wmf"/></Relationships>
</file>

<file path=ppt/drawings/_rels/vmlDrawing3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8.wmf"/><Relationship Id="rId2" Type="http://schemas.openxmlformats.org/officeDocument/2006/relationships/image" Target="../media/image237.wmf"/><Relationship Id="rId1" Type="http://schemas.openxmlformats.org/officeDocument/2006/relationships/image" Target="../media/image236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FF3516-2E2E-447A-BF37-AC90274693A0}" type="datetimeFigureOut">
              <a:rPr lang="zh-CN" altLang="en-US" smtClean="0"/>
              <a:pPr/>
              <a:t>2024/5/14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85B465-D402-4F10-99EF-849226EBFBE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63493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E49ED2-BFCB-4791-914F-B6D7F5D86BBE}" type="datetimeFigureOut">
              <a:rPr lang="zh-CN" altLang="en-US" smtClean="0"/>
              <a:pPr/>
              <a:t>2024/5/14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4535DC-6042-4CAB-8461-B1E0B81ED9B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98202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4535DC-6042-4CAB-8461-B1E0B81ED9BA}" type="slidenum">
              <a:rPr lang="zh-CN" altLang="en-US" smtClean="0"/>
              <a:pPr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52964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4535DC-6042-4CAB-8461-B1E0B81ED9BA}" type="slidenum">
              <a:rPr lang="zh-CN" altLang="en-US" smtClean="0"/>
              <a:pPr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12321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a3.jp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60"/>
            <a:ext cx="9144000" cy="6856883"/>
          </a:xfrm>
          <a:prstGeom prst="rect">
            <a:avLst/>
          </a:prstGeom>
          <a:ln>
            <a:noFill/>
          </a:ln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4248168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2024/5/14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786446" y="6356352"/>
            <a:ext cx="2895600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2786050" y="6357960"/>
            <a:ext cx="2786082" cy="365125"/>
          </a:xfrm>
        </p:spPr>
        <p:txBody>
          <a:bodyPr/>
          <a:lstStyle>
            <a:lvl1pPr>
              <a:defRPr b="1">
                <a:solidFill>
                  <a:srgbClr val="004182"/>
                </a:solidFill>
              </a:defRPr>
            </a:lvl1pPr>
          </a:lstStyle>
          <a:p>
            <a:r>
              <a:rPr lang="zh-CN" altLang="en-US" dirty="0"/>
              <a:t>智能感知与图像理解教育部重点实验室</a:t>
            </a:r>
          </a:p>
        </p:txBody>
      </p:sp>
      <p:sp>
        <p:nvSpPr>
          <p:cNvPr id="8" name="矩形 1"/>
          <p:cNvSpPr>
            <a:spLocks noChangeArrowheads="1"/>
          </p:cNvSpPr>
          <p:nvPr userDrawn="1"/>
        </p:nvSpPr>
        <p:spPr bwMode="auto">
          <a:xfrm>
            <a:off x="0" y="1989137"/>
            <a:ext cx="9144000" cy="1727200"/>
          </a:xfrm>
          <a:prstGeom prst="rect">
            <a:avLst/>
          </a:prstGeom>
          <a:solidFill>
            <a:srgbClr val="004182"/>
          </a:solidFill>
          <a:ln w="25400">
            <a:noFill/>
            <a:miter lim="800000"/>
            <a:headEnd/>
            <a:tailEnd/>
          </a:ln>
        </p:spPr>
        <p:txBody>
          <a:bodyPr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 dirty="0">
              <a:solidFill>
                <a:srgbClr val="005A9E"/>
              </a:solidFill>
            </a:endParaRPr>
          </a:p>
        </p:txBody>
      </p:sp>
      <p:sp>
        <p:nvSpPr>
          <p:cNvPr id="9" name="直接连接符 3"/>
          <p:cNvSpPr>
            <a:spLocks noChangeShapeType="1"/>
          </p:cNvSpPr>
          <p:nvPr userDrawn="1"/>
        </p:nvSpPr>
        <p:spPr bwMode="auto">
          <a:xfrm>
            <a:off x="0" y="3876675"/>
            <a:ext cx="9144000" cy="1588"/>
          </a:xfrm>
          <a:prstGeom prst="line">
            <a:avLst/>
          </a:prstGeom>
          <a:noFill/>
          <a:ln w="76200">
            <a:solidFill>
              <a:srgbClr val="004182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0" name="图片 9" descr="横版logo.pn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5572132" y="425307"/>
            <a:ext cx="2786082" cy="93199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a4.jp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60"/>
            <a:ext cx="9144000" cy="6856883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928927" y="142852"/>
            <a:ext cx="6072230" cy="582594"/>
          </a:xfrm>
        </p:spPr>
        <p:txBody>
          <a:bodyPr>
            <a:noAutofit/>
          </a:bodyPr>
          <a:lstStyle>
            <a:lvl1pPr>
              <a:defRPr sz="32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2024/5/14</a:t>
            </a:fld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2786050" y="6356352"/>
            <a:ext cx="2828916" cy="365125"/>
          </a:xfrm>
        </p:spPr>
        <p:txBody>
          <a:bodyPr/>
          <a:lstStyle>
            <a:lvl1pPr marL="0" algn="r" defTabSz="914400" rtl="0" eaLnBrk="1" latinLnBrk="0" hangingPunct="1">
              <a:defRPr lang="zh-CN" altLang="en-US" sz="1200" b="1" kern="1200" smtClean="0">
                <a:solidFill>
                  <a:srgbClr val="00418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zh-CN" altLang="en-US" dirty="0"/>
              <a:t>智能感知与图像理解教育部重点实验室</a:t>
            </a:r>
          </a:p>
        </p:txBody>
      </p:sp>
      <p:cxnSp>
        <p:nvCxnSpPr>
          <p:cNvPr id="10" name="直接连接符 9"/>
          <p:cNvCxnSpPr/>
          <p:nvPr userDrawn="1"/>
        </p:nvCxnSpPr>
        <p:spPr>
          <a:xfrm>
            <a:off x="-12192" y="6232551"/>
            <a:ext cx="4857750" cy="4763"/>
          </a:xfrm>
          <a:prstGeom prst="line">
            <a:avLst/>
          </a:prstGeom>
          <a:ln w="104775">
            <a:solidFill>
              <a:srgbClr val="0041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 userDrawn="1"/>
        </p:nvCxnSpPr>
        <p:spPr>
          <a:xfrm>
            <a:off x="-9910" y="6163328"/>
            <a:ext cx="4857750" cy="4763"/>
          </a:xfrm>
          <a:prstGeom prst="line">
            <a:avLst/>
          </a:prstGeom>
          <a:ln w="635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图片 20" descr="QQ截图20170908113630.jp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42844" y="6298957"/>
            <a:ext cx="3214710" cy="55964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新建 Microsoft Office PowerPoint 演示文稿.jp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2024/5/14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a4.jp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60"/>
            <a:ext cx="9144000" cy="6856883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2024/5/14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a4.jp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60"/>
            <a:ext cx="9144000" cy="6856883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2024/5/14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2024/5/14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2024/5/14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2024/5/14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2024/5/14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2024/5/14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2024/5/14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2024/5/14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9.wmf"/><Relationship Id="rId4" Type="http://schemas.openxmlformats.org/officeDocument/2006/relationships/image" Target="../media/image6.wmf"/><Relationship Id="rId9" Type="http://schemas.openxmlformats.org/officeDocument/2006/relationships/oleObject" Target="../embeddings/oleObject4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3" Type="http://schemas.openxmlformats.org/officeDocument/2006/relationships/image" Target="../media/image13.jpeg"/><Relationship Id="rId7" Type="http://schemas.openxmlformats.org/officeDocument/2006/relationships/image" Target="../media/image1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10.wmf"/><Relationship Id="rId10" Type="http://schemas.openxmlformats.org/officeDocument/2006/relationships/oleObject" Target="../embeddings/oleObject8.bin"/><Relationship Id="rId4" Type="http://schemas.openxmlformats.org/officeDocument/2006/relationships/oleObject" Target="../embeddings/oleObject5.bin"/><Relationship Id="rId9" Type="http://schemas.openxmlformats.org/officeDocument/2006/relationships/image" Target="../media/image12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13" Type="http://schemas.openxmlformats.org/officeDocument/2006/relationships/oleObject" Target="../embeddings/oleObject14.bin"/><Relationship Id="rId18" Type="http://schemas.openxmlformats.org/officeDocument/2006/relationships/image" Target="../media/image21.wmf"/><Relationship Id="rId3" Type="http://schemas.openxmlformats.org/officeDocument/2006/relationships/oleObject" Target="../embeddings/oleObject9.bin"/><Relationship Id="rId21" Type="http://schemas.openxmlformats.org/officeDocument/2006/relationships/oleObject" Target="../embeddings/oleObject18.bin"/><Relationship Id="rId7" Type="http://schemas.openxmlformats.org/officeDocument/2006/relationships/oleObject" Target="../embeddings/oleObject11.bin"/><Relationship Id="rId12" Type="http://schemas.openxmlformats.org/officeDocument/2006/relationships/image" Target="../media/image18.wmf"/><Relationship Id="rId17" Type="http://schemas.openxmlformats.org/officeDocument/2006/relationships/oleObject" Target="../embeddings/oleObject16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0.wmf"/><Relationship Id="rId20" Type="http://schemas.openxmlformats.org/officeDocument/2006/relationships/image" Target="../media/image22.wmf"/><Relationship Id="rId1" Type="http://schemas.openxmlformats.org/officeDocument/2006/relationships/vmlDrawing" Target="../drawings/vmlDrawing3.vml"/><Relationship Id="rId6" Type="http://schemas.openxmlformats.org/officeDocument/2006/relationships/image" Target="../media/image15.wmf"/><Relationship Id="rId11" Type="http://schemas.openxmlformats.org/officeDocument/2006/relationships/oleObject" Target="../embeddings/oleObject13.bin"/><Relationship Id="rId24" Type="http://schemas.openxmlformats.org/officeDocument/2006/relationships/image" Target="../media/image24.wmf"/><Relationship Id="rId5" Type="http://schemas.openxmlformats.org/officeDocument/2006/relationships/oleObject" Target="../embeddings/oleObject10.bin"/><Relationship Id="rId15" Type="http://schemas.openxmlformats.org/officeDocument/2006/relationships/oleObject" Target="../embeddings/oleObject15.bin"/><Relationship Id="rId23" Type="http://schemas.openxmlformats.org/officeDocument/2006/relationships/oleObject" Target="../embeddings/oleObject19.bin"/><Relationship Id="rId10" Type="http://schemas.openxmlformats.org/officeDocument/2006/relationships/image" Target="../media/image17.wmf"/><Relationship Id="rId19" Type="http://schemas.openxmlformats.org/officeDocument/2006/relationships/oleObject" Target="../embeddings/oleObject17.bin"/><Relationship Id="rId4" Type="http://schemas.openxmlformats.org/officeDocument/2006/relationships/image" Target="../media/image14.wmf"/><Relationship Id="rId9" Type="http://schemas.openxmlformats.org/officeDocument/2006/relationships/oleObject" Target="../embeddings/oleObject12.bin"/><Relationship Id="rId14" Type="http://schemas.openxmlformats.org/officeDocument/2006/relationships/image" Target="../media/image19.wmf"/><Relationship Id="rId22" Type="http://schemas.openxmlformats.org/officeDocument/2006/relationships/image" Target="../media/image23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13" Type="http://schemas.openxmlformats.org/officeDocument/2006/relationships/oleObject" Target="../embeddings/oleObject25.bin"/><Relationship Id="rId3" Type="http://schemas.openxmlformats.org/officeDocument/2006/relationships/oleObject" Target="../embeddings/oleObject20.bin"/><Relationship Id="rId7" Type="http://schemas.openxmlformats.org/officeDocument/2006/relationships/oleObject" Target="../embeddings/oleObject22.bin"/><Relationship Id="rId12" Type="http://schemas.openxmlformats.org/officeDocument/2006/relationships/image" Target="../media/image2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6.wmf"/><Relationship Id="rId11" Type="http://schemas.openxmlformats.org/officeDocument/2006/relationships/oleObject" Target="../embeddings/oleObject24.bin"/><Relationship Id="rId5" Type="http://schemas.openxmlformats.org/officeDocument/2006/relationships/oleObject" Target="../embeddings/oleObject21.bin"/><Relationship Id="rId10" Type="http://schemas.openxmlformats.org/officeDocument/2006/relationships/image" Target="../media/image28.wmf"/><Relationship Id="rId4" Type="http://schemas.openxmlformats.org/officeDocument/2006/relationships/image" Target="../media/image25.wmf"/><Relationship Id="rId9" Type="http://schemas.openxmlformats.org/officeDocument/2006/relationships/oleObject" Target="../embeddings/oleObject23.bin"/><Relationship Id="rId14" Type="http://schemas.openxmlformats.org/officeDocument/2006/relationships/image" Target="../media/image30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wmf"/><Relationship Id="rId13" Type="http://schemas.openxmlformats.org/officeDocument/2006/relationships/oleObject" Target="../embeddings/oleObject31.bin"/><Relationship Id="rId18" Type="http://schemas.openxmlformats.org/officeDocument/2006/relationships/image" Target="../media/image38.wmf"/><Relationship Id="rId3" Type="http://schemas.openxmlformats.org/officeDocument/2006/relationships/oleObject" Target="../embeddings/oleObject26.bin"/><Relationship Id="rId21" Type="http://schemas.openxmlformats.org/officeDocument/2006/relationships/oleObject" Target="../embeddings/oleObject35.bin"/><Relationship Id="rId7" Type="http://schemas.openxmlformats.org/officeDocument/2006/relationships/oleObject" Target="../embeddings/oleObject28.bin"/><Relationship Id="rId12" Type="http://schemas.openxmlformats.org/officeDocument/2006/relationships/image" Target="../media/image35.wmf"/><Relationship Id="rId17" Type="http://schemas.openxmlformats.org/officeDocument/2006/relationships/oleObject" Target="../embeddings/oleObject33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7.wmf"/><Relationship Id="rId20" Type="http://schemas.openxmlformats.org/officeDocument/2006/relationships/image" Target="../media/image39.wmf"/><Relationship Id="rId1" Type="http://schemas.openxmlformats.org/officeDocument/2006/relationships/vmlDrawing" Target="../drawings/vmlDrawing5.vml"/><Relationship Id="rId6" Type="http://schemas.openxmlformats.org/officeDocument/2006/relationships/image" Target="../media/image32.wmf"/><Relationship Id="rId11" Type="http://schemas.openxmlformats.org/officeDocument/2006/relationships/oleObject" Target="../embeddings/oleObject30.bin"/><Relationship Id="rId24" Type="http://schemas.openxmlformats.org/officeDocument/2006/relationships/image" Target="../media/image41.wmf"/><Relationship Id="rId5" Type="http://schemas.openxmlformats.org/officeDocument/2006/relationships/oleObject" Target="../embeddings/oleObject27.bin"/><Relationship Id="rId15" Type="http://schemas.openxmlformats.org/officeDocument/2006/relationships/oleObject" Target="../embeddings/oleObject32.bin"/><Relationship Id="rId23" Type="http://schemas.openxmlformats.org/officeDocument/2006/relationships/oleObject" Target="../embeddings/oleObject36.bin"/><Relationship Id="rId10" Type="http://schemas.openxmlformats.org/officeDocument/2006/relationships/image" Target="../media/image34.wmf"/><Relationship Id="rId19" Type="http://schemas.openxmlformats.org/officeDocument/2006/relationships/oleObject" Target="../embeddings/oleObject34.bin"/><Relationship Id="rId4" Type="http://schemas.openxmlformats.org/officeDocument/2006/relationships/image" Target="../media/image31.wmf"/><Relationship Id="rId9" Type="http://schemas.openxmlformats.org/officeDocument/2006/relationships/oleObject" Target="../embeddings/oleObject29.bin"/><Relationship Id="rId14" Type="http://schemas.openxmlformats.org/officeDocument/2006/relationships/image" Target="../media/image36.wmf"/><Relationship Id="rId22" Type="http://schemas.openxmlformats.org/officeDocument/2006/relationships/image" Target="../media/image40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wmf"/><Relationship Id="rId13" Type="http://schemas.openxmlformats.org/officeDocument/2006/relationships/oleObject" Target="../embeddings/oleObject42.bin"/><Relationship Id="rId18" Type="http://schemas.openxmlformats.org/officeDocument/2006/relationships/image" Target="../media/image49.wmf"/><Relationship Id="rId26" Type="http://schemas.openxmlformats.org/officeDocument/2006/relationships/image" Target="../media/image53.wmf"/><Relationship Id="rId3" Type="http://schemas.openxmlformats.org/officeDocument/2006/relationships/oleObject" Target="../embeddings/oleObject37.bin"/><Relationship Id="rId21" Type="http://schemas.openxmlformats.org/officeDocument/2006/relationships/oleObject" Target="../embeddings/oleObject46.bin"/><Relationship Id="rId7" Type="http://schemas.openxmlformats.org/officeDocument/2006/relationships/oleObject" Target="../embeddings/oleObject39.bin"/><Relationship Id="rId12" Type="http://schemas.openxmlformats.org/officeDocument/2006/relationships/image" Target="../media/image46.wmf"/><Relationship Id="rId17" Type="http://schemas.openxmlformats.org/officeDocument/2006/relationships/oleObject" Target="../embeddings/oleObject44.bin"/><Relationship Id="rId25" Type="http://schemas.openxmlformats.org/officeDocument/2006/relationships/oleObject" Target="../embeddings/oleObject48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8.wmf"/><Relationship Id="rId20" Type="http://schemas.openxmlformats.org/officeDocument/2006/relationships/image" Target="../media/image50.wmf"/><Relationship Id="rId1" Type="http://schemas.openxmlformats.org/officeDocument/2006/relationships/vmlDrawing" Target="../drawings/vmlDrawing6.vml"/><Relationship Id="rId6" Type="http://schemas.openxmlformats.org/officeDocument/2006/relationships/image" Target="../media/image43.wmf"/><Relationship Id="rId11" Type="http://schemas.openxmlformats.org/officeDocument/2006/relationships/oleObject" Target="../embeddings/oleObject41.bin"/><Relationship Id="rId24" Type="http://schemas.openxmlformats.org/officeDocument/2006/relationships/image" Target="../media/image52.wmf"/><Relationship Id="rId5" Type="http://schemas.openxmlformats.org/officeDocument/2006/relationships/oleObject" Target="../embeddings/oleObject38.bin"/><Relationship Id="rId15" Type="http://schemas.openxmlformats.org/officeDocument/2006/relationships/oleObject" Target="../embeddings/oleObject43.bin"/><Relationship Id="rId23" Type="http://schemas.openxmlformats.org/officeDocument/2006/relationships/oleObject" Target="../embeddings/oleObject47.bin"/><Relationship Id="rId28" Type="http://schemas.openxmlformats.org/officeDocument/2006/relationships/image" Target="../media/image54.wmf"/><Relationship Id="rId10" Type="http://schemas.openxmlformats.org/officeDocument/2006/relationships/image" Target="../media/image45.wmf"/><Relationship Id="rId19" Type="http://schemas.openxmlformats.org/officeDocument/2006/relationships/oleObject" Target="../embeddings/oleObject45.bin"/><Relationship Id="rId4" Type="http://schemas.openxmlformats.org/officeDocument/2006/relationships/image" Target="../media/image42.wmf"/><Relationship Id="rId9" Type="http://schemas.openxmlformats.org/officeDocument/2006/relationships/oleObject" Target="../embeddings/oleObject40.bin"/><Relationship Id="rId14" Type="http://schemas.openxmlformats.org/officeDocument/2006/relationships/image" Target="../media/image47.wmf"/><Relationship Id="rId22" Type="http://schemas.openxmlformats.org/officeDocument/2006/relationships/image" Target="../media/image51.wmf"/><Relationship Id="rId27" Type="http://schemas.openxmlformats.org/officeDocument/2006/relationships/oleObject" Target="../embeddings/oleObject49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wmf"/><Relationship Id="rId3" Type="http://schemas.openxmlformats.org/officeDocument/2006/relationships/oleObject" Target="../embeddings/oleObject50.bin"/><Relationship Id="rId7" Type="http://schemas.openxmlformats.org/officeDocument/2006/relationships/oleObject" Target="../embeddings/oleObject52.bin"/><Relationship Id="rId12" Type="http://schemas.openxmlformats.org/officeDocument/2006/relationships/image" Target="../media/image5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56.wmf"/><Relationship Id="rId11" Type="http://schemas.openxmlformats.org/officeDocument/2006/relationships/oleObject" Target="../embeddings/oleObject54.bin"/><Relationship Id="rId5" Type="http://schemas.openxmlformats.org/officeDocument/2006/relationships/oleObject" Target="../embeddings/oleObject51.bin"/><Relationship Id="rId10" Type="http://schemas.openxmlformats.org/officeDocument/2006/relationships/image" Target="../media/image58.wmf"/><Relationship Id="rId4" Type="http://schemas.openxmlformats.org/officeDocument/2006/relationships/image" Target="../media/image55.wmf"/><Relationship Id="rId9" Type="http://schemas.openxmlformats.org/officeDocument/2006/relationships/oleObject" Target="../embeddings/oleObject53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61.wmf"/><Relationship Id="rId5" Type="http://schemas.openxmlformats.org/officeDocument/2006/relationships/oleObject" Target="../embeddings/oleObject56.bin"/><Relationship Id="rId4" Type="http://schemas.openxmlformats.org/officeDocument/2006/relationships/image" Target="../media/image60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wmf"/><Relationship Id="rId13" Type="http://schemas.openxmlformats.org/officeDocument/2006/relationships/oleObject" Target="../embeddings/oleObject60.bin"/><Relationship Id="rId18" Type="http://schemas.openxmlformats.org/officeDocument/2006/relationships/image" Target="../media/image67.wmf"/><Relationship Id="rId3" Type="http://schemas.openxmlformats.org/officeDocument/2006/relationships/oleObject" Target="../embeddings/oleObject55.bin"/><Relationship Id="rId7" Type="http://schemas.openxmlformats.org/officeDocument/2006/relationships/oleObject" Target="../embeddings/oleObject57.bin"/><Relationship Id="rId12" Type="http://schemas.openxmlformats.org/officeDocument/2006/relationships/image" Target="../media/image64.wmf"/><Relationship Id="rId17" Type="http://schemas.openxmlformats.org/officeDocument/2006/relationships/oleObject" Target="../embeddings/oleObject62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66.wmf"/><Relationship Id="rId1" Type="http://schemas.openxmlformats.org/officeDocument/2006/relationships/vmlDrawing" Target="../drawings/vmlDrawing9.vml"/><Relationship Id="rId6" Type="http://schemas.openxmlformats.org/officeDocument/2006/relationships/image" Target="../media/image61.wmf"/><Relationship Id="rId11" Type="http://schemas.openxmlformats.org/officeDocument/2006/relationships/oleObject" Target="../embeddings/oleObject59.bin"/><Relationship Id="rId5" Type="http://schemas.openxmlformats.org/officeDocument/2006/relationships/oleObject" Target="../embeddings/oleObject56.bin"/><Relationship Id="rId15" Type="http://schemas.openxmlformats.org/officeDocument/2006/relationships/oleObject" Target="../embeddings/oleObject61.bin"/><Relationship Id="rId10" Type="http://schemas.openxmlformats.org/officeDocument/2006/relationships/image" Target="../media/image63.wmf"/><Relationship Id="rId4" Type="http://schemas.openxmlformats.org/officeDocument/2006/relationships/image" Target="../media/image60.wmf"/><Relationship Id="rId9" Type="http://schemas.openxmlformats.org/officeDocument/2006/relationships/oleObject" Target="../embeddings/oleObject58.bin"/><Relationship Id="rId14" Type="http://schemas.openxmlformats.org/officeDocument/2006/relationships/image" Target="../media/image65.w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68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wmf"/><Relationship Id="rId3" Type="http://schemas.openxmlformats.org/officeDocument/2006/relationships/oleObject" Target="../embeddings/oleObject64.bin"/><Relationship Id="rId7" Type="http://schemas.openxmlformats.org/officeDocument/2006/relationships/oleObject" Target="../embeddings/oleObject6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37.wmf"/><Relationship Id="rId5" Type="http://schemas.openxmlformats.org/officeDocument/2006/relationships/oleObject" Target="../embeddings/oleObject65.bin"/><Relationship Id="rId4" Type="http://schemas.openxmlformats.org/officeDocument/2006/relationships/image" Target="../media/image69.w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wmf"/><Relationship Id="rId13" Type="http://schemas.openxmlformats.org/officeDocument/2006/relationships/oleObject" Target="../embeddings/oleObject72.bin"/><Relationship Id="rId18" Type="http://schemas.openxmlformats.org/officeDocument/2006/relationships/image" Target="../media/image77.wmf"/><Relationship Id="rId26" Type="http://schemas.openxmlformats.org/officeDocument/2006/relationships/image" Target="../media/image81.wmf"/><Relationship Id="rId3" Type="http://schemas.openxmlformats.org/officeDocument/2006/relationships/oleObject" Target="../embeddings/oleObject67.bin"/><Relationship Id="rId21" Type="http://schemas.openxmlformats.org/officeDocument/2006/relationships/oleObject" Target="../embeddings/oleObject76.bin"/><Relationship Id="rId7" Type="http://schemas.openxmlformats.org/officeDocument/2006/relationships/oleObject" Target="../embeddings/oleObject69.bin"/><Relationship Id="rId12" Type="http://schemas.openxmlformats.org/officeDocument/2006/relationships/image" Target="../media/image74.wmf"/><Relationship Id="rId17" Type="http://schemas.openxmlformats.org/officeDocument/2006/relationships/oleObject" Target="../embeddings/oleObject74.bin"/><Relationship Id="rId25" Type="http://schemas.openxmlformats.org/officeDocument/2006/relationships/oleObject" Target="../embeddings/oleObject78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76.wmf"/><Relationship Id="rId20" Type="http://schemas.openxmlformats.org/officeDocument/2006/relationships/image" Target="../media/image78.wmf"/><Relationship Id="rId29" Type="http://schemas.openxmlformats.org/officeDocument/2006/relationships/oleObject" Target="../embeddings/oleObject80.bin"/><Relationship Id="rId1" Type="http://schemas.openxmlformats.org/officeDocument/2006/relationships/vmlDrawing" Target="../drawings/vmlDrawing12.vml"/><Relationship Id="rId6" Type="http://schemas.openxmlformats.org/officeDocument/2006/relationships/image" Target="../media/image71.wmf"/><Relationship Id="rId11" Type="http://schemas.openxmlformats.org/officeDocument/2006/relationships/oleObject" Target="../embeddings/oleObject71.bin"/><Relationship Id="rId24" Type="http://schemas.openxmlformats.org/officeDocument/2006/relationships/image" Target="../media/image80.wmf"/><Relationship Id="rId5" Type="http://schemas.openxmlformats.org/officeDocument/2006/relationships/oleObject" Target="../embeddings/oleObject68.bin"/><Relationship Id="rId15" Type="http://schemas.openxmlformats.org/officeDocument/2006/relationships/oleObject" Target="../embeddings/oleObject73.bin"/><Relationship Id="rId23" Type="http://schemas.openxmlformats.org/officeDocument/2006/relationships/oleObject" Target="../embeddings/oleObject77.bin"/><Relationship Id="rId28" Type="http://schemas.openxmlformats.org/officeDocument/2006/relationships/image" Target="../media/image82.wmf"/><Relationship Id="rId10" Type="http://schemas.openxmlformats.org/officeDocument/2006/relationships/image" Target="../media/image73.wmf"/><Relationship Id="rId19" Type="http://schemas.openxmlformats.org/officeDocument/2006/relationships/oleObject" Target="../embeddings/oleObject75.bin"/><Relationship Id="rId4" Type="http://schemas.openxmlformats.org/officeDocument/2006/relationships/image" Target="../media/image68.wmf"/><Relationship Id="rId9" Type="http://schemas.openxmlformats.org/officeDocument/2006/relationships/oleObject" Target="../embeddings/oleObject70.bin"/><Relationship Id="rId14" Type="http://schemas.openxmlformats.org/officeDocument/2006/relationships/image" Target="../media/image75.wmf"/><Relationship Id="rId22" Type="http://schemas.openxmlformats.org/officeDocument/2006/relationships/image" Target="../media/image79.wmf"/><Relationship Id="rId27" Type="http://schemas.openxmlformats.org/officeDocument/2006/relationships/oleObject" Target="../embeddings/oleObject79.bin"/><Relationship Id="rId30" Type="http://schemas.openxmlformats.org/officeDocument/2006/relationships/image" Target="../media/image83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wmf"/><Relationship Id="rId13" Type="http://schemas.openxmlformats.org/officeDocument/2006/relationships/oleObject" Target="../embeddings/oleObject86.bin"/><Relationship Id="rId18" Type="http://schemas.openxmlformats.org/officeDocument/2006/relationships/image" Target="../media/image82.wmf"/><Relationship Id="rId3" Type="http://schemas.openxmlformats.org/officeDocument/2006/relationships/oleObject" Target="../embeddings/oleObject81.bin"/><Relationship Id="rId7" Type="http://schemas.openxmlformats.org/officeDocument/2006/relationships/oleObject" Target="../embeddings/oleObject83.bin"/><Relationship Id="rId12" Type="http://schemas.openxmlformats.org/officeDocument/2006/relationships/image" Target="../media/image88.wmf"/><Relationship Id="rId17" Type="http://schemas.openxmlformats.org/officeDocument/2006/relationships/oleObject" Target="../embeddings/oleObject88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81.wmf"/><Relationship Id="rId20" Type="http://schemas.openxmlformats.org/officeDocument/2006/relationships/image" Target="../media/image78.wmf"/><Relationship Id="rId1" Type="http://schemas.openxmlformats.org/officeDocument/2006/relationships/vmlDrawing" Target="../drawings/vmlDrawing13.vml"/><Relationship Id="rId6" Type="http://schemas.openxmlformats.org/officeDocument/2006/relationships/image" Target="../media/image85.wmf"/><Relationship Id="rId11" Type="http://schemas.openxmlformats.org/officeDocument/2006/relationships/oleObject" Target="../embeddings/oleObject85.bin"/><Relationship Id="rId5" Type="http://schemas.openxmlformats.org/officeDocument/2006/relationships/oleObject" Target="../embeddings/oleObject82.bin"/><Relationship Id="rId15" Type="http://schemas.openxmlformats.org/officeDocument/2006/relationships/oleObject" Target="../embeddings/oleObject87.bin"/><Relationship Id="rId10" Type="http://schemas.openxmlformats.org/officeDocument/2006/relationships/image" Target="../media/image87.wmf"/><Relationship Id="rId19" Type="http://schemas.openxmlformats.org/officeDocument/2006/relationships/oleObject" Target="../embeddings/oleObject89.bin"/><Relationship Id="rId4" Type="http://schemas.openxmlformats.org/officeDocument/2006/relationships/image" Target="../media/image84.wmf"/><Relationship Id="rId9" Type="http://schemas.openxmlformats.org/officeDocument/2006/relationships/oleObject" Target="../embeddings/oleObject84.bin"/><Relationship Id="rId14" Type="http://schemas.openxmlformats.org/officeDocument/2006/relationships/image" Target="../media/image80.wmf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wmf"/><Relationship Id="rId13" Type="http://schemas.openxmlformats.org/officeDocument/2006/relationships/oleObject" Target="../embeddings/oleObject95.bin"/><Relationship Id="rId18" Type="http://schemas.openxmlformats.org/officeDocument/2006/relationships/image" Target="../media/image96.wmf"/><Relationship Id="rId3" Type="http://schemas.openxmlformats.org/officeDocument/2006/relationships/oleObject" Target="../embeddings/oleObject90.bin"/><Relationship Id="rId7" Type="http://schemas.openxmlformats.org/officeDocument/2006/relationships/oleObject" Target="../embeddings/oleObject92.bin"/><Relationship Id="rId12" Type="http://schemas.openxmlformats.org/officeDocument/2006/relationships/image" Target="../media/image93.wmf"/><Relationship Id="rId17" Type="http://schemas.openxmlformats.org/officeDocument/2006/relationships/oleObject" Target="../embeddings/oleObject97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95.wmf"/><Relationship Id="rId20" Type="http://schemas.openxmlformats.org/officeDocument/2006/relationships/image" Target="../media/image97.wmf"/><Relationship Id="rId1" Type="http://schemas.openxmlformats.org/officeDocument/2006/relationships/vmlDrawing" Target="../drawings/vmlDrawing14.vml"/><Relationship Id="rId6" Type="http://schemas.openxmlformats.org/officeDocument/2006/relationships/image" Target="../media/image90.wmf"/><Relationship Id="rId11" Type="http://schemas.openxmlformats.org/officeDocument/2006/relationships/oleObject" Target="../embeddings/oleObject94.bin"/><Relationship Id="rId5" Type="http://schemas.openxmlformats.org/officeDocument/2006/relationships/oleObject" Target="../embeddings/oleObject91.bin"/><Relationship Id="rId15" Type="http://schemas.openxmlformats.org/officeDocument/2006/relationships/oleObject" Target="../embeddings/oleObject96.bin"/><Relationship Id="rId10" Type="http://schemas.openxmlformats.org/officeDocument/2006/relationships/image" Target="../media/image92.wmf"/><Relationship Id="rId19" Type="http://schemas.openxmlformats.org/officeDocument/2006/relationships/oleObject" Target="../embeddings/oleObject98.bin"/><Relationship Id="rId4" Type="http://schemas.openxmlformats.org/officeDocument/2006/relationships/image" Target="../media/image89.wmf"/><Relationship Id="rId9" Type="http://schemas.openxmlformats.org/officeDocument/2006/relationships/oleObject" Target="../embeddings/oleObject93.bin"/><Relationship Id="rId14" Type="http://schemas.openxmlformats.org/officeDocument/2006/relationships/image" Target="../media/image94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wmf"/><Relationship Id="rId13" Type="http://schemas.openxmlformats.org/officeDocument/2006/relationships/oleObject" Target="../embeddings/oleObject104.bin"/><Relationship Id="rId18" Type="http://schemas.openxmlformats.org/officeDocument/2006/relationships/image" Target="../media/image105.wmf"/><Relationship Id="rId3" Type="http://schemas.openxmlformats.org/officeDocument/2006/relationships/oleObject" Target="../embeddings/oleObject99.bin"/><Relationship Id="rId21" Type="http://schemas.openxmlformats.org/officeDocument/2006/relationships/oleObject" Target="../embeddings/oleObject108.bin"/><Relationship Id="rId7" Type="http://schemas.openxmlformats.org/officeDocument/2006/relationships/oleObject" Target="../embeddings/oleObject101.bin"/><Relationship Id="rId12" Type="http://schemas.openxmlformats.org/officeDocument/2006/relationships/image" Target="../media/image102.wmf"/><Relationship Id="rId17" Type="http://schemas.openxmlformats.org/officeDocument/2006/relationships/oleObject" Target="../embeddings/oleObject106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04.wmf"/><Relationship Id="rId20" Type="http://schemas.openxmlformats.org/officeDocument/2006/relationships/image" Target="../media/image106.wmf"/><Relationship Id="rId1" Type="http://schemas.openxmlformats.org/officeDocument/2006/relationships/vmlDrawing" Target="../drawings/vmlDrawing15.vml"/><Relationship Id="rId6" Type="http://schemas.openxmlformats.org/officeDocument/2006/relationships/image" Target="../media/image99.wmf"/><Relationship Id="rId11" Type="http://schemas.openxmlformats.org/officeDocument/2006/relationships/oleObject" Target="../embeddings/oleObject103.bin"/><Relationship Id="rId24" Type="http://schemas.openxmlformats.org/officeDocument/2006/relationships/image" Target="../media/image108.wmf"/><Relationship Id="rId5" Type="http://schemas.openxmlformats.org/officeDocument/2006/relationships/oleObject" Target="../embeddings/oleObject100.bin"/><Relationship Id="rId15" Type="http://schemas.openxmlformats.org/officeDocument/2006/relationships/oleObject" Target="../embeddings/oleObject105.bin"/><Relationship Id="rId23" Type="http://schemas.openxmlformats.org/officeDocument/2006/relationships/oleObject" Target="../embeddings/oleObject109.bin"/><Relationship Id="rId10" Type="http://schemas.openxmlformats.org/officeDocument/2006/relationships/image" Target="../media/image101.wmf"/><Relationship Id="rId19" Type="http://schemas.openxmlformats.org/officeDocument/2006/relationships/oleObject" Target="../embeddings/oleObject107.bin"/><Relationship Id="rId4" Type="http://schemas.openxmlformats.org/officeDocument/2006/relationships/image" Target="../media/image98.wmf"/><Relationship Id="rId9" Type="http://schemas.openxmlformats.org/officeDocument/2006/relationships/oleObject" Target="../embeddings/oleObject102.bin"/><Relationship Id="rId14" Type="http://schemas.openxmlformats.org/officeDocument/2006/relationships/image" Target="../media/image103.wmf"/><Relationship Id="rId22" Type="http://schemas.openxmlformats.org/officeDocument/2006/relationships/image" Target="../media/image107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wmf"/><Relationship Id="rId13" Type="http://schemas.openxmlformats.org/officeDocument/2006/relationships/image" Target="../media/image103.wmf"/><Relationship Id="rId18" Type="http://schemas.openxmlformats.org/officeDocument/2006/relationships/oleObject" Target="../embeddings/oleObject118.bin"/><Relationship Id="rId3" Type="http://schemas.openxmlformats.org/officeDocument/2006/relationships/oleObject" Target="../embeddings/oleObject110.bin"/><Relationship Id="rId7" Type="http://schemas.openxmlformats.org/officeDocument/2006/relationships/oleObject" Target="../embeddings/oleObject112.bin"/><Relationship Id="rId12" Type="http://schemas.openxmlformats.org/officeDocument/2006/relationships/oleObject" Target="../embeddings/oleObject115.bin"/><Relationship Id="rId17" Type="http://schemas.openxmlformats.org/officeDocument/2006/relationships/image" Target="../media/image113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17.bin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10.wmf"/><Relationship Id="rId11" Type="http://schemas.openxmlformats.org/officeDocument/2006/relationships/image" Target="../media/image100.wmf"/><Relationship Id="rId5" Type="http://schemas.openxmlformats.org/officeDocument/2006/relationships/oleObject" Target="../embeddings/oleObject111.bin"/><Relationship Id="rId15" Type="http://schemas.openxmlformats.org/officeDocument/2006/relationships/image" Target="../media/image112.wmf"/><Relationship Id="rId10" Type="http://schemas.openxmlformats.org/officeDocument/2006/relationships/oleObject" Target="../embeddings/oleObject114.bin"/><Relationship Id="rId4" Type="http://schemas.openxmlformats.org/officeDocument/2006/relationships/image" Target="../media/image109.wmf"/><Relationship Id="rId9" Type="http://schemas.openxmlformats.org/officeDocument/2006/relationships/oleObject" Target="../embeddings/oleObject113.bin"/><Relationship Id="rId14" Type="http://schemas.openxmlformats.org/officeDocument/2006/relationships/oleObject" Target="../embeddings/oleObject116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wmf"/><Relationship Id="rId3" Type="http://schemas.openxmlformats.org/officeDocument/2006/relationships/oleObject" Target="../embeddings/oleObject119.bin"/><Relationship Id="rId7" Type="http://schemas.openxmlformats.org/officeDocument/2006/relationships/oleObject" Target="../embeddings/oleObject12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15.wmf"/><Relationship Id="rId5" Type="http://schemas.openxmlformats.org/officeDocument/2006/relationships/oleObject" Target="../embeddings/oleObject120.bin"/><Relationship Id="rId10" Type="http://schemas.openxmlformats.org/officeDocument/2006/relationships/image" Target="../media/image117.wmf"/><Relationship Id="rId4" Type="http://schemas.openxmlformats.org/officeDocument/2006/relationships/image" Target="../media/image114.wmf"/><Relationship Id="rId9" Type="http://schemas.openxmlformats.org/officeDocument/2006/relationships/oleObject" Target="../embeddings/oleObject122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wmf"/><Relationship Id="rId13" Type="http://schemas.openxmlformats.org/officeDocument/2006/relationships/oleObject" Target="../embeddings/oleObject128.bin"/><Relationship Id="rId18" Type="http://schemas.openxmlformats.org/officeDocument/2006/relationships/image" Target="../media/image125.wmf"/><Relationship Id="rId3" Type="http://schemas.openxmlformats.org/officeDocument/2006/relationships/oleObject" Target="../embeddings/oleObject123.bin"/><Relationship Id="rId21" Type="http://schemas.openxmlformats.org/officeDocument/2006/relationships/oleObject" Target="../embeddings/oleObject132.bin"/><Relationship Id="rId7" Type="http://schemas.openxmlformats.org/officeDocument/2006/relationships/oleObject" Target="../embeddings/oleObject125.bin"/><Relationship Id="rId12" Type="http://schemas.openxmlformats.org/officeDocument/2006/relationships/image" Target="../media/image122.wmf"/><Relationship Id="rId17" Type="http://schemas.openxmlformats.org/officeDocument/2006/relationships/oleObject" Target="../embeddings/oleObject130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24.wmf"/><Relationship Id="rId20" Type="http://schemas.openxmlformats.org/officeDocument/2006/relationships/image" Target="../media/image126.wmf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19.wmf"/><Relationship Id="rId11" Type="http://schemas.openxmlformats.org/officeDocument/2006/relationships/oleObject" Target="../embeddings/oleObject127.bin"/><Relationship Id="rId24" Type="http://schemas.openxmlformats.org/officeDocument/2006/relationships/image" Target="../media/image128.wmf"/><Relationship Id="rId5" Type="http://schemas.openxmlformats.org/officeDocument/2006/relationships/oleObject" Target="../embeddings/oleObject124.bin"/><Relationship Id="rId15" Type="http://schemas.openxmlformats.org/officeDocument/2006/relationships/oleObject" Target="../embeddings/oleObject129.bin"/><Relationship Id="rId23" Type="http://schemas.openxmlformats.org/officeDocument/2006/relationships/oleObject" Target="../embeddings/oleObject133.bin"/><Relationship Id="rId10" Type="http://schemas.openxmlformats.org/officeDocument/2006/relationships/image" Target="../media/image121.wmf"/><Relationship Id="rId19" Type="http://schemas.openxmlformats.org/officeDocument/2006/relationships/oleObject" Target="../embeddings/oleObject131.bin"/><Relationship Id="rId4" Type="http://schemas.openxmlformats.org/officeDocument/2006/relationships/image" Target="../media/image118.wmf"/><Relationship Id="rId9" Type="http://schemas.openxmlformats.org/officeDocument/2006/relationships/oleObject" Target="../embeddings/oleObject126.bin"/><Relationship Id="rId14" Type="http://schemas.openxmlformats.org/officeDocument/2006/relationships/image" Target="../media/image123.wmf"/><Relationship Id="rId22" Type="http://schemas.openxmlformats.org/officeDocument/2006/relationships/image" Target="../media/image127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1.wmf"/><Relationship Id="rId13" Type="http://schemas.openxmlformats.org/officeDocument/2006/relationships/oleObject" Target="../embeddings/oleObject139.bin"/><Relationship Id="rId18" Type="http://schemas.openxmlformats.org/officeDocument/2006/relationships/image" Target="../media/image136.wmf"/><Relationship Id="rId3" Type="http://schemas.openxmlformats.org/officeDocument/2006/relationships/oleObject" Target="../embeddings/oleObject134.bin"/><Relationship Id="rId7" Type="http://schemas.openxmlformats.org/officeDocument/2006/relationships/oleObject" Target="../embeddings/oleObject136.bin"/><Relationship Id="rId12" Type="http://schemas.openxmlformats.org/officeDocument/2006/relationships/image" Target="../media/image133.wmf"/><Relationship Id="rId17" Type="http://schemas.openxmlformats.org/officeDocument/2006/relationships/oleObject" Target="../embeddings/oleObject141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35.wmf"/><Relationship Id="rId20" Type="http://schemas.openxmlformats.org/officeDocument/2006/relationships/image" Target="../media/image137.wmf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30.wmf"/><Relationship Id="rId11" Type="http://schemas.openxmlformats.org/officeDocument/2006/relationships/oleObject" Target="../embeddings/oleObject138.bin"/><Relationship Id="rId5" Type="http://schemas.openxmlformats.org/officeDocument/2006/relationships/oleObject" Target="../embeddings/oleObject135.bin"/><Relationship Id="rId15" Type="http://schemas.openxmlformats.org/officeDocument/2006/relationships/oleObject" Target="../embeddings/oleObject140.bin"/><Relationship Id="rId10" Type="http://schemas.openxmlformats.org/officeDocument/2006/relationships/image" Target="../media/image132.wmf"/><Relationship Id="rId19" Type="http://schemas.openxmlformats.org/officeDocument/2006/relationships/oleObject" Target="../embeddings/oleObject142.bin"/><Relationship Id="rId4" Type="http://schemas.openxmlformats.org/officeDocument/2006/relationships/image" Target="../media/image129.wmf"/><Relationship Id="rId9" Type="http://schemas.openxmlformats.org/officeDocument/2006/relationships/oleObject" Target="../embeddings/oleObject137.bin"/><Relationship Id="rId14" Type="http://schemas.openxmlformats.org/officeDocument/2006/relationships/image" Target="../media/image134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wmf"/><Relationship Id="rId13" Type="http://schemas.openxmlformats.org/officeDocument/2006/relationships/oleObject" Target="../embeddings/oleObject148.bin"/><Relationship Id="rId18" Type="http://schemas.openxmlformats.org/officeDocument/2006/relationships/image" Target="../media/image145.wmf"/><Relationship Id="rId26" Type="http://schemas.openxmlformats.org/officeDocument/2006/relationships/image" Target="../media/image149.wmf"/><Relationship Id="rId3" Type="http://schemas.openxmlformats.org/officeDocument/2006/relationships/oleObject" Target="../embeddings/oleObject143.bin"/><Relationship Id="rId21" Type="http://schemas.openxmlformats.org/officeDocument/2006/relationships/oleObject" Target="../embeddings/oleObject152.bin"/><Relationship Id="rId7" Type="http://schemas.openxmlformats.org/officeDocument/2006/relationships/oleObject" Target="../embeddings/oleObject145.bin"/><Relationship Id="rId12" Type="http://schemas.openxmlformats.org/officeDocument/2006/relationships/image" Target="../media/image142.wmf"/><Relationship Id="rId17" Type="http://schemas.openxmlformats.org/officeDocument/2006/relationships/oleObject" Target="../embeddings/oleObject150.bin"/><Relationship Id="rId25" Type="http://schemas.openxmlformats.org/officeDocument/2006/relationships/oleObject" Target="../embeddings/oleObject154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44.wmf"/><Relationship Id="rId20" Type="http://schemas.openxmlformats.org/officeDocument/2006/relationships/image" Target="../media/image146.wmf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39.wmf"/><Relationship Id="rId11" Type="http://schemas.openxmlformats.org/officeDocument/2006/relationships/oleObject" Target="../embeddings/oleObject147.bin"/><Relationship Id="rId24" Type="http://schemas.openxmlformats.org/officeDocument/2006/relationships/image" Target="../media/image148.wmf"/><Relationship Id="rId5" Type="http://schemas.openxmlformats.org/officeDocument/2006/relationships/oleObject" Target="../embeddings/oleObject144.bin"/><Relationship Id="rId15" Type="http://schemas.openxmlformats.org/officeDocument/2006/relationships/oleObject" Target="../embeddings/oleObject149.bin"/><Relationship Id="rId23" Type="http://schemas.openxmlformats.org/officeDocument/2006/relationships/oleObject" Target="../embeddings/oleObject153.bin"/><Relationship Id="rId10" Type="http://schemas.openxmlformats.org/officeDocument/2006/relationships/image" Target="../media/image141.wmf"/><Relationship Id="rId19" Type="http://schemas.openxmlformats.org/officeDocument/2006/relationships/oleObject" Target="../embeddings/oleObject151.bin"/><Relationship Id="rId4" Type="http://schemas.openxmlformats.org/officeDocument/2006/relationships/image" Target="../media/image138.wmf"/><Relationship Id="rId9" Type="http://schemas.openxmlformats.org/officeDocument/2006/relationships/oleObject" Target="../embeddings/oleObject146.bin"/><Relationship Id="rId14" Type="http://schemas.openxmlformats.org/officeDocument/2006/relationships/image" Target="../media/image143.wmf"/><Relationship Id="rId22" Type="http://schemas.openxmlformats.org/officeDocument/2006/relationships/image" Target="../media/image147.w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7.bin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15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6" Type="http://schemas.openxmlformats.org/officeDocument/2006/relationships/oleObject" Target="../embeddings/oleObject156.bin"/><Relationship Id="rId11" Type="http://schemas.openxmlformats.org/officeDocument/2006/relationships/image" Target="../media/image153.wmf"/><Relationship Id="rId5" Type="http://schemas.openxmlformats.org/officeDocument/2006/relationships/image" Target="../media/image150.wmf"/><Relationship Id="rId10" Type="http://schemas.openxmlformats.org/officeDocument/2006/relationships/oleObject" Target="../embeddings/oleObject158.bin"/><Relationship Id="rId4" Type="http://schemas.openxmlformats.org/officeDocument/2006/relationships/oleObject" Target="../embeddings/oleObject155.bin"/><Relationship Id="rId9" Type="http://schemas.openxmlformats.org/officeDocument/2006/relationships/image" Target="../media/image152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5.wmf"/><Relationship Id="rId3" Type="http://schemas.openxmlformats.org/officeDocument/2006/relationships/oleObject" Target="../embeddings/oleObject159.bin"/><Relationship Id="rId7" Type="http://schemas.openxmlformats.org/officeDocument/2006/relationships/oleObject" Target="../embeddings/oleObject16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47.wmf"/><Relationship Id="rId5" Type="http://schemas.openxmlformats.org/officeDocument/2006/relationships/oleObject" Target="../embeddings/oleObject160.bin"/><Relationship Id="rId10" Type="http://schemas.openxmlformats.org/officeDocument/2006/relationships/image" Target="../media/image156.wmf"/><Relationship Id="rId4" Type="http://schemas.openxmlformats.org/officeDocument/2006/relationships/image" Target="../media/image154.wmf"/><Relationship Id="rId9" Type="http://schemas.openxmlformats.org/officeDocument/2006/relationships/oleObject" Target="../embeddings/oleObject162.bin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9.wmf"/><Relationship Id="rId13" Type="http://schemas.openxmlformats.org/officeDocument/2006/relationships/oleObject" Target="../embeddings/oleObject168.bin"/><Relationship Id="rId18" Type="http://schemas.openxmlformats.org/officeDocument/2006/relationships/image" Target="../media/image164.wmf"/><Relationship Id="rId3" Type="http://schemas.openxmlformats.org/officeDocument/2006/relationships/oleObject" Target="../embeddings/oleObject163.bin"/><Relationship Id="rId7" Type="http://schemas.openxmlformats.org/officeDocument/2006/relationships/oleObject" Target="../embeddings/oleObject165.bin"/><Relationship Id="rId12" Type="http://schemas.openxmlformats.org/officeDocument/2006/relationships/image" Target="../media/image161.wmf"/><Relationship Id="rId17" Type="http://schemas.openxmlformats.org/officeDocument/2006/relationships/oleObject" Target="../embeddings/oleObject170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63.wmf"/><Relationship Id="rId1" Type="http://schemas.openxmlformats.org/officeDocument/2006/relationships/vmlDrawing" Target="../drawings/vmlDrawing23.vml"/><Relationship Id="rId6" Type="http://schemas.openxmlformats.org/officeDocument/2006/relationships/image" Target="../media/image158.wmf"/><Relationship Id="rId11" Type="http://schemas.openxmlformats.org/officeDocument/2006/relationships/oleObject" Target="../embeddings/oleObject167.bin"/><Relationship Id="rId5" Type="http://schemas.openxmlformats.org/officeDocument/2006/relationships/oleObject" Target="../embeddings/oleObject164.bin"/><Relationship Id="rId15" Type="http://schemas.openxmlformats.org/officeDocument/2006/relationships/oleObject" Target="../embeddings/oleObject169.bin"/><Relationship Id="rId10" Type="http://schemas.openxmlformats.org/officeDocument/2006/relationships/image" Target="../media/image160.wmf"/><Relationship Id="rId4" Type="http://schemas.openxmlformats.org/officeDocument/2006/relationships/image" Target="../media/image157.wmf"/><Relationship Id="rId9" Type="http://schemas.openxmlformats.org/officeDocument/2006/relationships/oleObject" Target="../embeddings/oleObject166.bin"/><Relationship Id="rId14" Type="http://schemas.openxmlformats.org/officeDocument/2006/relationships/image" Target="../media/image162.wmf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7.wmf"/><Relationship Id="rId13" Type="http://schemas.openxmlformats.org/officeDocument/2006/relationships/oleObject" Target="../embeddings/oleObject176.bin"/><Relationship Id="rId18" Type="http://schemas.openxmlformats.org/officeDocument/2006/relationships/image" Target="../media/image172.wmf"/><Relationship Id="rId3" Type="http://schemas.openxmlformats.org/officeDocument/2006/relationships/oleObject" Target="../embeddings/oleObject171.bin"/><Relationship Id="rId21" Type="http://schemas.openxmlformats.org/officeDocument/2006/relationships/oleObject" Target="../embeddings/oleObject180.bin"/><Relationship Id="rId7" Type="http://schemas.openxmlformats.org/officeDocument/2006/relationships/oleObject" Target="../embeddings/oleObject173.bin"/><Relationship Id="rId12" Type="http://schemas.openxmlformats.org/officeDocument/2006/relationships/image" Target="../media/image169.wmf"/><Relationship Id="rId17" Type="http://schemas.openxmlformats.org/officeDocument/2006/relationships/oleObject" Target="../embeddings/oleObject178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71.wmf"/><Relationship Id="rId20" Type="http://schemas.openxmlformats.org/officeDocument/2006/relationships/image" Target="../media/image173.wmf"/><Relationship Id="rId1" Type="http://schemas.openxmlformats.org/officeDocument/2006/relationships/vmlDrawing" Target="../drawings/vmlDrawing24.vml"/><Relationship Id="rId6" Type="http://schemas.openxmlformats.org/officeDocument/2006/relationships/image" Target="../media/image166.wmf"/><Relationship Id="rId11" Type="http://schemas.openxmlformats.org/officeDocument/2006/relationships/oleObject" Target="../embeddings/oleObject175.bin"/><Relationship Id="rId24" Type="http://schemas.openxmlformats.org/officeDocument/2006/relationships/image" Target="../media/image175.wmf"/><Relationship Id="rId5" Type="http://schemas.openxmlformats.org/officeDocument/2006/relationships/oleObject" Target="../embeddings/oleObject172.bin"/><Relationship Id="rId15" Type="http://schemas.openxmlformats.org/officeDocument/2006/relationships/oleObject" Target="../embeddings/oleObject177.bin"/><Relationship Id="rId23" Type="http://schemas.openxmlformats.org/officeDocument/2006/relationships/oleObject" Target="../embeddings/oleObject181.bin"/><Relationship Id="rId10" Type="http://schemas.openxmlformats.org/officeDocument/2006/relationships/image" Target="../media/image168.wmf"/><Relationship Id="rId19" Type="http://schemas.openxmlformats.org/officeDocument/2006/relationships/oleObject" Target="../embeddings/oleObject179.bin"/><Relationship Id="rId4" Type="http://schemas.openxmlformats.org/officeDocument/2006/relationships/image" Target="../media/image165.wmf"/><Relationship Id="rId9" Type="http://schemas.openxmlformats.org/officeDocument/2006/relationships/oleObject" Target="../embeddings/oleObject174.bin"/><Relationship Id="rId14" Type="http://schemas.openxmlformats.org/officeDocument/2006/relationships/image" Target="../media/image170.wmf"/><Relationship Id="rId22" Type="http://schemas.openxmlformats.org/officeDocument/2006/relationships/image" Target="../media/image174.w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8.wmf"/><Relationship Id="rId13" Type="http://schemas.openxmlformats.org/officeDocument/2006/relationships/oleObject" Target="../embeddings/oleObject187.bin"/><Relationship Id="rId18" Type="http://schemas.openxmlformats.org/officeDocument/2006/relationships/image" Target="../media/image183.wmf"/><Relationship Id="rId3" Type="http://schemas.openxmlformats.org/officeDocument/2006/relationships/oleObject" Target="../embeddings/oleObject182.bin"/><Relationship Id="rId7" Type="http://schemas.openxmlformats.org/officeDocument/2006/relationships/oleObject" Target="../embeddings/oleObject184.bin"/><Relationship Id="rId12" Type="http://schemas.openxmlformats.org/officeDocument/2006/relationships/image" Target="../media/image180.wmf"/><Relationship Id="rId17" Type="http://schemas.openxmlformats.org/officeDocument/2006/relationships/oleObject" Target="../embeddings/oleObject189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82.wmf"/><Relationship Id="rId1" Type="http://schemas.openxmlformats.org/officeDocument/2006/relationships/vmlDrawing" Target="../drawings/vmlDrawing25.vml"/><Relationship Id="rId6" Type="http://schemas.openxmlformats.org/officeDocument/2006/relationships/image" Target="../media/image177.wmf"/><Relationship Id="rId11" Type="http://schemas.openxmlformats.org/officeDocument/2006/relationships/oleObject" Target="../embeddings/oleObject186.bin"/><Relationship Id="rId5" Type="http://schemas.openxmlformats.org/officeDocument/2006/relationships/oleObject" Target="../embeddings/oleObject183.bin"/><Relationship Id="rId15" Type="http://schemas.openxmlformats.org/officeDocument/2006/relationships/oleObject" Target="../embeddings/oleObject188.bin"/><Relationship Id="rId10" Type="http://schemas.openxmlformats.org/officeDocument/2006/relationships/image" Target="../media/image179.wmf"/><Relationship Id="rId4" Type="http://schemas.openxmlformats.org/officeDocument/2006/relationships/image" Target="../media/image176.wmf"/><Relationship Id="rId9" Type="http://schemas.openxmlformats.org/officeDocument/2006/relationships/oleObject" Target="../embeddings/oleObject185.bin"/><Relationship Id="rId14" Type="http://schemas.openxmlformats.org/officeDocument/2006/relationships/image" Target="../media/image181.wm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6.wmf"/><Relationship Id="rId3" Type="http://schemas.openxmlformats.org/officeDocument/2006/relationships/oleObject" Target="../embeddings/oleObject190.bin"/><Relationship Id="rId7" Type="http://schemas.openxmlformats.org/officeDocument/2006/relationships/oleObject" Target="../embeddings/oleObject19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185.wmf"/><Relationship Id="rId11" Type="http://schemas.openxmlformats.org/officeDocument/2006/relationships/oleObject" Target="../embeddings/oleObject194.bin"/><Relationship Id="rId5" Type="http://schemas.openxmlformats.org/officeDocument/2006/relationships/oleObject" Target="../embeddings/oleObject191.bin"/><Relationship Id="rId10" Type="http://schemas.openxmlformats.org/officeDocument/2006/relationships/image" Target="../media/image187.wmf"/><Relationship Id="rId4" Type="http://schemas.openxmlformats.org/officeDocument/2006/relationships/image" Target="../media/image184.wmf"/><Relationship Id="rId9" Type="http://schemas.openxmlformats.org/officeDocument/2006/relationships/oleObject" Target="../embeddings/oleObject193.bin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7.bin"/><Relationship Id="rId13" Type="http://schemas.openxmlformats.org/officeDocument/2006/relationships/image" Target="../media/image192.wmf"/><Relationship Id="rId18" Type="http://schemas.openxmlformats.org/officeDocument/2006/relationships/oleObject" Target="../embeddings/oleObject202.bin"/><Relationship Id="rId26" Type="http://schemas.openxmlformats.org/officeDocument/2006/relationships/oleObject" Target="../embeddings/oleObject206.bin"/><Relationship Id="rId3" Type="http://schemas.openxmlformats.org/officeDocument/2006/relationships/notesSlide" Target="../notesSlides/notesSlide2.xml"/><Relationship Id="rId21" Type="http://schemas.openxmlformats.org/officeDocument/2006/relationships/image" Target="../media/image196.wmf"/><Relationship Id="rId7" Type="http://schemas.openxmlformats.org/officeDocument/2006/relationships/image" Target="../media/image189.wmf"/><Relationship Id="rId12" Type="http://schemas.openxmlformats.org/officeDocument/2006/relationships/oleObject" Target="../embeddings/oleObject199.bin"/><Relationship Id="rId17" Type="http://schemas.openxmlformats.org/officeDocument/2006/relationships/image" Target="../media/image194.wmf"/><Relationship Id="rId25" Type="http://schemas.openxmlformats.org/officeDocument/2006/relationships/image" Target="../media/image198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201.bin"/><Relationship Id="rId20" Type="http://schemas.openxmlformats.org/officeDocument/2006/relationships/oleObject" Target="../embeddings/oleObject203.bin"/><Relationship Id="rId29" Type="http://schemas.openxmlformats.org/officeDocument/2006/relationships/image" Target="../media/image200.wmf"/><Relationship Id="rId1" Type="http://schemas.openxmlformats.org/officeDocument/2006/relationships/vmlDrawing" Target="../drawings/vmlDrawing27.vml"/><Relationship Id="rId6" Type="http://schemas.openxmlformats.org/officeDocument/2006/relationships/oleObject" Target="../embeddings/oleObject196.bin"/><Relationship Id="rId11" Type="http://schemas.openxmlformats.org/officeDocument/2006/relationships/image" Target="../media/image191.wmf"/><Relationship Id="rId24" Type="http://schemas.openxmlformats.org/officeDocument/2006/relationships/oleObject" Target="../embeddings/oleObject205.bin"/><Relationship Id="rId5" Type="http://schemas.openxmlformats.org/officeDocument/2006/relationships/image" Target="../media/image188.wmf"/><Relationship Id="rId15" Type="http://schemas.openxmlformats.org/officeDocument/2006/relationships/image" Target="../media/image193.wmf"/><Relationship Id="rId23" Type="http://schemas.openxmlformats.org/officeDocument/2006/relationships/image" Target="../media/image197.wmf"/><Relationship Id="rId28" Type="http://schemas.openxmlformats.org/officeDocument/2006/relationships/oleObject" Target="../embeddings/oleObject207.bin"/><Relationship Id="rId10" Type="http://schemas.openxmlformats.org/officeDocument/2006/relationships/oleObject" Target="../embeddings/oleObject198.bin"/><Relationship Id="rId19" Type="http://schemas.openxmlformats.org/officeDocument/2006/relationships/image" Target="../media/image195.wmf"/><Relationship Id="rId4" Type="http://schemas.openxmlformats.org/officeDocument/2006/relationships/oleObject" Target="../embeddings/oleObject195.bin"/><Relationship Id="rId9" Type="http://schemas.openxmlformats.org/officeDocument/2006/relationships/image" Target="../media/image190.wmf"/><Relationship Id="rId14" Type="http://schemas.openxmlformats.org/officeDocument/2006/relationships/oleObject" Target="../embeddings/oleObject200.bin"/><Relationship Id="rId22" Type="http://schemas.openxmlformats.org/officeDocument/2006/relationships/oleObject" Target="../embeddings/oleObject204.bin"/><Relationship Id="rId27" Type="http://schemas.openxmlformats.org/officeDocument/2006/relationships/image" Target="../media/image199.wmf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3.wmf"/><Relationship Id="rId3" Type="http://schemas.openxmlformats.org/officeDocument/2006/relationships/oleObject" Target="../embeddings/oleObject208.bin"/><Relationship Id="rId7" Type="http://schemas.openxmlformats.org/officeDocument/2006/relationships/oleObject" Target="../embeddings/oleObject2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202.wmf"/><Relationship Id="rId5" Type="http://schemas.openxmlformats.org/officeDocument/2006/relationships/oleObject" Target="../embeddings/oleObject209.bin"/><Relationship Id="rId4" Type="http://schemas.openxmlformats.org/officeDocument/2006/relationships/image" Target="../media/image201.wmf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6.wmf"/><Relationship Id="rId3" Type="http://schemas.openxmlformats.org/officeDocument/2006/relationships/oleObject" Target="../embeddings/oleObject211.bin"/><Relationship Id="rId7" Type="http://schemas.openxmlformats.org/officeDocument/2006/relationships/oleObject" Target="../embeddings/oleObject2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9.vml"/><Relationship Id="rId6" Type="http://schemas.openxmlformats.org/officeDocument/2006/relationships/image" Target="../media/image205.wmf"/><Relationship Id="rId5" Type="http://schemas.openxmlformats.org/officeDocument/2006/relationships/oleObject" Target="../embeddings/oleObject212.bin"/><Relationship Id="rId10" Type="http://schemas.openxmlformats.org/officeDocument/2006/relationships/image" Target="../media/image207.wmf"/><Relationship Id="rId4" Type="http://schemas.openxmlformats.org/officeDocument/2006/relationships/image" Target="../media/image204.wmf"/><Relationship Id="rId9" Type="http://schemas.openxmlformats.org/officeDocument/2006/relationships/oleObject" Target="../embeddings/oleObject214.bin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0.wmf"/><Relationship Id="rId13" Type="http://schemas.openxmlformats.org/officeDocument/2006/relationships/oleObject" Target="../embeddings/oleObject220.bin"/><Relationship Id="rId18" Type="http://schemas.openxmlformats.org/officeDocument/2006/relationships/image" Target="../media/image215.wmf"/><Relationship Id="rId26" Type="http://schemas.openxmlformats.org/officeDocument/2006/relationships/image" Target="../media/image219.wmf"/><Relationship Id="rId3" Type="http://schemas.openxmlformats.org/officeDocument/2006/relationships/oleObject" Target="../embeddings/oleObject215.bin"/><Relationship Id="rId21" Type="http://schemas.openxmlformats.org/officeDocument/2006/relationships/oleObject" Target="../embeddings/oleObject224.bin"/><Relationship Id="rId7" Type="http://schemas.openxmlformats.org/officeDocument/2006/relationships/oleObject" Target="../embeddings/oleObject217.bin"/><Relationship Id="rId12" Type="http://schemas.openxmlformats.org/officeDocument/2006/relationships/image" Target="../media/image212.wmf"/><Relationship Id="rId17" Type="http://schemas.openxmlformats.org/officeDocument/2006/relationships/oleObject" Target="../embeddings/oleObject222.bin"/><Relationship Id="rId25" Type="http://schemas.openxmlformats.org/officeDocument/2006/relationships/oleObject" Target="../embeddings/oleObject226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14.wmf"/><Relationship Id="rId20" Type="http://schemas.openxmlformats.org/officeDocument/2006/relationships/image" Target="../media/image216.wmf"/><Relationship Id="rId29" Type="http://schemas.openxmlformats.org/officeDocument/2006/relationships/oleObject" Target="../embeddings/oleObject228.bin"/><Relationship Id="rId1" Type="http://schemas.openxmlformats.org/officeDocument/2006/relationships/vmlDrawing" Target="../drawings/vmlDrawing30.vml"/><Relationship Id="rId6" Type="http://schemas.openxmlformats.org/officeDocument/2006/relationships/image" Target="../media/image209.wmf"/><Relationship Id="rId11" Type="http://schemas.openxmlformats.org/officeDocument/2006/relationships/oleObject" Target="../embeddings/oleObject219.bin"/><Relationship Id="rId24" Type="http://schemas.openxmlformats.org/officeDocument/2006/relationships/image" Target="../media/image218.wmf"/><Relationship Id="rId32" Type="http://schemas.openxmlformats.org/officeDocument/2006/relationships/image" Target="../media/image222.wmf"/><Relationship Id="rId5" Type="http://schemas.openxmlformats.org/officeDocument/2006/relationships/oleObject" Target="../embeddings/oleObject216.bin"/><Relationship Id="rId15" Type="http://schemas.openxmlformats.org/officeDocument/2006/relationships/oleObject" Target="../embeddings/oleObject221.bin"/><Relationship Id="rId23" Type="http://schemas.openxmlformats.org/officeDocument/2006/relationships/oleObject" Target="../embeddings/oleObject225.bin"/><Relationship Id="rId28" Type="http://schemas.openxmlformats.org/officeDocument/2006/relationships/image" Target="../media/image220.wmf"/><Relationship Id="rId10" Type="http://schemas.openxmlformats.org/officeDocument/2006/relationships/image" Target="../media/image211.wmf"/><Relationship Id="rId19" Type="http://schemas.openxmlformats.org/officeDocument/2006/relationships/oleObject" Target="../embeddings/oleObject223.bin"/><Relationship Id="rId31" Type="http://schemas.openxmlformats.org/officeDocument/2006/relationships/oleObject" Target="../embeddings/oleObject229.bin"/><Relationship Id="rId4" Type="http://schemas.openxmlformats.org/officeDocument/2006/relationships/image" Target="../media/image208.wmf"/><Relationship Id="rId9" Type="http://schemas.openxmlformats.org/officeDocument/2006/relationships/oleObject" Target="../embeddings/oleObject218.bin"/><Relationship Id="rId14" Type="http://schemas.openxmlformats.org/officeDocument/2006/relationships/image" Target="../media/image213.wmf"/><Relationship Id="rId22" Type="http://schemas.openxmlformats.org/officeDocument/2006/relationships/image" Target="../media/image217.wmf"/><Relationship Id="rId27" Type="http://schemas.openxmlformats.org/officeDocument/2006/relationships/oleObject" Target="../embeddings/oleObject227.bin"/><Relationship Id="rId30" Type="http://schemas.openxmlformats.org/officeDocument/2006/relationships/image" Target="../media/image221.wmf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5.wmf"/><Relationship Id="rId13" Type="http://schemas.openxmlformats.org/officeDocument/2006/relationships/oleObject" Target="../embeddings/oleObject235.bin"/><Relationship Id="rId18" Type="http://schemas.openxmlformats.org/officeDocument/2006/relationships/image" Target="../media/image230.wmf"/><Relationship Id="rId3" Type="http://schemas.openxmlformats.org/officeDocument/2006/relationships/oleObject" Target="../embeddings/oleObject230.bin"/><Relationship Id="rId7" Type="http://schemas.openxmlformats.org/officeDocument/2006/relationships/oleObject" Target="../embeddings/oleObject232.bin"/><Relationship Id="rId12" Type="http://schemas.openxmlformats.org/officeDocument/2006/relationships/image" Target="../media/image227.wmf"/><Relationship Id="rId17" Type="http://schemas.openxmlformats.org/officeDocument/2006/relationships/oleObject" Target="../embeddings/oleObject237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29.wmf"/><Relationship Id="rId20" Type="http://schemas.openxmlformats.org/officeDocument/2006/relationships/image" Target="../media/image231.wmf"/><Relationship Id="rId1" Type="http://schemas.openxmlformats.org/officeDocument/2006/relationships/vmlDrawing" Target="../drawings/vmlDrawing31.vml"/><Relationship Id="rId6" Type="http://schemas.openxmlformats.org/officeDocument/2006/relationships/image" Target="../media/image224.wmf"/><Relationship Id="rId11" Type="http://schemas.openxmlformats.org/officeDocument/2006/relationships/oleObject" Target="../embeddings/oleObject234.bin"/><Relationship Id="rId5" Type="http://schemas.openxmlformats.org/officeDocument/2006/relationships/oleObject" Target="../embeddings/oleObject231.bin"/><Relationship Id="rId15" Type="http://schemas.openxmlformats.org/officeDocument/2006/relationships/oleObject" Target="../embeddings/oleObject236.bin"/><Relationship Id="rId10" Type="http://schemas.openxmlformats.org/officeDocument/2006/relationships/image" Target="../media/image226.wmf"/><Relationship Id="rId19" Type="http://schemas.openxmlformats.org/officeDocument/2006/relationships/oleObject" Target="../embeddings/oleObject238.bin"/><Relationship Id="rId4" Type="http://schemas.openxmlformats.org/officeDocument/2006/relationships/image" Target="../media/image223.wmf"/><Relationship Id="rId9" Type="http://schemas.openxmlformats.org/officeDocument/2006/relationships/oleObject" Target="../embeddings/oleObject233.bin"/><Relationship Id="rId14" Type="http://schemas.openxmlformats.org/officeDocument/2006/relationships/image" Target="../media/image228.wmf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6.wmf"/><Relationship Id="rId13" Type="http://schemas.openxmlformats.org/officeDocument/2006/relationships/oleObject" Target="../embeddings/oleObject244.bin"/><Relationship Id="rId18" Type="http://schemas.openxmlformats.org/officeDocument/2006/relationships/image" Target="../media/image226.wmf"/><Relationship Id="rId3" Type="http://schemas.openxmlformats.org/officeDocument/2006/relationships/oleObject" Target="../embeddings/oleObject239.bin"/><Relationship Id="rId21" Type="http://schemas.openxmlformats.org/officeDocument/2006/relationships/oleObject" Target="../embeddings/oleObject248.bin"/><Relationship Id="rId7" Type="http://schemas.openxmlformats.org/officeDocument/2006/relationships/oleObject" Target="../embeddings/oleObject241.bin"/><Relationship Id="rId12" Type="http://schemas.openxmlformats.org/officeDocument/2006/relationships/image" Target="../media/image234.wmf"/><Relationship Id="rId17" Type="http://schemas.openxmlformats.org/officeDocument/2006/relationships/oleObject" Target="../embeddings/oleObject246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24.wmf"/><Relationship Id="rId20" Type="http://schemas.openxmlformats.org/officeDocument/2006/relationships/image" Target="../media/image227.wmf"/><Relationship Id="rId1" Type="http://schemas.openxmlformats.org/officeDocument/2006/relationships/vmlDrawing" Target="../drawings/vmlDrawing32.vml"/><Relationship Id="rId6" Type="http://schemas.openxmlformats.org/officeDocument/2006/relationships/image" Target="../media/image215.wmf"/><Relationship Id="rId11" Type="http://schemas.openxmlformats.org/officeDocument/2006/relationships/oleObject" Target="../embeddings/oleObject243.bin"/><Relationship Id="rId5" Type="http://schemas.openxmlformats.org/officeDocument/2006/relationships/oleObject" Target="../embeddings/oleObject240.bin"/><Relationship Id="rId15" Type="http://schemas.openxmlformats.org/officeDocument/2006/relationships/oleObject" Target="../embeddings/oleObject245.bin"/><Relationship Id="rId10" Type="http://schemas.openxmlformats.org/officeDocument/2006/relationships/image" Target="../media/image233.wmf"/><Relationship Id="rId19" Type="http://schemas.openxmlformats.org/officeDocument/2006/relationships/oleObject" Target="../embeddings/oleObject247.bin"/><Relationship Id="rId4" Type="http://schemas.openxmlformats.org/officeDocument/2006/relationships/image" Target="../media/image232.wmf"/><Relationship Id="rId9" Type="http://schemas.openxmlformats.org/officeDocument/2006/relationships/oleObject" Target="../embeddings/oleObject242.bin"/><Relationship Id="rId14" Type="http://schemas.openxmlformats.org/officeDocument/2006/relationships/image" Target="../media/image223.wmf"/><Relationship Id="rId22" Type="http://schemas.openxmlformats.org/officeDocument/2006/relationships/image" Target="../media/image235.wmf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8.wmf"/><Relationship Id="rId3" Type="http://schemas.openxmlformats.org/officeDocument/2006/relationships/oleObject" Target="../embeddings/oleObject249.bin"/><Relationship Id="rId7" Type="http://schemas.openxmlformats.org/officeDocument/2006/relationships/oleObject" Target="../embeddings/oleObject25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3.vml"/><Relationship Id="rId6" Type="http://schemas.openxmlformats.org/officeDocument/2006/relationships/image" Target="../media/image237.wmf"/><Relationship Id="rId5" Type="http://schemas.openxmlformats.org/officeDocument/2006/relationships/oleObject" Target="../embeddings/oleObject250.bin"/><Relationship Id="rId4" Type="http://schemas.openxmlformats.org/officeDocument/2006/relationships/image" Target="../media/image236.wmf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9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1.emf"/><Relationship Id="rId2" Type="http://schemas.openxmlformats.org/officeDocument/2006/relationships/image" Target="../media/image240.emf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3.emf"/><Relationship Id="rId2" Type="http://schemas.openxmlformats.org/officeDocument/2006/relationships/image" Target="../media/image242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1.emf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4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6.emf"/><Relationship Id="rId2" Type="http://schemas.openxmlformats.org/officeDocument/2006/relationships/image" Target="../media/image245.emf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7.emf"/><Relationship Id="rId2" Type="http://schemas.openxmlformats.org/officeDocument/2006/relationships/image" Target="../media/image246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8.emf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4"/>
          <p:cNvSpPr>
            <a:spLocks noChangeArrowheads="1"/>
          </p:cNvSpPr>
          <p:nvPr/>
        </p:nvSpPr>
        <p:spPr bwMode="auto">
          <a:xfrm>
            <a:off x="395536" y="2060848"/>
            <a:ext cx="8460432" cy="1528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ts val="5600"/>
              </a:lnSpc>
            </a:pPr>
            <a:r>
              <a:rPr lang="zh-CN" altLang="en-US" sz="4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最优化理论</a:t>
            </a:r>
            <a:endParaRPr lang="en-US" altLang="zh-CN" sz="44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微软雅黑" panose="020B0503020204020204" pitchFamily="34" charset="-122"/>
            </a:endParaRPr>
          </a:p>
          <a:p>
            <a:pPr algn="ctr">
              <a:lnSpc>
                <a:spcPts val="5600"/>
              </a:lnSpc>
            </a:pPr>
            <a:r>
              <a:rPr lang="zh-CN" altLang="en-US" sz="44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第</a:t>
            </a:r>
            <a:r>
              <a:rPr lang="zh-CN" altLang="en-US" sz="4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五</a:t>
            </a:r>
            <a:r>
              <a:rPr lang="zh-CN" altLang="en-US" sz="44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章：无约束最优化方法</a:t>
            </a:r>
            <a:endParaRPr lang="zh-CN" altLang="en-US" sz="44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微软雅黑" panose="020B0503020204020204" pitchFamily="34" charset="-122"/>
            </a:endParaRP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0" y="4941888"/>
            <a:ext cx="9144000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algn="ctr"/>
            <a:r>
              <a:rPr kumimoji="0" lang="zh-CN" altLang="x-none" sz="3200" b="1" dirty="0">
                <a:latin typeface="华文楷体" charset="0"/>
                <a:ea typeface="华文楷体" charset="0"/>
                <a:cs typeface="华文楷体" charset="0"/>
              </a:rPr>
              <a:t>人工</a:t>
            </a:r>
            <a:r>
              <a:rPr kumimoji="0" lang="zh-CN" altLang="en-US" sz="3200" b="1" dirty="0">
                <a:latin typeface="华文楷体" charset="0"/>
                <a:ea typeface="华文楷体" charset="0"/>
                <a:cs typeface="华文楷体" charset="0"/>
              </a:rPr>
              <a:t>智能学院</a:t>
            </a:r>
            <a:endParaRPr kumimoji="0" lang="en-US" altLang="zh-CN" sz="3200" b="1" dirty="0">
              <a:latin typeface="华文楷体" charset="0"/>
              <a:ea typeface="华文楷体" charset="0"/>
              <a:cs typeface="华文楷体" charset="0"/>
            </a:endParaRPr>
          </a:p>
          <a:p>
            <a:pPr algn="ctr"/>
            <a:r>
              <a:rPr kumimoji="0" lang="zh-CN" altLang="x-none" sz="3200" b="1" dirty="0">
                <a:latin typeface="华文楷体" charset="0"/>
                <a:ea typeface="华文楷体" charset="0"/>
                <a:cs typeface="楷体_GB2312" charset="0"/>
              </a:rPr>
              <a:t>智能感知与图像理解</a:t>
            </a:r>
            <a:r>
              <a:rPr kumimoji="0" lang="zh-CN" altLang="en-US" sz="3200" b="1" dirty="0">
                <a:latin typeface="华文楷体" charset="0"/>
                <a:ea typeface="华文楷体" charset="0"/>
                <a:cs typeface="楷体_GB2312" charset="0"/>
              </a:rPr>
              <a:t>实验室</a:t>
            </a:r>
            <a:endParaRPr lang="zh-CN" altLang="en-US" sz="3200" dirty="0">
              <a:latin typeface="楷体_GB2312" charset="0"/>
              <a:ea typeface="楷体_GB2312" charset="0"/>
              <a:cs typeface="楷体_GB2312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928927" y="44624"/>
            <a:ext cx="6072230" cy="582594"/>
          </a:xfrm>
        </p:spPr>
        <p:txBody>
          <a:bodyPr/>
          <a:lstStyle/>
          <a:p>
            <a:pPr>
              <a:lnSpc>
                <a:spcPts val="5600"/>
              </a:lnSpc>
            </a:pPr>
            <a:r>
              <a:rPr lang="zh-CN" altLang="en-US" sz="3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无约束最优化方法</a:t>
            </a:r>
          </a:p>
        </p:txBody>
      </p:sp>
      <p:cxnSp>
        <p:nvCxnSpPr>
          <p:cNvPr id="101" name="直接连接符 13"/>
          <p:cNvCxnSpPr>
            <a:cxnSpLocks noChangeShapeType="1"/>
          </p:cNvCxnSpPr>
          <p:nvPr/>
        </p:nvCxnSpPr>
        <p:spPr bwMode="auto">
          <a:xfrm>
            <a:off x="2674912" y="785794"/>
            <a:ext cx="0" cy="5157787"/>
          </a:xfrm>
          <a:prstGeom prst="line">
            <a:avLst/>
          </a:prstGeom>
          <a:noFill/>
          <a:ln w="6350" cmpd="sng">
            <a:solidFill>
              <a:schemeClr val="accent1"/>
            </a:solidFill>
            <a:round/>
            <a:headEnd/>
            <a:tailEnd/>
          </a:ln>
        </p:spPr>
      </p:cxnSp>
      <p:grpSp>
        <p:nvGrpSpPr>
          <p:cNvPr id="3" name="组 2"/>
          <p:cNvGrpSpPr/>
          <p:nvPr/>
        </p:nvGrpSpPr>
        <p:grpSpPr>
          <a:xfrm>
            <a:off x="1643042" y="1849955"/>
            <a:ext cx="6169292" cy="642941"/>
            <a:chOff x="1643042" y="1268760"/>
            <a:chExt cx="6169292" cy="642941"/>
          </a:xfrm>
        </p:grpSpPr>
        <p:sp>
          <p:nvSpPr>
            <p:cNvPr id="102" name="椭圆 14"/>
            <p:cNvSpPr>
              <a:spLocks noChangeArrowheads="1"/>
            </p:cNvSpPr>
            <p:nvPr/>
          </p:nvSpPr>
          <p:spPr bwMode="auto">
            <a:xfrm>
              <a:off x="2606650" y="1497362"/>
              <a:ext cx="128587" cy="12858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 eaLnBrk="1" hangingPunct="1"/>
              <a:endParaRPr lang="zh-CN" altLang="en-US">
                <a:solidFill>
                  <a:srgbClr val="FFFFFF"/>
                </a:solidFill>
              </a:endParaRPr>
            </a:p>
          </p:txBody>
        </p:sp>
        <p:grpSp>
          <p:nvGrpSpPr>
            <p:cNvPr id="4" name="组合 5"/>
            <p:cNvGrpSpPr>
              <a:grpSpLocks/>
            </p:cNvGrpSpPr>
            <p:nvPr/>
          </p:nvGrpSpPr>
          <p:grpSpPr bwMode="auto">
            <a:xfrm>
              <a:off x="1643042" y="1268760"/>
              <a:ext cx="714380" cy="642941"/>
              <a:chOff x="0" y="0"/>
              <a:chExt cx="1275488" cy="1275488"/>
            </a:xfrm>
            <a:solidFill>
              <a:srgbClr val="004182"/>
            </a:solidFill>
          </p:grpSpPr>
          <p:sp>
            <p:nvSpPr>
              <p:cNvPr id="106" name="泪滴形 7"/>
              <p:cNvSpPr>
                <a:spLocks/>
              </p:cNvSpPr>
              <p:nvPr/>
            </p:nvSpPr>
            <p:spPr bwMode="auto">
              <a:xfrm rot="2700000">
                <a:off x="0" y="0"/>
                <a:ext cx="1275488" cy="1275488"/>
              </a:xfrm>
              <a:custGeom>
                <a:avLst/>
                <a:gdLst/>
                <a:ahLst/>
                <a:cxnLst>
                  <a:cxn ang="0">
                    <a:pos x="0" y="637744"/>
                  </a:cxn>
                  <a:cxn ang="0">
                    <a:pos x="637744" y="0"/>
                  </a:cxn>
                  <a:cxn ang="0">
                    <a:pos x="1275488" y="0"/>
                  </a:cxn>
                  <a:cxn ang="0">
                    <a:pos x="1275488" y="637744"/>
                  </a:cxn>
                  <a:cxn ang="0">
                    <a:pos x="637744" y="1275488"/>
                  </a:cxn>
                  <a:cxn ang="0">
                    <a:pos x="0" y="637744"/>
                  </a:cxn>
                </a:cxnLst>
                <a:rect l="0" t="0" r="r" b="b"/>
                <a:pathLst>
                  <a:path w="1275488" h="1275488">
                    <a:moveTo>
                      <a:pt x="0" y="637744"/>
                    </a:moveTo>
                    <a:cubicBezTo>
                      <a:pt x="0" y="285528"/>
                      <a:pt x="285528" y="0"/>
                      <a:pt x="637744" y="0"/>
                    </a:cubicBezTo>
                    <a:lnTo>
                      <a:pt x="1275488" y="0"/>
                    </a:lnTo>
                    <a:lnTo>
                      <a:pt x="1275488" y="637744"/>
                    </a:lnTo>
                    <a:cubicBezTo>
                      <a:pt x="1275488" y="989960"/>
                      <a:pt x="989960" y="1275488"/>
                      <a:pt x="637744" y="1275488"/>
                    </a:cubicBezTo>
                    <a:cubicBezTo>
                      <a:pt x="285528" y="1275488"/>
                      <a:pt x="0" y="989960"/>
                      <a:pt x="0" y="637744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107" name="文本框 17"/>
              <p:cNvSpPr txBox="1">
                <a:spLocks noChangeArrowheads="1"/>
              </p:cNvSpPr>
              <p:nvPr/>
            </p:nvSpPr>
            <p:spPr bwMode="auto">
              <a:xfrm>
                <a:off x="399726" y="231905"/>
                <a:ext cx="875762" cy="74934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/>
                <a:r>
                  <a:rPr lang="en-US" altLang="zh-CN" sz="2400" b="1" dirty="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1</a:t>
                </a:r>
                <a:endParaRPr lang="zh-CN" altLang="en-US" sz="24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sp>
          <p:nvSpPr>
            <p:cNvPr id="114" name="矩形 20"/>
            <p:cNvSpPr>
              <a:spLocks noChangeArrowheads="1"/>
            </p:cNvSpPr>
            <p:nvPr/>
          </p:nvSpPr>
          <p:spPr bwMode="auto">
            <a:xfrm>
              <a:off x="3062261" y="1321150"/>
              <a:ext cx="4750073" cy="526172"/>
            </a:xfrm>
            <a:prstGeom prst="rect">
              <a:avLst/>
            </a:prstGeom>
            <a:solidFill>
              <a:srgbClr val="004182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ctr"/>
              <a:r>
                <a:rPr lang="zh-CN" altLang="en-US" sz="2400" b="1" dirty="0" smtClean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itchFamily="34" charset="-122"/>
                  <a:cs typeface="Times New Roman" panose="02020603050405020304" pitchFamily="18" charset="0"/>
                </a:rPr>
                <a:t>牛顿法</a:t>
              </a:r>
              <a:endPara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" name="组 3"/>
          <p:cNvGrpSpPr/>
          <p:nvPr/>
        </p:nvGrpSpPr>
        <p:grpSpPr>
          <a:xfrm>
            <a:off x="1652667" y="3938187"/>
            <a:ext cx="6169300" cy="642941"/>
            <a:chOff x="1643042" y="2439698"/>
            <a:chExt cx="6169300" cy="642941"/>
          </a:xfrm>
        </p:grpSpPr>
        <p:sp>
          <p:nvSpPr>
            <p:cNvPr id="120" name="椭圆 14"/>
            <p:cNvSpPr>
              <a:spLocks noChangeArrowheads="1"/>
            </p:cNvSpPr>
            <p:nvPr/>
          </p:nvSpPr>
          <p:spPr bwMode="auto">
            <a:xfrm>
              <a:off x="2606650" y="2668300"/>
              <a:ext cx="128587" cy="12858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 eaLnBrk="1" hangingPunct="1"/>
              <a:endParaRPr lang="zh-CN" altLang="en-US">
                <a:solidFill>
                  <a:srgbClr val="FFFFFF"/>
                </a:solidFill>
              </a:endParaRPr>
            </a:p>
          </p:txBody>
        </p:sp>
        <p:grpSp>
          <p:nvGrpSpPr>
            <p:cNvPr id="6" name="组合 5"/>
            <p:cNvGrpSpPr>
              <a:grpSpLocks/>
            </p:cNvGrpSpPr>
            <p:nvPr/>
          </p:nvGrpSpPr>
          <p:grpSpPr bwMode="auto">
            <a:xfrm>
              <a:off x="1643042" y="2439698"/>
              <a:ext cx="714380" cy="642941"/>
              <a:chOff x="0" y="0"/>
              <a:chExt cx="1275488" cy="1275488"/>
            </a:xfrm>
            <a:solidFill>
              <a:srgbClr val="004182"/>
            </a:solidFill>
          </p:grpSpPr>
          <p:sp>
            <p:nvSpPr>
              <p:cNvPr id="122" name="泪滴形 7"/>
              <p:cNvSpPr>
                <a:spLocks/>
              </p:cNvSpPr>
              <p:nvPr/>
            </p:nvSpPr>
            <p:spPr bwMode="auto">
              <a:xfrm rot="2700000">
                <a:off x="0" y="0"/>
                <a:ext cx="1275488" cy="1275488"/>
              </a:xfrm>
              <a:custGeom>
                <a:avLst/>
                <a:gdLst/>
                <a:ahLst/>
                <a:cxnLst>
                  <a:cxn ang="0">
                    <a:pos x="0" y="637744"/>
                  </a:cxn>
                  <a:cxn ang="0">
                    <a:pos x="637744" y="0"/>
                  </a:cxn>
                  <a:cxn ang="0">
                    <a:pos x="1275488" y="0"/>
                  </a:cxn>
                  <a:cxn ang="0">
                    <a:pos x="1275488" y="637744"/>
                  </a:cxn>
                  <a:cxn ang="0">
                    <a:pos x="637744" y="1275488"/>
                  </a:cxn>
                  <a:cxn ang="0">
                    <a:pos x="0" y="637744"/>
                  </a:cxn>
                </a:cxnLst>
                <a:rect l="0" t="0" r="r" b="b"/>
                <a:pathLst>
                  <a:path w="1275488" h="1275488">
                    <a:moveTo>
                      <a:pt x="0" y="637744"/>
                    </a:moveTo>
                    <a:cubicBezTo>
                      <a:pt x="0" y="285528"/>
                      <a:pt x="285528" y="0"/>
                      <a:pt x="637744" y="0"/>
                    </a:cubicBezTo>
                    <a:lnTo>
                      <a:pt x="1275488" y="0"/>
                    </a:lnTo>
                    <a:lnTo>
                      <a:pt x="1275488" y="637744"/>
                    </a:lnTo>
                    <a:cubicBezTo>
                      <a:pt x="1275488" y="989960"/>
                      <a:pt x="989960" y="1275488"/>
                      <a:pt x="637744" y="1275488"/>
                    </a:cubicBezTo>
                    <a:cubicBezTo>
                      <a:pt x="285528" y="1275488"/>
                      <a:pt x="0" y="989960"/>
                      <a:pt x="0" y="637744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123" name="文本框 17"/>
              <p:cNvSpPr txBox="1">
                <a:spLocks noChangeArrowheads="1"/>
              </p:cNvSpPr>
              <p:nvPr/>
            </p:nvSpPr>
            <p:spPr bwMode="auto">
              <a:xfrm>
                <a:off x="399726" y="231904"/>
                <a:ext cx="875762" cy="9158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/>
                <a:r>
                  <a:rPr lang="en-US" altLang="zh-CN" sz="2400" b="1" dirty="0" smtClean="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3</a:t>
                </a:r>
                <a:endParaRPr lang="zh-CN" altLang="en-US" sz="24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sp>
          <p:nvSpPr>
            <p:cNvPr id="124" name="矩形 20"/>
            <p:cNvSpPr>
              <a:spLocks noChangeArrowheads="1"/>
            </p:cNvSpPr>
            <p:nvPr/>
          </p:nvSpPr>
          <p:spPr bwMode="auto">
            <a:xfrm>
              <a:off x="3062261" y="2492088"/>
              <a:ext cx="4750081" cy="526172"/>
            </a:xfrm>
            <a:prstGeom prst="rect">
              <a:avLst/>
            </a:prstGeom>
            <a:solidFill>
              <a:srgbClr val="004182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ctr"/>
              <a:r>
                <a:rPr lang="zh-CN" altLang="en-US" sz="2400" b="1" dirty="0" smtClean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itchFamily="34" charset="-122"/>
                  <a:cs typeface="Times New Roman" panose="02020603050405020304" pitchFamily="18" charset="0"/>
                </a:rPr>
                <a:t>拟牛顿法</a:t>
              </a:r>
              <a:endPara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6" name="组 2"/>
          <p:cNvGrpSpPr/>
          <p:nvPr/>
        </p:nvGrpSpPr>
        <p:grpSpPr>
          <a:xfrm>
            <a:off x="1643042" y="2847209"/>
            <a:ext cx="6169292" cy="642941"/>
            <a:chOff x="1643042" y="1268760"/>
            <a:chExt cx="6169292" cy="642941"/>
          </a:xfrm>
        </p:grpSpPr>
        <p:sp>
          <p:nvSpPr>
            <p:cNvPr id="17" name="椭圆 14"/>
            <p:cNvSpPr>
              <a:spLocks noChangeArrowheads="1"/>
            </p:cNvSpPr>
            <p:nvPr/>
          </p:nvSpPr>
          <p:spPr bwMode="auto">
            <a:xfrm>
              <a:off x="2606650" y="1497362"/>
              <a:ext cx="128587" cy="12858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 eaLnBrk="1" hangingPunct="1"/>
              <a:endParaRPr lang="zh-CN" altLang="en-US">
                <a:solidFill>
                  <a:srgbClr val="FFFFFF"/>
                </a:solidFill>
              </a:endParaRPr>
            </a:p>
          </p:txBody>
        </p:sp>
        <p:grpSp>
          <p:nvGrpSpPr>
            <p:cNvPr id="18" name="组合 5"/>
            <p:cNvGrpSpPr>
              <a:grpSpLocks/>
            </p:cNvGrpSpPr>
            <p:nvPr/>
          </p:nvGrpSpPr>
          <p:grpSpPr bwMode="auto">
            <a:xfrm>
              <a:off x="1643042" y="1268760"/>
              <a:ext cx="714380" cy="642941"/>
              <a:chOff x="0" y="0"/>
              <a:chExt cx="1275488" cy="1275488"/>
            </a:xfrm>
            <a:solidFill>
              <a:srgbClr val="004182"/>
            </a:solidFill>
          </p:grpSpPr>
          <p:sp>
            <p:nvSpPr>
              <p:cNvPr id="20" name="泪滴形 7"/>
              <p:cNvSpPr>
                <a:spLocks/>
              </p:cNvSpPr>
              <p:nvPr/>
            </p:nvSpPr>
            <p:spPr bwMode="auto">
              <a:xfrm rot="2700000">
                <a:off x="0" y="0"/>
                <a:ext cx="1275488" cy="1275488"/>
              </a:xfrm>
              <a:custGeom>
                <a:avLst/>
                <a:gdLst/>
                <a:ahLst/>
                <a:cxnLst>
                  <a:cxn ang="0">
                    <a:pos x="0" y="637744"/>
                  </a:cxn>
                  <a:cxn ang="0">
                    <a:pos x="637744" y="0"/>
                  </a:cxn>
                  <a:cxn ang="0">
                    <a:pos x="1275488" y="0"/>
                  </a:cxn>
                  <a:cxn ang="0">
                    <a:pos x="1275488" y="637744"/>
                  </a:cxn>
                  <a:cxn ang="0">
                    <a:pos x="637744" y="1275488"/>
                  </a:cxn>
                  <a:cxn ang="0">
                    <a:pos x="0" y="637744"/>
                  </a:cxn>
                </a:cxnLst>
                <a:rect l="0" t="0" r="r" b="b"/>
                <a:pathLst>
                  <a:path w="1275488" h="1275488">
                    <a:moveTo>
                      <a:pt x="0" y="637744"/>
                    </a:moveTo>
                    <a:cubicBezTo>
                      <a:pt x="0" y="285528"/>
                      <a:pt x="285528" y="0"/>
                      <a:pt x="637744" y="0"/>
                    </a:cubicBezTo>
                    <a:lnTo>
                      <a:pt x="1275488" y="0"/>
                    </a:lnTo>
                    <a:lnTo>
                      <a:pt x="1275488" y="637744"/>
                    </a:lnTo>
                    <a:cubicBezTo>
                      <a:pt x="1275488" y="989960"/>
                      <a:pt x="989960" y="1275488"/>
                      <a:pt x="637744" y="1275488"/>
                    </a:cubicBezTo>
                    <a:cubicBezTo>
                      <a:pt x="285528" y="1275488"/>
                      <a:pt x="0" y="989960"/>
                      <a:pt x="0" y="637744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21" name="文本框 17"/>
              <p:cNvSpPr txBox="1">
                <a:spLocks noChangeArrowheads="1"/>
              </p:cNvSpPr>
              <p:nvPr/>
            </p:nvSpPr>
            <p:spPr bwMode="auto">
              <a:xfrm>
                <a:off x="399726" y="231904"/>
                <a:ext cx="875762" cy="9158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/>
                <a:r>
                  <a:rPr lang="en-US" altLang="zh-CN" sz="2400" b="1" dirty="0" smtClean="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2</a:t>
                </a:r>
                <a:endParaRPr lang="zh-CN" altLang="en-US" sz="24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sp>
          <p:nvSpPr>
            <p:cNvPr id="19" name="矩形 20"/>
            <p:cNvSpPr>
              <a:spLocks noChangeArrowheads="1"/>
            </p:cNvSpPr>
            <p:nvPr/>
          </p:nvSpPr>
          <p:spPr bwMode="auto">
            <a:xfrm>
              <a:off x="3062261" y="1321150"/>
              <a:ext cx="4750073" cy="526172"/>
            </a:xfrm>
            <a:prstGeom prst="rect">
              <a:avLst/>
            </a:prstGeom>
            <a:solidFill>
              <a:srgbClr val="004182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ctr"/>
              <a:r>
                <a:rPr lang="zh-CN" altLang="en-US" sz="2400" b="1" dirty="0" smtClean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itchFamily="34" charset="-122"/>
                  <a:cs typeface="Times New Roman" panose="02020603050405020304" pitchFamily="18" charset="0"/>
                </a:rPr>
                <a:t>修正牛顿法</a:t>
              </a:r>
              <a:endPara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3" name="组 3"/>
          <p:cNvGrpSpPr/>
          <p:nvPr/>
        </p:nvGrpSpPr>
        <p:grpSpPr>
          <a:xfrm>
            <a:off x="1653030" y="4870750"/>
            <a:ext cx="6169300" cy="642941"/>
            <a:chOff x="1643042" y="2439698"/>
            <a:chExt cx="6169300" cy="642941"/>
          </a:xfrm>
        </p:grpSpPr>
        <p:sp>
          <p:nvSpPr>
            <p:cNvPr id="24" name="椭圆 14"/>
            <p:cNvSpPr>
              <a:spLocks noChangeArrowheads="1"/>
            </p:cNvSpPr>
            <p:nvPr/>
          </p:nvSpPr>
          <p:spPr bwMode="auto">
            <a:xfrm>
              <a:off x="2606650" y="2668300"/>
              <a:ext cx="128587" cy="12858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 eaLnBrk="1" hangingPunct="1"/>
              <a:endParaRPr lang="zh-CN" altLang="en-US">
                <a:solidFill>
                  <a:srgbClr val="FFFFFF"/>
                </a:solidFill>
              </a:endParaRPr>
            </a:p>
          </p:txBody>
        </p:sp>
        <p:grpSp>
          <p:nvGrpSpPr>
            <p:cNvPr id="25" name="组合 24"/>
            <p:cNvGrpSpPr>
              <a:grpSpLocks/>
            </p:cNvGrpSpPr>
            <p:nvPr/>
          </p:nvGrpSpPr>
          <p:grpSpPr bwMode="auto">
            <a:xfrm>
              <a:off x="1643042" y="2439698"/>
              <a:ext cx="714380" cy="642941"/>
              <a:chOff x="0" y="0"/>
              <a:chExt cx="1275488" cy="1275488"/>
            </a:xfrm>
            <a:solidFill>
              <a:srgbClr val="004182"/>
            </a:solidFill>
          </p:grpSpPr>
          <p:sp>
            <p:nvSpPr>
              <p:cNvPr id="27" name="泪滴形 7"/>
              <p:cNvSpPr>
                <a:spLocks/>
              </p:cNvSpPr>
              <p:nvPr/>
            </p:nvSpPr>
            <p:spPr bwMode="auto">
              <a:xfrm rot="2700000">
                <a:off x="0" y="0"/>
                <a:ext cx="1275488" cy="1275488"/>
              </a:xfrm>
              <a:custGeom>
                <a:avLst/>
                <a:gdLst/>
                <a:ahLst/>
                <a:cxnLst>
                  <a:cxn ang="0">
                    <a:pos x="0" y="637744"/>
                  </a:cxn>
                  <a:cxn ang="0">
                    <a:pos x="637744" y="0"/>
                  </a:cxn>
                  <a:cxn ang="0">
                    <a:pos x="1275488" y="0"/>
                  </a:cxn>
                  <a:cxn ang="0">
                    <a:pos x="1275488" y="637744"/>
                  </a:cxn>
                  <a:cxn ang="0">
                    <a:pos x="637744" y="1275488"/>
                  </a:cxn>
                  <a:cxn ang="0">
                    <a:pos x="0" y="637744"/>
                  </a:cxn>
                </a:cxnLst>
                <a:rect l="0" t="0" r="r" b="b"/>
                <a:pathLst>
                  <a:path w="1275488" h="1275488">
                    <a:moveTo>
                      <a:pt x="0" y="637744"/>
                    </a:moveTo>
                    <a:cubicBezTo>
                      <a:pt x="0" y="285528"/>
                      <a:pt x="285528" y="0"/>
                      <a:pt x="637744" y="0"/>
                    </a:cubicBezTo>
                    <a:lnTo>
                      <a:pt x="1275488" y="0"/>
                    </a:lnTo>
                    <a:lnTo>
                      <a:pt x="1275488" y="637744"/>
                    </a:lnTo>
                    <a:cubicBezTo>
                      <a:pt x="1275488" y="989960"/>
                      <a:pt x="989960" y="1275488"/>
                      <a:pt x="637744" y="1275488"/>
                    </a:cubicBezTo>
                    <a:cubicBezTo>
                      <a:pt x="285528" y="1275488"/>
                      <a:pt x="0" y="989960"/>
                      <a:pt x="0" y="637744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28" name="文本框 17"/>
              <p:cNvSpPr txBox="1">
                <a:spLocks noChangeArrowheads="1"/>
              </p:cNvSpPr>
              <p:nvPr/>
            </p:nvSpPr>
            <p:spPr bwMode="auto">
              <a:xfrm>
                <a:off x="399726" y="231904"/>
                <a:ext cx="875762" cy="9158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/>
                <a:r>
                  <a:rPr lang="en-US" altLang="zh-CN" sz="2400" b="1" dirty="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4</a:t>
                </a:r>
                <a:endParaRPr lang="zh-CN" altLang="en-US" sz="24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sp>
          <p:nvSpPr>
            <p:cNvPr id="26" name="矩形 20"/>
            <p:cNvSpPr>
              <a:spLocks noChangeArrowheads="1"/>
            </p:cNvSpPr>
            <p:nvPr/>
          </p:nvSpPr>
          <p:spPr bwMode="auto">
            <a:xfrm>
              <a:off x="3062261" y="2492088"/>
              <a:ext cx="4750081" cy="526172"/>
            </a:xfrm>
            <a:prstGeom prst="rect">
              <a:avLst/>
            </a:prstGeom>
            <a:solidFill>
              <a:srgbClr val="004182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ctr"/>
              <a:r>
                <a:rPr lang="zh-CN" altLang="en-US" sz="2400" b="1" dirty="0" smtClean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itchFamily="34" charset="-122"/>
                  <a:cs typeface="Times New Roman" panose="02020603050405020304" pitchFamily="18" charset="0"/>
                </a:rPr>
                <a:t>对比和举例</a:t>
              </a:r>
              <a:endPara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06667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928927" y="44624"/>
            <a:ext cx="6072230" cy="582594"/>
          </a:xfrm>
        </p:spPr>
        <p:txBody>
          <a:bodyPr/>
          <a:lstStyle/>
          <a:p>
            <a:pPr>
              <a:lnSpc>
                <a:spcPts val="5600"/>
              </a:lnSpc>
            </a:pPr>
            <a:r>
              <a:rPr lang="zh-CN" altLang="en-US" sz="3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无约束最优化方法</a:t>
            </a:r>
          </a:p>
        </p:txBody>
      </p:sp>
      <p:cxnSp>
        <p:nvCxnSpPr>
          <p:cNvPr id="101" name="直接连接符 13"/>
          <p:cNvCxnSpPr>
            <a:cxnSpLocks noChangeShapeType="1"/>
          </p:cNvCxnSpPr>
          <p:nvPr/>
        </p:nvCxnSpPr>
        <p:spPr bwMode="auto">
          <a:xfrm>
            <a:off x="2674912" y="785794"/>
            <a:ext cx="0" cy="5157787"/>
          </a:xfrm>
          <a:prstGeom prst="line">
            <a:avLst/>
          </a:prstGeom>
          <a:noFill/>
          <a:ln w="6350" cmpd="sng">
            <a:solidFill>
              <a:schemeClr val="accent1"/>
            </a:solidFill>
            <a:round/>
            <a:headEnd/>
            <a:tailEnd/>
          </a:ln>
        </p:spPr>
      </p:cxnSp>
      <p:grpSp>
        <p:nvGrpSpPr>
          <p:cNvPr id="3" name="组 2"/>
          <p:cNvGrpSpPr/>
          <p:nvPr/>
        </p:nvGrpSpPr>
        <p:grpSpPr>
          <a:xfrm>
            <a:off x="1643042" y="1849955"/>
            <a:ext cx="6169292" cy="642941"/>
            <a:chOff x="1643042" y="1268760"/>
            <a:chExt cx="6169292" cy="642941"/>
          </a:xfrm>
        </p:grpSpPr>
        <p:sp>
          <p:nvSpPr>
            <p:cNvPr id="102" name="椭圆 14"/>
            <p:cNvSpPr>
              <a:spLocks noChangeArrowheads="1"/>
            </p:cNvSpPr>
            <p:nvPr/>
          </p:nvSpPr>
          <p:spPr bwMode="auto">
            <a:xfrm>
              <a:off x="2606650" y="1497362"/>
              <a:ext cx="128587" cy="12858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 eaLnBrk="1" hangingPunct="1"/>
              <a:endParaRPr lang="zh-CN" altLang="en-US">
                <a:solidFill>
                  <a:srgbClr val="FFFFFF"/>
                </a:solidFill>
              </a:endParaRPr>
            </a:p>
          </p:txBody>
        </p:sp>
        <p:grpSp>
          <p:nvGrpSpPr>
            <p:cNvPr id="4" name="组合 5"/>
            <p:cNvGrpSpPr>
              <a:grpSpLocks/>
            </p:cNvGrpSpPr>
            <p:nvPr/>
          </p:nvGrpSpPr>
          <p:grpSpPr bwMode="auto">
            <a:xfrm>
              <a:off x="1643042" y="1268760"/>
              <a:ext cx="714380" cy="642941"/>
              <a:chOff x="0" y="0"/>
              <a:chExt cx="1275488" cy="1275488"/>
            </a:xfrm>
            <a:solidFill>
              <a:srgbClr val="004182"/>
            </a:solidFill>
          </p:grpSpPr>
          <p:sp>
            <p:nvSpPr>
              <p:cNvPr id="106" name="泪滴形 7"/>
              <p:cNvSpPr>
                <a:spLocks/>
              </p:cNvSpPr>
              <p:nvPr/>
            </p:nvSpPr>
            <p:spPr bwMode="auto">
              <a:xfrm rot="2700000">
                <a:off x="0" y="0"/>
                <a:ext cx="1275488" cy="1275488"/>
              </a:xfrm>
              <a:custGeom>
                <a:avLst/>
                <a:gdLst/>
                <a:ahLst/>
                <a:cxnLst>
                  <a:cxn ang="0">
                    <a:pos x="0" y="637744"/>
                  </a:cxn>
                  <a:cxn ang="0">
                    <a:pos x="637744" y="0"/>
                  </a:cxn>
                  <a:cxn ang="0">
                    <a:pos x="1275488" y="0"/>
                  </a:cxn>
                  <a:cxn ang="0">
                    <a:pos x="1275488" y="637744"/>
                  </a:cxn>
                  <a:cxn ang="0">
                    <a:pos x="637744" y="1275488"/>
                  </a:cxn>
                  <a:cxn ang="0">
                    <a:pos x="0" y="637744"/>
                  </a:cxn>
                </a:cxnLst>
                <a:rect l="0" t="0" r="r" b="b"/>
                <a:pathLst>
                  <a:path w="1275488" h="1275488">
                    <a:moveTo>
                      <a:pt x="0" y="637744"/>
                    </a:moveTo>
                    <a:cubicBezTo>
                      <a:pt x="0" y="285528"/>
                      <a:pt x="285528" y="0"/>
                      <a:pt x="637744" y="0"/>
                    </a:cubicBezTo>
                    <a:lnTo>
                      <a:pt x="1275488" y="0"/>
                    </a:lnTo>
                    <a:lnTo>
                      <a:pt x="1275488" y="637744"/>
                    </a:lnTo>
                    <a:cubicBezTo>
                      <a:pt x="1275488" y="989960"/>
                      <a:pt x="989960" y="1275488"/>
                      <a:pt x="637744" y="1275488"/>
                    </a:cubicBezTo>
                    <a:cubicBezTo>
                      <a:pt x="285528" y="1275488"/>
                      <a:pt x="0" y="989960"/>
                      <a:pt x="0" y="637744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107" name="文本框 17"/>
              <p:cNvSpPr txBox="1">
                <a:spLocks noChangeArrowheads="1"/>
              </p:cNvSpPr>
              <p:nvPr/>
            </p:nvSpPr>
            <p:spPr bwMode="auto">
              <a:xfrm>
                <a:off x="399726" y="231905"/>
                <a:ext cx="875762" cy="74934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/>
                <a:r>
                  <a:rPr lang="en-US" altLang="zh-CN" sz="2400" b="1" dirty="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1</a:t>
                </a:r>
                <a:endParaRPr lang="zh-CN" altLang="en-US" sz="24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sp>
          <p:nvSpPr>
            <p:cNvPr id="114" name="矩形 20"/>
            <p:cNvSpPr>
              <a:spLocks noChangeArrowheads="1"/>
            </p:cNvSpPr>
            <p:nvPr/>
          </p:nvSpPr>
          <p:spPr bwMode="auto">
            <a:xfrm>
              <a:off x="3062261" y="1321150"/>
              <a:ext cx="4750073" cy="526172"/>
            </a:xfrm>
            <a:prstGeom prst="rect">
              <a:avLst/>
            </a:prstGeom>
            <a:solidFill>
              <a:srgbClr val="004182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ctr"/>
              <a:r>
                <a:rPr lang="zh-CN" altLang="en-US" sz="2400" b="1" dirty="0" smtClean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itchFamily="34" charset="-122"/>
                  <a:cs typeface="Times New Roman" panose="02020603050405020304" pitchFamily="18" charset="0"/>
                </a:rPr>
                <a:t>牛顿法</a:t>
              </a:r>
              <a:endPara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" name="组 3"/>
          <p:cNvGrpSpPr/>
          <p:nvPr/>
        </p:nvGrpSpPr>
        <p:grpSpPr>
          <a:xfrm>
            <a:off x="1652667" y="3938187"/>
            <a:ext cx="6169300" cy="642941"/>
            <a:chOff x="1643042" y="2439698"/>
            <a:chExt cx="6169300" cy="642941"/>
          </a:xfrm>
        </p:grpSpPr>
        <p:sp>
          <p:nvSpPr>
            <p:cNvPr id="120" name="椭圆 14"/>
            <p:cNvSpPr>
              <a:spLocks noChangeArrowheads="1"/>
            </p:cNvSpPr>
            <p:nvPr/>
          </p:nvSpPr>
          <p:spPr bwMode="auto">
            <a:xfrm>
              <a:off x="2606650" y="2668300"/>
              <a:ext cx="128587" cy="12858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 eaLnBrk="1" hangingPunct="1"/>
              <a:endParaRPr lang="zh-CN" altLang="en-US">
                <a:solidFill>
                  <a:srgbClr val="FFFFFF"/>
                </a:solidFill>
              </a:endParaRPr>
            </a:p>
          </p:txBody>
        </p:sp>
        <p:grpSp>
          <p:nvGrpSpPr>
            <p:cNvPr id="6" name="组合 5"/>
            <p:cNvGrpSpPr>
              <a:grpSpLocks/>
            </p:cNvGrpSpPr>
            <p:nvPr/>
          </p:nvGrpSpPr>
          <p:grpSpPr bwMode="auto">
            <a:xfrm>
              <a:off x="1643042" y="2439698"/>
              <a:ext cx="714380" cy="642941"/>
              <a:chOff x="0" y="0"/>
              <a:chExt cx="1275488" cy="1275488"/>
            </a:xfrm>
            <a:solidFill>
              <a:srgbClr val="004182"/>
            </a:solidFill>
          </p:grpSpPr>
          <p:sp>
            <p:nvSpPr>
              <p:cNvPr id="122" name="泪滴形 7"/>
              <p:cNvSpPr>
                <a:spLocks/>
              </p:cNvSpPr>
              <p:nvPr/>
            </p:nvSpPr>
            <p:spPr bwMode="auto">
              <a:xfrm rot="2700000">
                <a:off x="0" y="0"/>
                <a:ext cx="1275488" cy="1275488"/>
              </a:xfrm>
              <a:custGeom>
                <a:avLst/>
                <a:gdLst/>
                <a:ahLst/>
                <a:cxnLst>
                  <a:cxn ang="0">
                    <a:pos x="0" y="637744"/>
                  </a:cxn>
                  <a:cxn ang="0">
                    <a:pos x="637744" y="0"/>
                  </a:cxn>
                  <a:cxn ang="0">
                    <a:pos x="1275488" y="0"/>
                  </a:cxn>
                  <a:cxn ang="0">
                    <a:pos x="1275488" y="637744"/>
                  </a:cxn>
                  <a:cxn ang="0">
                    <a:pos x="637744" y="1275488"/>
                  </a:cxn>
                  <a:cxn ang="0">
                    <a:pos x="0" y="637744"/>
                  </a:cxn>
                </a:cxnLst>
                <a:rect l="0" t="0" r="r" b="b"/>
                <a:pathLst>
                  <a:path w="1275488" h="1275488">
                    <a:moveTo>
                      <a:pt x="0" y="637744"/>
                    </a:moveTo>
                    <a:cubicBezTo>
                      <a:pt x="0" y="285528"/>
                      <a:pt x="285528" y="0"/>
                      <a:pt x="637744" y="0"/>
                    </a:cubicBezTo>
                    <a:lnTo>
                      <a:pt x="1275488" y="0"/>
                    </a:lnTo>
                    <a:lnTo>
                      <a:pt x="1275488" y="637744"/>
                    </a:lnTo>
                    <a:cubicBezTo>
                      <a:pt x="1275488" y="989960"/>
                      <a:pt x="989960" y="1275488"/>
                      <a:pt x="637744" y="1275488"/>
                    </a:cubicBezTo>
                    <a:cubicBezTo>
                      <a:pt x="285528" y="1275488"/>
                      <a:pt x="0" y="989960"/>
                      <a:pt x="0" y="637744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123" name="文本框 17"/>
              <p:cNvSpPr txBox="1">
                <a:spLocks noChangeArrowheads="1"/>
              </p:cNvSpPr>
              <p:nvPr/>
            </p:nvSpPr>
            <p:spPr bwMode="auto">
              <a:xfrm>
                <a:off x="399726" y="231904"/>
                <a:ext cx="875762" cy="9158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/>
                <a:r>
                  <a:rPr lang="en-US" altLang="zh-CN" sz="2400" b="1" dirty="0" smtClean="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3</a:t>
                </a:r>
                <a:endParaRPr lang="zh-CN" altLang="en-US" sz="24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sp>
          <p:nvSpPr>
            <p:cNvPr id="124" name="矩形 20"/>
            <p:cNvSpPr>
              <a:spLocks noChangeArrowheads="1"/>
            </p:cNvSpPr>
            <p:nvPr/>
          </p:nvSpPr>
          <p:spPr bwMode="auto">
            <a:xfrm>
              <a:off x="3062261" y="2492088"/>
              <a:ext cx="4750081" cy="526172"/>
            </a:xfrm>
            <a:prstGeom prst="rect">
              <a:avLst/>
            </a:prstGeom>
            <a:solidFill>
              <a:srgbClr val="004182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ctr"/>
              <a:r>
                <a:rPr lang="zh-CN" altLang="en-US" sz="2400" b="1" dirty="0" smtClean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  <a:ea typeface="微软雅黑" pitchFamily="34" charset="-122"/>
                  <a:cs typeface="Times New Roman" panose="02020603050405020304" pitchFamily="18" charset="0"/>
                </a:rPr>
                <a:t>拟牛顿法</a:t>
              </a:r>
              <a:endParaRPr lang="en-US" altLang="zh-CN" sz="24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6" name="组 2"/>
          <p:cNvGrpSpPr/>
          <p:nvPr/>
        </p:nvGrpSpPr>
        <p:grpSpPr>
          <a:xfrm>
            <a:off x="1643042" y="2847209"/>
            <a:ext cx="6169292" cy="642941"/>
            <a:chOff x="1643042" y="1268760"/>
            <a:chExt cx="6169292" cy="642941"/>
          </a:xfrm>
        </p:grpSpPr>
        <p:sp>
          <p:nvSpPr>
            <p:cNvPr id="17" name="椭圆 14"/>
            <p:cNvSpPr>
              <a:spLocks noChangeArrowheads="1"/>
            </p:cNvSpPr>
            <p:nvPr/>
          </p:nvSpPr>
          <p:spPr bwMode="auto">
            <a:xfrm>
              <a:off x="2606650" y="1497362"/>
              <a:ext cx="128587" cy="12858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 eaLnBrk="1" hangingPunct="1"/>
              <a:endParaRPr lang="zh-CN" altLang="en-US">
                <a:solidFill>
                  <a:srgbClr val="FFFFFF"/>
                </a:solidFill>
              </a:endParaRPr>
            </a:p>
          </p:txBody>
        </p:sp>
        <p:grpSp>
          <p:nvGrpSpPr>
            <p:cNvPr id="18" name="组合 5"/>
            <p:cNvGrpSpPr>
              <a:grpSpLocks/>
            </p:cNvGrpSpPr>
            <p:nvPr/>
          </p:nvGrpSpPr>
          <p:grpSpPr bwMode="auto">
            <a:xfrm>
              <a:off x="1643042" y="1268760"/>
              <a:ext cx="714380" cy="642941"/>
              <a:chOff x="0" y="0"/>
              <a:chExt cx="1275488" cy="1275488"/>
            </a:xfrm>
            <a:solidFill>
              <a:srgbClr val="004182"/>
            </a:solidFill>
          </p:grpSpPr>
          <p:sp>
            <p:nvSpPr>
              <p:cNvPr id="20" name="泪滴形 7"/>
              <p:cNvSpPr>
                <a:spLocks/>
              </p:cNvSpPr>
              <p:nvPr/>
            </p:nvSpPr>
            <p:spPr bwMode="auto">
              <a:xfrm rot="2700000">
                <a:off x="0" y="0"/>
                <a:ext cx="1275488" cy="1275488"/>
              </a:xfrm>
              <a:custGeom>
                <a:avLst/>
                <a:gdLst/>
                <a:ahLst/>
                <a:cxnLst>
                  <a:cxn ang="0">
                    <a:pos x="0" y="637744"/>
                  </a:cxn>
                  <a:cxn ang="0">
                    <a:pos x="637744" y="0"/>
                  </a:cxn>
                  <a:cxn ang="0">
                    <a:pos x="1275488" y="0"/>
                  </a:cxn>
                  <a:cxn ang="0">
                    <a:pos x="1275488" y="637744"/>
                  </a:cxn>
                  <a:cxn ang="0">
                    <a:pos x="637744" y="1275488"/>
                  </a:cxn>
                  <a:cxn ang="0">
                    <a:pos x="0" y="637744"/>
                  </a:cxn>
                </a:cxnLst>
                <a:rect l="0" t="0" r="r" b="b"/>
                <a:pathLst>
                  <a:path w="1275488" h="1275488">
                    <a:moveTo>
                      <a:pt x="0" y="637744"/>
                    </a:moveTo>
                    <a:cubicBezTo>
                      <a:pt x="0" y="285528"/>
                      <a:pt x="285528" y="0"/>
                      <a:pt x="637744" y="0"/>
                    </a:cubicBezTo>
                    <a:lnTo>
                      <a:pt x="1275488" y="0"/>
                    </a:lnTo>
                    <a:lnTo>
                      <a:pt x="1275488" y="637744"/>
                    </a:lnTo>
                    <a:cubicBezTo>
                      <a:pt x="1275488" y="989960"/>
                      <a:pt x="989960" y="1275488"/>
                      <a:pt x="637744" y="1275488"/>
                    </a:cubicBezTo>
                    <a:cubicBezTo>
                      <a:pt x="285528" y="1275488"/>
                      <a:pt x="0" y="989960"/>
                      <a:pt x="0" y="637744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21" name="文本框 17"/>
              <p:cNvSpPr txBox="1">
                <a:spLocks noChangeArrowheads="1"/>
              </p:cNvSpPr>
              <p:nvPr/>
            </p:nvSpPr>
            <p:spPr bwMode="auto">
              <a:xfrm>
                <a:off x="399726" y="231904"/>
                <a:ext cx="875762" cy="9158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/>
                <a:r>
                  <a:rPr lang="en-US" altLang="zh-CN" sz="2400" b="1" dirty="0" smtClean="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2</a:t>
                </a:r>
                <a:endParaRPr lang="zh-CN" altLang="en-US" sz="24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sp>
          <p:nvSpPr>
            <p:cNvPr id="19" name="矩形 20"/>
            <p:cNvSpPr>
              <a:spLocks noChangeArrowheads="1"/>
            </p:cNvSpPr>
            <p:nvPr/>
          </p:nvSpPr>
          <p:spPr bwMode="auto">
            <a:xfrm>
              <a:off x="3062261" y="1321150"/>
              <a:ext cx="4750073" cy="526172"/>
            </a:xfrm>
            <a:prstGeom prst="rect">
              <a:avLst/>
            </a:prstGeom>
            <a:solidFill>
              <a:srgbClr val="004182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ctr"/>
              <a:r>
                <a:rPr lang="zh-CN" altLang="en-US" sz="2400" b="1" dirty="0" smtClean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  <a:ea typeface="微软雅黑" pitchFamily="34" charset="-122"/>
                  <a:cs typeface="Times New Roman" panose="02020603050405020304" pitchFamily="18" charset="0"/>
                </a:rPr>
                <a:t>修正牛顿法</a:t>
              </a:r>
              <a:endParaRPr lang="en-US" altLang="zh-CN" sz="24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3" name="组 3"/>
          <p:cNvGrpSpPr/>
          <p:nvPr/>
        </p:nvGrpSpPr>
        <p:grpSpPr>
          <a:xfrm>
            <a:off x="1653030" y="4870750"/>
            <a:ext cx="6169300" cy="642941"/>
            <a:chOff x="1643042" y="2439698"/>
            <a:chExt cx="6169300" cy="642941"/>
          </a:xfrm>
        </p:grpSpPr>
        <p:sp>
          <p:nvSpPr>
            <p:cNvPr id="24" name="椭圆 14"/>
            <p:cNvSpPr>
              <a:spLocks noChangeArrowheads="1"/>
            </p:cNvSpPr>
            <p:nvPr/>
          </p:nvSpPr>
          <p:spPr bwMode="auto">
            <a:xfrm>
              <a:off x="2606650" y="2668300"/>
              <a:ext cx="128587" cy="12858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 eaLnBrk="1" hangingPunct="1"/>
              <a:endParaRPr lang="zh-CN" altLang="en-US">
                <a:solidFill>
                  <a:srgbClr val="FFFFFF"/>
                </a:solidFill>
              </a:endParaRPr>
            </a:p>
          </p:txBody>
        </p:sp>
        <p:grpSp>
          <p:nvGrpSpPr>
            <p:cNvPr id="25" name="组合 24"/>
            <p:cNvGrpSpPr>
              <a:grpSpLocks/>
            </p:cNvGrpSpPr>
            <p:nvPr/>
          </p:nvGrpSpPr>
          <p:grpSpPr bwMode="auto">
            <a:xfrm>
              <a:off x="1643042" y="2439698"/>
              <a:ext cx="714380" cy="642941"/>
              <a:chOff x="0" y="0"/>
              <a:chExt cx="1275488" cy="1275488"/>
            </a:xfrm>
            <a:solidFill>
              <a:srgbClr val="004182"/>
            </a:solidFill>
          </p:grpSpPr>
          <p:sp>
            <p:nvSpPr>
              <p:cNvPr id="27" name="泪滴形 7"/>
              <p:cNvSpPr>
                <a:spLocks/>
              </p:cNvSpPr>
              <p:nvPr/>
            </p:nvSpPr>
            <p:spPr bwMode="auto">
              <a:xfrm rot="2700000">
                <a:off x="0" y="0"/>
                <a:ext cx="1275488" cy="1275488"/>
              </a:xfrm>
              <a:custGeom>
                <a:avLst/>
                <a:gdLst/>
                <a:ahLst/>
                <a:cxnLst>
                  <a:cxn ang="0">
                    <a:pos x="0" y="637744"/>
                  </a:cxn>
                  <a:cxn ang="0">
                    <a:pos x="637744" y="0"/>
                  </a:cxn>
                  <a:cxn ang="0">
                    <a:pos x="1275488" y="0"/>
                  </a:cxn>
                  <a:cxn ang="0">
                    <a:pos x="1275488" y="637744"/>
                  </a:cxn>
                  <a:cxn ang="0">
                    <a:pos x="637744" y="1275488"/>
                  </a:cxn>
                  <a:cxn ang="0">
                    <a:pos x="0" y="637744"/>
                  </a:cxn>
                </a:cxnLst>
                <a:rect l="0" t="0" r="r" b="b"/>
                <a:pathLst>
                  <a:path w="1275488" h="1275488">
                    <a:moveTo>
                      <a:pt x="0" y="637744"/>
                    </a:moveTo>
                    <a:cubicBezTo>
                      <a:pt x="0" y="285528"/>
                      <a:pt x="285528" y="0"/>
                      <a:pt x="637744" y="0"/>
                    </a:cubicBezTo>
                    <a:lnTo>
                      <a:pt x="1275488" y="0"/>
                    </a:lnTo>
                    <a:lnTo>
                      <a:pt x="1275488" y="637744"/>
                    </a:lnTo>
                    <a:cubicBezTo>
                      <a:pt x="1275488" y="989960"/>
                      <a:pt x="989960" y="1275488"/>
                      <a:pt x="637744" y="1275488"/>
                    </a:cubicBezTo>
                    <a:cubicBezTo>
                      <a:pt x="285528" y="1275488"/>
                      <a:pt x="0" y="989960"/>
                      <a:pt x="0" y="637744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28" name="文本框 17"/>
              <p:cNvSpPr txBox="1">
                <a:spLocks noChangeArrowheads="1"/>
              </p:cNvSpPr>
              <p:nvPr/>
            </p:nvSpPr>
            <p:spPr bwMode="auto">
              <a:xfrm>
                <a:off x="399726" y="231904"/>
                <a:ext cx="875762" cy="9158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/>
                <a:r>
                  <a:rPr lang="en-US" altLang="zh-CN" sz="2400" b="1" dirty="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4</a:t>
                </a:r>
                <a:endParaRPr lang="zh-CN" altLang="en-US" sz="24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sp>
          <p:nvSpPr>
            <p:cNvPr id="26" name="矩形 20"/>
            <p:cNvSpPr>
              <a:spLocks noChangeArrowheads="1"/>
            </p:cNvSpPr>
            <p:nvPr/>
          </p:nvSpPr>
          <p:spPr bwMode="auto">
            <a:xfrm>
              <a:off x="3062261" y="2492088"/>
              <a:ext cx="4750081" cy="526172"/>
            </a:xfrm>
            <a:prstGeom prst="rect">
              <a:avLst/>
            </a:prstGeom>
            <a:solidFill>
              <a:srgbClr val="004182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ctr"/>
              <a:r>
                <a:rPr lang="zh-CN" altLang="en-US" sz="2400" b="1" dirty="0" smtClean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  <a:ea typeface="微软雅黑" pitchFamily="34" charset="-122"/>
                  <a:cs typeface="Times New Roman" panose="02020603050405020304" pitchFamily="18" charset="0"/>
                </a:rPr>
                <a:t>对比和举例</a:t>
              </a:r>
              <a:endParaRPr lang="en-US" altLang="zh-CN" sz="24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86496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3"/>
          <p:cNvSpPr>
            <a:spLocks noGrp="1"/>
          </p:cNvSpPr>
          <p:nvPr>
            <p:ph type="title"/>
          </p:nvPr>
        </p:nvSpPr>
        <p:spPr>
          <a:xfrm>
            <a:off x="2928926" y="142852"/>
            <a:ext cx="6215073" cy="549844"/>
          </a:xfrm>
        </p:spPr>
        <p:txBody>
          <a:bodyPr/>
          <a:lstStyle/>
          <a:p>
            <a:r>
              <a:rPr kumimoji="1" lang="zh-CN" alt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牛顿法</a:t>
            </a:r>
            <a:endParaRPr kumimoji="1" lang="zh-CN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179512" y="1412776"/>
            <a:ext cx="8640960" cy="23574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5000"/>
              </a:lnSpc>
            </a:pPr>
            <a:r>
              <a:rPr lang="zh-CN" altLang="en-US" sz="2400" dirty="0" smtClean="0"/>
              <a:t> 如果目标函数         在       上具有连续的二阶偏导数，其</a:t>
            </a:r>
            <a:r>
              <a:rPr lang="en-US" altLang="zh-CN" sz="2400" dirty="0" smtClean="0"/>
              <a:t>Hesse</a:t>
            </a:r>
            <a:r>
              <a:rPr lang="zh-CN" altLang="en-US" sz="2400" dirty="0" smtClean="0"/>
              <a:t>矩阵        正定并且可以表达成为显式（今后为了简便起见，记                          ，那么可以使用下述的</a:t>
            </a:r>
            <a:r>
              <a:rPr lang="en-US" altLang="zh-CN" sz="2400" dirty="0" smtClean="0"/>
              <a:t>Newton</a:t>
            </a:r>
            <a:r>
              <a:rPr lang="zh-CN" altLang="en-US" sz="2400" dirty="0" smtClean="0"/>
              <a:t>法．这种方法一旦好用，收敛速度是很快的．它是一维搜索</a:t>
            </a:r>
            <a:r>
              <a:rPr lang="en-US" altLang="zh-CN" sz="2400" dirty="0" smtClean="0"/>
              <a:t>Newton</a:t>
            </a:r>
            <a:r>
              <a:rPr lang="zh-CN" altLang="en-US" sz="2400" dirty="0" smtClean="0"/>
              <a:t>切线法的推广．</a:t>
            </a:r>
            <a:endParaRPr lang="zh-CN" altLang="en-US" sz="2400" dirty="0"/>
          </a:p>
        </p:txBody>
      </p:sp>
      <p:sp>
        <p:nvSpPr>
          <p:cNvPr id="4" name="Rectangle 6"/>
          <p:cNvSpPr>
            <a:spLocks noChangeArrowheads="1"/>
          </p:cNvSpPr>
          <p:nvPr/>
        </p:nvSpPr>
        <p:spPr bwMode="auto">
          <a:xfrm>
            <a:off x="4660735" y="2520228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graphicFrame>
        <p:nvGraphicFramePr>
          <p:cNvPr id="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4238745"/>
              </p:ext>
            </p:extLst>
          </p:nvPr>
        </p:nvGraphicFramePr>
        <p:xfrm>
          <a:off x="3563888" y="1412776"/>
          <a:ext cx="547429" cy="3966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970" name="公式" r:id="rId3" imgW="190335" imgH="164957" progId="Equation.3">
                  <p:embed/>
                </p:oleObj>
              </mc:Choice>
              <mc:Fallback>
                <p:oleObj name="公式" r:id="rId3" imgW="190335" imgH="164957" progId="Equation.3">
                  <p:embed/>
                  <p:pic>
                    <p:nvPicPr>
                      <p:cNvPr id="172038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888" y="1412776"/>
                        <a:ext cx="547429" cy="39662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6614128"/>
              </p:ext>
            </p:extLst>
          </p:nvPr>
        </p:nvGraphicFramePr>
        <p:xfrm>
          <a:off x="2555875" y="1458913"/>
          <a:ext cx="647700" cy="350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971" name="Equation" r:id="rId5" imgW="355446" imgH="190417" progId="Equation.DSMT4">
                  <p:embed/>
                </p:oleObj>
              </mc:Choice>
              <mc:Fallback>
                <p:oleObj name="Equation" r:id="rId5" imgW="355446" imgH="190417" progId="Equation.DSMT4">
                  <p:embed/>
                  <p:pic>
                    <p:nvPicPr>
                      <p:cNvPr id="17204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875" y="1458913"/>
                        <a:ext cx="647700" cy="3508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10"/>
          <p:cNvSpPr>
            <a:spLocks noChangeArrowheads="1"/>
          </p:cNvSpPr>
          <p:nvPr/>
        </p:nvSpPr>
        <p:spPr bwMode="auto">
          <a:xfrm>
            <a:off x="4660735" y="2501178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graphicFrame>
        <p:nvGraphicFramePr>
          <p:cNvPr id="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5403532"/>
              </p:ext>
            </p:extLst>
          </p:nvPr>
        </p:nvGraphicFramePr>
        <p:xfrm>
          <a:off x="948659" y="2165253"/>
          <a:ext cx="1823142" cy="4241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972" name="公式" r:id="rId7" imgW="1002865" imgH="203112" progId="Equation.3">
                  <p:embed/>
                </p:oleObj>
              </mc:Choice>
              <mc:Fallback>
                <p:oleObj name="公式" r:id="rId7" imgW="1002865" imgH="203112" progId="Equation.3">
                  <p:embed/>
                  <p:pic>
                    <p:nvPicPr>
                      <p:cNvPr id="172042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8659" y="2165253"/>
                        <a:ext cx="1823142" cy="42415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17"/>
          <p:cNvSpPr>
            <a:spLocks noChangeArrowheads="1"/>
          </p:cNvSpPr>
          <p:nvPr/>
        </p:nvSpPr>
        <p:spPr bwMode="auto">
          <a:xfrm>
            <a:off x="4660735" y="2385290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graphicFrame>
        <p:nvGraphicFramePr>
          <p:cNvPr id="11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8618968"/>
              </p:ext>
            </p:extLst>
          </p:nvPr>
        </p:nvGraphicFramePr>
        <p:xfrm>
          <a:off x="1265701" y="1837547"/>
          <a:ext cx="672415" cy="3992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973" name="公式" r:id="rId9" imgW="393480" imgH="203040" progId="Equation.3">
                  <p:embed/>
                </p:oleObj>
              </mc:Choice>
              <mc:Fallback>
                <p:oleObj name="公式" r:id="rId9" imgW="393480" imgH="203040" progId="Equation.3">
                  <p:embed/>
                  <p:pic>
                    <p:nvPicPr>
                      <p:cNvPr id="172047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5701" y="1837547"/>
                        <a:ext cx="672415" cy="39924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36218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3"/>
          <p:cNvSpPr>
            <a:spLocks noGrp="1"/>
          </p:cNvSpPr>
          <p:nvPr>
            <p:ph type="title"/>
          </p:nvPr>
        </p:nvSpPr>
        <p:spPr>
          <a:xfrm>
            <a:off x="2928926" y="142852"/>
            <a:ext cx="6215073" cy="549844"/>
          </a:xfrm>
        </p:spPr>
        <p:txBody>
          <a:bodyPr/>
          <a:lstStyle/>
          <a:p>
            <a:r>
              <a:rPr kumimoji="1" lang="zh-CN" alt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牛顿法</a:t>
            </a:r>
            <a:endParaRPr kumimoji="1" lang="zh-CN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23529" y="1124744"/>
            <a:ext cx="8280920" cy="20005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Font typeface="Arial" pitchFamily="34" charset="0"/>
              <a:buChar char="•"/>
              <a:defRPr/>
            </a:pPr>
            <a:r>
              <a:rPr lang="zh-CN" altLang="en-US" sz="2800" dirty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一、</a:t>
            </a:r>
            <a:r>
              <a:rPr lang="en-US" altLang="zh-CN" sz="2800" dirty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Newton</a:t>
            </a:r>
            <a:r>
              <a:rPr lang="zh-CN" altLang="en-US" sz="2800" dirty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法基本原理</a:t>
            </a:r>
          </a:p>
          <a:p>
            <a:pPr algn="just">
              <a:defRPr/>
            </a:pPr>
            <a:r>
              <a:rPr lang="zh-CN" altLang="en-US" sz="2400" dirty="0">
                <a:latin typeface="Arial" charset="0"/>
              </a:rPr>
              <a:t>为寻求收敛速度快的算法，我们考虑在应用基本迭代</a:t>
            </a:r>
            <a:r>
              <a:rPr lang="zh-CN" altLang="en-US" sz="2400" dirty="0" smtClean="0">
                <a:latin typeface="Arial" charset="0"/>
              </a:rPr>
              <a:t>公式                                    </a:t>
            </a:r>
            <a:endParaRPr lang="en-US" altLang="zh-CN" sz="2400" dirty="0" smtClean="0">
              <a:latin typeface="Arial" charset="0"/>
            </a:endParaRPr>
          </a:p>
          <a:p>
            <a:pPr algn="just">
              <a:defRPr/>
            </a:pPr>
            <a:r>
              <a:rPr lang="en-US" altLang="zh-CN" sz="2400" dirty="0" smtClean="0">
                <a:latin typeface="Arial" charset="0"/>
              </a:rPr>
              <a:t>                           </a:t>
            </a:r>
            <a:r>
              <a:rPr lang="zh-CN" altLang="en-US" sz="2400" dirty="0" smtClean="0">
                <a:latin typeface="Arial" charset="0"/>
              </a:rPr>
              <a:t>中</a:t>
            </a:r>
            <a:r>
              <a:rPr lang="zh-CN" altLang="en-US" sz="2400" dirty="0">
                <a:latin typeface="Arial" charset="0"/>
              </a:rPr>
              <a:t>，每轮迭代在迭代的起始点    处</a:t>
            </a:r>
            <a:r>
              <a:rPr lang="zh-CN" altLang="en-US" sz="2400" dirty="0" smtClean="0">
                <a:latin typeface="Arial" charset="0"/>
              </a:rPr>
              <a:t>用一</a:t>
            </a:r>
            <a:r>
              <a:rPr lang="zh-CN" altLang="en-US" sz="2400" dirty="0">
                <a:latin typeface="Arial" charset="0"/>
              </a:rPr>
              <a:t>个适当的二次函数来近似该点处的目标函数，</a:t>
            </a:r>
            <a:r>
              <a:rPr lang="zh-CN" altLang="en-US" sz="2400" dirty="0" smtClean="0">
                <a:latin typeface="Arial" charset="0"/>
              </a:rPr>
              <a:t>由此用</a:t>
            </a:r>
            <a:r>
              <a:rPr lang="zh-CN" altLang="en-US" sz="2400" dirty="0">
                <a:latin typeface="Arial" charset="0"/>
              </a:rPr>
              <a:t>点   指向近似二次函数极小点的方向来构造</a:t>
            </a:r>
            <a:r>
              <a:rPr lang="zh-CN" altLang="en-US" sz="2400" dirty="0" smtClean="0">
                <a:latin typeface="Arial" charset="0"/>
              </a:rPr>
              <a:t>搜索方向  </a:t>
            </a:r>
            <a:r>
              <a:rPr lang="en-US" altLang="zh-CN" sz="2400" dirty="0" smtClean="0">
                <a:latin typeface="Arial" charset="0"/>
              </a:rPr>
              <a:t>  </a:t>
            </a:r>
            <a:r>
              <a:rPr lang="en-US" altLang="zh-CN" sz="2400" dirty="0">
                <a:latin typeface="Arial" charset="0"/>
              </a:rPr>
              <a:t>(</a:t>
            </a:r>
            <a:r>
              <a:rPr lang="zh-CN" altLang="en-US" sz="2400" dirty="0">
                <a:latin typeface="Arial" charset="0"/>
              </a:rPr>
              <a:t>如图所示</a:t>
            </a:r>
            <a:r>
              <a:rPr lang="en-US" altLang="zh-CN" sz="2400" dirty="0">
                <a:latin typeface="Arial" charset="0"/>
              </a:rPr>
              <a:t>)</a:t>
            </a:r>
            <a:r>
              <a:rPr lang="zh-CN" altLang="en-US" sz="2400" dirty="0">
                <a:latin typeface="Arial" charset="0"/>
              </a:rPr>
              <a:t>．</a:t>
            </a:r>
          </a:p>
        </p:txBody>
      </p:sp>
      <p:pic>
        <p:nvPicPr>
          <p:cNvPr id="8" name="Picture 12" descr="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5125" y="3356992"/>
            <a:ext cx="3016250" cy="242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9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4909714"/>
              </p:ext>
            </p:extLst>
          </p:nvPr>
        </p:nvGraphicFramePr>
        <p:xfrm>
          <a:off x="402903" y="1941156"/>
          <a:ext cx="204787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0517" name="公式" r:id="rId4" imgW="1091880" imgH="228600" progId="Equation.3">
                  <p:embed/>
                </p:oleObj>
              </mc:Choice>
              <mc:Fallback>
                <p:oleObj name="公式" r:id="rId4" imgW="1091880" imgH="228600" progId="Equation.3">
                  <p:embed/>
                  <p:pic>
                    <p:nvPicPr>
                      <p:cNvPr id="17306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2903" y="1941156"/>
                        <a:ext cx="2047875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3993339"/>
              </p:ext>
            </p:extLst>
          </p:nvPr>
        </p:nvGraphicFramePr>
        <p:xfrm>
          <a:off x="5921375" y="2708920"/>
          <a:ext cx="33337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0518" name="公式" r:id="rId6" imgW="177480" imgH="228600" progId="Equation.3">
                  <p:embed/>
                </p:oleObj>
              </mc:Choice>
              <mc:Fallback>
                <p:oleObj name="公式" r:id="rId6" imgW="177480" imgH="228600" progId="Equation.3">
                  <p:embed/>
                  <p:pic>
                    <p:nvPicPr>
                      <p:cNvPr id="173061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21375" y="2708920"/>
                        <a:ext cx="333375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9587700"/>
              </p:ext>
            </p:extLst>
          </p:nvPr>
        </p:nvGraphicFramePr>
        <p:xfrm>
          <a:off x="6625902" y="1942791"/>
          <a:ext cx="404812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0519" name="公式" r:id="rId8" imgW="215640" imgH="228600" progId="Equation.3">
                  <p:embed/>
                </p:oleObj>
              </mc:Choice>
              <mc:Fallback>
                <p:oleObj name="公式" r:id="rId8" imgW="215640" imgH="228600" progId="Equation.3">
                  <p:embed/>
                  <p:pic>
                    <p:nvPicPr>
                      <p:cNvPr id="173062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5902" y="1942791"/>
                        <a:ext cx="404812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2146241"/>
              </p:ext>
            </p:extLst>
          </p:nvPr>
        </p:nvGraphicFramePr>
        <p:xfrm>
          <a:off x="7210362" y="2328885"/>
          <a:ext cx="404813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0520" name="公式" r:id="rId10" imgW="215640" imgH="228600" progId="Equation.3">
                  <p:embed/>
                </p:oleObj>
              </mc:Choice>
              <mc:Fallback>
                <p:oleObj name="公式" r:id="rId10" imgW="215640" imgH="228600" progId="Equation.3">
                  <p:embed/>
                  <p:pic>
                    <p:nvPicPr>
                      <p:cNvPr id="173063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10362" y="2328885"/>
                        <a:ext cx="404813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54019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3"/>
          <p:cNvSpPr>
            <a:spLocks noGrp="1"/>
          </p:cNvSpPr>
          <p:nvPr>
            <p:ph type="title"/>
          </p:nvPr>
        </p:nvSpPr>
        <p:spPr>
          <a:xfrm>
            <a:off x="2928926" y="142852"/>
            <a:ext cx="6215073" cy="549844"/>
          </a:xfrm>
        </p:spPr>
        <p:txBody>
          <a:bodyPr/>
          <a:lstStyle/>
          <a:p>
            <a:r>
              <a:rPr kumimoji="1" lang="zh-CN" alt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牛顿法</a:t>
            </a:r>
            <a:endParaRPr kumimoji="1" lang="zh-CN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179512" y="1268760"/>
            <a:ext cx="8568952" cy="4464496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b="1" dirty="0" smtClean="0"/>
              <a:t>下面具体讨论</a:t>
            </a:r>
            <a:r>
              <a:rPr lang="en-US" altLang="zh-CN" b="1" dirty="0" smtClean="0"/>
              <a:t>Newton</a:t>
            </a:r>
            <a:r>
              <a:rPr lang="zh-CN" altLang="en-US" b="1" dirty="0" smtClean="0"/>
              <a:t>法．</a:t>
            </a:r>
          </a:p>
          <a:p>
            <a:pPr>
              <a:lnSpc>
                <a:spcPct val="130000"/>
              </a:lnSpc>
            </a:pPr>
            <a:r>
              <a:rPr lang="zh-CN" altLang="en-US" sz="2400" dirty="0" smtClean="0"/>
              <a:t> </a:t>
            </a:r>
            <a:r>
              <a:rPr lang="zh-CN" altLang="en-US" dirty="0" smtClean="0"/>
              <a:t>设最优化问题为              ，其中                   二阶可导，</a:t>
            </a:r>
            <a:r>
              <a:rPr lang="en-US" altLang="zh-CN" dirty="0" smtClean="0"/>
              <a:t>Hesse</a:t>
            </a:r>
            <a:r>
              <a:rPr lang="zh-CN" altLang="en-US" dirty="0" smtClean="0"/>
              <a:t>矩阵               正定．不妨设经过     次迭代已获点     ，现将         在         处展开成二阶泰勒公式，于是有</a:t>
            </a:r>
            <a:endParaRPr lang="en-US" altLang="zh-CN" dirty="0" smtClean="0"/>
          </a:p>
          <a:p>
            <a:pPr>
              <a:lnSpc>
                <a:spcPct val="130000"/>
              </a:lnSpc>
            </a:pPr>
            <a:endParaRPr lang="en-US" altLang="zh-CN" dirty="0" smtClean="0"/>
          </a:p>
          <a:p>
            <a:pPr>
              <a:lnSpc>
                <a:spcPct val="130000"/>
              </a:lnSpc>
            </a:pPr>
            <a:r>
              <a:rPr lang="zh-CN" altLang="en-US" dirty="0" smtClean="0"/>
              <a:t>显然       是二次函数，特别由题设知        还是正定二次函数，所以        是凸函数且存在唯一全局极小点．</a:t>
            </a:r>
            <a:endParaRPr lang="zh-CN" altLang="en-US" dirty="0"/>
          </a:p>
        </p:txBody>
      </p:sp>
      <p:graphicFrame>
        <p:nvGraphicFramePr>
          <p:cNvPr id="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7645113"/>
              </p:ext>
            </p:extLst>
          </p:nvPr>
        </p:nvGraphicFramePr>
        <p:xfrm>
          <a:off x="3149026" y="1934649"/>
          <a:ext cx="981922" cy="4152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078" name="公式" r:id="rId3" imgW="583947" imgH="190417" progId="Equation.3">
                  <p:embed/>
                </p:oleObj>
              </mc:Choice>
              <mc:Fallback>
                <p:oleObj name="公式" r:id="rId3" imgW="583947" imgH="190417" progId="Equation.3">
                  <p:embed/>
                  <p:pic>
                    <p:nvPicPr>
                      <p:cNvPr id="17408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9026" y="1934649"/>
                        <a:ext cx="981922" cy="41527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8887054"/>
              </p:ext>
            </p:extLst>
          </p:nvPr>
        </p:nvGraphicFramePr>
        <p:xfrm>
          <a:off x="5230047" y="1962158"/>
          <a:ext cx="1229199" cy="3602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079" name="公式" r:id="rId5" imgW="800100" imgH="228600" progId="Equation.3">
                  <p:embed/>
                </p:oleObj>
              </mc:Choice>
              <mc:Fallback>
                <p:oleObj name="公式" r:id="rId5" imgW="800100" imgH="228600" progId="Equation.3">
                  <p:embed/>
                  <p:pic>
                    <p:nvPicPr>
                      <p:cNvPr id="17408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0047" y="1962158"/>
                        <a:ext cx="1229199" cy="36025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8434189"/>
              </p:ext>
            </p:extLst>
          </p:nvPr>
        </p:nvGraphicFramePr>
        <p:xfrm>
          <a:off x="2145987" y="2459086"/>
          <a:ext cx="977609" cy="393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080" name="公式" r:id="rId7" imgW="507780" imgH="203112" progId="Equation.3">
                  <p:embed/>
                </p:oleObj>
              </mc:Choice>
              <mc:Fallback>
                <p:oleObj name="公式" r:id="rId7" imgW="507780" imgH="203112" progId="Equation.3">
                  <p:embed/>
                  <p:pic>
                    <p:nvPicPr>
                      <p:cNvPr id="17408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5987" y="2459086"/>
                        <a:ext cx="977609" cy="39306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9"/>
          <p:cNvSpPr>
            <a:spLocks noChangeArrowheads="1"/>
          </p:cNvSpPr>
          <p:nvPr/>
        </p:nvSpPr>
        <p:spPr bwMode="auto">
          <a:xfrm>
            <a:off x="4659147" y="2927074"/>
            <a:ext cx="167295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graphicFrame>
        <p:nvGraphicFramePr>
          <p:cNvPr id="9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973562"/>
              </p:ext>
            </p:extLst>
          </p:nvPr>
        </p:nvGraphicFramePr>
        <p:xfrm>
          <a:off x="6067680" y="2420888"/>
          <a:ext cx="368041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081" name="公式" r:id="rId9" imgW="114151" imgH="164885" progId="Equation.3">
                  <p:embed/>
                </p:oleObj>
              </mc:Choice>
              <mc:Fallback>
                <p:oleObj name="公式" r:id="rId9" imgW="114151" imgH="164885" progId="Equation.3">
                  <p:embed/>
                  <p:pic>
                    <p:nvPicPr>
                      <p:cNvPr id="17409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67680" y="2420888"/>
                        <a:ext cx="368041" cy="4318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11"/>
          <p:cNvSpPr>
            <a:spLocks noChangeArrowheads="1"/>
          </p:cNvSpPr>
          <p:nvPr/>
        </p:nvSpPr>
        <p:spPr bwMode="auto">
          <a:xfrm>
            <a:off x="4659147" y="2908024"/>
            <a:ext cx="167295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graphicFrame>
        <p:nvGraphicFramePr>
          <p:cNvPr id="11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6693252"/>
              </p:ext>
            </p:extLst>
          </p:nvPr>
        </p:nvGraphicFramePr>
        <p:xfrm>
          <a:off x="883192" y="2878801"/>
          <a:ext cx="521870" cy="4855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082" name="公式" r:id="rId11" imgW="215713" imgH="203024" progId="Equation.3">
                  <p:embed/>
                </p:oleObj>
              </mc:Choice>
              <mc:Fallback>
                <p:oleObj name="公式" r:id="rId11" imgW="215713" imgH="203024" progId="Equation.3">
                  <p:embed/>
                  <p:pic>
                    <p:nvPicPr>
                      <p:cNvPr id="174092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3192" y="2878801"/>
                        <a:ext cx="521870" cy="48556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8595033"/>
              </p:ext>
            </p:extLst>
          </p:nvPr>
        </p:nvGraphicFramePr>
        <p:xfrm>
          <a:off x="2291067" y="2939147"/>
          <a:ext cx="717393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083" name="公式" r:id="rId13" imgW="355446" imgH="190417" progId="Equation.3">
                  <p:embed/>
                </p:oleObj>
              </mc:Choice>
              <mc:Fallback>
                <p:oleObj name="公式" r:id="rId13" imgW="355446" imgH="190417" progId="Equation.3">
                  <p:embed/>
                  <p:pic>
                    <p:nvPicPr>
                      <p:cNvPr id="174094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1067" y="2939147"/>
                        <a:ext cx="717393" cy="4286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4729159"/>
              </p:ext>
            </p:extLst>
          </p:nvPr>
        </p:nvGraphicFramePr>
        <p:xfrm>
          <a:off x="3382201" y="2947662"/>
          <a:ext cx="776336" cy="3105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084" name="公式" r:id="rId15" imgW="469696" imgH="203112" progId="Equation.3">
                  <p:embed/>
                </p:oleObj>
              </mc:Choice>
              <mc:Fallback>
                <p:oleObj name="公式" r:id="rId15" imgW="469696" imgH="203112" progId="Equation.3">
                  <p:embed/>
                  <p:pic>
                    <p:nvPicPr>
                      <p:cNvPr id="174096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2201" y="2947662"/>
                        <a:ext cx="776336" cy="31057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8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2076225260"/>
              </p:ext>
            </p:extLst>
          </p:nvPr>
        </p:nvGraphicFramePr>
        <p:xfrm>
          <a:off x="2333633" y="3456616"/>
          <a:ext cx="4569854" cy="9744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085" name="Equation" r:id="rId17" imgW="2679480" imgH="571320" progId="Equation.DSMT4">
                  <p:embed/>
                </p:oleObj>
              </mc:Choice>
              <mc:Fallback>
                <p:oleObj name="Equation" r:id="rId17" imgW="2679480" imgH="571320" progId="Equation.DSMT4">
                  <p:embed/>
                  <p:pic>
                    <p:nvPicPr>
                      <p:cNvPr id="174098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3633" y="3456616"/>
                        <a:ext cx="4569854" cy="9744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5418424"/>
              </p:ext>
            </p:extLst>
          </p:nvPr>
        </p:nvGraphicFramePr>
        <p:xfrm>
          <a:off x="1259632" y="4585678"/>
          <a:ext cx="609568" cy="3554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086" name="公式" r:id="rId19" imgW="355446" imgH="190417" progId="Equation.3">
                  <p:embed/>
                </p:oleObj>
              </mc:Choice>
              <mc:Fallback>
                <p:oleObj name="公式" r:id="rId19" imgW="355446" imgH="190417" progId="Equation.3">
                  <p:embed/>
                  <p:pic>
                    <p:nvPicPr>
                      <p:cNvPr id="17410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9632" y="4585678"/>
                        <a:ext cx="609568" cy="35548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21"/>
          <p:cNvSpPr>
            <a:spLocks noChangeArrowheads="1"/>
          </p:cNvSpPr>
          <p:nvPr/>
        </p:nvSpPr>
        <p:spPr bwMode="auto">
          <a:xfrm>
            <a:off x="4659147" y="2912786"/>
            <a:ext cx="167295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graphicFrame>
        <p:nvGraphicFramePr>
          <p:cNvPr id="17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7428108"/>
              </p:ext>
            </p:extLst>
          </p:nvPr>
        </p:nvGraphicFramePr>
        <p:xfrm>
          <a:off x="5928226" y="4566176"/>
          <a:ext cx="646947" cy="3749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087" name="公式" r:id="rId21" imgW="355446" imgH="190417" progId="Equation.3">
                  <p:embed/>
                </p:oleObj>
              </mc:Choice>
              <mc:Fallback>
                <p:oleObj name="公式" r:id="rId21" imgW="355446" imgH="190417" progId="Equation.3">
                  <p:embed/>
                  <p:pic>
                    <p:nvPicPr>
                      <p:cNvPr id="174102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28226" y="4566176"/>
                        <a:ext cx="646947" cy="37499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5707322"/>
              </p:ext>
            </p:extLst>
          </p:nvPr>
        </p:nvGraphicFramePr>
        <p:xfrm>
          <a:off x="2323414" y="5080958"/>
          <a:ext cx="652698" cy="3602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088" name="Equation" r:id="rId23" imgW="355446" imgH="190417" progId="Equation.DSMT4">
                  <p:embed/>
                </p:oleObj>
              </mc:Choice>
              <mc:Fallback>
                <p:oleObj name="Equation" r:id="rId23" imgW="355446" imgH="190417" progId="Equation.DSMT4">
                  <p:embed/>
                  <p:pic>
                    <p:nvPicPr>
                      <p:cNvPr id="174104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3414" y="5080958"/>
                        <a:ext cx="652698" cy="36020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Rectangle 34"/>
          <p:cNvSpPr>
            <a:spLocks noChangeArrowheads="1"/>
          </p:cNvSpPr>
          <p:nvPr/>
        </p:nvSpPr>
        <p:spPr bwMode="auto">
          <a:xfrm>
            <a:off x="4659147" y="2908024"/>
            <a:ext cx="167295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20" name="Rectangle 38"/>
          <p:cNvSpPr>
            <a:spLocks noChangeArrowheads="1"/>
          </p:cNvSpPr>
          <p:nvPr/>
        </p:nvSpPr>
        <p:spPr bwMode="auto">
          <a:xfrm>
            <a:off x="4659147" y="2908024"/>
            <a:ext cx="167295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21" name="Rectangle 44"/>
          <p:cNvSpPr>
            <a:spLocks noChangeArrowheads="1"/>
          </p:cNvSpPr>
          <p:nvPr/>
        </p:nvSpPr>
        <p:spPr bwMode="auto">
          <a:xfrm>
            <a:off x="4659147" y="2908024"/>
            <a:ext cx="167295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3675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3"/>
          <p:cNvSpPr>
            <a:spLocks noGrp="1"/>
          </p:cNvSpPr>
          <p:nvPr>
            <p:ph type="title"/>
          </p:nvPr>
        </p:nvSpPr>
        <p:spPr>
          <a:xfrm>
            <a:off x="2928926" y="142852"/>
            <a:ext cx="6215073" cy="549844"/>
          </a:xfrm>
        </p:spPr>
        <p:txBody>
          <a:bodyPr/>
          <a:lstStyle/>
          <a:p>
            <a:r>
              <a:rPr kumimoji="1" lang="zh-CN" alt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牛顿法</a:t>
            </a:r>
            <a:endParaRPr kumimoji="1" lang="zh-CN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 1"/>
          <p:cNvSpPr>
            <a:spLocks noChangeArrowheads="1"/>
          </p:cNvSpPr>
          <p:nvPr/>
        </p:nvSpPr>
        <p:spPr bwMode="auto">
          <a:xfrm>
            <a:off x="755576" y="1052736"/>
            <a:ext cx="8786813" cy="4891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sz="2800" dirty="0">
                <a:latin typeface="Arial" panose="020B0604020202020204" pitchFamily="34" charset="0"/>
              </a:rPr>
              <a:t>为求此极小点，令</a:t>
            </a:r>
            <a:endParaRPr lang="en-US" altLang="zh-CN" sz="2800" dirty="0">
              <a:latin typeface="Arial" panose="020B0604020202020204" pitchFamily="34" charset="0"/>
            </a:endParaRPr>
          </a:p>
          <a:p>
            <a:pPr eaLnBrk="1" hangingPunct="1">
              <a:lnSpc>
                <a:spcPct val="130000"/>
              </a:lnSpc>
            </a:pPr>
            <a:endParaRPr lang="zh-CN" altLang="en-US" sz="2000" dirty="0">
              <a:latin typeface="Arial" panose="020B0604020202020204" pitchFamily="34" charset="0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sz="2800" dirty="0">
                <a:latin typeface="Arial" panose="020B0604020202020204" pitchFamily="34" charset="0"/>
              </a:rPr>
              <a:t>即可解得</a:t>
            </a:r>
            <a:endParaRPr lang="en-US" altLang="zh-CN" sz="2800" dirty="0">
              <a:latin typeface="Arial" panose="020B0604020202020204" pitchFamily="34" charset="0"/>
            </a:endParaRPr>
          </a:p>
          <a:p>
            <a:pPr eaLnBrk="1" hangingPunct="1">
              <a:lnSpc>
                <a:spcPct val="130000"/>
              </a:lnSpc>
            </a:pPr>
            <a:endParaRPr lang="zh-CN" altLang="en-US" sz="1200" dirty="0">
              <a:latin typeface="Arial" panose="020B0604020202020204" pitchFamily="34" charset="0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sz="2800" dirty="0">
                <a:latin typeface="Arial" panose="020B0604020202020204" pitchFamily="34" charset="0"/>
              </a:rPr>
              <a:t>亦即</a:t>
            </a:r>
            <a:endParaRPr lang="en-US" altLang="zh-CN" sz="2800" dirty="0">
              <a:latin typeface="Arial" panose="020B0604020202020204" pitchFamily="34" charset="0"/>
            </a:endParaRPr>
          </a:p>
          <a:p>
            <a:pPr eaLnBrk="1" hangingPunct="1">
              <a:lnSpc>
                <a:spcPct val="115000"/>
              </a:lnSpc>
            </a:pPr>
            <a:r>
              <a:rPr lang="zh-CN" altLang="en-US" sz="2800" dirty="0">
                <a:latin typeface="Arial" panose="020B0604020202020204" pitchFamily="34" charset="0"/>
              </a:rPr>
              <a:t>对照基本迭代格式</a:t>
            </a:r>
            <a:endParaRPr lang="en-US" altLang="zh-CN" sz="2800" dirty="0">
              <a:latin typeface="Arial" panose="020B0604020202020204" pitchFamily="34" charset="0"/>
            </a:endParaRPr>
          </a:p>
          <a:p>
            <a:pPr eaLnBrk="1" hangingPunct="1">
              <a:lnSpc>
                <a:spcPct val="115000"/>
              </a:lnSpc>
            </a:pPr>
            <a:endParaRPr lang="zh-CN" altLang="en-US" sz="2800" dirty="0">
              <a:latin typeface="Arial" panose="020B0604020202020204" pitchFamily="34" charset="0"/>
            </a:endParaRPr>
          </a:p>
          <a:p>
            <a:pPr eaLnBrk="1" hangingPunct="1">
              <a:lnSpc>
                <a:spcPct val="115000"/>
              </a:lnSpc>
            </a:pPr>
            <a:r>
              <a:rPr lang="zh-CN" altLang="en-US" sz="2800" dirty="0">
                <a:latin typeface="Arial" panose="020B0604020202020204" pitchFamily="34" charset="0"/>
              </a:rPr>
              <a:t>易知，式（</a:t>
            </a:r>
            <a:r>
              <a:rPr lang="en-US" altLang="zh-CN" sz="2800" dirty="0">
                <a:latin typeface="Arial" panose="020B0604020202020204" pitchFamily="34" charset="0"/>
              </a:rPr>
              <a:t>5.9</a:t>
            </a:r>
            <a:r>
              <a:rPr lang="zh-CN" altLang="en-US" sz="2800" dirty="0">
                <a:latin typeface="Arial" panose="020B0604020202020204" pitchFamily="34" charset="0"/>
              </a:rPr>
              <a:t>）中的搜索方向</a:t>
            </a:r>
            <a:endParaRPr lang="en-US" altLang="zh-CN" sz="2800" dirty="0">
              <a:latin typeface="Arial" panose="020B0604020202020204" pitchFamily="34" charset="0"/>
            </a:endParaRPr>
          </a:p>
          <a:p>
            <a:pPr eaLnBrk="1" hangingPunct="1">
              <a:lnSpc>
                <a:spcPct val="115000"/>
              </a:lnSpc>
            </a:pPr>
            <a:endParaRPr lang="zh-CN" altLang="en-US" sz="2800" dirty="0">
              <a:latin typeface="Arial" panose="020B0604020202020204" pitchFamily="34" charset="0"/>
            </a:endParaRPr>
          </a:p>
          <a:p>
            <a:pPr eaLnBrk="1" hangingPunct="1">
              <a:lnSpc>
                <a:spcPct val="115000"/>
              </a:lnSpc>
            </a:pPr>
            <a:r>
              <a:rPr lang="zh-CN" altLang="en-US" sz="2800" dirty="0">
                <a:latin typeface="Arial" panose="020B0604020202020204" pitchFamily="34" charset="0"/>
              </a:rPr>
              <a:t> 步长因子        ．</a:t>
            </a:r>
          </a:p>
        </p:txBody>
      </p:sp>
      <p:graphicFrame>
        <p:nvGraphicFramePr>
          <p:cNvPr id="4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1012116"/>
              </p:ext>
            </p:extLst>
          </p:nvPr>
        </p:nvGraphicFramePr>
        <p:xfrm>
          <a:off x="3866115" y="1214237"/>
          <a:ext cx="5012169" cy="389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048" name="公式" r:id="rId3" imgW="2400300" imgH="203200" progId="Equation.3">
                  <p:embed/>
                </p:oleObj>
              </mc:Choice>
              <mc:Fallback>
                <p:oleObj name="公式" r:id="rId3" imgW="2400300" imgH="203200" progId="Equation.3">
                  <p:embed/>
                  <p:pic>
                    <p:nvPicPr>
                      <p:cNvPr id="175107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6115" y="1214237"/>
                        <a:ext cx="5012169" cy="3896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9651748"/>
              </p:ext>
            </p:extLst>
          </p:nvPr>
        </p:nvGraphicFramePr>
        <p:xfrm>
          <a:off x="2415610" y="2158613"/>
          <a:ext cx="4504606" cy="4465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049" name="公式" r:id="rId5" imgW="1765300" imgH="203200" progId="Equation.3">
                  <p:embed/>
                </p:oleObj>
              </mc:Choice>
              <mc:Fallback>
                <p:oleObj name="公式" r:id="rId5" imgW="1765300" imgH="203200" progId="Equation.3">
                  <p:embed/>
                  <p:pic>
                    <p:nvPicPr>
                      <p:cNvPr id="175108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5610" y="2158613"/>
                        <a:ext cx="4504606" cy="44650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5574336"/>
              </p:ext>
            </p:extLst>
          </p:nvPr>
        </p:nvGraphicFramePr>
        <p:xfrm>
          <a:off x="1749435" y="2912007"/>
          <a:ext cx="5836955" cy="425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050" name="公式" r:id="rId7" imgW="2755800" imgH="241200" progId="Equation.3">
                  <p:embed/>
                </p:oleObj>
              </mc:Choice>
              <mc:Fallback>
                <p:oleObj name="公式" r:id="rId7" imgW="2755800" imgH="241200" progId="Equation.3">
                  <p:embed/>
                  <p:pic>
                    <p:nvPicPr>
                      <p:cNvPr id="175109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9435" y="2912007"/>
                        <a:ext cx="5836955" cy="42548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1308919"/>
              </p:ext>
            </p:extLst>
          </p:nvPr>
        </p:nvGraphicFramePr>
        <p:xfrm>
          <a:off x="3923928" y="3882517"/>
          <a:ext cx="1966800" cy="4230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051" name="公式" r:id="rId9" imgW="990170" imgH="203112" progId="Equation.3">
                  <p:embed/>
                </p:oleObj>
              </mc:Choice>
              <mc:Fallback>
                <p:oleObj name="公式" r:id="rId9" imgW="990170" imgH="203112" progId="Equation.3">
                  <p:embed/>
                  <p:pic>
                    <p:nvPicPr>
                      <p:cNvPr id="17511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3928" y="3882517"/>
                        <a:ext cx="1966800" cy="42300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5263870"/>
              </p:ext>
            </p:extLst>
          </p:nvPr>
        </p:nvGraphicFramePr>
        <p:xfrm>
          <a:off x="2755825" y="4910360"/>
          <a:ext cx="3965921" cy="4286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052" name="公式" r:id="rId11" imgW="1562100" imgH="203200" progId="Equation.3">
                  <p:embed/>
                </p:oleObj>
              </mc:Choice>
              <mc:Fallback>
                <p:oleObj name="公式" r:id="rId11" imgW="1562100" imgH="203200" progId="Equation.3">
                  <p:embed/>
                  <p:pic>
                    <p:nvPicPr>
                      <p:cNvPr id="175111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5825" y="4910360"/>
                        <a:ext cx="3965921" cy="42862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8559507"/>
              </p:ext>
            </p:extLst>
          </p:nvPr>
        </p:nvGraphicFramePr>
        <p:xfrm>
          <a:off x="2327200" y="5338986"/>
          <a:ext cx="649288" cy="541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053" name="公式" r:id="rId13" imgW="342751" imgH="203112" progId="Equation.3">
                  <p:embed/>
                </p:oleObj>
              </mc:Choice>
              <mc:Fallback>
                <p:oleObj name="公式" r:id="rId13" imgW="342751" imgH="203112" progId="Equation.3">
                  <p:embed/>
                  <p:pic>
                    <p:nvPicPr>
                      <p:cNvPr id="175112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7200" y="5338986"/>
                        <a:ext cx="649288" cy="5413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73587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3"/>
          <p:cNvSpPr>
            <a:spLocks noGrp="1"/>
          </p:cNvSpPr>
          <p:nvPr>
            <p:ph type="title"/>
          </p:nvPr>
        </p:nvSpPr>
        <p:spPr>
          <a:xfrm>
            <a:off x="2928926" y="142852"/>
            <a:ext cx="6215073" cy="549844"/>
          </a:xfrm>
        </p:spPr>
        <p:txBody>
          <a:bodyPr/>
          <a:lstStyle/>
          <a:p>
            <a:r>
              <a:rPr kumimoji="1" lang="zh-CN" alt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牛顿法</a:t>
            </a:r>
            <a:endParaRPr kumimoji="1" lang="zh-CN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287337" y="1268760"/>
            <a:ext cx="8856663" cy="42148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</a:pPr>
            <a:r>
              <a:rPr lang="zh-CN" altLang="en-US" sz="2800" dirty="0" smtClean="0"/>
              <a:t>换句话说从点     出发沿搜索方向</a:t>
            </a:r>
          </a:p>
          <a:p>
            <a:pPr>
              <a:lnSpc>
                <a:spcPct val="115000"/>
              </a:lnSpc>
              <a:buFontTx/>
              <a:buNone/>
            </a:pPr>
            <a:endParaRPr lang="zh-CN" altLang="en-US" sz="1600" dirty="0" smtClean="0"/>
          </a:p>
          <a:p>
            <a:pPr>
              <a:lnSpc>
                <a:spcPct val="115000"/>
              </a:lnSpc>
              <a:buFontTx/>
              <a:buNone/>
            </a:pPr>
            <a:r>
              <a:rPr lang="zh-CN" altLang="en-US" sz="2800" dirty="0" smtClean="0"/>
              <a:t>  并取步长        即可得        的极小点         </a:t>
            </a:r>
            <a:r>
              <a:rPr lang="en-US" altLang="zh-CN" sz="2800" dirty="0" smtClean="0"/>
              <a:t>.</a:t>
            </a:r>
          </a:p>
          <a:p>
            <a:pPr>
              <a:lnSpc>
                <a:spcPct val="115000"/>
              </a:lnSpc>
            </a:pPr>
            <a:r>
              <a:rPr lang="zh-CN" altLang="en-US" sz="2800" dirty="0" smtClean="0"/>
              <a:t>因此                                                     是直指点     处近似二次函数        的极小点的方向．此时称     为从点      出发的</a:t>
            </a:r>
            <a:r>
              <a:rPr lang="en-US" altLang="zh-CN" sz="2800" dirty="0" smtClean="0"/>
              <a:t>Newton</a:t>
            </a:r>
            <a:r>
              <a:rPr lang="zh-CN" altLang="en-US" sz="2800" dirty="0" smtClean="0"/>
              <a:t>方向．</a:t>
            </a:r>
            <a:endParaRPr lang="en-US" altLang="zh-CN" sz="2800" dirty="0" smtClean="0"/>
          </a:p>
          <a:p>
            <a:pPr>
              <a:lnSpc>
                <a:spcPct val="115000"/>
              </a:lnSpc>
            </a:pPr>
            <a:r>
              <a:rPr lang="zh-CN" altLang="en-US" sz="2800" dirty="0" smtClean="0"/>
              <a:t>从初始点开始，每一轮从当前迭代点出发，沿</a:t>
            </a:r>
            <a:r>
              <a:rPr lang="en-US" altLang="zh-CN" sz="2800" dirty="0" smtClean="0"/>
              <a:t>Newton</a:t>
            </a:r>
            <a:r>
              <a:rPr lang="zh-CN" altLang="en-US" sz="2800" dirty="0" smtClean="0"/>
              <a:t>方向并取步长         的算法称为</a:t>
            </a:r>
            <a:r>
              <a:rPr lang="en-US" altLang="zh-CN" sz="2800" dirty="0" smtClean="0"/>
              <a:t>Newton</a:t>
            </a:r>
            <a:r>
              <a:rPr lang="zh-CN" altLang="en-US" sz="2800" dirty="0" smtClean="0"/>
              <a:t>法．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altLang="zh-CN" sz="2000" dirty="0"/>
          </a:p>
        </p:txBody>
      </p:sp>
      <p:graphicFrame>
        <p:nvGraphicFramePr>
          <p:cNvPr id="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6749570"/>
              </p:ext>
            </p:extLst>
          </p:nvPr>
        </p:nvGraphicFramePr>
        <p:xfrm>
          <a:off x="2771569" y="1290467"/>
          <a:ext cx="504825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126" name="公式" r:id="rId3" imgW="215713" imgH="203024" progId="Equation.3">
                  <p:embed/>
                </p:oleObj>
              </mc:Choice>
              <mc:Fallback>
                <p:oleObj name="公式" r:id="rId3" imgW="215713" imgH="203024" progId="Equation.3">
                  <p:embed/>
                  <p:pic>
                    <p:nvPicPr>
                      <p:cNvPr id="176131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569" y="1290467"/>
                        <a:ext cx="504825" cy="460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4193389"/>
              </p:ext>
            </p:extLst>
          </p:nvPr>
        </p:nvGraphicFramePr>
        <p:xfrm>
          <a:off x="2716213" y="1840262"/>
          <a:ext cx="3367955" cy="4381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127" name="公式" r:id="rId5" imgW="1562100" imgH="203200" progId="Equation.3">
                  <p:embed/>
                </p:oleObj>
              </mc:Choice>
              <mc:Fallback>
                <p:oleObj name="公式" r:id="rId5" imgW="1562100" imgH="203200" progId="Equation.3">
                  <p:embed/>
                  <p:pic>
                    <p:nvPicPr>
                      <p:cNvPr id="176132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6213" y="1840262"/>
                        <a:ext cx="3367955" cy="43817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84759"/>
              </p:ext>
            </p:extLst>
          </p:nvPr>
        </p:nvGraphicFramePr>
        <p:xfrm>
          <a:off x="2079125" y="2224751"/>
          <a:ext cx="574675" cy="4121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128" name="公式" r:id="rId7" imgW="342751" imgH="203112" progId="Equation.3">
                  <p:embed/>
                </p:oleObj>
              </mc:Choice>
              <mc:Fallback>
                <p:oleObj name="公式" r:id="rId7" imgW="342751" imgH="203112" progId="Equation.3">
                  <p:embed/>
                  <p:pic>
                    <p:nvPicPr>
                      <p:cNvPr id="176133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9125" y="2224751"/>
                        <a:ext cx="574675" cy="41216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0288531"/>
              </p:ext>
            </p:extLst>
          </p:nvPr>
        </p:nvGraphicFramePr>
        <p:xfrm>
          <a:off x="3644900" y="2273438"/>
          <a:ext cx="720725" cy="38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129" name="公式" r:id="rId9" imgW="355446" imgH="190417" progId="Equation.3">
                  <p:embed/>
                </p:oleObj>
              </mc:Choice>
              <mc:Fallback>
                <p:oleObj name="公式" r:id="rId9" imgW="355446" imgH="190417" progId="Equation.3">
                  <p:embed/>
                  <p:pic>
                    <p:nvPicPr>
                      <p:cNvPr id="176134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4900" y="2273438"/>
                        <a:ext cx="720725" cy="3889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0563608"/>
              </p:ext>
            </p:extLst>
          </p:nvPr>
        </p:nvGraphicFramePr>
        <p:xfrm>
          <a:off x="5723805" y="2254772"/>
          <a:ext cx="720725" cy="4169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130" name="公式" r:id="rId11" imgW="291973" imgH="203112" progId="Equation.3">
                  <p:embed/>
                </p:oleObj>
              </mc:Choice>
              <mc:Fallback>
                <p:oleObj name="公式" r:id="rId11" imgW="291973" imgH="203112" progId="Equation.3">
                  <p:embed/>
                  <p:pic>
                    <p:nvPicPr>
                      <p:cNvPr id="176135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3805" y="2254772"/>
                        <a:ext cx="720725" cy="41694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993644"/>
              </p:ext>
            </p:extLst>
          </p:nvPr>
        </p:nvGraphicFramePr>
        <p:xfrm>
          <a:off x="1501774" y="2840385"/>
          <a:ext cx="4214812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131" name="公式" r:id="rId13" imgW="1562100" imgH="203200" progId="Equation.3">
                  <p:embed/>
                </p:oleObj>
              </mc:Choice>
              <mc:Fallback>
                <p:oleObj name="公式" r:id="rId13" imgW="1562100" imgH="203200" progId="Equation.3">
                  <p:embed/>
                  <p:pic>
                    <p:nvPicPr>
                      <p:cNvPr id="176136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1774" y="2840385"/>
                        <a:ext cx="4214812" cy="488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5042176"/>
              </p:ext>
            </p:extLst>
          </p:nvPr>
        </p:nvGraphicFramePr>
        <p:xfrm>
          <a:off x="7151293" y="2804520"/>
          <a:ext cx="431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132" name="公式" r:id="rId15" imgW="215713" imgH="203024" progId="Equation.3">
                  <p:embed/>
                </p:oleObj>
              </mc:Choice>
              <mc:Fallback>
                <p:oleObj name="公式" r:id="rId15" imgW="215713" imgH="203024" progId="Equation.3">
                  <p:embed/>
                  <p:pic>
                    <p:nvPicPr>
                      <p:cNvPr id="176137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51293" y="2804520"/>
                        <a:ext cx="431800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8144270"/>
              </p:ext>
            </p:extLst>
          </p:nvPr>
        </p:nvGraphicFramePr>
        <p:xfrm>
          <a:off x="1721545" y="3318495"/>
          <a:ext cx="79057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133" name="公式" r:id="rId17" imgW="355446" imgH="190417" progId="Equation.3">
                  <p:embed/>
                </p:oleObj>
              </mc:Choice>
              <mc:Fallback>
                <p:oleObj name="公式" r:id="rId17" imgW="355446" imgH="190417" progId="Equation.3">
                  <p:embed/>
                  <p:pic>
                    <p:nvPicPr>
                      <p:cNvPr id="176138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1545" y="3318495"/>
                        <a:ext cx="790575" cy="428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5176054"/>
              </p:ext>
            </p:extLst>
          </p:nvPr>
        </p:nvGraphicFramePr>
        <p:xfrm>
          <a:off x="7812360" y="3294610"/>
          <a:ext cx="503237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134" name="公式" r:id="rId19" imgW="215713" imgH="203024" progId="Equation.3">
                  <p:embed/>
                </p:oleObj>
              </mc:Choice>
              <mc:Fallback>
                <p:oleObj name="公式" r:id="rId19" imgW="215713" imgH="203024" progId="Equation.3">
                  <p:embed/>
                  <p:pic>
                    <p:nvPicPr>
                      <p:cNvPr id="176139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12360" y="3294610"/>
                        <a:ext cx="503237" cy="458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4924073"/>
              </p:ext>
            </p:extLst>
          </p:nvPr>
        </p:nvGraphicFramePr>
        <p:xfrm>
          <a:off x="2859087" y="4840635"/>
          <a:ext cx="785813" cy="550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135" name="公式" r:id="rId21" imgW="342751" imgH="203112" progId="Equation.3">
                  <p:embed/>
                </p:oleObj>
              </mc:Choice>
              <mc:Fallback>
                <p:oleObj name="公式" r:id="rId21" imgW="342751" imgH="203112" progId="Equation.3">
                  <p:embed/>
                  <p:pic>
                    <p:nvPicPr>
                      <p:cNvPr id="17614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9087" y="4840635"/>
                        <a:ext cx="785813" cy="5508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683928"/>
              </p:ext>
            </p:extLst>
          </p:nvPr>
        </p:nvGraphicFramePr>
        <p:xfrm>
          <a:off x="6365667" y="3259016"/>
          <a:ext cx="481012" cy="54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136" name="公式" r:id="rId23" imgW="177480" imgH="228600" progId="Equation.3">
                  <p:embed/>
                </p:oleObj>
              </mc:Choice>
              <mc:Fallback>
                <p:oleObj name="公式" r:id="rId23" imgW="177480" imgH="228600" progId="Equation.3">
                  <p:embed/>
                  <p:pic>
                    <p:nvPicPr>
                      <p:cNvPr id="176142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65667" y="3259016"/>
                        <a:ext cx="481012" cy="5445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12527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3"/>
          <p:cNvSpPr>
            <a:spLocks noGrp="1"/>
          </p:cNvSpPr>
          <p:nvPr>
            <p:ph type="title"/>
          </p:nvPr>
        </p:nvSpPr>
        <p:spPr>
          <a:xfrm>
            <a:off x="2928926" y="142852"/>
            <a:ext cx="6215073" cy="549844"/>
          </a:xfrm>
        </p:spPr>
        <p:txBody>
          <a:bodyPr/>
          <a:lstStyle/>
          <a:p>
            <a:r>
              <a:rPr kumimoji="1" lang="zh-CN" alt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牛顿法</a:t>
            </a:r>
            <a:endParaRPr kumimoji="1" lang="zh-CN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179512" y="1196752"/>
            <a:ext cx="9286875" cy="5429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40000"/>
              </a:lnSpc>
              <a:defRPr/>
            </a:pPr>
            <a:r>
              <a:rPr lang="zh-CN" altLang="en-US" sz="2400" dirty="0" smtClean="0">
                <a:solidFill>
                  <a:srgbClr val="009999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二、</a:t>
            </a:r>
            <a:r>
              <a:rPr lang="en-US" altLang="zh-CN" sz="2400" dirty="0" smtClean="0">
                <a:solidFill>
                  <a:srgbClr val="009999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Newton</a:t>
            </a:r>
            <a:r>
              <a:rPr lang="zh-CN" altLang="en-US" sz="2400" dirty="0" smtClean="0">
                <a:solidFill>
                  <a:srgbClr val="009999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法迭代步骤</a:t>
            </a:r>
            <a:endParaRPr lang="en-US" altLang="zh-CN" sz="2400" dirty="0" smtClean="0">
              <a:solidFill>
                <a:srgbClr val="009999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>
              <a:lnSpc>
                <a:spcPct val="140000"/>
              </a:lnSpc>
              <a:defRPr/>
            </a:pPr>
            <a:r>
              <a:rPr lang="zh-CN" altLang="en-US" sz="2400" dirty="0" smtClean="0"/>
              <a:t>已知目标函数          及其梯度             </a:t>
            </a:r>
            <a:r>
              <a:rPr lang="en-US" altLang="zh-CN" sz="2400" dirty="0" smtClean="0"/>
              <a:t>Hesse</a:t>
            </a:r>
            <a:r>
              <a:rPr lang="zh-CN" altLang="en-US" sz="2400" dirty="0" smtClean="0"/>
              <a:t>矩阵          </a:t>
            </a:r>
            <a:r>
              <a:rPr lang="en-US" altLang="zh-CN" sz="2400" dirty="0" smtClean="0"/>
              <a:t>,</a:t>
            </a:r>
            <a:r>
              <a:rPr lang="zh-CN" altLang="en-US" sz="2400" dirty="0" smtClean="0"/>
              <a:t>终止限    </a:t>
            </a:r>
          </a:p>
          <a:p>
            <a:pPr>
              <a:lnSpc>
                <a:spcPct val="140000"/>
              </a:lnSpc>
              <a:defRPr/>
            </a:pPr>
            <a:r>
              <a:rPr lang="en-US" altLang="zh-CN" sz="2400" dirty="0" smtClean="0"/>
              <a:t>(1)</a:t>
            </a:r>
            <a:r>
              <a:rPr lang="zh-CN" altLang="en-US" sz="2400" dirty="0" smtClean="0"/>
              <a:t>选定初始点        计算                                     置             ．</a:t>
            </a:r>
          </a:p>
          <a:p>
            <a:pPr>
              <a:lnSpc>
                <a:spcPct val="140000"/>
              </a:lnSpc>
              <a:defRPr/>
            </a:pPr>
            <a:r>
              <a:rPr lang="en-US" altLang="zh-CN" sz="2400" dirty="0" smtClean="0"/>
              <a:t>(2)</a:t>
            </a:r>
            <a:r>
              <a:rPr lang="zh-CN" altLang="en-US" sz="2400" dirty="0" smtClean="0"/>
              <a:t>计算                    </a:t>
            </a:r>
          </a:p>
          <a:p>
            <a:pPr>
              <a:lnSpc>
                <a:spcPct val="140000"/>
              </a:lnSpc>
              <a:defRPr/>
            </a:pPr>
            <a:r>
              <a:rPr lang="en-US" altLang="zh-CN" sz="2400" dirty="0" smtClean="0"/>
              <a:t>(3)</a:t>
            </a:r>
            <a:r>
              <a:rPr lang="zh-CN" altLang="en-US" sz="2400" dirty="0" smtClean="0"/>
              <a:t>由方程                      解出       ．</a:t>
            </a:r>
          </a:p>
          <a:p>
            <a:pPr>
              <a:lnSpc>
                <a:spcPct val="140000"/>
              </a:lnSpc>
              <a:defRPr/>
            </a:pPr>
            <a:r>
              <a:rPr lang="en-US" altLang="zh-CN" sz="2400" dirty="0" smtClean="0"/>
              <a:t>(4)</a:t>
            </a:r>
            <a:r>
              <a:rPr lang="zh-CN" altLang="en-US" sz="2400" dirty="0" smtClean="0"/>
              <a:t>计算</a:t>
            </a:r>
          </a:p>
          <a:p>
            <a:pPr>
              <a:lnSpc>
                <a:spcPct val="140000"/>
              </a:lnSpc>
              <a:defRPr/>
            </a:pPr>
            <a:r>
              <a:rPr lang="en-US" altLang="zh-CN" sz="2400" dirty="0" smtClean="0"/>
              <a:t>(5)</a:t>
            </a:r>
            <a:r>
              <a:rPr lang="zh-CN" altLang="en-US" sz="2400" dirty="0" smtClean="0"/>
              <a:t>判别终止准则是否满足：若满足，则打印最优解              </a:t>
            </a:r>
          </a:p>
          <a:p>
            <a:pPr>
              <a:lnSpc>
                <a:spcPct val="140000"/>
              </a:lnSpc>
              <a:buFontTx/>
              <a:buNone/>
              <a:defRPr/>
            </a:pPr>
            <a:r>
              <a:rPr lang="zh-CN" altLang="en-US" sz="2400" dirty="0" smtClean="0"/>
              <a:t>                 停机；否则置                 转</a:t>
            </a:r>
            <a:r>
              <a:rPr lang="en-US" altLang="zh-CN" sz="2400" dirty="0" smtClean="0"/>
              <a:t>(2).</a:t>
            </a:r>
            <a:endParaRPr lang="zh-CN" altLang="en-US" sz="2400" dirty="0" smtClean="0"/>
          </a:p>
          <a:p>
            <a:pPr>
              <a:lnSpc>
                <a:spcPct val="140000"/>
              </a:lnSpc>
              <a:buFontTx/>
              <a:buNone/>
              <a:defRPr/>
            </a:pPr>
            <a:r>
              <a:rPr lang="zh-CN" altLang="en-US" sz="2400" dirty="0" smtClean="0"/>
              <a:t>　　</a:t>
            </a:r>
            <a:endParaRPr lang="zh-CN" altLang="en-US" sz="2400" dirty="0"/>
          </a:p>
        </p:txBody>
      </p:sp>
      <p:graphicFrame>
        <p:nvGraphicFramePr>
          <p:cNvPr id="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7030671"/>
              </p:ext>
            </p:extLst>
          </p:nvPr>
        </p:nvGraphicFramePr>
        <p:xfrm>
          <a:off x="2413125" y="1921989"/>
          <a:ext cx="685800" cy="3709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187" name="公式" r:id="rId3" imgW="355446" imgH="190417" progId="Equation.3">
                  <p:embed/>
                </p:oleObj>
              </mc:Choice>
              <mc:Fallback>
                <p:oleObj name="公式" r:id="rId3" imgW="355446" imgH="190417" progId="Equation.3">
                  <p:embed/>
                  <p:pic>
                    <p:nvPicPr>
                      <p:cNvPr id="17715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3125" y="1921989"/>
                        <a:ext cx="685800" cy="37090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8557971"/>
              </p:ext>
            </p:extLst>
          </p:nvPr>
        </p:nvGraphicFramePr>
        <p:xfrm>
          <a:off x="4392736" y="1903984"/>
          <a:ext cx="793750" cy="38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188" name="公式" r:id="rId5" imgW="419040" imgH="203040" progId="Equation.3">
                  <p:embed/>
                </p:oleObj>
              </mc:Choice>
              <mc:Fallback>
                <p:oleObj name="公式" r:id="rId5" imgW="419040" imgH="203040" progId="Equation.3">
                  <p:embed/>
                  <p:pic>
                    <p:nvPicPr>
                      <p:cNvPr id="177158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2736" y="1903984"/>
                        <a:ext cx="793750" cy="3857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0439662"/>
              </p:ext>
            </p:extLst>
          </p:nvPr>
        </p:nvGraphicFramePr>
        <p:xfrm>
          <a:off x="6517007" y="1961134"/>
          <a:ext cx="714375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189" name="公式" r:id="rId7" imgW="355446" imgH="190417" progId="Equation.3">
                  <p:embed/>
                </p:oleObj>
              </mc:Choice>
              <mc:Fallback>
                <p:oleObj name="公式" r:id="rId7" imgW="355446" imgH="190417" progId="Equation.3">
                  <p:embed/>
                  <p:pic>
                    <p:nvPicPr>
                      <p:cNvPr id="17716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7007" y="1961134"/>
                        <a:ext cx="714375" cy="387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5665226"/>
              </p:ext>
            </p:extLst>
          </p:nvPr>
        </p:nvGraphicFramePr>
        <p:xfrm>
          <a:off x="8327414" y="1943136"/>
          <a:ext cx="301625" cy="328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190" name="公式" r:id="rId9" imgW="126720" imgH="139680" progId="Equation.3">
                  <p:embed/>
                </p:oleObj>
              </mc:Choice>
              <mc:Fallback>
                <p:oleObj name="公式" r:id="rId9" imgW="126720" imgH="139680" progId="Equation.3">
                  <p:embed/>
                  <p:pic>
                    <p:nvPicPr>
                      <p:cNvPr id="177162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27414" y="1943136"/>
                        <a:ext cx="301625" cy="328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4328168"/>
              </p:ext>
            </p:extLst>
          </p:nvPr>
        </p:nvGraphicFramePr>
        <p:xfrm>
          <a:off x="2532188" y="2464346"/>
          <a:ext cx="566737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191" name="公式" r:id="rId11" imgW="266400" imgH="228600" progId="Equation.3">
                  <p:embed/>
                </p:oleObj>
              </mc:Choice>
              <mc:Fallback>
                <p:oleObj name="公式" r:id="rId11" imgW="266400" imgH="228600" progId="Equation.3">
                  <p:embed/>
                  <p:pic>
                    <p:nvPicPr>
                      <p:cNvPr id="177164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2188" y="2464346"/>
                        <a:ext cx="566737" cy="485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5787261"/>
              </p:ext>
            </p:extLst>
          </p:nvPr>
        </p:nvGraphicFramePr>
        <p:xfrm>
          <a:off x="3565648" y="2448472"/>
          <a:ext cx="2447925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192" name="公式" r:id="rId13" imgW="1333500" imgH="203200" progId="Equation.3">
                  <p:embed/>
                </p:oleObj>
              </mc:Choice>
              <mc:Fallback>
                <p:oleObj name="公式" r:id="rId13" imgW="1333500" imgH="203200" progId="Equation.3">
                  <p:embed/>
                  <p:pic>
                    <p:nvPicPr>
                      <p:cNvPr id="177166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5648" y="2448472"/>
                        <a:ext cx="2447925" cy="4714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8736195"/>
              </p:ext>
            </p:extLst>
          </p:nvPr>
        </p:nvGraphicFramePr>
        <p:xfrm>
          <a:off x="6480296" y="2515145"/>
          <a:ext cx="792162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193" name="公式" r:id="rId15" imgW="330057" imgH="165028" progId="Equation.3">
                  <p:embed/>
                </p:oleObj>
              </mc:Choice>
              <mc:Fallback>
                <p:oleObj name="公式" r:id="rId15" imgW="330057" imgH="165028" progId="Equation.3">
                  <p:embed/>
                  <p:pic>
                    <p:nvPicPr>
                      <p:cNvPr id="177168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80296" y="2515145"/>
                        <a:ext cx="792162" cy="384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783898"/>
              </p:ext>
            </p:extLst>
          </p:nvPr>
        </p:nvGraphicFramePr>
        <p:xfrm>
          <a:off x="1614244" y="3028730"/>
          <a:ext cx="2011363" cy="496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194" name="公式" r:id="rId17" imgW="965160" imgH="241200" progId="Equation.3">
                  <p:embed/>
                </p:oleObj>
              </mc:Choice>
              <mc:Fallback>
                <p:oleObj name="公式" r:id="rId17" imgW="965160" imgH="241200" progId="Equation.3">
                  <p:embed/>
                  <p:pic>
                    <p:nvPicPr>
                      <p:cNvPr id="17717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4244" y="3028730"/>
                        <a:ext cx="2011363" cy="4968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5985431"/>
              </p:ext>
            </p:extLst>
          </p:nvPr>
        </p:nvGraphicFramePr>
        <p:xfrm>
          <a:off x="1853811" y="3610862"/>
          <a:ext cx="1571625" cy="452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195" name="公式" r:id="rId19" imgW="698197" imgH="203112" progId="Equation.3">
                  <p:embed/>
                </p:oleObj>
              </mc:Choice>
              <mc:Fallback>
                <p:oleObj name="公式" r:id="rId19" imgW="698197" imgH="203112" progId="Equation.3">
                  <p:embed/>
                  <p:pic>
                    <p:nvPicPr>
                      <p:cNvPr id="177172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3811" y="3610862"/>
                        <a:ext cx="1571625" cy="4524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2716633"/>
              </p:ext>
            </p:extLst>
          </p:nvPr>
        </p:nvGraphicFramePr>
        <p:xfrm>
          <a:off x="4007571" y="3642250"/>
          <a:ext cx="477838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196" name="公式" r:id="rId21" imgW="164957" imgH="203024" progId="Equation.3">
                  <p:embed/>
                </p:oleObj>
              </mc:Choice>
              <mc:Fallback>
                <p:oleObj name="公式" r:id="rId21" imgW="164957" imgH="203024" progId="Equation.3">
                  <p:embed/>
                  <p:pic>
                    <p:nvPicPr>
                      <p:cNvPr id="177174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7571" y="3642250"/>
                        <a:ext cx="477838" cy="428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5198881"/>
              </p:ext>
            </p:extLst>
          </p:nvPr>
        </p:nvGraphicFramePr>
        <p:xfrm>
          <a:off x="1638812" y="4211177"/>
          <a:ext cx="5286375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197" name="公式" r:id="rId23" imgW="2692400" imgH="203200" progId="Equation.3">
                  <p:embed/>
                </p:oleObj>
              </mc:Choice>
              <mc:Fallback>
                <p:oleObj name="公式" r:id="rId23" imgW="2692400" imgH="203200" progId="Equation.3">
                  <p:embed/>
                  <p:pic>
                    <p:nvPicPr>
                      <p:cNvPr id="177176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8812" y="4211177"/>
                        <a:ext cx="5286375" cy="4714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5247060"/>
              </p:ext>
            </p:extLst>
          </p:nvPr>
        </p:nvGraphicFramePr>
        <p:xfrm>
          <a:off x="608137" y="6148166"/>
          <a:ext cx="1285875" cy="47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198" name="公式" r:id="rId25" imgW="596880" imgH="228600" progId="Equation.3">
                  <p:embed/>
                </p:oleObj>
              </mc:Choice>
              <mc:Fallback>
                <p:oleObj name="公式" r:id="rId25" imgW="596880" imgH="228600" progId="Equation.3">
                  <p:embed/>
                  <p:pic>
                    <p:nvPicPr>
                      <p:cNvPr id="177178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137" y="6148166"/>
                        <a:ext cx="1285875" cy="4778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5447040"/>
              </p:ext>
            </p:extLst>
          </p:nvPr>
        </p:nvGraphicFramePr>
        <p:xfrm>
          <a:off x="3307713" y="5401920"/>
          <a:ext cx="1077912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199" name="公式" r:id="rId27" imgW="583920" imgH="203040" progId="Equation.3">
                  <p:embed/>
                </p:oleObj>
              </mc:Choice>
              <mc:Fallback>
                <p:oleObj name="公式" r:id="rId27" imgW="583920" imgH="203040" progId="Equation.3">
                  <p:embed/>
                  <p:pic>
                    <p:nvPicPr>
                      <p:cNvPr id="177181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7713" y="5401920"/>
                        <a:ext cx="1077912" cy="504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92653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3"/>
          <p:cNvSpPr>
            <a:spLocks noGrp="1"/>
          </p:cNvSpPr>
          <p:nvPr>
            <p:ph type="title"/>
          </p:nvPr>
        </p:nvSpPr>
        <p:spPr>
          <a:xfrm>
            <a:off x="3152051" y="122383"/>
            <a:ext cx="6215073" cy="549844"/>
          </a:xfrm>
        </p:spPr>
        <p:txBody>
          <a:bodyPr/>
          <a:lstStyle/>
          <a:p>
            <a:r>
              <a:rPr kumimoji="1" lang="zh-CN" alt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牛顿法</a:t>
            </a:r>
            <a:endParaRPr kumimoji="1" lang="zh-CN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矩形 28"/>
          <p:cNvSpPr>
            <a:spLocks noChangeArrowheads="1"/>
          </p:cNvSpPr>
          <p:nvPr/>
        </p:nvSpPr>
        <p:spPr bwMode="auto">
          <a:xfrm>
            <a:off x="466582" y="1110923"/>
            <a:ext cx="2071688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dirty="0">
                <a:latin typeface="Arial" panose="020B0604020202020204" pitchFamily="34" charset="0"/>
              </a:rPr>
              <a:t>Newton</a:t>
            </a:r>
            <a:r>
              <a:rPr lang="zh-CN" altLang="en-US" sz="3200" dirty="0">
                <a:latin typeface="Arial" panose="020B0604020202020204" pitchFamily="34" charset="0"/>
              </a:rPr>
              <a:t>法的流程如图所示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2267744" y="332656"/>
            <a:ext cx="3646421" cy="6136752"/>
            <a:chOff x="4911772" y="105538"/>
            <a:chExt cx="4133805" cy="6852174"/>
          </a:xfrm>
        </p:grpSpPr>
        <p:grpSp>
          <p:nvGrpSpPr>
            <p:cNvPr id="3" name="Group 3"/>
            <p:cNvGrpSpPr>
              <a:grpSpLocks/>
            </p:cNvGrpSpPr>
            <p:nvPr/>
          </p:nvGrpSpPr>
          <p:grpSpPr bwMode="auto">
            <a:xfrm>
              <a:off x="4911772" y="105538"/>
              <a:ext cx="4133805" cy="6852174"/>
              <a:chOff x="5559" y="1588"/>
              <a:chExt cx="3229" cy="9827"/>
            </a:xfrm>
          </p:grpSpPr>
          <p:sp>
            <p:nvSpPr>
              <p:cNvPr id="4" name="AutoShape 4"/>
              <p:cNvSpPr>
                <a:spLocks noChangeArrowheads="1"/>
              </p:cNvSpPr>
              <p:nvPr/>
            </p:nvSpPr>
            <p:spPr bwMode="auto">
              <a:xfrm>
                <a:off x="5559" y="6283"/>
                <a:ext cx="680" cy="1379"/>
              </a:xfrm>
              <a:prstGeom prst="flowChartProcess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zh-CN">
                  <a:latin typeface="Arial" panose="020B0604020202020204" pitchFamily="34" charset="0"/>
                </a:endParaRPr>
              </a:p>
            </p:txBody>
          </p:sp>
          <p:sp>
            <p:nvSpPr>
              <p:cNvPr id="5" name="AutoShape 5"/>
              <p:cNvSpPr>
                <a:spLocks noChangeArrowheads="1"/>
              </p:cNvSpPr>
              <p:nvPr/>
            </p:nvSpPr>
            <p:spPr bwMode="auto">
              <a:xfrm>
                <a:off x="6808" y="6892"/>
                <a:ext cx="1548" cy="1412"/>
              </a:xfrm>
              <a:prstGeom prst="flowChartProcess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zh-CN"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6"/>
              <p:cNvSpPr>
                <a:spLocks noChangeArrowheads="1"/>
              </p:cNvSpPr>
              <p:nvPr/>
            </p:nvSpPr>
            <p:spPr bwMode="auto">
              <a:xfrm>
                <a:off x="7066" y="3389"/>
                <a:ext cx="980" cy="881"/>
              </a:xfrm>
              <a:prstGeom prst="flowChartProcess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endParaRPr lang="zh-CN" altLang="zh-CN">
                  <a:latin typeface="Arial" panose="020B0604020202020204" pitchFamily="34" charset="0"/>
                </a:endParaRPr>
              </a:p>
            </p:txBody>
          </p:sp>
          <p:sp>
            <p:nvSpPr>
              <p:cNvPr id="8" name="AutoShape 7"/>
              <p:cNvSpPr>
                <a:spLocks noChangeArrowheads="1"/>
              </p:cNvSpPr>
              <p:nvPr/>
            </p:nvSpPr>
            <p:spPr bwMode="auto">
              <a:xfrm>
                <a:off x="6808" y="4708"/>
                <a:ext cx="1459" cy="624"/>
              </a:xfrm>
              <a:prstGeom prst="flowChartProcess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zh-CN">
                  <a:latin typeface="Arial" panose="020B0604020202020204" pitchFamily="34" charset="0"/>
                </a:endParaRPr>
              </a:p>
            </p:txBody>
          </p:sp>
          <p:sp>
            <p:nvSpPr>
              <p:cNvPr id="9" name="Line 8"/>
              <p:cNvSpPr>
                <a:spLocks noChangeShapeType="1"/>
              </p:cNvSpPr>
              <p:nvPr/>
            </p:nvSpPr>
            <p:spPr bwMode="auto">
              <a:xfrm>
                <a:off x="7528" y="2212"/>
                <a:ext cx="1" cy="31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" name="Line 9"/>
              <p:cNvSpPr>
                <a:spLocks noChangeShapeType="1"/>
              </p:cNvSpPr>
              <p:nvPr/>
            </p:nvSpPr>
            <p:spPr bwMode="auto">
              <a:xfrm>
                <a:off x="7528" y="3148"/>
                <a:ext cx="1" cy="31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" name="Line 10"/>
              <p:cNvSpPr>
                <a:spLocks noChangeShapeType="1"/>
              </p:cNvSpPr>
              <p:nvPr/>
            </p:nvSpPr>
            <p:spPr bwMode="auto">
              <a:xfrm>
                <a:off x="7528" y="4396"/>
                <a:ext cx="1" cy="31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" name="Line 11"/>
              <p:cNvSpPr>
                <a:spLocks noChangeShapeType="1"/>
              </p:cNvSpPr>
              <p:nvPr/>
            </p:nvSpPr>
            <p:spPr bwMode="auto">
              <a:xfrm>
                <a:off x="7528" y="5332"/>
                <a:ext cx="1" cy="31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" name="Line 12"/>
              <p:cNvSpPr>
                <a:spLocks noChangeShapeType="1"/>
              </p:cNvSpPr>
              <p:nvPr/>
            </p:nvSpPr>
            <p:spPr bwMode="auto">
              <a:xfrm>
                <a:off x="7528" y="6580"/>
                <a:ext cx="1" cy="31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" name="Line 13"/>
              <p:cNvSpPr>
                <a:spLocks noChangeShapeType="1"/>
              </p:cNvSpPr>
              <p:nvPr/>
            </p:nvSpPr>
            <p:spPr bwMode="auto">
              <a:xfrm>
                <a:off x="7528" y="8297"/>
                <a:ext cx="1" cy="31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" name="Line 14"/>
              <p:cNvSpPr>
                <a:spLocks noChangeShapeType="1"/>
              </p:cNvSpPr>
              <p:nvPr/>
            </p:nvSpPr>
            <p:spPr bwMode="auto">
              <a:xfrm>
                <a:off x="7528" y="10480"/>
                <a:ext cx="2" cy="31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" name="AutoShape 15"/>
              <p:cNvSpPr>
                <a:spLocks noChangeArrowheads="1"/>
              </p:cNvSpPr>
              <p:nvPr/>
            </p:nvSpPr>
            <p:spPr bwMode="auto">
              <a:xfrm>
                <a:off x="7168" y="1588"/>
                <a:ext cx="720" cy="575"/>
              </a:xfrm>
              <a:prstGeom prst="flowChartTerminator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1600" dirty="0">
                    <a:latin typeface="Calibri" panose="020F0502020204030204" pitchFamily="34" charset="0"/>
                  </a:rPr>
                  <a:t>开始</a:t>
                </a:r>
                <a:endParaRPr lang="zh-CN" altLang="en-US" sz="16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7" name="AutoShape 16"/>
              <p:cNvSpPr>
                <a:spLocks noChangeArrowheads="1"/>
              </p:cNvSpPr>
              <p:nvPr/>
            </p:nvSpPr>
            <p:spPr bwMode="auto">
              <a:xfrm>
                <a:off x="7168" y="10774"/>
                <a:ext cx="721" cy="641"/>
              </a:xfrm>
              <a:prstGeom prst="flowChartTerminator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1600" dirty="0">
                    <a:latin typeface="Calibri" panose="020F0502020204030204" pitchFamily="34" charset="0"/>
                  </a:rPr>
                  <a:t>结束</a:t>
                </a:r>
                <a:endParaRPr lang="zh-CN" altLang="en-US" sz="16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8" name="AutoShape 17"/>
              <p:cNvSpPr>
                <a:spLocks noChangeArrowheads="1"/>
              </p:cNvSpPr>
              <p:nvPr/>
            </p:nvSpPr>
            <p:spPr bwMode="auto">
              <a:xfrm>
                <a:off x="6628" y="2524"/>
                <a:ext cx="1800" cy="623"/>
              </a:xfrm>
              <a:prstGeom prst="flowChartPreparation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1600" dirty="0">
                    <a:latin typeface="Calibri" panose="020F0502020204030204" pitchFamily="34" charset="0"/>
                  </a:rPr>
                  <a:t>选定</a:t>
                </a:r>
                <a:r>
                  <a:rPr lang="en-US" altLang="zh-CN" sz="1600" dirty="0">
                    <a:latin typeface="Calibri" panose="020F0502020204030204" pitchFamily="34" charset="0"/>
                  </a:rPr>
                  <a:t>X</a:t>
                </a:r>
                <a:r>
                  <a:rPr lang="en-US" altLang="zh-CN" sz="1600" baseline="-25000" dirty="0">
                    <a:latin typeface="Calibri" panose="020F0502020204030204" pitchFamily="34" charset="0"/>
                  </a:rPr>
                  <a:t>0</a:t>
                </a:r>
                <a:endParaRPr lang="zh-CN" altLang="en-US" sz="1600" baseline="-25000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19" name="Rectangle 19"/>
              <p:cNvSpPr>
                <a:spLocks noChangeArrowheads="1"/>
              </p:cNvSpPr>
              <p:nvPr/>
            </p:nvSpPr>
            <p:spPr bwMode="auto">
              <a:xfrm>
                <a:off x="5908" y="8608"/>
                <a:ext cx="540" cy="4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en-US" altLang="zh-CN" sz="1600">
                    <a:latin typeface="Calibri" panose="020F0502020204030204" pitchFamily="34" charset="0"/>
                  </a:rPr>
                  <a:t>N</a:t>
                </a:r>
                <a:endParaRPr lang="zh-CN" altLang="zh-CN" sz="1600">
                  <a:latin typeface="Arial" panose="020B0604020202020204" pitchFamily="34" charset="0"/>
                </a:endParaRPr>
              </a:p>
            </p:txBody>
          </p:sp>
          <p:sp>
            <p:nvSpPr>
              <p:cNvPr id="20" name="AutoShape 20"/>
              <p:cNvSpPr>
                <a:spLocks noChangeArrowheads="1"/>
              </p:cNvSpPr>
              <p:nvPr/>
            </p:nvSpPr>
            <p:spPr bwMode="auto">
              <a:xfrm>
                <a:off x="6808" y="5644"/>
                <a:ext cx="1440" cy="959"/>
              </a:xfrm>
              <a:prstGeom prst="flowChartProcess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1600">
                    <a:latin typeface="Calibri" panose="020F0502020204030204" pitchFamily="34" charset="0"/>
                  </a:rPr>
                  <a:t>求解方程</a:t>
                </a:r>
                <a:endParaRPr lang="zh-CN" altLang="en-US" sz="1600">
                  <a:latin typeface="Times New Roman" panose="02020603050405020304" pitchFamily="18" charset="0"/>
                </a:endParaRPr>
              </a:p>
              <a:p>
                <a:pPr eaLnBrk="1" hangingPunct="1"/>
                <a:endParaRPr lang="zh-CN" altLang="zh-CN">
                  <a:latin typeface="Arial" panose="020B0604020202020204" pitchFamily="34" charset="0"/>
                </a:endParaRPr>
              </a:p>
            </p:txBody>
          </p:sp>
          <p:sp>
            <p:nvSpPr>
              <p:cNvPr id="21" name="Line 21"/>
              <p:cNvSpPr>
                <a:spLocks noChangeShapeType="1"/>
              </p:cNvSpPr>
              <p:nvPr/>
            </p:nvSpPr>
            <p:spPr bwMode="auto">
              <a:xfrm>
                <a:off x="5728" y="5021"/>
                <a:ext cx="108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" name="Line 22"/>
              <p:cNvSpPr>
                <a:spLocks noChangeShapeType="1"/>
              </p:cNvSpPr>
              <p:nvPr/>
            </p:nvSpPr>
            <p:spPr bwMode="auto">
              <a:xfrm flipV="1">
                <a:off x="5728" y="7672"/>
                <a:ext cx="0" cy="140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" name="Line 23"/>
              <p:cNvSpPr>
                <a:spLocks noChangeShapeType="1"/>
              </p:cNvSpPr>
              <p:nvPr/>
            </p:nvSpPr>
            <p:spPr bwMode="auto">
              <a:xfrm flipV="1">
                <a:off x="5728" y="5020"/>
                <a:ext cx="0" cy="124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" name="AutoShape 24"/>
              <p:cNvSpPr>
                <a:spLocks noChangeArrowheads="1"/>
              </p:cNvSpPr>
              <p:nvPr/>
            </p:nvSpPr>
            <p:spPr bwMode="auto">
              <a:xfrm>
                <a:off x="6268" y="8609"/>
                <a:ext cx="2520" cy="935"/>
              </a:xfrm>
              <a:prstGeom prst="flowChartDecision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1600">
                    <a:latin typeface="Calibri" panose="020F0502020204030204" pitchFamily="34" charset="0"/>
                  </a:rPr>
                  <a:t>H</a:t>
                </a:r>
                <a:r>
                  <a:rPr lang="zh-CN" altLang="en-US" sz="1600">
                    <a:latin typeface="Calibri" panose="020F0502020204030204" pitchFamily="34" charset="0"/>
                  </a:rPr>
                  <a:t>准则满足</a:t>
                </a:r>
                <a:endParaRPr lang="zh-CN" altLang="en-US" sz="1600">
                  <a:latin typeface="Arial" panose="020B0604020202020204" pitchFamily="34" charset="0"/>
                </a:endParaRPr>
              </a:p>
            </p:txBody>
          </p:sp>
          <p:sp>
            <p:nvSpPr>
              <p:cNvPr id="25" name="Line 25"/>
              <p:cNvSpPr>
                <a:spLocks noChangeShapeType="1"/>
              </p:cNvSpPr>
              <p:nvPr/>
            </p:nvSpPr>
            <p:spPr bwMode="auto">
              <a:xfrm flipH="1">
                <a:off x="5728" y="9076"/>
                <a:ext cx="540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" name="Line 26"/>
              <p:cNvSpPr>
                <a:spLocks noChangeShapeType="1"/>
              </p:cNvSpPr>
              <p:nvPr/>
            </p:nvSpPr>
            <p:spPr bwMode="auto">
              <a:xfrm>
                <a:off x="7528" y="9544"/>
                <a:ext cx="1" cy="31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" name="AutoShape 27"/>
              <p:cNvSpPr>
                <a:spLocks noChangeArrowheads="1"/>
              </p:cNvSpPr>
              <p:nvPr/>
            </p:nvSpPr>
            <p:spPr bwMode="auto">
              <a:xfrm>
                <a:off x="6840" y="9830"/>
                <a:ext cx="1260" cy="658"/>
              </a:xfrm>
              <a:prstGeom prst="parallelogram">
                <a:avLst>
                  <a:gd name="adj" fmla="val 47872"/>
                </a:avLst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1600" i="1" dirty="0">
                    <a:latin typeface="Calibri" panose="020F0502020204030204" pitchFamily="34" charset="0"/>
                  </a:rPr>
                  <a:t>X , f</a:t>
                </a:r>
                <a:endParaRPr lang="zh-CN" altLang="zh-CN" sz="1600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9" name="Rectangle 19"/>
            <p:cNvSpPr>
              <a:spLocks noChangeArrowheads="1"/>
            </p:cNvSpPr>
            <p:nvPr/>
          </p:nvSpPr>
          <p:spPr bwMode="auto">
            <a:xfrm>
              <a:off x="7489032" y="5540333"/>
              <a:ext cx="690562" cy="325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600" dirty="0">
                  <a:latin typeface="Arial" panose="020B0604020202020204" pitchFamily="34" charset="0"/>
                </a:rPr>
                <a:t>Y</a:t>
              </a:r>
              <a:endParaRPr lang="zh-CN" altLang="zh-CN" sz="1600" dirty="0">
                <a:latin typeface="Arial" panose="020B0604020202020204" pitchFamily="34" charset="0"/>
              </a:endParaRPr>
            </a:p>
          </p:txBody>
        </p:sp>
        <p:graphicFrame>
          <p:nvGraphicFramePr>
            <p:cNvPr id="30" name="Object 2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00506091"/>
                </p:ext>
              </p:extLst>
            </p:nvPr>
          </p:nvGraphicFramePr>
          <p:xfrm>
            <a:off x="6976957" y="1375345"/>
            <a:ext cx="1000125" cy="6000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102" name="Equation" r:id="rId3" imgW="761760" imgH="457200" progId="Equation.DSMT4">
                    <p:embed/>
                  </p:oleObj>
                </mc:Choice>
                <mc:Fallback>
                  <p:oleObj name="Equation" r:id="rId3" imgW="761760" imgH="457200" progId="Equation.DSMT4">
                    <p:embed/>
                    <p:pic>
                      <p:nvPicPr>
                        <p:cNvPr id="178204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76957" y="1375345"/>
                          <a:ext cx="1000125" cy="6000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" name="Object 3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37085919"/>
                </p:ext>
              </p:extLst>
            </p:nvPr>
          </p:nvGraphicFramePr>
          <p:xfrm>
            <a:off x="6953250" y="2357439"/>
            <a:ext cx="928688" cy="2889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103" name="公式" r:id="rId5" imgW="736560" imgH="228600" progId="Equation.3">
                    <p:embed/>
                  </p:oleObj>
                </mc:Choice>
                <mc:Fallback>
                  <p:oleObj name="公式" r:id="rId5" imgW="736560" imgH="228600" progId="Equation.3">
                    <p:embed/>
                    <p:pic>
                      <p:nvPicPr>
                        <p:cNvPr id="178205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53250" y="2357439"/>
                          <a:ext cx="928688" cy="2889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" name="Object 3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025643"/>
                </p:ext>
              </p:extLst>
            </p:nvPr>
          </p:nvGraphicFramePr>
          <p:xfrm>
            <a:off x="6881813" y="3214688"/>
            <a:ext cx="931862" cy="3286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104" name="公式" r:id="rId7" imgW="647640" imgH="228600" progId="Equation.3">
                    <p:embed/>
                  </p:oleObj>
                </mc:Choice>
                <mc:Fallback>
                  <p:oleObj name="公式" r:id="rId7" imgW="647640" imgH="228600" progId="Equation.3">
                    <p:embed/>
                    <p:pic>
                      <p:nvPicPr>
                        <p:cNvPr id="178206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81813" y="3214688"/>
                          <a:ext cx="931862" cy="3286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" name="Object 3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09511966"/>
                </p:ext>
              </p:extLst>
            </p:nvPr>
          </p:nvGraphicFramePr>
          <p:xfrm>
            <a:off x="6953251" y="3857626"/>
            <a:ext cx="1071563" cy="9302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105" name="公式" r:id="rId9" imgW="774360" imgH="672840" progId="Equation.3">
                    <p:embed/>
                  </p:oleObj>
                </mc:Choice>
                <mc:Fallback>
                  <p:oleObj name="公式" r:id="rId9" imgW="774360" imgH="672840" progId="Equation.3">
                    <p:embed/>
                    <p:pic>
                      <p:nvPicPr>
                        <p:cNvPr id="178207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53251" y="3857626"/>
                          <a:ext cx="1071563" cy="9302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" name="Object 3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46228713"/>
                </p:ext>
              </p:extLst>
            </p:nvPr>
          </p:nvGraphicFramePr>
          <p:xfrm>
            <a:off x="4917748" y="3425932"/>
            <a:ext cx="901695" cy="9286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106" name="公式" r:id="rId11" imgW="533400" imgH="685800" progId="Equation.3">
                    <p:embed/>
                  </p:oleObj>
                </mc:Choice>
                <mc:Fallback>
                  <p:oleObj name="公式" r:id="rId11" imgW="533400" imgH="685800" progId="Equation.3">
                    <p:embed/>
                    <p:pic>
                      <p:nvPicPr>
                        <p:cNvPr id="178208" name="Object 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17748" y="3425932"/>
                          <a:ext cx="901695" cy="928687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876483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3"/>
          <p:cNvSpPr>
            <a:spLocks noGrp="1"/>
          </p:cNvSpPr>
          <p:nvPr>
            <p:ph type="title"/>
          </p:nvPr>
        </p:nvSpPr>
        <p:spPr>
          <a:xfrm>
            <a:off x="3152051" y="122383"/>
            <a:ext cx="6215073" cy="549844"/>
          </a:xfrm>
        </p:spPr>
        <p:txBody>
          <a:bodyPr/>
          <a:lstStyle/>
          <a:p>
            <a:r>
              <a:rPr kumimoji="1" lang="zh-CN" alt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牛顿法</a:t>
            </a:r>
            <a:endParaRPr kumimoji="1" lang="zh-CN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Rectangle 2"/>
          <p:cNvSpPr txBox="1">
            <a:spLocks noChangeArrowheads="1"/>
          </p:cNvSpPr>
          <p:nvPr/>
        </p:nvSpPr>
        <p:spPr>
          <a:xfrm>
            <a:off x="323528" y="1196752"/>
            <a:ext cx="9144000" cy="52863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Tx/>
              <a:buNone/>
              <a:defRPr/>
            </a:pPr>
            <a:r>
              <a:rPr lang="zh-CN" altLang="en-US" sz="2400" b="1" dirty="0" smtClean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itchFamily="2" charset="-122"/>
                <a:ea typeface="黑体" pitchFamily="2" charset="-122"/>
              </a:rPr>
              <a:t>例</a:t>
            </a:r>
            <a:r>
              <a:rPr lang="en-US" altLang="zh-CN" sz="2400" b="1" dirty="0" smtClean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itchFamily="2" charset="-122"/>
                <a:ea typeface="黑体" pitchFamily="2" charset="-122"/>
              </a:rPr>
              <a:t>5.2  </a:t>
            </a:r>
            <a:r>
              <a:rPr lang="zh-CN" altLang="en-US" sz="2400" dirty="0" smtClean="0"/>
              <a:t>试用</a:t>
            </a:r>
            <a:r>
              <a:rPr lang="en-US" altLang="zh-CN" sz="2400" dirty="0" smtClean="0"/>
              <a:t>Newton</a:t>
            </a:r>
            <a:r>
              <a:rPr lang="zh-CN" altLang="en-US" sz="2400" dirty="0" smtClean="0"/>
              <a:t>法求                                         的极小点</a:t>
            </a:r>
            <a:r>
              <a:rPr lang="en-US" altLang="zh-CN" sz="2400" dirty="0" smtClean="0"/>
              <a:t>,</a:t>
            </a:r>
            <a:r>
              <a:rPr lang="zh-CN" altLang="en-US" sz="2400" dirty="0" smtClean="0"/>
              <a:t>初始点取为                      </a:t>
            </a:r>
            <a:r>
              <a:rPr lang="zh-CN" altLang="en-US" sz="2400" dirty="0" smtClean="0"/>
              <a:t>．</a:t>
            </a:r>
            <a:endParaRPr lang="en-US" altLang="zh-CN" sz="2400" dirty="0" smtClean="0"/>
          </a:p>
        </p:txBody>
      </p:sp>
      <p:graphicFrame>
        <p:nvGraphicFramePr>
          <p:cNvPr id="3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951014"/>
              </p:ext>
            </p:extLst>
          </p:nvPr>
        </p:nvGraphicFramePr>
        <p:xfrm>
          <a:off x="3647753" y="1253421"/>
          <a:ext cx="2808287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144" name="公式" r:id="rId3" imgW="1308100" imgH="228600" progId="Equation.3">
                  <p:embed/>
                </p:oleObj>
              </mc:Choice>
              <mc:Fallback>
                <p:oleObj name="公式" r:id="rId3" imgW="1308100" imgH="228600" progId="Equation.3">
                  <p:embed/>
                  <p:pic>
                    <p:nvPicPr>
                      <p:cNvPr id="17920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7753" y="1253421"/>
                        <a:ext cx="2808287" cy="463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2927548"/>
              </p:ext>
            </p:extLst>
          </p:nvPr>
        </p:nvGraphicFramePr>
        <p:xfrm>
          <a:off x="1201738" y="1679575"/>
          <a:ext cx="1447800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145" name="Equation" r:id="rId5" imgW="698400" imgH="241200" progId="Equation.DSMT4">
                  <p:embed/>
                </p:oleObj>
              </mc:Choice>
              <mc:Fallback>
                <p:oleObj name="Equation" r:id="rId5" imgW="698400" imgH="241200" progId="Equation.DSMT4">
                  <p:embed/>
                  <p:pic>
                    <p:nvPicPr>
                      <p:cNvPr id="17920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1738" y="1679575"/>
                        <a:ext cx="1447800" cy="493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Rectangle 14"/>
          <p:cNvSpPr>
            <a:spLocks noChangeArrowheads="1"/>
          </p:cNvSpPr>
          <p:nvPr/>
        </p:nvSpPr>
        <p:spPr bwMode="auto">
          <a:xfrm>
            <a:off x="4803163" y="2856653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44" name="Rectangle 16"/>
          <p:cNvSpPr>
            <a:spLocks noChangeArrowheads="1"/>
          </p:cNvSpPr>
          <p:nvPr/>
        </p:nvSpPr>
        <p:spPr bwMode="auto">
          <a:xfrm>
            <a:off x="4803163" y="2856653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3348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3"/>
          <p:cNvSpPr>
            <a:spLocks noGrp="1"/>
          </p:cNvSpPr>
          <p:nvPr>
            <p:ph type="title"/>
          </p:nvPr>
        </p:nvSpPr>
        <p:spPr>
          <a:xfrm>
            <a:off x="3152051" y="122383"/>
            <a:ext cx="6215073" cy="549844"/>
          </a:xfrm>
        </p:spPr>
        <p:txBody>
          <a:bodyPr/>
          <a:lstStyle/>
          <a:p>
            <a:r>
              <a:rPr kumimoji="1" lang="zh-CN" alt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牛顿法</a:t>
            </a:r>
            <a:endParaRPr kumimoji="1" lang="zh-CN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Rectangle 2"/>
          <p:cNvSpPr txBox="1">
            <a:spLocks noChangeArrowheads="1"/>
          </p:cNvSpPr>
          <p:nvPr/>
        </p:nvSpPr>
        <p:spPr>
          <a:xfrm>
            <a:off x="323528" y="1196752"/>
            <a:ext cx="9144000" cy="52863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Tx/>
              <a:buNone/>
              <a:defRPr/>
            </a:pPr>
            <a:r>
              <a:rPr lang="zh-CN" altLang="en-US" sz="2400" b="1" dirty="0" smtClean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itchFamily="2" charset="-122"/>
                <a:ea typeface="黑体" pitchFamily="2" charset="-122"/>
              </a:rPr>
              <a:t>例</a:t>
            </a:r>
            <a:r>
              <a:rPr lang="en-US" altLang="zh-CN" sz="2400" b="1" dirty="0" smtClean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itchFamily="2" charset="-122"/>
                <a:ea typeface="黑体" pitchFamily="2" charset="-122"/>
              </a:rPr>
              <a:t>5.2  </a:t>
            </a:r>
            <a:r>
              <a:rPr lang="zh-CN" altLang="en-US" sz="2400" dirty="0" smtClean="0"/>
              <a:t>试用</a:t>
            </a:r>
            <a:r>
              <a:rPr lang="en-US" altLang="zh-CN" sz="2400" dirty="0" smtClean="0"/>
              <a:t>Newton</a:t>
            </a:r>
            <a:r>
              <a:rPr lang="zh-CN" altLang="en-US" sz="2400" dirty="0" smtClean="0"/>
              <a:t>法求                                         的极小点</a:t>
            </a:r>
            <a:r>
              <a:rPr lang="en-US" altLang="zh-CN" sz="2400" dirty="0" smtClean="0"/>
              <a:t>,</a:t>
            </a:r>
            <a:r>
              <a:rPr lang="zh-CN" altLang="en-US" sz="2400" dirty="0" smtClean="0"/>
              <a:t>初始点取为                      ．</a:t>
            </a:r>
            <a:endParaRPr lang="en-US" altLang="zh-CN" sz="2400" dirty="0" smtClean="0"/>
          </a:p>
          <a:p>
            <a:pPr>
              <a:lnSpc>
                <a:spcPct val="120000"/>
              </a:lnSpc>
              <a:buFontTx/>
              <a:buNone/>
              <a:defRPr/>
            </a:pPr>
            <a:r>
              <a:rPr lang="zh-CN" altLang="en-US" sz="2400" b="1" dirty="0" smtClean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itchFamily="2" charset="-122"/>
                <a:ea typeface="黑体" pitchFamily="2" charset="-122"/>
              </a:rPr>
              <a:t>解</a:t>
            </a:r>
            <a:r>
              <a:rPr lang="en-US" altLang="zh-CN" sz="2400" b="1" dirty="0" smtClean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itchFamily="2" charset="-122"/>
                <a:ea typeface="黑体" pitchFamily="2" charset="-122"/>
              </a:rPr>
              <a:t>:</a:t>
            </a:r>
            <a:r>
              <a:rPr lang="zh-CN" altLang="en-US" sz="2400" b="1" dirty="0" smtClean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itchFamily="2" charset="-122"/>
                <a:ea typeface="黑体" pitchFamily="2" charset="-122"/>
              </a:rPr>
              <a:t>  </a:t>
            </a:r>
            <a:r>
              <a:rPr lang="zh-CN" altLang="en-US" sz="2400" dirty="0" smtClean="0"/>
              <a:t>梯度为                                         </a:t>
            </a:r>
            <a:endParaRPr lang="en-US" altLang="zh-CN" sz="2400" dirty="0" smtClean="0"/>
          </a:p>
          <a:p>
            <a:pPr>
              <a:lnSpc>
                <a:spcPct val="120000"/>
              </a:lnSpc>
              <a:buFontTx/>
              <a:buNone/>
              <a:defRPr/>
            </a:pPr>
            <a:r>
              <a:rPr lang="en-US" altLang="zh-CN" sz="2400" dirty="0" smtClean="0"/>
              <a:t>   Hesse</a:t>
            </a:r>
            <a:r>
              <a:rPr lang="zh-CN" altLang="en-US" sz="2400" dirty="0" smtClean="0"/>
              <a:t>矩阵为                            </a:t>
            </a:r>
            <a:r>
              <a:rPr lang="en-US" altLang="zh-CN" sz="2400" dirty="0" smtClean="0"/>
              <a:t>,</a:t>
            </a:r>
            <a:r>
              <a:rPr lang="zh-CN" altLang="en-US" sz="2400" dirty="0" smtClean="0"/>
              <a:t>其逆矩阵为</a:t>
            </a:r>
          </a:p>
          <a:p>
            <a:pPr>
              <a:lnSpc>
                <a:spcPct val="80000"/>
              </a:lnSpc>
              <a:defRPr/>
            </a:pPr>
            <a:endParaRPr lang="zh-CN" altLang="en-US" sz="1600" dirty="0" smtClean="0"/>
          </a:p>
          <a:p>
            <a:pPr>
              <a:lnSpc>
                <a:spcPct val="80000"/>
              </a:lnSpc>
              <a:buFontTx/>
              <a:buNone/>
              <a:defRPr/>
            </a:pPr>
            <a:r>
              <a:rPr lang="zh-CN" altLang="en-US" sz="2400" dirty="0" smtClean="0"/>
              <a:t>　 由迭代公式（</a:t>
            </a:r>
            <a:r>
              <a:rPr lang="en-US" altLang="zh-CN" sz="2400" dirty="0" smtClean="0"/>
              <a:t>5.13</a:t>
            </a:r>
            <a:r>
              <a:rPr lang="zh-CN" altLang="en-US" sz="2400" dirty="0" smtClean="0"/>
              <a:t>）得第</a:t>
            </a:r>
            <a:r>
              <a:rPr lang="en-US" altLang="zh-CN" sz="2400" dirty="0" smtClean="0"/>
              <a:t>1 </a:t>
            </a:r>
            <a:r>
              <a:rPr lang="zh-CN" altLang="en-US" sz="2400" dirty="0" smtClean="0"/>
              <a:t>迭代点为</a:t>
            </a:r>
          </a:p>
          <a:p>
            <a:pPr>
              <a:lnSpc>
                <a:spcPct val="80000"/>
              </a:lnSpc>
              <a:defRPr/>
            </a:pPr>
            <a:endParaRPr lang="zh-CN" altLang="en-US" sz="2400" dirty="0" smtClean="0"/>
          </a:p>
          <a:p>
            <a:pPr>
              <a:lnSpc>
                <a:spcPct val="80000"/>
              </a:lnSpc>
              <a:defRPr/>
            </a:pPr>
            <a:endParaRPr lang="zh-CN" altLang="en-US" sz="2400" dirty="0" smtClean="0"/>
          </a:p>
          <a:p>
            <a:pPr>
              <a:lnSpc>
                <a:spcPct val="80000"/>
              </a:lnSpc>
              <a:defRPr/>
            </a:pPr>
            <a:endParaRPr lang="zh-CN" altLang="en-US" sz="900" dirty="0" smtClean="0"/>
          </a:p>
          <a:p>
            <a:pPr>
              <a:lnSpc>
                <a:spcPct val="80000"/>
              </a:lnSpc>
              <a:buFontTx/>
              <a:buNone/>
              <a:defRPr/>
            </a:pPr>
            <a:r>
              <a:rPr lang="zh-CN" altLang="en-US" sz="2400" dirty="0" smtClean="0"/>
              <a:t>　由于此时                                                 ，停止迭代得</a:t>
            </a:r>
          </a:p>
          <a:p>
            <a:pPr>
              <a:lnSpc>
                <a:spcPct val="80000"/>
              </a:lnSpc>
              <a:defRPr/>
            </a:pPr>
            <a:endParaRPr lang="zh-CN" altLang="en-US" sz="1600" dirty="0" smtClean="0"/>
          </a:p>
          <a:p>
            <a:pPr>
              <a:lnSpc>
                <a:spcPct val="80000"/>
              </a:lnSpc>
              <a:buFontTx/>
              <a:buNone/>
              <a:defRPr/>
            </a:pPr>
            <a:r>
              <a:rPr lang="zh-CN" altLang="en-US" sz="2400" dirty="0" smtClean="0"/>
              <a:t>　因此，它就是极小点．</a:t>
            </a:r>
          </a:p>
          <a:p>
            <a:pPr>
              <a:buFontTx/>
              <a:buNone/>
              <a:defRPr/>
            </a:pPr>
            <a:r>
              <a:rPr lang="zh-CN" altLang="en-US" sz="2400" dirty="0" smtClean="0"/>
              <a:t>       </a:t>
            </a:r>
            <a:endParaRPr lang="zh-CN" altLang="en-US" sz="2400" dirty="0"/>
          </a:p>
        </p:txBody>
      </p:sp>
      <p:graphicFrame>
        <p:nvGraphicFramePr>
          <p:cNvPr id="36" name="Object 4"/>
          <p:cNvGraphicFramePr>
            <a:graphicFrameLocks noChangeAspect="1"/>
          </p:cNvGraphicFramePr>
          <p:nvPr>
            <p:extLst/>
          </p:nvPr>
        </p:nvGraphicFramePr>
        <p:xfrm>
          <a:off x="3647753" y="1253421"/>
          <a:ext cx="2808287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690" name="公式" r:id="rId3" imgW="1308100" imgH="228600" progId="Equation.3">
                  <p:embed/>
                </p:oleObj>
              </mc:Choice>
              <mc:Fallback>
                <p:oleObj name="公式" r:id="rId3" imgW="1308100" imgH="228600" progId="Equation.3">
                  <p:embed/>
                  <p:pic>
                    <p:nvPicPr>
                      <p:cNvPr id="3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7753" y="1253421"/>
                        <a:ext cx="2808287" cy="463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6"/>
          <p:cNvGraphicFramePr>
            <a:graphicFrameLocks noChangeAspect="1"/>
          </p:cNvGraphicFramePr>
          <p:nvPr>
            <p:extLst/>
          </p:nvPr>
        </p:nvGraphicFramePr>
        <p:xfrm>
          <a:off x="1201738" y="1679575"/>
          <a:ext cx="1447800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691" name="Equation" r:id="rId5" imgW="698400" imgH="241200" progId="Equation.DSMT4">
                  <p:embed/>
                </p:oleObj>
              </mc:Choice>
              <mc:Fallback>
                <p:oleObj name="Equation" r:id="rId5" imgW="698400" imgH="241200" progId="Equation.DSMT4">
                  <p:embed/>
                  <p:pic>
                    <p:nvPicPr>
                      <p:cNvPr id="3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1738" y="1679575"/>
                        <a:ext cx="1447800" cy="493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Object 8"/>
          <p:cNvGraphicFramePr>
            <a:graphicFrameLocks noChangeAspect="1"/>
          </p:cNvGraphicFramePr>
          <p:nvPr>
            <p:extLst/>
          </p:nvPr>
        </p:nvGraphicFramePr>
        <p:xfrm>
          <a:off x="2263933" y="2185245"/>
          <a:ext cx="3598863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692" name="公式" r:id="rId7" imgW="1765080" imgH="228600" progId="Equation.3">
                  <p:embed/>
                </p:oleObj>
              </mc:Choice>
              <mc:Fallback>
                <p:oleObj name="公式" r:id="rId7" imgW="1765080" imgH="228600" progId="Equation.3">
                  <p:embed/>
                  <p:pic>
                    <p:nvPicPr>
                      <p:cNvPr id="3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3933" y="2185245"/>
                        <a:ext cx="3598863" cy="4333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Object 10"/>
          <p:cNvGraphicFramePr>
            <a:graphicFrameLocks noChangeAspect="1"/>
          </p:cNvGraphicFramePr>
          <p:nvPr>
            <p:extLst/>
          </p:nvPr>
        </p:nvGraphicFramePr>
        <p:xfrm>
          <a:off x="2366699" y="2564069"/>
          <a:ext cx="1857375" cy="79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693" name="公式" r:id="rId9" imgW="875920" imgH="444307" progId="Equation.3">
                  <p:embed/>
                </p:oleObj>
              </mc:Choice>
              <mc:Fallback>
                <p:oleObj name="公式" r:id="rId9" imgW="875920" imgH="444307" progId="Equation.3">
                  <p:embed/>
                  <p:pic>
                    <p:nvPicPr>
                      <p:cNvPr id="39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6699" y="2564069"/>
                        <a:ext cx="1857375" cy="796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12"/>
          <p:cNvGraphicFramePr>
            <a:graphicFrameLocks noChangeAspect="1"/>
          </p:cNvGraphicFramePr>
          <p:nvPr>
            <p:extLst/>
          </p:nvPr>
        </p:nvGraphicFramePr>
        <p:xfrm>
          <a:off x="5854315" y="2521795"/>
          <a:ext cx="2357438" cy="79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694" name="公式" r:id="rId11" imgW="1307532" imgH="444307" progId="Equation.3">
                  <p:embed/>
                </p:oleObj>
              </mc:Choice>
              <mc:Fallback>
                <p:oleObj name="公式" r:id="rId11" imgW="1307532" imgH="444307" progId="Equation.3">
                  <p:embed/>
                  <p:pic>
                    <p:nvPicPr>
                      <p:cNvPr id="4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54315" y="2521795"/>
                        <a:ext cx="2357438" cy="796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Object 13"/>
          <p:cNvGraphicFramePr>
            <a:graphicFrameLocks noGrp="1" noChangeAspect="1"/>
          </p:cNvGraphicFramePr>
          <p:nvPr>
            <p:ph sz="half" idx="4294967295"/>
            <p:extLst/>
          </p:nvPr>
        </p:nvGraphicFramePr>
        <p:xfrm>
          <a:off x="1464147" y="3851129"/>
          <a:ext cx="6862762" cy="785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695" name="Equation" r:id="rId13" imgW="3225600" imgH="419040" progId="Equation.DSMT4">
                  <p:embed/>
                </p:oleObj>
              </mc:Choice>
              <mc:Fallback>
                <p:oleObj name="Equation" r:id="rId13" imgW="3225600" imgH="419040" progId="Equation.DSMT4">
                  <p:embed/>
                  <p:pic>
                    <p:nvPicPr>
                      <p:cNvPr id="41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4147" y="3851129"/>
                        <a:ext cx="6862762" cy="785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Rectangle 14"/>
          <p:cNvSpPr>
            <a:spLocks noChangeArrowheads="1"/>
          </p:cNvSpPr>
          <p:nvPr/>
        </p:nvSpPr>
        <p:spPr bwMode="auto">
          <a:xfrm>
            <a:off x="4803163" y="2856653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graphicFrame>
        <p:nvGraphicFramePr>
          <p:cNvPr id="43" name="Object 15"/>
          <p:cNvGraphicFramePr>
            <a:graphicFrameLocks noChangeAspect="1"/>
          </p:cNvGraphicFramePr>
          <p:nvPr>
            <p:extLst/>
          </p:nvPr>
        </p:nvGraphicFramePr>
        <p:xfrm>
          <a:off x="2263933" y="4596397"/>
          <a:ext cx="2736850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696" name="公式" r:id="rId15" imgW="1155700" imgH="203200" progId="Equation.3">
                  <p:embed/>
                </p:oleObj>
              </mc:Choice>
              <mc:Fallback>
                <p:oleObj name="公式" r:id="rId15" imgW="1155700" imgH="203200" progId="Equation.3">
                  <p:embed/>
                  <p:pic>
                    <p:nvPicPr>
                      <p:cNvPr id="43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3933" y="4596397"/>
                        <a:ext cx="2736850" cy="473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" name="Rectangle 16"/>
          <p:cNvSpPr>
            <a:spLocks noChangeArrowheads="1"/>
          </p:cNvSpPr>
          <p:nvPr/>
        </p:nvSpPr>
        <p:spPr bwMode="auto">
          <a:xfrm>
            <a:off x="4803163" y="2856653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graphicFrame>
        <p:nvGraphicFramePr>
          <p:cNvPr id="45" name="Object 17"/>
          <p:cNvGraphicFramePr>
            <a:graphicFrameLocks noChangeAspect="1"/>
          </p:cNvGraphicFramePr>
          <p:nvPr>
            <p:extLst/>
          </p:nvPr>
        </p:nvGraphicFramePr>
        <p:xfrm>
          <a:off x="3682846" y="5229705"/>
          <a:ext cx="2428875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697" name="公式" r:id="rId17" imgW="1016000" imgH="203200" progId="Equation.3">
                  <p:embed/>
                </p:oleObj>
              </mc:Choice>
              <mc:Fallback>
                <p:oleObj name="公式" r:id="rId17" imgW="1016000" imgH="203200" progId="Equation.3">
                  <p:embed/>
                  <p:pic>
                    <p:nvPicPr>
                      <p:cNvPr id="45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2846" y="5229705"/>
                        <a:ext cx="2428875" cy="476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04067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3"/>
          <p:cNvSpPr>
            <a:spLocks noGrp="1"/>
          </p:cNvSpPr>
          <p:nvPr>
            <p:ph type="title"/>
          </p:nvPr>
        </p:nvSpPr>
        <p:spPr>
          <a:xfrm>
            <a:off x="3152051" y="122383"/>
            <a:ext cx="6215073" cy="549844"/>
          </a:xfrm>
        </p:spPr>
        <p:txBody>
          <a:bodyPr/>
          <a:lstStyle/>
          <a:p>
            <a:r>
              <a:rPr kumimoji="1" lang="zh-CN" alt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牛顿法</a:t>
            </a:r>
            <a:endParaRPr kumimoji="1" lang="zh-CN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251520" y="1628800"/>
            <a:ext cx="8496300" cy="352839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600" dirty="0" smtClean="0"/>
              <a:t>从上述例</a:t>
            </a:r>
            <a:r>
              <a:rPr lang="en-US" altLang="zh-CN" sz="2600" dirty="0" smtClean="0"/>
              <a:t>5.2</a:t>
            </a:r>
            <a:r>
              <a:rPr lang="zh-CN" altLang="en-US" sz="2600" dirty="0" smtClean="0"/>
              <a:t>我们看到，用</a:t>
            </a:r>
            <a:r>
              <a:rPr lang="en-US" altLang="zh-CN" sz="2600" dirty="0" smtClean="0"/>
              <a:t>Newton</a:t>
            </a:r>
            <a:r>
              <a:rPr lang="zh-CN" altLang="en-US" sz="2600" dirty="0" smtClean="0"/>
              <a:t>法求解，只经一轮迭代就得到最优解．</a:t>
            </a:r>
            <a:endParaRPr lang="en-US" altLang="zh-CN" sz="2600" dirty="0" smtClean="0"/>
          </a:p>
          <a:p>
            <a:pPr algn="just">
              <a:lnSpc>
                <a:spcPct val="150000"/>
              </a:lnSpc>
            </a:pPr>
            <a:endParaRPr lang="en-US" altLang="zh-CN" sz="1500" dirty="0" smtClean="0"/>
          </a:p>
          <a:p>
            <a:pPr algn="just">
              <a:lnSpc>
                <a:spcPct val="150000"/>
              </a:lnSpc>
            </a:pPr>
            <a:r>
              <a:rPr lang="zh-CN" altLang="en-US" sz="2600" dirty="0" smtClean="0"/>
              <a:t>这一结果并不是偶然的，因为从</a:t>
            </a:r>
            <a:r>
              <a:rPr lang="en-US" altLang="zh-CN" sz="2600" dirty="0" smtClean="0"/>
              <a:t>Newton</a:t>
            </a:r>
            <a:r>
              <a:rPr lang="zh-CN" altLang="en-US" sz="2600" dirty="0" smtClean="0"/>
              <a:t>方向的构造我们知道，对于正定二次函数，</a:t>
            </a:r>
            <a:r>
              <a:rPr lang="en-US" altLang="zh-CN" sz="2600" dirty="0" err="1" smtClean="0"/>
              <a:t>Newon</a:t>
            </a:r>
            <a:r>
              <a:rPr lang="zh-CN" altLang="en-US" sz="2600" dirty="0" smtClean="0"/>
              <a:t>方向就是指向其极小点的方向．</a:t>
            </a:r>
            <a:endParaRPr lang="en-US" altLang="zh-CN" sz="2600" dirty="0" smtClean="0"/>
          </a:p>
          <a:p>
            <a:pPr algn="just">
              <a:lnSpc>
                <a:spcPct val="150000"/>
              </a:lnSpc>
            </a:pPr>
            <a:endParaRPr lang="en-US" altLang="zh-CN" sz="1500" dirty="0" smtClean="0"/>
          </a:p>
          <a:p>
            <a:pPr algn="just">
              <a:lnSpc>
                <a:spcPct val="150000"/>
              </a:lnSpc>
            </a:pPr>
            <a:r>
              <a:rPr lang="zh-CN" altLang="en-US" sz="2600" dirty="0" smtClean="0"/>
              <a:t>因此，用</a:t>
            </a:r>
            <a:r>
              <a:rPr lang="en-US" altLang="zh-CN" sz="2600" dirty="0" smtClean="0"/>
              <a:t>Newton</a:t>
            </a:r>
            <a:r>
              <a:rPr lang="zh-CN" altLang="en-US" sz="2600" dirty="0" smtClean="0"/>
              <a:t>法解目标函数为正定二次函数的无约束最优化问题，只需一次迭代就可得最优解．</a:t>
            </a:r>
          </a:p>
        </p:txBody>
      </p:sp>
    </p:spTree>
    <p:extLst>
      <p:ext uri="{BB962C8B-B14F-4D97-AF65-F5344CB8AC3E}">
        <p14:creationId xmlns:p14="http://schemas.microsoft.com/office/powerpoint/2010/main" val="1193489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3"/>
          <p:cNvSpPr>
            <a:spLocks noGrp="1"/>
          </p:cNvSpPr>
          <p:nvPr>
            <p:ph type="title"/>
          </p:nvPr>
        </p:nvSpPr>
        <p:spPr>
          <a:xfrm>
            <a:off x="3152051" y="122383"/>
            <a:ext cx="6215073" cy="549844"/>
          </a:xfrm>
        </p:spPr>
        <p:txBody>
          <a:bodyPr/>
          <a:lstStyle/>
          <a:p>
            <a:r>
              <a:rPr kumimoji="1" lang="zh-CN" alt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牛顿法</a:t>
            </a:r>
            <a:endParaRPr kumimoji="1" lang="zh-CN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2"/>
          <p:cNvSpPr txBox="1">
            <a:spLocks noChangeArrowheads="1"/>
          </p:cNvSpPr>
          <p:nvPr/>
        </p:nvSpPr>
        <p:spPr>
          <a:xfrm>
            <a:off x="251520" y="1124744"/>
            <a:ext cx="8316416" cy="3960440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  <a:buFontTx/>
              <a:buNone/>
            </a:pPr>
            <a:r>
              <a:rPr lang="zh-CN" altLang="en-US" sz="2400" dirty="0" smtClean="0"/>
              <a:t>　</a:t>
            </a:r>
          </a:p>
          <a:p>
            <a:pPr algn="just">
              <a:lnSpc>
                <a:spcPct val="150000"/>
              </a:lnSpc>
            </a:pPr>
            <a:r>
              <a:rPr lang="zh-CN" altLang="en-US" sz="2400" dirty="0" smtClean="0"/>
              <a:t>对于目标函数是非二次函数的非约束最优化问题，一般地说，用</a:t>
            </a:r>
            <a:r>
              <a:rPr lang="en-US" altLang="zh-CN" sz="2400" dirty="0" smtClean="0"/>
              <a:t>Newton</a:t>
            </a:r>
            <a:r>
              <a:rPr lang="zh-CN" altLang="en-US" sz="2400" dirty="0" smtClean="0"/>
              <a:t>法通过有限轮迭代并不能保证可求得最优解．但由于目标函数在最优解附近能近似于二次函数，因此当先取接近于最优解的初始点使用</a:t>
            </a:r>
            <a:r>
              <a:rPr lang="en-US" altLang="zh-CN" sz="2400" dirty="0" smtClean="0"/>
              <a:t>Newton</a:t>
            </a:r>
            <a:r>
              <a:rPr lang="zh-CN" altLang="en-US" sz="2400" dirty="0" smtClean="0"/>
              <a:t>法求解时，其收敛速度一般是快的．</a:t>
            </a:r>
            <a:endParaRPr lang="en-US" altLang="zh-CN" sz="2400" dirty="0" smtClean="0"/>
          </a:p>
          <a:p>
            <a:pPr algn="just">
              <a:lnSpc>
                <a:spcPct val="150000"/>
              </a:lnSpc>
            </a:pPr>
            <a:endParaRPr lang="en-US" altLang="zh-CN" sz="1800" dirty="0" smtClean="0"/>
          </a:p>
          <a:p>
            <a:pPr algn="just">
              <a:lnSpc>
                <a:spcPct val="150000"/>
              </a:lnSpc>
            </a:pPr>
            <a:r>
              <a:rPr lang="zh-CN" altLang="en-US" sz="2400" dirty="0" smtClean="0"/>
              <a:t>事实上，可以证明在初始点离最优解不远的条件下，</a:t>
            </a:r>
            <a:r>
              <a:rPr lang="en-US" altLang="zh-CN" sz="2400" dirty="0" smtClean="0"/>
              <a:t>Newton</a:t>
            </a:r>
            <a:r>
              <a:rPr lang="zh-CN" altLang="en-US" sz="2400" dirty="0" smtClean="0"/>
              <a:t>法是二次收敛的．但是当初始点选得离最优解太远时，</a:t>
            </a:r>
            <a:r>
              <a:rPr lang="en-US" altLang="zh-CN" sz="2400" dirty="0" smtClean="0"/>
              <a:t>Newton</a:t>
            </a:r>
            <a:r>
              <a:rPr lang="zh-CN" altLang="en-US" sz="2400" dirty="0" smtClean="0"/>
              <a:t>法并不一定是收敛的方法，甚至连其下降性也很难保证．</a:t>
            </a:r>
          </a:p>
          <a:p>
            <a:pPr algn="just">
              <a:lnSpc>
                <a:spcPct val="80000"/>
              </a:lnSpc>
            </a:pP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920027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3"/>
          <p:cNvSpPr>
            <a:spLocks noGrp="1"/>
          </p:cNvSpPr>
          <p:nvPr>
            <p:ph type="title"/>
          </p:nvPr>
        </p:nvSpPr>
        <p:spPr>
          <a:xfrm>
            <a:off x="3152051" y="122383"/>
            <a:ext cx="6215073" cy="549844"/>
          </a:xfrm>
        </p:spPr>
        <p:txBody>
          <a:bodyPr/>
          <a:lstStyle/>
          <a:p>
            <a:r>
              <a:rPr kumimoji="1" lang="zh-CN" alt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牛顿法</a:t>
            </a:r>
            <a:endParaRPr kumimoji="1" lang="zh-CN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323528" y="1196752"/>
            <a:ext cx="8280920" cy="50006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  <a:defRPr/>
            </a:pPr>
            <a:r>
              <a:rPr lang="zh-CN" altLang="en-US" sz="2400" dirty="0" smtClean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三、</a:t>
            </a:r>
            <a:r>
              <a:rPr lang="en-US" altLang="zh-CN" sz="2400" dirty="0" smtClean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Newton</a:t>
            </a:r>
            <a:r>
              <a:rPr lang="zh-CN" altLang="en-US" sz="2400" dirty="0" smtClean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法有关说明</a:t>
            </a:r>
          </a:p>
          <a:p>
            <a:pPr>
              <a:lnSpc>
                <a:spcPct val="130000"/>
              </a:lnSpc>
              <a:defRPr/>
            </a:pPr>
            <a:r>
              <a:rPr lang="zh-CN" altLang="en-US" sz="2400" dirty="0" smtClean="0"/>
              <a:t> </a:t>
            </a:r>
            <a:r>
              <a:rPr lang="en-US" altLang="zh-CN" sz="2400" dirty="0" smtClean="0"/>
              <a:t>Newton</a:t>
            </a:r>
            <a:r>
              <a:rPr lang="zh-CN" altLang="en-US" sz="2400" dirty="0" smtClean="0"/>
              <a:t>法收敛速度非常快具有二次收敛的优点，但它存在下面四个严重的缺点：</a:t>
            </a:r>
          </a:p>
          <a:p>
            <a:pPr>
              <a:lnSpc>
                <a:spcPct val="130000"/>
              </a:lnSpc>
              <a:defRPr/>
            </a:pPr>
            <a:r>
              <a:rPr lang="zh-CN" altLang="en-US" sz="2400" dirty="0" smtClean="0"/>
              <a:t>（</a:t>
            </a:r>
            <a:r>
              <a:rPr lang="en-US" altLang="zh-CN" sz="2400" dirty="0" smtClean="0"/>
              <a:t>1</a:t>
            </a:r>
            <a:r>
              <a:rPr lang="zh-CN" altLang="en-US" sz="2400" dirty="0" smtClean="0"/>
              <a:t>）每次迭代不能保证         下降．当</a:t>
            </a:r>
            <a:r>
              <a:rPr lang="en-US" altLang="zh-CN" sz="2400" dirty="0" smtClean="0"/>
              <a:t>Hesse</a:t>
            </a:r>
            <a:r>
              <a:rPr lang="zh-CN" altLang="en-US" sz="2400" dirty="0" smtClean="0"/>
              <a:t>矩阵非正定时，</a:t>
            </a:r>
            <a:r>
              <a:rPr lang="en-US" altLang="zh-CN" sz="2400" dirty="0" smtClean="0"/>
              <a:t>Newton</a:t>
            </a:r>
            <a:r>
              <a:rPr lang="zh-CN" altLang="en-US" sz="2400" dirty="0" smtClean="0"/>
              <a:t>法的搜索将会失败．</a:t>
            </a:r>
          </a:p>
          <a:p>
            <a:pPr>
              <a:lnSpc>
                <a:spcPct val="130000"/>
              </a:lnSpc>
              <a:defRPr/>
            </a:pPr>
            <a:r>
              <a:rPr lang="zh-CN" altLang="en-US" sz="2400" dirty="0" smtClean="0"/>
              <a:t>（</a:t>
            </a:r>
            <a:r>
              <a:rPr lang="en-US" altLang="zh-CN" sz="2400" dirty="0" smtClean="0"/>
              <a:t>2</a:t>
            </a:r>
            <a:r>
              <a:rPr lang="zh-CN" altLang="en-US" sz="2400" dirty="0" smtClean="0"/>
              <a:t>）对初始点要求严格．一 般要求比较接近或有利于接近极值点，而这在实际计算中是比较难办的．</a:t>
            </a:r>
          </a:p>
          <a:p>
            <a:pPr>
              <a:lnSpc>
                <a:spcPct val="130000"/>
              </a:lnSpc>
              <a:buFontTx/>
              <a:buNone/>
              <a:defRPr/>
            </a:pPr>
            <a:r>
              <a:rPr lang="zh-CN" altLang="en-US" sz="1600" dirty="0" smtClean="0"/>
              <a:t>　</a:t>
            </a:r>
            <a:endParaRPr lang="zh-CN" altLang="en-US" sz="1600" dirty="0"/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4803163" y="-47233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9053485"/>
              </p:ext>
            </p:extLst>
          </p:nvPr>
        </p:nvGraphicFramePr>
        <p:xfrm>
          <a:off x="3995564" y="2923225"/>
          <a:ext cx="647700" cy="350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102" name="公式" r:id="rId3" imgW="355446" imgH="190417" progId="Equation.3">
                  <p:embed/>
                </p:oleObj>
              </mc:Choice>
              <mc:Fallback>
                <p:oleObj name="公式" r:id="rId3" imgW="355446" imgH="190417" progId="Equation.3">
                  <p:embed/>
                  <p:pic>
                    <p:nvPicPr>
                      <p:cNvPr id="18227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5564" y="2923225"/>
                        <a:ext cx="647700" cy="3508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4803163" y="2861415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4803163" y="-47233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4803163" y="-47233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11" name="Rectangle 11"/>
          <p:cNvSpPr>
            <a:spLocks noChangeArrowheads="1"/>
          </p:cNvSpPr>
          <p:nvPr/>
        </p:nvSpPr>
        <p:spPr bwMode="auto">
          <a:xfrm>
            <a:off x="4803163" y="-47233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1984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3"/>
          <p:cNvSpPr>
            <a:spLocks noGrp="1"/>
          </p:cNvSpPr>
          <p:nvPr>
            <p:ph type="title"/>
          </p:nvPr>
        </p:nvSpPr>
        <p:spPr>
          <a:xfrm>
            <a:off x="3152051" y="122383"/>
            <a:ext cx="6215073" cy="549844"/>
          </a:xfrm>
        </p:spPr>
        <p:txBody>
          <a:bodyPr/>
          <a:lstStyle/>
          <a:p>
            <a:r>
              <a:rPr kumimoji="1" lang="zh-CN" alt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牛顿法</a:t>
            </a:r>
            <a:endParaRPr kumimoji="1" lang="zh-CN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4803163" y="-47233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4803163" y="2861415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4803163" y="-47233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4803163" y="-47233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11" name="Rectangle 11"/>
          <p:cNvSpPr>
            <a:spLocks noChangeArrowheads="1"/>
          </p:cNvSpPr>
          <p:nvPr/>
        </p:nvSpPr>
        <p:spPr bwMode="auto">
          <a:xfrm>
            <a:off x="4803163" y="-47233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12" name="Rectangle 2"/>
          <p:cNvSpPr txBox="1">
            <a:spLocks noChangeArrowheads="1"/>
          </p:cNvSpPr>
          <p:nvPr/>
        </p:nvSpPr>
        <p:spPr>
          <a:xfrm>
            <a:off x="437437" y="908720"/>
            <a:ext cx="8311027" cy="51435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2400" dirty="0" smtClean="0"/>
              <a:t>（</a:t>
            </a:r>
            <a:r>
              <a:rPr lang="en-US" altLang="zh-CN" sz="2400" dirty="0" smtClean="0"/>
              <a:t>3</a:t>
            </a:r>
            <a:r>
              <a:rPr lang="zh-CN" altLang="en-US" sz="2400" dirty="0" smtClean="0"/>
              <a:t>）在进行某次迭代时可能求不出搜索方向．由于搜索方向为</a:t>
            </a:r>
          </a:p>
          <a:p>
            <a:pPr>
              <a:lnSpc>
                <a:spcPct val="130000"/>
              </a:lnSpc>
              <a:buFontTx/>
              <a:buNone/>
            </a:pPr>
            <a:endParaRPr lang="en-US" altLang="zh-CN" sz="1200" dirty="0" smtClean="0"/>
          </a:p>
          <a:p>
            <a:pPr>
              <a:lnSpc>
                <a:spcPct val="130000"/>
              </a:lnSpc>
              <a:buFontTx/>
              <a:buNone/>
            </a:pPr>
            <a:r>
              <a:rPr lang="zh-CN" altLang="en-US" sz="2400" dirty="0" smtClean="0"/>
              <a:t>　若目标函数在     点</a:t>
            </a:r>
            <a:r>
              <a:rPr lang="en-US" altLang="zh-CN" sz="2400" dirty="0" smtClean="0"/>
              <a:t>Hesse</a:t>
            </a:r>
            <a:r>
              <a:rPr lang="zh-CN" altLang="en-US" sz="2400" dirty="0" smtClean="0"/>
              <a:t>矩阵为奇异，则求不出                      ，因而不有构成牛顿方向，从而使迭代无法进行．</a:t>
            </a:r>
            <a:endParaRPr lang="en-US" altLang="zh-CN" sz="2400" dirty="0" smtClean="0"/>
          </a:p>
          <a:p>
            <a:pPr>
              <a:lnSpc>
                <a:spcPct val="130000"/>
              </a:lnSpc>
              <a:buFontTx/>
              <a:buNone/>
            </a:pPr>
            <a:endParaRPr lang="zh-CN" altLang="en-US" sz="2400" dirty="0" smtClean="0"/>
          </a:p>
          <a:p>
            <a:pPr>
              <a:lnSpc>
                <a:spcPct val="130000"/>
              </a:lnSpc>
            </a:pPr>
            <a:r>
              <a:rPr lang="zh-CN" altLang="en-US" sz="2400" dirty="0" smtClean="0"/>
              <a:t>（</a:t>
            </a:r>
            <a:r>
              <a:rPr lang="en-US" altLang="zh-CN" sz="2400" dirty="0" smtClean="0"/>
              <a:t>4</a:t>
            </a:r>
            <a:r>
              <a:rPr lang="zh-CN" altLang="en-US" sz="2400" dirty="0" smtClean="0"/>
              <a:t>）牛顿方向构造困难，计算相当复杂，除了求梯度以外还需计算</a:t>
            </a:r>
            <a:r>
              <a:rPr lang="en-US" altLang="zh-CN" sz="2400" dirty="0" smtClean="0"/>
              <a:t>Hesse</a:t>
            </a:r>
            <a:r>
              <a:rPr lang="zh-CN" altLang="en-US" sz="2400" dirty="0" smtClean="0"/>
              <a:t>矩阵及其逆矩阵，占用机器内存相当大．</a:t>
            </a:r>
            <a:endParaRPr lang="zh-CN" altLang="en-US" sz="2400" dirty="0"/>
          </a:p>
        </p:txBody>
      </p:sp>
      <p:sp>
        <p:nvSpPr>
          <p:cNvPr id="13" name="Rectangle 5"/>
          <p:cNvSpPr>
            <a:spLocks noChangeArrowheads="1"/>
          </p:cNvSpPr>
          <p:nvPr/>
        </p:nvSpPr>
        <p:spPr bwMode="auto">
          <a:xfrm>
            <a:off x="223123" y="2572420"/>
            <a:ext cx="184150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graphicFrame>
        <p:nvGraphicFramePr>
          <p:cNvPr id="1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9786258"/>
              </p:ext>
            </p:extLst>
          </p:nvPr>
        </p:nvGraphicFramePr>
        <p:xfrm>
          <a:off x="1901899" y="1458323"/>
          <a:ext cx="4357688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150" name="公式" r:id="rId3" imgW="1651000" imgH="203200" progId="Equation.3">
                  <p:embed/>
                </p:oleObj>
              </mc:Choice>
              <mc:Fallback>
                <p:oleObj name="公式" r:id="rId3" imgW="1651000" imgH="203200" progId="Equation.3">
                  <p:embed/>
                  <p:pic>
                    <p:nvPicPr>
                      <p:cNvPr id="18330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1899" y="1458323"/>
                        <a:ext cx="4357688" cy="530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3173247"/>
              </p:ext>
            </p:extLst>
          </p:nvPr>
        </p:nvGraphicFramePr>
        <p:xfrm>
          <a:off x="2667189" y="2277939"/>
          <a:ext cx="431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151" name="公式" r:id="rId5" imgW="215713" imgH="203024" progId="Equation.3">
                  <p:embed/>
                </p:oleObj>
              </mc:Choice>
              <mc:Fallback>
                <p:oleObj name="公式" r:id="rId5" imgW="215713" imgH="203024" progId="Equation.3">
                  <p:embed/>
                  <p:pic>
                    <p:nvPicPr>
                      <p:cNvPr id="183304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189" y="2277939"/>
                        <a:ext cx="431800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4660007"/>
              </p:ext>
            </p:extLst>
          </p:nvPr>
        </p:nvGraphicFramePr>
        <p:xfrm>
          <a:off x="7128170" y="2277939"/>
          <a:ext cx="1584325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152" name="公式" r:id="rId7" imgW="748975" imgH="203112" progId="Equation.3">
                  <p:embed/>
                </p:oleObj>
              </mc:Choice>
              <mc:Fallback>
                <p:oleObj name="公式" r:id="rId7" imgW="748975" imgH="203112" progId="Equation.3">
                  <p:embed/>
                  <p:pic>
                    <p:nvPicPr>
                      <p:cNvPr id="183306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28170" y="2277939"/>
                        <a:ext cx="1584325" cy="422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05134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928927" y="44624"/>
            <a:ext cx="6072230" cy="582594"/>
          </a:xfrm>
        </p:spPr>
        <p:txBody>
          <a:bodyPr/>
          <a:lstStyle/>
          <a:p>
            <a:pPr>
              <a:lnSpc>
                <a:spcPts val="5600"/>
              </a:lnSpc>
            </a:pPr>
            <a:r>
              <a:rPr lang="zh-CN" altLang="en-US" sz="3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无约束最优化方法</a:t>
            </a:r>
          </a:p>
        </p:txBody>
      </p:sp>
      <p:cxnSp>
        <p:nvCxnSpPr>
          <p:cNvPr id="101" name="直接连接符 13"/>
          <p:cNvCxnSpPr>
            <a:cxnSpLocks noChangeShapeType="1"/>
          </p:cNvCxnSpPr>
          <p:nvPr/>
        </p:nvCxnSpPr>
        <p:spPr bwMode="auto">
          <a:xfrm>
            <a:off x="2674912" y="785794"/>
            <a:ext cx="0" cy="5157787"/>
          </a:xfrm>
          <a:prstGeom prst="line">
            <a:avLst/>
          </a:prstGeom>
          <a:noFill/>
          <a:ln w="6350" cmpd="sng">
            <a:solidFill>
              <a:schemeClr val="accent1"/>
            </a:solidFill>
            <a:round/>
            <a:headEnd/>
            <a:tailEnd/>
          </a:ln>
        </p:spPr>
      </p:cxnSp>
      <p:grpSp>
        <p:nvGrpSpPr>
          <p:cNvPr id="3" name="组 2"/>
          <p:cNvGrpSpPr/>
          <p:nvPr/>
        </p:nvGrpSpPr>
        <p:grpSpPr>
          <a:xfrm>
            <a:off x="1643042" y="1849955"/>
            <a:ext cx="6169292" cy="642941"/>
            <a:chOff x="1643042" y="1268760"/>
            <a:chExt cx="6169292" cy="642941"/>
          </a:xfrm>
        </p:grpSpPr>
        <p:sp>
          <p:nvSpPr>
            <p:cNvPr id="102" name="椭圆 14"/>
            <p:cNvSpPr>
              <a:spLocks noChangeArrowheads="1"/>
            </p:cNvSpPr>
            <p:nvPr/>
          </p:nvSpPr>
          <p:spPr bwMode="auto">
            <a:xfrm>
              <a:off x="2606650" y="1497362"/>
              <a:ext cx="128587" cy="12858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 eaLnBrk="1" hangingPunct="1"/>
              <a:endParaRPr lang="zh-CN" altLang="en-US">
                <a:solidFill>
                  <a:srgbClr val="FFFFFF"/>
                </a:solidFill>
              </a:endParaRPr>
            </a:p>
          </p:txBody>
        </p:sp>
        <p:grpSp>
          <p:nvGrpSpPr>
            <p:cNvPr id="4" name="组合 5"/>
            <p:cNvGrpSpPr>
              <a:grpSpLocks/>
            </p:cNvGrpSpPr>
            <p:nvPr/>
          </p:nvGrpSpPr>
          <p:grpSpPr bwMode="auto">
            <a:xfrm>
              <a:off x="1643042" y="1268760"/>
              <a:ext cx="714380" cy="642941"/>
              <a:chOff x="0" y="0"/>
              <a:chExt cx="1275488" cy="1275488"/>
            </a:xfrm>
            <a:solidFill>
              <a:srgbClr val="004182"/>
            </a:solidFill>
          </p:grpSpPr>
          <p:sp>
            <p:nvSpPr>
              <p:cNvPr id="106" name="泪滴形 7"/>
              <p:cNvSpPr>
                <a:spLocks/>
              </p:cNvSpPr>
              <p:nvPr/>
            </p:nvSpPr>
            <p:spPr bwMode="auto">
              <a:xfrm rot="2700000">
                <a:off x="0" y="0"/>
                <a:ext cx="1275488" cy="1275488"/>
              </a:xfrm>
              <a:custGeom>
                <a:avLst/>
                <a:gdLst/>
                <a:ahLst/>
                <a:cxnLst>
                  <a:cxn ang="0">
                    <a:pos x="0" y="637744"/>
                  </a:cxn>
                  <a:cxn ang="0">
                    <a:pos x="637744" y="0"/>
                  </a:cxn>
                  <a:cxn ang="0">
                    <a:pos x="1275488" y="0"/>
                  </a:cxn>
                  <a:cxn ang="0">
                    <a:pos x="1275488" y="637744"/>
                  </a:cxn>
                  <a:cxn ang="0">
                    <a:pos x="637744" y="1275488"/>
                  </a:cxn>
                  <a:cxn ang="0">
                    <a:pos x="0" y="637744"/>
                  </a:cxn>
                </a:cxnLst>
                <a:rect l="0" t="0" r="r" b="b"/>
                <a:pathLst>
                  <a:path w="1275488" h="1275488">
                    <a:moveTo>
                      <a:pt x="0" y="637744"/>
                    </a:moveTo>
                    <a:cubicBezTo>
                      <a:pt x="0" y="285528"/>
                      <a:pt x="285528" y="0"/>
                      <a:pt x="637744" y="0"/>
                    </a:cubicBezTo>
                    <a:lnTo>
                      <a:pt x="1275488" y="0"/>
                    </a:lnTo>
                    <a:lnTo>
                      <a:pt x="1275488" y="637744"/>
                    </a:lnTo>
                    <a:cubicBezTo>
                      <a:pt x="1275488" y="989960"/>
                      <a:pt x="989960" y="1275488"/>
                      <a:pt x="637744" y="1275488"/>
                    </a:cubicBezTo>
                    <a:cubicBezTo>
                      <a:pt x="285528" y="1275488"/>
                      <a:pt x="0" y="989960"/>
                      <a:pt x="0" y="637744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107" name="文本框 17"/>
              <p:cNvSpPr txBox="1">
                <a:spLocks noChangeArrowheads="1"/>
              </p:cNvSpPr>
              <p:nvPr/>
            </p:nvSpPr>
            <p:spPr bwMode="auto">
              <a:xfrm>
                <a:off x="399726" y="231905"/>
                <a:ext cx="875762" cy="74934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/>
                <a:r>
                  <a:rPr lang="en-US" altLang="zh-CN" sz="2400" b="1" dirty="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1</a:t>
                </a:r>
                <a:endParaRPr lang="zh-CN" altLang="en-US" sz="24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sp>
          <p:nvSpPr>
            <p:cNvPr id="114" name="矩形 20"/>
            <p:cNvSpPr>
              <a:spLocks noChangeArrowheads="1"/>
            </p:cNvSpPr>
            <p:nvPr/>
          </p:nvSpPr>
          <p:spPr bwMode="auto">
            <a:xfrm>
              <a:off x="3062261" y="1321150"/>
              <a:ext cx="4750073" cy="526172"/>
            </a:xfrm>
            <a:prstGeom prst="rect">
              <a:avLst/>
            </a:prstGeom>
            <a:solidFill>
              <a:srgbClr val="004182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ctr"/>
              <a:r>
                <a:rPr lang="zh-CN" altLang="en-US" sz="2400" b="1" dirty="0" smtClean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  <a:ea typeface="微软雅黑" pitchFamily="34" charset="-122"/>
                  <a:cs typeface="Times New Roman" panose="02020603050405020304" pitchFamily="18" charset="0"/>
                </a:rPr>
                <a:t>牛顿法</a:t>
              </a:r>
              <a:endParaRPr lang="en-US" altLang="zh-CN" sz="24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" name="组 3"/>
          <p:cNvGrpSpPr/>
          <p:nvPr/>
        </p:nvGrpSpPr>
        <p:grpSpPr>
          <a:xfrm>
            <a:off x="1652667" y="3938187"/>
            <a:ext cx="6169300" cy="642941"/>
            <a:chOff x="1643042" y="2439698"/>
            <a:chExt cx="6169300" cy="642941"/>
          </a:xfrm>
        </p:grpSpPr>
        <p:sp>
          <p:nvSpPr>
            <p:cNvPr id="120" name="椭圆 14"/>
            <p:cNvSpPr>
              <a:spLocks noChangeArrowheads="1"/>
            </p:cNvSpPr>
            <p:nvPr/>
          </p:nvSpPr>
          <p:spPr bwMode="auto">
            <a:xfrm>
              <a:off x="2606650" y="2668300"/>
              <a:ext cx="128587" cy="12858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 eaLnBrk="1" hangingPunct="1"/>
              <a:endParaRPr lang="zh-CN" altLang="en-US">
                <a:solidFill>
                  <a:srgbClr val="FFFFFF"/>
                </a:solidFill>
              </a:endParaRPr>
            </a:p>
          </p:txBody>
        </p:sp>
        <p:grpSp>
          <p:nvGrpSpPr>
            <p:cNvPr id="6" name="组合 5"/>
            <p:cNvGrpSpPr>
              <a:grpSpLocks/>
            </p:cNvGrpSpPr>
            <p:nvPr/>
          </p:nvGrpSpPr>
          <p:grpSpPr bwMode="auto">
            <a:xfrm>
              <a:off x="1643042" y="2439698"/>
              <a:ext cx="714380" cy="642941"/>
              <a:chOff x="0" y="0"/>
              <a:chExt cx="1275488" cy="1275488"/>
            </a:xfrm>
            <a:solidFill>
              <a:srgbClr val="004182"/>
            </a:solidFill>
          </p:grpSpPr>
          <p:sp>
            <p:nvSpPr>
              <p:cNvPr id="122" name="泪滴形 7"/>
              <p:cNvSpPr>
                <a:spLocks/>
              </p:cNvSpPr>
              <p:nvPr/>
            </p:nvSpPr>
            <p:spPr bwMode="auto">
              <a:xfrm rot="2700000">
                <a:off x="0" y="0"/>
                <a:ext cx="1275488" cy="1275488"/>
              </a:xfrm>
              <a:custGeom>
                <a:avLst/>
                <a:gdLst/>
                <a:ahLst/>
                <a:cxnLst>
                  <a:cxn ang="0">
                    <a:pos x="0" y="637744"/>
                  </a:cxn>
                  <a:cxn ang="0">
                    <a:pos x="637744" y="0"/>
                  </a:cxn>
                  <a:cxn ang="0">
                    <a:pos x="1275488" y="0"/>
                  </a:cxn>
                  <a:cxn ang="0">
                    <a:pos x="1275488" y="637744"/>
                  </a:cxn>
                  <a:cxn ang="0">
                    <a:pos x="637744" y="1275488"/>
                  </a:cxn>
                  <a:cxn ang="0">
                    <a:pos x="0" y="637744"/>
                  </a:cxn>
                </a:cxnLst>
                <a:rect l="0" t="0" r="r" b="b"/>
                <a:pathLst>
                  <a:path w="1275488" h="1275488">
                    <a:moveTo>
                      <a:pt x="0" y="637744"/>
                    </a:moveTo>
                    <a:cubicBezTo>
                      <a:pt x="0" y="285528"/>
                      <a:pt x="285528" y="0"/>
                      <a:pt x="637744" y="0"/>
                    </a:cubicBezTo>
                    <a:lnTo>
                      <a:pt x="1275488" y="0"/>
                    </a:lnTo>
                    <a:lnTo>
                      <a:pt x="1275488" y="637744"/>
                    </a:lnTo>
                    <a:cubicBezTo>
                      <a:pt x="1275488" y="989960"/>
                      <a:pt x="989960" y="1275488"/>
                      <a:pt x="637744" y="1275488"/>
                    </a:cubicBezTo>
                    <a:cubicBezTo>
                      <a:pt x="285528" y="1275488"/>
                      <a:pt x="0" y="989960"/>
                      <a:pt x="0" y="637744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123" name="文本框 17"/>
              <p:cNvSpPr txBox="1">
                <a:spLocks noChangeArrowheads="1"/>
              </p:cNvSpPr>
              <p:nvPr/>
            </p:nvSpPr>
            <p:spPr bwMode="auto">
              <a:xfrm>
                <a:off x="399726" y="231904"/>
                <a:ext cx="875762" cy="9158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/>
                <a:r>
                  <a:rPr lang="en-US" altLang="zh-CN" sz="2400" b="1" dirty="0" smtClean="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3</a:t>
                </a:r>
                <a:endParaRPr lang="zh-CN" altLang="en-US" sz="24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sp>
          <p:nvSpPr>
            <p:cNvPr id="124" name="矩形 20"/>
            <p:cNvSpPr>
              <a:spLocks noChangeArrowheads="1"/>
            </p:cNvSpPr>
            <p:nvPr/>
          </p:nvSpPr>
          <p:spPr bwMode="auto">
            <a:xfrm>
              <a:off x="3062261" y="2492088"/>
              <a:ext cx="4750081" cy="526172"/>
            </a:xfrm>
            <a:prstGeom prst="rect">
              <a:avLst/>
            </a:prstGeom>
            <a:solidFill>
              <a:srgbClr val="004182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ctr"/>
              <a:r>
                <a:rPr lang="zh-CN" altLang="en-US" sz="2400" b="1" dirty="0" smtClean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  <a:ea typeface="微软雅黑" pitchFamily="34" charset="-122"/>
                  <a:cs typeface="Times New Roman" panose="02020603050405020304" pitchFamily="18" charset="0"/>
                </a:rPr>
                <a:t>拟牛顿法</a:t>
              </a:r>
              <a:endParaRPr lang="en-US" altLang="zh-CN" sz="24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6" name="组 2"/>
          <p:cNvGrpSpPr/>
          <p:nvPr/>
        </p:nvGrpSpPr>
        <p:grpSpPr>
          <a:xfrm>
            <a:off x="1643042" y="2847209"/>
            <a:ext cx="6169292" cy="642941"/>
            <a:chOff x="1643042" y="1268760"/>
            <a:chExt cx="6169292" cy="642941"/>
          </a:xfrm>
        </p:grpSpPr>
        <p:sp>
          <p:nvSpPr>
            <p:cNvPr id="17" name="椭圆 14"/>
            <p:cNvSpPr>
              <a:spLocks noChangeArrowheads="1"/>
            </p:cNvSpPr>
            <p:nvPr/>
          </p:nvSpPr>
          <p:spPr bwMode="auto">
            <a:xfrm>
              <a:off x="2606650" y="1497362"/>
              <a:ext cx="128587" cy="12858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 eaLnBrk="1" hangingPunct="1"/>
              <a:endParaRPr lang="zh-CN" altLang="en-US">
                <a:solidFill>
                  <a:srgbClr val="FFFFFF"/>
                </a:solidFill>
              </a:endParaRPr>
            </a:p>
          </p:txBody>
        </p:sp>
        <p:grpSp>
          <p:nvGrpSpPr>
            <p:cNvPr id="18" name="组合 5"/>
            <p:cNvGrpSpPr>
              <a:grpSpLocks/>
            </p:cNvGrpSpPr>
            <p:nvPr/>
          </p:nvGrpSpPr>
          <p:grpSpPr bwMode="auto">
            <a:xfrm>
              <a:off x="1643042" y="1268760"/>
              <a:ext cx="714380" cy="642941"/>
              <a:chOff x="0" y="0"/>
              <a:chExt cx="1275488" cy="1275488"/>
            </a:xfrm>
            <a:solidFill>
              <a:srgbClr val="004182"/>
            </a:solidFill>
          </p:grpSpPr>
          <p:sp>
            <p:nvSpPr>
              <p:cNvPr id="20" name="泪滴形 7"/>
              <p:cNvSpPr>
                <a:spLocks/>
              </p:cNvSpPr>
              <p:nvPr/>
            </p:nvSpPr>
            <p:spPr bwMode="auto">
              <a:xfrm rot="2700000">
                <a:off x="0" y="0"/>
                <a:ext cx="1275488" cy="1275488"/>
              </a:xfrm>
              <a:custGeom>
                <a:avLst/>
                <a:gdLst/>
                <a:ahLst/>
                <a:cxnLst>
                  <a:cxn ang="0">
                    <a:pos x="0" y="637744"/>
                  </a:cxn>
                  <a:cxn ang="0">
                    <a:pos x="637744" y="0"/>
                  </a:cxn>
                  <a:cxn ang="0">
                    <a:pos x="1275488" y="0"/>
                  </a:cxn>
                  <a:cxn ang="0">
                    <a:pos x="1275488" y="637744"/>
                  </a:cxn>
                  <a:cxn ang="0">
                    <a:pos x="637744" y="1275488"/>
                  </a:cxn>
                  <a:cxn ang="0">
                    <a:pos x="0" y="637744"/>
                  </a:cxn>
                </a:cxnLst>
                <a:rect l="0" t="0" r="r" b="b"/>
                <a:pathLst>
                  <a:path w="1275488" h="1275488">
                    <a:moveTo>
                      <a:pt x="0" y="637744"/>
                    </a:moveTo>
                    <a:cubicBezTo>
                      <a:pt x="0" y="285528"/>
                      <a:pt x="285528" y="0"/>
                      <a:pt x="637744" y="0"/>
                    </a:cubicBezTo>
                    <a:lnTo>
                      <a:pt x="1275488" y="0"/>
                    </a:lnTo>
                    <a:lnTo>
                      <a:pt x="1275488" y="637744"/>
                    </a:lnTo>
                    <a:cubicBezTo>
                      <a:pt x="1275488" y="989960"/>
                      <a:pt x="989960" y="1275488"/>
                      <a:pt x="637744" y="1275488"/>
                    </a:cubicBezTo>
                    <a:cubicBezTo>
                      <a:pt x="285528" y="1275488"/>
                      <a:pt x="0" y="989960"/>
                      <a:pt x="0" y="637744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21" name="文本框 17"/>
              <p:cNvSpPr txBox="1">
                <a:spLocks noChangeArrowheads="1"/>
              </p:cNvSpPr>
              <p:nvPr/>
            </p:nvSpPr>
            <p:spPr bwMode="auto">
              <a:xfrm>
                <a:off x="399726" y="231904"/>
                <a:ext cx="875762" cy="9158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/>
                <a:r>
                  <a:rPr lang="en-US" altLang="zh-CN" sz="2400" b="1" dirty="0" smtClean="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2</a:t>
                </a:r>
                <a:endParaRPr lang="zh-CN" altLang="en-US" sz="24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sp>
          <p:nvSpPr>
            <p:cNvPr id="19" name="矩形 20"/>
            <p:cNvSpPr>
              <a:spLocks noChangeArrowheads="1"/>
            </p:cNvSpPr>
            <p:nvPr/>
          </p:nvSpPr>
          <p:spPr bwMode="auto">
            <a:xfrm>
              <a:off x="3062261" y="1321150"/>
              <a:ext cx="4750073" cy="526172"/>
            </a:xfrm>
            <a:prstGeom prst="rect">
              <a:avLst/>
            </a:prstGeom>
            <a:solidFill>
              <a:srgbClr val="004182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ctr"/>
              <a:r>
                <a:rPr lang="zh-CN" altLang="en-US" sz="2400" b="1" dirty="0" smtClean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itchFamily="34" charset="-122"/>
                  <a:cs typeface="Times New Roman" panose="02020603050405020304" pitchFamily="18" charset="0"/>
                </a:rPr>
                <a:t>修正牛顿法</a:t>
              </a:r>
              <a:endPara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3" name="组 3"/>
          <p:cNvGrpSpPr/>
          <p:nvPr/>
        </p:nvGrpSpPr>
        <p:grpSpPr>
          <a:xfrm>
            <a:off x="1653030" y="4870750"/>
            <a:ext cx="6169300" cy="642941"/>
            <a:chOff x="1643042" y="2439698"/>
            <a:chExt cx="6169300" cy="642941"/>
          </a:xfrm>
        </p:grpSpPr>
        <p:sp>
          <p:nvSpPr>
            <p:cNvPr id="24" name="椭圆 14"/>
            <p:cNvSpPr>
              <a:spLocks noChangeArrowheads="1"/>
            </p:cNvSpPr>
            <p:nvPr/>
          </p:nvSpPr>
          <p:spPr bwMode="auto">
            <a:xfrm>
              <a:off x="2606650" y="2668300"/>
              <a:ext cx="128587" cy="12858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 eaLnBrk="1" hangingPunct="1"/>
              <a:endParaRPr lang="zh-CN" altLang="en-US">
                <a:solidFill>
                  <a:srgbClr val="FFFFFF"/>
                </a:solidFill>
              </a:endParaRPr>
            </a:p>
          </p:txBody>
        </p:sp>
        <p:grpSp>
          <p:nvGrpSpPr>
            <p:cNvPr id="25" name="组合 24"/>
            <p:cNvGrpSpPr>
              <a:grpSpLocks/>
            </p:cNvGrpSpPr>
            <p:nvPr/>
          </p:nvGrpSpPr>
          <p:grpSpPr bwMode="auto">
            <a:xfrm>
              <a:off x="1643042" y="2439698"/>
              <a:ext cx="714380" cy="642941"/>
              <a:chOff x="0" y="0"/>
              <a:chExt cx="1275488" cy="1275488"/>
            </a:xfrm>
            <a:solidFill>
              <a:srgbClr val="004182"/>
            </a:solidFill>
          </p:grpSpPr>
          <p:sp>
            <p:nvSpPr>
              <p:cNvPr id="27" name="泪滴形 7"/>
              <p:cNvSpPr>
                <a:spLocks/>
              </p:cNvSpPr>
              <p:nvPr/>
            </p:nvSpPr>
            <p:spPr bwMode="auto">
              <a:xfrm rot="2700000">
                <a:off x="0" y="0"/>
                <a:ext cx="1275488" cy="1275488"/>
              </a:xfrm>
              <a:custGeom>
                <a:avLst/>
                <a:gdLst/>
                <a:ahLst/>
                <a:cxnLst>
                  <a:cxn ang="0">
                    <a:pos x="0" y="637744"/>
                  </a:cxn>
                  <a:cxn ang="0">
                    <a:pos x="637744" y="0"/>
                  </a:cxn>
                  <a:cxn ang="0">
                    <a:pos x="1275488" y="0"/>
                  </a:cxn>
                  <a:cxn ang="0">
                    <a:pos x="1275488" y="637744"/>
                  </a:cxn>
                  <a:cxn ang="0">
                    <a:pos x="637744" y="1275488"/>
                  </a:cxn>
                  <a:cxn ang="0">
                    <a:pos x="0" y="637744"/>
                  </a:cxn>
                </a:cxnLst>
                <a:rect l="0" t="0" r="r" b="b"/>
                <a:pathLst>
                  <a:path w="1275488" h="1275488">
                    <a:moveTo>
                      <a:pt x="0" y="637744"/>
                    </a:moveTo>
                    <a:cubicBezTo>
                      <a:pt x="0" y="285528"/>
                      <a:pt x="285528" y="0"/>
                      <a:pt x="637744" y="0"/>
                    </a:cubicBezTo>
                    <a:lnTo>
                      <a:pt x="1275488" y="0"/>
                    </a:lnTo>
                    <a:lnTo>
                      <a:pt x="1275488" y="637744"/>
                    </a:lnTo>
                    <a:cubicBezTo>
                      <a:pt x="1275488" y="989960"/>
                      <a:pt x="989960" y="1275488"/>
                      <a:pt x="637744" y="1275488"/>
                    </a:cubicBezTo>
                    <a:cubicBezTo>
                      <a:pt x="285528" y="1275488"/>
                      <a:pt x="0" y="989960"/>
                      <a:pt x="0" y="637744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28" name="文本框 17"/>
              <p:cNvSpPr txBox="1">
                <a:spLocks noChangeArrowheads="1"/>
              </p:cNvSpPr>
              <p:nvPr/>
            </p:nvSpPr>
            <p:spPr bwMode="auto">
              <a:xfrm>
                <a:off x="399726" y="231904"/>
                <a:ext cx="875762" cy="9158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/>
                <a:r>
                  <a:rPr lang="en-US" altLang="zh-CN" sz="2400" b="1" dirty="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4</a:t>
                </a:r>
                <a:endParaRPr lang="zh-CN" altLang="en-US" sz="24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sp>
          <p:nvSpPr>
            <p:cNvPr id="26" name="矩形 20"/>
            <p:cNvSpPr>
              <a:spLocks noChangeArrowheads="1"/>
            </p:cNvSpPr>
            <p:nvPr/>
          </p:nvSpPr>
          <p:spPr bwMode="auto">
            <a:xfrm>
              <a:off x="3062261" y="2492088"/>
              <a:ext cx="4750081" cy="526172"/>
            </a:xfrm>
            <a:prstGeom prst="rect">
              <a:avLst/>
            </a:prstGeom>
            <a:solidFill>
              <a:srgbClr val="004182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ctr"/>
              <a:r>
                <a:rPr lang="zh-CN" altLang="en-US" sz="2400" b="1" dirty="0" smtClean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  <a:ea typeface="微软雅黑" pitchFamily="34" charset="-122"/>
                  <a:cs typeface="Times New Roman" panose="02020603050405020304" pitchFamily="18" charset="0"/>
                </a:rPr>
                <a:t>对比和举例</a:t>
              </a:r>
              <a:endParaRPr lang="en-US" altLang="zh-CN" sz="24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06889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3"/>
          <p:cNvSpPr>
            <a:spLocks noGrp="1"/>
          </p:cNvSpPr>
          <p:nvPr>
            <p:ph type="title"/>
          </p:nvPr>
        </p:nvSpPr>
        <p:spPr>
          <a:xfrm>
            <a:off x="3152051" y="122383"/>
            <a:ext cx="6215073" cy="549844"/>
          </a:xfrm>
        </p:spPr>
        <p:txBody>
          <a:bodyPr/>
          <a:lstStyle/>
          <a:p>
            <a:r>
              <a:rPr kumimoji="1" lang="zh-CN" alt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修正牛顿法</a:t>
            </a:r>
            <a:endParaRPr kumimoji="1" lang="zh-CN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4803163" y="-47233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4803163" y="2861415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4803163" y="-47233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4803163" y="-47233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11" name="Rectangle 11"/>
          <p:cNvSpPr>
            <a:spLocks noChangeArrowheads="1"/>
          </p:cNvSpPr>
          <p:nvPr/>
        </p:nvSpPr>
        <p:spPr bwMode="auto">
          <a:xfrm>
            <a:off x="4803163" y="-47233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13" name="Rectangle 5"/>
          <p:cNvSpPr>
            <a:spLocks noChangeArrowheads="1"/>
          </p:cNvSpPr>
          <p:nvPr/>
        </p:nvSpPr>
        <p:spPr bwMode="auto">
          <a:xfrm>
            <a:off x="223123" y="2572420"/>
            <a:ext cx="184150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17" name="Rectangle 3"/>
          <p:cNvSpPr txBox="1">
            <a:spLocks noChangeArrowheads="1"/>
          </p:cNvSpPr>
          <p:nvPr/>
        </p:nvSpPr>
        <p:spPr>
          <a:xfrm>
            <a:off x="223123" y="1429420"/>
            <a:ext cx="8286750" cy="2286000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一、修正</a:t>
            </a:r>
            <a:r>
              <a:rPr lang="en-US" altLang="zh-CN" sz="2800" dirty="0" smtClean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Newton</a:t>
            </a:r>
            <a:r>
              <a:rPr lang="zh-CN" altLang="en-US" sz="2800" dirty="0" smtClean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法基本原理</a:t>
            </a:r>
            <a:endParaRPr lang="en-US" altLang="zh-CN" sz="2800" dirty="0" smtClean="0">
              <a:solidFill>
                <a:schemeClr val="tx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algn="just">
              <a:lnSpc>
                <a:spcPct val="150000"/>
              </a:lnSpc>
            </a:pPr>
            <a:endParaRPr lang="zh-CN" altLang="en-US" sz="1200" dirty="0" smtClean="0">
              <a:solidFill>
                <a:srgbClr val="009999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algn="just">
              <a:lnSpc>
                <a:spcPct val="150000"/>
              </a:lnSpc>
              <a:buFontTx/>
              <a:buNone/>
            </a:pPr>
            <a:r>
              <a:rPr lang="zh-CN" altLang="en-US" sz="2000" dirty="0" smtClean="0"/>
              <a:t>　</a:t>
            </a:r>
            <a:r>
              <a:rPr lang="zh-CN" altLang="en-US" sz="2800" dirty="0" smtClean="0"/>
              <a:t> 为了克服</a:t>
            </a:r>
            <a:r>
              <a:rPr lang="en-US" altLang="zh-CN" sz="2800" dirty="0" smtClean="0"/>
              <a:t>Newton</a:t>
            </a:r>
            <a:r>
              <a:rPr lang="zh-CN" altLang="en-US" sz="2800" dirty="0" smtClean="0"/>
              <a:t>法的缺点，人们保留选</a:t>
            </a:r>
            <a:r>
              <a:rPr lang="en-US" altLang="zh-CN" sz="2800" dirty="0" smtClean="0"/>
              <a:t>Newton</a:t>
            </a:r>
            <a:r>
              <a:rPr lang="zh-CN" altLang="en-US" sz="2800" dirty="0" smtClean="0"/>
              <a:t>方向作为搜索方向，摒弃其步长恒取</a:t>
            </a:r>
            <a:r>
              <a:rPr lang="en-US" altLang="zh-CN" sz="2800" dirty="0" smtClean="0"/>
              <a:t>1</a:t>
            </a:r>
            <a:r>
              <a:rPr lang="zh-CN" altLang="en-US" sz="2800" dirty="0" smtClean="0"/>
              <a:t>，而用一维搜索确定最优步长，由此产生的算法称为修正</a:t>
            </a:r>
            <a:r>
              <a:rPr lang="en-US" altLang="zh-CN" sz="2800" dirty="0" smtClean="0"/>
              <a:t>Newton</a:t>
            </a:r>
            <a:r>
              <a:rPr lang="zh-CN" altLang="en-US" sz="2800" dirty="0" smtClean="0"/>
              <a:t>法（或阻力</a:t>
            </a:r>
            <a:r>
              <a:rPr lang="en-US" altLang="zh-CN" sz="2800" dirty="0" smtClean="0"/>
              <a:t>Newton</a:t>
            </a:r>
            <a:r>
              <a:rPr lang="zh-CN" altLang="en-US" sz="2800" dirty="0" smtClean="0"/>
              <a:t>法）．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299652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3"/>
          <p:cNvSpPr>
            <a:spLocks noGrp="1"/>
          </p:cNvSpPr>
          <p:nvPr>
            <p:ph type="title"/>
          </p:nvPr>
        </p:nvSpPr>
        <p:spPr>
          <a:xfrm>
            <a:off x="3152051" y="122383"/>
            <a:ext cx="6215073" cy="549844"/>
          </a:xfrm>
        </p:spPr>
        <p:txBody>
          <a:bodyPr/>
          <a:lstStyle/>
          <a:p>
            <a:r>
              <a:rPr kumimoji="1" lang="zh-CN" alt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修正牛顿法</a:t>
            </a:r>
            <a:endParaRPr kumimoji="1" lang="zh-CN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4803163" y="-27384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4803163" y="3078437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4803163" y="-27384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4803163" y="-27384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11" name="Rectangle 11"/>
          <p:cNvSpPr>
            <a:spLocks noChangeArrowheads="1"/>
          </p:cNvSpPr>
          <p:nvPr/>
        </p:nvSpPr>
        <p:spPr bwMode="auto">
          <a:xfrm>
            <a:off x="4803163" y="-27384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12" name="Text Box 4"/>
          <p:cNvSpPr txBox="1">
            <a:spLocks noChangeArrowheads="1"/>
          </p:cNvSpPr>
          <p:nvPr/>
        </p:nvSpPr>
        <p:spPr bwMode="auto">
          <a:xfrm>
            <a:off x="404659" y="908720"/>
            <a:ext cx="9144000" cy="577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Arial" pitchFamily="34" charset="0"/>
              <a:buChar char="•"/>
              <a:defRPr/>
            </a:pPr>
            <a:r>
              <a:rPr lang="en-US" altLang="zh-CN" sz="2800" dirty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zh-CN" altLang="en-US" sz="2800" dirty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二、修正</a:t>
            </a:r>
            <a:r>
              <a:rPr lang="en-US" altLang="zh-CN" sz="2800" dirty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Newton</a:t>
            </a:r>
            <a:r>
              <a:rPr lang="zh-CN" altLang="en-US" sz="2800" dirty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法迭代</a:t>
            </a:r>
            <a:r>
              <a:rPr lang="zh-CN" altLang="en-US" sz="2800" dirty="0" smtClean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步骤</a:t>
            </a:r>
            <a:endParaRPr lang="en-US" altLang="zh-CN" sz="2800" dirty="0" smtClean="0">
              <a:solidFill>
                <a:schemeClr val="tx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>
              <a:buFont typeface="Arial" pitchFamily="34" charset="0"/>
              <a:buChar char="•"/>
              <a:defRPr/>
            </a:pPr>
            <a:endParaRPr lang="zh-CN" altLang="en-US" sz="2800" dirty="0">
              <a:solidFill>
                <a:schemeClr val="tx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>
              <a:lnSpc>
                <a:spcPct val="115000"/>
              </a:lnSpc>
              <a:buFont typeface="Arial" pitchFamily="34" charset="0"/>
              <a:buChar char="•"/>
              <a:defRPr/>
            </a:pPr>
            <a:r>
              <a:rPr lang="zh-CN" altLang="en-US" sz="2400" dirty="0">
                <a:latin typeface="Arial" charset="0"/>
              </a:rPr>
              <a:t>已知目标函数      </a:t>
            </a:r>
            <a:r>
              <a:rPr lang="zh-CN" altLang="en-US" sz="2400" dirty="0" smtClean="0">
                <a:latin typeface="Arial" charset="0"/>
              </a:rPr>
              <a:t>   及其</a:t>
            </a:r>
            <a:r>
              <a:rPr lang="zh-CN" altLang="en-US" sz="2400" dirty="0">
                <a:latin typeface="Arial" charset="0"/>
              </a:rPr>
              <a:t>梯度  </a:t>
            </a:r>
            <a:r>
              <a:rPr lang="zh-CN" altLang="en-US" sz="2400" dirty="0" smtClean="0">
                <a:latin typeface="Arial" charset="0"/>
              </a:rPr>
              <a:t>         </a:t>
            </a:r>
            <a:r>
              <a:rPr lang="en-US" altLang="zh-CN" sz="2400" dirty="0">
                <a:latin typeface="Arial" charset="0"/>
              </a:rPr>
              <a:t>Hesse</a:t>
            </a:r>
            <a:r>
              <a:rPr lang="zh-CN" altLang="en-US" sz="2400" dirty="0" smtClean="0">
                <a:latin typeface="Arial" charset="0"/>
              </a:rPr>
              <a:t>矩阵          </a:t>
            </a:r>
            <a:r>
              <a:rPr lang="zh-CN" altLang="en-US" sz="2400" dirty="0">
                <a:latin typeface="Arial" charset="0"/>
              </a:rPr>
              <a:t>终止限 </a:t>
            </a:r>
          </a:p>
          <a:p>
            <a:pPr>
              <a:lnSpc>
                <a:spcPct val="115000"/>
              </a:lnSpc>
              <a:buFont typeface="Arial" pitchFamily="34" charset="0"/>
              <a:buChar char="•"/>
              <a:defRPr/>
            </a:pPr>
            <a:r>
              <a:rPr lang="zh-CN" altLang="en-US" sz="2400" dirty="0">
                <a:latin typeface="Arial" charset="0"/>
              </a:rPr>
              <a:t>（</a:t>
            </a:r>
            <a:r>
              <a:rPr lang="en-US" altLang="zh-CN" sz="2400" dirty="0">
                <a:latin typeface="Arial" charset="0"/>
              </a:rPr>
              <a:t>1</a:t>
            </a:r>
            <a:r>
              <a:rPr lang="zh-CN" altLang="en-US" sz="2400" dirty="0">
                <a:latin typeface="Arial" charset="0"/>
              </a:rPr>
              <a:t>）选取初始点     令</a:t>
            </a:r>
          </a:p>
          <a:p>
            <a:pPr>
              <a:lnSpc>
                <a:spcPct val="115000"/>
              </a:lnSpc>
              <a:buFont typeface="Arial" pitchFamily="34" charset="0"/>
              <a:buChar char="•"/>
              <a:defRPr/>
            </a:pPr>
            <a:r>
              <a:rPr lang="zh-CN" altLang="en-US" sz="2400" dirty="0">
                <a:latin typeface="Arial" charset="0"/>
              </a:rPr>
              <a:t>（</a:t>
            </a:r>
            <a:r>
              <a:rPr lang="en-US" altLang="zh-CN" sz="2400" dirty="0">
                <a:latin typeface="Arial" charset="0"/>
              </a:rPr>
              <a:t>2</a:t>
            </a:r>
            <a:r>
              <a:rPr lang="zh-CN" altLang="en-US" sz="2400" dirty="0">
                <a:latin typeface="Arial" charset="0"/>
              </a:rPr>
              <a:t>）求梯度向量．</a:t>
            </a:r>
            <a:r>
              <a:rPr lang="zh-CN" altLang="en-US" sz="2400" dirty="0" smtClean="0">
                <a:latin typeface="Arial" charset="0"/>
              </a:rPr>
              <a:t>计算                       </a:t>
            </a:r>
            <a:r>
              <a:rPr lang="zh-CN" altLang="en-US" sz="2400" dirty="0">
                <a:latin typeface="Arial" charset="0"/>
              </a:rPr>
              <a:t>，若 </a:t>
            </a:r>
            <a:r>
              <a:rPr lang="zh-CN" altLang="en-US" sz="2400" dirty="0" smtClean="0">
                <a:latin typeface="Arial" charset="0"/>
              </a:rPr>
              <a:t>                   </a:t>
            </a:r>
            <a:r>
              <a:rPr lang="zh-CN" altLang="en-US" sz="2400" dirty="0">
                <a:latin typeface="Arial" charset="0"/>
              </a:rPr>
              <a:t>，停  </a:t>
            </a:r>
            <a:endParaRPr lang="en-US" altLang="zh-CN" sz="2400" dirty="0">
              <a:latin typeface="Arial" charset="0"/>
            </a:endParaRPr>
          </a:p>
          <a:p>
            <a:pPr>
              <a:lnSpc>
                <a:spcPct val="115000"/>
              </a:lnSpc>
              <a:defRPr/>
            </a:pPr>
            <a:r>
              <a:rPr lang="en-US" altLang="zh-CN" sz="2400" dirty="0">
                <a:latin typeface="Arial" charset="0"/>
              </a:rPr>
              <a:t>           </a:t>
            </a:r>
            <a:r>
              <a:rPr lang="zh-CN" altLang="en-US" sz="2400" dirty="0">
                <a:latin typeface="Arial" charset="0"/>
              </a:rPr>
              <a:t>止迭代输出      ．否则，转（</a:t>
            </a:r>
            <a:r>
              <a:rPr lang="en-US" altLang="zh-CN" sz="2400" dirty="0">
                <a:latin typeface="Arial" charset="0"/>
              </a:rPr>
              <a:t>3</a:t>
            </a:r>
            <a:r>
              <a:rPr lang="zh-CN" altLang="en-US" sz="2400" dirty="0">
                <a:latin typeface="Arial" charset="0"/>
              </a:rPr>
              <a:t>）．</a:t>
            </a:r>
          </a:p>
          <a:p>
            <a:pPr>
              <a:lnSpc>
                <a:spcPct val="115000"/>
              </a:lnSpc>
              <a:buFont typeface="Arial" pitchFamily="34" charset="0"/>
              <a:buChar char="•"/>
              <a:defRPr/>
            </a:pPr>
            <a:r>
              <a:rPr lang="zh-CN" altLang="en-US" sz="2400" dirty="0">
                <a:latin typeface="Arial" charset="0"/>
              </a:rPr>
              <a:t>（</a:t>
            </a:r>
            <a:r>
              <a:rPr lang="en-US" altLang="zh-CN" sz="2400" dirty="0">
                <a:latin typeface="Arial" charset="0"/>
              </a:rPr>
              <a:t>3</a:t>
            </a:r>
            <a:r>
              <a:rPr lang="zh-CN" altLang="en-US" sz="2400" dirty="0">
                <a:latin typeface="Arial" charset="0"/>
              </a:rPr>
              <a:t>）构造</a:t>
            </a:r>
            <a:r>
              <a:rPr lang="en-US" altLang="zh-CN" sz="2400" dirty="0">
                <a:latin typeface="Arial" charset="0"/>
              </a:rPr>
              <a:t>Newton</a:t>
            </a:r>
            <a:r>
              <a:rPr lang="zh-CN" altLang="en-US" sz="2400" dirty="0">
                <a:latin typeface="Arial" charset="0"/>
              </a:rPr>
              <a:t>方向．</a:t>
            </a:r>
            <a:r>
              <a:rPr lang="zh-CN" altLang="en-US" sz="2400" dirty="0" smtClean="0">
                <a:latin typeface="Arial" charset="0"/>
              </a:rPr>
              <a:t>计算                                    </a:t>
            </a:r>
            <a:r>
              <a:rPr lang="zh-CN" altLang="en-US" sz="2400" dirty="0">
                <a:latin typeface="Arial" charset="0"/>
              </a:rPr>
              <a:t>，</a:t>
            </a:r>
            <a:endParaRPr lang="en-US" altLang="zh-CN" sz="2400" dirty="0">
              <a:latin typeface="Arial" charset="0"/>
            </a:endParaRPr>
          </a:p>
          <a:p>
            <a:pPr>
              <a:lnSpc>
                <a:spcPct val="115000"/>
              </a:lnSpc>
              <a:defRPr/>
            </a:pPr>
            <a:r>
              <a:rPr lang="en-US" altLang="zh-CN" sz="2400" dirty="0">
                <a:latin typeface="Arial" charset="0"/>
              </a:rPr>
              <a:t>          </a:t>
            </a:r>
            <a:r>
              <a:rPr lang="zh-CN" altLang="en-US" sz="2400" dirty="0">
                <a:latin typeface="Arial" charset="0"/>
              </a:rPr>
              <a:t>取</a:t>
            </a:r>
            <a:endParaRPr lang="en-US" altLang="zh-CN" sz="2400" dirty="0">
              <a:latin typeface="Arial" charset="0"/>
            </a:endParaRPr>
          </a:p>
          <a:p>
            <a:pPr>
              <a:buFont typeface="Arial" pitchFamily="34" charset="0"/>
              <a:buChar char="•"/>
              <a:defRPr/>
            </a:pPr>
            <a:r>
              <a:rPr lang="zh-CN" altLang="en-US" sz="2400" dirty="0">
                <a:latin typeface="Arial" charset="0"/>
              </a:rPr>
              <a:t>（</a:t>
            </a:r>
            <a:r>
              <a:rPr lang="en-US" altLang="zh-CN" sz="2400" dirty="0">
                <a:latin typeface="Arial" charset="0"/>
              </a:rPr>
              <a:t>4</a:t>
            </a:r>
            <a:r>
              <a:rPr lang="zh-CN" altLang="en-US" sz="2400" dirty="0">
                <a:latin typeface="Arial" charset="0"/>
              </a:rPr>
              <a:t>）进行一维搜索．求    </a:t>
            </a:r>
            <a:r>
              <a:rPr lang="zh-CN" altLang="en-US" sz="2400" dirty="0" smtClean="0">
                <a:latin typeface="Arial" charset="0"/>
              </a:rPr>
              <a:t>  ，</a:t>
            </a:r>
            <a:r>
              <a:rPr lang="zh-CN" altLang="en-US" sz="2400" dirty="0">
                <a:latin typeface="Arial" charset="0"/>
              </a:rPr>
              <a:t>使得</a:t>
            </a:r>
          </a:p>
          <a:p>
            <a:pPr>
              <a:defRPr/>
            </a:pPr>
            <a:endParaRPr lang="zh-CN" altLang="en-US" sz="2400" dirty="0">
              <a:latin typeface="Arial" charset="0"/>
            </a:endParaRPr>
          </a:p>
          <a:p>
            <a:pPr>
              <a:defRPr/>
            </a:pPr>
            <a:r>
              <a:rPr lang="zh-CN" altLang="en-US" sz="2400" dirty="0">
                <a:latin typeface="Arial" charset="0"/>
              </a:rPr>
              <a:t>         </a:t>
            </a:r>
            <a:endParaRPr lang="en-US" altLang="zh-CN" sz="2400" dirty="0" smtClean="0">
              <a:latin typeface="Arial" charset="0"/>
            </a:endParaRPr>
          </a:p>
          <a:p>
            <a:pPr>
              <a:defRPr/>
            </a:pPr>
            <a:r>
              <a:rPr lang="en-US" altLang="zh-CN" sz="2400" dirty="0">
                <a:latin typeface="Arial" charset="0"/>
              </a:rPr>
              <a:t> </a:t>
            </a:r>
            <a:r>
              <a:rPr lang="en-US" altLang="zh-CN" sz="2400" dirty="0" smtClean="0">
                <a:latin typeface="Arial" charset="0"/>
              </a:rPr>
              <a:t>          </a:t>
            </a:r>
            <a:r>
              <a:rPr lang="zh-CN" altLang="en-US" sz="2400" dirty="0" smtClean="0">
                <a:latin typeface="Arial" charset="0"/>
              </a:rPr>
              <a:t>令                                      </a:t>
            </a:r>
            <a:r>
              <a:rPr lang="zh-CN" altLang="en-US" sz="2400" dirty="0">
                <a:latin typeface="Arial" charset="0"/>
              </a:rPr>
              <a:t>，转（</a:t>
            </a:r>
            <a:r>
              <a:rPr lang="en-US" altLang="zh-CN" sz="2400" dirty="0">
                <a:latin typeface="Arial" charset="0"/>
              </a:rPr>
              <a:t>2</a:t>
            </a:r>
            <a:r>
              <a:rPr lang="zh-CN" altLang="en-US" sz="2400" dirty="0">
                <a:latin typeface="Arial" charset="0"/>
              </a:rPr>
              <a:t>）．  </a:t>
            </a:r>
          </a:p>
          <a:p>
            <a:pPr>
              <a:lnSpc>
                <a:spcPct val="115000"/>
              </a:lnSpc>
              <a:defRPr/>
            </a:pPr>
            <a:endParaRPr lang="zh-CN" altLang="en-US" sz="2400" dirty="0">
              <a:latin typeface="Arial" charset="0"/>
            </a:endParaRPr>
          </a:p>
          <a:p>
            <a:pPr>
              <a:defRPr/>
            </a:pPr>
            <a:r>
              <a:rPr lang="zh-CN" altLang="en-US" sz="2400" dirty="0">
                <a:latin typeface="Arial" charset="0"/>
              </a:rPr>
              <a:t>      </a:t>
            </a:r>
          </a:p>
        </p:txBody>
      </p:sp>
      <p:graphicFrame>
        <p:nvGraphicFramePr>
          <p:cNvPr id="1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7987626"/>
              </p:ext>
            </p:extLst>
          </p:nvPr>
        </p:nvGraphicFramePr>
        <p:xfrm>
          <a:off x="2482382" y="1830716"/>
          <a:ext cx="658813" cy="357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306" name="公式" r:id="rId3" imgW="355446" imgH="190417" progId="Equation.3">
                  <p:embed/>
                </p:oleObj>
              </mc:Choice>
              <mc:Fallback>
                <p:oleObj name="公式" r:id="rId3" imgW="355446" imgH="190417" progId="Equation.3">
                  <p:embed/>
                  <p:pic>
                    <p:nvPicPr>
                      <p:cNvPr id="185349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2382" y="1830716"/>
                        <a:ext cx="658813" cy="3571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563799"/>
              </p:ext>
            </p:extLst>
          </p:nvPr>
        </p:nvGraphicFramePr>
        <p:xfrm>
          <a:off x="4468659" y="1844550"/>
          <a:ext cx="801687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307" name="Equation" r:id="rId5" imgW="419040" imgH="203040" progId="Equation.DSMT4">
                  <p:embed/>
                </p:oleObj>
              </mc:Choice>
              <mc:Fallback>
                <p:oleObj name="Equation" r:id="rId5" imgW="419040" imgH="203040" progId="Equation.DSMT4">
                  <p:embed/>
                  <p:pic>
                    <p:nvPicPr>
                      <p:cNvPr id="185351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68659" y="1844550"/>
                        <a:ext cx="801687" cy="390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083202"/>
              </p:ext>
            </p:extLst>
          </p:nvPr>
        </p:nvGraphicFramePr>
        <p:xfrm>
          <a:off x="6840031" y="1874214"/>
          <a:ext cx="7731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308" name="Equation" r:id="rId7" imgW="431640" imgH="203040" progId="Equation.DSMT4">
                  <p:embed/>
                </p:oleObj>
              </mc:Choice>
              <mc:Fallback>
                <p:oleObj name="Equation" r:id="rId7" imgW="431640" imgH="203040" progId="Equation.DSMT4">
                  <p:embed/>
                  <p:pic>
                    <p:nvPicPr>
                      <p:cNvPr id="185353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0031" y="1874214"/>
                        <a:ext cx="7731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4086626"/>
              </p:ext>
            </p:extLst>
          </p:nvPr>
        </p:nvGraphicFramePr>
        <p:xfrm>
          <a:off x="8548534" y="1878341"/>
          <a:ext cx="341313" cy="309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309" name="Equation" r:id="rId9" imgW="152280" imgH="139680" progId="Equation.DSMT4">
                  <p:embed/>
                </p:oleObj>
              </mc:Choice>
              <mc:Fallback>
                <p:oleObj name="Equation" r:id="rId9" imgW="152280" imgH="139680" progId="Equation.DSMT4">
                  <p:embed/>
                  <p:pic>
                    <p:nvPicPr>
                      <p:cNvPr id="185355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48534" y="1878341"/>
                        <a:ext cx="341313" cy="3095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8681067"/>
              </p:ext>
            </p:extLst>
          </p:nvPr>
        </p:nvGraphicFramePr>
        <p:xfrm>
          <a:off x="2898974" y="2234734"/>
          <a:ext cx="382587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310" name="Equation" r:id="rId11" imgW="266400" imgH="228600" progId="Equation.DSMT4">
                  <p:embed/>
                </p:oleObj>
              </mc:Choice>
              <mc:Fallback>
                <p:oleObj name="Equation" r:id="rId11" imgW="266400" imgH="228600" progId="Equation.DSMT4">
                  <p:embed/>
                  <p:pic>
                    <p:nvPicPr>
                      <p:cNvPr id="185357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8974" y="2234734"/>
                        <a:ext cx="382587" cy="460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3819337"/>
              </p:ext>
            </p:extLst>
          </p:nvPr>
        </p:nvGraphicFramePr>
        <p:xfrm>
          <a:off x="3660888" y="2249022"/>
          <a:ext cx="698500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311" name="Equation" r:id="rId13" imgW="380880" imgH="177480" progId="Equation.DSMT4">
                  <p:embed/>
                </p:oleObj>
              </mc:Choice>
              <mc:Fallback>
                <p:oleObj name="Equation" r:id="rId13" imgW="380880" imgH="177480" progId="Equation.DSMT4">
                  <p:embed/>
                  <p:pic>
                    <p:nvPicPr>
                      <p:cNvPr id="185359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0888" y="2249022"/>
                        <a:ext cx="698500" cy="390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7016328"/>
              </p:ext>
            </p:extLst>
          </p:nvPr>
        </p:nvGraphicFramePr>
        <p:xfrm>
          <a:off x="3864096" y="2637959"/>
          <a:ext cx="1812925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312" name="公式" r:id="rId15" imgW="977476" imgH="203112" progId="Equation.3">
                  <p:embed/>
                </p:oleObj>
              </mc:Choice>
              <mc:Fallback>
                <p:oleObj name="公式" r:id="rId15" imgW="977476" imgH="203112" progId="Equation.3">
                  <p:embed/>
                  <p:pic>
                    <p:nvPicPr>
                      <p:cNvPr id="185361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4096" y="2637959"/>
                        <a:ext cx="1812925" cy="500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0779893"/>
              </p:ext>
            </p:extLst>
          </p:nvPr>
        </p:nvGraphicFramePr>
        <p:xfrm>
          <a:off x="6362987" y="2637959"/>
          <a:ext cx="1727200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313" name="公式" r:id="rId17" imgW="812447" imgH="203112" progId="Equation.3">
                  <p:embed/>
                </p:oleObj>
              </mc:Choice>
              <mc:Fallback>
                <p:oleObj name="公式" r:id="rId17" imgW="812447" imgH="203112" progId="Equation.3">
                  <p:embed/>
                  <p:pic>
                    <p:nvPicPr>
                      <p:cNvPr id="185363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62987" y="2637959"/>
                        <a:ext cx="1727200" cy="425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3004066"/>
              </p:ext>
            </p:extLst>
          </p:nvPr>
        </p:nvGraphicFramePr>
        <p:xfrm>
          <a:off x="2898974" y="3026898"/>
          <a:ext cx="576263" cy="525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314" name="公式" r:id="rId19" imgW="215713" imgH="203024" progId="Equation.3">
                  <p:embed/>
                </p:oleObj>
              </mc:Choice>
              <mc:Fallback>
                <p:oleObj name="公式" r:id="rId19" imgW="215713" imgH="203024" progId="Equation.3">
                  <p:embed/>
                  <p:pic>
                    <p:nvPicPr>
                      <p:cNvPr id="185365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8974" y="3026898"/>
                        <a:ext cx="576263" cy="5254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9528171"/>
              </p:ext>
            </p:extLst>
          </p:nvPr>
        </p:nvGraphicFramePr>
        <p:xfrm>
          <a:off x="4566165" y="3519362"/>
          <a:ext cx="2952750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315" name="公式" r:id="rId21" imgW="1384300" imgH="203200" progId="Equation.3">
                  <p:embed/>
                </p:oleObj>
              </mc:Choice>
              <mc:Fallback>
                <p:oleObj name="公式" r:id="rId21" imgW="1384300" imgH="203200" progId="Equation.3">
                  <p:embed/>
                  <p:pic>
                    <p:nvPicPr>
                      <p:cNvPr id="185367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6165" y="3519362"/>
                        <a:ext cx="2952750" cy="428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429132"/>
              </p:ext>
            </p:extLst>
          </p:nvPr>
        </p:nvGraphicFramePr>
        <p:xfrm>
          <a:off x="3931244" y="4300431"/>
          <a:ext cx="500062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316" name="公式" r:id="rId23" imgW="139639" imgH="203112" progId="Equation.3">
                  <p:embed/>
                </p:oleObj>
              </mc:Choice>
              <mc:Fallback>
                <p:oleObj name="公式" r:id="rId23" imgW="139639" imgH="203112" progId="Equation.3">
                  <p:embed/>
                  <p:pic>
                    <p:nvPicPr>
                      <p:cNvPr id="185372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1244" y="4300431"/>
                        <a:ext cx="500062" cy="5000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7163666"/>
              </p:ext>
            </p:extLst>
          </p:nvPr>
        </p:nvGraphicFramePr>
        <p:xfrm>
          <a:off x="2063412" y="4824940"/>
          <a:ext cx="4786312" cy="58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317" name="公式" r:id="rId25" imgW="1828800" imgH="266700" progId="Equation.3">
                  <p:embed/>
                </p:oleObj>
              </mc:Choice>
              <mc:Fallback>
                <p:oleObj name="公式" r:id="rId25" imgW="1828800" imgH="266700" progId="Equation.3">
                  <p:embed/>
                  <p:pic>
                    <p:nvPicPr>
                      <p:cNvPr id="185373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412" y="4824940"/>
                        <a:ext cx="4786312" cy="588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3274036"/>
              </p:ext>
            </p:extLst>
          </p:nvPr>
        </p:nvGraphicFramePr>
        <p:xfrm>
          <a:off x="1707538" y="5438487"/>
          <a:ext cx="3095625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318" name="公式" r:id="rId27" imgW="1536033" imgH="203112" progId="Equation.3">
                  <p:embed/>
                </p:oleObj>
              </mc:Choice>
              <mc:Fallback>
                <p:oleObj name="公式" r:id="rId27" imgW="1536033" imgH="203112" progId="Equation.3">
                  <p:embed/>
                  <p:pic>
                    <p:nvPicPr>
                      <p:cNvPr id="185374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7538" y="5438487"/>
                        <a:ext cx="3095625" cy="404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0659243"/>
              </p:ext>
            </p:extLst>
          </p:nvPr>
        </p:nvGraphicFramePr>
        <p:xfrm>
          <a:off x="1860671" y="3851296"/>
          <a:ext cx="3816350" cy="48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319" name="公式" r:id="rId29" imgW="1562100" imgH="203200" progId="Equation.3">
                  <p:embed/>
                </p:oleObj>
              </mc:Choice>
              <mc:Fallback>
                <p:oleObj name="公式" r:id="rId29" imgW="1562100" imgH="203200" progId="Equation.3">
                  <p:embed/>
                  <p:pic>
                    <p:nvPicPr>
                      <p:cNvPr id="185375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0671" y="3851296"/>
                        <a:ext cx="3816350" cy="4873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66533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3"/>
          <p:cNvSpPr>
            <a:spLocks noGrp="1"/>
          </p:cNvSpPr>
          <p:nvPr>
            <p:ph type="title"/>
          </p:nvPr>
        </p:nvSpPr>
        <p:spPr>
          <a:xfrm>
            <a:off x="1032415" y="35347"/>
            <a:ext cx="6215073" cy="549844"/>
          </a:xfrm>
        </p:spPr>
        <p:txBody>
          <a:bodyPr/>
          <a:lstStyle/>
          <a:p>
            <a:r>
              <a:rPr kumimoji="1" lang="zh-CN" alt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修正牛顿法</a:t>
            </a:r>
            <a:endParaRPr kumimoji="1" lang="zh-CN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4803163" y="-47233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4803163" y="2861415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4803163" y="-47233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4803163" y="-47233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11" name="Rectangle 11"/>
          <p:cNvSpPr>
            <a:spLocks noChangeArrowheads="1"/>
          </p:cNvSpPr>
          <p:nvPr/>
        </p:nvSpPr>
        <p:spPr bwMode="auto">
          <a:xfrm>
            <a:off x="4803163" y="-47233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13" name="Rectangle 5"/>
          <p:cNvSpPr>
            <a:spLocks noChangeArrowheads="1"/>
          </p:cNvSpPr>
          <p:nvPr/>
        </p:nvSpPr>
        <p:spPr bwMode="auto">
          <a:xfrm>
            <a:off x="223123" y="2572420"/>
            <a:ext cx="184150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12" name="Text Box 6"/>
          <p:cNvSpPr txBox="1">
            <a:spLocks noChangeArrowheads="1"/>
          </p:cNvSpPr>
          <p:nvPr/>
        </p:nvSpPr>
        <p:spPr bwMode="auto">
          <a:xfrm>
            <a:off x="769129" y="1242220"/>
            <a:ext cx="24638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>
                <a:latin typeface="Arial" panose="020B0604020202020204" pitchFamily="34" charset="0"/>
              </a:rPr>
              <a:t>修正</a:t>
            </a:r>
            <a:r>
              <a:rPr lang="en-US" altLang="zh-CN" sz="2400" dirty="0">
                <a:latin typeface="Arial" panose="020B0604020202020204" pitchFamily="34" charset="0"/>
              </a:rPr>
              <a:t>Newton</a:t>
            </a:r>
            <a:r>
              <a:rPr lang="zh-CN" altLang="en-US" sz="2400" dirty="0">
                <a:latin typeface="Arial" panose="020B0604020202020204" pitchFamily="34" charset="0"/>
              </a:rPr>
              <a:t>法的流程如图所示．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4139952" y="116650"/>
            <a:ext cx="4857750" cy="6572250"/>
            <a:chOff x="4667250" y="71438"/>
            <a:chExt cx="4857750" cy="6572250"/>
          </a:xfrm>
        </p:grpSpPr>
        <p:grpSp>
          <p:nvGrpSpPr>
            <p:cNvPr id="14" name="Group 65"/>
            <p:cNvGrpSpPr>
              <a:grpSpLocks/>
            </p:cNvGrpSpPr>
            <p:nvPr/>
          </p:nvGrpSpPr>
          <p:grpSpPr bwMode="auto">
            <a:xfrm>
              <a:off x="4667250" y="71438"/>
              <a:ext cx="4857750" cy="6562374"/>
              <a:chOff x="3449" y="2509"/>
              <a:chExt cx="5478" cy="7744"/>
            </a:xfrm>
          </p:grpSpPr>
          <p:sp>
            <p:nvSpPr>
              <p:cNvPr id="15" name="AutoShape 66"/>
              <p:cNvSpPr>
                <a:spLocks noChangeArrowheads="1"/>
              </p:cNvSpPr>
              <p:nvPr/>
            </p:nvSpPr>
            <p:spPr bwMode="auto">
              <a:xfrm>
                <a:off x="4545" y="5498"/>
                <a:ext cx="2504" cy="1091"/>
              </a:xfrm>
              <a:prstGeom prst="flowChartDecision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zh-CN"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67"/>
              <p:cNvSpPr>
                <a:spLocks noChangeArrowheads="1"/>
              </p:cNvSpPr>
              <p:nvPr/>
            </p:nvSpPr>
            <p:spPr bwMode="auto">
              <a:xfrm>
                <a:off x="5327" y="4004"/>
                <a:ext cx="940" cy="408"/>
              </a:xfrm>
              <a:prstGeom prst="flowChartProcess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1600">
                    <a:latin typeface="Calibri" panose="020F0502020204030204" pitchFamily="34" charset="0"/>
                  </a:rPr>
                  <a:t>k=0</a:t>
                </a:r>
                <a:endParaRPr lang="zh-CN" altLang="zh-CN" sz="1600">
                  <a:latin typeface="Calibri" panose="020F0502020204030204" pitchFamily="34" charset="0"/>
                </a:endParaRPr>
              </a:p>
            </p:txBody>
          </p:sp>
          <p:sp>
            <p:nvSpPr>
              <p:cNvPr id="18" name="AutoShape 68"/>
              <p:cNvSpPr>
                <a:spLocks noChangeArrowheads="1"/>
              </p:cNvSpPr>
              <p:nvPr/>
            </p:nvSpPr>
            <p:spPr bwMode="auto">
              <a:xfrm>
                <a:off x="4858" y="6857"/>
                <a:ext cx="1878" cy="544"/>
              </a:xfrm>
              <a:prstGeom prst="flowChartProcess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zh-CN" altLang="en-US" sz="1600">
                    <a:latin typeface="Calibri" panose="020F0502020204030204" pitchFamily="34" charset="0"/>
                  </a:rPr>
                  <a:t>计算</a:t>
                </a:r>
              </a:p>
            </p:txBody>
          </p:sp>
          <p:sp>
            <p:nvSpPr>
              <p:cNvPr id="19" name="AutoShape 69"/>
              <p:cNvSpPr>
                <a:spLocks noChangeArrowheads="1"/>
              </p:cNvSpPr>
              <p:nvPr/>
            </p:nvSpPr>
            <p:spPr bwMode="auto">
              <a:xfrm>
                <a:off x="4550" y="9817"/>
                <a:ext cx="2634" cy="436"/>
              </a:xfrm>
              <a:prstGeom prst="flowChartProcess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endParaRPr lang="zh-CN" altLang="zh-CN">
                  <a:latin typeface="Arial" panose="020B0604020202020204" pitchFamily="34" charset="0"/>
                </a:endParaRPr>
              </a:p>
            </p:txBody>
          </p:sp>
          <p:sp>
            <p:nvSpPr>
              <p:cNvPr id="20" name="AutoShape 70"/>
              <p:cNvSpPr>
                <a:spLocks noChangeArrowheads="1"/>
              </p:cNvSpPr>
              <p:nvPr/>
            </p:nvSpPr>
            <p:spPr bwMode="auto">
              <a:xfrm>
                <a:off x="3919" y="8624"/>
                <a:ext cx="3756" cy="815"/>
              </a:xfrm>
              <a:prstGeom prst="flowChartProcess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zh-CN" altLang="en-US" sz="1600">
                    <a:latin typeface="Calibri" panose="020F0502020204030204" pitchFamily="34" charset="0"/>
                  </a:rPr>
                  <a:t>                    求        使</a:t>
                </a:r>
                <a:endParaRPr lang="zh-CN" altLang="en-US" sz="1600">
                  <a:latin typeface="Arial" panose="020B0604020202020204" pitchFamily="34" charset="0"/>
                </a:endParaRPr>
              </a:p>
            </p:txBody>
          </p:sp>
          <p:sp>
            <p:nvSpPr>
              <p:cNvPr id="21" name="AutoShape 71"/>
              <p:cNvSpPr>
                <a:spLocks noChangeArrowheads="1"/>
              </p:cNvSpPr>
              <p:nvPr/>
            </p:nvSpPr>
            <p:spPr bwMode="auto">
              <a:xfrm>
                <a:off x="4550" y="7674"/>
                <a:ext cx="3108" cy="436"/>
              </a:xfrm>
              <a:prstGeom prst="flowChartProcess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endParaRPr lang="zh-CN" altLang="zh-CN">
                  <a:latin typeface="Arial" panose="020B0604020202020204" pitchFamily="34" charset="0"/>
                </a:endParaRPr>
              </a:p>
            </p:txBody>
          </p:sp>
          <p:sp>
            <p:nvSpPr>
              <p:cNvPr id="22" name="AutoShape 72"/>
              <p:cNvSpPr>
                <a:spLocks noChangeArrowheads="1"/>
              </p:cNvSpPr>
              <p:nvPr/>
            </p:nvSpPr>
            <p:spPr bwMode="auto">
              <a:xfrm>
                <a:off x="5014" y="4683"/>
                <a:ext cx="1565" cy="544"/>
              </a:xfrm>
              <a:prstGeom prst="flowChartProcess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1600">
                    <a:latin typeface="Calibri" panose="020F0502020204030204" pitchFamily="34" charset="0"/>
                  </a:rPr>
                  <a:t>   计算</a:t>
                </a:r>
              </a:p>
            </p:txBody>
          </p:sp>
          <p:sp>
            <p:nvSpPr>
              <p:cNvPr id="23" name="Line 73"/>
              <p:cNvSpPr>
                <a:spLocks noChangeShapeType="1"/>
              </p:cNvSpPr>
              <p:nvPr/>
            </p:nvSpPr>
            <p:spPr bwMode="auto">
              <a:xfrm>
                <a:off x="5797" y="2916"/>
                <a:ext cx="1" cy="27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" name="Line 74"/>
              <p:cNvSpPr>
                <a:spLocks noChangeShapeType="1"/>
              </p:cNvSpPr>
              <p:nvPr/>
            </p:nvSpPr>
            <p:spPr bwMode="auto">
              <a:xfrm>
                <a:off x="5797" y="3732"/>
                <a:ext cx="0" cy="27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" name="Line 75"/>
              <p:cNvSpPr>
                <a:spLocks noChangeShapeType="1"/>
              </p:cNvSpPr>
              <p:nvPr/>
            </p:nvSpPr>
            <p:spPr bwMode="auto">
              <a:xfrm>
                <a:off x="5797" y="4411"/>
                <a:ext cx="0" cy="27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" name="Line 76"/>
              <p:cNvSpPr>
                <a:spLocks noChangeShapeType="1"/>
              </p:cNvSpPr>
              <p:nvPr/>
            </p:nvSpPr>
            <p:spPr bwMode="auto">
              <a:xfrm>
                <a:off x="5797" y="5227"/>
                <a:ext cx="0" cy="27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" name="Line 77"/>
              <p:cNvSpPr>
                <a:spLocks noChangeShapeType="1"/>
              </p:cNvSpPr>
              <p:nvPr/>
            </p:nvSpPr>
            <p:spPr bwMode="auto">
              <a:xfrm>
                <a:off x="5797" y="6585"/>
                <a:ext cx="1" cy="26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" name="Line 78"/>
              <p:cNvSpPr>
                <a:spLocks noChangeShapeType="1"/>
              </p:cNvSpPr>
              <p:nvPr/>
            </p:nvSpPr>
            <p:spPr bwMode="auto">
              <a:xfrm>
                <a:off x="5797" y="7401"/>
                <a:ext cx="1" cy="27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" name="Line 79"/>
              <p:cNvSpPr>
                <a:spLocks noChangeShapeType="1"/>
              </p:cNvSpPr>
              <p:nvPr/>
            </p:nvSpPr>
            <p:spPr bwMode="auto">
              <a:xfrm>
                <a:off x="5797" y="8352"/>
                <a:ext cx="1" cy="27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" name="Line 80"/>
              <p:cNvSpPr>
                <a:spLocks noChangeShapeType="1"/>
              </p:cNvSpPr>
              <p:nvPr/>
            </p:nvSpPr>
            <p:spPr bwMode="auto">
              <a:xfrm>
                <a:off x="5797" y="9439"/>
                <a:ext cx="1" cy="27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" name="Line 81"/>
              <p:cNvSpPr>
                <a:spLocks noChangeShapeType="1"/>
              </p:cNvSpPr>
              <p:nvPr/>
            </p:nvSpPr>
            <p:spPr bwMode="auto">
              <a:xfrm>
                <a:off x="8301" y="7808"/>
                <a:ext cx="1" cy="27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" name="AutoShape 82"/>
              <p:cNvSpPr>
                <a:spLocks noChangeArrowheads="1"/>
              </p:cNvSpPr>
              <p:nvPr/>
            </p:nvSpPr>
            <p:spPr bwMode="auto">
              <a:xfrm>
                <a:off x="5171" y="2509"/>
                <a:ext cx="1252" cy="417"/>
              </a:xfrm>
              <a:prstGeom prst="flowChartTerminator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1600">
                    <a:latin typeface="Calibri" panose="020F0502020204030204" pitchFamily="34" charset="0"/>
                  </a:rPr>
                  <a:t>开始</a:t>
                </a:r>
                <a:endParaRPr lang="zh-CN" altLang="en-US" sz="1600">
                  <a:latin typeface="Arial" panose="020B0604020202020204" pitchFamily="34" charset="0"/>
                </a:endParaRPr>
              </a:p>
            </p:txBody>
          </p:sp>
          <p:sp>
            <p:nvSpPr>
              <p:cNvPr id="33" name="AutoShape 83"/>
              <p:cNvSpPr>
                <a:spLocks noChangeArrowheads="1"/>
              </p:cNvSpPr>
              <p:nvPr/>
            </p:nvSpPr>
            <p:spPr bwMode="auto">
              <a:xfrm>
                <a:off x="7675" y="8080"/>
                <a:ext cx="1247" cy="418"/>
              </a:xfrm>
              <a:prstGeom prst="flowChartTerminator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1600">
                    <a:latin typeface="Calibri" panose="020F0502020204030204" pitchFamily="34" charset="0"/>
                  </a:rPr>
                  <a:t>结束</a:t>
                </a:r>
                <a:endParaRPr lang="zh-CN" altLang="en-US" sz="1600">
                  <a:latin typeface="Arial" panose="020B0604020202020204" pitchFamily="34" charset="0"/>
                </a:endParaRPr>
              </a:p>
            </p:txBody>
          </p:sp>
          <p:sp>
            <p:nvSpPr>
              <p:cNvPr id="34" name="AutoShape 84"/>
              <p:cNvSpPr>
                <a:spLocks noChangeArrowheads="1"/>
              </p:cNvSpPr>
              <p:nvPr/>
            </p:nvSpPr>
            <p:spPr bwMode="auto">
              <a:xfrm>
                <a:off x="7831" y="6993"/>
                <a:ext cx="1096" cy="869"/>
              </a:xfrm>
              <a:prstGeom prst="parallelogram">
                <a:avLst>
                  <a:gd name="adj" fmla="val 31530"/>
                </a:avLst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zh-CN">
                  <a:latin typeface="Arial" panose="020B0604020202020204" pitchFamily="34" charset="0"/>
                </a:endParaRPr>
              </a:p>
            </p:txBody>
          </p:sp>
          <p:sp>
            <p:nvSpPr>
              <p:cNvPr id="35" name="AutoShape 85"/>
              <p:cNvSpPr>
                <a:spLocks noChangeArrowheads="1"/>
              </p:cNvSpPr>
              <p:nvPr/>
            </p:nvSpPr>
            <p:spPr bwMode="auto">
              <a:xfrm>
                <a:off x="4545" y="3188"/>
                <a:ext cx="2504" cy="543"/>
              </a:xfrm>
              <a:prstGeom prst="flowChartPreparation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zh-CN" altLang="en-US" sz="1600">
                    <a:latin typeface="Calibri" panose="020F0502020204030204" pitchFamily="34" charset="0"/>
                  </a:rPr>
                  <a:t>选定</a:t>
                </a:r>
                <a:endParaRPr lang="zh-CN" altLang="en-US" sz="1600" baseline="-25000">
                  <a:latin typeface="Calibri" panose="020F0502020204030204" pitchFamily="34" charset="0"/>
                </a:endParaRPr>
              </a:p>
            </p:txBody>
          </p:sp>
          <p:sp>
            <p:nvSpPr>
              <p:cNvPr id="36" name="Rectangle 86"/>
              <p:cNvSpPr>
                <a:spLocks noChangeArrowheads="1"/>
              </p:cNvSpPr>
              <p:nvPr/>
            </p:nvSpPr>
            <p:spPr bwMode="auto">
              <a:xfrm>
                <a:off x="7518" y="5770"/>
                <a:ext cx="467" cy="4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en-US" altLang="zh-CN" sz="1600">
                    <a:latin typeface="Calibri" panose="020F0502020204030204" pitchFamily="34" charset="0"/>
                  </a:rPr>
                  <a:t>Y</a:t>
                </a:r>
                <a:endParaRPr lang="zh-CN" altLang="zh-CN" sz="1600">
                  <a:latin typeface="Arial" panose="020B0604020202020204" pitchFamily="34" charset="0"/>
                </a:endParaRPr>
              </a:p>
            </p:txBody>
          </p:sp>
          <p:sp>
            <p:nvSpPr>
              <p:cNvPr id="37" name="Rectangle 87"/>
              <p:cNvSpPr>
                <a:spLocks noChangeArrowheads="1"/>
              </p:cNvSpPr>
              <p:nvPr/>
            </p:nvSpPr>
            <p:spPr bwMode="auto">
              <a:xfrm>
                <a:off x="5953" y="6450"/>
                <a:ext cx="470" cy="4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en-US" altLang="zh-CN" sz="1600">
                    <a:latin typeface="Calibri" panose="020F0502020204030204" pitchFamily="34" charset="0"/>
                  </a:rPr>
                  <a:t>N</a:t>
                </a:r>
                <a:endParaRPr lang="zh-CN" altLang="zh-CN" sz="1600">
                  <a:latin typeface="Arial" panose="020B0604020202020204" pitchFamily="34" charset="0"/>
                </a:endParaRPr>
              </a:p>
            </p:txBody>
          </p:sp>
          <p:sp>
            <p:nvSpPr>
              <p:cNvPr id="38" name="Line 88"/>
              <p:cNvSpPr>
                <a:spLocks noChangeShapeType="1"/>
              </p:cNvSpPr>
              <p:nvPr/>
            </p:nvSpPr>
            <p:spPr bwMode="auto">
              <a:xfrm flipH="1">
                <a:off x="3449" y="10119"/>
                <a:ext cx="1096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" name="Line 89"/>
              <p:cNvSpPr>
                <a:spLocks noChangeShapeType="1"/>
              </p:cNvSpPr>
              <p:nvPr/>
            </p:nvSpPr>
            <p:spPr bwMode="auto">
              <a:xfrm flipV="1">
                <a:off x="3449" y="4955"/>
                <a:ext cx="0" cy="516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" name="Line 90"/>
              <p:cNvSpPr>
                <a:spLocks noChangeShapeType="1"/>
              </p:cNvSpPr>
              <p:nvPr/>
            </p:nvSpPr>
            <p:spPr bwMode="auto">
              <a:xfrm>
                <a:off x="3449" y="4955"/>
                <a:ext cx="1565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" name="Line 91"/>
              <p:cNvSpPr>
                <a:spLocks noChangeShapeType="1"/>
              </p:cNvSpPr>
              <p:nvPr/>
            </p:nvSpPr>
            <p:spPr bwMode="auto">
              <a:xfrm>
                <a:off x="7049" y="6042"/>
                <a:ext cx="140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" name="Line 92"/>
              <p:cNvSpPr>
                <a:spLocks noChangeShapeType="1"/>
              </p:cNvSpPr>
              <p:nvPr/>
            </p:nvSpPr>
            <p:spPr bwMode="auto">
              <a:xfrm>
                <a:off x="8457" y="6042"/>
                <a:ext cx="0" cy="95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aphicFrame>
          <p:nvGraphicFramePr>
            <p:cNvPr id="43" name="Object 9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42803938"/>
                </p:ext>
              </p:extLst>
            </p:nvPr>
          </p:nvGraphicFramePr>
          <p:xfrm>
            <a:off x="6596064" y="714375"/>
            <a:ext cx="746125" cy="2857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0270" name="Equation" r:id="rId3" imgW="596880" imgH="228600" progId="Equation.DSMT4">
                    <p:embed/>
                  </p:oleObj>
                </mc:Choice>
                <mc:Fallback>
                  <p:oleObj name="Equation" r:id="rId3" imgW="596880" imgH="228600" progId="Equation.DSMT4">
                    <p:embed/>
                    <p:pic>
                      <p:nvPicPr>
                        <p:cNvPr id="186399" name="Object 9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96064" y="714375"/>
                          <a:ext cx="746125" cy="2857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4" name="Object 9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13273377"/>
                </p:ext>
              </p:extLst>
            </p:nvPr>
          </p:nvGraphicFramePr>
          <p:xfrm>
            <a:off x="6667501" y="1928814"/>
            <a:ext cx="714375" cy="314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0271" name="Equation" r:id="rId5" imgW="520560" imgH="228600" progId="Equation.DSMT4">
                    <p:embed/>
                  </p:oleObj>
                </mc:Choice>
                <mc:Fallback>
                  <p:oleObj name="Equation" r:id="rId5" imgW="520560" imgH="228600" progId="Equation.DSMT4">
                    <p:embed/>
                    <p:pic>
                      <p:nvPicPr>
                        <p:cNvPr id="186400" name="Object 9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67501" y="1928814"/>
                          <a:ext cx="714375" cy="3143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5" name="Object 9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03777728"/>
                </p:ext>
              </p:extLst>
            </p:nvPr>
          </p:nvGraphicFramePr>
          <p:xfrm>
            <a:off x="6167439" y="2857501"/>
            <a:ext cx="1304925" cy="428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0272" name="Equation" r:id="rId7" imgW="850680" imgH="279360" progId="Equation.DSMT4">
                    <p:embed/>
                  </p:oleObj>
                </mc:Choice>
                <mc:Fallback>
                  <p:oleObj name="Equation" r:id="rId7" imgW="850680" imgH="279360" progId="Equation.DSMT4">
                    <p:embed/>
                    <p:pic>
                      <p:nvPicPr>
                        <p:cNvPr id="186401" name="Object 9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67439" y="2857501"/>
                          <a:ext cx="1304925" cy="4286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6" name="Object 9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81533673"/>
                </p:ext>
              </p:extLst>
            </p:nvPr>
          </p:nvGraphicFramePr>
          <p:xfrm>
            <a:off x="6453188" y="3786188"/>
            <a:ext cx="1071562" cy="3286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0273" name="Equation" r:id="rId9" imgW="787320" imgH="241200" progId="Equation.DSMT4">
                    <p:embed/>
                  </p:oleObj>
                </mc:Choice>
                <mc:Fallback>
                  <p:oleObj name="Equation" r:id="rId9" imgW="787320" imgH="241200" progId="Equation.DSMT4">
                    <p:embed/>
                    <p:pic>
                      <p:nvPicPr>
                        <p:cNvPr id="186402" name="Object 9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453188" y="3786188"/>
                          <a:ext cx="1071562" cy="3286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" name="Object 2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6778376"/>
                </p:ext>
              </p:extLst>
            </p:nvPr>
          </p:nvGraphicFramePr>
          <p:xfrm>
            <a:off x="5658653" y="4445462"/>
            <a:ext cx="2686050" cy="3836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0274" name="Equation" r:id="rId11" imgW="1663560" imgH="241200" progId="Equation.DSMT4">
                    <p:embed/>
                  </p:oleObj>
                </mc:Choice>
                <mc:Fallback>
                  <p:oleObj name="Equation" r:id="rId11" imgW="1663560" imgH="241200" progId="Equation.DSMT4">
                    <p:embed/>
                    <p:pic>
                      <p:nvPicPr>
                        <p:cNvPr id="186403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58653" y="4445462"/>
                          <a:ext cx="2686050" cy="383657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79611118"/>
                </p:ext>
              </p:extLst>
            </p:nvPr>
          </p:nvGraphicFramePr>
          <p:xfrm>
            <a:off x="6310313" y="5143501"/>
            <a:ext cx="500062" cy="5000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0275" name="公式" r:id="rId13" imgW="139639" imgH="203112" progId="Equation.3">
                    <p:embed/>
                  </p:oleObj>
                </mc:Choice>
                <mc:Fallback>
                  <p:oleObj name="公式" r:id="rId13" imgW="139639" imgH="203112" progId="Equation.3">
                    <p:embed/>
                    <p:pic>
                      <p:nvPicPr>
                        <p:cNvPr id="186404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10313" y="5143501"/>
                          <a:ext cx="500062" cy="5000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9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11862629"/>
                </p:ext>
              </p:extLst>
            </p:nvPr>
          </p:nvGraphicFramePr>
          <p:xfrm>
            <a:off x="5095876" y="5572126"/>
            <a:ext cx="3286125" cy="4048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0276" name="公式" r:id="rId15" imgW="1828800" imgH="266700" progId="Equation.3">
                    <p:embed/>
                  </p:oleObj>
                </mc:Choice>
                <mc:Fallback>
                  <p:oleObj name="公式" r:id="rId15" imgW="1828800" imgH="266700" progId="Equation.3">
                    <p:embed/>
                    <p:pic>
                      <p:nvPicPr>
                        <p:cNvPr id="186405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95876" y="5572126"/>
                          <a:ext cx="3286125" cy="4048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0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77394717"/>
                </p:ext>
              </p:extLst>
            </p:nvPr>
          </p:nvGraphicFramePr>
          <p:xfrm>
            <a:off x="5667376" y="6286500"/>
            <a:ext cx="2214563" cy="3571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0277" name="公式" r:id="rId17" imgW="1536033" imgH="203112" progId="Equation.3">
                    <p:embed/>
                  </p:oleObj>
                </mc:Choice>
                <mc:Fallback>
                  <p:oleObj name="公式" r:id="rId17" imgW="1536033" imgH="203112" progId="Equation.3">
                    <p:embed/>
                    <p:pic>
                      <p:nvPicPr>
                        <p:cNvPr id="186406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67376" y="6286500"/>
                          <a:ext cx="2214563" cy="3571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" name="Object 2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5985506"/>
                </p:ext>
              </p:extLst>
            </p:nvPr>
          </p:nvGraphicFramePr>
          <p:xfrm>
            <a:off x="8847138" y="4071939"/>
            <a:ext cx="392112" cy="3571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0278" name="公式" r:id="rId19" imgW="215713" imgH="203024" progId="Equation.3">
                    <p:embed/>
                  </p:oleObj>
                </mc:Choice>
                <mc:Fallback>
                  <p:oleObj name="公式" r:id="rId19" imgW="215713" imgH="203024" progId="Equation.3">
                    <p:embed/>
                    <p:pic>
                      <p:nvPicPr>
                        <p:cNvPr id="186407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847138" y="4071939"/>
                          <a:ext cx="392112" cy="35718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412491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3"/>
          <p:cNvSpPr>
            <a:spLocks noGrp="1"/>
          </p:cNvSpPr>
          <p:nvPr>
            <p:ph type="title"/>
          </p:nvPr>
        </p:nvSpPr>
        <p:spPr>
          <a:xfrm>
            <a:off x="3152051" y="122383"/>
            <a:ext cx="6215073" cy="549844"/>
          </a:xfrm>
        </p:spPr>
        <p:txBody>
          <a:bodyPr/>
          <a:lstStyle/>
          <a:p>
            <a:r>
              <a:rPr kumimoji="1" lang="zh-CN" alt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修正牛顿法</a:t>
            </a:r>
            <a:endParaRPr kumimoji="1" lang="zh-CN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4803163" y="-47233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4803163" y="2861415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4803163" y="-47233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4803163" y="-47233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11" name="Rectangle 11"/>
          <p:cNvSpPr>
            <a:spLocks noChangeArrowheads="1"/>
          </p:cNvSpPr>
          <p:nvPr/>
        </p:nvSpPr>
        <p:spPr bwMode="auto">
          <a:xfrm>
            <a:off x="4803163" y="-47233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13" name="Rectangle 5"/>
          <p:cNvSpPr>
            <a:spLocks noChangeArrowheads="1"/>
          </p:cNvSpPr>
          <p:nvPr/>
        </p:nvSpPr>
        <p:spPr bwMode="auto">
          <a:xfrm>
            <a:off x="223123" y="2572420"/>
            <a:ext cx="184150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12" name="Text Box 2"/>
          <p:cNvSpPr txBox="1">
            <a:spLocks noChangeArrowheads="1"/>
          </p:cNvSpPr>
          <p:nvPr/>
        </p:nvSpPr>
        <p:spPr bwMode="auto">
          <a:xfrm>
            <a:off x="683568" y="1340768"/>
            <a:ext cx="7848872" cy="437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  <a:buFont typeface="Arial" pitchFamily="34" charset="0"/>
              <a:buChar char="•"/>
              <a:defRPr/>
            </a:pPr>
            <a:r>
              <a:rPr lang="zh-CN" altLang="en-US" sz="2800" dirty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三、修正</a:t>
            </a:r>
            <a:r>
              <a:rPr lang="en-US" altLang="zh-CN" sz="2800" dirty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Newton</a:t>
            </a:r>
            <a:r>
              <a:rPr lang="zh-CN" altLang="en-US" sz="2800" dirty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法有关说明</a:t>
            </a:r>
          </a:p>
          <a:p>
            <a:pPr algn="just">
              <a:lnSpc>
                <a:spcPct val="145000"/>
              </a:lnSpc>
              <a:buFont typeface="Arial" pitchFamily="34" charset="0"/>
              <a:buChar char="•"/>
              <a:defRPr/>
            </a:pPr>
            <a:r>
              <a:rPr lang="zh-CN" altLang="en-US" sz="2400" dirty="0">
                <a:latin typeface="Arial" charset="0"/>
              </a:rPr>
              <a:t>  修正</a:t>
            </a:r>
            <a:r>
              <a:rPr lang="en-US" altLang="zh-CN" sz="2400" dirty="0">
                <a:latin typeface="Arial" charset="0"/>
              </a:rPr>
              <a:t>Newton</a:t>
            </a:r>
            <a:r>
              <a:rPr lang="zh-CN" altLang="en-US" sz="2400" dirty="0">
                <a:latin typeface="Arial" charset="0"/>
              </a:rPr>
              <a:t>法克服了</a:t>
            </a:r>
            <a:r>
              <a:rPr lang="en-US" altLang="zh-CN" sz="2400" dirty="0">
                <a:latin typeface="Arial" charset="0"/>
              </a:rPr>
              <a:t>Newton</a:t>
            </a:r>
            <a:r>
              <a:rPr lang="zh-CN" altLang="en-US" sz="2400" dirty="0">
                <a:latin typeface="Arial" charset="0"/>
              </a:rPr>
              <a:t>法的缺点．特别是，当   </a:t>
            </a:r>
            <a:endParaRPr lang="en-US" altLang="zh-CN" sz="2400" dirty="0">
              <a:latin typeface="Arial" charset="0"/>
            </a:endParaRPr>
          </a:p>
          <a:p>
            <a:pPr algn="just">
              <a:lnSpc>
                <a:spcPct val="145000"/>
              </a:lnSpc>
              <a:defRPr/>
            </a:pPr>
            <a:r>
              <a:rPr lang="en-US" altLang="zh-CN" sz="2400" dirty="0">
                <a:latin typeface="Arial" charset="0"/>
              </a:rPr>
              <a:t>   </a:t>
            </a:r>
            <a:r>
              <a:rPr lang="zh-CN" altLang="en-US" sz="2400" dirty="0">
                <a:latin typeface="Arial" charset="0"/>
              </a:rPr>
              <a:t>迭代点接近于最优解时，此法具有收敛速度快的优点，  </a:t>
            </a:r>
            <a:endParaRPr lang="en-US" altLang="zh-CN" sz="2400" dirty="0">
              <a:latin typeface="Arial" charset="0"/>
            </a:endParaRPr>
          </a:p>
          <a:p>
            <a:pPr algn="just">
              <a:lnSpc>
                <a:spcPct val="145000"/>
              </a:lnSpc>
              <a:defRPr/>
            </a:pPr>
            <a:r>
              <a:rPr lang="en-US" altLang="zh-CN" sz="2400" dirty="0">
                <a:latin typeface="Arial" charset="0"/>
              </a:rPr>
              <a:t>   </a:t>
            </a:r>
            <a:r>
              <a:rPr lang="zh-CN" altLang="en-US" sz="2400" dirty="0">
                <a:latin typeface="Arial" charset="0"/>
              </a:rPr>
              <a:t>对初始点的选择要求不严．</a:t>
            </a:r>
            <a:endParaRPr lang="en-US" altLang="zh-CN" sz="2400" dirty="0">
              <a:latin typeface="Arial" charset="0"/>
            </a:endParaRPr>
          </a:p>
          <a:p>
            <a:pPr algn="just">
              <a:lnSpc>
                <a:spcPct val="145000"/>
              </a:lnSpc>
              <a:buFont typeface="Arial" pitchFamily="34" charset="0"/>
              <a:buChar char="•"/>
              <a:defRPr/>
            </a:pPr>
            <a:r>
              <a:rPr lang="zh-CN" altLang="en-US" sz="2400" dirty="0">
                <a:latin typeface="Arial" charset="0"/>
              </a:rPr>
              <a:t>  但是，修正</a:t>
            </a:r>
            <a:r>
              <a:rPr lang="en-US" altLang="zh-CN" sz="2400" dirty="0">
                <a:latin typeface="Arial" charset="0"/>
              </a:rPr>
              <a:t>Newton</a:t>
            </a:r>
            <a:r>
              <a:rPr lang="zh-CN" altLang="en-US" sz="2400" dirty="0">
                <a:latin typeface="Arial" charset="0"/>
              </a:rPr>
              <a:t>法仍需要计算目标函数的</a:t>
            </a:r>
            <a:r>
              <a:rPr lang="en-US" altLang="zh-CN" sz="2400" dirty="0" err="1">
                <a:latin typeface="Arial" charset="0"/>
              </a:rPr>
              <a:t>Hesse</a:t>
            </a:r>
            <a:r>
              <a:rPr lang="zh-CN" altLang="en-US" sz="2400" dirty="0">
                <a:latin typeface="Arial" charset="0"/>
              </a:rPr>
              <a:t>矩 </a:t>
            </a:r>
            <a:endParaRPr lang="en-US" altLang="zh-CN" sz="2400" dirty="0">
              <a:latin typeface="Arial" charset="0"/>
            </a:endParaRPr>
          </a:p>
          <a:p>
            <a:pPr algn="just">
              <a:lnSpc>
                <a:spcPct val="145000"/>
              </a:lnSpc>
              <a:defRPr/>
            </a:pPr>
            <a:r>
              <a:rPr lang="en-US" altLang="zh-CN" sz="2400" dirty="0">
                <a:latin typeface="Arial" charset="0"/>
              </a:rPr>
              <a:t>  </a:t>
            </a:r>
            <a:r>
              <a:rPr lang="zh-CN" altLang="en-US" sz="2400" dirty="0">
                <a:latin typeface="Arial" charset="0"/>
              </a:rPr>
              <a:t> 阵和逆矩阵，所以求解的计算量和存贮量均很大</a:t>
            </a:r>
            <a:r>
              <a:rPr lang="en-US" altLang="zh-CN" sz="2400" dirty="0">
                <a:latin typeface="Arial" charset="0"/>
              </a:rPr>
              <a:t>.</a:t>
            </a:r>
            <a:r>
              <a:rPr lang="zh-CN" altLang="en-US" sz="2400" dirty="0">
                <a:latin typeface="Arial" charset="0"/>
              </a:rPr>
              <a:t>另外，</a:t>
            </a:r>
            <a:endParaRPr lang="en-US" altLang="zh-CN" sz="2400" dirty="0">
              <a:latin typeface="Arial" charset="0"/>
            </a:endParaRPr>
          </a:p>
          <a:p>
            <a:pPr algn="just">
              <a:lnSpc>
                <a:spcPct val="145000"/>
              </a:lnSpc>
              <a:defRPr/>
            </a:pPr>
            <a:r>
              <a:rPr lang="en-US" altLang="zh-CN" sz="2400" dirty="0">
                <a:latin typeface="Arial" charset="0"/>
              </a:rPr>
              <a:t>  </a:t>
            </a:r>
            <a:r>
              <a:rPr lang="zh-CN" altLang="en-US" sz="2400" dirty="0">
                <a:latin typeface="Arial" charset="0"/>
              </a:rPr>
              <a:t>当目标函数的</a:t>
            </a:r>
            <a:r>
              <a:rPr lang="en-US" altLang="zh-CN" sz="2400" dirty="0" err="1">
                <a:latin typeface="Arial" charset="0"/>
              </a:rPr>
              <a:t>Hesse</a:t>
            </a:r>
            <a:r>
              <a:rPr lang="zh-CN" altLang="en-US" sz="2400" dirty="0">
                <a:latin typeface="Arial" charset="0"/>
              </a:rPr>
              <a:t>矩阵在某点处出现奇异时，迭代将</a:t>
            </a:r>
            <a:endParaRPr lang="en-US" altLang="zh-CN" sz="2400" dirty="0">
              <a:latin typeface="Arial" charset="0"/>
            </a:endParaRPr>
          </a:p>
          <a:p>
            <a:pPr algn="just">
              <a:lnSpc>
                <a:spcPct val="145000"/>
              </a:lnSpc>
              <a:defRPr/>
            </a:pPr>
            <a:r>
              <a:rPr lang="zh-CN" altLang="en-US" sz="2400" dirty="0">
                <a:latin typeface="Arial" charset="0"/>
              </a:rPr>
              <a:t> 无法进行，因此修正</a:t>
            </a:r>
            <a:r>
              <a:rPr lang="en-US" altLang="zh-CN" sz="2400" dirty="0">
                <a:latin typeface="Arial" charset="0"/>
              </a:rPr>
              <a:t>Newton</a:t>
            </a:r>
            <a:r>
              <a:rPr lang="zh-CN" altLang="en-US" sz="2400" dirty="0">
                <a:latin typeface="Arial" charset="0"/>
              </a:rPr>
              <a:t>法仍有相当的局限性．</a:t>
            </a:r>
          </a:p>
        </p:txBody>
      </p:sp>
    </p:spTree>
    <p:extLst>
      <p:ext uri="{BB962C8B-B14F-4D97-AF65-F5344CB8AC3E}">
        <p14:creationId xmlns:p14="http://schemas.microsoft.com/office/powerpoint/2010/main" val="2299370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928927" y="44624"/>
            <a:ext cx="6072230" cy="582594"/>
          </a:xfrm>
        </p:spPr>
        <p:txBody>
          <a:bodyPr/>
          <a:lstStyle/>
          <a:p>
            <a:pPr>
              <a:lnSpc>
                <a:spcPts val="5600"/>
              </a:lnSpc>
            </a:pPr>
            <a:r>
              <a:rPr lang="zh-CN" altLang="en-US" sz="3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无约束最优化方法</a:t>
            </a:r>
          </a:p>
        </p:txBody>
      </p:sp>
      <p:cxnSp>
        <p:nvCxnSpPr>
          <p:cNvPr id="101" name="直接连接符 13"/>
          <p:cNvCxnSpPr>
            <a:cxnSpLocks noChangeShapeType="1"/>
          </p:cNvCxnSpPr>
          <p:nvPr/>
        </p:nvCxnSpPr>
        <p:spPr bwMode="auto">
          <a:xfrm>
            <a:off x="2674912" y="785794"/>
            <a:ext cx="0" cy="5157787"/>
          </a:xfrm>
          <a:prstGeom prst="line">
            <a:avLst/>
          </a:prstGeom>
          <a:noFill/>
          <a:ln w="6350" cmpd="sng">
            <a:solidFill>
              <a:schemeClr val="accent1"/>
            </a:solidFill>
            <a:round/>
            <a:headEnd/>
            <a:tailEnd/>
          </a:ln>
        </p:spPr>
      </p:cxnSp>
      <p:grpSp>
        <p:nvGrpSpPr>
          <p:cNvPr id="3" name="组 2"/>
          <p:cNvGrpSpPr/>
          <p:nvPr/>
        </p:nvGrpSpPr>
        <p:grpSpPr>
          <a:xfrm>
            <a:off x="1643042" y="1849955"/>
            <a:ext cx="6169292" cy="642941"/>
            <a:chOff x="1643042" y="1268760"/>
            <a:chExt cx="6169292" cy="642941"/>
          </a:xfrm>
        </p:grpSpPr>
        <p:sp>
          <p:nvSpPr>
            <p:cNvPr id="102" name="椭圆 14"/>
            <p:cNvSpPr>
              <a:spLocks noChangeArrowheads="1"/>
            </p:cNvSpPr>
            <p:nvPr/>
          </p:nvSpPr>
          <p:spPr bwMode="auto">
            <a:xfrm>
              <a:off x="2606650" y="1497362"/>
              <a:ext cx="128587" cy="12858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 eaLnBrk="1" hangingPunct="1"/>
              <a:endParaRPr lang="zh-CN" altLang="en-US">
                <a:solidFill>
                  <a:srgbClr val="FFFFFF"/>
                </a:solidFill>
              </a:endParaRPr>
            </a:p>
          </p:txBody>
        </p:sp>
        <p:grpSp>
          <p:nvGrpSpPr>
            <p:cNvPr id="4" name="组合 5"/>
            <p:cNvGrpSpPr>
              <a:grpSpLocks/>
            </p:cNvGrpSpPr>
            <p:nvPr/>
          </p:nvGrpSpPr>
          <p:grpSpPr bwMode="auto">
            <a:xfrm>
              <a:off x="1643042" y="1268760"/>
              <a:ext cx="714380" cy="642941"/>
              <a:chOff x="0" y="0"/>
              <a:chExt cx="1275488" cy="1275488"/>
            </a:xfrm>
            <a:solidFill>
              <a:srgbClr val="004182"/>
            </a:solidFill>
          </p:grpSpPr>
          <p:sp>
            <p:nvSpPr>
              <p:cNvPr id="106" name="泪滴形 7"/>
              <p:cNvSpPr>
                <a:spLocks/>
              </p:cNvSpPr>
              <p:nvPr/>
            </p:nvSpPr>
            <p:spPr bwMode="auto">
              <a:xfrm rot="2700000">
                <a:off x="0" y="0"/>
                <a:ext cx="1275488" cy="1275488"/>
              </a:xfrm>
              <a:custGeom>
                <a:avLst/>
                <a:gdLst/>
                <a:ahLst/>
                <a:cxnLst>
                  <a:cxn ang="0">
                    <a:pos x="0" y="637744"/>
                  </a:cxn>
                  <a:cxn ang="0">
                    <a:pos x="637744" y="0"/>
                  </a:cxn>
                  <a:cxn ang="0">
                    <a:pos x="1275488" y="0"/>
                  </a:cxn>
                  <a:cxn ang="0">
                    <a:pos x="1275488" y="637744"/>
                  </a:cxn>
                  <a:cxn ang="0">
                    <a:pos x="637744" y="1275488"/>
                  </a:cxn>
                  <a:cxn ang="0">
                    <a:pos x="0" y="637744"/>
                  </a:cxn>
                </a:cxnLst>
                <a:rect l="0" t="0" r="r" b="b"/>
                <a:pathLst>
                  <a:path w="1275488" h="1275488">
                    <a:moveTo>
                      <a:pt x="0" y="637744"/>
                    </a:moveTo>
                    <a:cubicBezTo>
                      <a:pt x="0" y="285528"/>
                      <a:pt x="285528" y="0"/>
                      <a:pt x="637744" y="0"/>
                    </a:cubicBezTo>
                    <a:lnTo>
                      <a:pt x="1275488" y="0"/>
                    </a:lnTo>
                    <a:lnTo>
                      <a:pt x="1275488" y="637744"/>
                    </a:lnTo>
                    <a:cubicBezTo>
                      <a:pt x="1275488" y="989960"/>
                      <a:pt x="989960" y="1275488"/>
                      <a:pt x="637744" y="1275488"/>
                    </a:cubicBezTo>
                    <a:cubicBezTo>
                      <a:pt x="285528" y="1275488"/>
                      <a:pt x="0" y="989960"/>
                      <a:pt x="0" y="637744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107" name="文本框 17"/>
              <p:cNvSpPr txBox="1">
                <a:spLocks noChangeArrowheads="1"/>
              </p:cNvSpPr>
              <p:nvPr/>
            </p:nvSpPr>
            <p:spPr bwMode="auto">
              <a:xfrm>
                <a:off x="399726" y="231905"/>
                <a:ext cx="875762" cy="74934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/>
                <a:r>
                  <a:rPr lang="en-US" altLang="zh-CN" sz="2400" b="1" dirty="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1</a:t>
                </a:r>
                <a:endParaRPr lang="zh-CN" altLang="en-US" sz="24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sp>
          <p:nvSpPr>
            <p:cNvPr id="114" name="矩形 20"/>
            <p:cNvSpPr>
              <a:spLocks noChangeArrowheads="1"/>
            </p:cNvSpPr>
            <p:nvPr/>
          </p:nvSpPr>
          <p:spPr bwMode="auto">
            <a:xfrm>
              <a:off x="3062261" y="1321150"/>
              <a:ext cx="4750073" cy="526172"/>
            </a:xfrm>
            <a:prstGeom prst="rect">
              <a:avLst/>
            </a:prstGeom>
            <a:solidFill>
              <a:srgbClr val="004182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ctr"/>
              <a:r>
                <a:rPr lang="zh-CN" altLang="en-US" sz="2400" b="1" dirty="0" smtClean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  <a:ea typeface="微软雅黑" pitchFamily="34" charset="-122"/>
                  <a:cs typeface="Times New Roman" panose="02020603050405020304" pitchFamily="18" charset="0"/>
                </a:rPr>
                <a:t>牛顿法</a:t>
              </a:r>
              <a:endParaRPr lang="en-US" altLang="zh-CN" sz="24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" name="组 3"/>
          <p:cNvGrpSpPr/>
          <p:nvPr/>
        </p:nvGrpSpPr>
        <p:grpSpPr>
          <a:xfrm>
            <a:off x="1652667" y="3938187"/>
            <a:ext cx="6169300" cy="642941"/>
            <a:chOff x="1643042" y="2439698"/>
            <a:chExt cx="6169300" cy="642941"/>
          </a:xfrm>
        </p:grpSpPr>
        <p:sp>
          <p:nvSpPr>
            <p:cNvPr id="120" name="椭圆 14"/>
            <p:cNvSpPr>
              <a:spLocks noChangeArrowheads="1"/>
            </p:cNvSpPr>
            <p:nvPr/>
          </p:nvSpPr>
          <p:spPr bwMode="auto">
            <a:xfrm>
              <a:off x="2606650" y="2668300"/>
              <a:ext cx="128587" cy="12858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 eaLnBrk="1" hangingPunct="1"/>
              <a:endParaRPr lang="zh-CN" altLang="en-US">
                <a:solidFill>
                  <a:srgbClr val="FFFFFF"/>
                </a:solidFill>
              </a:endParaRPr>
            </a:p>
          </p:txBody>
        </p:sp>
        <p:grpSp>
          <p:nvGrpSpPr>
            <p:cNvPr id="6" name="组合 5"/>
            <p:cNvGrpSpPr>
              <a:grpSpLocks/>
            </p:cNvGrpSpPr>
            <p:nvPr/>
          </p:nvGrpSpPr>
          <p:grpSpPr bwMode="auto">
            <a:xfrm>
              <a:off x="1643042" y="2439698"/>
              <a:ext cx="714380" cy="642941"/>
              <a:chOff x="0" y="0"/>
              <a:chExt cx="1275488" cy="1275488"/>
            </a:xfrm>
            <a:solidFill>
              <a:srgbClr val="004182"/>
            </a:solidFill>
          </p:grpSpPr>
          <p:sp>
            <p:nvSpPr>
              <p:cNvPr id="122" name="泪滴形 7"/>
              <p:cNvSpPr>
                <a:spLocks/>
              </p:cNvSpPr>
              <p:nvPr/>
            </p:nvSpPr>
            <p:spPr bwMode="auto">
              <a:xfrm rot="2700000">
                <a:off x="0" y="0"/>
                <a:ext cx="1275488" cy="1275488"/>
              </a:xfrm>
              <a:custGeom>
                <a:avLst/>
                <a:gdLst/>
                <a:ahLst/>
                <a:cxnLst>
                  <a:cxn ang="0">
                    <a:pos x="0" y="637744"/>
                  </a:cxn>
                  <a:cxn ang="0">
                    <a:pos x="637744" y="0"/>
                  </a:cxn>
                  <a:cxn ang="0">
                    <a:pos x="1275488" y="0"/>
                  </a:cxn>
                  <a:cxn ang="0">
                    <a:pos x="1275488" y="637744"/>
                  </a:cxn>
                  <a:cxn ang="0">
                    <a:pos x="637744" y="1275488"/>
                  </a:cxn>
                  <a:cxn ang="0">
                    <a:pos x="0" y="637744"/>
                  </a:cxn>
                </a:cxnLst>
                <a:rect l="0" t="0" r="r" b="b"/>
                <a:pathLst>
                  <a:path w="1275488" h="1275488">
                    <a:moveTo>
                      <a:pt x="0" y="637744"/>
                    </a:moveTo>
                    <a:cubicBezTo>
                      <a:pt x="0" y="285528"/>
                      <a:pt x="285528" y="0"/>
                      <a:pt x="637744" y="0"/>
                    </a:cubicBezTo>
                    <a:lnTo>
                      <a:pt x="1275488" y="0"/>
                    </a:lnTo>
                    <a:lnTo>
                      <a:pt x="1275488" y="637744"/>
                    </a:lnTo>
                    <a:cubicBezTo>
                      <a:pt x="1275488" y="989960"/>
                      <a:pt x="989960" y="1275488"/>
                      <a:pt x="637744" y="1275488"/>
                    </a:cubicBezTo>
                    <a:cubicBezTo>
                      <a:pt x="285528" y="1275488"/>
                      <a:pt x="0" y="989960"/>
                      <a:pt x="0" y="637744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123" name="文本框 17"/>
              <p:cNvSpPr txBox="1">
                <a:spLocks noChangeArrowheads="1"/>
              </p:cNvSpPr>
              <p:nvPr/>
            </p:nvSpPr>
            <p:spPr bwMode="auto">
              <a:xfrm>
                <a:off x="399726" y="231904"/>
                <a:ext cx="875762" cy="9158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/>
                <a:r>
                  <a:rPr lang="en-US" altLang="zh-CN" sz="2400" b="1" dirty="0" smtClean="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3</a:t>
                </a:r>
                <a:endParaRPr lang="zh-CN" altLang="en-US" sz="24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sp>
          <p:nvSpPr>
            <p:cNvPr id="124" name="矩形 20"/>
            <p:cNvSpPr>
              <a:spLocks noChangeArrowheads="1"/>
            </p:cNvSpPr>
            <p:nvPr/>
          </p:nvSpPr>
          <p:spPr bwMode="auto">
            <a:xfrm>
              <a:off x="3062261" y="2492088"/>
              <a:ext cx="4750081" cy="526172"/>
            </a:xfrm>
            <a:prstGeom prst="rect">
              <a:avLst/>
            </a:prstGeom>
            <a:solidFill>
              <a:srgbClr val="004182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ctr"/>
              <a:r>
                <a:rPr lang="zh-CN" altLang="en-US" sz="2400" b="1" dirty="0" smtClean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itchFamily="34" charset="-122"/>
                  <a:cs typeface="Times New Roman" panose="02020603050405020304" pitchFamily="18" charset="0"/>
                </a:rPr>
                <a:t>拟牛顿法</a:t>
              </a:r>
              <a:endPara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6" name="组 2"/>
          <p:cNvGrpSpPr/>
          <p:nvPr/>
        </p:nvGrpSpPr>
        <p:grpSpPr>
          <a:xfrm>
            <a:off x="1643042" y="2847209"/>
            <a:ext cx="6169292" cy="642941"/>
            <a:chOff x="1643042" y="1268760"/>
            <a:chExt cx="6169292" cy="642941"/>
          </a:xfrm>
        </p:grpSpPr>
        <p:sp>
          <p:nvSpPr>
            <p:cNvPr id="17" name="椭圆 14"/>
            <p:cNvSpPr>
              <a:spLocks noChangeArrowheads="1"/>
            </p:cNvSpPr>
            <p:nvPr/>
          </p:nvSpPr>
          <p:spPr bwMode="auto">
            <a:xfrm>
              <a:off x="2606650" y="1497362"/>
              <a:ext cx="128587" cy="12858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 eaLnBrk="1" hangingPunct="1"/>
              <a:endParaRPr lang="zh-CN" altLang="en-US">
                <a:solidFill>
                  <a:srgbClr val="FFFFFF"/>
                </a:solidFill>
              </a:endParaRPr>
            </a:p>
          </p:txBody>
        </p:sp>
        <p:grpSp>
          <p:nvGrpSpPr>
            <p:cNvPr id="18" name="组合 5"/>
            <p:cNvGrpSpPr>
              <a:grpSpLocks/>
            </p:cNvGrpSpPr>
            <p:nvPr/>
          </p:nvGrpSpPr>
          <p:grpSpPr bwMode="auto">
            <a:xfrm>
              <a:off x="1643042" y="1268760"/>
              <a:ext cx="714380" cy="642941"/>
              <a:chOff x="0" y="0"/>
              <a:chExt cx="1275488" cy="1275488"/>
            </a:xfrm>
            <a:solidFill>
              <a:srgbClr val="004182"/>
            </a:solidFill>
          </p:grpSpPr>
          <p:sp>
            <p:nvSpPr>
              <p:cNvPr id="20" name="泪滴形 7"/>
              <p:cNvSpPr>
                <a:spLocks/>
              </p:cNvSpPr>
              <p:nvPr/>
            </p:nvSpPr>
            <p:spPr bwMode="auto">
              <a:xfrm rot="2700000">
                <a:off x="0" y="0"/>
                <a:ext cx="1275488" cy="1275488"/>
              </a:xfrm>
              <a:custGeom>
                <a:avLst/>
                <a:gdLst/>
                <a:ahLst/>
                <a:cxnLst>
                  <a:cxn ang="0">
                    <a:pos x="0" y="637744"/>
                  </a:cxn>
                  <a:cxn ang="0">
                    <a:pos x="637744" y="0"/>
                  </a:cxn>
                  <a:cxn ang="0">
                    <a:pos x="1275488" y="0"/>
                  </a:cxn>
                  <a:cxn ang="0">
                    <a:pos x="1275488" y="637744"/>
                  </a:cxn>
                  <a:cxn ang="0">
                    <a:pos x="637744" y="1275488"/>
                  </a:cxn>
                  <a:cxn ang="0">
                    <a:pos x="0" y="637744"/>
                  </a:cxn>
                </a:cxnLst>
                <a:rect l="0" t="0" r="r" b="b"/>
                <a:pathLst>
                  <a:path w="1275488" h="1275488">
                    <a:moveTo>
                      <a:pt x="0" y="637744"/>
                    </a:moveTo>
                    <a:cubicBezTo>
                      <a:pt x="0" y="285528"/>
                      <a:pt x="285528" y="0"/>
                      <a:pt x="637744" y="0"/>
                    </a:cubicBezTo>
                    <a:lnTo>
                      <a:pt x="1275488" y="0"/>
                    </a:lnTo>
                    <a:lnTo>
                      <a:pt x="1275488" y="637744"/>
                    </a:lnTo>
                    <a:cubicBezTo>
                      <a:pt x="1275488" y="989960"/>
                      <a:pt x="989960" y="1275488"/>
                      <a:pt x="637744" y="1275488"/>
                    </a:cubicBezTo>
                    <a:cubicBezTo>
                      <a:pt x="285528" y="1275488"/>
                      <a:pt x="0" y="989960"/>
                      <a:pt x="0" y="637744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21" name="文本框 17"/>
              <p:cNvSpPr txBox="1">
                <a:spLocks noChangeArrowheads="1"/>
              </p:cNvSpPr>
              <p:nvPr/>
            </p:nvSpPr>
            <p:spPr bwMode="auto">
              <a:xfrm>
                <a:off x="399726" y="231904"/>
                <a:ext cx="875762" cy="9158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/>
                <a:r>
                  <a:rPr lang="en-US" altLang="zh-CN" sz="2400" b="1" dirty="0" smtClean="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2</a:t>
                </a:r>
                <a:endParaRPr lang="zh-CN" altLang="en-US" sz="24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sp>
          <p:nvSpPr>
            <p:cNvPr id="19" name="矩形 20"/>
            <p:cNvSpPr>
              <a:spLocks noChangeArrowheads="1"/>
            </p:cNvSpPr>
            <p:nvPr/>
          </p:nvSpPr>
          <p:spPr bwMode="auto">
            <a:xfrm>
              <a:off x="3062261" y="1321150"/>
              <a:ext cx="4750073" cy="526172"/>
            </a:xfrm>
            <a:prstGeom prst="rect">
              <a:avLst/>
            </a:prstGeom>
            <a:solidFill>
              <a:srgbClr val="004182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ctr"/>
              <a:r>
                <a:rPr lang="zh-CN" altLang="en-US" sz="2400" b="1" dirty="0" smtClean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  <a:ea typeface="微软雅黑" pitchFamily="34" charset="-122"/>
                  <a:cs typeface="Times New Roman" panose="02020603050405020304" pitchFamily="18" charset="0"/>
                </a:rPr>
                <a:t>修正牛顿法</a:t>
              </a:r>
              <a:endParaRPr lang="en-US" altLang="zh-CN" sz="24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3" name="组 3"/>
          <p:cNvGrpSpPr/>
          <p:nvPr/>
        </p:nvGrpSpPr>
        <p:grpSpPr>
          <a:xfrm>
            <a:off x="1653030" y="4870750"/>
            <a:ext cx="6169300" cy="642941"/>
            <a:chOff x="1643042" y="2439698"/>
            <a:chExt cx="6169300" cy="642941"/>
          </a:xfrm>
        </p:grpSpPr>
        <p:sp>
          <p:nvSpPr>
            <p:cNvPr id="24" name="椭圆 14"/>
            <p:cNvSpPr>
              <a:spLocks noChangeArrowheads="1"/>
            </p:cNvSpPr>
            <p:nvPr/>
          </p:nvSpPr>
          <p:spPr bwMode="auto">
            <a:xfrm>
              <a:off x="2606650" y="2668300"/>
              <a:ext cx="128587" cy="12858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 eaLnBrk="1" hangingPunct="1"/>
              <a:endParaRPr lang="zh-CN" altLang="en-US">
                <a:solidFill>
                  <a:srgbClr val="FFFFFF"/>
                </a:solidFill>
              </a:endParaRPr>
            </a:p>
          </p:txBody>
        </p:sp>
        <p:grpSp>
          <p:nvGrpSpPr>
            <p:cNvPr id="25" name="组合 24"/>
            <p:cNvGrpSpPr>
              <a:grpSpLocks/>
            </p:cNvGrpSpPr>
            <p:nvPr/>
          </p:nvGrpSpPr>
          <p:grpSpPr bwMode="auto">
            <a:xfrm>
              <a:off x="1643042" y="2439698"/>
              <a:ext cx="714380" cy="642941"/>
              <a:chOff x="0" y="0"/>
              <a:chExt cx="1275488" cy="1275488"/>
            </a:xfrm>
            <a:solidFill>
              <a:srgbClr val="004182"/>
            </a:solidFill>
          </p:grpSpPr>
          <p:sp>
            <p:nvSpPr>
              <p:cNvPr id="27" name="泪滴形 7"/>
              <p:cNvSpPr>
                <a:spLocks/>
              </p:cNvSpPr>
              <p:nvPr/>
            </p:nvSpPr>
            <p:spPr bwMode="auto">
              <a:xfrm rot="2700000">
                <a:off x="0" y="0"/>
                <a:ext cx="1275488" cy="1275488"/>
              </a:xfrm>
              <a:custGeom>
                <a:avLst/>
                <a:gdLst/>
                <a:ahLst/>
                <a:cxnLst>
                  <a:cxn ang="0">
                    <a:pos x="0" y="637744"/>
                  </a:cxn>
                  <a:cxn ang="0">
                    <a:pos x="637744" y="0"/>
                  </a:cxn>
                  <a:cxn ang="0">
                    <a:pos x="1275488" y="0"/>
                  </a:cxn>
                  <a:cxn ang="0">
                    <a:pos x="1275488" y="637744"/>
                  </a:cxn>
                  <a:cxn ang="0">
                    <a:pos x="637744" y="1275488"/>
                  </a:cxn>
                  <a:cxn ang="0">
                    <a:pos x="0" y="637744"/>
                  </a:cxn>
                </a:cxnLst>
                <a:rect l="0" t="0" r="r" b="b"/>
                <a:pathLst>
                  <a:path w="1275488" h="1275488">
                    <a:moveTo>
                      <a:pt x="0" y="637744"/>
                    </a:moveTo>
                    <a:cubicBezTo>
                      <a:pt x="0" y="285528"/>
                      <a:pt x="285528" y="0"/>
                      <a:pt x="637744" y="0"/>
                    </a:cubicBezTo>
                    <a:lnTo>
                      <a:pt x="1275488" y="0"/>
                    </a:lnTo>
                    <a:lnTo>
                      <a:pt x="1275488" y="637744"/>
                    </a:lnTo>
                    <a:cubicBezTo>
                      <a:pt x="1275488" y="989960"/>
                      <a:pt x="989960" y="1275488"/>
                      <a:pt x="637744" y="1275488"/>
                    </a:cubicBezTo>
                    <a:cubicBezTo>
                      <a:pt x="285528" y="1275488"/>
                      <a:pt x="0" y="989960"/>
                      <a:pt x="0" y="637744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28" name="文本框 17"/>
              <p:cNvSpPr txBox="1">
                <a:spLocks noChangeArrowheads="1"/>
              </p:cNvSpPr>
              <p:nvPr/>
            </p:nvSpPr>
            <p:spPr bwMode="auto">
              <a:xfrm>
                <a:off x="399726" y="231904"/>
                <a:ext cx="875762" cy="9158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/>
                <a:r>
                  <a:rPr lang="en-US" altLang="zh-CN" sz="2400" b="1" dirty="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4</a:t>
                </a:r>
                <a:endParaRPr lang="zh-CN" altLang="en-US" sz="24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sp>
          <p:nvSpPr>
            <p:cNvPr id="26" name="矩形 20"/>
            <p:cNvSpPr>
              <a:spLocks noChangeArrowheads="1"/>
            </p:cNvSpPr>
            <p:nvPr/>
          </p:nvSpPr>
          <p:spPr bwMode="auto">
            <a:xfrm>
              <a:off x="3062261" y="2492088"/>
              <a:ext cx="4750081" cy="526172"/>
            </a:xfrm>
            <a:prstGeom prst="rect">
              <a:avLst/>
            </a:prstGeom>
            <a:solidFill>
              <a:srgbClr val="004182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ctr"/>
              <a:r>
                <a:rPr lang="zh-CN" altLang="en-US" sz="2400" b="1" dirty="0" smtClean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  <a:ea typeface="微软雅黑" pitchFamily="34" charset="-122"/>
                  <a:cs typeface="Times New Roman" panose="02020603050405020304" pitchFamily="18" charset="0"/>
                </a:rPr>
                <a:t>对比和举例</a:t>
              </a:r>
              <a:endParaRPr lang="en-US" altLang="zh-CN" sz="24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68322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3"/>
          <p:cNvSpPr>
            <a:spLocks noGrp="1"/>
          </p:cNvSpPr>
          <p:nvPr>
            <p:ph type="title"/>
          </p:nvPr>
        </p:nvSpPr>
        <p:spPr>
          <a:xfrm>
            <a:off x="2771800" y="85816"/>
            <a:ext cx="6215073" cy="549844"/>
          </a:xfrm>
        </p:spPr>
        <p:txBody>
          <a:bodyPr/>
          <a:lstStyle/>
          <a:p>
            <a:r>
              <a:rPr kumimoji="1" lang="zh-CN" alt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拟牛顿法</a:t>
            </a:r>
            <a:endParaRPr kumimoji="1" lang="zh-CN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4803163" y="-47233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4803163" y="2861415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4803163" y="-47233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4803163" y="-47233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11" name="Rectangle 11"/>
          <p:cNvSpPr>
            <a:spLocks noChangeArrowheads="1"/>
          </p:cNvSpPr>
          <p:nvPr/>
        </p:nvSpPr>
        <p:spPr bwMode="auto">
          <a:xfrm>
            <a:off x="4803163" y="-47233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13" name="Rectangle 5"/>
          <p:cNvSpPr>
            <a:spLocks noChangeArrowheads="1"/>
          </p:cNvSpPr>
          <p:nvPr/>
        </p:nvSpPr>
        <p:spPr bwMode="auto">
          <a:xfrm>
            <a:off x="223123" y="2572420"/>
            <a:ext cx="184150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14" name="Rectangle 3"/>
          <p:cNvSpPr txBox="1">
            <a:spLocks noChangeArrowheads="1"/>
          </p:cNvSpPr>
          <p:nvPr/>
        </p:nvSpPr>
        <p:spPr>
          <a:xfrm>
            <a:off x="407273" y="1556792"/>
            <a:ext cx="8532440" cy="351948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 smtClean="0"/>
              <a:t>人们希望寻找一种算法既可以保持</a:t>
            </a:r>
            <a:r>
              <a:rPr lang="en-US" altLang="zh-CN" sz="2400" dirty="0" smtClean="0"/>
              <a:t>Newton</a:t>
            </a:r>
            <a:r>
              <a:rPr lang="zh-CN" altLang="en-US" sz="2400" dirty="0" smtClean="0"/>
              <a:t>法收敛速度快的优点，又可以摆脱关于</a:t>
            </a:r>
            <a:r>
              <a:rPr lang="en-US" altLang="zh-CN" sz="2400" dirty="0" smtClean="0"/>
              <a:t>Hesse</a:t>
            </a:r>
            <a:r>
              <a:rPr lang="zh-CN" altLang="en-US" sz="2400" dirty="0" smtClean="0"/>
              <a:t>矩阵的计算，这就是本节要给大家介绍的拟牛顿法</a:t>
            </a:r>
            <a:r>
              <a:rPr lang="zh-CN" altLang="en-US" sz="2400" b="1" dirty="0" smtClean="0"/>
              <a:t>．</a:t>
            </a:r>
            <a:endParaRPr lang="en-US" altLang="zh-CN" sz="2400" b="1" dirty="0" smtClean="0"/>
          </a:p>
          <a:p>
            <a:pPr>
              <a:lnSpc>
                <a:spcPct val="150000"/>
              </a:lnSpc>
            </a:pPr>
            <a:endParaRPr lang="zh-CN" altLang="en-US" sz="1600" b="1" dirty="0" smtClean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拟牛顿法</a:t>
            </a:r>
            <a:r>
              <a:rPr lang="zh-CN" altLang="en-US" sz="2400" dirty="0" smtClean="0"/>
              <a:t>是一种非常好的方法．其中</a:t>
            </a:r>
            <a:r>
              <a:rPr lang="en-US" altLang="zh-CN" sz="2400" b="1" dirty="0" smtClean="0"/>
              <a:t>DFP</a:t>
            </a:r>
            <a:r>
              <a:rPr lang="zh-CN" altLang="en-US" sz="2400" b="1" dirty="0" smtClean="0"/>
              <a:t>算法</a:t>
            </a:r>
            <a:r>
              <a:rPr lang="zh-CN" altLang="en-US" sz="2400" dirty="0" smtClean="0"/>
              <a:t>和</a:t>
            </a:r>
            <a:r>
              <a:rPr lang="en-US" altLang="zh-CN" sz="2400" b="1" dirty="0" smtClean="0"/>
              <a:t>BFGS</a:t>
            </a:r>
            <a:r>
              <a:rPr lang="zh-CN" altLang="en-US" sz="2400" b="1" dirty="0" smtClean="0"/>
              <a:t>算法</a:t>
            </a:r>
            <a:r>
              <a:rPr lang="zh-CN" altLang="en-US" sz="2400" dirty="0" smtClean="0"/>
              <a:t>，可以说直到目前为止在不用</a:t>
            </a:r>
            <a:r>
              <a:rPr lang="en-US" altLang="zh-CN" sz="2400" dirty="0" smtClean="0"/>
              <a:t>Hesse</a:t>
            </a:r>
            <a:r>
              <a:rPr lang="zh-CN" altLang="en-US" sz="2400" dirty="0" smtClean="0"/>
              <a:t>矩阵的方法中是最好的算法．</a:t>
            </a:r>
          </a:p>
        </p:txBody>
      </p:sp>
    </p:spTree>
    <p:extLst>
      <p:ext uri="{BB962C8B-B14F-4D97-AF65-F5344CB8AC3E}">
        <p14:creationId xmlns:p14="http://schemas.microsoft.com/office/powerpoint/2010/main" val="204592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3"/>
          <p:cNvSpPr>
            <a:spLocks noGrp="1"/>
          </p:cNvSpPr>
          <p:nvPr>
            <p:ph type="title"/>
          </p:nvPr>
        </p:nvSpPr>
        <p:spPr>
          <a:xfrm>
            <a:off x="2771800" y="85816"/>
            <a:ext cx="6215073" cy="549844"/>
          </a:xfrm>
        </p:spPr>
        <p:txBody>
          <a:bodyPr/>
          <a:lstStyle/>
          <a:p>
            <a:r>
              <a:rPr kumimoji="1" lang="zh-CN" alt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拟牛顿法</a:t>
            </a:r>
            <a:endParaRPr kumimoji="1" lang="zh-CN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4803163" y="-103549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4803163" y="2298255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4803163" y="-103549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4803163" y="-103549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11" name="Rectangle 11"/>
          <p:cNvSpPr>
            <a:spLocks noChangeArrowheads="1"/>
          </p:cNvSpPr>
          <p:nvPr/>
        </p:nvSpPr>
        <p:spPr bwMode="auto">
          <a:xfrm>
            <a:off x="4803163" y="-103549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13" name="Rectangle 5"/>
          <p:cNvSpPr>
            <a:spLocks noChangeArrowheads="1"/>
          </p:cNvSpPr>
          <p:nvPr/>
        </p:nvSpPr>
        <p:spPr bwMode="auto">
          <a:xfrm>
            <a:off x="223123" y="2009260"/>
            <a:ext cx="184150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12" name="Text Box 2"/>
          <p:cNvSpPr txBox="1">
            <a:spLocks noChangeArrowheads="1"/>
          </p:cNvSpPr>
          <p:nvPr/>
        </p:nvSpPr>
        <p:spPr bwMode="auto">
          <a:xfrm>
            <a:off x="142875" y="937028"/>
            <a:ext cx="9001125" cy="52568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lnSpc>
                <a:spcPct val="135000"/>
              </a:lnSpc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zh-CN" altLang="en-US" sz="3200" dirty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rPr>
              <a:t>一</a:t>
            </a:r>
            <a:r>
              <a:rPr lang="zh-CN" altLang="en-US" sz="3200" dirty="0" smtClean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rPr>
              <a:t>、</a:t>
            </a:r>
            <a:r>
              <a:rPr lang="zh-CN" altLang="en-US" sz="3200" dirty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拟牛顿法基本原理</a:t>
            </a:r>
          </a:p>
          <a:p>
            <a:pPr>
              <a:lnSpc>
                <a:spcPct val="125000"/>
              </a:lnSpc>
              <a:defRPr/>
            </a:pPr>
            <a:r>
              <a:rPr lang="zh-CN" altLang="en-US" sz="2400" dirty="0">
                <a:latin typeface="Arial" charset="0"/>
                <a:ea typeface="宋体" charset="-122"/>
              </a:rPr>
              <a:t> </a:t>
            </a:r>
            <a:r>
              <a:rPr lang="zh-CN" altLang="en-US" sz="2800" dirty="0">
                <a:latin typeface="Arial" charset="0"/>
                <a:ea typeface="宋体" charset="-122"/>
              </a:rPr>
              <a:t>在</a:t>
            </a:r>
            <a:r>
              <a:rPr lang="en-US" altLang="zh-CN" sz="2800" dirty="0">
                <a:latin typeface="Arial" charset="0"/>
                <a:ea typeface="宋体" charset="-122"/>
              </a:rPr>
              <a:t>Newton</a:t>
            </a:r>
            <a:r>
              <a:rPr lang="zh-CN" altLang="en-US" sz="2800" dirty="0">
                <a:latin typeface="Arial" charset="0"/>
                <a:ea typeface="宋体" charset="-122"/>
              </a:rPr>
              <a:t>法中，由基本迭代格式</a:t>
            </a:r>
          </a:p>
          <a:p>
            <a:pPr>
              <a:lnSpc>
                <a:spcPct val="125000"/>
              </a:lnSpc>
              <a:defRPr/>
            </a:pPr>
            <a:endParaRPr lang="en-US" altLang="zh-CN" sz="2800" dirty="0">
              <a:latin typeface="Arial" charset="0"/>
              <a:ea typeface="宋体" charset="-122"/>
            </a:endParaRPr>
          </a:p>
          <a:p>
            <a:pPr>
              <a:lnSpc>
                <a:spcPct val="125000"/>
              </a:lnSpc>
              <a:defRPr/>
            </a:pPr>
            <a:r>
              <a:rPr lang="zh-CN" altLang="en-US" sz="2800" dirty="0">
                <a:latin typeface="Arial" charset="0"/>
                <a:ea typeface="宋体" charset="-122"/>
              </a:rPr>
              <a:t>      其中                                                       令</a:t>
            </a:r>
          </a:p>
          <a:p>
            <a:pPr>
              <a:lnSpc>
                <a:spcPct val="125000"/>
              </a:lnSpc>
              <a:defRPr/>
            </a:pPr>
            <a:endParaRPr lang="en-US" altLang="zh-CN" sz="2800" dirty="0">
              <a:latin typeface="Arial" charset="0"/>
              <a:ea typeface="宋体" charset="-122"/>
            </a:endParaRPr>
          </a:p>
          <a:p>
            <a:pPr>
              <a:lnSpc>
                <a:spcPct val="125000"/>
              </a:lnSpc>
              <a:defRPr/>
            </a:pPr>
            <a:r>
              <a:rPr lang="zh-CN" altLang="en-US" sz="2800" dirty="0">
                <a:latin typeface="Arial" charset="0"/>
                <a:ea typeface="宋体" charset="-122"/>
              </a:rPr>
              <a:t>  于是有</a:t>
            </a:r>
            <a:endParaRPr lang="en-US" altLang="zh-CN" sz="2800" dirty="0">
              <a:latin typeface="Arial" charset="0"/>
              <a:ea typeface="宋体" charset="-122"/>
            </a:endParaRPr>
          </a:p>
          <a:p>
            <a:pPr>
              <a:lnSpc>
                <a:spcPct val="125000"/>
              </a:lnSpc>
              <a:defRPr/>
            </a:pPr>
            <a:r>
              <a:rPr lang="zh-CN" altLang="en-US" sz="2800" dirty="0">
                <a:latin typeface="Arial" charset="0"/>
                <a:ea typeface="宋体" charset="-122"/>
              </a:rPr>
              <a:t>    其中    是初始点，   和      分别是目标函数       在</a:t>
            </a:r>
            <a:endParaRPr lang="en-US" altLang="zh-CN" sz="2800" dirty="0">
              <a:latin typeface="Arial" charset="0"/>
              <a:ea typeface="宋体" charset="-122"/>
            </a:endParaRPr>
          </a:p>
          <a:p>
            <a:pPr>
              <a:lnSpc>
                <a:spcPct val="125000"/>
              </a:lnSpc>
              <a:defRPr/>
            </a:pPr>
            <a:r>
              <a:rPr lang="en-US" altLang="zh-CN" sz="2800" dirty="0">
                <a:latin typeface="Arial" charset="0"/>
                <a:ea typeface="宋体" charset="-122"/>
              </a:rPr>
              <a:t>    </a:t>
            </a:r>
            <a:r>
              <a:rPr lang="zh-CN" altLang="en-US" sz="2800" dirty="0">
                <a:latin typeface="Arial" charset="0"/>
                <a:ea typeface="宋体" charset="-122"/>
              </a:rPr>
              <a:t>点      的梯度和</a:t>
            </a:r>
            <a:r>
              <a:rPr lang="en-US" altLang="zh-CN" sz="2800" dirty="0" err="1">
                <a:latin typeface="Arial" charset="0"/>
                <a:ea typeface="宋体" charset="-122"/>
              </a:rPr>
              <a:t>Hesse</a:t>
            </a:r>
            <a:r>
              <a:rPr lang="zh-CN" altLang="en-US" sz="2800" dirty="0">
                <a:latin typeface="Arial" charset="0"/>
                <a:ea typeface="宋体" charset="-122"/>
              </a:rPr>
              <a:t>矩阵．</a:t>
            </a:r>
          </a:p>
          <a:p>
            <a:pPr>
              <a:defRPr/>
            </a:pPr>
            <a:r>
              <a:rPr lang="zh-CN" altLang="en-US" sz="2400" dirty="0">
                <a:latin typeface="Arial" charset="0"/>
                <a:ea typeface="宋体" charset="-122"/>
              </a:rPr>
              <a:t>			</a:t>
            </a:r>
            <a:r>
              <a:rPr lang="zh-CN" altLang="en-US" dirty="0">
                <a:latin typeface="Arial" charset="0"/>
                <a:ea typeface="宋体" charset="-122"/>
              </a:rPr>
              <a:t>                                                   </a:t>
            </a:r>
          </a:p>
          <a:p>
            <a:pPr>
              <a:defRPr/>
            </a:pPr>
            <a:r>
              <a:rPr lang="zh-CN" altLang="en-US" dirty="0">
                <a:latin typeface="Arial" charset="0"/>
                <a:ea typeface="宋体" charset="-122"/>
              </a:rPr>
              <a:t>                                                                                                                   </a:t>
            </a:r>
          </a:p>
        </p:txBody>
      </p:sp>
      <p:graphicFrame>
        <p:nvGraphicFramePr>
          <p:cNvPr id="1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215896"/>
              </p:ext>
            </p:extLst>
          </p:nvPr>
        </p:nvGraphicFramePr>
        <p:xfrm>
          <a:off x="3429000" y="2151465"/>
          <a:ext cx="2447925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294" name="公式" r:id="rId3" imgW="977476" imgH="203112" progId="Equation.3">
                  <p:embed/>
                </p:oleObj>
              </mc:Choice>
              <mc:Fallback>
                <p:oleObj name="公式" r:id="rId3" imgW="977476" imgH="203112" progId="Equation.3">
                  <p:embed/>
                  <p:pic>
                    <p:nvPicPr>
                      <p:cNvPr id="22118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2151465"/>
                        <a:ext cx="2447925" cy="4746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6433671"/>
              </p:ext>
            </p:extLst>
          </p:nvPr>
        </p:nvGraphicFramePr>
        <p:xfrm>
          <a:off x="1571625" y="2722965"/>
          <a:ext cx="5480050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295" name="Equation" r:id="rId5" imgW="2133360" imgH="241200" progId="Equation.DSMT4">
                  <p:embed/>
                </p:oleObj>
              </mc:Choice>
              <mc:Fallback>
                <p:oleObj name="Equation" r:id="rId5" imgW="2133360" imgH="241200" progId="Equation.DSMT4">
                  <p:embed/>
                  <p:pic>
                    <p:nvPicPr>
                      <p:cNvPr id="22118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1625" y="2722965"/>
                        <a:ext cx="5480050" cy="4841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5304966"/>
              </p:ext>
            </p:extLst>
          </p:nvPr>
        </p:nvGraphicFramePr>
        <p:xfrm>
          <a:off x="2000250" y="3294465"/>
          <a:ext cx="4357688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296" name="公式" r:id="rId7" imgW="1828800" imgH="241300" progId="Equation.3">
                  <p:embed/>
                </p:oleObj>
              </mc:Choice>
              <mc:Fallback>
                <p:oleObj name="公式" r:id="rId7" imgW="1828800" imgH="241300" progId="Equation.3">
                  <p:embed/>
                  <p:pic>
                    <p:nvPicPr>
                      <p:cNvPr id="221189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0250" y="3294465"/>
                        <a:ext cx="4357688" cy="444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4687688"/>
              </p:ext>
            </p:extLst>
          </p:nvPr>
        </p:nvGraphicFramePr>
        <p:xfrm>
          <a:off x="1500188" y="3794528"/>
          <a:ext cx="6715125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297" name="Equation" r:id="rId9" imgW="2971800" imgH="253800" progId="Equation.DSMT4">
                  <p:embed/>
                </p:oleObj>
              </mc:Choice>
              <mc:Fallback>
                <p:oleObj name="Equation" r:id="rId9" imgW="2971800" imgH="253800" progId="Equation.DSMT4">
                  <p:embed/>
                  <p:pic>
                    <p:nvPicPr>
                      <p:cNvPr id="22119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0188" y="3794528"/>
                        <a:ext cx="6715125" cy="5000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7397341"/>
              </p:ext>
            </p:extLst>
          </p:nvPr>
        </p:nvGraphicFramePr>
        <p:xfrm>
          <a:off x="1214438" y="4366028"/>
          <a:ext cx="433387" cy="43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298" name="公式" r:id="rId11" imgW="203024" imgH="203024" progId="Equation.3">
                  <p:embed/>
                </p:oleObj>
              </mc:Choice>
              <mc:Fallback>
                <p:oleObj name="公式" r:id="rId11" imgW="203024" imgH="203024" progId="Equation.3">
                  <p:embed/>
                  <p:pic>
                    <p:nvPicPr>
                      <p:cNvPr id="221191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4438" y="4366028"/>
                        <a:ext cx="433387" cy="4333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6474110"/>
              </p:ext>
            </p:extLst>
          </p:nvPr>
        </p:nvGraphicFramePr>
        <p:xfrm>
          <a:off x="3286125" y="4223153"/>
          <a:ext cx="473075" cy="63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299" name="公式" r:id="rId13" imgW="177569" imgH="202936" progId="Equation.3">
                  <p:embed/>
                </p:oleObj>
              </mc:Choice>
              <mc:Fallback>
                <p:oleObj name="公式" r:id="rId13" imgW="177569" imgH="202936" progId="Equation.3">
                  <p:embed/>
                  <p:pic>
                    <p:nvPicPr>
                      <p:cNvPr id="221192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6125" y="4223153"/>
                        <a:ext cx="473075" cy="631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2572646"/>
              </p:ext>
            </p:extLst>
          </p:nvPr>
        </p:nvGraphicFramePr>
        <p:xfrm>
          <a:off x="4143375" y="4366028"/>
          <a:ext cx="649288" cy="48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300" name="公式" r:id="rId15" imgW="190417" imgH="203112" progId="Equation.3">
                  <p:embed/>
                </p:oleObj>
              </mc:Choice>
              <mc:Fallback>
                <p:oleObj name="公式" r:id="rId15" imgW="190417" imgH="203112" progId="Equation.3">
                  <p:embed/>
                  <p:pic>
                    <p:nvPicPr>
                      <p:cNvPr id="221193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3375" y="4366028"/>
                        <a:ext cx="649288" cy="4810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8689667"/>
              </p:ext>
            </p:extLst>
          </p:nvPr>
        </p:nvGraphicFramePr>
        <p:xfrm>
          <a:off x="7215188" y="4366028"/>
          <a:ext cx="714375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301" name="公式" r:id="rId17" imgW="355446" imgH="190417" progId="Equation.3">
                  <p:embed/>
                </p:oleObj>
              </mc:Choice>
              <mc:Fallback>
                <p:oleObj name="公式" r:id="rId17" imgW="355446" imgH="190417" progId="Equation.3">
                  <p:embed/>
                  <p:pic>
                    <p:nvPicPr>
                      <p:cNvPr id="221194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15188" y="4366028"/>
                        <a:ext cx="714375" cy="4683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4669513"/>
              </p:ext>
            </p:extLst>
          </p:nvPr>
        </p:nvGraphicFramePr>
        <p:xfrm>
          <a:off x="1000125" y="4866090"/>
          <a:ext cx="504825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302" name="公式" r:id="rId19" imgW="215713" imgH="203024" progId="Equation.3">
                  <p:embed/>
                </p:oleObj>
              </mc:Choice>
              <mc:Fallback>
                <p:oleObj name="公式" r:id="rId19" imgW="215713" imgH="203024" progId="Equation.3">
                  <p:embed/>
                  <p:pic>
                    <p:nvPicPr>
                      <p:cNvPr id="221195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0125" y="4866090"/>
                        <a:ext cx="504825" cy="460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59074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3"/>
          <p:cNvSpPr>
            <a:spLocks noGrp="1"/>
          </p:cNvSpPr>
          <p:nvPr>
            <p:ph type="title"/>
          </p:nvPr>
        </p:nvSpPr>
        <p:spPr>
          <a:xfrm>
            <a:off x="2771800" y="85816"/>
            <a:ext cx="6215073" cy="549844"/>
          </a:xfrm>
        </p:spPr>
        <p:txBody>
          <a:bodyPr/>
          <a:lstStyle/>
          <a:p>
            <a:r>
              <a:rPr kumimoji="1" lang="zh-CN" alt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拟牛顿法</a:t>
            </a:r>
            <a:endParaRPr kumimoji="1" lang="zh-CN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4803163" y="-47233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4803163" y="2861415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4803163" y="-47233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4803163" y="-47233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11" name="Rectangle 11"/>
          <p:cNvSpPr>
            <a:spLocks noChangeArrowheads="1"/>
          </p:cNvSpPr>
          <p:nvPr/>
        </p:nvSpPr>
        <p:spPr bwMode="auto">
          <a:xfrm>
            <a:off x="4803163" y="-47233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13" name="Rectangle 5"/>
          <p:cNvSpPr>
            <a:spLocks noChangeArrowheads="1"/>
          </p:cNvSpPr>
          <p:nvPr/>
        </p:nvSpPr>
        <p:spPr bwMode="auto">
          <a:xfrm>
            <a:off x="223123" y="2572420"/>
            <a:ext cx="184150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12" name="Rectangle 18"/>
          <p:cNvSpPr>
            <a:spLocks noChangeArrowheads="1"/>
          </p:cNvSpPr>
          <p:nvPr/>
        </p:nvSpPr>
        <p:spPr bwMode="auto">
          <a:xfrm>
            <a:off x="132892" y="1196752"/>
            <a:ext cx="9001125" cy="439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Arial" panose="020B0604020202020204" pitchFamily="34" charset="0"/>
              </a:rPr>
              <a:t>为了消除这个迭代公式中的</a:t>
            </a:r>
            <a:r>
              <a:rPr lang="en-US" altLang="zh-CN" sz="2800" dirty="0">
                <a:latin typeface="Arial" panose="020B0604020202020204" pitchFamily="34" charset="0"/>
              </a:rPr>
              <a:t>Hesse</a:t>
            </a:r>
            <a:r>
              <a:rPr lang="zh-CN" altLang="en-US" sz="2800" dirty="0">
                <a:latin typeface="Arial" panose="020B0604020202020204" pitchFamily="34" charset="0"/>
              </a:rPr>
              <a:t>逆矩阵     可用某种近似矩阵                来替换它，即构造一个矩阵序列           去逼近</a:t>
            </a:r>
            <a:r>
              <a:rPr lang="en-US" altLang="zh-CN" sz="2800" dirty="0">
                <a:latin typeface="Arial" panose="020B0604020202020204" pitchFamily="34" charset="0"/>
              </a:rPr>
              <a:t>Hesse</a:t>
            </a:r>
            <a:r>
              <a:rPr lang="zh-CN" altLang="en-US" sz="2800" dirty="0">
                <a:latin typeface="Arial" panose="020B0604020202020204" pitchFamily="34" charset="0"/>
              </a:rPr>
              <a:t>逆矩阵序列         ．此时式（</a:t>
            </a:r>
            <a:r>
              <a:rPr lang="en-US" altLang="zh-CN" sz="2800" dirty="0">
                <a:latin typeface="Arial" panose="020B0604020202020204" pitchFamily="34" charset="0"/>
              </a:rPr>
              <a:t>5.26</a:t>
            </a:r>
            <a:r>
              <a:rPr lang="zh-CN" altLang="en-US" sz="2800" dirty="0">
                <a:latin typeface="Arial" panose="020B0604020202020204" pitchFamily="34" charset="0"/>
              </a:rPr>
              <a:t>）变为</a:t>
            </a:r>
            <a:endParaRPr lang="en-US" altLang="zh-CN" sz="2800" dirty="0">
              <a:latin typeface="Arial" panose="020B0604020202020204" pitchFamily="34" charset="0"/>
            </a:endParaRPr>
          </a:p>
          <a:p>
            <a:pPr eaLnBrk="1" hangingPunct="1">
              <a:lnSpc>
                <a:spcPct val="95000"/>
              </a:lnSpc>
            </a:pPr>
            <a:endParaRPr lang="en-US" altLang="zh-CN" sz="2800" dirty="0">
              <a:latin typeface="Arial" panose="020B0604020202020204" pitchFamily="34" charset="0"/>
            </a:endParaRPr>
          </a:p>
          <a:p>
            <a:pPr eaLnBrk="1" hangingPunct="1">
              <a:lnSpc>
                <a:spcPct val="95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Arial" panose="020B0604020202020204" pitchFamily="34" charset="0"/>
              </a:rPr>
              <a:t>事实上</a:t>
            </a:r>
            <a:r>
              <a:rPr lang="en-US" altLang="zh-CN" sz="2800" dirty="0">
                <a:latin typeface="Arial" panose="020B0604020202020204" pitchFamily="34" charset="0"/>
              </a:rPr>
              <a:t>,</a:t>
            </a:r>
            <a:r>
              <a:rPr lang="zh-CN" altLang="en-US" sz="2800" dirty="0">
                <a:latin typeface="Arial" panose="020B0604020202020204" pitchFamily="34" charset="0"/>
              </a:rPr>
              <a:t>式中               无非是确定了第   次迭代的搜索方向</a:t>
            </a:r>
            <a:r>
              <a:rPr lang="en-US" altLang="zh-CN" sz="2800" dirty="0">
                <a:latin typeface="Arial" panose="020B0604020202020204" pitchFamily="34" charset="0"/>
              </a:rPr>
              <a:t>.</a:t>
            </a:r>
            <a:r>
              <a:rPr lang="zh-CN" altLang="en-US" sz="2800" dirty="0">
                <a:latin typeface="Arial" panose="020B0604020202020204" pitchFamily="34" charset="0"/>
              </a:rPr>
              <a:t>为了取得更大的灵活性</a:t>
            </a:r>
            <a:r>
              <a:rPr lang="en-US" altLang="zh-CN" sz="2800" dirty="0">
                <a:latin typeface="Arial" panose="020B0604020202020204" pitchFamily="34" charset="0"/>
              </a:rPr>
              <a:t>,</a:t>
            </a:r>
            <a:r>
              <a:rPr lang="zh-CN" altLang="en-US" sz="2800" dirty="0">
                <a:latin typeface="Arial" panose="020B0604020202020204" pitchFamily="34" charset="0"/>
              </a:rPr>
              <a:t>我们考虑更一般的迭代公式</a:t>
            </a:r>
            <a:endParaRPr lang="en-US" altLang="zh-CN" sz="2800" dirty="0">
              <a:latin typeface="Arial" panose="020B0604020202020204" pitchFamily="34" charset="0"/>
            </a:endParaRPr>
          </a:p>
          <a:p>
            <a:pPr eaLnBrk="1" hangingPunct="1">
              <a:lnSpc>
                <a:spcPct val="95000"/>
              </a:lnSpc>
              <a:buFont typeface="Arial" panose="020B0604020202020204" pitchFamily="34" charset="0"/>
              <a:buChar char="•"/>
            </a:pPr>
            <a:endParaRPr lang="en-US" altLang="zh-CN" sz="2800" dirty="0">
              <a:latin typeface="Arial" panose="020B0604020202020204" pitchFamily="34" charset="0"/>
            </a:endParaRPr>
          </a:p>
          <a:p>
            <a:pPr eaLnBrk="1" hangingPunct="1">
              <a:lnSpc>
                <a:spcPct val="95000"/>
              </a:lnSpc>
              <a:buFont typeface="Arial" panose="020B0604020202020204" pitchFamily="34" charset="0"/>
              <a:buChar char="•"/>
            </a:pPr>
            <a:endParaRPr lang="en-US" altLang="zh-CN" dirty="0">
              <a:latin typeface="Arial" panose="020B0604020202020204" pitchFamily="34" charset="0"/>
            </a:endParaRPr>
          </a:p>
          <a:p>
            <a:pPr eaLnBrk="1" hangingPunct="1">
              <a:lnSpc>
                <a:spcPct val="95000"/>
              </a:lnSpc>
            </a:pPr>
            <a:r>
              <a:rPr lang="zh-CN" altLang="en-US" sz="2800" dirty="0">
                <a:latin typeface="Arial" panose="020B0604020202020204" pitchFamily="34" charset="0"/>
              </a:rPr>
              <a:t>  其中步长因子     通过从      出发沿                  作直线搜   </a:t>
            </a:r>
            <a:endParaRPr lang="en-US" altLang="zh-CN" sz="2800" dirty="0">
              <a:latin typeface="Arial" panose="020B0604020202020204" pitchFamily="34" charset="0"/>
            </a:endParaRPr>
          </a:p>
          <a:p>
            <a:pPr eaLnBrk="1" hangingPunct="1">
              <a:lnSpc>
                <a:spcPct val="95000"/>
              </a:lnSpc>
            </a:pPr>
            <a:r>
              <a:rPr lang="en-US" altLang="zh-CN" sz="2800" dirty="0">
                <a:latin typeface="Arial" panose="020B0604020202020204" pitchFamily="34" charset="0"/>
              </a:rPr>
              <a:t>  </a:t>
            </a:r>
            <a:r>
              <a:rPr lang="zh-CN" altLang="en-US" sz="2800" dirty="0">
                <a:latin typeface="Arial" panose="020B0604020202020204" pitchFamily="34" charset="0"/>
              </a:rPr>
              <a:t>索来确定</a:t>
            </a:r>
          </a:p>
        </p:txBody>
      </p:sp>
      <p:graphicFrame>
        <p:nvGraphicFramePr>
          <p:cNvPr id="14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3402863"/>
              </p:ext>
            </p:extLst>
          </p:nvPr>
        </p:nvGraphicFramePr>
        <p:xfrm>
          <a:off x="6633705" y="1339627"/>
          <a:ext cx="503237" cy="423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342" name="公式" r:id="rId3" imgW="241195" imgH="203112" progId="Equation.3">
                  <p:embed/>
                </p:oleObj>
              </mc:Choice>
              <mc:Fallback>
                <p:oleObj name="公式" r:id="rId3" imgW="241195" imgH="203112" progId="Equation.3">
                  <p:embed/>
                  <p:pic>
                    <p:nvPicPr>
                      <p:cNvPr id="222211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33705" y="1339627"/>
                        <a:ext cx="503237" cy="4238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1539513"/>
              </p:ext>
            </p:extLst>
          </p:nvPr>
        </p:nvGraphicFramePr>
        <p:xfrm>
          <a:off x="1275892" y="1839689"/>
          <a:ext cx="1584325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343" name="公式" r:id="rId5" imgW="761669" imgH="203112" progId="Equation.3">
                  <p:embed/>
                </p:oleObj>
              </mc:Choice>
              <mc:Fallback>
                <p:oleObj name="公式" r:id="rId5" imgW="761669" imgH="203112" progId="Equation.3">
                  <p:embed/>
                  <p:pic>
                    <p:nvPicPr>
                      <p:cNvPr id="222212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5892" y="1839689"/>
                        <a:ext cx="1584325" cy="4175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152898"/>
              </p:ext>
            </p:extLst>
          </p:nvPr>
        </p:nvGraphicFramePr>
        <p:xfrm>
          <a:off x="7848142" y="1768252"/>
          <a:ext cx="714375" cy="617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344" name="Equation" r:id="rId7" imgW="330057" imgH="203112" progId="Equation.DSMT4">
                  <p:embed/>
                </p:oleObj>
              </mc:Choice>
              <mc:Fallback>
                <p:oleObj name="Equation" r:id="rId7" imgW="330057" imgH="203112" progId="Equation.DSMT4">
                  <p:embed/>
                  <p:pic>
                    <p:nvPicPr>
                      <p:cNvPr id="222213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8142" y="1768252"/>
                        <a:ext cx="714375" cy="6175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2199526"/>
              </p:ext>
            </p:extLst>
          </p:nvPr>
        </p:nvGraphicFramePr>
        <p:xfrm>
          <a:off x="4133392" y="2339752"/>
          <a:ext cx="720725" cy="47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345" name="公式" r:id="rId9" imgW="355292" imgH="203024" progId="Equation.3">
                  <p:embed/>
                </p:oleObj>
              </mc:Choice>
              <mc:Fallback>
                <p:oleObj name="公式" r:id="rId9" imgW="355292" imgH="203024" progId="Equation.3">
                  <p:embed/>
                  <p:pic>
                    <p:nvPicPr>
                      <p:cNvPr id="222214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3392" y="2339752"/>
                        <a:ext cx="720725" cy="4778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077404"/>
              </p:ext>
            </p:extLst>
          </p:nvPr>
        </p:nvGraphicFramePr>
        <p:xfrm>
          <a:off x="3347580" y="2768377"/>
          <a:ext cx="2500312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346" name="公式" r:id="rId11" imgW="1066337" imgH="203112" progId="Equation.3">
                  <p:embed/>
                </p:oleObj>
              </mc:Choice>
              <mc:Fallback>
                <p:oleObj name="公式" r:id="rId11" imgW="1066337" imgH="203112" progId="Equation.3">
                  <p:embed/>
                  <p:pic>
                    <p:nvPicPr>
                      <p:cNvPr id="222215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7580" y="2768377"/>
                        <a:ext cx="2500312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3788224"/>
              </p:ext>
            </p:extLst>
          </p:nvPr>
        </p:nvGraphicFramePr>
        <p:xfrm>
          <a:off x="2133142" y="3268439"/>
          <a:ext cx="1584325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347" name="公式" r:id="rId13" imgW="710891" imgH="203112" progId="Equation.3">
                  <p:embed/>
                </p:oleObj>
              </mc:Choice>
              <mc:Fallback>
                <p:oleObj name="公式" r:id="rId13" imgW="710891" imgH="203112" progId="Equation.3">
                  <p:embed/>
                  <p:pic>
                    <p:nvPicPr>
                      <p:cNvPr id="22221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142" y="3268439"/>
                        <a:ext cx="1584325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372841"/>
              </p:ext>
            </p:extLst>
          </p:nvPr>
        </p:nvGraphicFramePr>
        <p:xfrm>
          <a:off x="6133642" y="3268439"/>
          <a:ext cx="368300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348" name="公式" r:id="rId15" imgW="114151" imgH="164885" progId="Equation.3">
                  <p:embed/>
                </p:oleObj>
              </mc:Choice>
              <mc:Fallback>
                <p:oleObj name="公式" r:id="rId15" imgW="114151" imgH="164885" progId="Equation.3">
                  <p:embed/>
                  <p:pic>
                    <p:nvPicPr>
                      <p:cNvPr id="22221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33642" y="3268439"/>
                        <a:ext cx="368300" cy="450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2059502"/>
              </p:ext>
            </p:extLst>
          </p:nvPr>
        </p:nvGraphicFramePr>
        <p:xfrm>
          <a:off x="2418892" y="4125689"/>
          <a:ext cx="4643438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349" name="Equation" r:id="rId17" imgW="2044440" imgH="253800" progId="Equation.DSMT4">
                  <p:embed/>
                </p:oleObj>
              </mc:Choice>
              <mc:Fallback>
                <p:oleObj name="Equation" r:id="rId17" imgW="2044440" imgH="253800" progId="Equation.DSMT4">
                  <p:embed/>
                  <p:pic>
                    <p:nvPicPr>
                      <p:cNvPr id="222219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8892" y="4125689"/>
                        <a:ext cx="4643438" cy="5476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9727866"/>
              </p:ext>
            </p:extLst>
          </p:nvPr>
        </p:nvGraphicFramePr>
        <p:xfrm>
          <a:off x="2490330" y="4625752"/>
          <a:ext cx="50165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350" name="公式" r:id="rId19" imgW="139639" imgH="203112" progId="Equation.3">
                  <p:embed/>
                </p:oleObj>
              </mc:Choice>
              <mc:Fallback>
                <p:oleObj name="公式" r:id="rId19" imgW="139639" imgH="203112" progId="Equation.3">
                  <p:embed/>
                  <p:pic>
                    <p:nvPicPr>
                      <p:cNvPr id="22222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0330" y="4625752"/>
                        <a:ext cx="501650" cy="558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9186518"/>
              </p:ext>
            </p:extLst>
          </p:nvPr>
        </p:nvGraphicFramePr>
        <p:xfrm>
          <a:off x="4101224" y="4659617"/>
          <a:ext cx="576263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351" name="公式" r:id="rId21" imgW="215713" imgH="203024" progId="Equation.3">
                  <p:embed/>
                </p:oleObj>
              </mc:Choice>
              <mc:Fallback>
                <p:oleObj name="公式" r:id="rId21" imgW="215713" imgH="203024" progId="Equation.3">
                  <p:embed/>
                  <p:pic>
                    <p:nvPicPr>
                      <p:cNvPr id="222221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01224" y="4659617"/>
                        <a:ext cx="576263" cy="5254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8765230"/>
              </p:ext>
            </p:extLst>
          </p:nvPr>
        </p:nvGraphicFramePr>
        <p:xfrm>
          <a:off x="5697874" y="4695601"/>
          <a:ext cx="1871662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352" name="公式" r:id="rId23" imgW="710891" imgH="203112" progId="Equation.3">
                  <p:embed/>
                </p:oleObj>
              </mc:Choice>
              <mc:Fallback>
                <p:oleObj name="公式" r:id="rId23" imgW="710891" imgH="203112" progId="Equation.3">
                  <p:embed/>
                  <p:pic>
                    <p:nvPicPr>
                      <p:cNvPr id="222222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97874" y="4695601"/>
                        <a:ext cx="1871662" cy="434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60065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3"/>
          <p:cNvSpPr>
            <a:spLocks noGrp="1"/>
          </p:cNvSpPr>
          <p:nvPr>
            <p:ph type="title"/>
          </p:nvPr>
        </p:nvSpPr>
        <p:spPr>
          <a:xfrm>
            <a:off x="2771800" y="85816"/>
            <a:ext cx="6215073" cy="549844"/>
          </a:xfrm>
        </p:spPr>
        <p:txBody>
          <a:bodyPr/>
          <a:lstStyle/>
          <a:p>
            <a:r>
              <a:rPr kumimoji="1" lang="zh-CN" alt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拟牛顿法</a:t>
            </a:r>
            <a:endParaRPr kumimoji="1" lang="zh-CN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4803163" y="-47233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4803163" y="2861415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4803163" y="-47233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4803163" y="-47233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11" name="Rectangle 11"/>
          <p:cNvSpPr>
            <a:spLocks noChangeArrowheads="1"/>
          </p:cNvSpPr>
          <p:nvPr/>
        </p:nvSpPr>
        <p:spPr bwMode="auto">
          <a:xfrm>
            <a:off x="4803163" y="-47233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13" name="Rectangle 5"/>
          <p:cNvSpPr>
            <a:spLocks noChangeArrowheads="1"/>
          </p:cNvSpPr>
          <p:nvPr/>
        </p:nvSpPr>
        <p:spPr bwMode="auto">
          <a:xfrm>
            <a:off x="223123" y="2572420"/>
            <a:ext cx="184150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12" name="矩形 3"/>
          <p:cNvSpPr>
            <a:spLocks noChangeArrowheads="1"/>
          </p:cNvSpPr>
          <p:nvPr/>
        </p:nvSpPr>
        <p:spPr bwMode="auto">
          <a:xfrm>
            <a:off x="662703" y="1196752"/>
            <a:ext cx="8280920" cy="41549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Arial" panose="020B0604020202020204" pitchFamily="34" charset="0"/>
              </a:rPr>
              <a:t> 式（</a:t>
            </a:r>
            <a:r>
              <a:rPr lang="en-US" altLang="zh-CN" sz="2400" dirty="0">
                <a:latin typeface="Arial" panose="020B0604020202020204" pitchFamily="34" charset="0"/>
              </a:rPr>
              <a:t>5.27</a:t>
            </a:r>
            <a:r>
              <a:rPr lang="zh-CN" altLang="en-US" sz="2400" dirty="0">
                <a:latin typeface="Arial" panose="020B0604020202020204" pitchFamily="34" charset="0"/>
              </a:rPr>
              <a:t>）是代表很广的一类迭代公式</a:t>
            </a:r>
            <a:r>
              <a:rPr lang="en-US" altLang="zh-CN" sz="2400" dirty="0">
                <a:latin typeface="Arial" panose="020B0604020202020204" pitchFamily="34" charset="0"/>
              </a:rPr>
              <a:t>.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Arial" panose="020B0604020202020204" pitchFamily="34" charset="0"/>
              </a:rPr>
              <a:t> 例如</a:t>
            </a:r>
            <a:r>
              <a:rPr lang="en-US" altLang="zh-CN" sz="2400" dirty="0">
                <a:latin typeface="Arial" panose="020B0604020202020204" pitchFamily="34" charset="0"/>
              </a:rPr>
              <a:t>,</a:t>
            </a:r>
            <a:r>
              <a:rPr lang="zh-CN" altLang="en-US" sz="2400" dirty="0" smtClean="0">
                <a:latin typeface="Arial" panose="020B0604020202020204" pitchFamily="34" charset="0"/>
              </a:rPr>
              <a:t>当            </a:t>
            </a:r>
            <a:r>
              <a:rPr lang="zh-CN" altLang="en-US" sz="2400" dirty="0">
                <a:latin typeface="Arial" panose="020B0604020202020204" pitchFamily="34" charset="0"/>
              </a:rPr>
              <a:t>（单位矩阵）时，它变为最速下降法的迭代   </a:t>
            </a:r>
            <a:endParaRPr lang="en-US" altLang="zh-CN" sz="240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2400" dirty="0">
                <a:latin typeface="Arial" panose="020B0604020202020204" pitchFamily="34" charset="0"/>
              </a:rPr>
              <a:t>  </a:t>
            </a:r>
            <a:r>
              <a:rPr lang="zh-CN" altLang="en-US" sz="2400" dirty="0">
                <a:latin typeface="Arial" panose="020B0604020202020204" pitchFamily="34" charset="0"/>
              </a:rPr>
              <a:t>公式．为使     确实与     近似并且有容易计算的特点， </a:t>
            </a:r>
            <a:endParaRPr lang="en-US" altLang="zh-CN" sz="240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2400" dirty="0">
                <a:latin typeface="Arial" panose="020B0604020202020204" pitchFamily="34" charset="0"/>
              </a:rPr>
              <a:t> </a:t>
            </a:r>
            <a:r>
              <a:rPr lang="zh-CN" altLang="en-US" sz="2400" dirty="0">
                <a:latin typeface="Arial" panose="020B0604020202020204" pitchFamily="34" charset="0"/>
              </a:rPr>
              <a:t>必须对  </a:t>
            </a:r>
            <a:r>
              <a:rPr lang="en-US" altLang="zh-CN" sz="2400" dirty="0">
                <a:latin typeface="Arial" panose="020B0604020202020204" pitchFamily="34" charset="0"/>
              </a:rPr>
              <a:t>  </a:t>
            </a:r>
            <a:r>
              <a:rPr lang="zh-CN" altLang="en-US" sz="2400" dirty="0">
                <a:latin typeface="Arial" panose="020B0604020202020204" pitchFamily="34" charset="0"/>
              </a:rPr>
              <a:t>附加某些条件</a:t>
            </a:r>
            <a:r>
              <a:rPr lang="zh-CN" altLang="en-US" sz="2400" dirty="0" smtClean="0">
                <a:latin typeface="Arial" panose="020B0604020202020204" pitchFamily="34" charset="0"/>
              </a:rPr>
              <a:t>：</a:t>
            </a:r>
            <a:endParaRPr lang="zh-CN" altLang="en-US" sz="2400" dirty="0">
              <a:latin typeface="Arial" panose="020B0604020202020204" pitchFamily="34" charset="0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Arial" panose="020B0604020202020204" pitchFamily="34" charset="0"/>
              </a:rPr>
              <a:t>  第一，为保证迭代公式具有下降性质，要求       中的每  </a:t>
            </a:r>
            <a:endParaRPr lang="en-US" altLang="zh-CN" sz="240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2400" dirty="0">
                <a:latin typeface="Arial" panose="020B0604020202020204" pitchFamily="34" charset="0"/>
              </a:rPr>
              <a:t> </a:t>
            </a:r>
            <a:r>
              <a:rPr lang="en-US" altLang="zh-CN" sz="2400" dirty="0" smtClean="0">
                <a:latin typeface="Arial" panose="020B0604020202020204" pitchFamily="34" charset="0"/>
              </a:rPr>
              <a:t>   </a:t>
            </a:r>
            <a:r>
              <a:rPr lang="zh-CN" altLang="en-US" sz="2400" dirty="0">
                <a:latin typeface="Arial" panose="020B0604020202020204" pitchFamily="34" charset="0"/>
              </a:rPr>
              <a:t>一个矩阵都是对称正定的．理由是，为使</a:t>
            </a:r>
            <a:r>
              <a:rPr lang="zh-CN" altLang="en-US" sz="2400" dirty="0" smtClean="0">
                <a:latin typeface="Arial" panose="020B0604020202020204" pitchFamily="34" charset="0"/>
              </a:rPr>
              <a:t>搜索方向</a:t>
            </a:r>
            <a:endParaRPr lang="en-US" altLang="zh-CN" sz="2400" dirty="0" smtClean="0">
              <a:latin typeface="Arial" panose="020B0604020202020204" pitchFamily="34" charset="0"/>
            </a:endParaRPr>
          </a:p>
          <a:p>
            <a:pPr eaLnBrk="1" hangingPunct="1"/>
            <a:endParaRPr lang="en-US" altLang="zh-CN" sz="2400" dirty="0">
              <a:latin typeface="Arial" panose="020B0604020202020204" pitchFamily="34" charset="0"/>
            </a:endParaRPr>
          </a:p>
          <a:p>
            <a:pPr eaLnBrk="1" hangingPunct="1"/>
            <a:r>
              <a:rPr lang="zh-CN" altLang="en-US" sz="2400" dirty="0" smtClean="0">
                <a:latin typeface="Arial" panose="020B0604020202020204" pitchFamily="34" charset="0"/>
              </a:rPr>
              <a:t>    是</a:t>
            </a:r>
            <a:r>
              <a:rPr lang="zh-CN" altLang="en-US" sz="2400" dirty="0">
                <a:latin typeface="Arial" panose="020B0604020202020204" pitchFamily="34" charset="0"/>
              </a:rPr>
              <a:t>下降方向，</a:t>
            </a:r>
            <a:r>
              <a:rPr lang="zh-CN" altLang="en-US" sz="2400" dirty="0" smtClean="0">
                <a:latin typeface="Arial" panose="020B0604020202020204" pitchFamily="34" charset="0"/>
              </a:rPr>
              <a:t>只要                                  成</a:t>
            </a:r>
            <a:r>
              <a:rPr lang="zh-CN" altLang="en-US" sz="2400" dirty="0">
                <a:latin typeface="Arial" panose="020B0604020202020204" pitchFamily="34" charset="0"/>
              </a:rPr>
              <a:t>立即可，即</a:t>
            </a:r>
          </a:p>
          <a:p>
            <a:pPr eaLnBrk="1" hangingPunct="1"/>
            <a:r>
              <a:rPr lang="zh-CN" altLang="en-US" sz="2400" dirty="0">
                <a:latin typeface="Arial" panose="020B0604020202020204" pitchFamily="34" charset="0"/>
              </a:rPr>
              <a:t>                                     成立．</a:t>
            </a:r>
            <a:endParaRPr lang="en-US" altLang="zh-CN" sz="240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2400" dirty="0">
                <a:latin typeface="Arial" panose="020B0604020202020204" pitchFamily="34" charset="0"/>
              </a:rPr>
              <a:t> </a:t>
            </a:r>
            <a:r>
              <a:rPr lang="en-US" altLang="zh-CN" sz="2400" dirty="0" smtClean="0">
                <a:latin typeface="Arial" panose="020B0604020202020204" pitchFamily="34" charset="0"/>
              </a:rPr>
              <a:t>   </a:t>
            </a:r>
            <a:r>
              <a:rPr lang="zh-CN" altLang="en-US" sz="2400" dirty="0" smtClean="0">
                <a:latin typeface="Arial" panose="020B0604020202020204" pitchFamily="34" charset="0"/>
              </a:rPr>
              <a:t>当     </a:t>
            </a:r>
            <a:r>
              <a:rPr lang="zh-CN" altLang="en-US" sz="2400" dirty="0">
                <a:latin typeface="Arial" panose="020B0604020202020204" pitchFamily="34" charset="0"/>
              </a:rPr>
              <a:t>对称正定时</a:t>
            </a:r>
            <a:r>
              <a:rPr lang="en-US" altLang="zh-CN" sz="2400" dirty="0">
                <a:latin typeface="Arial" panose="020B0604020202020204" pitchFamily="34" charset="0"/>
              </a:rPr>
              <a:t>,</a:t>
            </a:r>
            <a:r>
              <a:rPr lang="zh-CN" altLang="en-US" sz="2400" dirty="0">
                <a:latin typeface="Arial" panose="020B0604020202020204" pitchFamily="34" charset="0"/>
              </a:rPr>
              <a:t>此式必然成立</a:t>
            </a:r>
            <a:r>
              <a:rPr lang="en-US" altLang="zh-CN" sz="2400" dirty="0">
                <a:latin typeface="Arial" panose="020B0604020202020204" pitchFamily="34" charset="0"/>
              </a:rPr>
              <a:t>,</a:t>
            </a:r>
            <a:r>
              <a:rPr lang="zh-CN" altLang="en-US" sz="2400" dirty="0">
                <a:latin typeface="Arial" panose="020B0604020202020204" pitchFamily="34" charset="0"/>
              </a:rPr>
              <a:t>从而保证式（</a:t>
            </a:r>
            <a:r>
              <a:rPr lang="en-US" altLang="zh-CN" sz="2400" dirty="0">
                <a:latin typeface="Arial" panose="020B0604020202020204" pitchFamily="34" charset="0"/>
              </a:rPr>
              <a:t>5.27</a:t>
            </a:r>
            <a:r>
              <a:rPr lang="zh-CN" altLang="en-US" sz="2400" dirty="0">
                <a:latin typeface="Arial" panose="020B0604020202020204" pitchFamily="34" charset="0"/>
              </a:rPr>
              <a:t>）   </a:t>
            </a:r>
            <a:endParaRPr lang="en-US" altLang="zh-CN" sz="240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2400" dirty="0">
                <a:latin typeface="Arial" panose="020B0604020202020204" pitchFamily="34" charset="0"/>
              </a:rPr>
              <a:t>       </a:t>
            </a:r>
            <a:r>
              <a:rPr lang="zh-CN" altLang="en-US" sz="2400" dirty="0">
                <a:latin typeface="Arial" panose="020B0604020202020204" pitchFamily="34" charset="0"/>
              </a:rPr>
              <a:t>具有下降性质．</a:t>
            </a:r>
          </a:p>
        </p:txBody>
      </p:sp>
      <p:graphicFrame>
        <p:nvGraphicFramePr>
          <p:cNvPr id="14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405096"/>
              </p:ext>
            </p:extLst>
          </p:nvPr>
        </p:nvGraphicFramePr>
        <p:xfrm>
          <a:off x="2058606" y="1575658"/>
          <a:ext cx="82232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3351" name="Equation" r:id="rId3" imgW="469800" imgH="228600" progId="Equation.DSMT4">
                  <p:embed/>
                </p:oleObj>
              </mc:Choice>
              <mc:Fallback>
                <p:oleObj name="Equation" r:id="rId3" imgW="469800" imgH="228600" progId="Equation.DSMT4">
                  <p:embed/>
                  <p:pic>
                    <p:nvPicPr>
                      <p:cNvPr id="223235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8606" y="1575658"/>
                        <a:ext cx="822325" cy="40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8304193"/>
              </p:ext>
            </p:extLst>
          </p:nvPr>
        </p:nvGraphicFramePr>
        <p:xfrm>
          <a:off x="2534576" y="1923746"/>
          <a:ext cx="328613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3352" name="Equation" r:id="rId5" imgW="228600" imgH="228600" progId="Equation.DSMT4">
                  <p:embed/>
                </p:oleObj>
              </mc:Choice>
              <mc:Fallback>
                <p:oleObj name="Equation" r:id="rId5" imgW="228600" imgH="228600" progId="Equation.DSMT4">
                  <p:embed/>
                  <p:pic>
                    <p:nvPicPr>
                      <p:cNvPr id="22323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4576" y="1923746"/>
                        <a:ext cx="328613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4537794"/>
              </p:ext>
            </p:extLst>
          </p:nvPr>
        </p:nvGraphicFramePr>
        <p:xfrm>
          <a:off x="3773437" y="1959464"/>
          <a:ext cx="376237" cy="357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3353" name="Equation" r:id="rId7" imgW="253800" imgH="241200" progId="Equation.DSMT4">
                  <p:embed/>
                </p:oleObj>
              </mc:Choice>
              <mc:Fallback>
                <p:oleObj name="Equation" r:id="rId7" imgW="253800" imgH="241200" progId="Equation.DSMT4">
                  <p:embed/>
                  <p:pic>
                    <p:nvPicPr>
                      <p:cNvPr id="22323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3437" y="1959464"/>
                        <a:ext cx="376237" cy="357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9984851"/>
              </p:ext>
            </p:extLst>
          </p:nvPr>
        </p:nvGraphicFramePr>
        <p:xfrm>
          <a:off x="1732868" y="2243014"/>
          <a:ext cx="328612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3354" name="Equation" r:id="rId9" imgW="228600" imgH="228600" progId="Equation.DSMT4">
                  <p:embed/>
                </p:oleObj>
              </mc:Choice>
              <mc:Fallback>
                <p:oleObj name="Equation" r:id="rId9" imgW="228600" imgH="228600" progId="Equation.DSMT4">
                  <p:embed/>
                  <p:pic>
                    <p:nvPicPr>
                      <p:cNvPr id="22323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2868" y="2243014"/>
                        <a:ext cx="328612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4026004"/>
              </p:ext>
            </p:extLst>
          </p:nvPr>
        </p:nvGraphicFramePr>
        <p:xfrm>
          <a:off x="6876256" y="2671639"/>
          <a:ext cx="513523" cy="443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3355" name="Equation" r:id="rId10" imgW="330057" imgH="203112" progId="Equation.DSMT4">
                  <p:embed/>
                </p:oleObj>
              </mc:Choice>
              <mc:Fallback>
                <p:oleObj name="Equation" r:id="rId10" imgW="330057" imgH="203112" progId="Equation.DSMT4">
                  <p:embed/>
                  <p:pic>
                    <p:nvPicPr>
                      <p:cNvPr id="223239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6256" y="2671639"/>
                        <a:ext cx="513523" cy="4439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4060514"/>
              </p:ext>
            </p:extLst>
          </p:nvPr>
        </p:nvGraphicFramePr>
        <p:xfrm>
          <a:off x="3068588" y="3376904"/>
          <a:ext cx="1785937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3356" name="公式" r:id="rId12" imgW="710891" imgH="203112" progId="Equation.3">
                  <p:embed/>
                </p:oleObj>
              </mc:Choice>
              <mc:Fallback>
                <p:oleObj name="公式" r:id="rId12" imgW="710891" imgH="203112" progId="Equation.3">
                  <p:embed/>
                  <p:pic>
                    <p:nvPicPr>
                      <p:cNvPr id="22324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8588" y="3376904"/>
                        <a:ext cx="1785937" cy="4445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2521388"/>
              </p:ext>
            </p:extLst>
          </p:nvPr>
        </p:nvGraphicFramePr>
        <p:xfrm>
          <a:off x="3621312" y="3744786"/>
          <a:ext cx="2571750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3357" name="Equation" r:id="rId14" imgW="1307880" imgH="241200" progId="Equation.DSMT4">
                  <p:embed/>
                </p:oleObj>
              </mc:Choice>
              <mc:Fallback>
                <p:oleObj name="Equation" r:id="rId14" imgW="1307880" imgH="241200" progId="Equation.DSMT4">
                  <p:embed/>
                  <p:pic>
                    <p:nvPicPr>
                      <p:cNvPr id="22324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21312" y="3744786"/>
                        <a:ext cx="2571750" cy="474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5021793"/>
              </p:ext>
            </p:extLst>
          </p:nvPr>
        </p:nvGraphicFramePr>
        <p:xfrm>
          <a:off x="2380407" y="4127019"/>
          <a:ext cx="1376362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3358" name="Equation" r:id="rId16" imgW="774360" imgH="241200" progId="Equation.DSMT4">
                  <p:embed/>
                </p:oleObj>
              </mc:Choice>
              <mc:Fallback>
                <p:oleObj name="Equation" r:id="rId16" imgW="774360" imgH="241200" progId="Equation.DSMT4">
                  <p:embed/>
                  <p:pic>
                    <p:nvPicPr>
                      <p:cNvPr id="22324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0407" y="4127019"/>
                        <a:ext cx="1376362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1828812"/>
              </p:ext>
            </p:extLst>
          </p:nvPr>
        </p:nvGraphicFramePr>
        <p:xfrm>
          <a:off x="1411303" y="4551744"/>
          <a:ext cx="328612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3359" name="Equation" r:id="rId18" imgW="228600" imgH="228600" progId="Equation.DSMT4">
                  <p:embed/>
                </p:oleObj>
              </mc:Choice>
              <mc:Fallback>
                <p:oleObj name="Equation" r:id="rId18" imgW="228600" imgH="228600" progId="Equation.DSMT4">
                  <p:embed/>
                  <p:pic>
                    <p:nvPicPr>
                      <p:cNvPr id="223243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1303" y="4551744"/>
                        <a:ext cx="328612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78881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3"/>
          <p:cNvSpPr>
            <a:spLocks noGrp="1"/>
          </p:cNvSpPr>
          <p:nvPr>
            <p:ph type="title"/>
          </p:nvPr>
        </p:nvSpPr>
        <p:spPr>
          <a:xfrm>
            <a:off x="2771800" y="85816"/>
            <a:ext cx="6215073" cy="549844"/>
          </a:xfrm>
        </p:spPr>
        <p:txBody>
          <a:bodyPr/>
          <a:lstStyle/>
          <a:p>
            <a:r>
              <a:rPr kumimoji="1" lang="zh-CN" alt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拟牛顿法</a:t>
            </a:r>
            <a:endParaRPr kumimoji="1" lang="zh-CN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4803163" y="-47233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4803163" y="2861415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4803163" y="-47233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4803163" y="-47233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11" name="Rectangle 11"/>
          <p:cNvSpPr>
            <a:spLocks noChangeArrowheads="1"/>
          </p:cNvSpPr>
          <p:nvPr/>
        </p:nvSpPr>
        <p:spPr bwMode="auto">
          <a:xfrm>
            <a:off x="4803163" y="-47233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13" name="Rectangle 5"/>
          <p:cNvSpPr>
            <a:spLocks noChangeArrowheads="1"/>
          </p:cNvSpPr>
          <p:nvPr/>
        </p:nvSpPr>
        <p:spPr bwMode="auto">
          <a:xfrm>
            <a:off x="223123" y="2572420"/>
            <a:ext cx="184150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12" name="Rectangle 2"/>
          <p:cNvSpPr txBox="1">
            <a:spLocks noChangeArrowheads="1"/>
          </p:cNvSpPr>
          <p:nvPr/>
        </p:nvSpPr>
        <p:spPr>
          <a:xfrm>
            <a:off x="305573" y="1628800"/>
            <a:ext cx="8370883" cy="30718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400" dirty="0" smtClean="0"/>
              <a:t>第二，要求      之间的迭代具有简单形式．显然，</a:t>
            </a:r>
            <a:endParaRPr lang="en-US" altLang="zh-CN" sz="2400" dirty="0" smtClean="0"/>
          </a:p>
          <a:p>
            <a:pPr>
              <a:lnSpc>
                <a:spcPct val="120000"/>
              </a:lnSpc>
            </a:pPr>
            <a:endParaRPr lang="zh-CN" altLang="en-US" sz="1600" dirty="0" smtClean="0"/>
          </a:p>
          <a:p>
            <a:pPr>
              <a:lnSpc>
                <a:spcPct val="120000"/>
              </a:lnSpc>
              <a:buFontTx/>
              <a:buNone/>
            </a:pPr>
            <a:r>
              <a:rPr lang="zh-CN" altLang="en-US" sz="2400" dirty="0" smtClean="0"/>
              <a:t>　是最简单的形式了．其中     称为校正矩阵，式（</a:t>
            </a:r>
            <a:r>
              <a:rPr lang="en-US" altLang="zh-CN" sz="2400" dirty="0" smtClean="0"/>
              <a:t>5.28</a:t>
            </a:r>
            <a:r>
              <a:rPr lang="zh-CN" altLang="en-US" sz="2400" dirty="0" smtClean="0"/>
              <a:t>）称为校正公式．</a:t>
            </a:r>
            <a:endParaRPr lang="en-US" altLang="zh-CN" sz="2400" dirty="0" smtClean="0"/>
          </a:p>
          <a:p>
            <a:pPr>
              <a:lnSpc>
                <a:spcPct val="120000"/>
              </a:lnSpc>
              <a:buFontTx/>
              <a:buNone/>
            </a:pPr>
            <a:endParaRPr lang="en-US" altLang="zh-CN" sz="1200" dirty="0" smtClean="0"/>
          </a:p>
          <a:p>
            <a:pPr>
              <a:lnSpc>
                <a:spcPct val="110000"/>
              </a:lnSpc>
            </a:pPr>
            <a:r>
              <a:rPr lang="zh-CN" altLang="en-US" sz="2400" dirty="0" smtClean="0"/>
              <a:t> 第三，        必须满足拟</a:t>
            </a:r>
            <a:r>
              <a:rPr lang="en-US" altLang="zh-CN" sz="2400" dirty="0" smtClean="0"/>
              <a:t>Newton</a:t>
            </a:r>
            <a:r>
              <a:rPr lang="zh-CN" altLang="en-US" sz="2400" dirty="0" smtClean="0"/>
              <a:t>条件．</a:t>
            </a:r>
            <a:endParaRPr lang="en-US" altLang="zh-CN" sz="2400" dirty="0" smtClean="0"/>
          </a:p>
        </p:txBody>
      </p:sp>
      <p:graphicFrame>
        <p:nvGraphicFramePr>
          <p:cNvPr id="1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8606993"/>
              </p:ext>
            </p:extLst>
          </p:nvPr>
        </p:nvGraphicFramePr>
        <p:xfrm>
          <a:off x="2235200" y="1692362"/>
          <a:ext cx="522312" cy="3977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4306" name="Equation" r:id="rId3" imgW="228600" imgH="228600" progId="Equation.DSMT4">
                  <p:embed/>
                </p:oleObj>
              </mc:Choice>
              <mc:Fallback>
                <p:oleObj name="Equation" r:id="rId3" imgW="228600" imgH="228600" progId="Equation.DSMT4">
                  <p:embed/>
                  <p:pic>
                    <p:nvPicPr>
                      <p:cNvPr id="22426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5200" y="1692362"/>
                        <a:ext cx="522312" cy="39778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055845"/>
              </p:ext>
            </p:extLst>
          </p:nvPr>
        </p:nvGraphicFramePr>
        <p:xfrm>
          <a:off x="2771800" y="2098145"/>
          <a:ext cx="3786187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4307" name="Equation" r:id="rId5" imgW="1777680" imgH="253800" progId="Equation.DSMT4">
                  <p:embed/>
                </p:oleObj>
              </mc:Choice>
              <mc:Fallback>
                <p:oleObj name="Equation" r:id="rId5" imgW="1777680" imgH="253800" progId="Equation.DSMT4">
                  <p:embed/>
                  <p:pic>
                    <p:nvPicPr>
                      <p:cNvPr id="22426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800" y="2098145"/>
                        <a:ext cx="3786187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6629343"/>
              </p:ext>
            </p:extLst>
          </p:nvPr>
        </p:nvGraphicFramePr>
        <p:xfrm>
          <a:off x="3995936" y="2496945"/>
          <a:ext cx="465138" cy="48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4308" name="公式" r:id="rId7" imgW="190417" imgH="203112" progId="Equation.3">
                  <p:embed/>
                </p:oleObj>
              </mc:Choice>
              <mc:Fallback>
                <p:oleObj name="公式" r:id="rId7" imgW="190417" imgH="203112" progId="Equation.3">
                  <p:embed/>
                  <p:pic>
                    <p:nvPicPr>
                      <p:cNvPr id="224264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5936" y="2496945"/>
                        <a:ext cx="465138" cy="4873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3209665"/>
              </p:ext>
            </p:extLst>
          </p:nvPr>
        </p:nvGraphicFramePr>
        <p:xfrm>
          <a:off x="1547664" y="3717032"/>
          <a:ext cx="72072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4309" name="公式" r:id="rId9" imgW="330057" imgH="203112" progId="Equation.3">
                  <p:embed/>
                </p:oleObj>
              </mc:Choice>
              <mc:Fallback>
                <p:oleObj name="公式" r:id="rId9" imgW="330057" imgH="203112" progId="Equation.3">
                  <p:embed/>
                  <p:pic>
                    <p:nvPicPr>
                      <p:cNvPr id="224266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664" y="3717032"/>
                        <a:ext cx="720725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21"/>
          <p:cNvSpPr>
            <a:spLocks noChangeArrowheads="1"/>
          </p:cNvSpPr>
          <p:nvPr/>
        </p:nvSpPr>
        <p:spPr bwMode="auto">
          <a:xfrm>
            <a:off x="234135" y="2863875"/>
            <a:ext cx="184150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19" name="Rectangle 32"/>
          <p:cNvSpPr>
            <a:spLocks noChangeArrowheads="1"/>
          </p:cNvSpPr>
          <p:nvPr/>
        </p:nvSpPr>
        <p:spPr bwMode="auto">
          <a:xfrm>
            <a:off x="234135" y="2859113"/>
            <a:ext cx="184150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20" name="Rectangle 33"/>
          <p:cNvSpPr>
            <a:spLocks noChangeArrowheads="1"/>
          </p:cNvSpPr>
          <p:nvPr/>
        </p:nvSpPr>
        <p:spPr bwMode="auto">
          <a:xfrm>
            <a:off x="234135" y="2849588"/>
            <a:ext cx="184150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21" name="Rectangle 40"/>
          <p:cNvSpPr>
            <a:spLocks noChangeArrowheads="1"/>
          </p:cNvSpPr>
          <p:nvPr/>
        </p:nvSpPr>
        <p:spPr bwMode="auto">
          <a:xfrm>
            <a:off x="234135" y="2849588"/>
            <a:ext cx="184150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6565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3"/>
          <p:cNvSpPr>
            <a:spLocks noGrp="1"/>
          </p:cNvSpPr>
          <p:nvPr>
            <p:ph type="title"/>
          </p:nvPr>
        </p:nvSpPr>
        <p:spPr>
          <a:xfrm>
            <a:off x="2771800" y="85816"/>
            <a:ext cx="6215073" cy="549844"/>
          </a:xfrm>
        </p:spPr>
        <p:txBody>
          <a:bodyPr/>
          <a:lstStyle/>
          <a:p>
            <a:r>
              <a:rPr kumimoji="1" lang="zh-CN" alt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拟牛顿法</a:t>
            </a:r>
            <a:endParaRPr kumimoji="1" lang="zh-CN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4803163" y="-47233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4803163" y="-47233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4803163" y="-47233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11" name="Rectangle 11"/>
          <p:cNvSpPr>
            <a:spLocks noChangeArrowheads="1"/>
          </p:cNvSpPr>
          <p:nvPr/>
        </p:nvSpPr>
        <p:spPr bwMode="auto">
          <a:xfrm>
            <a:off x="4803163" y="-47233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25" name="矩形 1"/>
          <p:cNvSpPr>
            <a:spLocks noChangeArrowheads="1"/>
          </p:cNvSpPr>
          <p:nvPr/>
        </p:nvSpPr>
        <p:spPr bwMode="auto">
          <a:xfrm>
            <a:off x="321858" y="1124744"/>
            <a:ext cx="8786812" cy="54045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Arial" panose="020B0604020202020204" pitchFamily="34" charset="0"/>
              </a:rPr>
              <a:t> 所谓拟</a:t>
            </a:r>
            <a:r>
              <a:rPr lang="en-US" altLang="zh-CN" sz="2800" dirty="0">
                <a:latin typeface="Arial" panose="020B0604020202020204" pitchFamily="34" charset="0"/>
              </a:rPr>
              <a:t>Newton </a:t>
            </a:r>
            <a:r>
              <a:rPr lang="zh-CN" altLang="en-US" sz="2800" dirty="0">
                <a:latin typeface="Arial" panose="020B0604020202020204" pitchFamily="34" charset="0"/>
              </a:rPr>
              <a:t>条件由下面的推导给出．</a:t>
            </a:r>
          </a:p>
          <a:p>
            <a:pPr eaLnBrk="1" hangingPunct="1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Arial" panose="020B0604020202020204" pitchFamily="34" charset="0"/>
              </a:rPr>
              <a:t>设迭代过程已进行到         步，      和      均已求出，现在推导        所必须满足的条件．</a:t>
            </a:r>
            <a:endParaRPr lang="en-US" altLang="zh-CN" sz="2800" dirty="0">
              <a:latin typeface="Arial" panose="020B0604020202020204" pitchFamily="34" charset="0"/>
            </a:endParaRPr>
          </a:p>
          <a:p>
            <a:pPr eaLnBrk="1" hangingPunct="1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Arial" panose="020B0604020202020204" pitchFamily="34" charset="0"/>
              </a:rPr>
              <a:t>设目标函数        具有连续的二阶偏导数．现在将        在             处展成二阶泰勒公式</a:t>
            </a:r>
            <a:r>
              <a:rPr lang="en-US" altLang="zh-CN" sz="2800" dirty="0">
                <a:latin typeface="Arial" panose="020B0604020202020204" pitchFamily="34" charset="0"/>
              </a:rPr>
              <a:t>:</a:t>
            </a:r>
          </a:p>
          <a:p>
            <a:pPr eaLnBrk="1" hangingPunct="1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altLang="zh-CN" sz="2800" dirty="0">
              <a:latin typeface="Arial" panose="020B0604020202020204" pitchFamily="34" charset="0"/>
            </a:endParaRPr>
          </a:p>
          <a:p>
            <a:pPr eaLnBrk="1" hangingPunct="1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altLang="zh-CN" sz="2800" dirty="0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</a:pPr>
            <a:endParaRPr lang="en-US" altLang="zh-CN" sz="1400" dirty="0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Arial" panose="020B0604020202020204" pitchFamily="34" charset="0"/>
              </a:rPr>
              <a:t>令            ，于是有</a:t>
            </a:r>
          </a:p>
          <a:p>
            <a:pPr eaLnBrk="1" hangingPunct="1">
              <a:lnSpc>
                <a:spcPct val="90000"/>
              </a:lnSpc>
            </a:pPr>
            <a:endParaRPr lang="zh-CN" altLang="en-US" sz="2800" dirty="0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sz="2800" dirty="0">
                <a:latin typeface="Arial" panose="020B0604020202020204" pitchFamily="34" charset="0"/>
              </a:rPr>
              <a:t>    </a:t>
            </a:r>
            <a:endParaRPr lang="en-US" altLang="zh-CN" sz="2800" dirty="0" smtClean="0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latin typeface="Arial" panose="020B0604020202020204" pitchFamily="34" charset="0"/>
              </a:rPr>
              <a:t> </a:t>
            </a:r>
            <a:r>
              <a:rPr lang="en-US" altLang="zh-CN" sz="2800" dirty="0" smtClean="0">
                <a:latin typeface="Arial" panose="020B0604020202020204" pitchFamily="34" charset="0"/>
              </a:rPr>
              <a:t>               </a:t>
            </a:r>
            <a:r>
              <a:rPr lang="zh-CN" altLang="en-US" sz="2800" dirty="0" smtClean="0">
                <a:latin typeface="Arial" panose="020B0604020202020204" pitchFamily="34" charset="0"/>
              </a:rPr>
              <a:t>即</a:t>
            </a:r>
            <a:endParaRPr lang="en-US" altLang="zh-CN" sz="2800" dirty="0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</a:pPr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2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3665393"/>
              </p:ext>
            </p:extLst>
          </p:nvPr>
        </p:nvGraphicFramePr>
        <p:xfrm>
          <a:off x="3750858" y="1696244"/>
          <a:ext cx="719137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25" name="公式" r:id="rId3" imgW="291847" imgH="164957" progId="Equation.3">
                  <p:embed/>
                </p:oleObj>
              </mc:Choice>
              <mc:Fallback>
                <p:oleObj name="公式" r:id="rId3" imgW="291847" imgH="164957" progId="Equation.3">
                  <p:embed/>
                  <p:pic>
                    <p:nvPicPr>
                      <p:cNvPr id="225283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50858" y="1696244"/>
                        <a:ext cx="719137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4882779"/>
              </p:ext>
            </p:extLst>
          </p:nvPr>
        </p:nvGraphicFramePr>
        <p:xfrm>
          <a:off x="5215633" y="1676926"/>
          <a:ext cx="647700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26" name="公式" r:id="rId5" imgW="291973" imgH="203112" progId="Equation.3">
                  <p:embed/>
                </p:oleObj>
              </mc:Choice>
              <mc:Fallback>
                <p:oleObj name="公式" r:id="rId5" imgW="291973" imgH="203112" progId="Equation.3">
                  <p:embed/>
                  <p:pic>
                    <p:nvPicPr>
                      <p:cNvPr id="225284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5633" y="1676926"/>
                        <a:ext cx="647700" cy="438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0716339"/>
              </p:ext>
            </p:extLst>
          </p:nvPr>
        </p:nvGraphicFramePr>
        <p:xfrm>
          <a:off x="6251170" y="1624807"/>
          <a:ext cx="576263" cy="474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27" name="公式" r:id="rId7" imgW="215713" imgH="203024" progId="Equation.3">
                  <p:embed/>
                </p:oleObj>
              </mc:Choice>
              <mc:Fallback>
                <p:oleObj name="公式" r:id="rId7" imgW="215713" imgH="203024" progId="Equation.3">
                  <p:embed/>
                  <p:pic>
                    <p:nvPicPr>
                      <p:cNvPr id="225285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51170" y="1624807"/>
                        <a:ext cx="576263" cy="4746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8378741"/>
              </p:ext>
            </p:extLst>
          </p:nvPr>
        </p:nvGraphicFramePr>
        <p:xfrm>
          <a:off x="1536295" y="2124869"/>
          <a:ext cx="719138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28" name="公式" r:id="rId9" imgW="304536" imgH="203024" progId="Equation.3">
                  <p:embed/>
                </p:oleObj>
              </mc:Choice>
              <mc:Fallback>
                <p:oleObj name="公式" r:id="rId9" imgW="304536" imgH="203024" progId="Equation.3">
                  <p:embed/>
                  <p:pic>
                    <p:nvPicPr>
                      <p:cNvPr id="225286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6295" y="2124869"/>
                        <a:ext cx="719138" cy="473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4341443"/>
              </p:ext>
            </p:extLst>
          </p:nvPr>
        </p:nvGraphicFramePr>
        <p:xfrm>
          <a:off x="296458" y="3339307"/>
          <a:ext cx="8812212" cy="1193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29" name="Equation" r:id="rId11" imgW="5295600" imgH="634680" progId="Equation.DSMT4">
                  <p:embed/>
                </p:oleObj>
              </mc:Choice>
              <mc:Fallback>
                <p:oleObj name="Equation" r:id="rId11" imgW="5295600" imgH="634680" progId="Equation.DSMT4">
                  <p:embed/>
                  <p:pic>
                    <p:nvPicPr>
                      <p:cNvPr id="225287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458" y="3339307"/>
                        <a:ext cx="8812212" cy="1193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2737861"/>
              </p:ext>
            </p:extLst>
          </p:nvPr>
        </p:nvGraphicFramePr>
        <p:xfrm>
          <a:off x="8037108" y="2624932"/>
          <a:ext cx="720725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30" name="公式" r:id="rId13" imgW="355446" imgH="190417" progId="Equation.3">
                  <p:embed/>
                </p:oleObj>
              </mc:Choice>
              <mc:Fallback>
                <p:oleObj name="公式" r:id="rId13" imgW="355446" imgH="190417" progId="Equation.3">
                  <p:embed/>
                  <p:pic>
                    <p:nvPicPr>
                      <p:cNvPr id="225288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37108" y="2624932"/>
                        <a:ext cx="720725" cy="404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6439629"/>
              </p:ext>
            </p:extLst>
          </p:nvPr>
        </p:nvGraphicFramePr>
        <p:xfrm>
          <a:off x="2393545" y="2624932"/>
          <a:ext cx="649288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31" name="公式" r:id="rId15" imgW="355446" imgH="190417" progId="Equation.3">
                  <p:embed/>
                </p:oleObj>
              </mc:Choice>
              <mc:Fallback>
                <p:oleObj name="公式" r:id="rId15" imgW="355446" imgH="190417" progId="Equation.3">
                  <p:embed/>
                  <p:pic>
                    <p:nvPicPr>
                      <p:cNvPr id="225289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3545" y="2624932"/>
                        <a:ext cx="649288" cy="4302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4916124"/>
              </p:ext>
            </p:extLst>
          </p:nvPr>
        </p:nvGraphicFramePr>
        <p:xfrm>
          <a:off x="893358" y="3053557"/>
          <a:ext cx="1008062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32" name="公式" r:id="rId17" imgW="596900" imgH="228600" progId="Equation.3">
                  <p:embed/>
                </p:oleObj>
              </mc:Choice>
              <mc:Fallback>
                <p:oleObj name="公式" r:id="rId17" imgW="596900" imgH="228600" progId="Equation.3">
                  <p:embed/>
                  <p:pic>
                    <p:nvPicPr>
                      <p:cNvPr id="22529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3358" y="3053557"/>
                        <a:ext cx="1008062" cy="4683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856750"/>
              </p:ext>
            </p:extLst>
          </p:nvPr>
        </p:nvGraphicFramePr>
        <p:xfrm>
          <a:off x="1032263" y="4614070"/>
          <a:ext cx="1008063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33" name="公式" r:id="rId19" imgW="508000" imgH="228600" progId="Equation.3">
                  <p:embed/>
                </p:oleObj>
              </mc:Choice>
              <mc:Fallback>
                <p:oleObj name="公式" r:id="rId19" imgW="508000" imgH="228600" progId="Equation.3">
                  <p:embed/>
                  <p:pic>
                    <p:nvPicPr>
                      <p:cNvPr id="22529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2263" y="4614070"/>
                        <a:ext cx="1008063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205893"/>
              </p:ext>
            </p:extLst>
          </p:nvPr>
        </p:nvGraphicFramePr>
        <p:xfrm>
          <a:off x="2642951" y="5069615"/>
          <a:ext cx="5429250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34" name="公式" r:id="rId21" imgW="2781300" imgH="241300" progId="Equation.3">
                  <p:embed/>
                </p:oleObj>
              </mc:Choice>
              <mc:Fallback>
                <p:oleObj name="公式" r:id="rId21" imgW="2781300" imgH="241300" progId="Equation.3">
                  <p:embed/>
                  <p:pic>
                    <p:nvPicPr>
                      <p:cNvPr id="22529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2951" y="5069615"/>
                        <a:ext cx="5429250" cy="479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3406041"/>
              </p:ext>
            </p:extLst>
          </p:nvPr>
        </p:nvGraphicFramePr>
        <p:xfrm>
          <a:off x="2408238" y="5661025"/>
          <a:ext cx="3614737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35" name="Equation" r:id="rId23" imgW="1676160" imgH="228600" progId="Equation.DSMT4">
                  <p:embed/>
                </p:oleObj>
              </mc:Choice>
              <mc:Fallback>
                <p:oleObj name="Equation" r:id="rId23" imgW="1676160" imgH="228600" progId="Equation.DSMT4">
                  <p:embed/>
                  <p:pic>
                    <p:nvPicPr>
                      <p:cNvPr id="22529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8238" y="5661025"/>
                        <a:ext cx="3614737" cy="511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32637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3"/>
          <p:cNvSpPr>
            <a:spLocks noGrp="1"/>
          </p:cNvSpPr>
          <p:nvPr>
            <p:ph type="title"/>
          </p:nvPr>
        </p:nvSpPr>
        <p:spPr>
          <a:xfrm>
            <a:off x="2771800" y="85816"/>
            <a:ext cx="6215073" cy="549844"/>
          </a:xfrm>
        </p:spPr>
        <p:txBody>
          <a:bodyPr/>
          <a:lstStyle/>
          <a:p>
            <a:r>
              <a:rPr kumimoji="1" lang="zh-CN" alt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拟牛顿法</a:t>
            </a:r>
            <a:endParaRPr kumimoji="1" lang="zh-CN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4803163" y="-47233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4803163" y="-47233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4803163" y="-47233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11" name="Rectangle 11"/>
          <p:cNvSpPr>
            <a:spLocks noChangeArrowheads="1"/>
          </p:cNvSpPr>
          <p:nvPr/>
        </p:nvSpPr>
        <p:spPr bwMode="auto">
          <a:xfrm>
            <a:off x="4803163" y="-47233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graphicFrame>
        <p:nvGraphicFramePr>
          <p:cNvPr id="2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1366272"/>
              </p:ext>
            </p:extLst>
          </p:nvPr>
        </p:nvGraphicFramePr>
        <p:xfrm>
          <a:off x="1016976" y="1051595"/>
          <a:ext cx="542925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414" name="公式" r:id="rId3" imgW="279279" imgH="203112" progId="Equation.3">
                  <p:embed/>
                </p:oleObj>
              </mc:Choice>
              <mc:Fallback>
                <p:oleObj name="公式" r:id="rId3" imgW="279279" imgH="203112" progId="Equation.3">
                  <p:embed/>
                  <p:pic>
                    <p:nvPicPr>
                      <p:cNvPr id="22630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6976" y="1051595"/>
                        <a:ext cx="542925" cy="500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0845456"/>
              </p:ext>
            </p:extLst>
          </p:nvPr>
        </p:nvGraphicFramePr>
        <p:xfrm>
          <a:off x="2743200" y="1550988"/>
          <a:ext cx="3335338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415" name="Equation" r:id="rId5" imgW="1790640" imgH="241200" progId="Equation.DSMT4">
                  <p:embed/>
                </p:oleObj>
              </mc:Choice>
              <mc:Fallback>
                <p:oleObj name="Equation" r:id="rId5" imgW="1790640" imgH="241200" progId="Equation.DSMT4">
                  <p:embed/>
                  <p:pic>
                    <p:nvPicPr>
                      <p:cNvPr id="22630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1550988"/>
                        <a:ext cx="3335338" cy="4556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4558925"/>
              </p:ext>
            </p:extLst>
          </p:nvPr>
        </p:nvGraphicFramePr>
        <p:xfrm>
          <a:off x="1209675" y="2235200"/>
          <a:ext cx="544513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416" name="Equation" r:id="rId7" imgW="317160" imgH="228600" progId="Equation.DSMT4">
                  <p:embed/>
                </p:oleObj>
              </mc:Choice>
              <mc:Fallback>
                <p:oleObj name="Equation" r:id="rId7" imgW="317160" imgH="228600" progId="Equation.DSMT4">
                  <p:embed/>
                  <p:pic>
                    <p:nvPicPr>
                      <p:cNvPr id="226308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9675" y="2235200"/>
                        <a:ext cx="544513" cy="536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5077745"/>
              </p:ext>
            </p:extLst>
          </p:nvPr>
        </p:nvGraphicFramePr>
        <p:xfrm>
          <a:off x="2573338" y="2219325"/>
          <a:ext cx="723900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417" name="Equation" r:id="rId9" imgW="291960" imgH="241200" progId="Equation.DSMT4">
                  <p:embed/>
                </p:oleObj>
              </mc:Choice>
              <mc:Fallback>
                <p:oleObj name="Equation" r:id="rId9" imgW="291960" imgH="241200" progId="Equation.DSMT4">
                  <p:embed/>
                  <p:pic>
                    <p:nvPicPr>
                      <p:cNvPr id="226309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3338" y="2219325"/>
                        <a:ext cx="723900" cy="593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4810533"/>
              </p:ext>
            </p:extLst>
          </p:nvPr>
        </p:nvGraphicFramePr>
        <p:xfrm>
          <a:off x="5803288" y="3409033"/>
          <a:ext cx="719138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418" name="公式" r:id="rId11" imgW="304536" imgH="203024" progId="Equation.3">
                  <p:embed/>
                </p:oleObj>
              </mc:Choice>
              <mc:Fallback>
                <p:oleObj name="公式" r:id="rId11" imgW="304536" imgH="203024" progId="Equation.3">
                  <p:embed/>
                  <p:pic>
                    <p:nvPicPr>
                      <p:cNvPr id="22631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03288" y="3409033"/>
                        <a:ext cx="719138" cy="4619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8256686"/>
              </p:ext>
            </p:extLst>
          </p:nvPr>
        </p:nvGraphicFramePr>
        <p:xfrm>
          <a:off x="1750401" y="2766095"/>
          <a:ext cx="5624512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419" name="Equation" r:id="rId13" imgW="2336760" imgH="215640" progId="Equation.DSMT4">
                  <p:embed/>
                </p:oleObj>
              </mc:Choice>
              <mc:Fallback>
                <p:oleObj name="Equation" r:id="rId13" imgW="2336760" imgH="215640" progId="Equation.DSMT4">
                  <p:embed/>
                  <p:pic>
                    <p:nvPicPr>
                      <p:cNvPr id="226311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0401" y="2766095"/>
                        <a:ext cx="5624512" cy="519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5038039"/>
              </p:ext>
            </p:extLst>
          </p:nvPr>
        </p:nvGraphicFramePr>
        <p:xfrm>
          <a:off x="5374663" y="2266033"/>
          <a:ext cx="857250" cy="420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420" name="公式" r:id="rId15" imgW="304536" imgH="203024" progId="Equation.3">
                  <p:embed/>
                </p:oleObj>
              </mc:Choice>
              <mc:Fallback>
                <p:oleObj name="公式" r:id="rId15" imgW="304536" imgH="203024" progId="Equation.3">
                  <p:embed/>
                  <p:pic>
                    <p:nvPicPr>
                      <p:cNvPr id="226312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4663" y="2266033"/>
                        <a:ext cx="857250" cy="4206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4446050"/>
              </p:ext>
            </p:extLst>
          </p:nvPr>
        </p:nvGraphicFramePr>
        <p:xfrm>
          <a:off x="3945913" y="4194845"/>
          <a:ext cx="2198688" cy="1141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421" name="Equation" r:id="rId17" imgW="901440" imgH="457200" progId="Equation.DSMT4">
                  <p:embed/>
                </p:oleObj>
              </mc:Choice>
              <mc:Fallback>
                <p:oleObj name="Equation" r:id="rId17" imgW="901440" imgH="457200" progId="Equation.DSMT4">
                  <p:embed/>
                  <p:pic>
                    <p:nvPicPr>
                      <p:cNvPr id="226313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5913" y="4194845"/>
                        <a:ext cx="2198688" cy="1141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5212804"/>
              </p:ext>
            </p:extLst>
          </p:nvPr>
        </p:nvGraphicFramePr>
        <p:xfrm>
          <a:off x="4445976" y="5337845"/>
          <a:ext cx="3662362" cy="51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422" name="Equation" r:id="rId19" imgW="1574640" imgH="253800" progId="Equation.DSMT4">
                  <p:embed/>
                </p:oleObj>
              </mc:Choice>
              <mc:Fallback>
                <p:oleObj name="Equation" r:id="rId19" imgW="1574640" imgH="253800" progId="Equation.DSMT4">
                  <p:embed/>
                  <p:pic>
                    <p:nvPicPr>
                      <p:cNvPr id="226314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5976" y="5337845"/>
                        <a:ext cx="3662362" cy="5159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Rectangle 15"/>
          <p:cNvSpPr>
            <a:spLocks noChangeArrowheads="1"/>
          </p:cNvSpPr>
          <p:nvPr/>
        </p:nvSpPr>
        <p:spPr bwMode="auto">
          <a:xfrm>
            <a:off x="179512" y="908720"/>
            <a:ext cx="9144000" cy="527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altLang="zh-CN" sz="1400" dirty="0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Arial" panose="020B0604020202020204" pitchFamily="34" charset="0"/>
              </a:rPr>
              <a:t>  当      正定时，</a:t>
            </a:r>
          </a:p>
          <a:p>
            <a:pPr eaLnBrk="1" hangingPunct="1">
              <a:lnSpc>
                <a:spcPct val="90000"/>
              </a:lnSpc>
            </a:pPr>
            <a:endParaRPr lang="zh-CN" altLang="en-US" sz="2800" dirty="0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</a:pPr>
            <a:endParaRPr lang="zh-CN" altLang="en-US" sz="2800" dirty="0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Arial" panose="020B0604020202020204" pitchFamily="34" charset="0"/>
              </a:rPr>
              <a:t> 当用      近似       时，由此看出        也必须满足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800" dirty="0">
                <a:latin typeface="Arial" panose="020B0604020202020204" pitchFamily="34" charset="0"/>
              </a:rPr>
              <a:t>		</a:t>
            </a:r>
          </a:p>
          <a:p>
            <a:pPr eaLnBrk="1" hangingPunct="1">
              <a:lnSpc>
                <a:spcPct val="90000"/>
              </a:lnSpc>
            </a:pPr>
            <a:endParaRPr lang="en-US" altLang="zh-CN" sz="2800" dirty="0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sz="2800" dirty="0">
                <a:latin typeface="Arial" panose="020B0604020202020204" pitchFamily="34" charset="0"/>
              </a:rPr>
              <a:t>     换句话说，式（</a:t>
            </a:r>
            <a:r>
              <a:rPr lang="en-US" altLang="zh-CN" sz="2800" dirty="0">
                <a:latin typeface="Arial" panose="020B0604020202020204" pitchFamily="34" charset="0"/>
              </a:rPr>
              <a:t>5.29</a:t>
            </a:r>
            <a:r>
              <a:rPr lang="zh-CN" altLang="en-US" sz="2800" dirty="0">
                <a:latin typeface="Arial" panose="020B0604020202020204" pitchFamily="34" charset="0"/>
              </a:rPr>
              <a:t>）就是称为       近似</a:t>
            </a:r>
            <a:r>
              <a:rPr lang="en-US" altLang="zh-CN" sz="2800" dirty="0">
                <a:latin typeface="Arial" panose="020B0604020202020204" pitchFamily="34" charset="0"/>
              </a:rPr>
              <a:t>Newton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latin typeface="Arial" panose="020B0604020202020204" pitchFamily="34" charset="0"/>
              </a:rPr>
              <a:t>    </a:t>
            </a:r>
            <a:r>
              <a:rPr lang="zh-CN" altLang="en-US" sz="2800" dirty="0">
                <a:latin typeface="Arial" panose="020B0604020202020204" pitchFamily="34" charset="0"/>
              </a:rPr>
              <a:t>条 件．为了今后书写方便，记</a:t>
            </a:r>
            <a:endParaRPr lang="en-US" altLang="zh-CN" sz="2800" dirty="0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</a:pPr>
            <a:endParaRPr lang="en-US" altLang="zh-CN" sz="2800" dirty="0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</a:pPr>
            <a:endParaRPr lang="en-US" altLang="zh-CN" sz="2800" dirty="0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</a:pPr>
            <a:endParaRPr lang="zh-CN" altLang="en-US" sz="2800" dirty="0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sz="2800" dirty="0">
                <a:latin typeface="Arial" panose="020B0604020202020204" pitchFamily="34" charset="0"/>
              </a:rPr>
              <a:t>于是拟</a:t>
            </a:r>
            <a:r>
              <a:rPr lang="en-US" altLang="zh-CN" sz="2800" dirty="0">
                <a:latin typeface="Arial" panose="020B0604020202020204" pitchFamily="34" charset="0"/>
              </a:rPr>
              <a:t>Newton</a:t>
            </a:r>
            <a:r>
              <a:rPr lang="zh-CN" altLang="en-US" sz="2800" dirty="0">
                <a:latin typeface="Arial" panose="020B0604020202020204" pitchFamily="34" charset="0"/>
              </a:rPr>
              <a:t>条件可写为</a:t>
            </a:r>
            <a:endParaRPr lang="en-US" altLang="zh-CN" sz="2800" dirty="0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</a:pPr>
            <a:endParaRPr lang="zh-CN" altLang="en-US" sz="28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4597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3"/>
          <p:cNvSpPr>
            <a:spLocks noGrp="1"/>
          </p:cNvSpPr>
          <p:nvPr>
            <p:ph type="title"/>
          </p:nvPr>
        </p:nvSpPr>
        <p:spPr>
          <a:xfrm>
            <a:off x="2771800" y="85816"/>
            <a:ext cx="6215073" cy="549844"/>
          </a:xfrm>
        </p:spPr>
        <p:txBody>
          <a:bodyPr/>
          <a:lstStyle/>
          <a:p>
            <a:r>
              <a:rPr kumimoji="1" lang="zh-CN" alt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拟牛顿法</a:t>
            </a:r>
            <a:endParaRPr kumimoji="1" lang="zh-CN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4803163" y="-47233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4803163" y="-47233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4803163" y="-47233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11" name="Rectangle 11"/>
          <p:cNvSpPr>
            <a:spLocks noChangeArrowheads="1"/>
          </p:cNvSpPr>
          <p:nvPr/>
        </p:nvSpPr>
        <p:spPr bwMode="auto">
          <a:xfrm>
            <a:off x="4803163" y="-47233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26" name="Rectangle 2"/>
          <p:cNvSpPr txBox="1">
            <a:spLocks noChangeArrowheads="1"/>
          </p:cNvSpPr>
          <p:nvPr/>
        </p:nvSpPr>
        <p:spPr>
          <a:xfrm>
            <a:off x="-1588" y="1124744"/>
            <a:ext cx="9145588" cy="65976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defRPr/>
            </a:pPr>
            <a:r>
              <a:rPr lang="zh-CN" altLang="en-US" dirty="0" smtClean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二、变尺度法迭代步骤（拟</a:t>
            </a:r>
            <a:r>
              <a:rPr lang="en-US" altLang="zh-CN" dirty="0" smtClean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Newton</a:t>
            </a:r>
            <a:r>
              <a:rPr lang="zh-CN" altLang="en-US" dirty="0" smtClean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法）</a:t>
            </a:r>
          </a:p>
          <a:p>
            <a:pPr>
              <a:lnSpc>
                <a:spcPct val="120000"/>
              </a:lnSpc>
              <a:defRPr/>
            </a:pPr>
            <a:r>
              <a:rPr lang="zh-CN" altLang="en-US" sz="2800" dirty="0" smtClean="0"/>
              <a:t>已知目标函数      及其梯度            终止限</a:t>
            </a:r>
          </a:p>
          <a:p>
            <a:pPr>
              <a:lnSpc>
                <a:spcPct val="120000"/>
              </a:lnSpc>
              <a:defRPr/>
            </a:pPr>
            <a:r>
              <a:rPr lang="zh-CN" altLang="en-US" sz="2800" dirty="0" smtClean="0"/>
              <a:t>（</a:t>
            </a:r>
            <a:r>
              <a:rPr lang="en-US" altLang="zh-CN" sz="2800" dirty="0" smtClean="0"/>
              <a:t>1</a:t>
            </a:r>
            <a:r>
              <a:rPr lang="zh-CN" altLang="en-US" sz="2800" dirty="0" smtClean="0"/>
              <a:t>）选定初始点     ；计算                           </a:t>
            </a:r>
            <a:r>
              <a:rPr lang="zh-CN" altLang="en-US" sz="2800" dirty="0" smtClean="0"/>
              <a:t>  </a:t>
            </a:r>
            <a:r>
              <a:rPr lang="en-US" altLang="zh-CN" sz="2800" dirty="0" smtClean="0"/>
              <a:t>;</a:t>
            </a:r>
            <a:r>
              <a:rPr lang="zh-CN" altLang="en-US" sz="2800" dirty="0" smtClean="0"/>
              <a:t>选定初始</a:t>
            </a:r>
            <a:r>
              <a:rPr lang="zh-CN" altLang="en-US" sz="2800" dirty="0" smtClean="0"/>
              <a:t>矩阵      </a:t>
            </a:r>
            <a:r>
              <a:rPr lang="en-US" altLang="zh-CN" sz="2800" dirty="0" smtClean="0"/>
              <a:t>,</a:t>
            </a:r>
            <a:r>
              <a:rPr lang="zh-CN" altLang="en-US" sz="2800" dirty="0" smtClean="0"/>
              <a:t>要求    对称正定（例如         ）</a:t>
            </a:r>
            <a:r>
              <a:rPr lang="en-US" altLang="zh-CN" sz="2800" dirty="0" smtClean="0"/>
              <a:t>;</a:t>
            </a:r>
            <a:r>
              <a:rPr lang="zh-CN" altLang="en-US" sz="2800" dirty="0" smtClean="0"/>
              <a:t>置             ．</a:t>
            </a:r>
          </a:p>
          <a:p>
            <a:pPr>
              <a:lnSpc>
                <a:spcPct val="120000"/>
              </a:lnSpc>
              <a:defRPr/>
            </a:pPr>
            <a:r>
              <a:rPr lang="zh-CN" altLang="en-US" sz="2800" dirty="0" smtClean="0"/>
              <a:t>（</a:t>
            </a:r>
            <a:r>
              <a:rPr lang="en-US" altLang="zh-CN" sz="2800" dirty="0" smtClean="0"/>
              <a:t>2</a:t>
            </a:r>
            <a:r>
              <a:rPr lang="zh-CN" altLang="en-US" sz="2800" dirty="0" smtClean="0"/>
              <a:t>）计算搜索方向                    </a:t>
            </a:r>
            <a:r>
              <a:rPr lang="en-US" altLang="zh-CN" sz="2800" dirty="0" smtClean="0"/>
              <a:t> </a:t>
            </a:r>
            <a:r>
              <a:rPr lang="zh-CN" altLang="en-US" sz="2800" dirty="0" smtClean="0"/>
              <a:t>．</a:t>
            </a:r>
          </a:p>
          <a:p>
            <a:pPr>
              <a:lnSpc>
                <a:spcPct val="120000"/>
              </a:lnSpc>
              <a:defRPr/>
            </a:pPr>
            <a:r>
              <a:rPr lang="zh-CN" altLang="en-US" sz="2800" dirty="0" smtClean="0"/>
              <a:t>（</a:t>
            </a:r>
            <a:r>
              <a:rPr lang="en-US" altLang="zh-CN" sz="2800" dirty="0" smtClean="0"/>
              <a:t>3</a:t>
            </a:r>
            <a:r>
              <a:rPr lang="zh-CN" altLang="en-US" sz="2800" dirty="0" smtClean="0"/>
              <a:t>）作直线搜索                                ，计算</a:t>
            </a:r>
          </a:p>
          <a:p>
            <a:pPr>
              <a:lnSpc>
                <a:spcPct val="120000"/>
              </a:lnSpc>
              <a:defRPr/>
            </a:pPr>
            <a:endParaRPr lang="zh-CN" altLang="en-US" sz="2800" dirty="0" smtClean="0"/>
          </a:p>
          <a:p>
            <a:pPr>
              <a:lnSpc>
                <a:spcPct val="120000"/>
              </a:lnSpc>
              <a:buFontTx/>
              <a:buNone/>
              <a:defRPr/>
            </a:pPr>
            <a:r>
              <a:rPr lang="zh-CN" altLang="en-US" sz="1800" dirty="0" smtClean="0"/>
              <a:t>　       </a:t>
            </a:r>
          </a:p>
        </p:txBody>
      </p:sp>
      <p:graphicFrame>
        <p:nvGraphicFramePr>
          <p:cNvPr id="2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5183118"/>
              </p:ext>
            </p:extLst>
          </p:nvPr>
        </p:nvGraphicFramePr>
        <p:xfrm>
          <a:off x="2500313" y="1910557"/>
          <a:ext cx="65087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522" name="公式" r:id="rId3" imgW="355446" imgH="190417" progId="Equation.3">
                  <p:embed/>
                </p:oleObj>
              </mc:Choice>
              <mc:Fallback>
                <p:oleObj name="公式" r:id="rId3" imgW="355446" imgH="190417" progId="Equation.3">
                  <p:embed/>
                  <p:pic>
                    <p:nvPicPr>
                      <p:cNvPr id="22733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0313" y="1910557"/>
                        <a:ext cx="650875" cy="428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2109101"/>
              </p:ext>
            </p:extLst>
          </p:nvPr>
        </p:nvGraphicFramePr>
        <p:xfrm>
          <a:off x="4499992" y="1864519"/>
          <a:ext cx="778681" cy="4270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523" name="Equation" r:id="rId5" imgW="419040" imgH="203040" progId="Equation.DSMT4">
                  <p:embed/>
                </p:oleObj>
              </mc:Choice>
              <mc:Fallback>
                <p:oleObj name="Equation" r:id="rId5" imgW="419040" imgH="203040" progId="Equation.DSMT4">
                  <p:embed/>
                  <p:pic>
                    <p:nvPicPr>
                      <p:cNvPr id="22733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9992" y="1864519"/>
                        <a:ext cx="778681" cy="42706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9474987"/>
              </p:ext>
            </p:extLst>
          </p:nvPr>
        </p:nvGraphicFramePr>
        <p:xfrm>
          <a:off x="6500813" y="1921535"/>
          <a:ext cx="361949" cy="3700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524" name="Equation" r:id="rId7" imgW="152280" imgH="139680" progId="Equation.DSMT4">
                  <p:embed/>
                </p:oleObj>
              </mc:Choice>
              <mc:Fallback>
                <p:oleObj name="Equation" r:id="rId7" imgW="152280" imgH="139680" progId="Equation.DSMT4">
                  <p:embed/>
                  <p:pic>
                    <p:nvPicPr>
                      <p:cNvPr id="22733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00813" y="1921535"/>
                        <a:ext cx="361949" cy="37005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Rectangle 13"/>
          <p:cNvSpPr>
            <a:spLocks noChangeArrowheads="1"/>
          </p:cNvSpPr>
          <p:nvPr/>
        </p:nvSpPr>
        <p:spPr bwMode="auto">
          <a:xfrm>
            <a:off x="0" y="2783682"/>
            <a:ext cx="184150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graphicFrame>
        <p:nvGraphicFramePr>
          <p:cNvPr id="31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8043154"/>
              </p:ext>
            </p:extLst>
          </p:nvPr>
        </p:nvGraphicFramePr>
        <p:xfrm>
          <a:off x="3071813" y="2410619"/>
          <a:ext cx="503237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525" name="公式" r:id="rId9" imgW="203024" imgH="203024" progId="Equation.3">
                  <p:embed/>
                </p:oleObj>
              </mc:Choice>
              <mc:Fallback>
                <p:oleObj name="公式" r:id="rId9" imgW="203024" imgH="203024" progId="Equation.3">
                  <p:embed/>
                  <p:pic>
                    <p:nvPicPr>
                      <p:cNvPr id="22734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1813" y="2410619"/>
                        <a:ext cx="503237" cy="503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2585348"/>
              </p:ext>
            </p:extLst>
          </p:nvPr>
        </p:nvGraphicFramePr>
        <p:xfrm>
          <a:off x="4571206" y="2426757"/>
          <a:ext cx="2397998" cy="4633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526" name="公式" r:id="rId11" imgW="1346200" imgH="203200" progId="Equation.3">
                  <p:embed/>
                </p:oleObj>
              </mc:Choice>
              <mc:Fallback>
                <p:oleObj name="公式" r:id="rId11" imgW="1346200" imgH="203200" progId="Equation.3">
                  <p:embed/>
                  <p:pic>
                    <p:nvPicPr>
                      <p:cNvPr id="227342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1206" y="2426757"/>
                        <a:ext cx="2397998" cy="463317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2906594"/>
              </p:ext>
            </p:extLst>
          </p:nvPr>
        </p:nvGraphicFramePr>
        <p:xfrm>
          <a:off x="782211" y="2957909"/>
          <a:ext cx="574675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527" name="公式" r:id="rId13" imgW="215713" imgH="203024" progId="Equation.3">
                  <p:embed/>
                </p:oleObj>
              </mc:Choice>
              <mc:Fallback>
                <p:oleObj name="公式" r:id="rId13" imgW="215713" imgH="203024" progId="Equation.3">
                  <p:embed/>
                  <p:pic>
                    <p:nvPicPr>
                      <p:cNvPr id="227344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2211" y="2957909"/>
                        <a:ext cx="574675" cy="511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8433929"/>
              </p:ext>
            </p:extLst>
          </p:nvPr>
        </p:nvGraphicFramePr>
        <p:xfrm>
          <a:off x="2001064" y="2978944"/>
          <a:ext cx="431800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528" name="公式" r:id="rId15" imgW="215713" imgH="203024" progId="Equation.3">
                  <p:embed/>
                </p:oleObj>
              </mc:Choice>
              <mc:Fallback>
                <p:oleObj name="公式" r:id="rId15" imgW="215713" imgH="203024" progId="Equation.3">
                  <p:embed/>
                  <p:pic>
                    <p:nvPicPr>
                      <p:cNvPr id="227346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1064" y="2978944"/>
                        <a:ext cx="431800" cy="4778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0251219"/>
              </p:ext>
            </p:extLst>
          </p:nvPr>
        </p:nvGraphicFramePr>
        <p:xfrm>
          <a:off x="4885533" y="2993771"/>
          <a:ext cx="847559" cy="4691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529" name="公式" r:id="rId17" imgW="431613" imgH="203112" progId="Equation.3">
                  <p:embed/>
                </p:oleObj>
              </mc:Choice>
              <mc:Fallback>
                <p:oleObj name="公式" r:id="rId17" imgW="431613" imgH="203112" progId="Equation.3">
                  <p:embed/>
                  <p:pic>
                    <p:nvPicPr>
                      <p:cNvPr id="227348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85533" y="2993771"/>
                        <a:ext cx="847559" cy="46910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Rectangle 23"/>
          <p:cNvSpPr>
            <a:spLocks noChangeArrowheads="1"/>
          </p:cNvSpPr>
          <p:nvPr/>
        </p:nvSpPr>
        <p:spPr bwMode="auto">
          <a:xfrm>
            <a:off x="0" y="2802732"/>
            <a:ext cx="184150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graphicFrame>
        <p:nvGraphicFramePr>
          <p:cNvPr id="37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9554853"/>
              </p:ext>
            </p:extLst>
          </p:nvPr>
        </p:nvGraphicFramePr>
        <p:xfrm>
          <a:off x="6833606" y="2944559"/>
          <a:ext cx="1079500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530" name="公式" r:id="rId19" imgW="330057" imgH="165028" progId="Equation.3">
                  <p:embed/>
                </p:oleObj>
              </mc:Choice>
              <mc:Fallback>
                <p:oleObj name="公式" r:id="rId19" imgW="330057" imgH="165028" progId="Equation.3">
                  <p:embed/>
                  <p:pic>
                    <p:nvPicPr>
                      <p:cNvPr id="22735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3606" y="2944559"/>
                        <a:ext cx="1079500" cy="523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867406"/>
              </p:ext>
            </p:extLst>
          </p:nvPr>
        </p:nvGraphicFramePr>
        <p:xfrm>
          <a:off x="3429000" y="3540919"/>
          <a:ext cx="1714500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531" name="公式" r:id="rId21" imgW="749160" imgH="228600" progId="Equation.3">
                  <p:embed/>
                </p:oleObj>
              </mc:Choice>
              <mc:Fallback>
                <p:oleObj name="公式" r:id="rId21" imgW="749160" imgH="228600" progId="Equation.3">
                  <p:embed/>
                  <p:pic>
                    <p:nvPicPr>
                      <p:cNvPr id="227352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3540919"/>
                        <a:ext cx="1714500" cy="5127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2679820"/>
              </p:ext>
            </p:extLst>
          </p:nvPr>
        </p:nvGraphicFramePr>
        <p:xfrm>
          <a:off x="3164021" y="4162651"/>
          <a:ext cx="2543175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532" name="公式" r:id="rId23" imgW="1016000" imgH="203200" progId="Equation.3">
                  <p:embed/>
                </p:oleObj>
              </mc:Choice>
              <mc:Fallback>
                <p:oleObj name="公式" r:id="rId23" imgW="1016000" imgH="203200" progId="Equation.3">
                  <p:embed/>
                  <p:pic>
                    <p:nvPicPr>
                      <p:cNvPr id="227354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4021" y="4162651"/>
                        <a:ext cx="2543175" cy="500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9064014"/>
              </p:ext>
            </p:extLst>
          </p:nvPr>
        </p:nvGraphicFramePr>
        <p:xfrm>
          <a:off x="2514600" y="4697413"/>
          <a:ext cx="4398963" cy="1082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533" name="Equation" r:id="rId25" imgW="1892160" imgH="457200" progId="Equation.DSMT4">
                  <p:embed/>
                </p:oleObj>
              </mc:Choice>
              <mc:Fallback>
                <p:oleObj name="Equation" r:id="rId25" imgW="1892160" imgH="457200" progId="Equation.DSMT4">
                  <p:embed/>
                  <p:pic>
                    <p:nvPicPr>
                      <p:cNvPr id="227356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4697413"/>
                        <a:ext cx="4398963" cy="1082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38342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3"/>
          <p:cNvSpPr>
            <a:spLocks noGrp="1"/>
          </p:cNvSpPr>
          <p:nvPr>
            <p:ph type="title"/>
          </p:nvPr>
        </p:nvSpPr>
        <p:spPr>
          <a:xfrm>
            <a:off x="2771800" y="85816"/>
            <a:ext cx="6215073" cy="549844"/>
          </a:xfrm>
        </p:spPr>
        <p:txBody>
          <a:bodyPr/>
          <a:lstStyle/>
          <a:p>
            <a:r>
              <a:rPr kumimoji="1" lang="zh-CN" alt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拟牛顿法</a:t>
            </a:r>
            <a:endParaRPr kumimoji="1" lang="zh-CN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4803163" y="-47233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4803163" y="-47233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4803163" y="-47233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11" name="Rectangle 11"/>
          <p:cNvSpPr>
            <a:spLocks noChangeArrowheads="1"/>
          </p:cNvSpPr>
          <p:nvPr/>
        </p:nvSpPr>
        <p:spPr bwMode="auto">
          <a:xfrm>
            <a:off x="4803163" y="-47233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graphicFrame>
        <p:nvGraphicFramePr>
          <p:cNvPr id="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0021396"/>
              </p:ext>
            </p:extLst>
          </p:nvPr>
        </p:nvGraphicFramePr>
        <p:xfrm>
          <a:off x="7253536" y="1556221"/>
          <a:ext cx="558800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402" name="公式" r:id="rId4" imgW="291973" imgH="203112" progId="Equation.3">
                  <p:embed/>
                </p:oleObj>
              </mc:Choice>
              <mc:Fallback>
                <p:oleObj name="公式" r:id="rId4" imgW="291973" imgH="203112" progId="Equation.3">
                  <p:embed/>
                  <p:pic>
                    <p:nvPicPr>
                      <p:cNvPr id="22835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53536" y="1556221"/>
                        <a:ext cx="558800" cy="500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5417786"/>
              </p:ext>
            </p:extLst>
          </p:nvPr>
        </p:nvGraphicFramePr>
        <p:xfrm>
          <a:off x="2181473" y="2613496"/>
          <a:ext cx="2357438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403" name="公式" r:id="rId6" imgW="914400" imgH="203200" progId="Equation.3">
                  <p:embed/>
                </p:oleObj>
              </mc:Choice>
              <mc:Fallback>
                <p:oleObj name="公式" r:id="rId6" imgW="914400" imgH="203200" progId="Equation.3">
                  <p:embed/>
                  <p:pic>
                    <p:nvPicPr>
                      <p:cNvPr id="22835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1473" y="2613496"/>
                        <a:ext cx="2357438" cy="514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865847"/>
              </p:ext>
            </p:extLst>
          </p:nvPr>
        </p:nvGraphicFramePr>
        <p:xfrm>
          <a:off x="1538536" y="3161184"/>
          <a:ext cx="1428750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404" name="公式" r:id="rId8" imgW="494870" imgH="164957" progId="Equation.3">
                  <p:embed/>
                </p:oleObj>
              </mc:Choice>
              <mc:Fallback>
                <p:oleObj name="公式" r:id="rId8" imgW="494870" imgH="164957" progId="Equation.3">
                  <p:embed/>
                  <p:pic>
                    <p:nvPicPr>
                      <p:cNvPr id="22835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8536" y="3161184"/>
                        <a:ext cx="1428750" cy="466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6905029"/>
              </p:ext>
            </p:extLst>
          </p:nvPr>
        </p:nvGraphicFramePr>
        <p:xfrm>
          <a:off x="2752973" y="3710459"/>
          <a:ext cx="466725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405" name="公式" r:id="rId10" imgW="190417" imgH="203112" progId="Equation.3">
                  <p:embed/>
                </p:oleObj>
              </mc:Choice>
              <mc:Fallback>
                <p:oleObj name="公式" r:id="rId10" imgW="190417" imgH="203112" progId="Equation.3">
                  <p:embed/>
                  <p:pic>
                    <p:nvPicPr>
                      <p:cNvPr id="22835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2973" y="3710459"/>
                        <a:ext cx="466725" cy="488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6"/>
          <p:cNvSpPr>
            <a:spLocks noChangeArrowheads="1"/>
          </p:cNvSpPr>
          <p:nvPr/>
        </p:nvSpPr>
        <p:spPr bwMode="auto">
          <a:xfrm>
            <a:off x="395536" y="1484784"/>
            <a:ext cx="8353425" cy="3825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2800">
                <a:latin typeface="Arial" panose="020B0604020202020204" pitchFamily="34" charset="0"/>
              </a:rPr>
              <a:t>（</a:t>
            </a:r>
            <a:r>
              <a:rPr lang="en-US" altLang="zh-CN" sz="2800">
                <a:latin typeface="Arial" panose="020B0604020202020204" pitchFamily="34" charset="0"/>
              </a:rPr>
              <a:t>4</a:t>
            </a:r>
            <a:r>
              <a:rPr lang="zh-CN" altLang="en-US" sz="2800">
                <a:latin typeface="Arial" panose="020B0604020202020204" pitchFamily="34" charset="0"/>
              </a:rPr>
              <a:t>）判别终止准则是否满足：若满足，则       就是 </a:t>
            </a:r>
            <a:endParaRPr lang="en-US" altLang="zh-CN" sz="2800">
              <a:latin typeface="Arial" panose="020B0604020202020204" pitchFamily="34" charset="0"/>
            </a:endParaRPr>
          </a:p>
          <a:p>
            <a:pPr eaLnBrk="1" hangingPunct="1">
              <a:lnSpc>
                <a:spcPct val="125000"/>
              </a:lnSpc>
            </a:pPr>
            <a:r>
              <a:rPr lang="en-US" altLang="zh-CN" sz="2800">
                <a:latin typeface="Arial" panose="020B0604020202020204" pitchFamily="34" charset="0"/>
              </a:rPr>
              <a:t>           </a:t>
            </a:r>
            <a:r>
              <a:rPr lang="zh-CN" altLang="en-US" sz="2800">
                <a:latin typeface="Arial" panose="020B0604020202020204" pitchFamily="34" charset="0"/>
              </a:rPr>
              <a:t>所求的极小点，打印，停机；否则转（</a:t>
            </a:r>
            <a:r>
              <a:rPr lang="en-US" altLang="zh-CN" sz="2800">
                <a:latin typeface="Arial" panose="020B0604020202020204" pitchFamily="34" charset="0"/>
              </a:rPr>
              <a:t>5</a:t>
            </a:r>
            <a:r>
              <a:rPr lang="zh-CN" altLang="en-US" sz="2800">
                <a:latin typeface="Arial" panose="020B0604020202020204" pitchFamily="34" charset="0"/>
              </a:rPr>
              <a:t>）．</a:t>
            </a:r>
          </a:p>
          <a:p>
            <a:pPr eaLnBrk="1" hangingPunct="1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2800">
                <a:latin typeface="Arial" panose="020B0604020202020204" pitchFamily="34" charset="0"/>
              </a:rPr>
              <a:t>（</a:t>
            </a:r>
            <a:r>
              <a:rPr lang="en-US" altLang="zh-CN" sz="2800">
                <a:latin typeface="Arial" panose="020B0604020202020204" pitchFamily="34" charset="0"/>
              </a:rPr>
              <a:t>5</a:t>
            </a:r>
            <a:r>
              <a:rPr lang="zh-CN" altLang="en-US" sz="2800">
                <a:latin typeface="Arial" panose="020B0604020202020204" pitchFamily="34" charset="0"/>
              </a:rPr>
              <a:t>）计算                      </a:t>
            </a:r>
          </a:p>
          <a:p>
            <a:pPr eaLnBrk="1" hangingPunct="1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2800">
                <a:latin typeface="Arial" panose="020B0604020202020204" pitchFamily="34" charset="0"/>
              </a:rPr>
              <a:t>（</a:t>
            </a:r>
            <a:r>
              <a:rPr lang="en-US" altLang="zh-CN" sz="2800">
                <a:latin typeface="Arial" panose="020B0604020202020204" pitchFamily="34" charset="0"/>
              </a:rPr>
              <a:t>6</a:t>
            </a:r>
            <a:r>
              <a:rPr lang="zh-CN" altLang="en-US" sz="2800">
                <a:latin typeface="Arial" panose="020B0604020202020204" pitchFamily="34" charset="0"/>
              </a:rPr>
              <a:t>）               </a:t>
            </a:r>
            <a:r>
              <a:rPr lang="en-US" altLang="zh-CN" sz="2800">
                <a:latin typeface="Arial" panose="020B0604020202020204" pitchFamily="34" charset="0"/>
              </a:rPr>
              <a:t>,</a:t>
            </a:r>
            <a:r>
              <a:rPr lang="zh-CN" altLang="en-US" sz="2800">
                <a:latin typeface="Arial" panose="020B0604020202020204" pitchFamily="34" charset="0"/>
              </a:rPr>
              <a:t> 转（</a:t>
            </a:r>
            <a:r>
              <a:rPr lang="en-US" altLang="zh-CN" sz="2800">
                <a:latin typeface="Arial" panose="020B0604020202020204" pitchFamily="34" charset="0"/>
              </a:rPr>
              <a:t>2</a:t>
            </a:r>
            <a:r>
              <a:rPr lang="zh-CN" altLang="en-US" sz="2800">
                <a:latin typeface="Arial" panose="020B0604020202020204" pitchFamily="34" charset="0"/>
              </a:rPr>
              <a:t>）．</a:t>
            </a:r>
          </a:p>
          <a:p>
            <a:pPr eaLnBrk="1" hangingPunct="1">
              <a:lnSpc>
                <a:spcPct val="125000"/>
              </a:lnSpc>
            </a:pPr>
            <a:r>
              <a:rPr lang="zh-CN" altLang="en-US" sz="2800">
                <a:latin typeface="Arial" panose="020B0604020202020204" pitchFamily="34" charset="0"/>
              </a:rPr>
              <a:t>  其中校正矩阵    可由确定的公式来计算．不同  </a:t>
            </a:r>
            <a:endParaRPr lang="en-US" altLang="zh-CN" sz="2800">
              <a:latin typeface="Arial" panose="020B0604020202020204" pitchFamily="34" charset="0"/>
            </a:endParaRPr>
          </a:p>
          <a:p>
            <a:pPr eaLnBrk="1" hangingPunct="1">
              <a:lnSpc>
                <a:spcPct val="125000"/>
              </a:lnSpc>
            </a:pPr>
            <a:r>
              <a:rPr lang="en-US" altLang="zh-CN" sz="2800">
                <a:latin typeface="Arial" panose="020B0604020202020204" pitchFamily="34" charset="0"/>
              </a:rPr>
              <a:t>  </a:t>
            </a:r>
            <a:r>
              <a:rPr lang="zh-CN" altLang="en-US" sz="2800">
                <a:latin typeface="Arial" panose="020B0604020202020204" pitchFamily="34" charset="0"/>
              </a:rPr>
              <a:t>的公式对应不同的拟</a:t>
            </a:r>
            <a:r>
              <a:rPr lang="en-US" altLang="zh-CN" sz="2800">
                <a:latin typeface="Arial" panose="020B0604020202020204" pitchFamily="34" charset="0"/>
              </a:rPr>
              <a:t>Newton</a:t>
            </a:r>
            <a:r>
              <a:rPr lang="zh-CN" altLang="en-US" sz="2800">
                <a:latin typeface="Arial" panose="020B0604020202020204" pitchFamily="34" charset="0"/>
              </a:rPr>
              <a:t>算法．</a:t>
            </a:r>
          </a:p>
          <a:p>
            <a:pPr eaLnBrk="1" hangingPunct="1">
              <a:lnSpc>
                <a:spcPct val="125000"/>
              </a:lnSpc>
            </a:pPr>
            <a:r>
              <a:rPr lang="zh-CN" altLang="en-US" sz="2800">
                <a:latin typeface="Arial" panose="020B0604020202020204" pitchFamily="34" charset="0"/>
              </a:rPr>
              <a:t>        </a:t>
            </a:r>
          </a:p>
        </p:txBody>
      </p:sp>
    </p:spTree>
    <p:extLst>
      <p:ext uri="{BB962C8B-B14F-4D97-AF65-F5344CB8AC3E}">
        <p14:creationId xmlns:p14="http://schemas.microsoft.com/office/powerpoint/2010/main" val="600217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3"/>
          <p:cNvSpPr>
            <a:spLocks noGrp="1"/>
          </p:cNvSpPr>
          <p:nvPr>
            <p:ph type="title"/>
          </p:nvPr>
        </p:nvSpPr>
        <p:spPr>
          <a:xfrm>
            <a:off x="2771800" y="85816"/>
            <a:ext cx="6215073" cy="549844"/>
          </a:xfrm>
        </p:spPr>
        <p:txBody>
          <a:bodyPr/>
          <a:lstStyle/>
          <a:p>
            <a:pPr algn="l"/>
            <a:r>
              <a:rPr kumimoji="1" lang="zh-CN" alt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拟牛顿法</a:t>
            </a:r>
            <a:endParaRPr kumimoji="1" lang="zh-CN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4803163" y="-47233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4803163" y="-47233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4803163" y="-47233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11" name="Rectangle 11"/>
          <p:cNvSpPr>
            <a:spLocks noChangeArrowheads="1"/>
          </p:cNvSpPr>
          <p:nvPr/>
        </p:nvSpPr>
        <p:spPr bwMode="auto">
          <a:xfrm>
            <a:off x="4803163" y="-47233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42" name="矩形 1"/>
          <p:cNvSpPr>
            <a:spLocks noChangeArrowheads="1"/>
          </p:cNvSpPr>
          <p:nvPr/>
        </p:nvSpPr>
        <p:spPr bwMode="auto">
          <a:xfrm>
            <a:off x="500063" y="3071813"/>
            <a:ext cx="2400300" cy="137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Arial" panose="020B0604020202020204" pitchFamily="34" charset="0"/>
              </a:rPr>
              <a:t>拟</a:t>
            </a:r>
            <a:r>
              <a:rPr lang="en-US" altLang="zh-CN" sz="2800">
                <a:latin typeface="Arial" panose="020B0604020202020204" pitchFamily="34" charset="0"/>
              </a:rPr>
              <a:t>Newton</a:t>
            </a:r>
            <a:r>
              <a:rPr lang="zh-CN" altLang="en-US" sz="2800">
                <a:latin typeface="Arial" panose="020B0604020202020204" pitchFamily="34" charset="0"/>
              </a:rPr>
              <a:t>算法的流程如图所示．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4609126" y="-99392"/>
            <a:ext cx="4543425" cy="6624838"/>
            <a:chOff x="3314700" y="90286"/>
            <a:chExt cx="4543425" cy="6624838"/>
          </a:xfrm>
        </p:grpSpPr>
        <p:grpSp>
          <p:nvGrpSpPr>
            <p:cNvPr id="43" name="Group 49"/>
            <p:cNvGrpSpPr>
              <a:grpSpLocks/>
            </p:cNvGrpSpPr>
            <p:nvPr/>
          </p:nvGrpSpPr>
          <p:grpSpPr bwMode="auto">
            <a:xfrm>
              <a:off x="3314700" y="90286"/>
              <a:ext cx="4543425" cy="6624838"/>
              <a:chOff x="4139" y="1624"/>
              <a:chExt cx="4681" cy="9490"/>
            </a:xfrm>
          </p:grpSpPr>
          <p:sp>
            <p:nvSpPr>
              <p:cNvPr id="44" name="AutoShape 50"/>
              <p:cNvSpPr>
                <a:spLocks noChangeArrowheads="1"/>
              </p:cNvSpPr>
              <p:nvPr/>
            </p:nvSpPr>
            <p:spPr bwMode="auto">
              <a:xfrm>
                <a:off x="5400" y="10334"/>
                <a:ext cx="1439" cy="539"/>
              </a:xfrm>
              <a:prstGeom prst="flowChartProcess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>
                    <a:latin typeface="Arial" panose="020B0604020202020204" pitchFamily="34" charset="0"/>
                  </a:rPr>
                  <a:t>k=k+1</a:t>
                </a:r>
                <a:endParaRPr lang="zh-CN" altLang="zh-CN">
                  <a:latin typeface="Arial" panose="020B0604020202020204" pitchFamily="34" charset="0"/>
                </a:endParaRPr>
              </a:p>
            </p:txBody>
          </p:sp>
          <p:sp>
            <p:nvSpPr>
              <p:cNvPr id="45" name="AutoShape 51"/>
              <p:cNvSpPr>
                <a:spLocks noChangeArrowheads="1"/>
              </p:cNvSpPr>
              <p:nvPr/>
            </p:nvSpPr>
            <p:spPr bwMode="auto">
              <a:xfrm>
                <a:off x="5508" y="9375"/>
                <a:ext cx="1332" cy="539"/>
              </a:xfrm>
              <a:prstGeom prst="flowChartProcess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zh-CN">
                  <a:latin typeface="Arial" panose="020B0604020202020204" pitchFamily="34" charset="0"/>
                </a:endParaRPr>
              </a:p>
            </p:txBody>
          </p:sp>
          <p:sp>
            <p:nvSpPr>
              <p:cNvPr id="46" name="AutoShape 52"/>
              <p:cNvSpPr>
                <a:spLocks noChangeArrowheads="1"/>
              </p:cNvSpPr>
              <p:nvPr/>
            </p:nvSpPr>
            <p:spPr bwMode="auto">
              <a:xfrm>
                <a:off x="5400" y="3937"/>
                <a:ext cx="1440" cy="936"/>
              </a:xfrm>
              <a:prstGeom prst="flowChartProcess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zh-CN">
                  <a:latin typeface="Arial" panose="020B0604020202020204" pitchFamily="34" charset="0"/>
                </a:endParaRPr>
              </a:p>
            </p:txBody>
          </p:sp>
          <p:sp>
            <p:nvSpPr>
              <p:cNvPr id="47" name="AutoShape 53"/>
              <p:cNvSpPr>
                <a:spLocks noChangeArrowheads="1"/>
              </p:cNvSpPr>
              <p:nvPr/>
            </p:nvSpPr>
            <p:spPr bwMode="auto">
              <a:xfrm>
                <a:off x="5220" y="5185"/>
                <a:ext cx="1799" cy="539"/>
              </a:xfrm>
              <a:prstGeom prst="flowChartProcess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zh-CN">
                  <a:latin typeface="Arial" panose="020B0604020202020204" pitchFamily="34" charset="0"/>
                </a:endParaRPr>
              </a:p>
            </p:txBody>
          </p:sp>
          <p:sp>
            <p:nvSpPr>
              <p:cNvPr id="48" name="Line 54"/>
              <p:cNvSpPr>
                <a:spLocks noChangeShapeType="1"/>
              </p:cNvSpPr>
              <p:nvPr/>
            </p:nvSpPr>
            <p:spPr bwMode="auto">
              <a:xfrm>
                <a:off x="6170" y="2211"/>
                <a:ext cx="1" cy="31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" name="Line 55"/>
              <p:cNvSpPr>
                <a:spLocks noChangeShapeType="1"/>
              </p:cNvSpPr>
              <p:nvPr/>
            </p:nvSpPr>
            <p:spPr bwMode="auto">
              <a:xfrm>
                <a:off x="6120" y="3625"/>
                <a:ext cx="1" cy="31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" name="Line 56"/>
              <p:cNvSpPr>
                <a:spLocks noChangeShapeType="1"/>
              </p:cNvSpPr>
              <p:nvPr/>
            </p:nvSpPr>
            <p:spPr bwMode="auto">
              <a:xfrm>
                <a:off x="6120" y="4873"/>
                <a:ext cx="1" cy="31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" name="Line 57"/>
              <p:cNvSpPr>
                <a:spLocks noChangeShapeType="1"/>
              </p:cNvSpPr>
              <p:nvPr/>
            </p:nvSpPr>
            <p:spPr bwMode="auto">
              <a:xfrm>
                <a:off x="6120" y="5965"/>
                <a:ext cx="1" cy="31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" name="Line 58"/>
              <p:cNvSpPr>
                <a:spLocks noChangeShapeType="1"/>
              </p:cNvSpPr>
              <p:nvPr/>
            </p:nvSpPr>
            <p:spPr bwMode="auto">
              <a:xfrm>
                <a:off x="6120" y="8929"/>
                <a:ext cx="1" cy="31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" name="AutoShape 59"/>
              <p:cNvSpPr>
                <a:spLocks noChangeArrowheads="1"/>
              </p:cNvSpPr>
              <p:nvPr/>
            </p:nvSpPr>
            <p:spPr bwMode="auto">
              <a:xfrm>
                <a:off x="4860" y="7993"/>
                <a:ext cx="2520" cy="935"/>
              </a:xfrm>
              <a:prstGeom prst="flowChartDecision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en-US" altLang="zh-CN" sz="1600" dirty="0">
                    <a:latin typeface="Calibri" panose="020F0502020204030204" pitchFamily="34" charset="0"/>
                  </a:rPr>
                  <a:t>H</a:t>
                </a:r>
                <a:r>
                  <a:rPr lang="zh-CN" altLang="en-US" sz="1600" dirty="0">
                    <a:latin typeface="Calibri" panose="020F0502020204030204" pitchFamily="34" charset="0"/>
                  </a:rPr>
                  <a:t>准则满足</a:t>
                </a:r>
                <a:endParaRPr lang="zh-CN" altLang="en-US" sz="16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54" name="Line 60"/>
              <p:cNvSpPr>
                <a:spLocks noChangeShapeType="1"/>
              </p:cNvSpPr>
              <p:nvPr/>
            </p:nvSpPr>
            <p:spPr bwMode="auto">
              <a:xfrm>
                <a:off x="6120" y="7681"/>
                <a:ext cx="2" cy="31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" name="Line 61"/>
              <p:cNvSpPr>
                <a:spLocks noChangeShapeType="1"/>
              </p:cNvSpPr>
              <p:nvPr/>
            </p:nvSpPr>
            <p:spPr bwMode="auto">
              <a:xfrm>
                <a:off x="7380" y="8461"/>
                <a:ext cx="539" cy="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6" name="Line 62"/>
              <p:cNvSpPr>
                <a:spLocks noChangeShapeType="1"/>
              </p:cNvSpPr>
              <p:nvPr/>
            </p:nvSpPr>
            <p:spPr bwMode="auto">
              <a:xfrm>
                <a:off x="8280" y="8773"/>
                <a:ext cx="2" cy="46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" name="Line 63"/>
              <p:cNvSpPr>
                <a:spLocks noChangeShapeType="1"/>
              </p:cNvSpPr>
              <p:nvPr/>
            </p:nvSpPr>
            <p:spPr bwMode="auto">
              <a:xfrm>
                <a:off x="6120" y="10800"/>
                <a:ext cx="1" cy="31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8" name="AutoShape 64"/>
              <p:cNvSpPr>
                <a:spLocks noChangeArrowheads="1"/>
              </p:cNvSpPr>
              <p:nvPr/>
            </p:nvSpPr>
            <p:spPr bwMode="auto">
              <a:xfrm>
                <a:off x="7740" y="8149"/>
                <a:ext cx="1080" cy="677"/>
              </a:xfrm>
              <a:prstGeom prst="parallelogram">
                <a:avLst>
                  <a:gd name="adj" fmla="val 39882"/>
                </a:avLst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en-US" altLang="zh-CN" sz="1600" i="1">
                    <a:latin typeface="Calibri" panose="020F0502020204030204" pitchFamily="34" charset="0"/>
                  </a:rPr>
                  <a:t>X</a:t>
                </a:r>
                <a:r>
                  <a:rPr lang="en-US" altLang="zh-CN" sz="1600" i="1" baseline="-25000">
                    <a:latin typeface="Calibri" panose="020F0502020204030204" pitchFamily="34" charset="0"/>
                  </a:rPr>
                  <a:t>k+</a:t>
                </a:r>
                <a:r>
                  <a:rPr lang="en-US" altLang="zh-CN" sz="1600" baseline="-25000">
                    <a:latin typeface="Calibri" panose="020F0502020204030204" pitchFamily="34" charset="0"/>
                  </a:rPr>
                  <a:t>1</a:t>
                </a:r>
                <a:endParaRPr lang="zh-CN" altLang="zh-CN" sz="1600">
                  <a:latin typeface="Arial" panose="020B0604020202020204" pitchFamily="34" charset="0"/>
                </a:endParaRPr>
              </a:p>
            </p:txBody>
          </p:sp>
          <p:sp>
            <p:nvSpPr>
              <p:cNvPr id="59" name="AutoShape 65"/>
              <p:cNvSpPr>
                <a:spLocks noChangeArrowheads="1"/>
              </p:cNvSpPr>
              <p:nvPr/>
            </p:nvSpPr>
            <p:spPr bwMode="auto">
              <a:xfrm>
                <a:off x="5876" y="1624"/>
                <a:ext cx="720" cy="479"/>
              </a:xfrm>
              <a:prstGeom prst="flowChartTerminator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1600" dirty="0">
                    <a:latin typeface="Calibri" panose="020F0502020204030204" pitchFamily="34" charset="0"/>
                  </a:rPr>
                  <a:t>开始</a:t>
                </a:r>
                <a:endParaRPr lang="zh-CN" altLang="en-US" sz="16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60" name="AutoShape 66"/>
              <p:cNvSpPr>
                <a:spLocks noChangeArrowheads="1"/>
              </p:cNvSpPr>
              <p:nvPr/>
            </p:nvSpPr>
            <p:spPr bwMode="auto">
              <a:xfrm>
                <a:off x="7920" y="9241"/>
                <a:ext cx="720" cy="480"/>
              </a:xfrm>
              <a:prstGeom prst="flowChartTerminator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1600">
                    <a:latin typeface="Calibri" panose="020F0502020204030204" pitchFamily="34" charset="0"/>
                  </a:rPr>
                  <a:t>结束</a:t>
                </a:r>
                <a:endParaRPr lang="zh-CN" altLang="en-US" sz="1600">
                  <a:latin typeface="Arial" panose="020B0604020202020204" pitchFamily="34" charset="0"/>
                </a:endParaRPr>
              </a:p>
            </p:txBody>
          </p:sp>
          <p:sp>
            <p:nvSpPr>
              <p:cNvPr id="61" name="AutoShape 67"/>
              <p:cNvSpPr>
                <a:spLocks noChangeArrowheads="1"/>
              </p:cNvSpPr>
              <p:nvPr/>
            </p:nvSpPr>
            <p:spPr bwMode="auto">
              <a:xfrm>
                <a:off x="4550" y="2550"/>
                <a:ext cx="3240" cy="1007"/>
              </a:xfrm>
              <a:prstGeom prst="flowChartPreparation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1600" dirty="0">
                    <a:latin typeface="Calibri" panose="020F0502020204030204" pitchFamily="34" charset="0"/>
                  </a:rPr>
                  <a:t>选定</a:t>
                </a:r>
                <a:r>
                  <a:rPr lang="en-US" altLang="zh-CN" sz="1600" dirty="0">
                    <a:latin typeface="Calibri" panose="020F0502020204030204" pitchFamily="34" charset="0"/>
                  </a:rPr>
                  <a:t>X</a:t>
                </a:r>
                <a:r>
                  <a:rPr lang="en-US" altLang="zh-CN" sz="1600" baseline="-25000" dirty="0">
                    <a:latin typeface="Calibri" panose="020F0502020204030204" pitchFamily="34" charset="0"/>
                  </a:rPr>
                  <a:t>0</a:t>
                </a:r>
                <a:r>
                  <a:rPr lang="zh-CN" altLang="en-US" sz="1600" dirty="0">
                    <a:latin typeface="Calibri" panose="020F0502020204030204" pitchFamily="34" charset="0"/>
                  </a:rPr>
                  <a:t>， 对称</a:t>
                </a:r>
              </a:p>
              <a:p>
                <a:pPr algn="ctr" eaLnBrk="1" hangingPunct="1"/>
                <a:r>
                  <a:rPr lang="zh-CN" altLang="en-US" sz="1600" dirty="0">
                    <a:latin typeface="Calibri" panose="020F0502020204030204" pitchFamily="34" charset="0"/>
                  </a:rPr>
                  <a:t>正定阵</a:t>
                </a:r>
                <a:r>
                  <a:rPr lang="en-US" altLang="zh-CN" sz="1600" dirty="0">
                    <a:latin typeface="Calibri" panose="020F0502020204030204" pitchFamily="34" charset="0"/>
                  </a:rPr>
                  <a:t>H</a:t>
                </a:r>
                <a:r>
                  <a:rPr lang="en-US" altLang="zh-CN" sz="1600" baseline="-25000" dirty="0">
                    <a:latin typeface="Calibri" panose="020F0502020204030204" pitchFamily="34" charset="0"/>
                  </a:rPr>
                  <a:t>0</a:t>
                </a:r>
                <a:r>
                  <a:rPr lang="zh-CN" altLang="en-US" sz="1600" dirty="0">
                    <a:latin typeface="Calibri" panose="020F0502020204030204" pitchFamily="34" charset="0"/>
                  </a:rPr>
                  <a:t>，置</a:t>
                </a:r>
                <a:r>
                  <a:rPr lang="en-US" altLang="zh-CN" sz="1600" dirty="0">
                    <a:latin typeface="Calibri" panose="020F0502020204030204" pitchFamily="34" charset="0"/>
                  </a:rPr>
                  <a:t>k=0</a:t>
                </a:r>
                <a:endParaRPr lang="zh-CN" altLang="zh-CN" sz="1600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62" name="Rectangle 68"/>
              <p:cNvSpPr>
                <a:spLocks noChangeArrowheads="1"/>
              </p:cNvSpPr>
              <p:nvPr/>
            </p:nvSpPr>
            <p:spPr bwMode="auto">
              <a:xfrm>
                <a:off x="7348" y="8044"/>
                <a:ext cx="539" cy="4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en-US" altLang="zh-CN" sz="1600">
                    <a:latin typeface="Calibri" panose="020F0502020204030204" pitchFamily="34" charset="0"/>
                  </a:rPr>
                  <a:t>Y</a:t>
                </a:r>
                <a:endParaRPr lang="zh-CN" altLang="zh-CN" sz="1600">
                  <a:latin typeface="Arial" panose="020B0604020202020204" pitchFamily="34" charset="0"/>
                </a:endParaRPr>
              </a:p>
            </p:txBody>
          </p:sp>
          <p:sp>
            <p:nvSpPr>
              <p:cNvPr id="63" name="Rectangle 69"/>
              <p:cNvSpPr>
                <a:spLocks noChangeArrowheads="1"/>
              </p:cNvSpPr>
              <p:nvPr/>
            </p:nvSpPr>
            <p:spPr bwMode="auto">
              <a:xfrm>
                <a:off x="6120" y="8863"/>
                <a:ext cx="540" cy="4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en-US" altLang="zh-CN" sz="1600">
                    <a:latin typeface="Calibri" panose="020F0502020204030204" pitchFamily="34" charset="0"/>
                  </a:rPr>
                  <a:t>N</a:t>
                </a:r>
                <a:endParaRPr lang="zh-CN" altLang="zh-CN" sz="1600">
                  <a:latin typeface="Arial" panose="020B0604020202020204" pitchFamily="34" charset="0"/>
                </a:endParaRPr>
              </a:p>
            </p:txBody>
          </p:sp>
          <p:sp>
            <p:nvSpPr>
              <p:cNvPr id="64" name="AutoShape 70"/>
              <p:cNvSpPr>
                <a:spLocks noChangeArrowheads="1"/>
              </p:cNvSpPr>
              <p:nvPr/>
            </p:nvSpPr>
            <p:spPr bwMode="auto">
              <a:xfrm>
                <a:off x="4692" y="6277"/>
                <a:ext cx="3413" cy="1323"/>
              </a:xfrm>
              <a:prstGeom prst="flowChartProcess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en-US" altLang="zh-CN" dirty="0" smtClean="0">
                  <a:latin typeface="Arial" panose="020B0604020202020204" pitchFamily="34" charset="0"/>
                </a:endParaRPr>
              </a:p>
              <a:p>
                <a:pPr algn="ctr" eaLnBrk="1" hangingPunct="1"/>
                <a:endParaRPr lang="en-US" altLang="zh-CN" dirty="0">
                  <a:latin typeface="Arial" panose="020B0604020202020204" pitchFamily="34" charset="0"/>
                </a:endParaRPr>
              </a:p>
              <a:p>
                <a:pPr algn="ctr" eaLnBrk="1" hangingPunct="1"/>
                <a:endParaRPr lang="zh-CN" altLang="zh-CN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65" name="Line 71"/>
              <p:cNvSpPr>
                <a:spLocks noChangeShapeType="1"/>
              </p:cNvSpPr>
              <p:nvPr/>
            </p:nvSpPr>
            <p:spPr bwMode="auto">
              <a:xfrm>
                <a:off x="6120" y="10021"/>
                <a:ext cx="0" cy="31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" name="Line 72"/>
              <p:cNvSpPr>
                <a:spLocks noChangeShapeType="1"/>
              </p:cNvSpPr>
              <p:nvPr/>
            </p:nvSpPr>
            <p:spPr bwMode="auto">
              <a:xfrm flipH="1">
                <a:off x="4140" y="11113"/>
                <a:ext cx="1980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7" name="Line 73"/>
              <p:cNvSpPr>
                <a:spLocks noChangeShapeType="1"/>
              </p:cNvSpPr>
              <p:nvPr/>
            </p:nvSpPr>
            <p:spPr bwMode="auto">
              <a:xfrm flipV="1">
                <a:off x="4139" y="5653"/>
                <a:ext cx="1" cy="546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8" name="Line 74"/>
              <p:cNvSpPr>
                <a:spLocks noChangeShapeType="1"/>
              </p:cNvSpPr>
              <p:nvPr/>
            </p:nvSpPr>
            <p:spPr bwMode="auto">
              <a:xfrm>
                <a:off x="4140" y="5653"/>
                <a:ext cx="1080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aphicFrame>
          <p:nvGraphicFramePr>
            <p:cNvPr id="69" name="Object 7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77998129"/>
                </p:ext>
              </p:extLst>
            </p:nvPr>
          </p:nvGraphicFramePr>
          <p:xfrm>
            <a:off x="4572000" y="1714500"/>
            <a:ext cx="1357313" cy="6651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9442" name="Equation" r:id="rId3" imgW="736560" imgH="457200" progId="Equation.DSMT4">
                    <p:embed/>
                  </p:oleObj>
                </mc:Choice>
                <mc:Fallback>
                  <p:oleObj name="Equation" r:id="rId3" imgW="736560" imgH="457200" progId="Equation.DSMT4">
                    <p:embed/>
                    <p:pic>
                      <p:nvPicPr>
                        <p:cNvPr id="229405" name="Object 7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72000" y="1714500"/>
                          <a:ext cx="1357313" cy="6651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0" name="Object 2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82487062"/>
                </p:ext>
              </p:extLst>
            </p:nvPr>
          </p:nvGraphicFramePr>
          <p:xfrm>
            <a:off x="4500563" y="2569914"/>
            <a:ext cx="1428750" cy="4270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9443" name="公式" r:id="rId5" imgW="749160" imgH="228600" progId="Equation.3">
                    <p:embed/>
                  </p:oleObj>
                </mc:Choice>
                <mc:Fallback>
                  <p:oleObj name="公式" r:id="rId5" imgW="749160" imgH="228600" progId="Equation.3">
                    <p:embed/>
                    <p:pic>
                      <p:nvPicPr>
                        <p:cNvPr id="229406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00563" y="2569914"/>
                          <a:ext cx="1428750" cy="4270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" name="Object 2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50313070"/>
                </p:ext>
              </p:extLst>
            </p:nvPr>
          </p:nvGraphicFramePr>
          <p:xfrm>
            <a:off x="4010685" y="3364304"/>
            <a:ext cx="3237796" cy="8980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9444" name="Equation" r:id="rId7" imgW="1892160" imgH="685800" progId="Equation.DSMT4">
                    <p:embed/>
                  </p:oleObj>
                </mc:Choice>
                <mc:Fallback>
                  <p:oleObj name="Equation" r:id="rId7" imgW="1892160" imgH="685800" progId="Equation.DSMT4">
                    <p:embed/>
                    <p:pic>
                      <p:nvPicPr>
                        <p:cNvPr id="229407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10685" y="3364304"/>
                          <a:ext cx="3237796" cy="898095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2" name="Object 7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63473951"/>
                </p:ext>
              </p:extLst>
            </p:nvPr>
          </p:nvGraphicFramePr>
          <p:xfrm>
            <a:off x="4643438" y="5572125"/>
            <a:ext cx="1285875" cy="3079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9445" name="Equation" r:id="rId9" imgW="952200" imgH="228600" progId="Equation.DSMT4">
                    <p:embed/>
                  </p:oleObj>
                </mc:Choice>
                <mc:Fallback>
                  <p:oleObj name="Equation" r:id="rId9" imgW="952200" imgH="228600" progId="Equation.DSMT4">
                    <p:embed/>
                    <p:pic>
                      <p:nvPicPr>
                        <p:cNvPr id="229408" name="Object 7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43438" y="5572125"/>
                          <a:ext cx="1285875" cy="3079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22678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3"/>
          <p:cNvSpPr>
            <a:spLocks noGrp="1"/>
          </p:cNvSpPr>
          <p:nvPr>
            <p:ph type="title"/>
          </p:nvPr>
        </p:nvSpPr>
        <p:spPr>
          <a:xfrm>
            <a:off x="2771800" y="85816"/>
            <a:ext cx="6215073" cy="549844"/>
          </a:xfrm>
        </p:spPr>
        <p:txBody>
          <a:bodyPr/>
          <a:lstStyle/>
          <a:p>
            <a:r>
              <a:rPr kumimoji="1" lang="zh-CN" alt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拟牛顿法</a:t>
            </a:r>
            <a:endParaRPr kumimoji="1" lang="zh-CN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4803163" y="-47233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4803163" y="-47233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4803163" y="-47233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11" name="Rectangle 11"/>
          <p:cNvSpPr>
            <a:spLocks noChangeArrowheads="1"/>
          </p:cNvSpPr>
          <p:nvPr/>
        </p:nvSpPr>
        <p:spPr bwMode="auto">
          <a:xfrm>
            <a:off x="4803163" y="-47233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251520" y="1196752"/>
            <a:ext cx="8785225" cy="50006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zh-CN" altLang="en-US" sz="2800" dirty="0" smtClean="0"/>
              <a:t>以下几段将要讨论各种公式的构成以及相应算法．但是不论哪个公式都必须满足拟</a:t>
            </a:r>
            <a:r>
              <a:rPr lang="en-US" altLang="zh-CN" sz="2800" dirty="0" smtClean="0"/>
              <a:t>Newton</a:t>
            </a:r>
            <a:r>
              <a:rPr lang="zh-CN" altLang="en-US" sz="2800" dirty="0" smtClean="0"/>
              <a:t>条件</a:t>
            </a:r>
            <a:r>
              <a:rPr lang="en-US" altLang="zh-CN" sz="2800" dirty="0" smtClean="0"/>
              <a:t>.</a:t>
            </a:r>
          </a:p>
          <a:p>
            <a:pPr>
              <a:lnSpc>
                <a:spcPct val="110000"/>
              </a:lnSpc>
            </a:pPr>
            <a:r>
              <a:rPr lang="zh-CN" altLang="en-US" sz="2800" dirty="0" smtClean="0"/>
              <a:t>由式（</a:t>
            </a:r>
            <a:r>
              <a:rPr lang="en-US" altLang="zh-CN" sz="2800" dirty="0" smtClean="0"/>
              <a:t>5.30</a:t>
            </a:r>
            <a:r>
              <a:rPr lang="zh-CN" altLang="en-US" sz="2800" dirty="0" smtClean="0"/>
              <a:t>）和式（</a:t>
            </a:r>
            <a:r>
              <a:rPr lang="en-US" altLang="zh-CN" sz="2800" dirty="0" smtClean="0"/>
              <a:t>5.28</a:t>
            </a:r>
            <a:r>
              <a:rPr lang="zh-CN" altLang="en-US" sz="2800" dirty="0" smtClean="0"/>
              <a:t>）知，    必须满足                               </a:t>
            </a:r>
          </a:p>
          <a:p>
            <a:pPr>
              <a:lnSpc>
                <a:spcPct val="110000"/>
              </a:lnSpc>
            </a:pPr>
            <a:endParaRPr lang="zh-CN" altLang="en-US" sz="2800" dirty="0" smtClean="0"/>
          </a:p>
          <a:p>
            <a:pPr>
              <a:lnSpc>
                <a:spcPct val="110000"/>
              </a:lnSpc>
              <a:buFontTx/>
              <a:buNone/>
            </a:pPr>
            <a:r>
              <a:rPr lang="zh-CN" altLang="en-US" sz="2800" dirty="0" smtClean="0"/>
              <a:t>　或                                       				                 </a:t>
            </a:r>
          </a:p>
          <a:p>
            <a:pPr>
              <a:lnSpc>
                <a:spcPct val="110000"/>
              </a:lnSpc>
            </a:pPr>
            <a:r>
              <a:rPr lang="zh-CN" altLang="en-US" sz="2800" dirty="0" smtClean="0"/>
              <a:t>由此可见 ，   与      ，     和      有关．</a:t>
            </a:r>
          </a:p>
          <a:p>
            <a:pPr>
              <a:lnSpc>
                <a:spcPct val="110000"/>
              </a:lnSpc>
            </a:pPr>
            <a:r>
              <a:rPr lang="zh-CN" altLang="en-US" sz="2800" dirty="0" smtClean="0"/>
              <a:t>满足式（</a:t>
            </a:r>
            <a:r>
              <a:rPr lang="en-US" altLang="zh-CN" sz="2800" dirty="0" smtClean="0"/>
              <a:t>5.31</a:t>
            </a:r>
            <a:r>
              <a:rPr lang="zh-CN" altLang="en-US" sz="2800" dirty="0" smtClean="0"/>
              <a:t>）的      有无穷多个，因此上述拟</a:t>
            </a:r>
            <a:r>
              <a:rPr lang="en-US" altLang="zh-CN" sz="2800" dirty="0" smtClean="0"/>
              <a:t>Newton</a:t>
            </a:r>
            <a:r>
              <a:rPr lang="zh-CN" altLang="en-US" sz="2800" dirty="0" smtClean="0"/>
              <a:t>算法构成一族算法．下面分别介绍两个常用的公式．</a:t>
            </a:r>
          </a:p>
        </p:txBody>
      </p:sp>
      <p:graphicFrame>
        <p:nvGraphicFramePr>
          <p:cNvPr id="1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102339"/>
              </p:ext>
            </p:extLst>
          </p:nvPr>
        </p:nvGraphicFramePr>
        <p:xfrm>
          <a:off x="5381527" y="2245606"/>
          <a:ext cx="481013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0498" name="公式" r:id="rId3" imgW="190417" imgH="203112" progId="Equation.3">
                  <p:embed/>
                </p:oleObj>
              </mc:Choice>
              <mc:Fallback>
                <p:oleObj name="公式" r:id="rId3" imgW="190417" imgH="203112" progId="Equation.3">
                  <p:embed/>
                  <p:pic>
                    <p:nvPicPr>
                      <p:cNvPr id="23040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81527" y="2245606"/>
                        <a:ext cx="481013" cy="5032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4604865"/>
              </p:ext>
            </p:extLst>
          </p:nvPr>
        </p:nvGraphicFramePr>
        <p:xfrm>
          <a:off x="3609083" y="2768377"/>
          <a:ext cx="22860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0499" name="公式" r:id="rId5" imgW="1028254" imgH="203112" progId="Equation.3">
                  <p:embed/>
                </p:oleObj>
              </mc:Choice>
              <mc:Fallback>
                <p:oleObj name="公式" r:id="rId5" imgW="1028254" imgH="203112" progId="Equation.3">
                  <p:embed/>
                  <p:pic>
                    <p:nvPicPr>
                      <p:cNvPr id="23040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9083" y="2768377"/>
                        <a:ext cx="2286000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7"/>
          <p:cNvSpPr>
            <a:spLocks noChangeArrowheads="1"/>
          </p:cNvSpPr>
          <p:nvPr/>
        </p:nvSpPr>
        <p:spPr bwMode="auto">
          <a:xfrm>
            <a:off x="251520" y="2784252"/>
            <a:ext cx="184150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graphicFrame>
        <p:nvGraphicFramePr>
          <p:cNvPr id="15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5121082"/>
              </p:ext>
            </p:extLst>
          </p:nvPr>
        </p:nvGraphicFramePr>
        <p:xfrm>
          <a:off x="2394645" y="3339877"/>
          <a:ext cx="5089525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0500" name="Equation" r:id="rId7" imgW="1917360" imgH="253800" progId="Equation.DSMT4">
                  <p:embed/>
                </p:oleObj>
              </mc:Choice>
              <mc:Fallback>
                <p:oleObj name="Equation" r:id="rId7" imgW="1917360" imgH="253800" progId="Equation.DSMT4">
                  <p:embed/>
                  <p:pic>
                    <p:nvPicPr>
                      <p:cNvPr id="23040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4645" y="3339877"/>
                        <a:ext cx="5089525" cy="5000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6947776"/>
              </p:ext>
            </p:extLst>
          </p:nvPr>
        </p:nvGraphicFramePr>
        <p:xfrm>
          <a:off x="2323208" y="3911377"/>
          <a:ext cx="481012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0501" name="公式" r:id="rId9" imgW="203040" imgH="228600" progId="Equation.3">
                  <p:embed/>
                </p:oleObj>
              </mc:Choice>
              <mc:Fallback>
                <p:oleObj name="公式" r:id="rId9" imgW="203040" imgH="228600" progId="Equation.3">
                  <p:embed/>
                  <p:pic>
                    <p:nvPicPr>
                      <p:cNvPr id="23041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3208" y="3911377"/>
                        <a:ext cx="481012" cy="531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0961653"/>
              </p:ext>
            </p:extLst>
          </p:nvPr>
        </p:nvGraphicFramePr>
        <p:xfrm>
          <a:off x="3209172" y="3889152"/>
          <a:ext cx="506413" cy="560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0502" name="公式" r:id="rId11" imgW="177569" imgH="202936" progId="Equation.3">
                  <p:embed/>
                </p:oleObj>
              </mc:Choice>
              <mc:Fallback>
                <p:oleObj name="公式" r:id="rId11" imgW="177569" imgH="202936" progId="Equation.3">
                  <p:embed/>
                  <p:pic>
                    <p:nvPicPr>
                      <p:cNvPr id="230412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9172" y="3889152"/>
                        <a:ext cx="506413" cy="5603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4138604"/>
              </p:ext>
            </p:extLst>
          </p:nvPr>
        </p:nvGraphicFramePr>
        <p:xfrm>
          <a:off x="3861774" y="3791520"/>
          <a:ext cx="517525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0503" name="公式" r:id="rId13" imgW="177569" imgH="202936" progId="Equation.3">
                  <p:embed/>
                </p:oleObj>
              </mc:Choice>
              <mc:Fallback>
                <p:oleObj name="公式" r:id="rId13" imgW="177569" imgH="202936" progId="Equation.3">
                  <p:embed/>
                  <p:pic>
                    <p:nvPicPr>
                      <p:cNvPr id="230414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1774" y="3791520"/>
                        <a:ext cx="517525" cy="647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2955100"/>
              </p:ext>
            </p:extLst>
          </p:nvPr>
        </p:nvGraphicFramePr>
        <p:xfrm>
          <a:off x="4763195" y="3912170"/>
          <a:ext cx="50482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0504" name="公式" r:id="rId15" imgW="215713" imgH="203024" progId="Equation.3">
                  <p:embed/>
                </p:oleObj>
              </mc:Choice>
              <mc:Fallback>
                <p:oleObj name="公式" r:id="rId15" imgW="215713" imgH="203024" progId="Equation.3">
                  <p:embed/>
                  <p:pic>
                    <p:nvPicPr>
                      <p:cNvPr id="230416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63195" y="3912170"/>
                        <a:ext cx="504825" cy="504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3267864"/>
              </p:ext>
            </p:extLst>
          </p:nvPr>
        </p:nvGraphicFramePr>
        <p:xfrm>
          <a:off x="3469522" y="4477080"/>
          <a:ext cx="492125" cy="51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0505" name="公式" r:id="rId17" imgW="190417" imgH="203112" progId="Equation.3">
                  <p:embed/>
                </p:oleObj>
              </mc:Choice>
              <mc:Fallback>
                <p:oleObj name="公式" r:id="rId17" imgW="190417" imgH="203112" progId="Equation.3">
                  <p:embed/>
                  <p:pic>
                    <p:nvPicPr>
                      <p:cNvPr id="230418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9522" y="4477080"/>
                        <a:ext cx="492125" cy="5159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42880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3"/>
          <p:cNvSpPr>
            <a:spLocks noGrp="1"/>
          </p:cNvSpPr>
          <p:nvPr>
            <p:ph type="title"/>
          </p:nvPr>
        </p:nvSpPr>
        <p:spPr>
          <a:xfrm>
            <a:off x="2771800" y="85816"/>
            <a:ext cx="6215073" cy="549844"/>
          </a:xfrm>
        </p:spPr>
        <p:txBody>
          <a:bodyPr/>
          <a:lstStyle/>
          <a:p>
            <a:r>
              <a:rPr kumimoji="1" lang="zh-CN" alt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拟牛顿法</a:t>
            </a:r>
            <a:endParaRPr kumimoji="1" lang="zh-CN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4803163" y="-47233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4803163" y="-47233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4803163" y="-47233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11" name="Rectangle 11"/>
          <p:cNvSpPr>
            <a:spLocks noChangeArrowheads="1"/>
          </p:cNvSpPr>
          <p:nvPr/>
        </p:nvSpPr>
        <p:spPr bwMode="auto">
          <a:xfrm>
            <a:off x="4803163" y="-47233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8" name="Text Box 2"/>
          <p:cNvSpPr txBox="1">
            <a:spLocks noChangeArrowheads="1"/>
          </p:cNvSpPr>
          <p:nvPr/>
        </p:nvSpPr>
        <p:spPr bwMode="auto">
          <a:xfrm>
            <a:off x="395536" y="1484784"/>
            <a:ext cx="8424862" cy="31254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3200" b="1" dirty="0">
                <a:latin typeface="Arial" panose="020B0604020202020204" pitchFamily="34" charset="0"/>
              </a:rPr>
              <a:t>（一）</a:t>
            </a:r>
            <a:r>
              <a:rPr lang="en-US" altLang="zh-CN" sz="3200" b="1" dirty="0">
                <a:latin typeface="Arial" panose="020B0604020202020204" pitchFamily="34" charset="0"/>
              </a:rPr>
              <a:t>DFP</a:t>
            </a:r>
            <a:r>
              <a:rPr lang="zh-CN" altLang="en-US" sz="3200" b="1" dirty="0">
                <a:latin typeface="Arial" panose="020B0604020202020204" pitchFamily="34" charset="0"/>
              </a:rPr>
              <a:t>算法</a:t>
            </a:r>
          </a:p>
          <a:p>
            <a:pPr eaLnBrk="1" hangingPunct="1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</a:rPr>
              <a:t>DFP</a:t>
            </a:r>
            <a:r>
              <a:rPr lang="zh-CN" altLang="en-US" sz="2400" dirty="0">
                <a:latin typeface="Arial" panose="020B0604020202020204" pitchFamily="34" charset="0"/>
              </a:rPr>
              <a:t>算法首先是由</a:t>
            </a:r>
            <a:r>
              <a:rPr lang="en-US" altLang="zh-CN" sz="2400" dirty="0" err="1">
                <a:latin typeface="Arial" panose="020B0604020202020204" pitchFamily="34" charset="0"/>
              </a:rPr>
              <a:t>Davidon</a:t>
            </a:r>
            <a:r>
              <a:rPr lang="zh-CN" altLang="en-US" sz="2400" dirty="0">
                <a:latin typeface="Arial" panose="020B0604020202020204" pitchFamily="34" charset="0"/>
              </a:rPr>
              <a:t>（</a:t>
            </a:r>
            <a:r>
              <a:rPr lang="en-US" altLang="zh-CN" sz="2400" dirty="0">
                <a:latin typeface="Arial" panose="020B0604020202020204" pitchFamily="34" charset="0"/>
              </a:rPr>
              <a:t>1959</a:t>
            </a:r>
            <a:r>
              <a:rPr lang="zh-CN" altLang="en-US" sz="2400" dirty="0">
                <a:latin typeface="Arial" panose="020B0604020202020204" pitchFamily="34" charset="0"/>
              </a:rPr>
              <a:t>年）提出来的，后来，</a:t>
            </a:r>
            <a:r>
              <a:rPr lang="en-US" altLang="zh-CN" sz="2400" dirty="0">
                <a:latin typeface="Arial" panose="020B0604020202020204" pitchFamily="34" charset="0"/>
              </a:rPr>
              <a:t>Fletcher</a:t>
            </a:r>
            <a:r>
              <a:rPr lang="zh-CN" altLang="en-US" sz="2400" dirty="0">
                <a:latin typeface="Arial" panose="020B0604020202020204" pitchFamily="34" charset="0"/>
              </a:rPr>
              <a:t>和</a:t>
            </a:r>
            <a:r>
              <a:rPr lang="en-US" altLang="zh-CN" sz="2400" dirty="0">
                <a:latin typeface="Arial" panose="020B0604020202020204" pitchFamily="34" charset="0"/>
              </a:rPr>
              <a:t>Powell</a:t>
            </a:r>
            <a:r>
              <a:rPr lang="zh-CN" altLang="en-US" sz="2400" dirty="0">
                <a:latin typeface="Arial" panose="020B0604020202020204" pitchFamily="34" charset="0"/>
              </a:rPr>
              <a:t>（</a:t>
            </a:r>
            <a:r>
              <a:rPr lang="en-US" altLang="zh-CN" sz="2400" dirty="0">
                <a:latin typeface="Arial" panose="020B0604020202020204" pitchFamily="34" charset="0"/>
              </a:rPr>
              <a:t>1963</a:t>
            </a:r>
            <a:r>
              <a:rPr lang="zh-CN" altLang="en-US" sz="2400" dirty="0">
                <a:latin typeface="Arial" panose="020B0604020202020204" pitchFamily="34" charset="0"/>
              </a:rPr>
              <a:t>年）对</a:t>
            </a:r>
            <a:r>
              <a:rPr lang="en-US" altLang="zh-CN" sz="2400" dirty="0" err="1">
                <a:latin typeface="Arial" panose="020B0604020202020204" pitchFamily="34" charset="0"/>
              </a:rPr>
              <a:t>Davidon</a:t>
            </a:r>
            <a:r>
              <a:rPr lang="zh-CN" altLang="en-US" sz="2400" dirty="0">
                <a:latin typeface="Arial" panose="020B0604020202020204" pitchFamily="34" charset="0"/>
              </a:rPr>
              <a:t>的方法作了改进，最后才形成</a:t>
            </a:r>
            <a:r>
              <a:rPr lang="en-US" altLang="zh-CN" sz="2400" dirty="0">
                <a:latin typeface="Arial" panose="020B0604020202020204" pitchFamily="34" charset="0"/>
              </a:rPr>
              <a:t>DFP</a:t>
            </a:r>
            <a:r>
              <a:rPr lang="zh-CN" altLang="en-US" sz="2400" dirty="0">
                <a:latin typeface="Arial" panose="020B0604020202020204" pitchFamily="34" charset="0"/>
              </a:rPr>
              <a:t>算法．</a:t>
            </a:r>
            <a:endParaRPr lang="en-US" altLang="zh-CN" sz="2400" dirty="0">
              <a:latin typeface="Arial" panose="020B0604020202020204" pitchFamily="34" charset="0"/>
            </a:endParaRPr>
          </a:p>
          <a:p>
            <a:pPr eaLnBrk="1" hangingPunct="1">
              <a:lnSpc>
                <a:spcPct val="115000"/>
              </a:lnSpc>
            </a:pPr>
            <a:endParaRPr lang="en-US" altLang="zh-CN" dirty="0">
              <a:latin typeface="Arial" panose="020B0604020202020204" pitchFamily="34" charset="0"/>
            </a:endParaRPr>
          </a:p>
          <a:p>
            <a:pPr eaLnBrk="1" hangingPunct="1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</a:rPr>
              <a:t>D</a:t>
            </a:r>
            <a:r>
              <a:rPr lang="zh-CN" altLang="en-US" sz="2400" dirty="0">
                <a:latin typeface="Arial" panose="020B0604020202020204" pitchFamily="34" charset="0"/>
              </a:rPr>
              <a:t>，</a:t>
            </a:r>
            <a:r>
              <a:rPr lang="en-US" altLang="zh-CN" sz="2400" dirty="0">
                <a:latin typeface="Arial" panose="020B0604020202020204" pitchFamily="34" charset="0"/>
              </a:rPr>
              <a:t>F</a:t>
            </a:r>
            <a:r>
              <a:rPr lang="zh-CN" altLang="en-US" sz="2400" dirty="0">
                <a:latin typeface="Arial" panose="020B0604020202020204" pitchFamily="34" charset="0"/>
              </a:rPr>
              <a:t>，</a:t>
            </a:r>
            <a:r>
              <a:rPr lang="en-US" altLang="zh-CN" sz="2400" dirty="0">
                <a:latin typeface="Arial" panose="020B0604020202020204" pitchFamily="34" charset="0"/>
              </a:rPr>
              <a:t>P</a:t>
            </a:r>
            <a:r>
              <a:rPr lang="zh-CN" altLang="en-US" sz="2400" dirty="0">
                <a:latin typeface="Arial" panose="020B0604020202020204" pitchFamily="34" charset="0"/>
              </a:rPr>
              <a:t>是这三位学者名字的字头．这种算法是无约束最优化方法最有效的方法之一．</a:t>
            </a:r>
          </a:p>
        </p:txBody>
      </p:sp>
    </p:spTree>
    <p:extLst>
      <p:ext uri="{BB962C8B-B14F-4D97-AF65-F5344CB8AC3E}">
        <p14:creationId xmlns:p14="http://schemas.microsoft.com/office/powerpoint/2010/main" val="3846360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3"/>
          <p:cNvSpPr>
            <a:spLocks noGrp="1"/>
          </p:cNvSpPr>
          <p:nvPr>
            <p:ph type="title"/>
          </p:nvPr>
        </p:nvSpPr>
        <p:spPr>
          <a:xfrm>
            <a:off x="2771800" y="85816"/>
            <a:ext cx="6215073" cy="549844"/>
          </a:xfrm>
        </p:spPr>
        <p:txBody>
          <a:bodyPr/>
          <a:lstStyle/>
          <a:p>
            <a:r>
              <a:rPr kumimoji="1" lang="zh-CN" alt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拟牛顿法</a:t>
            </a:r>
            <a:endParaRPr kumimoji="1" lang="zh-CN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4803163" y="-47233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4803163" y="-47233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4803163" y="-47233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11" name="Rectangle 11"/>
          <p:cNvSpPr>
            <a:spLocks noChangeArrowheads="1"/>
          </p:cNvSpPr>
          <p:nvPr/>
        </p:nvSpPr>
        <p:spPr bwMode="auto">
          <a:xfrm>
            <a:off x="4803163" y="-47233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8" name="矩形 1"/>
          <p:cNvSpPr>
            <a:spLocks noChangeArrowheads="1"/>
          </p:cNvSpPr>
          <p:nvPr/>
        </p:nvSpPr>
        <p:spPr bwMode="auto">
          <a:xfrm>
            <a:off x="395536" y="1196752"/>
            <a:ext cx="8429625" cy="419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 sz="2800" dirty="0">
                <a:latin typeface="Arial" panose="020B0604020202020204" pitchFamily="34" charset="0"/>
              </a:rPr>
              <a:t> </a:t>
            </a:r>
            <a:r>
              <a:rPr lang="en-US" altLang="zh-CN" sz="2800" b="1" dirty="0">
                <a:latin typeface="Arial" panose="020B0604020202020204" pitchFamily="34" charset="0"/>
              </a:rPr>
              <a:t>1</a:t>
            </a:r>
            <a:r>
              <a:rPr lang="zh-CN" altLang="en-US" sz="2800" b="1" dirty="0">
                <a:latin typeface="Arial" panose="020B0604020202020204" pitchFamily="34" charset="0"/>
              </a:rPr>
              <a:t>．</a:t>
            </a:r>
            <a:r>
              <a:rPr lang="en-US" altLang="zh-CN" sz="2800" b="1" dirty="0">
                <a:latin typeface="Arial" panose="020B0604020202020204" pitchFamily="34" charset="0"/>
              </a:rPr>
              <a:t>DFP</a:t>
            </a:r>
            <a:r>
              <a:rPr lang="zh-CN" altLang="en-US" sz="2800" b="1" dirty="0">
                <a:latin typeface="Arial" panose="020B0604020202020204" pitchFamily="34" charset="0"/>
              </a:rPr>
              <a:t>算法基本原理</a:t>
            </a:r>
          </a:p>
          <a:p>
            <a:pPr eaLnBrk="1" hangingPunct="1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Arial" panose="020B0604020202020204" pitchFamily="34" charset="0"/>
              </a:rPr>
              <a:t>  考虑如下形式的校正公式</a:t>
            </a:r>
            <a:endParaRPr lang="en-US" altLang="zh-CN" sz="2400" dirty="0">
              <a:latin typeface="Arial" panose="020B0604020202020204" pitchFamily="34" charset="0"/>
            </a:endParaRPr>
          </a:p>
          <a:p>
            <a:pPr eaLnBrk="1" hangingPunct="1">
              <a:lnSpc>
                <a:spcPct val="115000"/>
              </a:lnSpc>
            </a:pPr>
            <a:r>
              <a:rPr lang="zh-CN" altLang="en-US" sz="2400" dirty="0">
                <a:latin typeface="Arial" panose="020B0604020202020204" pitchFamily="34" charset="0"/>
              </a:rPr>
              <a:t>                                       	                            </a:t>
            </a:r>
          </a:p>
          <a:p>
            <a:pPr eaLnBrk="1" hangingPunct="1">
              <a:lnSpc>
                <a:spcPct val="115000"/>
              </a:lnSpc>
            </a:pPr>
            <a:r>
              <a:rPr lang="zh-CN" altLang="en-US" sz="2400" dirty="0">
                <a:latin typeface="Arial" panose="020B0604020202020204" pitchFamily="34" charset="0"/>
              </a:rPr>
              <a:t>   其中    ，  是待定   维向量，   ，  是待定常数．</a:t>
            </a:r>
            <a:endParaRPr lang="en-US" altLang="zh-CN" sz="2400" dirty="0">
              <a:latin typeface="Arial" panose="020B0604020202020204" pitchFamily="34" charset="0"/>
            </a:endParaRPr>
          </a:p>
          <a:p>
            <a:pPr eaLnBrk="1" hangingPunct="1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Arial" panose="020B0604020202020204" pitchFamily="34" charset="0"/>
              </a:rPr>
              <a:t> 这时校正矩阵是</a:t>
            </a:r>
            <a:endParaRPr lang="en-US" altLang="zh-CN" sz="2400" dirty="0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Arial" panose="020B0604020202020204" pitchFamily="34" charset="0"/>
              </a:rPr>
              <a:t> 现在来确定     </a:t>
            </a:r>
            <a:r>
              <a:rPr lang="en-US" altLang="zh-CN" sz="2400" dirty="0">
                <a:latin typeface="Arial" panose="020B0604020202020204" pitchFamily="34" charset="0"/>
              </a:rPr>
              <a:t>:</a:t>
            </a:r>
            <a:endParaRPr lang="zh-CN" altLang="en-US" sz="2400" dirty="0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sz="2400" dirty="0">
                <a:latin typeface="Arial" panose="020B0604020202020204" pitchFamily="34" charset="0"/>
              </a:rPr>
              <a:t>   根据拟</a:t>
            </a:r>
            <a:r>
              <a:rPr lang="en-US" altLang="zh-CN" sz="2400" dirty="0">
                <a:latin typeface="Arial" panose="020B0604020202020204" pitchFamily="34" charset="0"/>
              </a:rPr>
              <a:t>Newton</a:t>
            </a:r>
            <a:r>
              <a:rPr lang="zh-CN" altLang="en-US" sz="2400" dirty="0">
                <a:latin typeface="Arial" panose="020B0604020202020204" pitchFamily="34" charset="0"/>
              </a:rPr>
              <a:t>条件，  必须满足（</a:t>
            </a:r>
            <a:r>
              <a:rPr lang="en-US" altLang="zh-CN" sz="2400" dirty="0">
                <a:latin typeface="Arial" panose="020B0604020202020204" pitchFamily="34" charset="0"/>
              </a:rPr>
              <a:t>5.31</a:t>
            </a:r>
            <a:r>
              <a:rPr lang="zh-CN" altLang="en-US" sz="2400" dirty="0">
                <a:latin typeface="Arial" panose="020B0604020202020204" pitchFamily="34" charset="0"/>
              </a:rPr>
              <a:t>），于是有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400" dirty="0">
                <a:latin typeface="Arial" panose="020B0604020202020204" pitchFamily="34" charset="0"/>
              </a:rPr>
              <a:t>　                                                               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400" dirty="0">
                <a:latin typeface="Arial" panose="020B0604020202020204" pitchFamily="34" charset="0"/>
              </a:rPr>
              <a:t>　</a:t>
            </a:r>
            <a:endParaRPr lang="en-US" altLang="zh-CN" sz="2400" dirty="0" smtClean="0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sz="2400" dirty="0" smtClean="0">
                <a:latin typeface="Arial" panose="020B0604020202020204" pitchFamily="34" charset="0"/>
              </a:rPr>
              <a:t>或</a:t>
            </a:r>
            <a:endParaRPr lang="zh-CN" altLang="en-US" sz="2400" dirty="0">
              <a:latin typeface="Arial" panose="020B0604020202020204" pitchFamily="34" charset="0"/>
            </a:endParaRPr>
          </a:p>
          <a:p>
            <a:pPr eaLnBrk="1" hangingPunct="1"/>
            <a:r>
              <a:rPr lang="zh-CN" altLang="en-US" sz="1600" dirty="0">
                <a:latin typeface="Arial" panose="020B0604020202020204" pitchFamily="34" charset="0"/>
              </a:rPr>
              <a:t>                                                                                                              ．</a:t>
            </a:r>
          </a:p>
        </p:txBody>
      </p:sp>
      <p:graphicFrame>
        <p:nvGraphicFramePr>
          <p:cNvPr id="1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4478418"/>
              </p:ext>
            </p:extLst>
          </p:nvPr>
        </p:nvGraphicFramePr>
        <p:xfrm>
          <a:off x="1316383" y="2120985"/>
          <a:ext cx="6465792" cy="5273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1582" name="Equation" r:id="rId3" imgW="2717640" imgH="253800" progId="Equation.DSMT4">
                  <p:embed/>
                </p:oleObj>
              </mc:Choice>
              <mc:Fallback>
                <p:oleObj name="Equation" r:id="rId3" imgW="2717640" imgH="253800" progId="Equation.DSMT4">
                  <p:embed/>
                  <p:pic>
                    <p:nvPicPr>
                      <p:cNvPr id="23245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6383" y="2120985"/>
                        <a:ext cx="6465792" cy="52735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2509767"/>
              </p:ext>
            </p:extLst>
          </p:nvPr>
        </p:nvGraphicFramePr>
        <p:xfrm>
          <a:off x="1333498" y="2604864"/>
          <a:ext cx="42862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1583" name="公式" r:id="rId5" imgW="203024" imgH="203024" progId="Equation.3">
                  <p:embed/>
                </p:oleObj>
              </mc:Choice>
              <mc:Fallback>
                <p:oleObj name="公式" r:id="rId5" imgW="203024" imgH="203024" progId="Equation.3">
                  <p:embed/>
                  <p:pic>
                    <p:nvPicPr>
                      <p:cNvPr id="23245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3498" y="2604864"/>
                        <a:ext cx="428625" cy="428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7346228"/>
              </p:ext>
            </p:extLst>
          </p:nvPr>
        </p:nvGraphicFramePr>
        <p:xfrm>
          <a:off x="1812874" y="2504851"/>
          <a:ext cx="428625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1584" name="公式" r:id="rId7" imgW="164957" imgH="203024" progId="Equation.3">
                  <p:embed/>
                </p:oleObj>
              </mc:Choice>
              <mc:Fallback>
                <p:oleObj name="公式" r:id="rId7" imgW="164957" imgH="203024" progId="Equation.3">
                  <p:embed/>
                  <p:pic>
                    <p:nvPicPr>
                      <p:cNvPr id="23245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2874" y="2504851"/>
                        <a:ext cx="428625" cy="5286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1210612"/>
              </p:ext>
            </p:extLst>
          </p:nvPr>
        </p:nvGraphicFramePr>
        <p:xfrm>
          <a:off x="3032420" y="2636918"/>
          <a:ext cx="327025" cy="35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1585" name="公式" r:id="rId9" imgW="114102" imgH="126780" progId="Equation.3">
                  <p:embed/>
                </p:oleObj>
              </mc:Choice>
              <mc:Fallback>
                <p:oleObj name="公式" r:id="rId9" imgW="114102" imgH="126780" progId="Equation.3">
                  <p:embed/>
                  <p:pic>
                    <p:nvPicPr>
                      <p:cNvPr id="23245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2420" y="2636918"/>
                        <a:ext cx="327025" cy="3571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5369937"/>
              </p:ext>
            </p:extLst>
          </p:nvPr>
        </p:nvGraphicFramePr>
        <p:xfrm>
          <a:off x="4371429" y="2469743"/>
          <a:ext cx="477837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1586" name="公式" r:id="rId11" imgW="190417" imgH="203112" progId="Equation.3">
                  <p:embed/>
                </p:oleObj>
              </mc:Choice>
              <mc:Fallback>
                <p:oleObj name="公式" r:id="rId11" imgW="190417" imgH="203112" progId="Equation.3">
                  <p:embed/>
                  <p:pic>
                    <p:nvPicPr>
                      <p:cNvPr id="23245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71429" y="2469743"/>
                        <a:ext cx="477837" cy="5000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5162295"/>
              </p:ext>
            </p:extLst>
          </p:nvPr>
        </p:nvGraphicFramePr>
        <p:xfrm>
          <a:off x="4867920" y="2544844"/>
          <a:ext cx="428625" cy="44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1587" name="公式" r:id="rId13" imgW="190417" imgH="203112" progId="Equation.3">
                  <p:embed/>
                </p:oleObj>
              </mc:Choice>
              <mc:Fallback>
                <p:oleObj name="公式" r:id="rId13" imgW="190417" imgH="203112" progId="Equation.3">
                  <p:embed/>
                  <p:pic>
                    <p:nvPicPr>
                      <p:cNvPr id="23245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7920" y="2544844"/>
                        <a:ext cx="428625" cy="4492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0442323"/>
              </p:ext>
            </p:extLst>
          </p:nvPr>
        </p:nvGraphicFramePr>
        <p:xfrm>
          <a:off x="2910069" y="3003733"/>
          <a:ext cx="3390123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1588" name="公式" r:id="rId15" imgW="1396394" imgH="203112" progId="Equation.3">
                  <p:embed/>
                </p:oleObj>
              </mc:Choice>
              <mc:Fallback>
                <p:oleObj name="公式" r:id="rId15" imgW="1396394" imgH="203112" progId="Equation.3">
                  <p:embed/>
                  <p:pic>
                    <p:nvPicPr>
                      <p:cNvPr id="232457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0069" y="3003733"/>
                        <a:ext cx="3390123" cy="447675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2121658"/>
              </p:ext>
            </p:extLst>
          </p:nvPr>
        </p:nvGraphicFramePr>
        <p:xfrm>
          <a:off x="2222965" y="3327881"/>
          <a:ext cx="509587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1589" name="公式" r:id="rId17" imgW="190417" imgH="203112" progId="Equation.3">
                  <p:embed/>
                </p:oleObj>
              </mc:Choice>
              <mc:Fallback>
                <p:oleObj name="公式" r:id="rId17" imgW="190417" imgH="203112" progId="Equation.3">
                  <p:embed/>
                  <p:pic>
                    <p:nvPicPr>
                      <p:cNvPr id="232459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2965" y="3327881"/>
                        <a:ext cx="509587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7841110"/>
              </p:ext>
            </p:extLst>
          </p:nvPr>
        </p:nvGraphicFramePr>
        <p:xfrm>
          <a:off x="3359445" y="3673968"/>
          <a:ext cx="571500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1590" name="公式" r:id="rId19" imgW="190417" imgH="203112" progId="Equation.3">
                  <p:embed/>
                </p:oleObj>
              </mc:Choice>
              <mc:Fallback>
                <p:oleObj name="公式" r:id="rId19" imgW="190417" imgH="203112" progId="Equation.3">
                  <p:embed/>
                  <p:pic>
                    <p:nvPicPr>
                      <p:cNvPr id="23246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9445" y="3673968"/>
                        <a:ext cx="571500" cy="390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1913646"/>
              </p:ext>
            </p:extLst>
          </p:nvPr>
        </p:nvGraphicFramePr>
        <p:xfrm>
          <a:off x="1395661" y="4208060"/>
          <a:ext cx="5696619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1591" name="公式" r:id="rId21" imgW="2057400" imgH="203200" progId="Equation.3">
                  <p:embed/>
                </p:oleObj>
              </mc:Choice>
              <mc:Fallback>
                <p:oleObj name="公式" r:id="rId21" imgW="2057400" imgH="203200" progId="Equation.3">
                  <p:embed/>
                  <p:pic>
                    <p:nvPicPr>
                      <p:cNvPr id="232461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5661" y="4208060"/>
                        <a:ext cx="5696619" cy="428625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3040545"/>
              </p:ext>
            </p:extLst>
          </p:nvPr>
        </p:nvGraphicFramePr>
        <p:xfrm>
          <a:off x="1406029" y="4734227"/>
          <a:ext cx="5686251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1592" name="公式" r:id="rId23" imgW="2095500" imgH="203200" progId="Equation.3">
                  <p:embed/>
                </p:oleObj>
              </mc:Choice>
              <mc:Fallback>
                <p:oleObj name="公式" r:id="rId23" imgW="2095500" imgH="203200" progId="Equation.3">
                  <p:embed/>
                  <p:pic>
                    <p:nvPicPr>
                      <p:cNvPr id="232462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6029" y="4734227"/>
                        <a:ext cx="5686251" cy="46355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15168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3"/>
          <p:cNvSpPr>
            <a:spLocks noGrp="1"/>
          </p:cNvSpPr>
          <p:nvPr>
            <p:ph type="title"/>
          </p:nvPr>
        </p:nvSpPr>
        <p:spPr>
          <a:xfrm>
            <a:off x="2771800" y="85816"/>
            <a:ext cx="6215073" cy="549844"/>
          </a:xfrm>
        </p:spPr>
        <p:txBody>
          <a:bodyPr/>
          <a:lstStyle/>
          <a:p>
            <a:r>
              <a:rPr kumimoji="1" lang="zh-CN" alt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拟牛顿法</a:t>
            </a:r>
            <a:endParaRPr kumimoji="1" lang="zh-CN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4803163" y="-47233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4803163" y="-47233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4803163" y="-47233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11" name="Rectangle 11"/>
          <p:cNvSpPr>
            <a:spLocks noChangeArrowheads="1"/>
          </p:cNvSpPr>
          <p:nvPr/>
        </p:nvSpPr>
        <p:spPr bwMode="auto">
          <a:xfrm>
            <a:off x="4803163" y="-47233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186280" y="1129838"/>
            <a:ext cx="8800594" cy="50354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 smtClean="0"/>
              <a:t>满足以上方程的待定向量     和     有无穷多种取法，下面是其中的一种：</a:t>
            </a:r>
          </a:p>
          <a:p>
            <a:pPr>
              <a:lnSpc>
                <a:spcPct val="150000"/>
              </a:lnSpc>
            </a:pPr>
            <a:r>
              <a:rPr lang="zh-CN" altLang="en-US" sz="2400" dirty="0" smtClean="0"/>
              <a:t>注意到            和         都是数量，不妨取</a:t>
            </a:r>
            <a:endParaRPr lang="en-US" altLang="zh-CN" sz="2400" dirty="0" smtClean="0"/>
          </a:p>
          <a:p>
            <a:pPr>
              <a:lnSpc>
                <a:spcPct val="150000"/>
              </a:lnSpc>
              <a:buFontTx/>
              <a:buNone/>
            </a:pPr>
            <a:r>
              <a:rPr lang="zh-CN" altLang="en-US" sz="2400" dirty="0" smtClean="0"/>
              <a:t>　同时定出</a:t>
            </a:r>
            <a:endParaRPr lang="zh-CN" altLang="en-US" sz="1600" dirty="0" smtClean="0"/>
          </a:p>
          <a:p>
            <a:pPr>
              <a:lnSpc>
                <a:spcPct val="150000"/>
              </a:lnSpc>
            </a:pPr>
            <a:r>
              <a:rPr lang="zh-CN" altLang="en-US" sz="2400" dirty="0" smtClean="0"/>
              <a:t>将这两式代回（</a:t>
            </a:r>
            <a:r>
              <a:rPr lang="en-US" altLang="zh-CN" sz="2400" dirty="0" smtClean="0"/>
              <a:t>5.32</a:t>
            </a:r>
            <a:r>
              <a:rPr lang="zh-CN" altLang="en-US" sz="2400" dirty="0" smtClean="0"/>
              <a:t>）得</a:t>
            </a:r>
            <a:endParaRPr lang="en-US" altLang="zh-CN" sz="2400" dirty="0" smtClean="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400" dirty="0" smtClean="0"/>
              <a:t>        </a:t>
            </a:r>
            <a:endParaRPr lang="en-US" altLang="zh-CN" sz="2400" dirty="0" smtClean="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400" dirty="0" smtClean="0"/>
              <a:t>                                                                                                                      </a:t>
            </a:r>
            <a:endParaRPr lang="en-US" altLang="zh-CN" sz="2400" dirty="0" smtClean="0"/>
          </a:p>
          <a:p>
            <a:pPr>
              <a:lnSpc>
                <a:spcPct val="150000"/>
              </a:lnSpc>
            </a:pPr>
            <a:r>
              <a:rPr lang="zh-CN" altLang="en-US" sz="2400" dirty="0" smtClean="0"/>
              <a:t>这就是</a:t>
            </a:r>
            <a:r>
              <a:rPr lang="en-US" altLang="zh-CN" sz="2400" dirty="0" smtClean="0"/>
              <a:t>DFP</a:t>
            </a:r>
            <a:r>
              <a:rPr lang="zh-CN" altLang="en-US" sz="2400" dirty="0" smtClean="0"/>
              <a:t>校正公式．</a:t>
            </a:r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auto">
          <a:xfrm>
            <a:off x="-257015" y="2489377"/>
            <a:ext cx="175039" cy="1875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13" name="Rectangle 9"/>
          <p:cNvSpPr>
            <a:spLocks noChangeArrowheads="1"/>
          </p:cNvSpPr>
          <p:nvPr/>
        </p:nvSpPr>
        <p:spPr bwMode="auto">
          <a:xfrm>
            <a:off x="-257015" y="2489377"/>
            <a:ext cx="175039" cy="1875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graphicFrame>
        <p:nvGraphicFramePr>
          <p:cNvPr id="1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8915174"/>
              </p:ext>
            </p:extLst>
          </p:nvPr>
        </p:nvGraphicFramePr>
        <p:xfrm>
          <a:off x="3979747" y="1272438"/>
          <a:ext cx="407419" cy="4074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570" name="公式" r:id="rId3" imgW="203024" imgH="203024" progId="Equation.3">
                  <p:embed/>
                </p:oleObj>
              </mc:Choice>
              <mc:Fallback>
                <p:oleObj name="公式" r:id="rId3" imgW="203024" imgH="203024" progId="Equation.3">
                  <p:embed/>
                  <p:pic>
                    <p:nvPicPr>
                      <p:cNvPr id="23348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9747" y="1272438"/>
                        <a:ext cx="407419" cy="40741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0914662"/>
              </p:ext>
            </p:extLst>
          </p:nvPr>
        </p:nvGraphicFramePr>
        <p:xfrm>
          <a:off x="4622634" y="1247787"/>
          <a:ext cx="475322" cy="4194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571" name="公式" r:id="rId5" imgW="164957" imgH="203024" progId="Equation.3">
                  <p:embed/>
                </p:oleObj>
              </mc:Choice>
              <mc:Fallback>
                <p:oleObj name="公式" r:id="rId5" imgW="164957" imgH="203024" progId="Equation.3">
                  <p:embed/>
                  <p:pic>
                    <p:nvPicPr>
                      <p:cNvPr id="233482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22634" y="1247787"/>
                        <a:ext cx="475322" cy="41949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5264500"/>
              </p:ext>
            </p:extLst>
          </p:nvPr>
        </p:nvGraphicFramePr>
        <p:xfrm>
          <a:off x="2309125" y="1771815"/>
          <a:ext cx="4685312" cy="4496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572" name="Equation" r:id="rId7" imgW="1993680" imgH="215640" progId="Equation.DSMT4">
                  <p:embed/>
                </p:oleObj>
              </mc:Choice>
              <mc:Fallback>
                <p:oleObj name="Equation" r:id="rId7" imgW="1993680" imgH="215640" progId="Equation.DSMT4">
                  <p:embed/>
                  <p:pic>
                    <p:nvPicPr>
                      <p:cNvPr id="233484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9125" y="1771815"/>
                        <a:ext cx="4685312" cy="44966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17"/>
          <p:cNvSpPr>
            <a:spLocks noChangeArrowheads="1"/>
          </p:cNvSpPr>
          <p:nvPr/>
        </p:nvSpPr>
        <p:spPr bwMode="auto">
          <a:xfrm>
            <a:off x="-257015" y="2479852"/>
            <a:ext cx="175039" cy="1875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graphicFrame>
        <p:nvGraphicFramePr>
          <p:cNvPr id="18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503532"/>
              </p:ext>
            </p:extLst>
          </p:nvPr>
        </p:nvGraphicFramePr>
        <p:xfrm>
          <a:off x="1564156" y="2467211"/>
          <a:ext cx="754479" cy="4194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573" name="公式" r:id="rId9" imgW="355292" imgH="203024" progId="Equation.3">
                  <p:embed/>
                </p:oleObj>
              </mc:Choice>
              <mc:Fallback>
                <p:oleObj name="公式" r:id="rId9" imgW="355292" imgH="203024" progId="Equation.3">
                  <p:embed/>
                  <p:pic>
                    <p:nvPicPr>
                      <p:cNvPr id="233487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4156" y="2467211"/>
                        <a:ext cx="754479" cy="41949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0101453"/>
              </p:ext>
            </p:extLst>
          </p:nvPr>
        </p:nvGraphicFramePr>
        <p:xfrm>
          <a:off x="2627784" y="2451260"/>
          <a:ext cx="685067" cy="4119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574" name="公式" r:id="rId11" imgW="342751" imgH="203112" progId="Equation.3">
                  <p:embed/>
                </p:oleObj>
              </mc:Choice>
              <mc:Fallback>
                <p:oleObj name="公式" r:id="rId11" imgW="342751" imgH="203112" progId="Equation.3">
                  <p:embed/>
                  <p:pic>
                    <p:nvPicPr>
                      <p:cNvPr id="233489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784" y="2451260"/>
                        <a:ext cx="685067" cy="41194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5622234"/>
              </p:ext>
            </p:extLst>
          </p:nvPr>
        </p:nvGraphicFramePr>
        <p:xfrm>
          <a:off x="5754828" y="2437404"/>
          <a:ext cx="1697577" cy="4255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575" name="Equation" r:id="rId13" imgW="1040948" imgH="203112" progId="Equation.DSMT4">
                  <p:embed/>
                </p:oleObj>
              </mc:Choice>
              <mc:Fallback>
                <p:oleObj name="Equation" r:id="rId13" imgW="1040948" imgH="203112" progId="Equation.DSMT4">
                  <p:embed/>
                  <p:pic>
                    <p:nvPicPr>
                      <p:cNvPr id="233491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54828" y="2437404"/>
                        <a:ext cx="1697577" cy="42552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4671074"/>
              </p:ext>
            </p:extLst>
          </p:nvPr>
        </p:nvGraphicFramePr>
        <p:xfrm>
          <a:off x="2011421" y="2916498"/>
          <a:ext cx="3530960" cy="7469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576" name="Equation" r:id="rId15" imgW="1612900" imgH="393700" progId="Equation.DSMT4">
                  <p:embed/>
                </p:oleObj>
              </mc:Choice>
              <mc:Fallback>
                <p:oleObj name="Equation" r:id="rId15" imgW="1612900" imgH="393700" progId="Equation.DSMT4">
                  <p:embed/>
                  <p:pic>
                    <p:nvPicPr>
                      <p:cNvPr id="233493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1421" y="2916498"/>
                        <a:ext cx="3530960" cy="74693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3885865"/>
              </p:ext>
            </p:extLst>
          </p:nvPr>
        </p:nvGraphicFramePr>
        <p:xfrm>
          <a:off x="678765" y="4374048"/>
          <a:ext cx="7416801" cy="995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577" name="Equation" r:id="rId17" imgW="2755800" imgH="457200" progId="Equation.DSMT4">
                  <p:embed/>
                </p:oleObj>
              </mc:Choice>
              <mc:Fallback>
                <p:oleObj name="Equation" r:id="rId17" imgW="2755800" imgH="457200" progId="Equation.DSMT4">
                  <p:embed/>
                  <p:pic>
                    <p:nvPicPr>
                      <p:cNvPr id="233495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765" y="4374048"/>
                        <a:ext cx="7416801" cy="9953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71558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3"/>
          <p:cNvSpPr>
            <a:spLocks noGrp="1"/>
          </p:cNvSpPr>
          <p:nvPr>
            <p:ph type="title"/>
          </p:nvPr>
        </p:nvSpPr>
        <p:spPr>
          <a:xfrm>
            <a:off x="2771800" y="85816"/>
            <a:ext cx="6215073" cy="549844"/>
          </a:xfrm>
        </p:spPr>
        <p:txBody>
          <a:bodyPr/>
          <a:lstStyle/>
          <a:p>
            <a:r>
              <a:rPr kumimoji="1" lang="zh-CN" alt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拟牛顿法</a:t>
            </a:r>
            <a:endParaRPr kumimoji="1" lang="zh-CN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4803163" y="-47233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4803163" y="-47233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4803163" y="-47233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11" name="Rectangle 11"/>
          <p:cNvSpPr>
            <a:spLocks noChangeArrowheads="1"/>
          </p:cNvSpPr>
          <p:nvPr/>
        </p:nvSpPr>
        <p:spPr bwMode="auto">
          <a:xfrm>
            <a:off x="4803163" y="-47233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8" name="Text Box 2"/>
          <p:cNvSpPr txBox="1">
            <a:spLocks noChangeArrowheads="1"/>
          </p:cNvSpPr>
          <p:nvPr/>
        </p:nvSpPr>
        <p:spPr bwMode="auto">
          <a:xfrm>
            <a:off x="360238" y="1052736"/>
            <a:ext cx="8604250" cy="51706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en-US" altLang="zh-CN" sz="2800" dirty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rPr>
              <a:t>  2</a:t>
            </a:r>
            <a:r>
              <a:rPr lang="zh-CN" altLang="en-US" sz="2800" dirty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rPr>
              <a:t>．</a:t>
            </a:r>
            <a:r>
              <a:rPr lang="en-US" altLang="zh-CN" sz="2800" dirty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rPr>
              <a:t>DFP</a:t>
            </a:r>
            <a:r>
              <a:rPr lang="zh-CN" altLang="en-US" sz="2800" dirty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rPr>
              <a:t>算法迭代步骤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zh-CN" altLang="en-US" sz="2400" dirty="0">
                <a:latin typeface="Arial" charset="0"/>
              </a:rPr>
              <a:t> 在拟</a:t>
            </a:r>
            <a:r>
              <a:rPr lang="en-US" altLang="zh-CN" sz="2400" dirty="0">
                <a:latin typeface="Arial" charset="0"/>
              </a:rPr>
              <a:t>Newton</a:t>
            </a:r>
            <a:r>
              <a:rPr lang="zh-CN" altLang="en-US" sz="2400" dirty="0">
                <a:latin typeface="Arial" charset="0"/>
              </a:rPr>
              <a:t>算法中</a:t>
            </a:r>
            <a:r>
              <a:rPr lang="en-US" altLang="zh-CN" sz="2400" dirty="0">
                <a:latin typeface="Arial" charset="0"/>
              </a:rPr>
              <a:t>,</a:t>
            </a:r>
            <a:r>
              <a:rPr lang="zh-CN" altLang="en-US" sz="2400" dirty="0">
                <a:latin typeface="Arial" charset="0"/>
              </a:rPr>
              <a:t>只要把第（</a:t>
            </a:r>
            <a:r>
              <a:rPr lang="en-US" altLang="zh-CN" sz="2400" dirty="0">
                <a:latin typeface="Arial" charset="0"/>
              </a:rPr>
              <a:t>5</a:t>
            </a:r>
            <a:r>
              <a:rPr lang="zh-CN" altLang="en-US" sz="2400" dirty="0">
                <a:latin typeface="Arial" charset="0"/>
              </a:rPr>
              <a:t>）步</a:t>
            </a:r>
            <a:r>
              <a:rPr lang="zh-CN" altLang="en-US" sz="2400" dirty="0" smtClean="0">
                <a:latin typeface="Arial" charset="0"/>
              </a:rPr>
              <a:t>改为      计算</a:t>
            </a:r>
            <a:r>
              <a:rPr lang="zh-CN" altLang="en-US" sz="2400" dirty="0">
                <a:latin typeface="Arial" charset="0"/>
              </a:rPr>
              <a:t>式（</a:t>
            </a:r>
            <a:r>
              <a:rPr lang="en-US" altLang="zh-CN" sz="2400" dirty="0">
                <a:latin typeface="Arial" charset="0"/>
              </a:rPr>
              <a:t>5.33</a:t>
            </a:r>
            <a:r>
              <a:rPr lang="zh-CN" altLang="en-US" sz="2400" dirty="0">
                <a:latin typeface="Arial" charset="0"/>
              </a:rPr>
              <a:t>）   </a:t>
            </a:r>
            <a:endParaRPr lang="en-US" altLang="zh-CN" sz="2400" dirty="0">
              <a:latin typeface="Arial" charset="0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2400" dirty="0">
                <a:latin typeface="Arial" charset="0"/>
              </a:rPr>
              <a:t> </a:t>
            </a:r>
            <a:r>
              <a:rPr lang="zh-CN" altLang="en-US" sz="2400" dirty="0">
                <a:latin typeface="Arial" charset="0"/>
              </a:rPr>
              <a:t>而其它不变，该算法就为</a:t>
            </a:r>
            <a:r>
              <a:rPr lang="en-US" altLang="zh-CN" sz="2400" dirty="0">
                <a:latin typeface="Arial" charset="0"/>
              </a:rPr>
              <a:t>DFP</a:t>
            </a:r>
            <a:r>
              <a:rPr lang="zh-CN" altLang="en-US" sz="2400" dirty="0">
                <a:latin typeface="Arial" charset="0"/>
              </a:rPr>
              <a:t>算法了．</a:t>
            </a:r>
            <a:endParaRPr lang="en-US" altLang="zh-CN" sz="2400" dirty="0">
              <a:latin typeface="Arial" charset="0"/>
            </a:endParaRPr>
          </a:p>
          <a:p>
            <a:pPr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zh-CN" altLang="en-US" sz="2400" dirty="0">
                <a:latin typeface="Arial" charset="0"/>
              </a:rPr>
              <a:t> 但是由于计算中舍去误差的影响，特别是直线搜索不精确的影响，可能要破坏迭代矩阵     的正定性，从而导致算法失效．为保证     的正定性，采取以下重置措施：</a:t>
            </a:r>
            <a:endParaRPr lang="en-US" altLang="zh-CN" sz="2400" dirty="0">
              <a:latin typeface="Arial" charset="0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2400" dirty="0">
                <a:latin typeface="Arial" charset="0"/>
              </a:rPr>
              <a:t>  </a:t>
            </a:r>
            <a:r>
              <a:rPr lang="zh-CN" altLang="en-US" sz="2400" dirty="0">
                <a:latin typeface="Arial" charset="0"/>
              </a:rPr>
              <a:t>迭代        次后，重置初始点和迭代矩阵，即 </a:t>
            </a:r>
            <a:endParaRPr lang="en-US" altLang="zh-CN" sz="2400" dirty="0">
              <a:latin typeface="Arial" charset="0"/>
            </a:endParaRPr>
          </a:p>
          <a:p>
            <a:pPr>
              <a:lnSpc>
                <a:spcPct val="150000"/>
              </a:lnSpc>
              <a:defRPr/>
            </a:pPr>
            <a:endParaRPr lang="en-US" altLang="zh-CN" sz="2400" dirty="0">
              <a:latin typeface="Arial" charset="0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2400" dirty="0">
                <a:latin typeface="Arial" charset="0"/>
              </a:rPr>
              <a:t>  以后重新迭代．</a:t>
            </a:r>
          </a:p>
        </p:txBody>
      </p:sp>
      <p:graphicFrame>
        <p:nvGraphicFramePr>
          <p:cNvPr id="1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6179709"/>
              </p:ext>
            </p:extLst>
          </p:nvPr>
        </p:nvGraphicFramePr>
        <p:xfrm>
          <a:off x="1044376" y="3998272"/>
          <a:ext cx="503237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3534" name="公式" r:id="rId3" imgW="215713" imgH="203024" progId="Equation.3">
                  <p:embed/>
                </p:oleObj>
              </mc:Choice>
              <mc:Fallback>
                <p:oleObj name="公式" r:id="rId3" imgW="215713" imgH="203024" progId="Equation.3">
                  <p:embed/>
                  <p:pic>
                    <p:nvPicPr>
                      <p:cNvPr id="23449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4376" y="3998272"/>
                        <a:ext cx="503237" cy="4587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447851"/>
              </p:ext>
            </p:extLst>
          </p:nvPr>
        </p:nvGraphicFramePr>
        <p:xfrm>
          <a:off x="6228184" y="1792511"/>
          <a:ext cx="504825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3535" name="公式" r:id="rId5" imgW="215713" imgH="203024" progId="Equation.3">
                  <p:embed/>
                </p:oleObj>
              </mc:Choice>
              <mc:Fallback>
                <p:oleObj name="公式" r:id="rId5" imgW="215713" imgH="203024" progId="Equation.3">
                  <p:embed/>
                  <p:pic>
                    <p:nvPicPr>
                      <p:cNvPr id="23450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8184" y="1792511"/>
                        <a:ext cx="504825" cy="460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7523102"/>
              </p:ext>
            </p:extLst>
          </p:nvPr>
        </p:nvGraphicFramePr>
        <p:xfrm>
          <a:off x="1290849" y="4564365"/>
          <a:ext cx="642938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3536" name="公式" r:id="rId7" imgW="304560" imgH="177480" progId="Equation.3">
                  <p:embed/>
                </p:oleObj>
              </mc:Choice>
              <mc:Fallback>
                <p:oleObj name="公式" r:id="rId7" imgW="304560" imgH="177480" progId="Equation.3">
                  <p:embed/>
                  <p:pic>
                    <p:nvPicPr>
                      <p:cNvPr id="23450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0849" y="4564365"/>
                        <a:ext cx="642938" cy="365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3281536"/>
              </p:ext>
            </p:extLst>
          </p:nvPr>
        </p:nvGraphicFramePr>
        <p:xfrm>
          <a:off x="2925837" y="5085184"/>
          <a:ext cx="2714625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3537" name="公式" r:id="rId9" imgW="1079032" imgH="203112" progId="Equation.3">
                  <p:embed/>
                </p:oleObj>
              </mc:Choice>
              <mc:Fallback>
                <p:oleObj name="公式" r:id="rId9" imgW="1079032" imgH="203112" progId="Equation.3">
                  <p:embed/>
                  <p:pic>
                    <p:nvPicPr>
                      <p:cNvPr id="23450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5837" y="5085184"/>
                        <a:ext cx="2714625" cy="506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17"/>
          <p:cNvSpPr>
            <a:spLocks noChangeArrowheads="1"/>
          </p:cNvSpPr>
          <p:nvPr/>
        </p:nvSpPr>
        <p:spPr bwMode="auto">
          <a:xfrm>
            <a:off x="684088" y="3268886"/>
            <a:ext cx="8280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latin typeface="Arial" panose="020B0604020202020204" pitchFamily="34" charset="0"/>
              </a:rPr>
              <a:t>        </a:t>
            </a:r>
            <a:endParaRPr lang="en-US" altLang="zh-CN" sz="2400">
              <a:latin typeface="Arial" panose="020B0604020202020204" pitchFamily="34" charset="0"/>
            </a:endParaRPr>
          </a:p>
        </p:txBody>
      </p:sp>
      <p:graphicFrame>
        <p:nvGraphicFramePr>
          <p:cNvPr id="17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0416836"/>
              </p:ext>
            </p:extLst>
          </p:nvPr>
        </p:nvGraphicFramePr>
        <p:xfrm>
          <a:off x="3779912" y="3452242"/>
          <a:ext cx="503238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3538" name="公式" r:id="rId11" imgW="215713" imgH="203024" progId="Equation.3">
                  <p:embed/>
                </p:oleObj>
              </mc:Choice>
              <mc:Fallback>
                <p:oleObj name="公式" r:id="rId11" imgW="215713" imgH="203024" progId="Equation.3">
                  <p:embed/>
                  <p:pic>
                    <p:nvPicPr>
                      <p:cNvPr id="234505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9912" y="3452242"/>
                        <a:ext cx="503238" cy="458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32311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3"/>
          <p:cNvSpPr>
            <a:spLocks noGrp="1"/>
          </p:cNvSpPr>
          <p:nvPr>
            <p:ph type="title"/>
          </p:nvPr>
        </p:nvSpPr>
        <p:spPr>
          <a:xfrm>
            <a:off x="2771800" y="85816"/>
            <a:ext cx="6215073" cy="549844"/>
          </a:xfrm>
        </p:spPr>
        <p:txBody>
          <a:bodyPr/>
          <a:lstStyle/>
          <a:p>
            <a:r>
              <a:rPr kumimoji="1" lang="zh-CN" alt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拟牛顿法</a:t>
            </a:r>
            <a:endParaRPr kumimoji="1" lang="zh-CN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4803163" y="-47233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4803163" y="-47233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4803163" y="-47233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11" name="Rectangle 11"/>
          <p:cNvSpPr>
            <a:spLocks noChangeArrowheads="1"/>
          </p:cNvSpPr>
          <p:nvPr/>
        </p:nvSpPr>
        <p:spPr bwMode="auto">
          <a:xfrm>
            <a:off x="4803163" y="-47233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8" name="矩形 1"/>
          <p:cNvSpPr>
            <a:spLocks noChangeArrowheads="1"/>
          </p:cNvSpPr>
          <p:nvPr/>
        </p:nvSpPr>
        <p:spPr bwMode="auto">
          <a:xfrm>
            <a:off x="285749" y="835030"/>
            <a:ext cx="9398818" cy="53737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Arial" panose="020B0604020202020204" pitchFamily="34" charset="0"/>
              </a:rPr>
              <a:t>已知</a:t>
            </a:r>
            <a:r>
              <a:rPr lang="zh-CN" altLang="en-US" sz="2400" dirty="0" smtClean="0">
                <a:latin typeface="Arial" panose="020B0604020202020204" pitchFamily="34" charset="0"/>
              </a:rPr>
              <a:t>目标函数       </a:t>
            </a:r>
            <a:r>
              <a:rPr lang="zh-CN" altLang="en-US" sz="2400" dirty="0">
                <a:latin typeface="Arial" panose="020B0604020202020204" pitchFamily="34" charset="0"/>
              </a:rPr>
              <a:t>及其梯度       ,问题的维数   </a:t>
            </a:r>
            <a:r>
              <a:rPr lang="en-US" altLang="zh-CN" sz="2400" dirty="0">
                <a:latin typeface="Arial" panose="020B0604020202020204" pitchFamily="34" charset="0"/>
              </a:rPr>
              <a:t>,</a:t>
            </a:r>
            <a:r>
              <a:rPr lang="zh-CN" altLang="en-US" sz="2400" dirty="0">
                <a:latin typeface="Arial" panose="020B0604020202020204" pitchFamily="34" charset="0"/>
              </a:rPr>
              <a:t>终止限     </a:t>
            </a:r>
          </a:p>
          <a:p>
            <a:pPr eaLnBrk="1" hangingPunct="1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</a:rPr>
              <a:t>(1)</a:t>
            </a:r>
            <a:r>
              <a:rPr lang="zh-CN" altLang="en-US" sz="2400" dirty="0">
                <a:latin typeface="Arial" panose="020B0604020202020204" pitchFamily="34" charset="0"/>
              </a:rPr>
              <a:t>选定初始点．计算</a:t>
            </a:r>
          </a:p>
          <a:p>
            <a:pPr eaLnBrk="1" hangingPunct="1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</a:rPr>
              <a:t>(2)</a:t>
            </a:r>
            <a:r>
              <a:rPr lang="zh-CN" altLang="en-US" sz="2400" dirty="0">
                <a:latin typeface="Arial" panose="020B0604020202020204" pitchFamily="34" charset="0"/>
              </a:rPr>
              <a:t>置                                      </a:t>
            </a:r>
          </a:p>
          <a:p>
            <a:pPr eaLnBrk="1" hangingPunct="1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</a:rPr>
              <a:t>(3)</a:t>
            </a:r>
            <a:r>
              <a:rPr lang="zh-CN" altLang="en-US" sz="2400" dirty="0">
                <a:latin typeface="Arial" panose="020B0604020202020204" pitchFamily="34" charset="0"/>
              </a:rPr>
              <a:t>作直线搜索                             </a:t>
            </a:r>
            <a:endParaRPr lang="en-US" altLang="zh-CN" sz="2400" dirty="0">
              <a:latin typeface="Arial" panose="020B0604020202020204" pitchFamily="34" charset="0"/>
            </a:endParaRPr>
          </a:p>
          <a:p>
            <a:pPr eaLnBrk="1" hangingPunct="1">
              <a:lnSpc>
                <a:spcPct val="130000"/>
              </a:lnSpc>
            </a:pPr>
            <a:r>
              <a:rPr lang="en-US" altLang="zh-CN" sz="2400" dirty="0">
                <a:latin typeface="Arial" panose="020B0604020202020204" pitchFamily="34" charset="0"/>
              </a:rPr>
              <a:t>      </a:t>
            </a:r>
            <a:r>
              <a:rPr lang="zh-CN" altLang="en-US" sz="2400" dirty="0">
                <a:latin typeface="Arial" panose="020B0604020202020204" pitchFamily="34" charset="0"/>
              </a:rPr>
              <a:t>计算</a:t>
            </a:r>
            <a:endParaRPr lang="en-US" altLang="zh-CN" sz="2400" dirty="0">
              <a:latin typeface="Arial" panose="020B0604020202020204" pitchFamily="34" charset="0"/>
            </a:endParaRPr>
          </a:p>
          <a:p>
            <a:pPr eaLnBrk="1" hangingPunct="1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</a:rPr>
              <a:t>(4)</a:t>
            </a:r>
            <a:r>
              <a:rPr lang="zh-CN" altLang="en-US" sz="2400" dirty="0">
                <a:latin typeface="Arial" panose="020B0604020202020204" pitchFamily="34" charset="0"/>
              </a:rPr>
              <a:t>判别终止准则是否满足</a:t>
            </a:r>
            <a:r>
              <a:rPr lang="en-US" altLang="zh-CN" sz="2400" dirty="0">
                <a:latin typeface="Arial" panose="020B0604020202020204" pitchFamily="34" charset="0"/>
              </a:rPr>
              <a:t>:</a:t>
            </a:r>
            <a:r>
              <a:rPr lang="zh-CN" altLang="en-US" sz="2400" dirty="0">
                <a:latin typeface="Arial" panose="020B0604020202020204" pitchFamily="34" charset="0"/>
              </a:rPr>
              <a:t>若满足</a:t>
            </a:r>
            <a:r>
              <a:rPr lang="en-US" altLang="zh-CN" sz="2400" dirty="0">
                <a:latin typeface="Arial" panose="020B0604020202020204" pitchFamily="34" charset="0"/>
              </a:rPr>
              <a:t>,</a:t>
            </a:r>
            <a:r>
              <a:rPr lang="zh-CN" altLang="en-US" sz="2400" dirty="0">
                <a:latin typeface="Arial" panose="020B0604020202020204" pitchFamily="34" charset="0"/>
              </a:rPr>
              <a:t>则打印      </a:t>
            </a:r>
            <a:endParaRPr lang="en-US" altLang="zh-CN" sz="2400" dirty="0">
              <a:latin typeface="Arial" panose="020B0604020202020204" pitchFamily="34" charset="0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sz="2400" dirty="0">
                <a:latin typeface="Arial" panose="020B0604020202020204" pitchFamily="34" charset="0"/>
              </a:rPr>
              <a:t>     停机；否则转</a:t>
            </a:r>
            <a:r>
              <a:rPr lang="en-US" altLang="zh-CN" sz="2400" dirty="0">
                <a:latin typeface="Arial" panose="020B0604020202020204" pitchFamily="34" charset="0"/>
              </a:rPr>
              <a:t>(5)</a:t>
            </a:r>
            <a:r>
              <a:rPr lang="zh-CN" altLang="en-US" sz="2400" dirty="0">
                <a:latin typeface="Arial" panose="020B0604020202020204" pitchFamily="34" charset="0"/>
              </a:rPr>
              <a:t>．</a:t>
            </a:r>
          </a:p>
          <a:p>
            <a:pPr eaLnBrk="1" hangingPunct="1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</a:rPr>
              <a:t>(5)</a:t>
            </a:r>
            <a:r>
              <a:rPr lang="zh-CN" altLang="en-US" sz="2400" dirty="0" smtClean="0">
                <a:latin typeface="Arial" panose="020B0604020202020204" pitchFamily="34" charset="0"/>
              </a:rPr>
              <a:t>若          </a:t>
            </a:r>
            <a:r>
              <a:rPr lang="zh-CN" altLang="en-US" sz="2400" dirty="0">
                <a:latin typeface="Arial" panose="020B0604020202020204" pitchFamily="34" charset="0"/>
              </a:rPr>
              <a:t>则</a:t>
            </a:r>
            <a:r>
              <a:rPr lang="zh-CN" altLang="en-US" sz="2400" dirty="0" smtClean="0">
                <a:latin typeface="Arial" panose="020B0604020202020204" pitchFamily="34" charset="0"/>
              </a:rPr>
              <a:t>置                                          </a:t>
            </a:r>
            <a:r>
              <a:rPr lang="zh-CN" altLang="en-US" sz="2400" dirty="0">
                <a:latin typeface="Arial" panose="020B0604020202020204" pitchFamily="34" charset="0"/>
              </a:rPr>
              <a:t>转</a:t>
            </a:r>
            <a:r>
              <a:rPr lang="en-US" altLang="zh-CN" sz="2400" dirty="0">
                <a:latin typeface="Arial" panose="020B0604020202020204" pitchFamily="34" charset="0"/>
              </a:rPr>
              <a:t>(2);</a:t>
            </a:r>
            <a:r>
              <a:rPr lang="zh-CN" altLang="en-US" sz="2400" dirty="0">
                <a:latin typeface="Arial" panose="020B0604020202020204" pitchFamily="34" charset="0"/>
              </a:rPr>
              <a:t>否则</a:t>
            </a:r>
            <a:r>
              <a:rPr lang="en-US" altLang="zh-CN" sz="2400" dirty="0">
                <a:latin typeface="Arial" panose="020B0604020202020204" pitchFamily="34" charset="0"/>
              </a:rPr>
              <a:t>,</a:t>
            </a:r>
            <a:r>
              <a:rPr lang="zh-CN" altLang="en-US" sz="2400" dirty="0">
                <a:latin typeface="Arial" panose="020B0604020202020204" pitchFamily="34" charset="0"/>
              </a:rPr>
              <a:t>转</a:t>
            </a:r>
            <a:r>
              <a:rPr lang="en-US" altLang="zh-CN" sz="2400" dirty="0">
                <a:latin typeface="Arial" panose="020B0604020202020204" pitchFamily="34" charset="0"/>
              </a:rPr>
              <a:t>(6).</a:t>
            </a:r>
            <a:endParaRPr lang="zh-CN" altLang="en-US" sz="2400" dirty="0">
              <a:latin typeface="Arial" panose="020B0604020202020204" pitchFamily="34" charset="0"/>
            </a:endParaRPr>
          </a:p>
          <a:p>
            <a:pPr eaLnBrk="1" hangingPunct="1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</a:rPr>
              <a:t>(6)</a:t>
            </a:r>
            <a:r>
              <a:rPr lang="zh-CN" altLang="en-US" sz="2400" dirty="0">
                <a:latin typeface="Arial" panose="020B0604020202020204" pitchFamily="34" charset="0"/>
              </a:rPr>
              <a:t>计算</a:t>
            </a:r>
          </a:p>
          <a:p>
            <a:pPr eaLnBrk="1" hangingPunct="1">
              <a:lnSpc>
                <a:spcPct val="130000"/>
              </a:lnSpc>
            </a:pPr>
            <a:endParaRPr lang="zh-CN" altLang="en-US" sz="2400" dirty="0">
              <a:latin typeface="Arial" panose="020B0604020202020204" pitchFamily="34" charset="0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sz="2400" dirty="0">
                <a:latin typeface="Arial" panose="020B0604020202020204" pitchFamily="34" charset="0"/>
              </a:rPr>
              <a:t>　 </a:t>
            </a:r>
            <a:r>
              <a:rPr lang="zh-CN" altLang="en-US" sz="2400" dirty="0" smtClean="0">
                <a:latin typeface="Arial" panose="020B0604020202020204" pitchFamily="34" charset="0"/>
              </a:rPr>
              <a:t>置                </a:t>
            </a:r>
            <a:r>
              <a:rPr lang="zh-CN" altLang="en-US" sz="2400" dirty="0">
                <a:latin typeface="Arial" panose="020B0604020202020204" pitchFamily="34" charset="0"/>
              </a:rPr>
              <a:t>转</a:t>
            </a:r>
            <a:r>
              <a:rPr lang="en-US" altLang="zh-CN" sz="2400" dirty="0">
                <a:latin typeface="Arial" panose="020B0604020202020204" pitchFamily="34" charset="0"/>
              </a:rPr>
              <a:t>(3).</a:t>
            </a:r>
            <a:r>
              <a:rPr lang="zh-CN" altLang="en-US" sz="2400" dirty="0">
                <a:latin typeface="Arial" panose="020B0604020202020204" pitchFamily="34" charset="0"/>
              </a:rPr>
              <a:t> </a:t>
            </a:r>
            <a:endParaRPr lang="en-US" altLang="zh-CN" sz="1600" dirty="0">
              <a:latin typeface="Arial" panose="020B0604020202020204" pitchFamily="34" charset="0"/>
            </a:endParaRPr>
          </a:p>
        </p:txBody>
      </p:sp>
      <p:graphicFrame>
        <p:nvGraphicFramePr>
          <p:cNvPr id="12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833444"/>
              </p:ext>
            </p:extLst>
          </p:nvPr>
        </p:nvGraphicFramePr>
        <p:xfrm>
          <a:off x="2244725" y="908148"/>
          <a:ext cx="603250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654" name="公式" r:id="rId4" imgW="355446" imgH="190417" progId="Equation.3">
                  <p:embed/>
                </p:oleObj>
              </mc:Choice>
              <mc:Fallback>
                <p:oleObj name="公式" r:id="rId4" imgW="355446" imgH="190417" progId="Equation.3">
                  <p:embed/>
                  <p:pic>
                    <p:nvPicPr>
                      <p:cNvPr id="23552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4725" y="908148"/>
                        <a:ext cx="603250" cy="428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5784749"/>
              </p:ext>
            </p:extLst>
          </p:nvPr>
        </p:nvGraphicFramePr>
        <p:xfrm>
          <a:off x="4129881" y="955852"/>
          <a:ext cx="642937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655" name="公式" r:id="rId6" imgW="342751" imgH="190417" progId="Equation.3">
                  <p:embed/>
                </p:oleObj>
              </mc:Choice>
              <mc:Fallback>
                <p:oleObj name="公式" r:id="rId6" imgW="342751" imgH="190417" progId="Equation.3">
                  <p:embed/>
                  <p:pic>
                    <p:nvPicPr>
                      <p:cNvPr id="235524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9881" y="955852"/>
                        <a:ext cx="642937" cy="403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284654"/>
              </p:ext>
            </p:extLst>
          </p:nvPr>
        </p:nvGraphicFramePr>
        <p:xfrm>
          <a:off x="6243554" y="924639"/>
          <a:ext cx="331788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656" name="公式" r:id="rId8" imgW="114102" imgH="126780" progId="Equation.3">
                  <p:embed/>
                </p:oleObj>
              </mc:Choice>
              <mc:Fallback>
                <p:oleObj name="公式" r:id="rId8" imgW="114102" imgH="126780" progId="Equation.3">
                  <p:embed/>
                  <p:pic>
                    <p:nvPicPr>
                      <p:cNvPr id="235525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3554" y="924639"/>
                        <a:ext cx="331788" cy="360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5970605"/>
              </p:ext>
            </p:extLst>
          </p:nvPr>
        </p:nvGraphicFramePr>
        <p:xfrm>
          <a:off x="7561818" y="920848"/>
          <a:ext cx="393700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657" name="Equation" r:id="rId10" imgW="152280" imgH="139680" progId="Equation.DSMT4">
                  <p:embed/>
                </p:oleObj>
              </mc:Choice>
              <mc:Fallback>
                <p:oleObj name="Equation" r:id="rId10" imgW="152280" imgH="139680" progId="Equation.DSMT4">
                  <p:embed/>
                  <p:pic>
                    <p:nvPicPr>
                      <p:cNvPr id="235526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61818" y="920848"/>
                        <a:ext cx="393700" cy="415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6217535"/>
              </p:ext>
            </p:extLst>
          </p:nvPr>
        </p:nvGraphicFramePr>
        <p:xfrm>
          <a:off x="3449252" y="1372929"/>
          <a:ext cx="3071813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658" name="Equation" r:id="rId12" imgW="1346040" imgH="203040" progId="Equation.DSMT4">
                  <p:embed/>
                </p:oleObj>
              </mc:Choice>
              <mc:Fallback>
                <p:oleObj name="Equation" r:id="rId12" imgW="1346040" imgH="203040" progId="Equation.DSMT4">
                  <p:embed/>
                  <p:pic>
                    <p:nvPicPr>
                      <p:cNvPr id="235527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9252" y="1372929"/>
                        <a:ext cx="3071813" cy="4556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4829376"/>
              </p:ext>
            </p:extLst>
          </p:nvPr>
        </p:nvGraphicFramePr>
        <p:xfrm>
          <a:off x="1298777" y="1874936"/>
          <a:ext cx="3608388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659" name="Equation" r:id="rId14" imgW="1295280" imgH="203040" progId="Equation.DSMT4">
                  <p:embed/>
                </p:oleObj>
              </mc:Choice>
              <mc:Fallback>
                <p:oleObj name="Equation" r:id="rId14" imgW="1295280" imgH="203040" progId="Equation.DSMT4">
                  <p:embed/>
                  <p:pic>
                    <p:nvPicPr>
                      <p:cNvPr id="235528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8777" y="1874936"/>
                        <a:ext cx="3608388" cy="444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8594345"/>
              </p:ext>
            </p:extLst>
          </p:nvPr>
        </p:nvGraphicFramePr>
        <p:xfrm>
          <a:off x="2478088" y="2287765"/>
          <a:ext cx="2951162" cy="423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660" name="Equation" r:id="rId16" imgW="1104840" imgH="228600" progId="Equation.DSMT4">
                  <p:embed/>
                </p:oleObj>
              </mc:Choice>
              <mc:Fallback>
                <p:oleObj name="Equation" r:id="rId16" imgW="1104840" imgH="228600" progId="Equation.DSMT4">
                  <p:embed/>
                  <p:pic>
                    <p:nvPicPr>
                      <p:cNvPr id="235529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8088" y="2287765"/>
                        <a:ext cx="2951162" cy="4238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3044273"/>
              </p:ext>
            </p:extLst>
          </p:nvPr>
        </p:nvGraphicFramePr>
        <p:xfrm>
          <a:off x="1556158" y="2780604"/>
          <a:ext cx="3786187" cy="43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661" name="Equation" r:id="rId18" imgW="1663560" imgH="203040" progId="Equation.DSMT4">
                  <p:embed/>
                </p:oleObj>
              </mc:Choice>
              <mc:Fallback>
                <p:oleObj name="Equation" r:id="rId18" imgW="1663560" imgH="203040" progId="Equation.DSMT4">
                  <p:embed/>
                  <p:pic>
                    <p:nvPicPr>
                      <p:cNvPr id="23553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6158" y="2780604"/>
                        <a:ext cx="3786187" cy="4333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8654776"/>
              </p:ext>
            </p:extLst>
          </p:nvPr>
        </p:nvGraphicFramePr>
        <p:xfrm>
          <a:off x="5879336" y="3292527"/>
          <a:ext cx="1285875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662" name="Equation" r:id="rId20" imgW="558720" imgH="203040" progId="Equation.DSMT4">
                  <p:embed/>
                </p:oleObj>
              </mc:Choice>
              <mc:Fallback>
                <p:oleObj name="Equation" r:id="rId20" imgW="558720" imgH="203040" progId="Equation.DSMT4">
                  <p:embed/>
                  <p:pic>
                    <p:nvPicPr>
                      <p:cNvPr id="235532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79336" y="3292527"/>
                        <a:ext cx="1285875" cy="4587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0877816"/>
              </p:ext>
            </p:extLst>
          </p:nvPr>
        </p:nvGraphicFramePr>
        <p:xfrm>
          <a:off x="1160870" y="4208753"/>
          <a:ext cx="790575" cy="43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663" name="Equation" r:id="rId22" imgW="393480" imgH="177480" progId="Equation.DSMT4">
                  <p:embed/>
                </p:oleObj>
              </mc:Choice>
              <mc:Fallback>
                <p:oleObj name="Equation" r:id="rId22" imgW="393480" imgH="177480" progId="Equation.DSMT4">
                  <p:embed/>
                  <p:pic>
                    <p:nvPicPr>
                      <p:cNvPr id="235533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0870" y="4208753"/>
                        <a:ext cx="790575" cy="4333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9781622"/>
              </p:ext>
            </p:extLst>
          </p:nvPr>
        </p:nvGraphicFramePr>
        <p:xfrm>
          <a:off x="2627784" y="4208753"/>
          <a:ext cx="3473450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664" name="Equation" r:id="rId24" imgW="1650960" imgH="203040" progId="Equation.DSMT4">
                  <p:embed/>
                </p:oleObj>
              </mc:Choice>
              <mc:Fallback>
                <p:oleObj name="Equation" r:id="rId24" imgW="1650960" imgH="203040" progId="Equation.DSMT4">
                  <p:embed/>
                  <p:pic>
                    <p:nvPicPr>
                      <p:cNvPr id="235534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784" y="4208753"/>
                        <a:ext cx="3473450" cy="447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9975487"/>
              </p:ext>
            </p:extLst>
          </p:nvPr>
        </p:nvGraphicFramePr>
        <p:xfrm>
          <a:off x="3102971" y="4783435"/>
          <a:ext cx="4815032" cy="10809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665" name="Equation" r:id="rId26" imgW="2717640" imgH="622080" progId="Equation.DSMT4">
                  <p:embed/>
                </p:oleObj>
              </mc:Choice>
              <mc:Fallback>
                <p:oleObj name="Equation" r:id="rId26" imgW="2717640" imgH="622080" progId="Equation.DSMT4">
                  <p:embed/>
                  <p:pic>
                    <p:nvPicPr>
                      <p:cNvPr id="235535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2971" y="4783435"/>
                        <a:ext cx="4815032" cy="108098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0007866"/>
              </p:ext>
            </p:extLst>
          </p:nvPr>
        </p:nvGraphicFramePr>
        <p:xfrm>
          <a:off x="1082510" y="5693159"/>
          <a:ext cx="1330325" cy="398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666" name="Equation" r:id="rId28" imgW="583920" imgH="177480" progId="Equation.DSMT4">
                  <p:embed/>
                </p:oleObj>
              </mc:Choice>
              <mc:Fallback>
                <p:oleObj name="Equation" r:id="rId28" imgW="583920" imgH="177480" progId="Equation.DSMT4">
                  <p:embed/>
                  <p:pic>
                    <p:nvPicPr>
                      <p:cNvPr id="235536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2510" y="5693159"/>
                        <a:ext cx="1330325" cy="3984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00734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3"/>
          <p:cNvSpPr>
            <a:spLocks noGrp="1"/>
          </p:cNvSpPr>
          <p:nvPr>
            <p:ph type="title"/>
          </p:nvPr>
        </p:nvSpPr>
        <p:spPr>
          <a:xfrm>
            <a:off x="2771800" y="85816"/>
            <a:ext cx="6215073" cy="549844"/>
          </a:xfrm>
        </p:spPr>
        <p:txBody>
          <a:bodyPr/>
          <a:lstStyle/>
          <a:p>
            <a:r>
              <a:rPr kumimoji="1" lang="zh-CN" alt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拟牛顿法</a:t>
            </a:r>
            <a:endParaRPr kumimoji="1" lang="zh-CN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4803163" y="-47233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4803163" y="-47233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4803163" y="-47233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11" name="Rectangle 11"/>
          <p:cNvSpPr>
            <a:spLocks noChangeArrowheads="1"/>
          </p:cNvSpPr>
          <p:nvPr/>
        </p:nvSpPr>
        <p:spPr bwMode="auto">
          <a:xfrm>
            <a:off x="4803163" y="-47233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0" y="1785938"/>
            <a:ext cx="9144000" cy="3143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5000"/>
              </a:lnSpc>
              <a:buFontTx/>
              <a:buNone/>
            </a:pPr>
            <a:r>
              <a:rPr lang="zh-CN" altLang="en-US" b="1" dirty="0" smtClean="0"/>
              <a:t>（二）</a:t>
            </a:r>
            <a:r>
              <a:rPr lang="en-US" altLang="zh-CN" b="1" dirty="0" smtClean="0"/>
              <a:t>BFGS</a:t>
            </a:r>
            <a:r>
              <a:rPr lang="zh-CN" altLang="en-US" b="1" dirty="0" smtClean="0"/>
              <a:t>算法 （略讲，了解思想）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zh-CN" altLang="en-US" sz="1800" dirty="0" smtClean="0"/>
              <a:t>　  </a:t>
            </a:r>
            <a:r>
              <a:rPr lang="zh-CN" altLang="en-US" sz="2800" dirty="0" smtClean="0"/>
              <a:t>我们再介绍另一个有效和著名的变尺度算法．由于它是</a:t>
            </a:r>
            <a:r>
              <a:rPr lang="en-US" altLang="zh-CN" sz="2800" dirty="0" err="1" smtClean="0"/>
              <a:t>Broyden</a:t>
            </a:r>
            <a:r>
              <a:rPr lang="zh-CN" altLang="en-US" sz="2800" dirty="0" smtClean="0"/>
              <a:t>，</a:t>
            </a:r>
            <a:r>
              <a:rPr lang="en-US" altLang="zh-CN" sz="2800" dirty="0" smtClean="0"/>
              <a:t> Fletcher</a:t>
            </a:r>
            <a:r>
              <a:rPr lang="zh-CN" altLang="en-US" sz="2800" dirty="0" smtClean="0"/>
              <a:t>（</a:t>
            </a:r>
            <a:r>
              <a:rPr lang="en-US" altLang="zh-CN" sz="2800" dirty="0" smtClean="0"/>
              <a:t>1970</a:t>
            </a:r>
            <a:r>
              <a:rPr lang="zh-CN" altLang="en-US" sz="2800" dirty="0" smtClean="0"/>
              <a:t>年），</a:t>
            </a:r>
            <a:r>
              <a:rPr lang="en-US" altLang="zh-CN" sz="2800" dirty="0" smtClean="0"/>
              <a:t>Goldfarb</a:t>
            </a:r>
            <a:r>
              <a:rPr lang="zh-CN" altLang="en-US" sz="2800" dirty="0" smtClean="0"/>
              <a:t>（</a:t>
            </a:r>
            <a:r>
              <a:rPr lang="en-US" altLang="zh-CN" sz="2800" dirty="0" smtClean="0"/>
              <a:t>1969</a:t>
            </a:r>
            <a:r>
              <a:rPr lang="zh-CN" altLang="en-US" sz="2800" dirty="0" smtClean="0"/>
              <a:t>年）和</a:t>
            </a:r>
            <a:r>
              <a:rPr lang="en-US" altLang="zh-CN" sz="2800" dirty="0" err="1" smtClean="0"/>
              <a:t>Shanno</a:t>
            </a:r>
            <a:r>
              <a:rPr lang="zh-CN" altLang="en-US" sz="2800" dirty="0" smtClean="0"/>
              <a:t>（</a:t>
            </a:r>
            <a:r>
              <a:rPr lang="en-US" altLang="zh-CN" sz="2800" dirty="0" smtClean="0"/>
              <a:t>1970</a:t>
            </a:r>
            <a:r>
              <a:rPr lang="zh-CN" altLang="en-US" sz="2800" dirty="0" smtClean="0"/>
              <a:t>年）共同研究的结果，因而叫做</a:t>
            </a:r>
            <a:r>
              <a:rPr lang="en-US" altLang="zh-CN" sz="2800" dirty="0" smtClean="0"/>
              <a:t>BFGS</a:t>
            </a:r>
            <a:r>
              <a:rPr lang="zh-CN" altLang="en-US" sz="2800" dirty="0" smtClean="0"/>
              <a:t>算法．</a:t>
            </a:r>
          </a:p>
          <a:p>
            <a:pPr>
              <a:lnSpc>
                <a:spcPct val="90000"/>
              </a:lnSpc>
              <a:buFontTx/>
              <a:buNone/>
            </a:pPr>
            <a:endParaRPr lang="zh-CN" altLang="en-US" sz="2800" dirty="0" smtClean="0"/>
          </a:p>
        </p:txBody>
      </p:sp>
      <p:sp>
        <p:nvSpPr>
          <p:cNvPr id="12" name="Rectangle 5"/>
          <p:cNvSpPr>
            <a:spLocks noChangeArrowheads="1"/>
          </p:cNvSpPr>
          <p:nvPr/>
        </p:nvSpPr>
        <p:spPr bwMode="auto">
          <a:xfrm>
            <a:off x="0" y="3140075"/>
            <a:ext cx="184150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13" name="Rectangle 13"/>
          <p:cNvSpPr>
            <a:spLocks noChangeArrowheads="1"/>
          </p:cNvSpPr>
          <p:nvPr/>
        </p:nvSpPr>
        <p:spPr bwMode="auto">
          <a:xfrm>
            <a:off x="0" y="3101975"/>
            <a:ext cx="184150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6254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3"/>
          <p:cNvSpPr>
            <a:spLocks noGrp="1"/>
          </p:cNvSpPr>
          <p:nvPr>
            <p:ph type="title"/>
          </p:nvPr>
        </p:nvSpPr>
        <p:spPr>
          <a:xfrm>
            <a:off x="2771800" y="85816"/>
            <a:ext cx="6215073" cy="549844"/>
          </a:xfrm>
        </p:spPr>
        <p:txBody>
          <a:bodyPr/>
          <a:lstStyle/>
          <a:p>
            <a:r>
              <a:rPr kumimoji="1" lang="zh-CN" alt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拟牛顿法</a:t>
            </a:r>
            <a:endParaRPr kumimoji="1" lang="zh-CN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4803163" y="-47233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4803163" y="-47233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4803163" y="-47233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11" name="Rectangle 11"/>
          <p:cNvSpPr>
            <a:spLocks noChangeArrowheads="1"/>
          </p:cNvSpPr>
          <p:nvPr/>
        </p:nvSpPr>
        <p:spPr bwMode="auto">
          <a:xfrm>
            <a:off x="4803163" y="-47233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8" name="矩形 1"/>
          <p:cNvSpPr>
            <a:spLocks noChangeArrowheads="1"/>
          </p:cNvSpPr>
          <p:nvPr/>
        </p:nvSpPr>
        <p:spPr bwMode="auto">
          <a:xfrm>
            <a:off x="323528" y="1005248"/>
            <a:ext cx="8004105" cy="50937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zh-CN" sz="3200" b="1" dirty="0">
                <a:latin typeface="Arial" panose="020B0604020202020204" pitchFamily="34" charset="0"/>
              </a:rPr>
              <a:t>1</a:t>
            </a:r>
            <a:r>
              <a:rPr lang="zh-CN" altLang="en-US" sz="3200" b="1" dirty="0">
                <a:latin typeface="Arial" panose="020B0604020202020204" pitchFamily="34" charset="0"/>
              </a:rPr>
              <a:t>．</a:t>
            </a:r>
            <a:r>
              <a:rPr lang="en-US" altLang="zh-CN" sz="3200" b="1" dirty="0">
                <a:latin typeface="Arial" panose="020B0604020202020204" pitchFamily="34" charset="0"/>
              </a:rPr>
              <a:t>BFGS</a:t>
            </a:r>
            <a:r>
              <a:rPr lang="zh-CN" altLang="en-US" sz="3200" b="1" dirty="0">
                <a:latin typeface="Arial" panose="020B0604020202020204" pitchFamily="34" charset="0"/>
              </a:rPr>
              <a:t>算法基本原理</a:t>
            </a:r>
            <a:endParaRPr lang="en-US" altLang="zh-CN" sz="3200" b="1" dirty="0">
              <a:latin typeface="Arial" panose="020B0604020202020204" pitchFamily="34" charset="0"/>
            </a:endParaRPr>
          </a:p>
          <a:p>
            <a:pPr eaLnBrk="1" hangingPunct="1">
              <a:lnSpc>
                <a:spcPct val="230000"/>
              </a:lnSpc>
            </a:pPr>
            <a:r>
              <a:rPr lang="zh-CN" altLang="en-US" sz="2800" dirty="0">
                <a:latin typeface="Arial" panose="020B0604020202020204" pitchFamily="34" charset="0"/>
              </a:rPr>
              <a:t>考虑如下形式的校正公式                                                                                                                   　</a:t>
            </a:r>
          </a:p>
          <a:p>
            <a:pPr eaLnBrk="1" hangingPunct="1">
              <a:lnSpc>
                <a:spcPct val="230000"/>
              </a:lnSpc>
            </a:pPr>
            <a:r>
              <a:rPr lang="zh-CN" altLang="en-US" sz="2800" dirty="0">
                <a:latin typeface="Arial" panose="020B0604020202020204" pitchFamily="34" charset="0"/>
              </a:rPr>
              <a:t>　　　　　　　　　　　　　　　　　　　　　　　　　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800" dirty="0">
                <a:latin typeface="Arial" panose="020B0604020202020204" pitchFamily="34" charset="0"/>
              </a:rPr>
              <a:t>　    </a:t>
            </a:r>
            <a:endParaRPr lang="en-US" altLang="zh-CN" sz="2800" dirty="0" smtClean="0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sz="2800" dirty="0" smtClean="0">
                <a:latin typeface="Arial" panose="020B0604020202020204" pitchFamily="34" charset="0"/>
              </a:rPr>
              <a:t> </a:t>
            </a:r>
            <a:r>
              <a:rPr lang="zh-CN" altLang="en-US" sz="2800" dirty="0">
                <a:latin typeface="Arial" panose="020B0604020202020204" pitchFamily="34" charset="0"/>
              </a:rPr>
              <a:t>式中</a:t>
            </a:r>
          </a:p>
          <a:p>
            <a:pPr eaLnBrk="1" hangingPunct="1">
              <a:lnSpc>
                <a:spcPct val="90000"/>
              </a:lnSpc>
            </a:pPr>
            <a:endParaRPr lang="zh-CN" altLang="en-US" dirty="0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sz="2800" dirty="0">
                <a:latin typeface="Arial" panose="020B0604020202020204" pitchFamily="34" charset="0"/>
              </a:rPr>
              <a:t>　</a:t>
            </a:r>
            <a:endParaRPr lang="en-US" altLang="zh-CN" sz="2800" dirty="0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sz="2800" dirty="0">
                <a:latin typeface="Arial" panose="020B0604020202020204" pitchFamily="34" charset="0"/>
              </a:rPr>
              <a:t>    这时校正矩阵为</a:t>
            </a:r>
          </a:p>
          <a:p>
            <a:pPr eaLnBrk="1" hangingPunct="1">
              <a:lnSpc>
                <a:spcPct val="90000"/>
              </a:lnSpc>
            </a:pPr>
            <a:endParaRPr lang="zh-CN" altLang="en-US" sz="1400" dirty="0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sz="1400" dirty="0">
                <a:latin typeface="Arial" panose="020B0604020202020204" pitchFamily="34" charset="0"/>
              </a:rPr>
              <a:t>　</a:t>
            </a:r>
            <a:endParaRPr lang="en-US" altLang="zh-CN" sz="1400" dirty="0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sz="2800" dirty="0">
                <a:latin typeface="Arial" panose="020B0604020202020204" pitchFamily="34" charset="0"/>
              </a:rPr>
              <a:t> </a:t>
            </a:r>
          </a:p>
        </p:txBody>
      </p:sp>
      <p:graphicFrame>
        <p:nvGraphicFramePr>
          <p:cNvPr id="1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5571682"/>
              </p:ext>
            </p:extLst>
          </p:nvPr>
        </p:nvGraphicFramePr>
        <p:xfrm>
          <a:off x="550896" y="2386195"/>
          <a:ext cx="8269575" cy="982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55" name="Equation" r:id="rId3" imgW="4178160" imgH="457200" progId="Equation.DSMT4">
                  <p:embed/>
                </p:oleObj>
              </mc:Choice>
              <mc:Fallback>
                <p:oleObj name="Equation" r:id="rId3" imgW="4178160" imgH="457200" progId="Equation.DSMT4">
                  <p:embed/>
                  <p:pic>
                    <p:nvPicPr>
                      <p:cNvPr id="240643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896" y="2386195"/>
                        <a:ext cx="8269575" cy="9826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1766647"/>
              </p:ext>
            </p:extLst>
          </p:nvPr>
        </p:nvGraphicFramePr>
        <p:xfrm>
          <a:off x="1763688" y="3655592"/>
          <a:ext cx="4022909" cy="79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56" name="公式" r:id="rId5" imgW="1295400" imgH="381000" progId="Equation.3">
                  <p:embed/>
                </p:oleObj>
              </mc:Choice>
              <mc:Fallback>
                <p:oleObj name="公式" r:id="rId5" imgW="1295400" imgH="381000" progId="Equation.3">
                  <p:embed/>
                  <p:pic>
                    <p:nvPicPr>
                      <p:cNvPr id="24064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3655592"/>
                        <a:ext cx="4022909" cy="7937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1559005"/>
              </p:ext>
            </p:extLst>
          </p:nvPr>
        </p:nvGraphicFramePr>
        <p:xfrm>
          <a:off x="1652249" y="5235350"/>
          <a:ext cx="6680304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57" name="公式" r:id="rId7" imgW="2984500" imgH="393700" progId="Equation.3">
                  <p:embed/>
                </p:oleObj>
              </mc:Choice>
              <mc:Fallback>
                <p:oleObj name="公式" r:id="rId7" imgW="2984500" imgH="393700" progId="Equation.3">
                  <p:embed/>
                  <p:pic>
                    <p:nvPicPr>
                      <p:cNvPr id="240645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2249" y="5235350"/>
                        <a:ext cx="6680304" cy="8636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98917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3"/>
          <p:cNvSpPr>
            <a:spLocks noGrp="1"/>
          </p:cNvSpPr>
          <p:nvPr>
            <p:ph type="title"/>
          </p:nvPr>
        </p:nvSpPr>
        <p:spPr>
          <a:xfrm>
            <a:off x="2771800" y="85816"/>
            <a:ext cx="6215073" cy="549844"/>
          </a:xfrm>
        </p:spPr>
        <p:txBody>
          <a:bodyPr/>
          <a:lstStyle/>
          <a:p>
            <a:r>
              <a:rPr kumimoji="1" lang="zh-CN" alt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拟牛顿法</a:t>
            </a:r>
            <a:endParaRPr kumimoji="1" lang="zh-CN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4803163" y="-47233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4803163" y="-47233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4803163" y="-47233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11" name="Rectangle 11"/>
          <p:cNvSpPr>
            <a:spLocks noChangeArrowheads="1"/>
          </p:cNvSpPr>
          <p:nvPr/>
        </p:nvSpPr>
        <p:spPr bwMode="auto">
          <a:xfrm>
            <a:off x="4803163" y="-47233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400511" y="1268760"/>
            <a:ext cx="8572500" cy="3081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dirty="0">
                <a:latin typeface="Arial" panose="020B0604020202020204" pitchFamily="34" charset="0"/>
              </a:rPr>
              <a:t>式（</a:t>
            </a:r>
            <a:r>
              <a:rPr lang="en-US" altLang="zh-CN" sz="2800" dirty="0">
                <a:latin typeface="Arial" panose="020B0604020202020204" pitchFamily="34" charset="0"/>
              </a:rPr>
              <a:t>5.34</a:t>
            </a:r>
            <a:r>
              <a:rPr lang="zh-CN" altLang="en-US" sz="2800" dirty="0">
                <a:latin typeface="Arial" panose="020B0604020202020204" pitchFamily="34" charset="0"/>
              </a:rPr>
              <a:t>）中有一个参数    ，它可以取任何实数，每取一个实数就对应一种拟</a:t>
            </a:r>
            <a:r>
              <a:rPr lang="en-US" altLang="zh-CN" sz="2800" dirty="0">
                <a:latin typeface="Arial" panose="020B0604020202020204" pitchFamily="34" charset="0"/>
              </a:rPr>
              <a:t>Newton</a:t>
            </a:r>
            <a:r>
              <a:rPr lang="zh-CN" altLang="en-US" sz="2800" dirty="0">
                <a:latin typeface="Arial" panose="020B0604020202020204" pitchFamily="34" charset="0"/>
              </a:rPr>
              <a:t>算法．</a:t>
            </a:r>
            <a:endParaRPr lang="en-US" altLang="zh-CN" sz="2800" dirty="0">
              <a:latin typeface="Arial" panose="020B0604020202020204" pitchFamily="34" charset="0"/>
            </a:endParaRPr>
          </a:p>
          <a:p>
            <a:pPr eaLnBrk="1" hangingPunct="1"/>
            <a:r>
              <a:rPr lang="zh-CN" altLang="en-US" sz="2800" dirty="0">
                <a:latin typeface="Arial" panose="020B0604020202020204" pitchFamily="34" charset="0"/>
              </a:rPr>
              <a:t>容易验证，当取         时就是</a:t>
            </a:r>
            <a:r>
              <a:rPr lang="en-US" altLang="zh-CN" sz="2800" dirty="0">
                <a:latin typeface="Arial" panose="020B0604020202020204" pitchFamily="34" charset="0"/>
              </a:rPr>
              <a:t>DFP</a:t>
            </a:r>
            <a:r>
              <a:rPr lang="zh-CN" altLang="en-US" sz="2800" dirty="0">
                <a:latin typeface="Arial" panose="020B0604020202020204" pitchFamily="34" charset="0"/>
              </a:rPr>
              <a:t>校正公式．</a:t>
            </a:r>
          </a:p>
          <a:p>
            <a:pPr eaLnBrk="1" hangingPunct="1">
              <a:lnSpc>
                <a:spcPct val="200000"/>
              </a:lnSpc>
            </a:pPr>
            <a:r>
              <a:rPr lang="zh-CN" altLang="en-US" sz="2800" dirty="0">
                <a:latin typeface="Arial" panose="020B0604020202020204" pitchFamily="34" charset="0"/>
              </a:rPr>
              <a:t>令</a:t>
            </a:r>
          </a:p>
          <a:p>
            <a:pPr eaLnBrk="1" hangingPunct="1">
              <a:lnSpc>
                <a:spcPct val="200000"/>
              </a:lnSpc>
            </a:pPr>
            <a:r>
              <a:rPr lang="zh-CN" altLang="en-US" sz="2800" dirty="0">
                <a:latin typeface="Arial" panose="020B0604020202020204" pitchFamily="34" charset="0"/>
              </a:rPr>
              <a:t>就转变为著名的</a:t>
            </a:r>
            <a:r>
              <a:rPr lang="en-US" altLang="zh-CN" sz="2800" dirty="0">
                <a:latin typeface="Arial" panose="020B0604020202020204" pitchFamily="34" charset="0"/>
              </a:rPr>
              <a:t>DFGS</a:t>
            </a:r>
            <a:r>
              <a:rPr lang="zh-CN" altLang="en-US" sz="2800" dirty="0">
                <a:latin typeface="Arial" panose="020B0604020202020204" pitchFamily="34" charset="0"/>
              </a:rPr>
              <a:t>校正公式</a:t>
            </a:r>
          </a:p>
        </p:txBody>
      </p:sp>
      <p:graphicFrame>
        <p:nvGraphicFramePr>
          <p:cNvPr id="1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4833248"/>
              </p:ext>
            </p:extLst>
          </p:nvPr>
        </p:nvGraphicFramePr>
        <p:xfrm>
          <a:off x="2972261" y="2197447"/>
          <a:ext cx="928687" cy="37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590" name="公式" r:id="rId3" imgW="342751" imgH="190417" progId="Equation.3">
                  <p:embed/>
                </p:oleObj>
              </mc:Choice>
              <mc:Fallback>
                <p:oleObj name="公式" r:id="rId3" imgW="342751" imgH="190417" progId="Equation.3">
                  <p:embed/>
                  <p:pic>
                    <p:nvPicPr>
                      <p:cNvPr id="241667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2261" y="2197447"/>
                        <a:ext cx="928687" cy="373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7407543"/>
              </p:ext>
            </p:extLst>
          </p:nvPr>
        </p:nvGraphicFramePr>
        <p:xfrm>
          <a:off x="2972261" y="2840385"/>
          <a:ext cx="1728787" cy="865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591" name="公式" r:id="rId5" imgW="596900" imgH="381000" progId="Equation.3">
                  <p:embed/>
                </p:oleObj>
              </mc:Choice>
              <mc:Fallback>
                <p:oleObj name="公式" r:id="rId5" imgW="596900" imgH="381000" progId="Equation.3">
                  <p:embed/>
                  <p:pic>
                    <p:nvPicPr>
                      <p:cNvPr id="241668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2261" y="2840385"/>
                        <a:ext cx="1728787" cy="8651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357502"/>
              </p:ext>
            </p:extLst>
          </p:nvPr>
        </p:nvGraphicFramePr>
        <p:xfrm>
          <a:off x="972011" y="4412010"/>
          <a:ext cx="7200900" cy="90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592" name="公式" r:id="rId7" imgW="3543300" imgH="457200" progId="Equation.3">
                  <p:embed/>
                </p:oleObj>
              </mc:Choice>
              <mc:Fallback>
                <p:oleObj name="公式" r:id="rId7" imgW="3543300" imgH="457200" progId="Equation.3">
                  <p:embed/>
                  <p:pic>
                    <p:nvPicPr>
                      <p:cNvPr id="241669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2011" y="4412010"/>
                        <a:ext cx="7200900" cy="908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6670311"/>
              </p:ext>
            </p:extLst>
          </p:nvPr>
        </p:nvGraphicFramePr>
        <p:xfrm>
          <a:off x="4401011" y="1340197"/>
          <a:ext cx="358775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593" name="公式" r:id="rId9" imgW="139639" imgH="190417" progId="Equation.3">
                  <p:embed/>
                </p:oleObj>
              </mc:Choice>
              <mc:Fallback>
                <p:oleObj name="公式" r:id="rId9" imgW="139639" imgH="190417" progId="Equation.3">
                  <p:embed/>
                  <p:pic>
                    <p:nvPicPr>
                      <p:cNvPr id="24167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01011" y="1340197"/>
                        <a:ext cx="358775" cy="479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26359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3"/>
          <p:cNvSpPr>
            <a:spLocks noGrp="1"/>
          </p:cNvSpPr>
          <p:nvPr>
            <p:ph type="title"/>
          </p:nvPr>
        </p:nvSpPr>
        <p:spPr>
          <a:xfrm>
            <a:off x="2771800" y="85816"/>
            <a:ext cx="6215073" cy="549844"/>
          </a:xfrm>
        </p:spPr>
        <p:txBody>
          <a:bodyPr/>
          <a:lstStyle/>
          <a:p>
            <a:r>
              <a:rPr kumimoji="1" lang="zh-CN" alt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拟牛顿法</a:t>
            </a:r>
            <a:endParaRPr kumimoji="1" lang="zh-CN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4803163" y="-47233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4803163" y="-47233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4803163" y="-47233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11" name="Rectangle 11"/>
          <p:cNvSpPr>
            <a:spLocks noChangeArrowheads="1"/>
          </p:cNvSpPr>
          <p:nvPr/>
        </p:nvSpPr>
        <p:spPr bwMode="auto">
          <a:xfrm>
            <a:off x="4803163" y="-47233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8" name="Rectangle 18"/>
          <p:cNvSpPr>
            <a:spLocks noChangeArrowheads="1"/>
          </p:cNvSpPr>
          <p:nvPr/>
        </p:nvSpPr>
        <p:spPr bwMode="auto">
          <a:xfrm>
            <a:off x="200060" y="1196752"/>
            <a:ext cx="8786813" cy="3995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dirty="0">
                <a:latin typeface="Arial" panose="020B0604020202020204" pitchFamily="34" charset="0"/>
              </a:rPr>
              <a:t>2</a:t>
            </a:r>
            <a:r>
              <a:rPr lang="zh-CN" altLang="en-US" sz="3200" b="1" dirty="0" smtClean="0">
                <a:latin typeface="Arial" panose="020B0604020202020204" pitchFamily="34" charset="0"/>
              </a:rPr>
              <a:t>．</a:t>
            </a:r>
            <a:r>
              <a:rPr lang="en-US" altLang="zh-CN" sz="3200" b="1" dirty="0">
                <a:latin typeface="Arial" panose="020B0604020202020204" pitchFamily="34" charset="0"/>
              </a:rPr>
              <a:t>B</a:t>
            </a:r>
            <a:r>
              <a:rPr lang="en-US" altLang="zh-CN" sz="3200" b="1" dirty="0" smtClean="0">
                <a:latin typeface="Arial" panose="020B0604020202020204" pitchFamily="34" charset="0"/>
              </a:rPr>
              <a:t>FGS</a:t>
            </a:r>
            <a:r>
              <a:rPr lang="zh-CN" altLang="en-US" sz="3200" b="1" dirty="0">
                <a:latin typeface="Arial" panose="020B0604020202020204" pitchFamily="34" charset="0"/>
              </a:rPr>
              <a:t>算法迭代步骤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Arial" panose="020B0604020202020204" pitchFamily="34" charset="0"/>
              </a:rPr>
              <a:t>已知目标函数      及其梯度       </a:t>
            </a:r>
            <a:r>
              <a:rPr lang="en-US" altLang="zh-CN" sz="2800" dirty="0">
                <a:latin typeface="Arial" panose="020B0604020202020204" pitchFamily="34" charset="0"/>
              </a:rPr>
              <a:t>,</a:t>
            </a:r>
            <a:r>
              <a:rPr lang="zh-CN" altLang="en-US" sz="2800" dirty="0">
                <a:latin typeface="Arial" panose="020B0604020202020204" pitchFamily="34" charset="0"/>
              </a:rPr>
              <a:t>问题的维数  </a:t>
            </a:r>
            <a:r>
              <a:rPr lang="en-US" altLang="zh-CN" sz="2800" dirty="0">
                <a:latin typeface="Arial" panose="020B0604020202020204" pitchFamily="34" charset="0"/>
              </a:rPr>
              <a:t>,</a:t>
            </a:r>
            <a:r>
              <a:rPr lang="zh-CN" altLang="en-US" sz="2800" dirty="0">
                <a:latin typeface="Arial" panose="020B0604020202020204" pitchFamily="34" charset="0"/>
              </a:rPr>
              <a:t>终止限 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Arial" panose="020B0604020202020204" pitchFamily="34" charset="0"/>
              </a:rPr>
              <a:t>（</a:t>
            </a:r>
            <a:r>
              <a:rPr lang="en-US" altLang="zh-CN" sz="2800" dirty="0">
                <a:latin typeface="Arial" panose="020B0604020202020204" pitchFamily="34" charset="0"/>
              </a:rPr>
              <a:t>1</a:t>
            </a:r>
            <a:r>
              <a:rPr lang="zh-CN" altLang="en-US" sz="2800" dirty="0">
                <a:latin typeface="Arial" panose="020B0604020202020204" pitchFamily="34" charset="0"/>
              </a:rPr>
              <a:t>）选取初始点    </a:t>
            </a:r>
            <a:r>
              <a:rPr lang="en-US" altLang="zh-CN" sz="2800" dirty="0">
                <a:latin typeface="Arial" panose="020B0604020202020204" pitchFamily="34" charset="0"/>
              </a:rPr>
              <a:t>,</a:t>
            </a:r>
            <a:r>
              <a:rPr lang="zh-CN" altLang="en-US" sz="2800" dirty="0">
                <a:latin typeface="Arial" panose="020B0604020202020204" pitchFamily="34" charset="0"/>
              </a:rPr>
              <a:t>初始矩阵        </a:t>
            </a:r>
            <a:r>
              <a:rPr lang="en-US" altLang="zh-CN" sz="2800" dirty="0">
                <a:latin typeface="Arial" panose="020B0604020202020204" pitchFamily="34" charset="0"/>
              </a:rPr>
              <a:t>,</a:t>
            </a:r>
            <a:r>
              <a:rPr lang="zh-CN" altLang="en-US" sz="2800" dirty="0">
                <a:latin typeface="Arial" panose="020B0604020202020204" pitchFamily="34" charset="0"/>
              </a:rPr>
              <a:t>给定终止限  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Arial" panose="020B0604020202020204" pitchFamily="34" charset="0"/>
              </a:rPr>
              <a:t>（</a:t>
            </a:r>
            <a:r>
              <a:rPr lang="en-US" altLang="zh-CN" sz="2800" dirty="0">
                <a:latin typeface="Arial" panose="020B0604020202020204" pitchFamily="34" charset="0"/>
              </a:rPr>
              <a:t>2</a:t>
            </a:r>
            <a:r>
              <a:rPr lang="zh-CN" altLang="en-US" sz="2800" dirty="0">
                <a:latin typeface="Arial" panose="020B0604020202020204" pitchFamily="34" charset="0"/>
              </a:rPr>
              <a:t>）求初始梯度向量，计算          </a:t>
            </a:r>
            <a:r>
              <a:rPr lang="en-US" altLang="zh-CN" sz="2800" dirty="0">
                <a:latin typeface="Arial" panose="020B0604020202020204" pitchFamily="34" charset="0"/>
              </a:rPr>
              <a:t>,</a:t>
            </a:r>
            <a:r>
              <a:rPr lang="zh-CN" altLang="en-US" sz="2800" dirty="0">
                <a:latin typeface="Arial" panose="020B0604020202020204" pitchFamily="34" charset="0"/>
              </a:rPr>
              <a:t>若                 ，停  </a:t>
            </a:r>
            <a:endParaRPr lang="en-US" altLang="zh-CN" sz="280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2800" dirty="0">
                <a:latin typeface="Arial" panose="020B0604020202020204" pitchFamily="34" charset="0"/>
              </a:rPr>
              <a:t>   </a:t>
            </a:r>
            <a:r>
              <a:rPr lang="zh-CN" altLang="en-US" sz="2800" dirty="0">
                <a:latin typeface="Arial" panose="020B0604020202020204" pitchFamily="34" charset="0"/>
              </a:rPr>
              <a:t>止迭代输出     ，否则，转（</a:t>
            </a:r>
            <a:r>
              <a:rPr lang="en-US" altLang="zh-CN" sz="2800" dirty="0">
                <a:latin typeface="Arial" panose="020B0604020202020204" pitchFamily="34" charset="0"/>
              </a:rPr>
              <a:t>3</a:t>
            </a:r>
            <a:r>
              <a:rPr lang="zh-CN" altLang="en-US" sz="2800" dirty="0">
                <a:latin typeface="Arial" panose="020B0604020202020204" pitchFamily="34" charset="0"/>
              </a:rPr>
              <a:t>）．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Arial" panose="020B0604020202020204" pitchFamily="34" charset="0"/>
              </a:rPr>
              <a:t>（</a:t>
            </a:r>
            <a:r>
              <a:rPr lang="en-US" altLang="zh-CN" sz="2800" dirty="0">
                <a:latin typeface="Arial" panose="020B0604020202020204" pitchFamily="34" charset="0"/>
              </a:rPr>
              <a:t>3</a:t>
            </a:r>
            <a:r>
              <a:rPr lang="zh-CN" altLang="en-US" sz="2800" dirty="0">
                <a:latin typeface="Arial" panose="020B0604020202020204" pitchFamily="34" charset="0"/>
              </a:rPr>
              <a:t>）构造初始</a:t>
            </a:r>
            <a:r>
              <a:rPr lang="en-US" altLang="zh-CN" sz="2800" dirty="0">
                <a:latin typeface="Arial" panose="020B0604020202020204" pitchFamily="34" charset="0"/>
              </a:rPr>
              <a:t>BFGS</a:t>
            </a:r>
            <a:r>
              <a:rPr lang="zh-CN" altLang="en-US" sz="2800" dirty="0">
                <a:latin typeface="Arial" panose="020B0604020202020204" pitchFamily="34" charset="0"/>
              </a:rPr>
              <a:t>方向，取    </a:t>
            </a:r>
            <a:endParaRPr lang="en-US" altLang="zh-CN" sz="2800" dirty="0">
              <a:latin typeface="Arial" panose="020B0604020202020204" pitchFamily="34" charset="0"/>
            </a:endParaRPr>
          </a:p>
          <a:p>
            <a:pPr eaLnBrk="1" hangingPunct="1"/>
            <a:r>
              <a:rPr lang="zh-CN" altLang="en-US" sz="2800" dirty="0">
                <a:latin typeface="Arial" panose="020B0604020202020204" pitchFamily="34" charset="0"/>
              </a:rPr>
              <a:t>   令           转（</a:t>
            </a:r>
            <a:r>
              <a:rPr lang="en-US" altLang="zh-CN" sz="2800" dirty="0">
                <a:latin typeface="Arial" panose="020B0604020202020204" pitchFamily="34" charset="0"/>
              </a:rPr>
              <a:t>4</a:t>
            </a:r>
            <a:r>
              <a:rPr lang="zh-CN" altLang="en-US" sz="2800" dirty="0">
                <a:latin typeface="Arial" panose="020B0604020202020204" pitchFamily="34" charset="0"/>
              </a:rPr>
              <a:t>）．</a:t>
            </a:r>
            <a:endParaRPr lang="en-US" altLang="zh-CN" sz="2800" dirty="0">
              <a:latin typeface="Arial" panose="020B0604020202020204" pitchFamily="34" charset="0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Arial" panose="020B0604020202020204" pitchFamily="34" charset="0"/>
              </a:rPr>
              <a:t>（</a:t>
            </a:r>
            <a:r>
              <a:rPr lang="en-US" altLang="zh-CN" sz="2800" dirty="0">
                <a:latin typeface="Arial" panose="020B0604020202020204" pitchFamily="34" charset="0"/>
              </a:rPr>
              <a:t>4</a:t>
            </a:r>
            <a:r>
              <a:rPr lang="zh-CN" altLang="en-US" sz="2800" dirty="0">
                <a:latin typeface="Arial" panose="020B0604020202020204" pitchFamily="34" charset="0"/>
              </a:rPr>
              <a:t>）进行一维搜索，求   ，使得                           ， </a:t>
            </a:r>
            <a:endParaRPr lang="en-US" altLang="zh-CN" sz="280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2800" dirty="0">
                <a:latin typeface="Arial" panose="020B0604020202020204" pitchFamily="34" charset="0"/>
              </a:rPr>
              <a:t>   </a:t>
            </a:r>
            <a:r>
              <a:rPr lang="zh-CN" altLang="en-US" sz="2800" dirty="0">
                <a:latin typeface="Arial" panose="020B0604020202020204" pitchFamily="34" charset="0"/>
              </a:rPr>
              <a:t>令                    ，转（</a:t>
            </a:r>
            <a:r>
              <a:rPr lang="en-US" altLang="zh-CN" sz="2800" dirty="0">
                <a:latin typeface="Arial" panose="020B0604020202020204" pitchFamily="34" charset="0"/>
              </a:rPr>
              <a:t>5</a:t>
            </a:r>
            <a:r>
              <a:rPr lang="zh-CN" altLang="en-US" sz="2800" dirty="0">
                <a:latin typeface="Arial" panose="020B0604020202020204" pitchFamily="34" charset="0"/>
              </a:rPr>
              <a:t>）．</a:t>
            </a:r>
          </a:p>
        </p:txBody>
      </p:sp>
      <p:graphicFrame>
        <p:nvGraphicFramePr>
          <p:cNvPr id="1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1987285"/>
              </p:ext>
            </p:extLst>
          </p:nvPr>
        </p:nvGraphicFramePr>
        <p:xfrm>
          <a:off x="2486060" y="1768252"/>
          <a:ext cx="719138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735" name="公式" r:id="rId3" imgW="355446" imgH="190417" progId="Equation.3">
                  <p:embed/>
                </p:oleObj>
              </mc:Choice>
              <mc:Fallback>
                <p:oleObj name="公式" r:id="rId3" imgW="355446" imgH="190417" progId="Equation.3">
                  <p:embed/>
                  <p:pic>
                    <p:nvPicPr>
                      <p:cNvPr id="242691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6060" y="1768252"/>
                        <a:ext cx="719138" cy="387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5796408"/>
              </p:ext>
            </p:extLst>
          </p:nvPr>
        </p:nvGraphicFramePr>
        <p:xfrm>
          <a:off x="4557748" y="1768252"/>
          <a:ext cx="72072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736" name="公式" r:id="rId5" imgW="342751" imgH="190417" progId="Equation.3">
                  <p:embed/>
                </p:oleObj>
              </mc:Choice>
              <mc:Fallback>
                <p:oleObj name="公式" r:id="rId5" imgW="342751" imgH="190417" progId="Equation.3">
                  <p:embed/>
                  <p:pic>
                    <p:nvPicPr>
                      <p:cNvPr id="242692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57748" y="1768252"/>
                        <a:ext cx="720725" cy="400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5830209"/>
              </p:ext>
            </p:extLst>
          </p:nvPr>
        </p:nvGraphicFramePr>
        <p:xfrm>
          <a:off x="7058060" y="1768252"/>
          <a:ext cx="330200" cy="35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737" name="公式" r:id="rId7" imgW="114102" imgH="126780" progId="Equation.3">
                  <p:embed/>
                </p:oleObj>
              </mc:Choice>
              <mc:Fallback>
                <p:oleObj name="公式" r:id="rId7" imgW="114102" imgH="126780" progId="Equation.3">
                  <p:embed/>
                  <p:pic>
                    <p:nvPicPr>
                      <p:cNvPr id="242693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58060" y="1768252"/>
                        <a:ext cx="330200" cy="3571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5691474"/>
              </p:ext>
            </p:extLst>
          </p:nvPr>
        </p:nvGraphicFramePr>
        <p:xfrm>
          <a:off x="8415373" y="1696815"/>
          <a:ext cx="447675" cy="48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738" name="公式" r:id="rId9" imgW="114102" imgH="126780" progId="Equation.3">
                  <p:embed/>
                </p:oleObj>
              </mc:Choice>
              <mc:Fallback>
                <p:oleObj name="公式" r:id="rId9" imgW="114102" imgH="126780" progId="Equation.3">
                  <p:embed/>
                  <p:pic>
                    <p:nvPicPr>
                      <p:cNvPr id="242694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15373" y="1696815"/>
                        <a:ext cx="447675" cy="4841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5278959"/>
              </p:ext>
            </p:extLst>
          </p:nvPr>
        </p:nvGraphicFramePr>
        <p:xfrm>
          <a:off x="3057560" y="2125440"/>
          <a:ext cx="503238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739" name="公式" r:id="rId11" imgW="203024" imgH="203024" progId="Equation.3">
                  <p:embed/>
                </p:oleObj>
              </mc:Choice>
              <mc:Fallback>
                <p:oleObj name="公式" r:id="rId11" imgW="203024" imgH="203024" progId="Equation.3">
                  <p:embed/>
                  <p:pic>
                    <p:nvPicPr>
                      <p:cNvPr id="242695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7560" y="2125440"/>
                        <a:ext cx="503238" cy="460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5965119"/>
              </p:ext>
            </p:extLst>
          </p:nvPr>
        </p:nvGraphicFramePr>
        <p:xfrm>
          <a:off x="4946686" y="2163887"/>
          <a:ext cx="863600" cy="474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740" name="公式" r:id="rId13" imgW="431613" imgH="203112" progId="Equation.3">
                  <p:embed/>
                </p:oleObj>
              </mc:Choice>
              <mc:Fallback>
                <p:oleObj name="公式" r:id="rId13" imgW="431613" imgH="203112" progId="Equation.3">
                  <p:embed/>
                  <p:pic>
                    <p:nvPicPr>
                      <p:cNvPr id="242696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6686" y="2163887"/>
                        <a:ext cx="863600" cy="4746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5320513"/>
              </p:ext>
            </p:extLst>
          </p:nvPr>
        </p:nvGraphicFramePr>
        <p:xfrm>
          <a:off x="7634323" y="2181002"/>
          <a:ext cx="923925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741" name="Equation" r:id="rId15" imgW="380880" imgH="177480" progId="Equation.DSMT4">
                  <p:embed/>
                </p:oleObj>
              </mc:Choice>
              <mc:Fallback>
                <p:oleObj name="Equation" r:id="rId15" imgW="380880" imgH="177480" progId="Equation.DSMT4">
                  <p:embed/>
                  <p:pic>
                    <p:nvPicPr>
                      <p:cNvPr id="242697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34323" y="2181002"/>
                        <a:ext cx="923925" cy="4175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0327300"/>
              </p:ext>
            </p:extLst>
          </p:nvPr>
        </p:nvGraphicFramePr>
        <p:xfrm>
          <a:off x="4914935" y="2625502"/>
          <a:ext cx="936625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742" name="公式" r:id="rId17" imgW="482391" imgH="203112" progId="Equation.3">
                  <p:embed/>
                </p:oleObj>
              </mc:Choice>
              <mc:Fallback>
                <p:oleObj name="公式" r:id="rId17" imgW="482391" imgH="203112" progId="Equation.3">
                  <p:embed/>
                  <p:pic>
                    <p:nvPicPr>
                      <p:cNvPr id="242698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14935" y="2625502"/>
                        <a:ext cx="936625" cy="384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8304435"/>
              </p:ext>
            </p:extLst>
          </p:nvPr>
        </p:nvGraphicFramePr>
        <p:xfrm>
          <a:off x="6343685" y="2625502"/>
          <a:ext cx="1728788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743" name="公式" r:id="rId19" imgW="774364" imgH="203112" progId="Equation.3">
                  <p:embed/>
                </p:oleObj>
              </mc:Choice>
              <mc:Fallback>
                <p:oleObj name="公式" r:id="rId19" imgW="774364" imgH="203112" progId="Equation.3">
                  <p:embed/>
                  <p:pic>
                    <p:nvPicPr>
                      <p:cNvPr id="242699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43685" y="2625502"/>
                        <a:ext cx="1728788" cy="447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1658332"/>
              </p:ext>
            </p:extLst>
          </p:nvPr>
        </p:nvGraphicFramePr>
        <p:xfrm>
          <a:off x="2343185" y="2982690"/>
          <a:ext cx="503238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744" name="公式" r:id="rId21" imgW="203024" imgH="203024" progId="Equation.3">
                  <p:embed/>
                </p:oleObj>
              </mc:Choice>
              <mc:Fallback>
                <p:oleObj name="公式" r:id="rId21" imgW="203024" imgH="203024" progId="Equation.3">
                  <p:embed/>
                  <p:pic>
                    <p:nvPicPr>
                      <p:cNvPr id="24270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3185" y="2982690"/>
                        <a:ext cx="503238" cy="5032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4465988"/>
              </p:ext>
            </p:extLst>
          </p:nvPr>
        </p:nvGraphicFramePr>
        <p:xfrm>
          <a:off x="5107023" y="3430365"/>
          <a:ext cx="3451225" cy="48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745" name="Equation" r:id="rId23" imgW="1815840" imgH="228600" progId="Equation.DSMT4">
                  <p:embed/>
                </p:oleObj>
              </mc:Choice>
              <mc:Fallback>
                <p:oleObj name="Equation" r:id="rId23" imgW="1815840" imgH="228600" progId="Equation.DSMT4">
                  <p:embed/>
                  <p:pic>
                    <p:nvPicPr>
                      <p:cNvPr id="242701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7023" y="3430365"/>
                        <a:ext cx="3451225" cy="4810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1670278"/>
              </p:ext>
            </p:extLst>
          </p:nvPr>
        </p:nvGraphicFramePr>
        <p:xfrm>
          <a:off x="882685" y="3863752"/>
          <a:ext cx="1103313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746" name="Equation" r:id="rId25" imgW="393480" imgH="203040" progId="Equation.DSMT4">
                  <p:embed/>
                </p:oleObj>
              </mc:Choice>
              <mc:Fallback>
                <p:oleObj name="Equation" r:id="rId25" imgW="393480" imgH="203040" progId="Equation.DSMT4">
                  <p:embed/>
                  <p:pic>
                    <p:nvPicPr>
                      <p:cNvPr id="242702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2685" y="3863752"/>
                        <a:ext cx="1103313" cy="476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91271338"/>
              </p:ext>
            </p:extLst>
          </p:nvPr>
        </p:nvGraphicFramePr>
        <p:xfrm>
          <a:off x="4126741" y="4200302"/>
          <a:ext cx="466725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747" name="公式" r:id="rId27" imgW="139639" imgH="203112" progId="Equation.3">
                  <p:embed/>
                </p:oleObj>
              </mc:Choice>
              <mc:Fallback>
                <p:oleObj name="公式" r:id="rId27" imgW="139639" imgH="203112" progId="Equation.3">
                  <p:embed/>
                  <p:pic>
                    <p:nvPicPr>
                      <p:cNvPr id="242704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6741" y="4200302"/>
                        <a:ext cx="466725" cy="558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0217321"/>
              </p:ext>
            </p:extLst>
          </p:nvPr>
        </p:nvGraphicFramePr>
        <p:xfrm>
          <a:off x="5629310" y="4268565"/>
          <a:ext cx="2447925" cy="490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748" name="公式" r:id="rId29" imgW="1002865" imgH="203112" progId="Equation.3">
                  <p:embed/>
                </p:oleObj>
              </mc:Choice>
              <mc:Fallback>
                <p:oleObj name="公式" r:id="rId29" imgW="1002865" imgH="203112" progId="Equation.3">
                  <p:embed/>
                  <p:pic>
                    <p:nvPicPr>
                      <p:cNvPr id="242705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29310" y="4268565"/>
                        <a:ext cx="2447925" cy="4905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0711747"/>
              </p:ext>
            </p:extLst>
          </p:nvPr>
        </p:nvGraphicFramePr>
        <p:xfrm>
          <a:off x="985873" y="4697190"/>
          <a:ext cx="1946275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749" name="公式" r:id="rId31" imgW="990170" imgH="203112" progId="Equation.3">
                  <p:embed/>
                </p:oleObj>
              </mc:Choice>
              <mc:Fallback>
                <p:oleObj name="公式" r:id="rId31" imgW="990170" imgH="203112" progId="Equation.3">
                  <p:embed/>
                  <p:pic>
                    <p:nvPicPr>
                      <p:cNvPr id="242706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5873" y="4697190"/>
                        <a:ext cx="1946275" cy="476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94387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3"/>
          <p:cNvSpPr>
            <a:spLocks noGrp="1"/>
          </p:cNvSpPr>
          <p:nvPr>
            <p:ph type="title"/>
          </p:nvPr>
        </p:nvSpPr>
        <p:spPr>
          <a:xfrm>
            <a:off x="2771800" y="85816"/>
            <a:ext cx="6215073" cy="549844"/>
          </a:xfrm>
        </p:spPr>
        <p:txBody>
          <a:bodyPr/>
          <a:lstStyle/>
          <a:p>
            <a:r>
              <a:rPr kumimoji="1" lang="zh-CN" alt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拟牛顿法</a:t>
            </a:r>
            <a:endParaRPr kumimoji="1" lang="zh-CN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4803163" y="-47233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4803163" y="-47233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4803163" y="-47233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11" name="Rectangle 11"/>
          <p:cNvSpPr>
            <a:spLocks noChangeArrowheads="1"/>
          </p:cNvSpPr>
          <p:nvPr/>
        </p:nvSpPr>
        <p:spPr bwMode="auto">
          <a:xfrm>
            <a:off x="4803163" y="-47233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448940" y="1124744"/>
            <a:ext cx="8893175" cy="4572000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2800" dirty="0" smtClean="0"/>
              <a:t>（</a:t>
            </a:r>
            <a:r>
              <a:rPr lang="en-US" altLang="zh-CN" sz="2800" dirty="0" smtClean="0"/>
              <a:t>5</a:t>
            </a:r>
            <a:r>
              <a:rPr lang="zh-CN" altLang="en-US" sz="2800" dirty="0" smtClean="0"/>
              <a:t>）求梯度向量，计算                    ，若                          ，停  </a:t>
            </a:r>
            <a:endParaRPr lang="en-US" altLang="zh-CN" sz="2800" dirty="0" smtClean="0"/>
          </a:p>
          <a:p>
            <a:pPr>
              <a:lnSpc>
                <a:spcPct val="130000"/>
              </a:lnSpc>
              <a:buFontTx/>
              <a:buNone/>
            </a:pPr>
            <a:r>
              <a:rPr lang="en-US" altLang="zh-CN" sz="2800" dirty="0" smtClean="0"/>
              <a:t>     </a:t>
            </a:r>
            <a:r>
              <a:rPr lang="zh-CN" altLang="en-US" sz="2800" dirty="0" smtClean="0"/>
              <a:t>止迭代输出       ；否则，转（</a:t>
            </a:r>
            <a:r>
              <a:rPr lang="en-US" altLang="zh-CN" sz="2800" dirty="0" smtClean="0"/>
              <a:t>6</a:t>
            </a:r>
            <a:r>
              <a:rPr lang="zh-CN" altLang="en-US" sz="2800" dirty="0" smtClean="0"/>
              <a:t>）．</a:t>
            </a:r>
          </a:p>
          <a:p>
            <a:pPr>
              <a:lnSpc>
                <a:spcPct val="130000"/>
              </a:lnSpc>
            </a:pPr>
            <a:r>
              <a:rPr lang="zh-CN" altLang="en-US" sz="2800" dirty="0" smtClean="0"/>
              <a:t>（</a:t>
            </a:r>
            <a:r>
              <a:rPr lang="en-US" altLang="zh-CN" sz="2800" dirty="0" smtClean="0"/>
              <a:t>6</a:t>
            </a:r>
            <a:r>
              <a:rPr lang="zh-CN" altLang="en-US" sz="2800" dirty="0" smtClean="0"/>
              <a:t>）检验迭代次数，若              </a:t>
            </a:r>
            <a:r>
              <a:rPr lang="en-US" altLang="zh-CN" sz="2800" dirty="0" smtClean="0"/>
              <a:t>,</a:t>
            </a:r>
            <a:r>
              <a:rPr lang="zh-CN" altLang="en-US" sz="2800" dirty="0" smtClean="0"/>
              <a:t>令                 转（</a:t>
            </a:r>
            <a:r>
              <a:rPr lang="en-US" altLang="zh-CN" sz="2800" dirty="0" smtClean="0"/>
              <a:t>3</a:t>
            </a:r>
            <a:r>
              <a:rPr lang="zh-CN" altLang="en-US" sz="2800" dirty="0" smtClean="0"/>
              <a:t>）；否 </a:t>
            </a:r>
            <a:endParaRPr lang="en-US" altLang="zh-CN" sz="2800" dirty="0" smtClean="0"/>
          </a:p>
          <a:p>
            <a:pPr>
              <a:lnSpc>
                <a:spcPct val="130000"/>
              </a:lnSpc>
              <a:buFontTx/>
              <a:buNone/>
            </a:pPr>
            <a:r>
              <a:rPr lang="en-US" altLang="zh-CN" sz="2800" dirty="0" smtClean="0"/>
              <a:t>     </a:t>
            </a:r>
            <a:r>
              <a:rPr lang="zh-CN" altLang="en-US" sz="2800" dirty="0" smtClean="0"/>
              <a:t>则，转（</a:t>
            </a:r>
            <a:r>
              <a:rPr lang="en-US" altLang="zh-CN" sz="2800" dirty="0" smtClean="0"/>
              <a:t>7</a:t>
            </a:r>
            <a:r>
              <a:rPr lang="zh-CN" altLang="en-US" sz="2800" dirty="0" smtClean="0"/>
              <a:t>）．</a:t>
            </a:r>
          </a:p>
          <a:p>
            <a:pPr>
              <a:lnSpc>
                <a:spcPct val="130000"/>
              </a:lnSpc>
            </a:pPr>
            <a:r>
              <a:rPr lang="zh-CN" altLang="en-US" sz="2800" dirty="0" smtClean="0"/>
              <a:t>（</a:t>
            </a:r>
            <a:r>
              <a:rPr lang="en-US" altLang="zh-CN" sz="2800" dirty="0" smtClean="0"/>
              <a:t>7</a:t>
            </a:r>
            <a:r>
              <a:rPr lang="zh-CN" altLang="en-US" sz="2800" dirty="0" smtClean="0"/>
              <a:t>）构造</a:t>
            </a:r>
            <a:r>
              <a:rPr lang="en-US" altLang="zh-CN" sz="2800" dirty="0" smtClean="0"/>
              <a:t>BFGS</a:t>
            </a:r>
            <a:r>
              <a:rPr lang="zh-CN" altLang="en-US" sz="2800" dirty="0" smtClean="0"/>
              <a:t>方向，用</a:t>
            </a:r>
            <a:r>
              <a:rPr lang="en-US" altLang="zh-CN" sz="2800" dirty="0" smtClean="0"/>
              <a:t>BFGS</a:t>
            </a:r>
            <a:r>
              <a:rPr lang="zh-CN" altLang="en-US" sz="2800" dirty="0" smtClean="0"/>
              <a:t>公式</a:t>
            </a:r>
          </a:p>
          <a:p>
            <a:pPr>
              <a:lnSpc>
                <a:spcPct val="130000"/>
              </a:lnSpc>
              <a:buFontTx/>
              <a:buNone/>
            </a:pPr>
            <a:endParaRPr lang="en-US" altLang="zh-CN" sz="2800" dirty="0" smtClean="0"/>
          </a:p>
          <a:p>
            <a:pPr>
              <a:lnSpc>
                <a:spcPct val="130000"/>
              </a:lnSpc>
              <a:buFontTx/>
              <a:buNone/>
            </a:pPr>
            <a:endParaRPr lang="zh-CN" altLang="en-US" sz="2800" dirty="0" smtClean="0"/>
          </a:p>
          <a:p>
            <a:pPr>
              <a:lnSpc>
                <a:spcPct val="130000"/>
              </a:lnSpc>
              <a:buFontTx/>
              <a:buNone/>
            </a:pPr>
            <a:r>
              <a:rPr lang="zh-CN" altLang="en-US" sz="2800" dirty="0" smtClean="0"/>
              <a:t>　 计算          ，取                                    ，令                ，转（</a:t>
            </a:r>
            <a:r>
              <a:rPr lang="en-US" altLang="zh-CN" sz="2800" dirty="0" smtClean="0"/>
              <a:t>4</a:t>
            </a:r>
            <a:r>
              <a:rPr lang="zh-CN" altLang="en-US" sz="2800" dirty="0" smtClean="0"/>
              <a:t>）．      </a:t>
            </a:r>
          </a:p>
          <a:p>
            <a:pPr>
              <a:lnSpc>
                <a:spcPct val="130000"/>
              </a:lnSpc>
              <a:buFontTx/>
              <a:buNone/>
            </a:pPr>
            <a:r>
              <a:rPr lang="zh-CN" altLang="en-US" sz="2800" dirty="0" smtClean="0"/>
              <a:t>　　　</a:t>
            </a: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448940" y="2712244"/>
            <a:ext cx="184150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448940" y="2712244"/>
            <a:ext cx="184150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graphicFrame>
        <p:nvGraphicFramePr>
          <p:cNvPr id="14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483503"/>
              </p:ext>
            </p:extLst>
          </p:nvPr>
        </p:nvGraphicFramePr>
        <p:xfrm>
          <a:off x="4160225" y="1170389"/>
          <a:ext cx="1285875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693" name="公式" r:id="rId3" imgW="571252" imgH="203112" progId="Equation.3">
                  <p:embed/>
                </p:oleObj>
              </mc:Choice>
              <mc:Fallback>
                <p:oleObj name="公式" r:id="rId3" imgW="571252" imgH="203112" progId="Equation.3">
                  <p:embed/>
                  <p:pic>
                    <p:nvPicPr>
                      <p:cNvPr id="243731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60225" y="1170389"/>
                        <a:ext cx="1285875" cy="409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1708258"/>
              </p:ext>
            </p:extLst>
          </p:nvPr>
        </p:nvGraphicFramePr>
        <p:xfrm>
          <a:off x="6156176" y="1159277"/>
          <a:ext cx="1584325" cy="420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694" name="公式" r:id="rId5" imgW="901309" imgH="203112" progId="Equation.3">
                  <p:embed/>
                </p:oleObj>
              </mc:Choice>
              <mc:Fallback>
                <p:oleObj name="公式" r:id="rId5" imgW="901309" imgH="203112" progId="Equation.3">
                  <p:embed/>
                  <p:pic>
                    <p:nvPicPr>
                      <p:cNvPr id="243733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6176" y="1159277"/>
                        <a:ext cx="1584325" cy="4206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5124266"/>
              </p:ext>
            </p:extLst>
          </p:nvPr>
        </p:nvGraphicFramePr>
        <p:xfrm>
          <a:off x="2338886" y="1608003"/>
          <a:ext cx="577850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695" name="公式" r:id="rId7" imgW="291973" imgH="203112" progId="Equation.3">
                  <p:embed/>
                </p:oleObj>
              </mc:Choice>
              <mc:Fallback>
                <p:oleObj name="公式" r:id="rId7" imgW="291973" imgH="203112" progId="Equation.3">
                  <p:embed/>
                  <p:pic>
                    <p:nvPicPr>
                      <p:cNvPr id="243735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8886" y="1608003"/>
                        <a:ext cx="577850" cy="4587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2245525"/>
              </p:ext>
            </p:extLst>
          </p:nvPr>
        </p:nvGraphicFramePr>
        <p:xfrm>
          <a:off x="4051269" y="2118518"/>
          <a:ext cx="936625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696" name="公式" r:id="rId9" imgW="507780" imgH="165028" progId="Equation.3">
                  <p:embed/>
                </p:oleObj>
              </mc:Choice>
              <mc:Fallback>
                <p:oleObj name="公式" r:id="rId9" imgW="507780" imgH="165028" progId="Equation.3">
                  <p:embed/>
                  <p:pic>
                    <p:nvPicPr>
                      <p:cNvPr id="243737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51269" y="2118518"/>
                        <a:ext cx="936625" cy="441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7020503"/>
              </p:ext>
            </p:extLst>
          </p:nvPr>
        </p:nvGraphicFramePr>
        <p:xfrm>
          <a:off x="5406825" y="2118518"/>
          <a:ext cx="115252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697" name="公式" r:id="rId11" imgW="533169" imgH="203112" progId="Equation.3">
                  <p:embed/>
                </p:oleObj>
              </mc:Choice>
              <mc:Fallback>
                <p:oleObj name="公式" r:id="rId11" imgW="533169" imgH="203112" progId="Equation.3">
                  <p:embed/>
                  <p:pic>
                    <p:nvPicPr>
                      <p:cNvPr id="243739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06825" y="2118518"/>
                        <a:ext cx="1152525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6868063"/>
              </p:ext>
            </p:extLst>
          </p:nvPr>
        </p:nvGraphicFramePr>
        <p:xfrm>
          <a:off x="1763688" y="3517438"/>
          <a:ext cx="68580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698" name="公式" r:id="rId13" imgW="3543300" imgH="457200" progId="Equation.3">
                  <p:embed/>
                </p:oleObj>
              </mc:Choice>
              <mc:Fallback>
                <p:oleObj name="公式" r:id="rId13" imgW="3543300" imgH="457200" progId="Equation.3">
                  <p:embed/>
                  <p:pic>
                    <p:nvPicPr>
                      <p:cNvPr id="243741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3517438"/>
                        <a:ext cx="6858000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9711555"/>
              </p:ext>
            </p:extLst>
          </p:nvPr>
        </p:nvGraphicFramePr>
        <p:xfrm>
          <a:off x="1547664" y="4515287"/>
          <a:ext cx="647700" cy="427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699" name="公式" r:id="rId15" imgW="304536" imgH="203024" progId="Equation.3">
                  <p:embed/>
                </p:oleObj>
              </mc:Choice>
              <mc:Fallback>
                <p:oleObj name="公式" r:id="rId15" imgW="304536" imgH="203024" progId="Equation.3">
                  <p:embed/>
                  <p:pic>
                    <p:nvPicPr>
                      <p:cNvPr id="243743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664" y="4515287"/>
                        <a:ext cx="647700" cy="4270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4989582"/>
              </p:ext>
            </p:extLst>
          </p:nvPr>
        </p:nvGraphicFramePr>
        <p:xfrm>
          <a:off x="2771800" y="4486061"/>
          <a:ext cx="2500312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700" name="公式" r:id="rId17" imgW="1346040" imgH="228600" progId="Equation.3">
                  <p:embed/>
                </p:oleObj>
              </mc:Choice>
              <mc:Fallback>
                <p:oleObj name="公式" r:id="rId17" imgW="1346040" imgH="228600" progId="Equation.3">
                  <p:embed/>
                  <p:pic>
                    <p:nvPicPr>
                      <p:cNvPr id="243745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800" y="4486061"/>
                        <a:ext cx="2500312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5222313"/>
              </p:ext>
            </p:extLst>
          </p:nvPr>
        </p:nvGraphicFramePr>
        <p:xfrm>
          <a:off x="6059630" y="4524811"/>
          <a:ext cx="863600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701" name="公式" r:id="rId19" imgW="507780" imgH="165028" progId="Equation.3">
                  <p:embed/>
                </p:oleObj>
              </mc:Choice>
              <mc:Fallback>
                <p:oleObj name="公式" r:id="rId19" imgW="507780" imgH="165028" progId="Equation.3">
                  <p:embed/>
                  <p:pic>
                    <p:nvPicPr>
                      <p:cNvPr id="243747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59630" y="4524811"/>
                        <a:ext cx="863600" cy="4079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17884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3"/>
          <p:cNvSpPr>
            <a:spLocks noGrp="1"/>
          </p:cNvSpPr>
          <p:nvPr>
            <p:ph type="title"/>
          </p:nvPr>
        </p:nvSpPr>
        <p:spPr>
          <a:xfrm>
            <a:off x="2771800" y="85816"/>
            <a:ext cx="6215073" cy="549844"/>
          </a:xfrm>
        </p:spPr>
        <p:txBody>
          <a:bodyPr/>
          <a:lstStyle/>
          <a:p>
            <a:pPr algn="l"/>
            <a:r>
              <a:rPr kumimoji="1" lang="zh-CN" alt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拟牛顿法</a:t>
            </a:r>
            <a:endParaRPr kumimoji="1" lang="zh-CN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4803163" y="-47233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4803163" y="-47233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4803163" y="-47233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11" name="Rectangle 11"/>
          <p:cNvSpPr>
            <a:spLocks noChangeArrowheads="1"/>
          </p:cNvSpPr>
          <p:nvPr/>
        </p:nvSpPr>
        <p:spPr bwMode="auto">
          <a:xfrm>
            <a:off x="4803163" y="-47233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8" name="矩形 1"/>
          <p:cNvSpPr>
            <a:spLocks noChangeArrowheads="1"/>
          </p:cNvSpPr>
          <p:nvPr/>
        </p:nvSpPr>
        <p:spPr bwMode="auto">
          <a:xfrm>
            <a:off x="357188" y="2786063"/>
            <a:ext cx="2220912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dirty="0">
                <a:latin typeface="Arial" panose="020B0604020202020204" pitchFamily="34" charset="0"/>
              </a:rPr>
              <a:t>B</a:t>
            </a:r>
            <a:r>
              <a:rPr lang="en-US" altLang="zh-CN" sz="3200" dirty="0" smtClean="0">
                <a:latin typeface="Arial" panose="020B0604020202020204" pitchFamily="34" charset="0"/>
              </a:rPr>
              <a:t>FGS</a:t>
            </a:r>
            <a:r>
              <a:rPr lang="zh-CN" altLang="en-US" sz="3200" dirty="0">
                <a:latin typeface="Arial" panose="020B0604020202020204" pitchFamily="34" charset="0"/>
              </a:rPr>
              <a:t>算法的流程如图所示．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3419872" y="85816"/>
            <a:ext cx="5845836" cy="6715125"/>
            <a:chOff x="2571750" y="0"/>
            <a:chExt cx="5845836" cy="6715125"/>
          </a:xfrm>
        </p:grpSpPr>
        <p:grpSp>
          <p:nvGrpSpPr>
            <p:cNvPr id="13" name="Group 2"/>
            <p:cNvGrpSpPr>
              <a:grpSpLocks/>
            </p:cNvGrpSpPr>
            <p:nvPr/>
          </p:nvGrpSpPr>
          <p:grpSpPr bwMode="auto">
            <a:xfrm>
              <a:off x="2571750" y="0"/>
              <a:ext cx="5845836" cy="6715125"/>
              <a:chOff x="2533" y="513"/>
              <a:chExt cx="6798" cy="12308"/>
            </a:xfrm>
          </p:grpSpPr>
          <p:sp>
            <p:nvSpPr>
              <p:cNvPr id="24" name="AutoShape 3"/>
              <p:cNvSpPr>
                <a:spLocks noChangeArrowheads="1"/>
              </p:cNvSpPr>
              <p:nvPr/>
            </p:nvSpPr>
            <p:spPr bwMode="auto">
              <a:xfrm>
                <a:off x="8044" y="5908"/>
                <a:ext cx="1127" cy="786"/>
              </a:xfrm>
              <a:prstGeom prst="flowChartTerminator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160000"/>
                  </a:lnSpc>
                </a:pPr>
                <a:r>
                  <a:rPr lang="zh-CN" altLang="en-US" sz="1600" dirty="0">
                    <a:latin typeface="Calibri" panose="020F0502020204030204" pitchFamily="34" charset="0"/>
                  </a:rPr>
                  <a:t>结束</a:t>
                </a:r>
              </a:p>
            </p:txBody>
          </p:sp>
          <p:grpSp>
            <p:nvGrpSpPr>
              <p:cNvPr id="25" name="Group 4"/>
              <p:cNvGrpSpPr>
                <a:grpSpLocks/>
              </p:cNvGrpSpPr>
              <p:nvPr/>
            </p:nvGrpSpPr>
            <p:grpSpPr bwMode="auto">
              <a:xfrm>
                <a:off x="2533" y="513"/>
                <a:ext cx="6798" cy="12308"/>
                <a:chOff x="2533" y="513"/>
                <a:chExt cx="6798" cy="12308"/>
              </a:xfrm>
            </p:grpSpPr>
            <p:sp>
              <p:nvSpPr>
                <p:cNvPr id="26" name="Line 5"/>
                <p:cNvSpPr>
                  <a:spLocks noChangeShapeType="1"/>
                </p:cNvSpPr>
                <p:nvPr/>
              </p:nvSpPr>
              <p:spPr bwMode="auto">
                <a:xfrm>
                  <a:off x="6808" y="10636"/>
                  <a:ext cx="36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" name="AutoShape 6"/>
                <p:cNvSpPr>
                  <a:spLocks noChangeArrowheads="1"/>
                </p:cNvSpPr>
                <p:nvPr/>
              </p:nvSpPr>
              <p:spPr bwMode="auto">
                <a:xfrm>
                  <a:off x="4090" y="6143"/>
                  <a:ext cx="2879" cy="1048"/>
                </a:xfrm>
                <a:prstGeom prst="flowChartProcess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lnSpc>
                      <a:spcPct val="160000"/>
                    </a:lnSpc>
                  </a:pPr>
                  <a:r>
                    <a:rPr lang="zh-CN" altLang="en-US" sz="1600">
                      <a:latin typeface="Calibri" panose="020F0502020204030204" pitchFamily="34" charset="0"/>
                    </a:rPr>
                    <a:t>求</a:t>
                  </a:r>
                  <a:r>
                    <a:rPr lang="en-US" altLang="zh-CN" sz="1600">
                      <a:latin typeface="Calibri" panose="020F0502020204030204" pitchFamily="34" charset="0"/>
                    </a:rPr>
                    <a:t>t</a:t>
                  </a:r>
                  <a:r>
                    <a:rPr lang="en-US" altLang="zh-CN" sz="1600" baseline="-25000">
                      <a:latin typeface="Times New Roman" panose="02020603050405020304" pitchFamily="18" charset="0"/>
                    </a:rPr>
                    <a:t>k</a:t>
                  </a:r>
                  <a:r>
                    <a:rPr lang="zh-CN" altLang="en-US" sz="1600">
                      <a:latin typeface="Calibri" panose="020F0502020204030204" pitchFamily="34" charset="0"/>
                    </a:rPr>
                    <a:t>使</a:t>
                  </a:r>
                </a:p>
                <a:p>
                  <a:pPr eaLnBrk="1" hangingPunct="1"/>
                  <a:endParaRPr lang="zh-CN" altLang="zh-CN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" name="Line 7"/>
                <p:cNvSpPr>
                  <a:spLocks noChangeShapeType="1"/>
                </p:cNvSpPr>
                <p:nvPr/>
              </p:nvSpPr>
              <p:spPr bwMode="auto">
                <a:xfrm>
                  <a:off x="5548" y="4395"/>
                  <a:ext cx="2" cy="30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" name="Line 8"/>
                <p:cNvSpPr>
                  <a:spLocks noChangeShapeType="1"/>
                </p:cNvSpPr>
                <p:nvPr/>
              </p:nvSpPr>
              <p:spPr bwMode="auto">
                <a:xfrm>
                  <a:off x="5548" y="8296"/>
                  <a:ext cx="2" cy="31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" name="Line 9"/>
                <p:cNvSpPr>
                  <a:spLocks noChangeShapeType="1"/>
                </p:cNvSpPr>
                <p:nvPr/>
              </p:nvSpPr>
              <p:spPr bwMode="auto">
                <a:xfrm>
                  <a:off x="5548" y="5832"/>
                  <a:ext cx="2" cy="31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" name="Line 10"/>
                <p:cNvSpPr>
                  <a:spLocks noChangeShapeType="1"/>
                </p:cNvSpPr>
                <p:nvPr/>
              </p:nvSpPr>
              <p:spPr bwMode="auto">
                <a:xfrm>
                  <a:off x="5573" y="7048"/>
                  <a:ext cx="3" cy="46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" name="Line 11"/>
                <p:cNvSpPr>
                  <a:spLocks noChangeShapeType="1"/>
                </p:cNvSpPr>
                <p:nvPr/>
              </p:nvSpPr>
              <p:spPr bwMode="auto">
                <a:xfrm>
                  <a:off x="8578" y="5599"/>
                  <a:ext cx="1" cy="626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3" name="AutoShape 12"/>
                <p:cNvSpPr>
                  <a:spLocks noChangeArrowheads="1"/>
                </p:cNvSpPr>
                <p:nvPr/>
              </p:nvSpPr>
              <p:spPr bwMode="auto">
                <a:xfrm>
                  <a:off x="7858" y="4975"/>
                  <a:ext cx="1440" cy="624"/>
                </a:xfrm>
                <a:prstGeom prst="parallelogram">
                  <a:avLst>
                    <a:gd name="adj" fmla="val 57692"/>
                  </a:avLst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lnSpc>
                      <a:spcPct val="88000"/>
                    </a:lnSpc>
                  </a:pPr>
                  <a:r>
                    <a:rPr lang="en-US" altLang="zh-CN" sz="1600" i="1">
                      <a:latin typeface="Calibri" panose="020F0502020204030204" pitchFamily="34" charset="0"/>
                    </a:rPr>
                    <a:t>X</a:t>
                  </a:r>
                  <a:r>
                    <a:rPr lang="en-US" altLang="zh-CN" sz="1600" baseline="-25000">
                      <a:latin typeface="Times New Roman" panose="02020603050405020304" pitchFamily="18" charset="0"/>
                    </a:rPr>
                    <a:t>0</a:t>
                  </a:r>
                  <a:endParaRPr lang="zh-CN" altLang="zh-CN" sz="16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34" name="Group 13"/>
                <p:cNvGrpSpPr>
                  <a:grpSpLocks/>
                </p:cNvGrpSpPr>
                <p:nvPr/>
              </p:nvGrpSpPr>
              <p:grpSpPr bwMode="auto">
                <a:xfrm>
                  <a:off x="3490" y="513"/>
                  <a:ext cx="4140" cy="3913"/>
                  <a:chOff x="3490" y="513"/>
                  <a:chExt cx="4140" cy="3913"/>
                </a:xfrm>
              </p:grpSpPr>
              <p:sp>
                <p:nvSpPr>
                  <p:cNvPr id="63" name="AutoShape 14"/>
                  <p:cNvSpPr>
                    <a:spLocks noChangeArrowheads="1"/>
                  </p:cNvSpPr>
                  <p:nvPr/>
                </p:nvSpPr>
                <p:spPr bwMode="auto">
                  <a:xfrm>
                    <a:off x="5218" y="513"/>
                    <a:ext cx="990" cy="654"/>
                  </a:xfrm>
                  <a:prstGeom prst="flowChartTerminator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lnSpc>
                        <a:spcPct val="96000"/>
                      </a:lnSpc>
                    </a:pPr>
                    <a:r>
                      <a:rPr lang="zh-CN" altLang="en-US" sz="1600">
                        <a:latin typeface="Calibri" panose="020F0502020204030204" pitchFamily="34" charset="0"/>
                      </a:rPr>
                      <a:t>开始</a:t>
                    </a:r>
                    <a:endParaRPr lang="zh-CN" altLang="en-US" sz="160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64" name="AutoShape 15"/>
                  <p:cNvSpPr>
                    <a:spLocks noChangeArrowheads="1"/>
                  </p:cNvSpPr>
                  <p:nvPr/>
                </p:nvSpPr>
                <p:spPr bwMode="auto">
                  <a:xfrm>
                    <a:off x="3895" y="3334"/>
                    <a:ext cx="3240" cy="1092"/>
                  </a:xfrm>
                  <a:prstGeom prst="flowChartDecision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zh-CN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65" name="AutoShape 16"/>
                  <p:cNvSpPr>
                    <a:spLocks noChangeArrowheads="1"/>
                  </p:cNvSpPr>
                  <p:nvPr/>
                </p:nvSpPr>
                <p:spPr bwMode="auto">
                  <a:xfrm>
                    <a:off x="4648" y="2399"/>
                    <a:ext cx="1800" cy="749"/>
                  </a:xfrm>
                  <a:prstGeom prst="flowChartProcess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lnSpc>
                        <a:spcPct val="160000"/>
                      </a:lnSpc>
                    </a:pPr>
                    <a:r>
                      <a:rPr lang="zh-CN" altLang="en-US" sz="1600" dirty="0">
                        <a:latin typeface="Calibri" panose="020F0502020204030204" pitchFamily="34" charset="0"/>
                      </a:rPr>
                      <a:t>计算</a:t>
                    </a:r>
                    <a:endParaRPr lang="zh-CN" altLang="en-US" sz="1600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66" name="Line 17"/>
                  <p:cNvSpPr>
                    <a:spLocks noChangeShapeType="1"/>
                  </p:cNvSpPr>
                  <p:nvPr/>
                </p:nvSpPr>
                <p:spPr bwMode="auto">
                  <a:xfrm>
                    <a:off x="5588" y="1106"/>
                    <a:ext cx="2" cy="313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67" name="Line 18"/>
                  <p:cNvSpPr>
                    <a:spLocks noChangeShapeType="1"/>
                  </p:cNvSpPr>
                  <p:nvPr/>
                </p:nvSpPr>
                <p:spPr bwMode="auto">
                  <a:xfrm>
                    <a:off x="5548" y="2056"/>
                    <a:ext cx="0" cy="312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68" name="Line 19"/>
                  <p:cNvSpPr>
                    <a:spLocks noChangeShapeType="1"/>
                  </p:cNvSpPr>
                  <p:nvPr/>
                </p:nvSpPr>
                <p:spPr bwMode="auto">
                  <a:xfrm>
                    <a:off x="5548" y="2992"/>
                    <a:ext cx="0" cy="311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69" name="AutoShape 20"/>
                  <p:cNvSpPr>
                    <a:spLocks noChangeArrowheads="1"/>
                  </p:cNvSpPr>
                  <p:nvPr/>
                </p:nvSpPr>
                <p:spPr bwMode="auto">
                  <a:xfrm>
                    <a:off x="3490" y="1432"/>
                    <a:ext cx="4140" cy="783"/>
                  </a:xfrm>
                  <a:prstGeom prst="flowChartPreparation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lnSpc>
                        <a:spcPct val="160000"/>
                      </a:lnSpc>
                    </a:pPr>
                    <a:r>
                      <a:rPr lang="zh-CN" altLang="en-US" sz="1600">
                        <a:latin typeface="Calibri" panose="020F0502020204030204" pitchFamily="34" charset="0"/>
                      </a:rPr>
                      <a:t>给定</a:t>
                    </a:r>
                    <a:endParaRPr lang="zh-CN" altLang="en-US" sz="1600"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35" name="Rectangle 21"/>
                <p:cNvSpPr>
                  <a:spLocks noChangeArrowheads="1"/>
                </p:cNvSpPr>
                <p:nvPr/>
              </p:nvSpPr>
              <p:spPr bwMode="auto">
                <a:xfrm>
                  <a:off x="7498" y="3415"/>
                  <a:ext cx="537" cy="46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just" eaLnBrk="1" hangingPunct="1"/>
                  <a:r>
                    <a:rPr lang="en-US" altLang="zh-CN" sz="1600">
                      <a:latin typeface="Calibri" panose="020F0502020204030204" pitchFamily="34" charset="0"/>
                    </a:rPr>
                    <a:t>Y</a:t>
                  </a:r>
                  <a:endParaRPr lang="zh-CN" altLang="zh-CN" sz="16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6" name="Rectangle 22"/>
                <p:cNvSpPr>
                  <a:spLocks noChangeArrowheads="1"/>
                </p:cNvSpPr>
                <p:nvPr/>
              </p:nvSpPr>
              <p:spPr bwMode="auto">
                <a:xfrm>
                  <a:off x="5728" y="4240"/>
                  <a:ext cx="540" cy="4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just" eaLnBrk="1" hangingPunct="1"/>
                  <a:r>
                    <a:rPr lang="en-US" altLang="zh-CN" sz="1600">
                      <a:latin typeface="Calibri" panose="020F0502020204030204" pitchFamily="34" charset="0"/>
                    </a:rPr>
                    <a:t>N</a:t>
                  </a:r>
                  <a:endParaRPr lang="zh-CN" altLang="zh-CN" sz="16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7" name="Line 23"/>
                <p:cNvSpPr>
                  <a:spLocks noChangeShapeType="1"/>
                </p:cNvSpPr>
                <p:nvPr/>
              </p:nvSpPr>
              <p:spPr bwMode="auto">
                <a:xfrm>
                  <a:off x="8578" y="3883"/>
                  <a:ext cx="0" cy="109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8" name="Line 24"/>
                <p:cNvSpPr>
                  <a:spLocks noChangeShapeType="1"/>
                </p:cNvSpPr>
                <p:nvPr/>
              </p:nvSpPr>
              <p:spPr bwMode="auto">
                <a:xfrm>
                  <a:off x="7138" y="3883"/>
                  <a:ext cx="144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9" name="AutoShape 25"/>
                <p:cNvSpPr>
                  <a:spLocks noChangeArrowheads="1"/>
                </p:cNvSpPr>
                <p:nvPr/>
              </p:nvSpPr>
              <p:spPr bwMode="auto">
                <a:xfrm>
                  <a:off x="3503" y="4632"/>
                  <a:ext cx="4140" cy="1232"/>
                </a:xfrm>
                <a:prstGeom prst="flowChartProcess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lnSpc>
                      <a:spcPct val="160000"/>
                    </a:lnSpc>
                  </a:pPr>
                  <a:r>
                    <a:rPr lang="zh-CN" altLang="en-US" sz="1600" dirty="0">
                      <a:latin typeface="Calibri" panose="020F0502020204030204" pitchFamily="34" charset="0"/>
                    </a:rPr>
                    <a:t>构造初始</a:t>
                  </a:r>
                  <a:r>
                    <a:rPr lang="en-US" altLang="zh-CN" sz="1600" dirty="0">
                      <a:latin typeface="Calibri" panose="020F0502020204030204" pitchFamily="34" charset="0"/>
                    </a:rPr>
                    <a:t>BFGS</a:t>
                  </a:r>
                  <a:r>
                    <a:rPr lang="zh-CN" altLang="en-US" sz="1600" dirty="0">
                      <a:latin typeface="Calibri" panose="020F0502020204030204" pitchFamily="34" charset="0"/>
                    </a:rPr>
                    <a:t>方向</a:t>
                  </a:r>
                  <a:r>
                    <a:rPr lang="en-US" altLang="zh-CN" sz="1600" dirty="0">
                      <a:latin typeface="Calibri" panose="020F0502020204030204" pitchFamily="34" charset="0"/>
                    </a:rPr>
                    <a:t>,</a:t>
                  </a:r>
                  <a:r>
                    <a:rPr lang="zh-CN" altLang="en-US" sz="1600" dirty="0">
                      <a:latin typeface="Calibri" panose="020F0502020204030204" pitchFamily="34" charset="0"/>
                    </a:rPr>
                    <a:t>取</a:t>
                  </a:r>
                  <a:endParaRPr lang="en-US" altLang="zh-CN" sz="1600" dirty="0">
                    <a:latin typeface="Calibri" panose="020F0502020204030204" pitchFamily="34" charset="0"/>
                  </a:endParaRPr>
                </a:p>
                <a:p>
                  <a:pPr eaLnBrk="1" hangingPunct="1">
                    <a:lnSpc>
                      <a:spcPct val="160000"/>
                    </a:lnSpc>
                  </a:pPr>
                  <a:endParaRPr lang="zh-CN" altLang="en-US" sz="1600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40" name="AutoShape 26"/>
                <p:cNvSpPr>
                  <a:spLocks noChangeArrowheads="1"/>
                </p:cNvSpPr>
                <p:nvPr/>
              </p:nvSpPr>
              <p:spPr bwMode="auto">
                <a:xfrm>
                  <a:off x="4648" y="7516"/>
                  <a:ext cx="1800" cy="829"/>
                </a:xfrm>
                <a:prstGeom prst="flowChartProcess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lnSpc>
                      <a:spcPct val="160000"/>
                    </a:lnSpc>
                  </a:pPr>
                  <a:r>
                    <a:rPr lang="zh-CN" altLang="en-US" sz="1600">
                      <a:latin typeface="Calibri" panose="020F0502020204030204" pitchFamily="34" charset="0"/>
                    </a:rPr>
                    <a:t>计算</a:t>
                  </a:r>
                </a:p>
              </p:txBody>
            </p:sp>
            <p:sp>
              <p:nvSpPr>
                <p:cNvPr id="41" name="AutoShape 27"/>
                <p:cNvSpPr>
                  <a:spLocks noChangeArrowheads="1"/>
                </p:cNvSpPr>
                <p:nvPr/>
              </p:nvSpPr>
              <p:spPr bwMode="auto">
                <a:xfrm>
                  <a:off x="3928" y="8612"/>
                  <a:ext cx="3266" cy="1239"/>
                </a:xfrm>
                <a:prstGeom prst="flowChartDecision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zh-CN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2" name="AutoShape 28"/>
                <p:cNvSpPr>
                  <a:spLocks noChangeArrowheads="1"/>
                </p:cNvSpPr>
                <p:nvPr/>
              </p:nvSpPr>
              <p:spPr bwMode="auto">
                <a:xfrm>
                  <a:off x="7766" y="7697"/>
                  <a:ext cx="1565" cy="794"/>
                </a:xfrm>
                <a:prstGeom prst="parallelogram">
                  <a:avLst>
                    <a:gd name="adj" fmla="val 49276"/>
                  </a:avLst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lnSpc>
                      <a:spcPct val="160000"/>
                    </a:lnSpc>
                  </a:pPr>
                  <a:r>
                    <a:rPr lang="en-US" altLang="zh-CN" sz="1600" dirty="0" smtClean="0">
                      <a:latin typeface="Calibri" panose="020F0502020204030204" pitchFamily="34" charset="0"/>
                    </a:rPr>
                    <a:t>  Xk+1</a:t>
                  </a:r>
                  <a:endParaRPr lang="zh-CN" altLang="zh-CN" sz="1600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43" name="Line 29"/>
                <p:cNvSpPr>
                  <a:spLocks noChangeShapeType="1"/>
                </p:cNvSpPr>
                <p:nvPr/>
              </p:nvSpPr>
              <p:spPr bwMode="auto">
                <a:xfrm flipV="1">
                  <a:off x="8609" y="8594"/>
                  <a:ext cx="0" cy="63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4" name="AutoShape 30"/>
                <p:cNvSpPr>
                  <a:spLocks noChangeArrowheads="1"/>
                </p:cNvSpPr>
                <p:nvPr/>
              </p:nvSpPr>
              <p:spPr bwMode="auto">
                <a:xfrm>
                  <a:off x="4288" y="10168"/>
                  <a:ext cx="2520" cy="937"/>
                </a:xfrm>
                <a:prstGeom prst="flowChartDecision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zh-CN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5" name="AutoShape 31"/>
                <p:cNvSpPr>
                  <a:spLocks noChangeArrowheads="1"/>
                </p:cNvSpPr>
                <p:nvPr/>
              </p:nvSpPr>
              <p:spPr bwMode="auto">
                <a:xfrm>
                  <a:off x="3474" y="11400"/>
                  <a:ext cx="3960" cy="1379"/>
                </a:xfrm>
                <a:prstGeom prst="flowChartProcess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lnSpc>
                      <a:spcPct val="160000"/>
                    </a:lnSpc>
                  </a:pPr>
                  <a:r>
                    <a:rPr lang="zh-CN" altLang="en-US" sz="1600">
                      <a:latin typeface="Calibri" panose="020F0502020204030204" pitchFamily="34" charset="0"/>
                    </a:rPr>
                    <a:t>用</a:t>
                  </a:r>
                  <a:r>
                    <a:rPr lang="en-US" altLang="zh-CN" sz="1600">
                      <a:latin typeface="Calibri" panose="020F0502020204030204" pitchFamily="34" charset="0"/>
                    </a:rPr>
                    <a:t>BFGS</a:t>
                  </a:r>
                  <a:r>
                    <a:rPr lang="zh-CN" altLang="en-US" sz="1600">
                      <a:latin typeface="Calibri" panose="020F0502020204030204" pitchFamily="34" charset="0"/>
                    </a:rPr>
                    <a:t>公式计算</a:t>
                  </a:r>
                  <a:r>
                    <a:rPr lang="en-US" altLang="zh-CN" sz="1600">
                      <a:latin typeface="Calibri" panose="020F0502020204030204" pitchFamily="34" charset="0"/>
                    </a:rPr>
                    <a:t>H</a:t>
                  </a:r>
                  <a:r>
                    <a:rPr lang="en-US" altLang="zh-CN" sz="1600" baseline="-25000">
                      <a:latin typeface="Calibri" panose="020F0502020204030204" pitchFamily="34" charset="0"/>
                    </a:rPr>
                    <a:t>k+1</a:t>
                  </a:r>
                  <a:r>
                    <a:rPr lang="zh-CN" altLang="en-US" sz="1600">
                      <a:latin typeface="Calibri" panose="020F0502020204030204" pitchFamily="34" charset="0"/>
                    </a:rPr>
                    <a:t>，</a:t>
                  </a:r>
                </a:p>
                <a:p>
                  <a:pPr eaLnBrk="1" hangingPunct="1">
                    <a:lnSpc>
                      <a:spcPct val="160000"/>
                    </a:lnSpc>
                  </a:pPr>
                  <a:r>
                    <a:rPr lang="zh-CN" altLang="en-US" sz="1600">
                      <a:latin typeface="Calibri" panose="020F0502020204030204" pitchFamily="34" charset="0"/>
                    </a:rPr>
                    <a:t>取</a:t>
                  </a:r>
                </a:p>
              </p:txBody>
            </p:sp>
            <p:sp>
              <p:nvSpPr>
                <p:cNvPr id="46" name="AutoShape 32"/>
                <p:cNvSpPr>
                  <a:spLocks noChangeArrowheads="1"/>
                </p:cNvSpPr>
                <p:nvPr/>
              </p:nvSpPr>
              <p:spPr bwMode="auto">
                <a:xfrm>
                  <a:off x="7149" y="10192"/>
                  <a:ext cx="1440" cy="742"/>
                </a:xfrm>
                <a:prstGeom prst="flowChartProcess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lnSpc>
                      <a:spcPct val="160000"/>
                    </a:lnSpc>
                  </a:pPr>
                  <a:r>
                    <a:rPr lang="zh-CN" altLang="en-US" sz="1600" dirty="0">
                      <a:latin typeface="Calibri" panose="020F0502020204030204" pitchFamily="34" charset="0"/>
                    </a:rPr>
                    <a:t>令</a:t>
                  </a:r>
                </a:p>
              </p:txBody>
            </p:sp>
            <p:sp>
              <p:nvSpPr>
                <p:cNvPr id="47" name="Rectangle 33"/>
                <p:cNvSpPr>
                  <a:spLocks noChangeArrowheads="1"/>
                </p:cNvSpPr>
                <p:nvPr/>
              </p:nvSpPr>
              <p:spPr bwMode="auto">
                <a:xfrm>
                  <a:off x="6628" y="10169"/>
                  <a:ext cx="536" cy="47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just" eaLnBrk="1" hangingPunct="1"/>
                  <a:r>
                    <a:rPr lang="en-US" altLang="zh-CN" sz="1600">
                      <a:latin typeface="Calibri" panose="020F0502020204030204" pitchFamily="34" charset="0"/>
                    </a:rPr>
                    <a:t>Y</a:t>
                  </a:r>
                  <a:endParaRPr lang="zh-CN" altLang="zh-CN" sz="16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8" name="Rectangle 34"/>
                <p:cNvSpPr>
                  <a:spLocks noChangeArrowheads="1"/>
                </p:cNvSpPr>
                <p:nvPr/>
              </p:nvSpPr>
              <p:spPr bwMode="auto">
                <a:xfrm>
                  <a:off x="5548" y="10784"/>
                  <a:ext cx="541" cy="46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lnSpc>
                      <a:spcPct val="160000"/>
                    </a:lnSpc>
                  </a:pPr>
                  <a:r>
                    <a:rPr lang="en-US" altLang="zh-CN" sz="1600">
                      <a:latin typeface="Calibri" panose="020F0502020204030204" pitchFamily="34" charset="0"/>
                    </a:rPr>
                    <a:t>N</a:t>
                  </a:r>
                  <a:endParaRPr lang="zh-CN" altLang="zh-CN" sz="160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49" name="Line 35"/>
                <p:cNvSpPr>
                  <a:spLocks noChangeShapeType="1"/>
                </p:cNvSpPr>
                <p:nvPr/>
              </p:nvSpPr>
              <p:spPr bwMode="auto">
                <a:xfrm>
                  <a:off x="5548" y="11105"/>
                  <a:ext cx="0" cy="31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0" name="Line 36"/>
                <p:cNvSpPr>
                  <a:spLocks noChangeShapeType="1"/>
                </p:cNvSpPr>
                <p:nvPr/>
              </p:nvSpPr>
              <p:spPr bwMode="auto">
                <a:xfrm>
                  <a:off x="8608" y="10638"/>
                  <a:ext cx="36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1" name="Line 37"/>
                <p:cNvSpPr>
                  <a:spLocks noChangeShapeType="1"/>
                </p:cNvSpPr>
                <p:nvPr/>
              </p:nvSpPr>
              <p:spPr bwMode="auto">
                <a:xfrm>
                  <a:off x="8968" y="10638"/>
                  <a:ext cx="0" cy="2183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2" name="Line 38"/>
                <p:cNvSpPr>
                  <a:spLocks noChangeShapeType="1"/>
                </p:cNvSpPr>
                <p:nvPr/>
              </p:nvSpPr>
              <p:spPr bwMode="auto">
                <a:xfrm flipH="1">
                  <a:off x="2560" y="12821"/>
                  <a:ext cx="6408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3" name="Line 39"/>
                <p:cNvSpPr>
                  <a:spLocks noChangeShapeType="1"/>
                </p:cNvSpPr>
                <p:nvPr/>
              </p:nvSpPr>
              <p:spPr bwMode="auto">
                <a:xfrm flipV="1">
                  <a:off x="2533" y="5188"/>
                  <a:ext cx="0" cy="763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4" name="Rectangle 40"/>
                <p:cNvSpPr>
                  <a:spLocks noChangeArrowheads="1"/>
                </p:cNvSpPr>
                <p:nvPr/>
              </p:nvSpPr>
              <p:spPr bwMode="auto">
                <a:xfrm>
                  <a:off x="7528" y="8765"/>
                  <a:ext cx="536" cy="46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just" eaLnBrk="1" hangingPunct="1"/>
                  <a:r>
                    <a:rPr lang="en-US" altLang="zh-CN" sz="1600">
                      <a:latin typeface="Calibri" panose="020F0502020204030204" pitchFamily="34" charset="0"/>
                    </a:rPr>
                    <a:t>Y</a:t>
                  </a:r>
                  <a:endParaRPr lang="zh-CN" altLang="zh-CN" sz="16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5" name="Rectangle 41"/>
                <p:cNvSpPr>
                  <a:spLocks noChangeArrowheads="1"/>
                </p:cNvSpPr>
                <p:nvPr/>
              </p:nvSpPr>
              <p:spPr bwMode="auto">
                <a:xfrm>
                  <a:off x="5548" y="9548"/>
                  <a:ext cx="536" cy="46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lnSpc>
                      <a:spcPct val="160000"/>
                    </a:lnSpc>
                  </a:pPr>
                  <a:r>
                    <a:rPr lang="en-US" altLang="zh-CN" sz="1600">
                      <a:latin typeface="Calibri" panose="020F0502020204030204" pitchFamily="34" charset="0"/>
                    </a:rPr>
                    <a:t>N</a:t>
                  </a:r>
                  <a:endParaRPr lang="zh-CN" altLang="zh-CN" sz="160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56" name="Line 42"/>
                <p:cNvSpPr>
                  <a:spLocks noChangeShapeType="1"/>
                </p:cNvSpPr>
                <p:nvPr/>
              </p:nvSpPr>
              <p:spPr bwMode="auto">
                <a:xfrm flipV="1">
                  <a:off x="8578" y="6692"/>
                  <a:ext cx="1" cy="935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7" name="Line 43"/>
                <p:cNvSpPr>
                  <a:spLocks noChangeShapeType="1"/>
                </p:cNvSpPr>
                <p:nvPr/>
              </p:nvSpPr>
              <p:spPr bwMode="auto">
                <a:xfrm>
                  <a:off x="5548" y="9857"/>
                  <a:ext cx="0" cy="31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8" name="Line 44"/>
                <p:cNvSpPr>
                  <a:spLocks noChangeShapeType="1"/>
                </p:cNvSpPr>
                <p:nvPr/>
              </p:nvSpPr>
              <p:spPr bwMode="auto">
                <a:xfrm>
                  <a:off x="7168" y="9234"/>
                  <a:ext cx="144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9" name="Line 45"/>
                <p:cNvSpPr>
                  <a:spLocks noChangeShapeType="1"/>
                </p:cNvSpPr>
                <p:nvPr/>
              </p:nvSpPr>
              <p:spPr bwMode="auto">
                <a:xfrm>
                  <a:off x="2560" y="5189"/>
                  <a:ext cx="900" cy="23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0" name="Line 46"/>
                <p:cNvSpPr>
                  <a:spLocks noChangeShapeType="1"/>
                </p:cNvSpPr>
                <p:nvPr/>
              </p:nvSpPr>
              <p:spPr bwMode="auto">
                <a:xfrm flipH="1">
                  <a:off x="3208" y="11885"/>
                  <a:ext cx="36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1" name="Line 47"/>
                <p:cNvSpPr>
                  <a:spLocks noChangeShapeType="1"/>
                </p:cNvSpPr>
                <p:nvPr/>
              </p:nvSpPr>
              <p:spPr bwMode="auto">
                <a:xfrm flipV="1">
                  <a:off x="3208" y="6580"/>
                  <a:ext cx="0" cy="530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2" name="Line 48"/>
                <p:cNvSpPr>
                  <a:spLocks noChangeShapeType="1"/>
                </p:cNvSpPr>
                <p:nvPr/>
              </p:nvSpPr>
              <p:spPr bwMode="auto">
                <a:xfrm>
                  <a:off x="3208" y="6580"/>
                  <a:ext cx="901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aphicFrame>
          <p:nvGraphicFramePr>
            <p:cNvPr id="14" name="Object 4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76600589"/>
                </p:ext>
              </p:extLst>
            </p:nvPr>
          </p:nvGraphicFramePr>
          <p:xfrm>
            <a:off x="4643438" y="649288"/>
            <a:ext cx="1285875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9728" name="Equation" r:id="rId3" imgW="1054080" imgH="228600" progId="Equation.DSMT4">
                    <p:embed/>
                  </p:oleObj>
                </mc:Choice>
                <mc:Fallback>
                  <p:oleObj name="Equation" r:id="rId3" imgW="1054080" imgH="228600" progId="Equation.DSMT4">
                    <p:embed/>
                    <p:pic>
                      <p:nvPicPr>
                        <p:cNvPr id="244786" name="Object 4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43438" y="649288"/>
                          <a:ext cx="1285875" cy="279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Object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17663755"/>
                </p:ext>
              </p:extLst>
            </p:nvPr>
          </p:nvGraphicFramePr>
          <p:xfrm>
            <a:off x="4962053" y="1144838"/>
            <a:ext cx="714375" cy="2936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9729" name="公式" r:id="rId5" imgW="482391" imgH="203112" progId="Equation.3">
                    <p:embed/>
                  </p:oleObj>
                </mc:Choice>
                <mc:Fallback>
                  <p:oleObj name="公式" r:id="rId5" imgW="482391" imgH="203112" progId="Equation.3">
                    <p:embed/>
                    <p:pic>
                      <p:nvPicPr>
                        <p:cNvPr id="244787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62053" y="1144838"/>
                          <a:ext cx="714375" cy="29368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Object 1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85100341"/>
                </p:ext>
              </p:extLst>
            </p:nvPr>
          </p:nvGraphicFramePr>
          <p:xfrm>
            <a:off x="4494139" y="1733553"/>
            <a:ext cx="1214437" cy="314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9730" name="公式" r:id="rId7" imgW="774364" imgH="203112" progId="Equation.3">
                    <p:embed/>
                  </p:oleObj>
                </mc:Choice>
                <mc:Fallback>
                  <p:oleObj name="公式" r:id="rId7" imgW="774364" imgH="203112" progId="Equation.3">
                    <p:embed/>
                    <p:pic>
                      <p:nvPicPr>
                        <p:cNvPr id="244788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94139" y="1733553"/>
                          <a:ext cx="1214437" cy="3143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Object 1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5851992"/>
                </p:ext>
              </p:extLst>
            </p:nvPr>
          </p:nvGraphicFramePr>
          <p:xfrm>
            <a:off x="4040188" y="2643188"/>
            <a:ext cx="2279650" cy="2857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9731" name="Equation" r:id="rId9" imgW="2145960" imgH="228600" progId="Equation.DSMT4">
                    <p:embed/>
                  </p:oleObj>
                </mc:Choice>
                <mc:Fallback>
                  <p:oleObj name="Equation" r:id="rId9" imgW="2145960" imgH="228600" progId="Equation.DSMT4">
                    <p:embed/>
                    <p:pic>
                      <p:nvPicPr>
                        <p:cNvPr id="244789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40188" y="2643188"/>
                          <a:ext cx="2279650" cy="2857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Object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39807841"/>
                </p:ext>
              </p:extLst>
            </p:nvPr>
          </p:nvGraphicFramePr>
          <p:xfrm>
            <a:off x="4572000" y="3071813"/>
            <a:ext cx="1857375" cy="5381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9732" name="Equation" r:id="rId11" imgW="1054080" imgH="457200" progId="Equation.DSMT4">
                    <p:embed/>
                  </p:oleObj>
                </mc:Choice>
                <mc:Fallback>
                  <p:oleObj name="Equation" r:id="rId11" imgW="1054080" imgH="457200" progId="Equation.DSMT4">
                    <p:embed/>
                    <p:pic>
                      <p:nvPicPr>
                        <p:cNvPr id="24479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72000" y="3071813"/>
                          <a:ext cx="1857375" cy="5381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Object 2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16857729"/>
                </p:ext>
              </p:extLst>
            </p:nvPr>
          </p:nvGraphicFramePr>
          <p:xfrm>
            <a:off x="4857750" y="3929063"/>
            <a:ext cx="896938" cy="2857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9733" name="公式" r:id="rId13" imgW="571252" imgH="203112" progId="Equation.3">
                    <p:embed/>
                  </p:oleObj>
                </mc:Choice>
                <mc:Fallback>
                  <p:oleObj name="公式" r:id="rId13" imgW="571252" imgH="203112" progId="Equation.3">
                    <p:embed/>
                    <p:pic>
                      <p:nvPicPr>
                        <p:cNvPr id="244791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57750" y="3929063"/>
                          <a:ext cx="896938" cy="2857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Object 2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04445642"/>
                </p:ext>
              </p:extLst>
            </p:nvPr>
          </p:nvGraphicFramePr>
          <p:xfrm>
            <a:off x="4572000" y="4572000"/>
            <a:ext cx="1428750" cy="376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9734" name="公式" r:id="rId15" imgW="901309" imgH="203112" progId="Equation.3">
                    <p:embed/>
                  </p:oleObj>
                </mc:Choice>
                <mc:Fallback>
                  <p:oleObj name="公式" r:id="rId15" imgW="901309" imgH="203112" progId="Equation.3">
                    <p:embed/>
                    <p:pic>
                      <p:nvPicPr>
                        <p:cNvPr id="244792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72000" y="4572000"/>
                          <a:ext cx="1428750" cy="3762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" name="Object 2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86768897"/>
                </p:ext>
              </p:extLst>
            </p:nvPr>
          </p:nvGraphicFramePr>
          <p:xfrm>
            <a:off x="4786313" y="5357813"/>
            <a:ext cx="714375" cy="336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9735" name="公式" r:id="rId17" imgW="507780" imgH="165028" progId="Equation.3">
                    <p:embed/>
                  </p:oleObj>
                </mc:Choice>
                <mc:Fallback>
                  <p:oleObj name="公式" r:id="rId17" imgW="507780" imgH="165028" progId="Equation.3">
                    <p:embed/>
                    <p:pic>
                      <p:nvPicPr>
                        <p:cNvPr id="244793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86313" y="5357813"/>
                          <a:ext cx="714375" cy="3365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" name="Object 3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74580174"/>
                </p:ext>
              </p:extLst>
            </p:nvPr>
          </p:nvGraphicFramePr>
          <p:xfrm>
            <a:off x="6833596" y="5336079"/>
            <a:ext cx="954087" cy="3571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9736" name="公式" r:id="rId19" imgW="533169" imgH="203112" progId="Equation.3">
                    <p:embed/>
                  </p:oleObj>
                </mc:Choice>
                <mc:Fallback>
                  <p:oleObj name="公式" r:id="rId19" imgW="533169" imgH="203112" progId="Equation.3">
                    <p:embed/>
                    <p:pic>
                      <p:nvPicPr>
                        <p:cNvPr id="244794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33596" y="5336079"/>
                          <a:ext cx="954087" cy="35718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" name="Object 3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79853261"/>
                </p:ext>
              </p:extLst>
            </p:nvPr>
          </p:nvGraphicFramePr>
          <p:xfrm>
            <a:off x="3714750" y="6400800"/>
            <a:ext cx="2636838" cy="314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9737" name="Equation" r:id="rId21" imgW="1892160" imgH="228600" progId="Equation.DSMT4">
                    <p:embed/>
                  </p:oleObj>
                </mc:Choice>
                <mc:Fallback>
                  <p:oleObj name="Equation" r:id="rId21" imgW="1892160" imgH="228600" progId="Equation.DSMT4">
                    <p:embed/>
                    <p:pic>
                      <p:nvPicPr>
                        <p:cNvPr id="244795" name="Object 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14750" y="6400800"/>
                          <a:ext cx="2636838" cy="3143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88685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3"/>
          <p:cNvSpPr>
            <a:spLocks noGrp="1"/>
          </p:cNvSpPr>
          <p:nvPr>
            <p:ph type="title"/>
          </p:nvPr>
        </p:nvSpPr>
        <p:spPr>
          <a:xfrm>
            <a:off x="2771800" y="85816"/>
            <a:ext cx="6215073" cy="549844"/>
          </a:xfrm>
        </p:spPr>
        <p:txBody>
          <a:bodyPr/>
          <a:lstStyle/>
          <a:p>
            <a:r>
              <a:rPr kumimoji="1" lang="zh-CN" alt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拟牛顿法</a:t>
            </a:r>
            <a:endParaRPr kumimoji="1" lang="zh-CN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4803163" y="-47233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4803163" y="-47233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4803163" y="-47233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11" name="Rectangle 11"/>
          <p:cNvSpPr>
            <a:spLocks noChangeArrowheads="1"/>
          </p:cNvSpPr>
          <p:nvPr/>
        </p:nvSpPr>
        <p:spPr bwMode="auto">
          <a:xfrm>
            <a:off x="4803163" y="-47233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8" name="Text Box 2"/>
          <p:cNvSpPr txBox="1">
            <a:spLocks noChangeArrowheads="1"/>
          </p:cNvSpPr>
          <p:nvPr/>
        </p:nvSpPr>
        <p:spPr bwMode="auto">
          <a:xfrm>
            <a:off x="318229" y="1340768"/>
            <a:ext cx="8858250" cy="42688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5000"/>
              </a:lnSpc>
              <a:buFont typeface="Arial" pitchFamily="34" charset="0"/>
              <a:buChar char="•"/>
              <a:defRPr/>
            </a:pPr>
            <a:r>
              <a:rPr lang="zh-CN" altLang="en-US" sz="3200" dirty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rPr>
              <a:t>三</a:t>
            </a:r>
            <a:r>
              <a:rPr lang="zh-CN" altLang="en-US" sz="3200" dirty="0" smtClean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rPr>
              <a:t>、</a:t>
            </a:r>
            <a:r>
              <a:rPr lang="zh-CN" altLang="en-US" sz="3200" dirty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拟牛顿法有关</a:t>
            </a:r>
            <a:r>
              <a:rPr lang="zh-CN" altLang="en-US" sz="3200" dirty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rPr>
              <a:t>说明</a:t>
            </a:r>
          </a:p>
          <a:p>
            <a:pPr algn="just">
              <a:lnSpc>
                <a:spcPct val="115000"/>
              </a:lnSpc>
              <a:buFont typeface="Arial" pitchFamily="34" charset="0"/>
              <a:buChar char="•"/>
              <a:defRPr/>
            </a:pPr>
            <a:r>
              <a:rPr kumimoji="1"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拟牛顿法</a:t>
            </a:r>
            <a:r>
              <a:rPr lang="zh-CN" altLang="en-US" sz="2800" dirty="0" smtClean="0">
                <a:latin typeface="Arial" charset="0"/>
                <a:ea typeface="宋体" charset="-122"/>
              </a:rPr>
              <a:t>中</a:t>
            </a:r>
            <a:r>
              <a:rPr lang="zh-CN" altLang="en-US" sz="2800" dirty="0">
                <a:latin typeface="Arial" charset="0"/>
                <a:ea typeface="宋体" charset="-122"/>
              </a:rPr>
              <a:t>的二个重要算法</a:t>
            </a:r>
            <a:r>
              <a:rPr lang="en-US" altLang="zh-CN" sz="2800" dirty="0">
                <a:latin typeface="Arial" charset="0"/>
                <a:ea typeface="宋体" charset="-122"/>
              </a:rPr>
              <a:t>DFP</a:t>
            </a:r>
            <a:r>
              <a:rPr lang="zh-CN" altLang="en-US" sz="2800" dirty="0">
                <a:latin typeface="Arial" charset="0"/>
                <a:ea typeface="宋体" charset="-122"/>
              </a:rPr>
              <a:t>算法和</a:t>
            </a:r>
            <a:r>
              <a:rPr lang="en-US" altLang="zh-CN" sz="2800" dirty="0">
                <a:latin typeface="Arial" charset="0"/>
                <a:ea typeface="宋体" charset="-122"/>
              </a:rPr>
              <a:t>BFGS</a:t>
            </a:r>
            <a:r>
              <a:rPr lang="zh-CN" altLang="en-US" sz="2800" dirty="0">
                <a:latin typeface="Arial" charset="0"/>
                <a:ea typeface="宋体" charset="-122"/>
              </a:rPr>
              <a:t>算法，它们的迭代过程相同，区别仅在于校正矩阵　选取不同</a:t>
            </a:r>
            <a:r>
              <a:rPr lang="en-US" altLang="zh-CN" sz="2800" dirty="0">
                <a:latin typeface="Arial" charset="0"/>
                <a:ea typeface="宋体" charset="-122"/>
              </a:rPr>
              <a:t>.</a:t>
            </a:r>
          </a:p>
          <a:p>
            <a:pPr algn="just">
              <a:lnSpc>
                <a:spcPct val="115000"/>
              </a:lnSpc>
              <a:buFont typeface="Arial" pitchFamily="34" charset="0"/>
              <a:buChar char="•"/>
              <a:defRPr/>
            </a:pPr>
            <a:r>
              <a:rPr lang="zh-CN" altLang="en-US" sz="2800" dirty="0">
                <a:latin typeface="Arial" charset="0"/>
                <a:ea typeface="宋体" charset="-122"/>
              </a:rPr>
              <a:t>对于</a:t>
            </a:r>
            <a:r>
              <a:rPr lang="en-US" altLang="zh-CN" sz="2800" dirty="0">
                <a:latin typeface="Arial" charset="0"/>
                <a:ea typeface="宋体" charset="-122"/>
              </a:rPr>
              <a:t>DFP</a:t>
            </a:r>
            <a:r>
              <a:rPr lang="zh-CN" altLang="en-US" sz="2800" dirty="0">
                <a:latin typeface="Arial" charset="0"/>
                <a:ea typeface="宋体" charset="-122"/>
              </a:rPr>
              <a:t>法，由于一维搜索的不精确和计算误差的积累可能导致某一轮的　奇异，而</a:t>
            </a:r>
            <a:r>
              <a:rPr lang="en-US" altLang="zh-CN" sz="2800" dirty="0">
                <a:latin typeface="Arial" charset="0"/>
                <a:ea typeface="宋体" charset="-122"/>
              </a:rPr>
              <a:t>BFGS</a:t>
            </a:r>
            <a:r>
              <a:rPr lang="zh-CN" altLang="en-US" sz="2800" dirty="0">
                <a:latin typeface="Arial" charset="0"/>
                <a:ea typeface="宋体" charset="-122"/>
              </a:rPr>
              <a:t>法对一维搜索的精度要求不高</a:t>
            </a:r>
            <a:r>
              <a:rPr lang="en-US" altLang="zh-CN" sz="2800" dirty="0">
                <a:latin typeface="Arial" charset="0"/>
                <a:ea typeface="宋体" charset="-122"/>
              </a:rPr>
              <a:t>.</a:t>
            </a:r>
            <a:r>
              <a:rPr lang="zh-CN" altLang="en-US" sz="2800" dirty="0">
                <a:latin typeface="Arial" charset="0"/>
                <a:ea typeface="宋体" charset="-122"/>
              </a:rPr>
              <a:t>并且由它产生的　不易变为奇异矩阵</a:t>
            </a:r>
            <a:r>
              <a:rPr lang="en-US" altLang="zh-CN" sz="2800" dirty="0">
                <a:latin typeface="Arial" charset="0"/>
                <a:ea typeface="宋体" charset="-122"/>
              </a:rPr>
              <a:t>.</a:t>
            </a:r>
          </a:p>
          <a:p>
            <a:pPr algn="just">
              <a:lnSpc>
                <a:spcPct val="115000"/>
              </a:lnSpc>
              <a:buFont typeface="Arial" pitchFamily="34" charset="0"/>
              <a:buChar char="•"/>
              <a:defRPr/>
            </a:pPr>
            <a:r>
              <a:rPr lang="en-US" altLang="zh-CN" sz="2800" dirty="0" smtClean="0">
                <a:latin typeface="Arial" charset="0"/>
                <a:ea typeface="宋体" charset="-122"/>
              </a:rPr>
              <a:t>BFGS</a:t>
            </a:r>
            <a:r>
              <a:rPr lang="zh-CN" altLang="en-US" sz="2800" dirty="0">
                <a:latin typeface="Arial" charset="0"/>
                <a:ea typeface="宋体" charset="-122"/>
              </a:rPr>
              <a:t>法比</a:t>
            </a:r>
            <a:r>
              <a:rPr lang="en-US" altLang="zh-CN" sz="2800" dirty="0">
                <a:latin typeface="Arial" charset="0"/>
                <a:ea typeface="宋体" charset="-122"/>
              </a:rPr>
              <a:t>DFP</a:t>
            </a:r>
            <a:r>
              <a:rPr lang="zh-CN" altLang="en-US" sz="2800" dirty="0">
                <a:latin typeface="Arial" charset="0"/>
                <a:ea typeface="宋体" charset="-122"/>
              </a:rPr>
              <a:t>法更具有好的数值稳定性，它比</a:t>
            </a:r>
            <a:r>
              <a:rPr lang="en-US" altLang="zh-CN" sz="2800" dirty="0">
                <a:latin typeface="Arial" charset="0"/>
                <a:ea typeface="宋体" charset="-122"/>
              </a:rPr>
              <a:t>DFP</a:t>
            </a:r>
            <a:r>
              <a:rPr lang="zh-CN" altLang="en-US" sz="2800" dirty="0">
                <a:latin typeface="Arial" charset="0"/>
                <a:ea typeface="宋体" charset="-122"/>
              </a:rPr>
              <a:t>法更具有实用性．</a:t>
            </a:r>
          </a:p>
        </p:txBody>
      </p:sp>
      <p:graphicFrame>
        <p:nvGraphicFramePr>
          <p:cNvPr id="1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5277715"/>
              </p:ext>
            </p:extLst>
          </p:nvPr>
        </p:nvGraphicFramePr>
        <p:xfrm>
          <a:off x="6732240" y="2420888"/>
          <a:ext cx="500063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678" name="公式" r:id="rId3" imgW="190417" imgH="203112" progId="Equation.3">
                  <p:embed/>
                </p:oleObj>
              </mc:Choice>
              <mc:Fallback>
                <p:oleObj name="公式" r:id="rId3" imgW="190417" imgH="203112" progId="Equation.3">
                  <p:embed/>
                  <p:pic>
                    <p:nvPicPr>
                      <p:cNvPr id="24576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2240" y="2420888"/>
                        <a:ext cx="500063" cy="523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1964793"/>
              </p:ext>
            </p:extLst>
          </p:nvPr>
        </p:nvGraphicFramePr>
        <p:xfrm>
          <a:off x="4737862" y="3900674"/>
          <a:ext cx="500063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679" name="公式" r:id="rId5" imgW="215713" imgH="203024" progId="Equation.3">
                  <p:embed/>
                </p:oleObj>
              </mc:Choice>
              <mc:Fallback>
                <p:oleObj name="公式" r:id="rId5" imgW="215713" imgH="203024" progId="Equation.3">
                  <p:embed/>
                  <p:pic>
                    <p:nvPicPr>
                      <p:cNvPr id="24576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7862" y="3900674"/>
                        <a:ext cx="500063" cy="455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8686631"/>
              </p:ext>
            </p:extLst>
          </p:nvPr>
        </p:nvGraphicFramePr>
        <p:xfrm>
          <a:off x="3203848" y="3472049"/>
          <a:ext cx="469900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680" name="公式" r:id="rId7" imgW="215713" imgH="203024" progId="Equation.3">
                  <p:embed/>
                </p:oleObj>
              </mc:Choice>
              <mc:Fallback>
                <p:oleObj name="公式" r:id="rId7" imgW="215713" imgH="203024" progId="Equation.3">
                  <p:embed/>
                  <p:pic>
                    <p:nvPicPr>
                      <p:cNvPr id="24576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848" y="3472049"/>
                        <a:ext cx="469900" cy="428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80373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928927" y="44624"/>
            <a:ext cx="6072230" cy="582594"/>
          </a:xfrm>
        </p:spPr>
        <p:txBody>
          <a:bodyPr/>
          <a:lstStyle/>
          <a:p>
            <a:pPr>
              <a:lnSpc>
                <a:spcPts val="5600"/>
              </a:lnSpc>
            </a:pPr>
            <a:r>
              <a:rPr lang="zh-CN" altLang="en-US" sz="3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无约束最优化方法</a:t>
            </a:r>
          </a:p>
        </p:txBody>
      </p:sp>
      <p:cxnSp>
        <p:nvCxnSpPr>
          <p:cNvPr id="101" name="直接连接符 13"/>
          <p:cNvCxnSpPr>
            <a:cxnSpLocks noChangeShapeType="1"/>
          </p:cNvCxnSpPr>
          <p:nvPr/>
        </p:nvCxnSpPr>
        <p:spPr bwMode="auto">
          <a:xfrm>
            <a:off x="2674912" y="785794"/>
            <a:ext cx="0" cy="5157787"/>
          </a:xfrm>
          <a:prstGeom prst="line">
            <a:avLst/>
          </a:prstGeom>
          <a:noFill/>
          <a:ln w="6350" cmpd="sng">
            <a:solidFill>
              <a:schemeClr val="accent1"/>
            </a:solidFill>
            <a:round/>
            <a:headEnd/>
            <a:tailEnd/>
          </a:ln>
        </p:spPr>
      </p:cxnSp>
      <p:grpSp>
        <p:nvGrpSpPr>
          <p:cNvPr id="3" name="组 2"/>
          <p:cNvGrpSpPr/>
          <p:nvPr/>
        </p:nvGrpSpPr>
        <p:grpSpPr>
          <a:xfrm>
            <a:off x="1643042" y="1849955"/>
            <a:ext cx="6169292" cy="642941"/>
            <a:chOff x="1643042" y="1268760"/>
            <a:chExt cx="6169292" cy="642941"/>
          </a:xfrm>
        </p:grpSpPr>
        <p:sp>
          <p:nvSpPr>
            <p:cNvPr id="102" name="椭圆 14"/>
            <p:cNvSpPr>
              <a:spLocks noChangeArrowheads="1"/>
            </p:cNvSpPr>
            <p:nvPr/>
          </p:nvSpPr>
          <p:spPr bwMode="auto">
            <a:xfrm>
              <a:off x="2606650" y="1497362"/>
              <a:ext cx="128587" cy="12858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 eaLnBrk="1" hangingPunct="1"/>
              <a:endParaRPr lang="zh-CN" altLang="en-US">
                <a:solidFill>
                  <a:srgbClr val="FFFFFF"/>
                </a:solidFill>
              </a:endParaRPr>
            </a:p>
          </p:txBody>
        </p:sp>
        <p:grpSp>
          <p:nvGrpSpPr>
            <p:cNvPr id="4" name="组合 5"/>
            <p:cNvGrpSpPr>
              <a:grpSpLocks/>
            </p:cNvGrpSpPr>
            <p:nvPr/>
          </p:nvGrpSpPr>
          <p:grpSpPr bwMode="auto">
            <a:xfrm>
              <a:off x="1643042" y="1268760"/>
              <a:ext cx="714380" cy="642941"/>
              <a:chOff x="0" y="0"/>
              <a:chExt cx="1275488" cy="1275488"/>
            </a:xfrm>
            <a:solidFill>
              <a:srgbClr val="004182"/>
            </a:solidFill>
          </p:grpSpPr>
          <p:sp>
            <p:nvSpPr>
              <p:cNvPr id="106" name="泪滴形 7"/>
              <p:cNvSpPr>
                <a:spLocks/>
              </p:cNvSpPr>
              <p:nvPr/>
            </p:nvSpPr>
            <p:spPr bwMode="auto">
              <a:xfrm rot="2700000">
                <a:off x="0" y="0"/>
                <a:ext cx="1275488" cy="1275488"/>
              </a:xfrm>
              <a:custGeom>
                <a:avLst/>
                <a:gdLst/>
                <a:ahLst/>
                <a:cxnLst>
                  <a:cxn ang="0">
                    <a:pos x="0" y="637744"/>
                  </a:cxn>
                  <a:cxn ang="0">
                    <a:pos x="637744" y="0"/>
                  </a:cxn>
                  <a:cxn ang="0">
                    <a:pos x="1275488" y="0"/>
                  </a:cxn>
                  <a:cxn ang="0">
                    <a:pos x="1275488" y="637744"/>
                  </a:cxn>
                  <a:cxn ang="0">
                    <a:pos x="637744" y="1275488"/>
                  </a:cxn>
                  <a:cxn ang="0">
                    <a:pos x="0" y="637744"/>
                  </a:cxn>
                </a:cxnLst>
                <a:rect l="0" t="0" r="r" b="b"/>
                <a:pathLst>
                  <a:path w="1275488" h="1275488">
                    <a:moveTo>
                      <a:pt x="0" y="637744"/>
                    </a:moveTo>
                    <a:cubicBezTo>
                      <a:pt x="0" y="285528"/>
                      <a:pt x="285528" y="0"/>
                      <a:pt x="637744" y="0"/>
                    </a:cubicBezTo>
                    <a:lnTo>
                      <a:pt x="1275488" y="0"/>
                    </a:lnTo>
                    <a:lnTo>
                      <a:pt x="1275488" y="637744"/>
                    </a:lnTo>
                    <a:cubicBezTo>
                      <a:pt x="1275488" y="989960"/>
                      <a:pt x="989960" y="1275488"/>
                      <a:pt x="637744" y="1275488"/>
                    </a:cubicBezTo>
                    <a:cubicBezTo>
                      <a:pt x="285528" y="1275488"/>
                      <a:pt x="0" y="989960"/>
                      <a:pt x="0" y="637744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107" name="文本框 17"/>
              <p:cNvSpPr txBox="1">
                <a:spLocks noChangeArrowheads="1"/>
              </p:cNvSpPr>
              <p:nvPr/>
            </p:nvSpPr>
            <p:spPr bwMode="auto">
              <a:xfrm>
                <a:off x="399726" y="231905"/>
                <a:ext cx="875762" cy="74934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/>
                <a:r>
                  <a:rPr lang="en-US" altLang="zh-CN" sz="2400" b="1" dirty="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1</a:t>
                </a:r>
                <a:endParaRPr lang="zh-CN" altLang="en-US" sz="24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sp>
          <p:nvSpPr>
            <p:cNvPr id="114" name="矩形 20"/>
            <p:cNvSpPr>
              <a:spLocks noChangeArrowheads="1"/>
            </p:cNvSpPr>
            <p:nvPr/>
          </p:nvSpPr>
          <p:spPr bwMode="auto">
            <a:xfrm>
              <a:off x="3062261" y="1321150"/>
              <a:ext cx="4750073" cy="526172"/>
            </a:xfrm>
            <a:prstGeom prst="rect">
              <a:avLst/>
            </a:prstGeom>
            <a:solidFill>
              <a:srgbClr val="004182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ctr"/>
              <a:r>
                <a:rPr lang="zh-CN" altLang="en-US" sz="2400" b="1" dirty="0" smtClean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  <a:ea typeface="微软雅黑" pitchFamily="34" charset="-122"/>
                  <a:cs typeface="Times New Roman" panose="02020603050405020304" pitchFamily="18" charset="0"/>
                </a:rPr>
                <a:t>牛顿法</a:t>
              </a:r>
              <a:endParaRPr lang="en-US" altLang="zh-CN" sz="24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" name="组 3"/>
          <p:cNvGrpSpPr/>
          <p:nvPr/>
        </p:nvGrpSpPr>
        <p:grpSpPr>
          <a:xfrm>
            <a:off x="1652667" y="3938187"/>
            <a:ext cx="6169300" cy="642941"/>
            <a:chOff x="1643042" y="2439698"/>
            <a:chExt cx="6169300" cy="642941"/>
          </a:xfrm>
        </p:grpSpPr>
        <p:sp>
          <p:nvSpPr>
            <p:cNvPr id="120" name="椭圆 14"/>
            <p:cNvSpPr>
              <a:spLocks noChangeArrowheads="1"/>
            </p:cNvSpPr>
            <p:nvPr/>
          </p:nvSpPr>
          <p:spPr bwMode="auto">
            <a:xfrm>
              <a:off x="2606650" y="2668300"/>
              <a:ext cx="128587" cy="12858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 eaLnBrk="1" hangingPunct="1"/>
              <a:endParaRPr lang="zh-CN" altLang="en-US">
                <a:solidFill>
                  <a:srgbClr val="FFFFFF"/>
                </a:solidFill>
              </a:endParaRPr>
            </a:p>
          </p:txBody>
        </p:sp>
        <p:grpSp>
          <p:nvGrpSpPr>
            <p:cNvPr id="6" name="组合 5"/>
            <p:cNvGrpSpPr>
              <a:grpSpLocks/>
            </p:cNvGrpSpPr>
            <p:nvPr/>
          </p:nvGrpSpPr>
          <p:grpSpPr bwMode="auto">
            <a:xfrm>
              <a:off x="1643042" y="2439698"/>
              <a:ext cx="714380" cy="642941"/>
              <a:chOff x="0" y="0"/>
              <a:chExt cx="1275488" cy="1275488"/>
            </a:xfrm>
            <a:solidFill>
              <a:srgbClr val="004182"/>
            </a:solidFill>
          </p:grpSpPr>
          <p:sp>
            <p:nvSpPr>
              <p:cNvPr id="122" name="泪滴形 7"/>
              <p:cNvSpPr>
                <a:spLocks/>
              </p:cNvSpPr>
              <p:nvPr/>
            </p:nvSpPr>
            <p:spPr bwMode="auto">
              <a:xfrm rot="2700000">
                <a:off x="0" y="0"/>
                <a:ext cx="1275488" cy="1275488"/>
              </a:xfrm>
              <a:custGeom>
                <a:avLst/>
                <a:gdLst/>
                <a:ahLst/>
                <a:cxnLst>
                  <a:cxn ang="0">
                    <a:pos x="0" y="637744"/>
                  </a:cxn>
                  <a:cxn ang="0">
                    <a:pos x="637744" y="0"/>
                  </a:cxn>
                  <a:cxn ang="0">
                    <a:pos x="1275488" y="0"/>
                  </a:cxn>
                  <a:cxn ang="0">
                    <a:pos x="1275488" y="637744"/>
                  </a:cxn>
                  <a:cxn ang="0">
                    <a:pos x="637744" y="1275488"/>
                  </a:cxn>
                  <a:cxn ang="0">
                    <a:pos x="0" y="637744"/>
                  </a:cxn>
                </a:cxnLst>
                <a:rect l="0" t="0" r="r" b="b"/>
                <a:pathLst>
                  <a:path w="1275488" h="1275488">
                    <a:moveTo>
                      <a:pt x="0" y="637744"/>
                    </a:moveTo>
                    <a:cubicBezTo>
                      <a:pt x="0" y="285528"/>
                      <a:pt x="285528" y="0"/>
                      <a:pt x="637744" y="0"/>
                    </a:cubicBezTo>
                    <a:lnTo>
                      <a:pt x="1275488" y="0"/>
                    </a:lnTo>
                    <a:lnTo>
                      <a:pt x="1275488" y="637744"/>
                    </a:lnTo>
                    <a:cubicBezTo>
                      <a:pt x="1275488" y="989960"/>
                      <a:pt x="989960" y="1275488"/>
                      <a:pt x="637744" y="1275488"/>
                    </a:cubicBezTo>
                    <a:cubicBezTo>
                      <a:pt x="285528" y="1275488"/>
                      <a:pt x="0" y="989960"/>
                      <a:pt x="0" y="637744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123" name="文本框 17"/>
              <p:cNvSpPr txBox="1">
                <a:spLocks noChangeArrowheads="1"/>
              </p:cNvSpPr>
              <p:nvPr/>
            </p:nvSpPr>
            <p:spPr bwMode="auto">
              <a:xfrm>
                <a:off x="399726" y="231904"/>
                <a:ext cx="875762" cy="9158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/>
                <a:r>
                  <a:rPr lang="en-US" altLang="zh-CN" sz="2400" b="1" dirty="0" smtClean="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3</a:t>
                </a:r>
                <a:endParaRPr lang="zh-CN" altLang="en-US" sz="24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sp>
          <p:nvSpPr>
            <p:cNvPr id="124" name="矩形 20"/>
            <p:cNvSpPr>
              <a:spLocks noChangeArrowheads="1"/>
            </p:cNvSpPr>
            <p:nvPr/>
          </p:nvSpPr>
          <p:spPr bwMode="auto">
            <a:xfrm>
              <a:off x="3062261" y="2492088"/>
              <a:ext cx="4750081" cy="526172"/>
            </a:xfrm>
            <a:prstGeom prst="rect">
              <a:avLst/>
            </a:prstGeom>
            <a:solidFill>
              <a:srgbClr val="004182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ctr"/>
              <a:r>
                <a:rPr lang="zh-CN" altLang="en-US" sz="2400" b="1" dirty="0" smtClean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  <a:ea typeface="微软雅黑" pitchFamily="34" charset="-122"/>
                  <a:cs typeface="Times New Roman" panose="02020603050405020304" pitchFamily="18" charset="0"/>
                </a:rPr>
                <a:t>拟牛顿法</a:t>
              </a:r>
              <a:endParaRPr lang="en-US" altLang="zh-CN" sz="24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6" name="组 2"/>
          <p:cNvGrpSpPr/>
          <p:nvPr/>
        </p:nvGrpSpPr>
        <p:grpSpPr>
          <a:xfrm>
            <a:off x="1643042" y="2847209"/>
            <a:ext cx="6169292" cy="642941"/>
            <a:chOff x="1643042" y="1268760"/>
            <a:chExt cx="6169292" cy="642941"/>
          </a:xfrm>
        </p:grpSpPr>
        <p:sp>
          <p:nvSpPr>
            <p:cNvPr id="17" name="椭圆 14"/>
            <p:cNvSpPr>
              <a:spLocks noChangeArrowheads="1"/>
            </p:cNvSpPr>
            <p:nvPr/>
          </p:nvSpPr>
          <p:spPr bwMode="auto">
            <a:xfrm>
              <a:off x="2606650" y="1497362"/>
              <a:ext cx="128587" cy="12858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 eaLnBrk="1" hangingPunct="1"/>
              <a:endParaRPr lang="zh-CN" altLang="en-US">
                <a:solidFill>
                  <a:srgbClr val="FFFFFF"/>
                </a:solidFill>
              </a:endParaRPr>
            </a:p>
          </p:txBody>
        </p:sp>
        <p:grpSp>
          <p:nvGrpSpPr>
            <p:cNvPr id="18" name="组合 5"/>
            <p:cNvGrpSpPr>
              <a:grpSpLocks/>
            </p:cNvGrpSpPr>
            <p:nvPr/>
          </p:nvGrpSpPr>
          <p:grpSpPr bwMode="auto">
            <a:xfrm>
              <a:off x="1643042" y="1268760"/>
              <a:ext cx="714380" cy="642941"/>
              <a:chOff x="0" y="0"/>
              <a:chExt cx="1275488" cy="1275488"/>
            </a:xfrm>
            <a:solidFill>
              <a:srgbClr val="004182"/>
            </a:solidFill>
          </p:grpSpPr>
          <p:sp>
            <p:nvSpPr>
              <p:cNvPr id="20" name="泪滴形 7"/>
              <p:cNvSpPr>
                <a:spLocks/>
              </p:cNvSpPr>
              <p:nvPr/>
            </p:nvSpPr>
            <p:spPr bwMode="auto">
              <a:xfrm rot="2700000">
                <a:off x="0" y="0"/>
                <a:ext cx="1275488" cy="1275488"/>
              </a:xfrm>
              <a:custGeom>
                <a:avLst/>
                <a:gdLst/>
                <a:ahLst/>
                <a:cxnLst>
                  <a:cxn ang="0">
                    <a:pos x="0" y="637744"/>
                  </a:cxn>
                  <a:cxn ang="0">
                    <a:pos x="637744" y="0"/>
                  </a:cxn>
                  <a:cxn ang="0">
                    <a:pos x="1275488" y="0"/>
                  </a:cxn>
                  <a:cxn ang="0">
                    <a:pos x="1275488" y="637744"/>
                  </a:cxn>
                  <a:cxn ang="0">
                    <a:pos x="637744" y="1275488"/>
                  </a:cxn>
                  <a:cxn ang="0">
                    <a:pos x="0" y="637744"/>
                  </a:cxn>
                </a:cxnLst>
                <a:rect l="0" t="0" r="r" b="b"/>
                <a:pathLst>
                  <a:path w="1275488" h="1275488">
                    <a:moveTo>
                      <a:pt x="0" y="637744"/>
                    </a:moveTo>
                    <a:cubicBezTo>
                      <a:pt x="0" y="285528"/>
                      <a:pt x="285528" y="0"/>
                      <a:pt x="637744" y="0"/>
                    </a:cubicBezTo>
                    <a:lnTo>
                      <a:pt x="1275488" y="0"/>
                    </a:lnTo>
                    <a:lnTo>
                      <a:pt x="1275488" y="637744"/>
                    </a:lnTo>
                    <a:cubicBezTo>
                      <a:pt x="1275488" y="989960"/>
                      <a:pt x="989960" y="1275488"/>
                      <a:pt x="637744" y="1275488"/>
                    </a:cubicBezTo>
                    <a:cubicBezTo>
                      <a:pt x="285528" y="1275488"/>
                      <a:pt x="0" y="989960"/>
                      <a:pt x="0" y="637744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21" name="文本框 17"/>
              <p:cNvSpPr txBox="1">
                <a:spLocks noChangeArrowheads="1"/>
              </p:cNvSpPr>
              <p:nvPr/>
            </p:nvSpPr>
            <p:spPr bwMode="auto">
              <a:xfrm>
                <a:off x="399726" y="231904"/>
                <a:ext cx="875762" cy="9158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/>
                <a:r>
                  <a:rPr lang="en-US" altLang="zh-CN" sz="2400" b="1" dirty="0" smtClean="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2</a:t>
                </a:r>
                <a:endParaRPr lang="zh-CN" altLang="en-US" sz="24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sp>
          <p:nvSpPr>
            <p:cNvPr id="19" name="矩形 20"/>
            <p:cNvSpPr>
              <a:spLocks noChangeArrowheads="1"/>
            </p:cNvSpPr>
            <p:nvPr/>
          </p:nvSpPr>
          <p:spPr bwMode="auto">
            <a:xfrm>
              <a:off x="3062261" y="1321150"/>
              <a:ext cx="4750073" cy="526172"/>
            </a:xfrm>
            <a:prstGeom prst="rect">
              <a:avLst/>
            </a:prstGeom>
            <a:solidFill>
              <a:srgbClr val="004182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ctr"/>
              <a:r>
                <a:rPr lang="zh-CN" altLang="en-US" sz="2400" b="1" dirty="0" smtClean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  <a:ea typeface="微软雅黑" pitchFamily="34" charset="-122"/>
                  <a:cs typeface="Times New Roman" panose="02020603050405020304" pitchFamily="18" charset="0"/>
                </a:rPr>
                <a:t>修正牛顿法</a:t>
              </a:r>
              <a:endParaRPr lang="en-US" altLang="zh-CN" sz="24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3" name="组 3"/>
          <p:cNvGrpSpPr/>
          <p:nvPr/>
        </p:nvGrpSpPr>
        <p:grpSpPr>
          <a:xfrm>
            <a:off x="1653030" y="4870750"/>
            <a:ext cx="6169300" cy="642941"/>
            <a:chOff x="1643042" y="2439698"/>
            <a:chExt cx="6169300" cy="642941"/>
          </a:xfrm>
        </p:grpSpPr>
        <p:sp>
          <p:nvSpPr>
            <p:cNvPr id="24" name="椭圆 14"/>
            <p:cNvSpPr>
              <a:spLocks noChangeArrowheads="1"/>
            </p:cNvSpPr>
            <p:nvPr/>
          </p:nvSpPr>
          <p:spPr bwMode="auto">
            <a:xfrm>
              <a:off x="2606650" y="2668300"/>
              <a:ext cx="128587" cy="12858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 eaLnBrk="1" hangingPunct="1"/>
              <a:endParaRPr lang="zh-CN" altLang="en-US">
                <a:solidFill>
                  <a:srgbClr val="FFFFFF"/>
                </a:solidFill>
              </a:endParaRPr>
            </a:p>
          </p:txBody>
        </p:sp>
        <p:grpSp>
          <p:nvGrpSpPr>
            <p:cNvPr id="25" name="组合 24"/>
            <p:cNvGrpSpPr>
              <a:grpSpLocks/>
            </p:cNvGrpSpPr>
            <p:nvPr/>
          </p:nvGrpSpPr>
          <p:grpSpPr bwMode="auto">
            <a:xfrm>
              <a:off x="1643042" y="2439698"/>
              <a:ext cx="714380" cy="642941"/>
              <a:chOff x="0" y="0"/>
              <a:chExt cx="1275488" cy="1275488"/>
            </a:xfrm>
            <a:solidFill>
              <a:srgbClr val="004182"/>
            </a:solidFill>
          </p:grpSpPr>
          <p:sp>
            <p:nvSpPr>
              <p:cNvPr id="27" name="泪滴形 7"/>
              <p:cNvSpPr>
                <a:spLocks/>
              </p:cNvSpPr>
              <p:nvPr/>
            </p:nvSpPr>
            <p:spPr bwMode="auto">
              <a:xfrm rot="2700000">
                <a:off x="0" y="0"/>
                <a:ext cx="1275488" cy="1275488"/>
              </a:xfrm>
              <a:custGeom>
                <a:avLst/>
                <a:gdLst/>
                <a:ahLst/>
                <a:cxnLst>
                  <a:cxn ang="0">
                    <a:pos x="0" y="637744"/>
                  </a:cxn>
                  <a:cxn ang="0">
                    <a:pos x="637744" y="0"/>
                  </a:cxn>
                  <a:cxn ang="0">
                    <a:pos x="1275488" y="0"/>
                  </a:cxn>
                  <a:cxn ang="0">
                    <a:pos x="1275488" y="637744"/>
                  </a:cxn>
                  <a:cxn ang="0">
                    <a:pos x="637744" y="1275488"/>
                  </a:cxn>
                  <a:cxn ang="0">
                    <a:pos x="0" y="637744"/>
                  </a:cxn>
                </a:cxnLst>
                <a:rect l="0" t="0" r="r" b="b"/>
                <a:pathLst>
                  <a:path w="1275488" h="1275488">
                    <a:moveTo>
                      <a:pt x="0" y="637744"/>
                    </a:moveTo>
                    <a:cubicBezTo>
                      <a:pt x="0" y="285528"/>
                      <a:pt x="285528" y="0"/>
                      <a:pt x="637744" y="0"/>
                    </a:cubicBezTo>
                    <a:lnTo>
                      <a:pt x="1275488" y="0"/>
                    </a:lnTo>
                    <a:lnTo>
                      <a:pt x="1275488" y="637744"/>
                    </a:lnTo>
                    <a:cubicBezTo>
                      <a:pt x="1275488" y="989960"/>
                      <a:pt x="989960" y="1275488"/>
                      <a:pt x="637744" y="1275488"/>
                    </a:cubicBezTo>
                    <a:cubicBezTo>
                      <a:pt x="285528" y="1275488"/>
                      <a:pt x="0" y="989960"/>
                      <a:pt x="0" y="637744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28" name="文本框 17"/>
              <p:cNvSpPr txBox="1">
                <a:spLocks noChangeArrowheads="1"/>
              </p:cNvSpPr>
              <p:nvPr/>
            </p:nvSpPr>
            <p:spPr bwMode="auto">
              <a:xfrm>
                <a:off x="399726" y="231904"/>
                <a:ext cx="875762" cy="9158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/>
                <a:r>
                  <a:rPr lang="en-US" altLang="zh-CN" sz="2400" b="1" dirty="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4</a:t>
                </a:r>
                <a:endParaRPr lang="zh-CN" altLang="en-US" sz="24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sp>
          <p:nvSpPr>
            <p:cNvPr id="26" name="矩形 20"/>
            <p:cNvSpPr>
              <a:spLocks noChangeArrowheads="1"/>
            </p:cNvSpPr>
            <p:nvPr/>
          </p:nvSpPr>
          <p:spPr bwMode="auto">
            <a:xfrm>
              <a:off x="3062261" y="2492088"/>
              <a:ext cx="4750081" cy="526172"/>
            </a:xfrm>
            <a:prstGeom prst="rect">
              <a:avLst/>
            </a:prstGeom>
            <a:solidFill>
              <a:srgbClr val="004182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ctr"/>
              <a:r>
                <a:rPr lang="zh-CN" altLang="en-US" sz="2400" b="1" dirty="0" smtClean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itchFamily="34" charset="-122"/>
                  <a:cs typeface="Times New Roman" panose="02020603050405020304" pitchFamily="18" charset="0"/>
                </a:rPr>
                <a:t>对比和举例</a:t>
              </a:r>
              <a:endPara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79527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3"/>
          <p:cNvSpPr>
            <a:spLocks noGrp="1"/>
          </p:cNvSpPr>
          <p:nvPr>
            <p:ph type="title"/>
          </p:nvPr>
        </p:nvSpPr>
        <p:spPr>
          <a:xfrm>
            <a:off x="2771800" y="85816"/>
            <a:ext cx="6215073" cy="549844"/>
          </a:xfrm>
        </p:spPr>
        <p:txBody>
          <a:bodyPr/>
          <a:lstStyle/>
          <a:p>
            <a:r>
              <a:rPr lang="zh-CN" altLang="en-US" sz="3600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对比和举例</a:t>
            </a:r>
            <a:endParaRPr lang="en-US" altLang="zh-CN" sz="3600" dirty="0"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4803163" y="-47233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4803163" y="-47233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4803163" y="-47233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11" name="Rectangle 11"/>
          <p:cNvSpPr>
            <a:spLocks noChangeArrowheads="1"/>
          </p:cNvSpPr>
          <p:nvPr/>
        </p:nvSpPr>
        <p:spPr bwMode="auto">
          <a:xfrm>
            <a:off x="4803163" y="-47233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15" name="TextBox 1"/>
          <p:cNvSpPr txBox="1"/>
          <p:nvPr/>
        </p:nvSpPr>
        <p:spPr>
          <a:xfrm>
            <a:off x="827584" y="1201316"/>
            <a:ext cx="3057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Quasi-Newton method (DFP)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797803"/>
            <a:ext cx="5372100" cy="292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03670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3"/>
          <p:cNvSpPr>
            <a:spLocks noGrp="1"/>
          </p:cNvSpPr>
          <p:nvPr>
            <p:ph type="title"/>
          </p:nvPr>
        </p:nvSpPr>
        <p:spPr>
          <a:xfrm>
            <a:off x="2771800" y="85816"/>
            <a:ext cx="6215073" cy="549844"/>
          </a:xfrm>
        </p:spPr>
        <p:txBody>
          <a:bodyPr/>
          <a:lstStyle/>
          <a:p>
            <a:r>
              <a:rPr lang="zh-CN" altLang="en-US" sz="3600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对比和举例</a:t>
            </a:r>
            <a:endParaRPr lang="en-US" altLang="zh-CN" sz="3600" dirty="0"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4803163" y="-47233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4803163" y="-47233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4803163" y="-47233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11" name="Rectangle 11"/>
          <p:cNvSpPr>
            <a:spLocks noChangeArrowheads="1"/>
          </p:cNvSpPr>
          <p:nvPr/>
        </p:nvSpPr>
        <p:spPr bwMode="auto">
          <a:xfrm>
            <a:off x="4803163" y="-47233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8" name="TextBox 1"/>
          <p:cNvSpPr txBox="1"/>
          <p:nvPr/>
        </p:nvSpPr>
        <p:spPr>
          <a:xfrm>
            <a:off x="827584" y="1201316"/>
            <a:ext cx="3057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Quasi-Newton method (DFP)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405" y="1710999"/>
            <a:ext cx="4717719" cy="34877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4" y="1489348"/>
            <a:ext cx="3700549" cy="43630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63478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3"/>
          <p:cNvSpPr>
            <a:spLocks noGrp="1"/>
          </p:cNvSpPr>
          <p:nvPr>
            <p:ph type="title"/>
          </p:nvPr>
        </p:nvSpPr>
        <p:spPr>
          <a:xfrm>
            <a:off x="2771800" y="85816"/>
            <a:ext cx="6215073" cy="549844"/>
          </a:xfrm>
        </p:spPr>
        <p:txBody>
          <a:bodyPr/>
          <a:lstStyle/>
          <a:p>
            <a:r>
              <a:rPr lang="zh-CN" altLang="en-US" sz="3600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对比和举例</a:t>
            </a:r>
            <a:endParaRPr lang="en-US" altLang="zh-CN" sz="3600" dirty="0"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4803163" y="-47233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4803163" y="-47233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4803163" y="-47233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11" name="Rectangle 11"/>
          <p:cNvSpPr>
            <a:spLocks noChangeArrowheads="1"/>
          </p:cNvSpPr>
          <p:nvPr/>
        </p:nvSpPr>
        <p:spPr bwMode="auto">
          <a:xfrm>
            <a:off x="4803163" y="-47233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8" name="TextBox 1"/>
          <p:cNvSpPr txBox="1"/>
          <p:nvPr/>
        </p:nvSpPr>
        <p:spPr>
          <a:xfrm>
            <a:off x="683568" y="1028503"/>
            <a:ext cx="1402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4563" y="1431297"/>
            <a:ext cx="3884207" cy="3442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07917" y="1431297"/>
            <a:ext cx="3473949" cy="33843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5955" y="1489348"/>
            <a:ext cx="3096344" cy="3650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TextBox 8"/>
          <p:cNvSpPr txBox="1"/>
          <p:nvPr/>
        </p:nvSpPr>
        <p:spPr>
          <a:xfrm>
            <a:off x="1009227" y="4770727"/>
            <a:ext cx="72090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Gradient                                                   Quasi-Newton                                       Newton Method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9715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3"/>
          <p:cNvSpPr>
            <a:spLocks noGrp="1"/>
          </p:cNvSpPr>
          <p:nvPr>
            <p:ph type="title"/>
          </p:nvPr>
        </p:nvSpPr>
        <p:spPr>
          <a:xfrm>
            <a:off x="2771800" y="85816"/>
            <a:ext cx="6215073" cy="549844"/>
          </a:xfrm>
        </p:spPr>
        <p:txBody>
          <a:bodyPr/>
          <a:lstStyle/>
          <a:p>
            <a:r>
              <a:rPr lang="zh-CN" altLang="en-US" sz="3600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对比和举例</a:t>
            </a:r>
            <a:endParaRPr lang="en-US" altLang="zh-CN" sz="3600" dirty="0"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4803163" y="-47233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4803163" y="-47233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4803163" y="-47233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11" name="Rectangle 11"/>
          <p:cNvSpPr>
            <a:spLocks noChangeArrowheads="1"/>
          </p:cNvSpPr>
          <p:nvPr/>
        </p:nvSpPr>
        <p:spPr bwMode="auto">
          <a:xfrm>
            <a:off x="4803163" y="-47233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16" name="TextBox 1"/>
          <p:cNvSpPr txBox="1"/>
          <p:nvPr/>
        </p:nvSpPr>
        <p:spPr>
          <a:xfrm>
            <a:off x="827584" y="1201316"/>
            <a:ext cx="3057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Quasi-Newton method (DFP)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1777380"/>
            <a:ext cx="5095875" cy="191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34525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3"/>
          <p:cNvSpPr>
            <a:spLocks noGrp="1"/>
          </p:cNvSpPr>
          <p:nvPr>
            <p:ph type="title"/>
          </p:nvPr>
        </p:nvSpPr>
        <p:spPr>
          <a:xfrm>
            <a:off x="2771800" y="85816"/>
            <a:ext cx="6215073" cy="549844"/>
          </a:xfrm>
        </p:spPr>
        <p:txBody>
          <a:bodyPr/>
          <a:lstStyle/>
          <a:p>
            <a:r>
              <a:rPr lang="zh-CN" altLang="en-US" sz="3600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对比和举例</a:t>
            </a:r>
            <a:endParaRPr lang="en-US" altLang="zh-CN" sz="3600" dirty="0"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4803163" y="-47233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4803163" y="-47233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4803163" y="-47233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11" name="Rectangle 11"/>
          <p:cNvSpPr>
            <a:spLocks noChangeArrowheads="1"/>
          </p:cNvSpPr>
          <p:nvPr/>
        </p:nvSpPr>
        <p:spPr bwMode="auto">
          <a:xfrm>
            <a:off x="4803163" y="-47233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8" name="TextBox 1"/>
          <p:cNvSpPr txBox="1"/>
          <p:nvPr/>
        </p:nvSpPr>
        <p:spPr>
          <a:xfrm>
            <a:off x="827584" y="1201316"/>
            <a:ext cx="3057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Quasi-Newton method (DFP)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705372"/>
            <a:ext cx="4683224" cy="34622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008" y="1570648"/>
            <a:ext cx="4058191" cy="37538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73507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3"/>
          <p:cNvSpPr>
            <a:spLocks noGrp="1"/>
          </p:cNvSpPr>
          <p:nvPr>
            <p:ph type="title"/>
          </p:nvPr>
        </p:nvSpPr>
        <p:spPr>
          <a:xfrm>
            <a:off x="2771800" y="85816"/>
            <a:ext cx="6215073" cy="549844"/>
          </a:xfrm>
        </p:spPr>
        <p:txBody>
          <a:bodyPr/>
          <a:lstStyle/>
          <a:p>
            <a:r>
              <a:rPr lang="zh-CN" altLang="en-US" sz="3600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对比和举例</a:t>
            </a:r>
            <a:endParaRPr lang="en-US" altLang="zh-CN" sz="3600" dirty="0"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4803163" y="-47233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4803163" y="-47233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4803163" y="-47233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11" name="Rectangle 11"/>
          <p:cNvSpPr>
            <a:spLocks noChangeArrowheads="1"/>
          </p:cNvSpPr>
          <p:nvPr/>
        </p:nvSpPr>
        <p:spPr bwMode="auto">
          <a:xfrm>
            <a:off x="4803163" y="-472336"/>
            <a:ext cx="184731" cy="19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endParaRPr kumimoji="1" lang="zh-CN" altLang="en-US" sz="1000" baseline="-25000">
              <a:latin typeface="Times New Roman" panose="02020603050405020304" pitchFamily="18" charset="0"/>
            </a:endParaRPr>
          </a:p>
        </p:txBody>
      </p:sp>
      <p:sp>
        <p:nvSpPr>
          <p:cNvPr id="19" name="TextBox 1"/>
          <p:cNvSpPr txBox="1"/>
          <p:nvPr/>
        </p:nvSpPr>
        <p:spPr>
          <a:xfrm>
            <a:off x="683568" y="1028503"/>
            <a:ext cx="1402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8"/>
          <p:cNvSpPr txBox="1"/>
          <p:nvPr/>
        </p:nvSpPr>
        <p:spPr>
          <a:xfrm>
            <a:off x="1009227" y="4770727"/>
            <a:ext cx="72090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Gradient                                                   Quasi-Newton                                       Newton Method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7904" y="1456049"/>
            <a:ext cx="3772630" cy="34896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96551" y="1456050"/>
            <a:ext cx="3708940" cy="3483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3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7450" y="1412776"/>
            <a:ext cx="3797539" cy="37489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34784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0" y="2060848"/>
            <a:ext cx="9144000" cy="14345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ts val="5600"/>
              </a:lnSpc>
            </a:pP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Key Laboratory of Intelligent Perception and Image Understanding of Ministry of Education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-2172170" y="1821558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/>
          </a:p>
        </p:txBody>
      </p:sp>
      <p:sp>
        <p:nvSpPr>
          <p:cNvPr id="4" name="矩形 6">
            <a:extLst>
              <a:ext uri="{FF2B5EF4-FFF2-40B4-BE49-F238E27FC236}">
                <a16:creationId xmlns:a16="http://schemas.microsoft.com/office/drawing/2014/main" id="{3FD9C0A4-CDA8-1E4E-B3FF-2A8F6B6D2DEA}"/>
              </a:ext>
            </a:extLst>
          </p:cNvPr>
          <p:cNvSpPr/>
          <p:nvPr/>
        </p:nvSpPr>
        <p:spPr>
          <a:xfrm>
            <a:off x="971600" y="4077072"/>
            <a:ext cx="7429552" cy="24314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7200" b="1" i="1" dirty="0">
                <a:solidFill>
                  <a:srgbClr val="0070C0"/>
                </a:solidFill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  <a:t>THE END</a:t>
            </a:r>
            <a:r>
              <a:rPr lang="en-US" altLang="zh-CN" dirty="0">
                <a:solidFill>
                  <a:srgbClr val="0070C0"/>
                </a:solidFill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  <a:t/>
            </a:r>
            <a:br>
              <a:rPr lang="en-US" altLang="zh-CN" dirty="0">
                <a:solidFill>
                  <a:srgbClr val="0070C0"/>
                </a:solidFill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</a:br>
            <a:r>
              <a:rPr lang="en-US" altLang="zh-CN" dirty="0">
                <a:solidFill>
                  <a:srgbClr val="0070C0"/>
                </a:solidFill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  <a:t/>
            </a:r>
            <a:br>
              <a:rPr lang="en-US" altLang="zh-CN" dirty="0">
                <a:solidFill>
                  <a:srgbClr val="0070C0"/>
                </a:solidFill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</a:br>
            <a:r>
              <a:rPr lang="en-US" altLang="zh-CN" dirty="0">
                <a:solidFill>
                  <a:srgbClr val="0070C0"/>
                </a:solidFill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  <a:t/>
            </a:r>
            <a:br>
              <a:rPr lang="en-US" altLang="zh-CN" dirty="0">
                <a:solidFill>
                  <a:srgbClr val="0070C0"/>
                </a:solidFill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</a:br>
            <a:r>
              <a:rPr lang="en-US" altLang="zh-CN" sz="4400" dirty="0">
                <a:solidFill>
                  <a:srgbClr val="0070C0"/>
                </a:solidFill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  <a:t>Thanks for your participation!</a:t>
            </a:r>
            <a:endParaRPr lang="zh-CN" altLang="en-US" sz="44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3057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 advTm="1100"/>
    </mc:Choice>
    <mc:Fallback xmlns="">
      <p:transition spd="slow" advTm="1100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22746</TotalTime>
  <Words>2772</Words>
  <Application>Microsoft Office PowerPoint</Application>
  <PresentationFormat>全屏显示(4:3)</PresentationFormat>
  <Paragraphs>404</Paragraphs>
  <Slides>53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53</vt:i4>
      </vt:variant>
    </vt:vector>
  </HeadingPairs>
  <TitlesOfParts>
    <vt:vector size="65" baseType="lpstr">
      <vt:lpstr>ＭＳ Ｐゴシック</vt:lpstr>
      <vt:lpstr>黑体</vt:lpstr>
      <vt:lpstr>华文楷体</vt:lpstr>
      <vt:lpstr>楷体_GB2312</vt:lpstr>
      <vt:lpstr>宋体</vt:lpstr>
      <vt:lpstr>微软雅黑</vt:lpstr>
      <vt:lpstr>Arial</vt:lpstr>
      <vt:lpstr>Calibri</vt:lpstr>
      <vt:lpstr>Times New Roman</vt:lpstr>
      <vt:lpstr>Office 主题</vt:lpstr>
      <vt:lpstr>公式</vt:lpstr>
      <vt:lpstr>Equation</vt:lpstr>
      <vt:lpstr>PowerPoint 演示文稿</vt:lpstr>
      <vt:lpstr>无约束最优化方法</vt:lpstr>
      <vt:lpstr>无约束最优化方法</vt:lpstr>
      <vt:lpstr>牛顿法</vt:lpstr>
      <vt:lpstr>牛顿法</vt:lpstr>
      <vt:lpstr>牛顿法</vt:lpstr>
      <vt:lpstr>牛顿法</vt:lpstr>
      <vt:lpstr>牛顿法</vt:lpstr>
      <vt:lpstr>牛顿法</vt:lpstr>
      <vt:lpstr>牛顿法</vt:lpstr>
      <vt:lpstr>牛顿法</vt:lpstr>
      <vt:lpstr>牛顿法</vt:lpstr>
      <vt:lpstr>牛顿法</vt:lpstr>
      <vt:lpstr>牛顿法</vt:lpstr>
      <vt:lpstr>牛顿法</vt:lpstr>
      <vt:lpstr>牛顿法</vt:lpstr>
      <vt:lpstr>无约束最优化方法</vt:lpstr>
      <vt:lpstr>修正牛顿法</vt:lpstr>
      <vt:lpstr>修正牛顿法</vt:lpstr>
      <vt:lpstr>修正牛顿法</vt:lpstr>
      <vt:lpstr>修正牛顿法</vt:lpstr>
      <vt:lpstr>无约束最优化方法</vt:lpstr>
      <vt:lpstr>拟牛顿法</vt:lpstr>
      <vt:lpstr>拟牛顿法</vt:lpstr>
      <vt:lpstr>拟牛顿法</vt:lpstr>
      <vt:lpstr>拟牛顿法</vt:lpstr>
      <vt:lpstr>拟牛顿法</vt:lpstr>
      <vt:lpstr>拟牛顿法</vt:lpstr>
      <vt:lpstr>拟牛顿法</vt:lpstr>
      <vt:lpstr>拟牛顿法</vt:lpstr>
      <vt:lpstr>拟牛顿法</vt:lpstr>
      <vt:lpstr>   拟牛顿法</vt:lpstr>
      <vt:lpstr>拟牛顿法</vt:lpstr>
      <vt:lpstr>拟牛顿法</vt:lpstr>
      <vt:lpstr>拟牛顿法</vt:lpstr>
      <vt:lpstr>拟牛顿法</vt:lpstr>
      <vt:lpstr>拟牛顿法</vt:lpstr>
      <vt:lpstr>拟牛顿法</vt:lpstr>
      <vt:lpstr>拟牛顿法</vt:lpstr>
      <vt:lpstr>拟牛顿法</vt:lpstr>
      <vt:lpstr>拟牛顿法</vt:lpstr>
      <vt:lpstr>拟牛顿法</vt:lpstr>
      <vt:lpstr>拟牛顿法</vt:lpstr>
      <vt:lpstr>  拟牛顿法</vt:lpstr>
      <vt:lpstr>拟牛顿法</vt:lpstr>
      <vt:lpstr>无约束最优化方法</vt:lpstr>
      <vt:lpstr>对比和举例</vt:lpstr>
      <vt:lpstr>对比和举例</vt:lpstr>
      <vt:lpstr>对比和举例</vt:lpstr>
      <vt:lpstr>对比和举例</vt:lpstr>
      <vt:lpstr>对比和举例</vt:lpstr>
      <vt:lpstr>对比和举例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Administrator</dc:creator>
  <cp:lastModifiedBy>Changzhe Jiao</cp:lastModifiedBy>
  <cp:revision>647</cp:revision>
  <dcterms:created xsi:type="dcterms:W3CDTF">2017-03-11T07:00:39Z</dcterms:created>
  <dcterms:modified xsi:type="dcterms:W3CDTF">2024-05-14T02:48:38Z</dcterms:modified>
</cp:coreProperties>
</file>
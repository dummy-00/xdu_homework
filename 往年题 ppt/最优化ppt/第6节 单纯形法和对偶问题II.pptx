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52"/>
  </p:handoutMasterIdLst>
  <p:sldIdLst>
    <p:sldId id="256" r:id="rId3"/>
    <p:sldId id="587" r:id="rId4"/>
    <p:sldId id="604" r:id="rId5"/>
    <p:sldId id="584" r:id="rId6"/>
    <p:sldId id="498" r:id="rId7"/>
    <p:sldId id="410" r:id="rId9"/>
    <p:sldId id="586" r:id="rId10"/>
    <p:sldId id="585" r:id="rId11"/>
    <p:sldId id="607" r:id="rId12"/>
    <p:sldId id="608" r:id="rId13"/>
    <p:sldId id="609" r:id="rId14"/>
    <p:sldId id="610" r:id="rId15"/>
    <p:sldId id="499" r:id="rId16"/>
    <p:sldId id="561" r:id="rId17"/>
    <p:sldId id="513" r:id="rId18"/>
    <p:sldId id="547" r:id="rId19"/>
    <p:sldId id="564" r:id="rId20"/>
    <p:sldId id="565" r:id="rId21"/>
    <p:sldId id="606" r:id="rId22"/>
    <p:sldId id="520" r:id="rId23"/>
    <p:sldId id="566" r:id="rId24"/>
    <p:sldId id="556" r:id="rId25"/>
    <p:sldId id="551" r:id="rId26"/>
    <p:sldId id="550" r:id="rId27"/>
    <p:sldId id="567" r:id="rId28"/>
    <p:sldId id="569" r:id="rId29"/>
    <p:sldId id="552" r:id="rId30"/>
    <p:sldId id="522" r:id="rId31"/>
    <p:sldId id="563" r:id="rId32"/>
    <p:sldId id="523" r:id="rId33"/>
    <p:sldId id="530" r:id="rId34"/>
    <p:sldId id="532" r:id="rId35"/>
    <p:sldId id="557" r:id="rId36"/>
    <p:sldId id="558" r:id="rId37"/>
    <p:sldId id="524" r:id="rId38"/>
    <p:sldId id="562" r:id="rId39"/>
    <p:sldId id="611" r:id="rId40"/>
    <p:sldId id="612" r:id="rId41"/>
    <p:sldId id="570" r:id="rId42"/>
    <p:sldId id="605" r:id="rId43"/>
    <p:sldId id="613" r:id="rId44"/>
    <p:sldId id="571" r:id="rId45"/>
    <p:sldId id="572" r:id="rId46"/>
    <p:sldId id="575" r:id="rId47"/>
    <p:sldId id="531" r:id="rId48"/>
    <p:sldId id="560" r:id="rId49"/>
    <p:sldId id="614" r:id="rId50"/>
    <p:sldId id="362" r:id="rId51"/>
  </p:sldIdLst>
  <p:sldSz cx="9144000" cy="6858000" type="screen4x3"/>
  <p:notesSz cx="7099300" cy="10234295"/>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70C"/>
    <a:srgbClr val="005AA5"/>
    <a:srgbClr val="005A9E"/>
    <a:srgbClr val="99E307"/>
    <a:srgbClr val="0000FF"/>
    <a:srgbClr val="004182"/>
    <a:srgbClr val="99F707"/>
    <a:srgbClr val="0042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164" autoAdjust="0"/>
    <p:restoredTop sz="88707" autoAdjust="0"/>
  </p:normalViewPr>
  <p:slideViewPr>
    <p:cSldViewPr showGuides="1">
      <p:cViewPr varScale="1">
        <p:scale>
          <a:sx n="100" d="100"/>
          <a:sy n="100" d="100"/>
        </p:scale>
        <p:origin x="-1944" y="-102"/>
      </p:cViewPr>
      <p:guideLst>
        <p:guide orient="horz" pos="2160"/>
        <p:guide pos="2971"/>
      </p:guideLst>
    </p:cSldViewPr>
  </p:slideViewPr>
  <p:notesTextViewPr>
    <p:cViewPr>
      <p:scale>
        <a:sx n="100" d="100"/>
        <a:sy n="100" d="100"/>
      </p:scale>
      <p:origin x="0" y="0"/>
    </p:cViewPr>
  </p:notesTextViewPr>
  <p:notesViewPr>
    <p:cSldViewPr>
      <p:cViewPr varScale="1">
        <p:scale>
          <a:sx n="87" d="100"/>
          <a:sy n="87" d="100"/>
        </p:scale>
        <p:origin x="-3738" y="-84"/>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gs" Target="tags/tag1.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45.wmf"/><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37.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42.wmf"/><Relationship Id="rId3" Type="http://schemas.openxmlformats.org/officeDocument/2006/relationships/image" Target="../media/image47.wmf"/><Relationship Id="rId2" Type="http://schemas.openxmlformats.org/officeDocument/2006/relationships/image" Target="../media/image36.wmf"/><Relationship Id="rId1" Type="http://schemas.openxmlformats.org/officeDocument/2006/relationships/image" Target="../media/image4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60.wmf"/><Relationship Id="rId7" Type="http://schemas.openxmlformats.org/officeDocument/2006/relationships/image" Target="../media/image59.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65.wmf"/><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69.wmf"/><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77.wmf"/><Relationship Id="rId7" Type="http://schemas.openxmlformats.org/officeDocument/2006/relationships/image" Target="../media/image76.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6.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76.wmf"/><Relationship Id="rId1" Type="http://schemas.openxmlformats.org/officeDocument/2006/relationships/image" Target="../media/image81.wmf"/></Relationships>
</file>

<file path=ppt/drawings/_rels/vmlDrawing24.vml.rels><?xml version="1.0" encoding="UTF-8" standalone="yes"?>
<Relationships xmlns="http://schemas.openxmlformats.org/package/2006/relationships"><Relationship Id="rId5" Type="http://schemas.openxmlformats.org/officeDocument/2006/relationships/image" Target="../media/image88.wmf"/><Relationship Id="rId4" Type="http://schemas.openxmlformats.org/officeDocument/2006/relationships/image" Target="../media/image87.wmf"/><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25.vml.rels><?xml version="1.0" encoding="UTF-8" standalone="yes"?>
<Relationships xmlns="http://schemas.openxmlformats.org/package/2006/relationships"><Relationship Id="rId5" Type="http://schemas.openxmlformats.org/officeDocument/2006/relationships/image" Target="../media/image93.wmf"/><Relationship Id="rId4" Type="http://schemas.openxmlformats.org/officeDocument/2006/relationships/image" Target="../media/image92.wmf"/><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26.vml.rels><?xml version="1.0" encoding="UTF-8" standalone="yes"?>
<Relationships xmlns="http://schemas.openxmlformats.org/package/2006/relationships"><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 Id="rId3" Type="http://schemas.openxmlformats.org/officeDocument/2006/relationships/image" Target="../media/image92.wmf"/><Relationship Id="rId2" Type="http://schemas.openxmlformats.org/officeDocument/2006/relationships/image" Target="../media/image95.wmf"/><Relationship Id="rId1" Type="http://schemas.openxmlformats.org/officeDocument/2006/relationships/image" Target="../media/image94.wmf"/></Relationships>
</file>

<file path=ppt/drawings/_rels/vmlDrawing27.vml.rels><?xml version="1.0" encoding="UTF-8" standalone="yes"?>
<Relationships xmlns="http://schemas.openxmlformats.org/package/2006/relationships"><Relationship Id="rId5" Type="http://schemas.openxmlformats.org/officeDocument/2006/relationships/image" Target="../media/image103.wmf"/><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29.vml.rels><?xml version="1.0" encoding="UTF-8" standalone="yes"?>
<Relationships xmlns="http://schemas.openxmlformats.org/package/2006/relationships"><Relationship Id="rId7" Type="http://schemas.openxmlformats.org/officeDocument/2006/relationships/image" Target="../media/image113.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s>
</file>

<file path=ppt/drawings/_rels/vmlDrawing30.vml.rels><?xml version="1.0" encoding="UTF-8" standalone="yes"?>
<Relationships xmlns="http://schemas.openxmlformats.org/package/2006/relationships"><Relationship Id="rId5" Type="http://schemas.openxmlformats.org/officeDocument/2006/relationships/image" Target="../media/image98.wmf"/><Relationship Id="rId4" Type="http://schemas.openxmlformats.org/officeDocument/2006/relationships/image" Target="../media/image117.wmf"/><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s>
</file>

<file path=ppt/drawings/_rels/vmlDrawing31.vml.rels><?xml version="1.0" encoding="UTF-8" standalone="yes"?>
<Relationships xmlns="http://schemas.openxmlformats.org/package/2006/relationships"><Relationship Id="rId9" Type="http://schemas.openxmlformats.org/officeDocument/2006/relationships/image" Target="../media/image126.wmf"/><Relationship Id="rId8" Type="http://schemas.openxmlformats.org/officeDocument/2006/relationships/image" Target="../media/image125.wmf"/><Relationship Id="rId7" Type="http://schemas.openxmlformats.org/officeDocument/2006/relationships/image" Target="../media/image124.wmf"/><Relationship Id="rId6" Type="http://schemas.openxmlformats.org/officeDocument/2006/relationships/image" Target="../media/image123.wmf"/><Relationship Id="rId5" Type="http://schemas.openxmlformats.org/officeDocument/2006/relationships/image" Target="../media/image122.wmf"/><Relationship Id="rId4" Type="http://schemas.openxmlformats.org/officeDocument/2006/relationships/image" Target="../media/image121.wmf"/><Relationship Id="rId3" Type="http://schemas.openxmlformats.org/officeDocument/2006/relationships/image" Target="../media/image120.wmf"/><Relationship Id="rId2" Type="http://schemas.openxmlformats.org/officeDocument/2006/relationships/image" Target="../media/image119.wmf"/><Relationship Id="rId10" Type="http://schemas.openxmlformats.org/officeDocument/2006/relationships/image" Target="../media/image127.wmf"/><Relationship Id="rId1" Type="http://schemas.openxmlformats.org/officeDocument/2006/relationships/image" Target="../media/image118.wmf"/></Relationships>
</file>

<file path=ppt/drawings/_rels/vmlDrawing32.vml.rels><?xml version="1.0" encoding="UTF-8" standalone="yes"?>
<Relationships xmlns="http://schemas.openxmlformats.org/package/2006/relationships"><Relationship Id="rId4" Type="http://schemas.openxmlformats.org/officeDocument/2006/relationships/image" Target="../media/image42.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40.wmf"/><Relationship Id="rId1" Type="http://schemas.openxmlformats.org/officeDocument/2006/relationships/image" Target="../media/image76.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41.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9BFF3516-2E2E-447A-BF37-AC90274693A0}" type="datetimeFigureOut">
              <a:rPr lang="zh-CN" altLang="en-US" smtClean="0"/>
            </a:fld>
            <a:endParaRPr lang="zh-CN" altLang="en-US"/>
          </a:p>
        </p:txBody>
      </p:sp>
      <p:sp>
        <p:nvSpPr>
          <p:cNvPr id="4" name="页脚占位符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DE85B465-D402-4F10-99EF-849226EBFBEE}"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4AE49ED2-BFCB-4791-914F-B6D7F5D86BB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6C4535DC-6042-4CAB-8461-B1E0B81ED9B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a3.jpg"/>
          <p:cNvPicPr>
            <a:picLocks noChangeAspect="1"/>
          </p:cNvPicPr>
          <p:nvPr userDrawn="1"/>
        </p:nvPicPr>
        <p:blipFill>
          <a:blip r:embed="rId2"/>
          <a:stretch>
            <a:fillRect/>
          </a:stretch>
        </p:blipFill>
        <p:spPr>
          <a:xfrm>
            <a:off x="0" y="560"/>
            <a:ext cx="9144000" cy="6856883"/>
          </a:xfrm>
          <a:prstGeom prst="rect">
            <a:avLst/>
          </a:prstGeom>
          <a:ln>
            <a:noFill/>
          </a:ln>
        </p:spPr>
      </p:pic>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4248168"/>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5786446" y="6356352"/>
            <a:ext cx="2895600" cy="365125"/>
          </a:xfrm>
        </p:spPr>
        <p:txBody>
          <a:bodyPr/>
          <a:lstStyle/>
          <a:p>
            <a:endParaRPr lang="zh-CN" altLang="en-US" dirty="0"/>
          </a:p>
        </p:txBody>
      </p:sp>
      <p:sp>
        <p:nvSpPr>
          <p:cNvPr id="6" name="灯片编号占位符 5"/>
          <p:cNvSpPr>
            <a:spLocks noGrp="1"/>
          </p:cNvSpPr>
          <p:nvPr>
            <p:ph type="sldNum" sz="quarter" idx="12"/>
          </p:nvPr>
        </p:nvSpPr>
        <p:spPr>
          <a:xfrm>
            <a:off x="2786050" y="6357960"/>
            <a:ext cx="2786082" cy="365125"/>
          </a:xfrm>
        </p:spPr>
        <p:txBody>
          <a:bodyPr/>
          <a:lstStyle>
            <a:lvl1pPr>
              <a:defRPr b="1">
                <a:solidFill>
                  <a:srgbClr val="004182"/>
                </a:solidFill>
              </a:defRPr>
            </a:lvl1pPr>
          </a:lstStyle>
          <a:p>
            <a:r>
              <a:rPr lang="zh-CN" altLang="en-US" dirty="0"/>
              <a:t>智能感知与图像理解教育部重点实验室</a:t>
            </a:r>
            <a:endParaRPr lang="zh-CN" altLang="en-US" dirty="0"/>
          </a:p>
        </p:txBody>
      </p:sp>
      <p:sp>
        <p:nvSpPr>
          <p:cNvPr id="8" name="矩形 1"/>
          <p:cNvSpPr>
            <a:spLocks noChangeArrowheads="1"/>
          </p:cNvSpPr>
          <p:nvPr userDrawn="1"/>
        </p:nvSpPr>
        <p:spPr bwMode="auto">
          <a:xfrm>
            <a:off x="0" y="1989137"/>
            <a:ext cx="9144000" cy="1727200"/>
          </a:xfrm>
          <a:prstGeom prst="rect">
            <a:avLst/>
          </a:prstGeom>
          <a:solidFill>
            <a:srgbClr val="004182"/>
          </a:solidFill>
          <a:ln w="25400">
            <a:noFill/>
            <a:miter lim="800000"/>
          </a:ln>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zh-CN" dirty="0">
              <a:solidFill>
                <a:srgbClr val="005A9E"/>
              </a:solidFill>
            </a:endParaRPr>
          </a:p>
        </p:txBody>
      </p:sp>
      <p:sp>
        <p:nvSpPr>
          <p:cNvPr id="9" name="直接连接符 3"/>
          <p:cNvSpPr>
            <a:spLocks noChangeShapeType="1"/>
          </p:cNvSpPr>
          <p:nvPr userDrawn="1"/>
        </p:nvSpPr>
        <p:spPr bwMode="auto">
          <a:xfrm>
            <a:off x="0" y="3876675"/>
            <a:ext cx="9144000" cy="1588"/>
          </a:xfrm>
          <a:prstGeom prst="line">
            <a:avLst/>
          </a:prstGeom>
          <a:noFill/>
          <a:ln w="76200">
            <a:solidFill>
              <a:srgbClr val="004182"/>
            </a:solidFill>
            <a:round/>
          </a:ln>
        </p:spPr>
        <p:txBody>
          <a:bodyPr/>
          <a:lstStyle/>
          <a:p>
            <a:endParaRPr lang="zh-CN" altLang="en-US"/>
          </a:p>
        </p:txBody>
      </p:sp>
      <p:pic>
        <p:nvPicPr>
          <p:cNvPr id="10" name="图片 9" descr="横版logo.png"/>
          <p:cNvPicPr>
            <a:picLocks noChangeAspect="1"/>
          </p:cNvPicPr>
          <p:nvPr userDrawn="1"/>
        </p:nvPicPr>
        <p:blipFill>
          <a:blip r:embed="rId3" cstate="print"/>
          <a:stretch>
            <a:fillRect/>
          </a:stretch>
        </p:blipFill>
        <p:spPr>
          <a:xfrm>
            <a:off x="5572132" y="425307"/>
            <a:ext cx="2786082" cy="93199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a4.jpg"/>
          <p:cNvPicPr>
            <a:picLocks noChangeAspect="1"/>
          </p:cNvPicPr>
          <p:nvPr userDrawn="1"/>
        </p:nvPicPr>
        <p:blipFill>
          <a:blip r:embed="rId2"/>
          <a:stretch>
            <a:fillRect/>
          </a:stretch>
        </p:blipFill>
        <p:spPr>
          <a:xfrm>
            <a:off x="0" y="560"/>
            <a:ext cx="9144000" cy="6856883"/>
          </a:xfrm>
          <a:prstGeom prst="rect">
            <a:avLst/>
          </a:prstGeom>
        </p:spPr>
      </p:pic>
      <p:sp>
        <p:nvSpPr>
          <p:cNvPr id="2" name="标题 1"/>
          <p:cNvSpPr>
            <a:spLocks noGrp="1"/>
          </p:cNvSpPr>
          <p:nvPr>
            <p:ph type="title"/>
          </p:nvPr>
        </p:nvSpPr>
        <p:spPr>
          <a:xfrm>
            <a:off x="2928927" y="142852"/>
            <a:ext cx="6072230" cy="582594"/>
          </a:xfrm>
        </p:spPr>
        <p:txBody>
          <a:bodyPr>
            <a:noAutofit/>
          </a:bodyPr>
          <a:lstStyle>
            <a:lvl1pPr>
              <a:defRPr sz="3200" b="1">
                <a:solidFill>
                  <a:schemeClr val="bg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dirty="0"/>
          </a:p>
        </p:txBody>
      </p:sp>
      <p:sp>
        <p:nvSpPr>
          <p:cNvPr id="5" name="页脚占位符 4"/>
          <p:cNvSpPr>
            <a:spLocks noGrp="1"/>
          </p:cNvSpPr>
          <p:nvPr>
            <p:ph type="ftr" sz="quarter" idx="11"/>
          </p:nvPr>
        </p:nvSpPr>
        <p:spPr>
          <a:xfrm>
            <a:off x="5786447" y="6357960"/>
            <a:ext cx="2876560" cy="365125"/>
          </a:xfrm>
        </p:spPr>
        <p:txBody>
          <a:bodyPr/>
          <a:lstStyle/>
          <a:p>
            <a:endParaRPr lang="zh-CN" altLang="en-US" dirty="0"/>
          </a:p>
        </p:txBody>
      </p:sp>
      <p:sp>
        <p:nvSpPr>
          <p:cNvPr id="6" name="灯片编号占位符 5"/>
          <p:cNvSpPr>
            <a:spLocks noGrp="1"/>
          </p:cNvSpPr>
          <p:nvPr>
            <p:ph type="sldNum" sz="quarter" idx="12"/>
          </p:nvPr>
        </p:nvSpPr>
        <p:spPr>
          <a:xfrm>
            <a:off x="2786050" y="6356352"/>
            <a:ext cx="2828916" cy="365125"/>
          </a:xfrm>
        </p:spPr>
        <p:txBody>
          <a:bodyPr/>
          <a:lstStyle>
            <a:lvl1pPr marL="0" algn="r" defTabSz="914400" rtl="0" eaLnBrk="1" latinLnBrk="0" hangingPunct="1">
              <a:defRPr lang="zh-CN" altLang="en-US" sz="1200" b="1" kern="1200" smtClean="0">
                <a:solidFill>
                  <a:srgbClr val="004182"/>
                </a:solidFill>
                <a:latin typeface="+mn-lt"/>
                <a:ea typeface="+mn-ea"/>
                <a:cs typeface="+mn-cs"/>
              </a:defRPr>
            </a:lvl1pPr>
          </a:lstStyle>
          <a:p>
            <a:r>
              <a:rPr lang="zh-CN" altLang="en-US" dirty="0"/>
              <a:t>智能感知与图像理解教育部重点实验室</a:t>
            </a:r>
            <a:endParaRPr lang="zh-CN" altLang="en-US" dirty="0"/>
          </a:p>
        </p:txBody>
      </p:sp>
      <p:cxnSp>
        <p:nvCxnSpPr>
          <p:cNvPr id="10" name="直接连接符 9"/>
          <p:cNvCxnSpPr/>
          <p:nvPr userDrawn="1"/>
        </p:nvCxnSpPr>
        <p:spPr>
          <a:xfrm>
            <a:off x="-12192" y="6232551"/>
            <a:ext cx="4857750" cy="4763"/>
          </a:xfrm>
          <a:prstGeom prst="line">
            <a:avLst/>
          </a:prstGeom>
          <a:ln w="104775">
            <a:solidFill>
              <a:srgbClr val="004182"/>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9910" y="6163328"/>
            <a:ext cx="4857750" cy="4763"/>
          </a:xfrm>
          <a:prstGeom prst="line">
            <a:avLst/>
          </a:prstGeom>
          <a:ln w="635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图片 11" descr="_MG_3655副本.jpg"/>
          <p:cNvPicPr>
            <a:picLocks noChangeAspect="1"/>
          </p:cNvPicPr>
          <p:nvPr userDrawn="1"/>
        </p:nvPicPr>
        <p:blipFill>
          <a:blip r:embed="rId3" cstate="print"/>
          <a:stretch>
            <a:fillRect/>
          </a:stretch>
        </p:blipFill>
        <p:spPr>
          <a:xfrm>
            <a:off x="5206480" y="5860744"/>
            <a:ext cx="1080000" cy="719999"/>
          </a:xfrm>
          <a:prstGeom prst="rect">
            <a:avLst/>
          </a:prstGeom>
          <a:ln>
            <a:noFill/>
          </a:ln>
          <a:effectLst>
            <a:softEdge rad="112500"/>
          </a:effectLst>
        </p:spPr>
      </p:pic>
      <p:pic>
        <p:nvPicPr>
          <p:cNvPr id="13" name="图片 12" descr="_MG_3751副本.jpg"/>
          <p:cNvPicPr>
            <a:picLocks noChangeAspect="1"/>
          </p:cNvPicPr>
          <p:nvPr userDrawn="1"/>
        </p:nvPicPr>
        <p:blipFill>
          <a:blip r:embed="rId4" cstate="print"/>
          <a:stretch>
            <a:fillRect/>
          </a:stretch>
        </p:blipFill>
        <p:spPr>
          <a:xfrm>
            <a:off x="6402535" y="5900715"/>
            <a:ext cx="960000" cy="640054"/>
          </a:xfrm>
          <a:prstGeom prst="rect">
            <a:avLst/>
          </a:prstGeom>
          <a:ln>
            <a:noFill/>
          </a:ln>
          <a:effectLst>
            <a:softEdge rad="112500"/>
          </a:effectLst>
        </p:spPr>
      </p:pic>
      <p:pic>
        <p:nvPicPr>
          <p:cNvPr id="14" name="图片 13" descr="_MG_2253_2_1_0_tonemapped副本.jpg"/>
          <p:cNvPicPr>
            <a:picLocks noChangeAspect="1"/>
          </p:cNvPicPr>
          <p:nvPr userDrawn="1"/>
        </p:nvPicPr>
        <p:blipFill>
          <a:blip r:embed="rId5" cstate="print"/>
          <a:stretch>
            <a:fillRect/>
          </a:stretch>
        </p:blipFill>
        <p:spPr>
          <a:xfrm>
            <a:off x="7511125" y="5858311"/>
            <a:ext cx="1078651" cy="719162"/>
          </a:xfrm>
          <a:prstGeom prst="rect">
            <a:avLst/>
          </a:prstGeom>
          <a:ln>
            <a:noFill/>
          </a:ln>
          <a:effectLst>
            <a:softEdge rad="112500"/>
          </a:effectLst>
        </p:spPr>
      </p:pic>
      <p:pic>
        <p:nvPicPr>
          <p:cNvPr id="21" name="图片 20" descr="QQ截图20170908113630.jpg"/>
          <p:cNvPicPr>
            <a:picLocks noChangeAspect="1"/>
          </p:cNvPicPr>
          <p:nvPr userDrawn="1"/>
        </p:nvPicPr>
        <p:blipFill>
          <a:blip r:embed="rId6"/>
          <a:stretch>
            <a:fillRect/>
          </a:stretch>
        </p:blipFill>
        <p:spPr>
          <a:xfrm>
            <a:off x="142844" y="6298957"/>
            <a:ext cx="3214710" cy="55964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descr="新建 Microsoft Office PowerPoint 演示文稿.jpg"/>
          <p:cNvPicPr>
            <a:picLocks noChangeAspect="1"/>
          </p:cNvPicPr>
          <p:nvPr userDrawn="1"/>
        </p:nvPicPr>
        <p:blipFill>
          <a:blip r:embed="rId2"/>
          <a:stretch>
            <a:fillRect/>
          </a:stretch>
        </p:blipFill>
        <p:spPr>
          <a:xfrm>
            <a:off x="0" y="0"/>
            <a:ext cx="9144000" cy="6858000"/>
          </a:xfrm>
          <a:prstGeom prst="rect">
            <a:avLst/>
          </a:prstGeom>
        </p:spPr>
      </p:pic>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图片 7" descr="a4.jpg"/>
          <p:cNvPicPr>
            <a:picLocks noChangeAspect="1"/>
          </p:cNvPicPr>
          <p:nvPr userDrawn="1"/>
        </p:nvPicPr>
        <p:blipFill>
          <a:blip r:embed="rId2"/>
          <a:stretch>
            <a:fillRect/>
          </a:stretch>
        </p:blipFill>
        <p:spPr>
          <a:xfrm>
            <a:off x="0" y="560"/>
            <a:ext cx="9144000" cy="6856883"/>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图片 9" descr="a4.jpg"/>
          <p:cNvPicPr>
            <a:picLocks noChangeAspect="1"/>
          </p:cNvPicPr>
          <p:nvPr userDrawn="1"/>
        </p:nvPicPr>
        <p:blipFill>
          <a:blip r:embed="rId2"/>
          <a:stretch>
            <a:fillRect/>
          </a:stretch>
        </p:blipFill>
        <p:spPr>
          <a:xfrm>
            <a:off x="0" y="560"/>
            <a:ext cx="9144000" cy="6856883"/>
          </a:xfrm>
          <a:prstGeom prst="rect">
            <a:avLst/>
          </a:prstGeom>
        </p:spPr>
      </p:pic>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9" Type="http://schemas.openxmlformats.org/officeDocument/2006/relationships/audio" Target="../media/audio4.wav"/><Relationship Id="rId8" Type="http://schemas.openxmlformats.org/officeDocument/2006/relationships/audio" Target="../media/audio3.wav"/><Relationship Id="rId7" Type="http://schemas.openxmlformats.org/officeDocument/2006/relationships/audio" Target="../media/audio2.wav"/><Relationship Id="rId6" Type="http://schemas.openxmlformats.org/officeDocument/2006/relationships/audio" Target="../media/audio1.wav"/><Relationship Id="rId5" Type="http://schemas.openxmlformats.org/officeDocument/2006/relationships/image" Target="../media/image12.wmf"/><Relationship Id="rId4" Type="http://schemas.openxmlformats.org/officeDocument/2006/relationships/oleObject" Target="../embeddings/oleObject3.bin"/><Relationship Id="rId3" Type="http://schemas.openxmlformats.org/officeDocument/2006/relationships/image" Target="../media/image11.wmf"/><Relationship Id="rId2" Type="http://schemas.openxmlformats.org/officeDocument/2006/relationships/oleObject" Target="../embeddings/oleObject2.bin"/><Relationship Id="rId13" Type="http://schemas.openxmlformats.org/officeDocument/2006/relationships/notesSlide" Target="../notesSlides/notesSlide1.xml"/><Relationship Id="rId12" Type="http://schemas.openxmlformats.org/officeDocument/2006/relationships/vmlDrawing" Target="../drawings/vmlDrawing2.vml"/><Relationship Id="rId11" Type="http://schemas.openxmlformats.org/officeDocument/2006/relationships/slideLayout" Target="../slideLayouts/slideLayout2.xml"/><Relationship Id="rId10" Type="http://schemas.openxmlformats.org/officeDocument/2006/relationships/audio" Target="../media/audio5.wav"/><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19.wmf"/><Relationship Id="rId7" Type="http://schemas.openxmlformats.org/officeDocument/2006/relationships/oleObject" Target="../embeddings/oleObject9.bin"/><Relationship Id="rId6" Type="http://schemas.openxmlformats.org/officeDocument/2006/relationships/image" Target="../media/image18.wmf"/><Relationship Id="rId5" Type="http://schemas.openxmlformats.org/officeDocument/2006/relationships/oleObject" Target="../embeddings/oleObject8.bin"/><Relationship Id="rId4" Type="http://schemas.openxmlformats.org/officeDocument/2006/relationships/image" Target="../media/image17.wmf"/><Relationship Id="rId3" Type="http://schemas.openxmlformats.org/officeDocument/2006/relationships/oleObject" Target="../embeddings/oleObject7.bin"/><Relationship Id="rId2" Type="http://schemas.openxmlformats.org/officeDocument/2006/relationships/image" Target="../media/image16.wmf"/><Relationship Id="rId13" Type="http://schemas.openxmlformats.org/officeDocument/2006/relationships/notesSlide" Target="../notesSlides/notesSlide7.xml"/><Relationship Id="rId12" Type="http://schemas.openxmlformats.org/officeDocument/2006/relationships/vmlDrawing" Target="../drawings/vmlDrawing5.vml"/><Relationship Id="rId11" Type="http://schemas.openxmlformats.org/officeDocument/2006/relationships/slideLayout" Target="../slideLayouts/slideLayout2.xml"/><Relationship Id="rId10" Type="http://schemas.openxmlformats.org/officeDocument/2006/relationships/image" Target="../media/image20.wmf"/><Relationship Id="rId1"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24.wmf"/><Relationship Id="rId7" Type="http://schemas.openxmlformats.org/officeDocument/2006/relationships/oleObject" Target="../embeddings/oleObject14.bin"/><Relationship Id="rId6" Type="http://schemas.openxmlformats.org/officeDocument/2006/relationships/image" Target="../media/image23.wmf"/><Relationship Id="rId5" Type="http://schemas.openxmlformats.org/officeDocument/2006/relationships/oleObject" Target="../embeddings/oleObject13.bin"/><Relationship Id="rId4" Type="http://schemas.openxmlformats.org/officeDocument/2006/relationships/image" Target="../media/image22.wmf"/><Relationship Id="rId3" Type="http://schemas.openxmlformats.org/officeDocument/2006/relationships/oleObject" Target="../embeddings/oleObject12.bin"/><Relationship Id="rId2" Type="http://schemas.openxmlformats.org/officeDocument/2006/relationships/image" Target="../media/image21.wmf"/><Relationship Id="rId13" Type="http://schemas.openxmlformats.org/officeDocument/2006/relationships/notesSlide" Target="../notesSlides/notesSlide8.xml"/><Relationship Id="rId12" Type="http://schemas.openxmlformats.org/officeDocument/2006/relationships/vmlDrawing" Target="../drawings/vmlDrawing6.vml"/><Relationship Id="rId11" Type="http://schemas.openxmlformats.org/officeDocument/2006/relationships/slideLayout" Target="../slideLayouts/slideLayout2.xml"/><Relationship Id="rId10" Type="http://schemas.openxmlformats.org/officeDocument/2006/relationships/image" Target="../media/image25.wmf"/><Relationship Id="rId1" Type="http://schemas.openxmlformats.org/officeDocument/2006/relationships/oleObject" Target="../embeddings/oleObject11.bin"/></Relationships>
</file>

<file path=ppt/slides/_rels/slide13.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18.bin"/><Relationship Id="rId4" Type="http://schemas.openxmlformats.org/officeDocument/2006/relationships/image" Target="../media/image27.wmf"/><Relationship Id="rId3" Type="http://schemas.openxmlformats.org/officeDocument/2006/relationships/oleObject" Target="../embeddings/oleObject17.bin"/><Relationship Id="rId2" Type="http://schemas.openxmlformats.org/officeDocument/2006/relationships/image" Target="../media/image26.wmf"/><Relationship Id="rId1" Type="http://schemas.openxmlformats.org/officeDocument/2006/relationships/oleObject" Target="../embeddings/oleObject16.bin"/></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30.wmf"/><Relationship Id="rId3" Type="http://schemas.openxmlformats.org/officeDocument/2006/relationships/oleObject" Target="../embeddings/oleObject20.bin"/><Relationship Id="rId2" Type="http://schemas.openxmlformats.org/officeDocument/2006/relationships/image" Target="../media/image29.wmf"/><Relationship Id="rId1" Type="http://schemas.openxmlformats.org/officeDocument/2006/relationships/oleObject" Target="../embeddings/oleObject19.bin"/></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33.wmf"/><Relationship Id="rId5" Type="http://schemas.openxmlformats.org/officeDocument/2006/relationships/oleObject" Target="../embeddings/oleObject23.bin"/><Relationship Id="rId4" Type="http://schemas.openxmlformats.org/officeDocument/2006/relationships/image" Target="../media/image32.wmf"/><Relationship Id="rId3" Type="http://schemas.openxmlformats.org/officeDocument/2006/relationships/oleObject" Target="../embeddings/oleObject22.bin"/><Relationship Id="rId2" Type="http://schemas.openxmlformats.org/officeDocument/2006/relationships/image" Target="../media/image31.wmf"/><Relationship Id="rId1" Type="http://schemas.openxmlformats.org/officeDocument/2006/relationships/oleObject" Target="../embeddings/oleObject21.bin"/></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7.wmf"/><Relationship Id="rId7" Type="http://schemas.openxmlformats.org/officeDocument/2006/relationships/oleObject" Target="../embeddings/oleObject27.bin"/><Relationship Id="rId6" Type="http://schemas.openxmlformats.org/officeDocument/2006/relationships/image" Target="../media/image36.wmf"/><Relationship Id="rId5" Type="http://schemas.openxmlformats.org/officeDocument/2006/relationships/oleObject" Target="../embeddings/oleObject26.bin"/><Relationship Id="rId4" Type="http://schemas.openxmlformats.org/officeDocument/2006/relationships/image" Target="../media/image35.wmf"/><Relationship Id="rId3" Type="http://schemas.openxmlformats.org/officeDocument/2006/relationships/oleObject" Target="../embeddings/oleObject25.bin"/><Relationship Id="rId2" Type="http://schemas.openxmlformats.org/officeDocument/2006/relationships/image" Target="../media/image34.wmf"/><Relationship Id="rId10" Type="http://schemas.openxmlformats.org/officeDocument/2006/relationships/vmlDrawing" Target="../drawings/vmlDrawing10.vml"/><Relationship Id="rId1" Type="http://schemas.openxmlformats.org/officeDocument/2006/relationships/oleObject" Target="../embeddings/oleObject24.bin"/></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0.wmf"/><Relationship Id="rId7" Type="http://schemas.openxmlformats.org/officeDocument/2006/relationships/oleObject" Target="../embeddings/oleObject31.bin"/><Relationship Id="rId6" Type="http://schemas.openxmlformats.org/officeDocument/2006/relationships/image" Target="../media/image39.wmf"/><Relationship Id="rId5" Type="http://schemas.openxmlformats.org/officeDocument/2006/relationships/oleObject" Target="../embeddings/oleObject30.bin"/><Relationship Id="rId4" Type="http://schemas.openxmlformats.org/officeDocument/2006/relationships/image" Target="../media/image38.wmf"/><Relationship Id="rId3" Type="http://schemas.openxmlformats.org/officeDocument/2006/relationships/oleObject" Target="../embeddings/oleObject29.bin"/><Relationship Id="rId2" Type="http://schemas.openxmlformats.org/officeDocument/2006/relationships/image" Target="../media/image37.wmf"/><Relationship Id="rId10" Type="http://schemas.openxmlformats.org/officeDocument/2006/relationships/vmlDrawing" Target="../drawings/vmlDrawing11.vml"/><Relationship Id="rId1" Type="http://schemas.openxmlformats.org/officeDocument/2006/relationships/oleObject" Target="../embeddings/oleObject28.bin"/></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image" Target="../media/image42.wmf"/><Relationship Id="rId3" Type="http://schemas.openxmlformats.org/officeDocument/2006/relationships/oleObject" Target="../embeddings/oleObject33.bin"/><Relationship Id="rId2" Type="http://schemas.openxmlformats.org/officeDocument/2006/relationships/image" Target="../media/image41.wmf"/><Relationship Id="rId1" Type="http://schemas.openxmlformats.org/officeDocument/2006/relationships/oleObject" Target="../embeddings/oleObject32.bin"/></Relationships>
</file>

<file path=ppt/slides/_rels/slide19.xml.rels><?xml version="1.0" encoding="UTF-8" standalone="yes"?>
<Relationships xmlns="http://schemas.openxmlformats.org/package/2006/relationships"><Relationship Id="rId9" Type="http://schemas.openxmlformats.org/officeDocument/2006/relationships/image" Target="../media/image45.wmf"/><Relationship Id="rId8" Type="http://schemas.openxmlformats.org/officeDocument/2006/relationships/oleObject" Target="../embeddings/oleObject38.bin"/><Relationship Id="rId7" Type="http://schemas.openxmlformats.org/officeDocument/2006/relationships/image" Target="../media/image44.wmf"/><Relationship Id="rId6" Type="http://schemas.openxmlformats.org/officeDocument/2006/relationships/oleObject" Target="../embeddings/oleObject37.bin"/><Relationship Id="rId5" Type="http://schemas.openxmlformats.org/officeDocument/2006/relationships/oleObject" Target="../embeddings/oleObject36.bin"/><Relationship Id="rId4" Type="http://schemas.openxmlformats.org/officeDocument/2006/relationships/image" Target="../media/image43.wmf"/><Relationship Id="rId3" Type="http://schemas.openxmlformats.org/officeDocument/2006/relationships/oleObject" Target="../embeddings/oleObject35.bin"/><Relationship Id="rId2" Type="http://schemas.openxmlformats.org/officeDocument/2006/relationships/image" Target="../media/image37.wmf"/><Relationship Id="rId11" Type="http://schemas.openxmlformats.org/officeDocument/2006/relationships/vmlDrawing" Target="../drawings/vmlDrawing13.vml"/><Relationship Id="rId10" Type="http://schemas.openxmlformats.org/officeDocument/2006/relationships/slideLayout" Target="../slideLayouts/slideLayout2.xml"/><Relationship Id="rId1" Type="http://schemas.openxmlformats.org/officeDocument/2006/relationships/oleObject" Target="../embeddings/oleObject34.bin"/></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2.wmf"/><Relationship Id="rId7" Type="http://schemas.openxmlformats.org/officeDocument/2006/relationships/oleObject" Target="../embeddings/oleObject42.bin"/><Relationship Id="rId6" Type="http://schemas.openxmlformats.org/officeDocument/2006/relationships/image" Target="../media/image47.wmf"/><Relationship Id="rId5" Type="http://schemas.openxmlformats.org/officeDocument/2006/relationships/oleObject" Target="../embeddings/oleObject41.bin"/><Relationship Id="rId4" Type="http://schemas.openxmlformats.org/officeDocument/2006/relationships/image" Target="../media/image36.wmf"/><Relationship Id="rId3" Type="http://schemas.openxmlformats.org/officeDocument/2006/relationships/oleObject" Target="../embeddings/oleObject40.bin"/><Relationship Id="rId2" Type="http://schemas.openxmlformats.org/officeDocument/2006/relationships/image" Target="../media/image46.wmf"/><Relationship Id="rId10" Type="http://schemas.openxmlformats.org/officeDocument/2006/relationships/vmlDrawing" Target="../drawings/vmlDrawing14.vml"/><Relationship Id="rId1" Type="http://schemas.openxmlformats.org/officeDocument/2006/relationships/oleObject" Target="../embeddings/oleObject39.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48.wmf"/><Relationship Id="rId1" Type="http://schemas.openxmlformats.org/officeDocument/2006/relationships/oleObject" Target="../embeddings/oleObject43.bin"/></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50.wmf"/><Relationship Id="rId3" Type="http://schemas.openxmlformats.org/officeDocument/2006/relationships/oleObject" Target="../embeddings/oleObject45.bin"/><Relationship Id="rId2" Type="http://schemas.openxmlformats.org/officeDocument/2006/relationships/image" Target="../media/image49.wmf"/><Relationship Id="rId1" Type="http://schemas.openxmlformats.org/officeDocument/2006/relationships/oleObject" Target="../embeddings/oleObject44.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2.xml"/><Relationship Id="rId4" Type="http://schemas.openxmlformats.org/officeDocument/2006/relationships/image" Target="../media/image52.wmf"/><Relationship Id="rId3" Type="http://schemas.openxmlformats.org/officeDocument/2006/relationships/oleObject" Target="../embeddings/oleObject47.bin"/><Relationship Id="rId2" Type="http://schemas.openxmlformats.org/officeDocument/2006/relationships/image" Target="../media/image51.wmf"/><Relationship Id="rId1" Type="http://schemas.openxmlformats.org/officeDocument/2006/relationships/oleObject" Target="../embeddings/oleObject46.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52.bin"/><Relationship Id="rId8" Type="http://schemas.openxmlformats.org/officeDocument/2006/relationships/image" Target="../media/image56.wmf"/><Relationship Id="rId7" Type="http://schemas.openxmlformats.org/officeDocument/2006/relationships/oleObject" Target="../embeddings/oleObject51.bin"/><Relationship Id="rId6" Type="http://schemas.openxmlformats.org/officeDocument/2006/relationships/image" Target="../media/image55.wmf"/><Relationship Id="rId5" Type="http://schemas.openxmlformats.org/officeDocument/2006/relationships/oleObject" Target="../embeddings/oleObject50.bin"/><Relationship Id="rId4" Type="http://schemas.openxmlformats.org/officeDocument/2006/relationships/image" Target="../media/image54.wmf"/><Relationship Id="rId3" Type="http://schemas.openxmlformats.org/officeDocument/2006/relationships/oleObject" Target="../embeddings/oleObject49.bin"/><Relationship Id="rId2" Type="http://schemas.openxmlformats.org/officeDocument/2006/relationships/image" Target="../media/image53.wmf"/><Relationship Id="rId18" Type="http://schemas.openxmlformats.org/officeDocument/2006/relationships/vmlDrawing" Target="../drawings/vmlDrawing18.vml"/><Relationship Id="rId17" Type="http://schemas.openxmlformats.org/officeDocument/2006/relationships/slideLayout" Target="../slideLayouts/slideLayout2.xml"/><Relationship Id="rId16" Type="http://schemas.openxmlformats.org/officeDocument/2006/relationships/image" Target="../media/image60.wmf"/><Relationship Id="rId15" Type="http://schemas.openxmlformats.org/officeDocument/2006/relationships/oleObject" Target="../embeddings/oleObject55.bin"/><Relationship Id="rId14" Type="http://schemas.openxmlformats.org/officeDocument/2006/relationships/image" Target="../media/image59.wmf"/><Relationship Id="rId13" Type="http://schemas.openxmlformats.org/officeDocument/2006/relationships/oleObject" Target="../embeddings/oleObject54.bin"/><Relationship Id="rId12" Type="http://schemas.openxmlformats.org/officeDocument/2006/relationships/image" Target="../media/image58.wmf"/><Relationship Id="rId11" Type="http://schemas.openxmlformats.org/officeDocument/2006/relationships/oleObject" Target="../embeddings/oleObject53.bin"/><Relationship Id="rId10" Type="http://schemas.openxmlformats.org/officeDocument/2006/relationships/image" Target="../media/image57.wmf"/><Relationship Id="rId1" Type="http://schemas.openxmlformats.org/officeDocument/2006/relationships/oleObject" Target="../embeddings/oleObject48.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60.bin"/><Relationship Id="rId8" Type="http://schemas.openxmlformats.org/officeDocument/2006/relationships/image" Target="../media/image64.wmf"/><Relationship Id="rId7" Type="http://schemas.openxmlformats.org/officeDocument/2006/relationships/oleObject" Target="../embeddings/oleObject59.bin"/><Relationship Id="rId6" Type="http://schemas.openxmlformats.org/officeDocument/2006/relationships/image" Target="../media/image63.wmf"/><Relationship Id="rId5" Type="http://schemas.openxmlformats.org/officeDocument/2006/relationships/oleObject" Target="../embeddings/oleObject58.bin"/><Relationship Id="rId4" Type="http://schemas.openxmlformats.org/officeDocument/2006/relationships/image" Target="../media/image62.wmf"/><Relationship Id="rId3" Type="http://schemas.openxmlformats.org/officeDocument/2006/relationships/oleObject" Target="../embeddings/oleObject57.bin"/><Relationship Id="rId2" Type="http://schemas.openxmlformats.org/officeDocument/2006/relationships/image" Target="../media/image61.wmf"/><Relationship Id="rId13" Type="http://schemas.openxmlformats.org/officeDocument/2006/relationships/vmlDrawing" Target="../drawings/vmlDrawing19.vml"/><Relationship Id="rId12" Type="http://schemas.openxmlformats.org/officeDocument/2006/relationships/slideLayout" Target="../slideLayouts/slideLayout2.xml"/><Relationship Id="rId11" Type="http://schemas.openxmlformats.org/officeDocument/2006/relationships/image" Target="../media/image65.wmf"/><Relationship Id="rId10" Type="http://schemas.openxmlformats.org/officeDocument/2006/relationships/oleObject" Target="../embeddings/oleObject61.bin"/><Relationship Id="rId1" Type="http://schemas.openxmlformats.org/officeDocument/2006/relationships/oleObject" Target="../embeddings/oleObject56.bin"/></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9.wmf"/><Relationship Id="rId7" Type="http://schemas.openxmlformats.org/officeDocument/2006/relationships/oleObject" Target="../embeddings/oleObject65.bin"/><Relationship Id="rId6" Type="http://schemas.openxmlformats.org/officeDocument/2006/relationships/image" Target="../media/image68.wmf"/><Relationship Id="rId5" Type="http://schemas.openxmlformats.org/officeDocument/2006/relationships/oleObject" Target="../embeddings/oleObject64.bin"/><Relationship Id="rId4" Type="http://schemas.openxmlformats.org/officeDocument/2006/relationships/image" Target="../media/image67.wmf"/><Relationship Id="rId3" Type="http://schemas.openxmlformats.org/officeDocument/2006/relationships/oleObject" Target="../embeddings/oleObject63.bin"/><Relationship Id="rId2" Type="http://schemas.openxmlformats.org/officeDocument/2006/relationships/image" Target="../media/image66.wmf"/><Relationship Id="rId10" Type="http://schemas.openxmlformats.org/officeDocument/2006/relationships/vmlDrawing" Target="../drawings/vmlDrawing20.vml"/><Relationship Id="rId1" Type="http://schemas.openxmlformats.org/officeDocument/2006/relationships/oleObject" Target="../embeddings/oleObject62.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70.bin"/><Relationship Id="rId8" Type="http://schemas.openxmlformats.org/officeDocument/2006/relationships/image" Target="../media/image73.wmf"/><Relationship Id="rId7" Type="http://schemas.openxmlformats.org/officeDocument/2006/relationships/oleObject" Target="../embeddings/oleObject69.bin"/><Relationship Id="rId6" Type="http://schemas.openxmlformats.org/officeDocument/2006/relationships/image" Target="../media/image72.wmf"/><Relationship Id="rId5" Type="http://schemas.openxmlformats.org/officeDocument/2006/relationships/oleObject" Target="../embeddings/oleObject68.bin"/><Relationship Id="rId4" Type="http://schemas.openxmlformats.org/officeDocument/2006/relationships/image" Target="../media/image71.wmf"/><Relationship Id="rId3" Type="http://schemas.openxmlformats.org/officeDocument/2006/relationships/oleObject" Target="../embeddings/oleObject67.bin"/><Relationship Id="rId2" Type="http://schemas.openxmlformats.org/officeDocument/2006/relationships/image" Target="../media/image70.wmf"/><Relationship Id="rId18" Type="http://schemas.openxmlformats.org/officeDocument/2006/relationships/vmlDrawing" Target="../drawings/vmlDrawing21.vml"/><Relationship Id="rId17" Type="http://schemas.openxmlformats.org/officeDocument/2006/relationships/slideLayout" Target="../slideLayouts/slideLayout2.xml"/><Relationship Id="rId16" Type="http://schemas.openxmlformats.org/officeDocument/2006/relationships/image" Target="../media/image77.wmf"/><Relationship Id="rId15" Type="http://schemas.openxmlformats.org/officeDocument/2006/relationships/oleObject" Target="../embeddings/oleObject73.bin"/><Relationship Id="rId14" Type="http://schemas.openxmlformats.org/officeDocument/2006/relationships/image" Target="../media/image76.wmf"/><Relationship Id="rId13" Type="http://schemas.openxmlformats.org/officeDocument/2006/relationships/oleObject" Target="../embeddings/oleObject72.bin"/><Relationship Id="rId12" Type="http://schemas.openxmlformats.org/officeDocument/2006/relationships/image" Target="../media/image75.wmf"/><Relationship Id="rId11" Type="http://schemas.openxmlformats.org/officeDocument/2006/relationships/oleObject" Target="../embeddings/oleObject71.bin"/><Relationship Id="rId10" Type="http://schemas.openxmlformats.org/officeDocument/2006/relationships/image" Target="../media/image74.wmf"/><Relationship Id="rId1" Type="http://schemas.openxmlformats.org/officeDocument/2006/relationships/oleObject" Target="../embeddings/oleObject66.bin"/></Relationships>
</file>

<file path=ppt/slides/_rels/slide28.xml.rels><?xml version="1.0" encoding="UTF-8" standalone="yes"?>
<Relationships xmlns="http://schemas.openxmlformats.org/package/2006/relationships"><Relationship Id="rId9" Type="http://schemas.openxmlformats.org/officeDocument/2006/relationships/image" Target="../media/image80.wmf"/><Relationship Id="rId8" Type="http://schemas.openxmlformats.org/officeDocument/2006/relationships/oleObject" Target="../embeddings/oleObject78.bin"/><Relationship Id="rId7" Type="http://schemas.openxmlformats.org/officeDocument/2006/relationships/image" Target="../media/image79.wmf"/><Relationship Id="rId6" Type="http://schemas.openxmlformats.org/officeDocument/2006/relationships/oleObject" Target="../embeddings/oleObject77.bin"/><Relationship Id="rId5" Type="http://schemas.openxmlformats.org/officeDocument/2006/relationships/oleObject" Target="../embeddings/oleObject76.bin"/><Relationship Id="rId4" Type="http://schemas.openxmlformats.org/officeDocument/2006/relationships/image" Target="../media/image78.wmf"/><Relationship Id="rId3" Type="http://schemas.openxmlformats.org/officeDocument/2006/relationships/oleObject" Target="../embeddings/oleObject75.bin"/><Relationship Id="rId2" Type="http://schemas.openxmlformats.org/officeDocument/2006/relationships/image" Target="../media/image76.wmf"/><Relationship Id="rId11" Type="http://schemas.openxmlformats.org/officeDocument/2006/relationships/vmlDrawing" Target="../drawings/vmlDrawing22.vml"/><Relationship Id="rId10" Type="http://schemas.openxmlformats.org/officeDocument/2006/relationships/slideLayout" Target="../slideLayouts/slideLayout2.xml"/><Relationship Id="rId1" Type="http://schemas.openxmlformats.org/officeDocument/2006/relationships/oleObject" Target="../embeddings/oleObject74.bin"/></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3.wmf"/><Relationship Id="rId7" Type="http://schemas.openxmlformats.org/officeDocument/2006/relationships/oleObject" Target="../embeddings/oleObject82.bin"/><Relationship Id="rId6" Type="http://schemas.openxmlformats.org/officeDocument/2006/relationships/image" Target="../media/image82.wmf"/><Relationship Id="rId5" Type="http://schemas.openxmlformats.org/officeDocument/2006/relationships/oleObject" Target="../embeddings/oleObject81.bin"/><Relationship Id="rId4" Type="http://schemas.openxmlformats.org/officeDocument/2006/relationships/image" Target="../media/image76.wmf"/><Relationship Id="rId3" Type="http://schemas.openxmlformats.org/officeDocument/2006/relationships/oleObject" Target="../embeddings/oleObject80.bin"/><Relationship Id="rId2" Type="http://schemas.openxmlformats.org/officeDocument/2006/relationships/image" Target="../media/image81.wmf"/><Relationship Id="rId10" Type="http://schemas.openxmlformats.org/officeDocument/2006/relationships/vmlDrawing" Target="../drawings/vmlDrawing23.vml"/><Relationship Id="rId1" Type="http://schemas.openxmlformats.org/officeDocument/2006/relationships/oleObject" Target="../embeddings/oleObject79.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87.bin"/><Relationship Id="rId8" Type="http://schemas.openxmlformats.org/officeDocument/2006/relationships/image" Target="../media/image87.wmf"/><Relationship Id="rId7" Type="http://schemas.openxmlformats.org/officeDocument/2006/relationships/oleObject" Target="../embeddings/oleObject86.bin"/><Relationship Id="rId6" Type="http://schemas.openxmlformats.org/officeDocument/2006/relationships/image" Target="../media/image86.wmf"/><Relationship Id="rId5" Type="http://schemas.openxmlformats.org/officeDocument/2006/relationships/oleObject" Target="../embeddings/oleObject85.bin"/><Relationship Id="rId4" Type="http://schemas.openxmlformats.org/officeDocument/2006/relationships/image" Target="../media/image85.wmf"/><Relationship Id="rId3" Type="http://schemas.openxmlformats.org/officeDocument/2006/relationships/oleObject" Target="../embeddings/oleObject84.bin"/><Relationship Id="rId2" Type="http://schemas.openxmlformats.org/officeDocument/2006/relationships/image" Target="../media/image84.wmf"/><Relationship Id="rId12" Type="http://schemas.openxmlformats.org/officeDocument/2006/relationships/vmlDrawing" Target="../drawings/vmlDrawing24.vml"/><Relationship Id="rId11" Type="http://schemas.openxmlformats.org/officeDocument/2006/relationships/slideLayout" Target="../slideLayouts/slideLayout2.xml"/><Relationship Id="rId10" Type="http://schemas.openxmlformats.org/officeDocument/2006/relationships/image" Target="../media/image88.wmf"/><Relationship Id="rId1" Type="http://schemas.openxmlformats.org/officeDocument/2006/relationships/oleObject" Target="../embeddings/oleObject83.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92.bin"/><Relationship Id="rId8" Type="http://schemas.openxmlformats.org/officeDocument/2006/relationships/image" Target="../media/image92.wmf"/><Relationship Id="rId7" Type="http://schemas.openxmlformats.org/officeDocument/2006/relationships/oleObject" Target="../embeddings/oleObject91.bin"/><Relationship Id="rId6" Type="http://schemas.openxmlformats.org/officeDocument/2006/relationships/image" Target="../media/image91.wmf"/><Relationship Id="rId5" Type="http://schemas.openxmlformats.org/officeDocument/2006/relationships/oleObject" Target="../embeddings/oleObject90.bin"/><Relationship Id="rId4" Type="http://schemas.openxmlformats.org/officeDocument/2006/relationships/image" Target="../media/image90.wmf"/><Relationship Id="rId3" Type="http://schemas.openxmlformats.org/officeDocument/2006/relationships/oleObject" Target="../embeddings/oleObject89.bin"/><Relationship Id="rId2" Type="http://schemas.openxmlformats.org/officeDocument/2006/relationships/image" Target="../media/image89.wmf"/><Relationship Id="rId12" Type="http://schemas.openxmlformats.org/officeDocument/2006/relationships/vmlDrawing" Target="../drawings/vmlDrawing25.vml"/><Relationship Id="rId11" Type="http://schemas.openxmlformats.org/officeDocument/2006/relationships/slideLayout" Target="../slideLayouts/slideLayout2.xml"/><Relationship Id="rId10" Type="http://schemas.openxmlformats.org/officeDocument/2006/relationships/image" Target="../media/image93.wmf"/><Relationship Id="rId1" Type="http://schemas.openxmlformats.org/officeDocument/2006/relationships/oleObject" Target="../embeddings/oleObject88.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97.bin"/><Relationship Id="rId8" Type="http://schemas.openxmlformats.org/officeDocument/2006/relationships/image" Target="../media/image96.wmf"/><Relationship Id="rId7" Type="http://schemas.openxmlformats.org/officeDocument/2006/relationships/oleObject" Target="../embeddings/oleObject96.bin"/><Relationship Id="rId6" Type="http://schemas.openxmlformats.org/officeDocument/2006/relationships/image" Target="../media/image92.wmf"/><Relationship Id="rId5" Type="http://schemas.openxmlformats.org/officeDocument/2006/relationships/oleObject" Target="../embeddings/oleObject95.bin"/><Relationship Id="rId4" Type="http://schemas.openxmlformats.org/officeDocument/2006/relationships/image" Target="../media/image95.wmf"/><Relationship Id="rId3" Type="http://schemas.openxmlformats.org/officeDocument/2006/relationships/oleObject" Target="../embeddings/oleObject94.bin"/><Relationship Id="rId2" Type="http://schemas.openxmlformats.org/officeDocument/2006/relationships/image" Target="../media/image94.wmf"/><Relationship Id="rId14" Type="http://schemas.openxmlformats.org/officeDocument/2006/relationships/vmlDrawing" Target="../drawings/vmlDrawing26.vml"/><Relationship Id="rId13" Type="http://schemas.openxmlformats.org/officeDocument/2006/relationships/slideLayout" Target="../slideLayouts/slideLayout2.xml"/><Relationship Id="rId12" Type="http://schemas.openxmlformats.org/officeDocument/2006/relationships/image" Target="../media/image98.wmf"/><Relationship Id="rId11" Type="http://schemas.openxmlformats.org/officeDocument/2006/relationships/oleObject" Target="../embeddings/oleObject98.bin"/><Relationship Id="rId10" Type="http://schemas.openxmlformats.org/officeDocument/2006/relationships/image" Target="../media/image97.wmf"/><Relationship Id="rId1" Type="http://schemas.openxmlformats.org/officeDocument/2006/relationships/oleObject" Target="../embeddings/oleObject93.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103.bin"/><Relationship Id="rId8" Type="http://schemas.openxmlformats.org/officeDocument/2006/relationships/image" Target="../media/image102.wmf"/><Relationship Id="rId7" Type="http://schemas.openxmlformats.org/officeDocument/2006/relationships/oleObject" Target="../embeddings/oleObject102.bin"/><Relationship Id="rId6" Type="http://schemas.openxmlformats.org/officeDocument/2006/relationships/image" Target="../media/image101.wmf"/><Relationship Id="rId5" Type="http://schemas.openxmlformats.org/officeDocument/2006/relationships/oleObject" Target="../embeddings/oleObject101.bin"/><Relationship Id="rId4" Type="http://schemas.openxmlformats.org/officeDocument/2006/relationships/image" Target="../media/image100.wmf"/><Relationship Id="rId3" Type="http://schemas.openxmlformats.org/officeDocument/2006/relationships/oleObject" Target="../embeddings/oleObject100.bin"/><Relationship Id="rId2" Type="http://schemas.openxmlformats.org/officeDocument/2006/relationships/image" Target="../media/image99.wmf"/><Relationship Id="rId12" Type="http://schemas.openxmlformats.org/officeDocument/2006/relationships/vmlDrawing" Target="../drawings/vmlDrawing27.vml"/><Relationship Id="rId11" Type="http://schemas.openxmlformats.org/officeDocument/2006/relationships/slideLayout" Target="../slideLayouts/slideLayout2.xml"/><Relationship Id="rId10" Type="http://schemas.openxmlformats.org/officeDocument/2006/relationships/image" Target="../media/image103.wmf"/><Relationship Id="rId1" Type="http://schemas.openxmlformats.org/officeDocument/2006/relationships/oleObject" Target="../embeddings/oleObject99.bin"/></Relationships>
</file>

<file path=ppt/slides/_rels/slide34.xml.rels><?xml version="1.0" encoding="UTF-8" standalone="yes"?>
<Relationships xmlns="http://schemas.openxmlformats.org/package/2006/relationships"><Relationship Id="rId8" Type="http://schemas.openxmlformats.org/officeDocument/2006/relationships/vmlDrawing" Target="../drawings/vmlDrawing28.vml"/><Relationship Id="rId7" Type="http://schemas.openxmlformats.org/officeDocument/2006/relationships/slideLayout" Target="../slideLayouts/slideLayout2.xml"/><Relationship Id="rId6" Type="http://schemas.openxmlformats.org/officeDocument/2006/relationships/image" Target="../media/image106.wmf"/><Relationship Id="rId5" Type="http://schemas.openxmlformats.org/officeDocument/2006/relationships/oleObject" Target="../embeddings/oleObject106.bin"/><Relationship Id="rId4" Type="http://schemas.openxmlformats.org/officeDocument/2006/relationships/image" Target="../media/image105.wmf"/><Relationship Id="rId3" Type="http://schemas.openxmlformats.org/officeDocument/2006/relationships/oleObject" Target="../embeddings/oleObject105.bin"/><Relationship Id="rId2" Type="http://schemas.openxmlformats.org/officeDocument/2006/relationships/image" Target="../media/image104.wmf"/><Relationship Id="rId1" Type="http://schemas.openxmlformats.org/officeDocument/2006/relationships/oleObject" Target="../embeddings/oleObject104.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111.bin"/><Relationship Id="rId8" Type="http://schemas.openxmlformats.org/officeDocument/2006/relationships/image" Target="../media/image110.wmf"/><Relationship Id="rId7" Type="http://schemas.openxmlformats.org/officeDocument/2006/relationships/oleObject" Target="../embeddings/oleObject110.bin"/><Relationship Id="rId6" Type="http://schemas.openxmlformats.org/officeDocument/2006/relationships/image" Target="../media/image109.wmf"/><Relationship Id="rId5" Type="http://schemas.openxmlformats.org/officeDocument/2006/relationships/oleObject" Target="../embeddings/oleObject109.bin"/><Relationship Id="rId4" Type="http://schemas.openxmlformats.org/officeDocument/2006/relationships/image" Target="../media/image108.wmf"/><Relationship Id="rId3" Type="http://schemas.openxmlformats.org/officeDocument/2006/relationships/oleObject" Target="../embeddings/oleObject108.bin"/><Relationship Id="rId2" Type="http://schemas.openxmlformats.org/officeDocument/2006/relationships/image" Target="../media/image107.wmf"/><Relationship Id="rId17" Type="http://schemas.openxmlformats.org/officeDocument/2006/relationships/notesSlide" Target="../notesSlides/notesSlide9.xml"/><Relationship Id="rId16" Type="http://schemas.openxmlformats.org/officeDocument/2006/relationships/vmlDrawing" Target="../drawings/vmlDrawing29.vml"/><Relationship Id="rId15" Type="http://schemas.openxmlformats.org/officeDocument/2006/relationships/slideLayout" Target="../slideLayouts/slideLayout2.xml"/><Relationship Id="rId14" Type="http://schemas.openxmlformats.org/officeDocument/2006/relationships/image" Target="../media/image113.wmf"/><Relationship Id="rId13" Type="http://schemas.openxmlformats.org/officeDocument/2006/relationships/oleObject" Target="../embeddings/oleObject113.bin"/><Relationship Id="rId12" Type="http://schemas.openxmlformats.org/officeDocument/2006/relationships/image" Target="../media/image112.wmf"/><Relationship Id="rId11" Type="http://schemas.openxmlformats.org/officeDocument/2006/relationships/oleObject" Target="../embeddings/oleObject112.bin"/><Relationship Id="rId10" Type="http://schemas.openxmlformats.org/officeDocument/2006/relationships/image" Target="../media/image111.wmf"/><Relationship Id="rId1" Type="http://schemas.openxmlformats.org/officeDocument/2006/relationships/oleObject" Target="../embeddings/oleObject107.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118.bin"/><Relationship Id="rId8" Type="http://schemas.openxmlformats.org/officeDocument/2006/relationships/image" Target="../media/image117.wmf"/><Relationship Id="rId7" Type="http://schemas.openxmlformats.org/officeDocument/2006/relationships/oleObject" Target="../embeddings/oleObject117.bin"/><Relationship Id="rId6" Type="http://schemas.openxmlformats.org/officeDocument/2006/relationships/image" Target="../media/image116.wmf"/><Relationship Id="rId5" Type="http://schemas.openxmlformats.org/officeDocument/2006/relationships/oleObject" Target="../embeddings/oleObject116.bin"/><Relationship Id="rId4" Type="http://schemas.openxmlformats.org/officeDocument/2006/relationships/image" Target="../media/image115.wmf"/><Relationship Id="rId3" Type="http://schemas.openxmlformats.org/officeDocument/2006/relationships/oleObject" Target="../embeddings/oleObject115.bin"/><Relationship Id="rId2" Type="http://schemas.openxmlformats.org/officeDocument/2006/relationships/image" Target="../media/image114.wmf"/><Relationship Id="rId12" Type="http://schemas.openxmlformats.org/officeDocument/2006/relationships/vmlDrawing" Target="../drawings/vmlDrawing30.vml"/><Relationship Id="rId11" Type="http://schemas.openxmlformats.org/officeDocument/2006/relationships/slideLayout" Target="../slideLayouts/slideLayout2.xml"/><Relationship Id="rId10" Type="http://schemas.openxmlformats.org/officeDocument/2006/relationships/image" Target="../media/image98.wmf"/><Relationship Id="rId1" Type="http://schemas.openxmlformats.org/officeDocument/2006/relationships/oleObject" Target="../embeddings/oleObject114.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123.bin"/><Relationship Id="rId8" Type="http://schemas.openxmlformats.org/officeDocument/2006/relationships/image" Target="../media/image121.wmf"/><Relationship Id="rId7" Type="http://schemas.openxmlformats.org/officeDocument/2006/relationships/oleObject" Target="../embeddings/oleObject122.bin"/><Relationship Id="rId6" Type="http://schemas.openxmlformats.org/officeDocument/2006/relationships/image" Target="../media/image120.wmf"/><Relationship Id="rId5" Type="http://schemas.openxmlformats.org/officeDocument/2006/relationships/oleObject" Target="../embeddings/oleObject121.bin"/><Relationship Id="rId4" Type="http://schemas.openxmlformats.org/officeDocument/2006/relationships/image" Target="../media/image119.wmf"/><Relationship Id="rId3" Type="http://schemas.openxmlformats.org/officeDocument/2006/relationships/oleObject" Target="../embeddings/oleObject120.bin"/><Relationship Id="rId24" Type="http://schemas.openxmlformats.org/officeDocument/2006/relationships/notesSlide" Target="../notesSlides/notesSlide10.xml"/><Relationship Id="rId23" Type="http://schemas.openxmlformats.org/officeDocument/2006/relationships/vmlDrawing" Target="../drawings/vmlDrawing31.vml"/><Relationship Id="rId22" Type="http://schemas.openxmlformats.org/officeDocument/2006/relationships/slideLayout" Target="../slideLayouts/slideLayout2.xml"/><Relationship Id="rId21" Type="http://schemas.openxmlformats.org/officeDocument/2006/relationships/image" Target="../media/image127.wmf"/><Relationship Id="rId20" Type="http://schemas.openxmlformats.org/officeDocument/2006/relationships/oleObject" Target="../embeddings/oleObject129.bin"/><Relationship Id="rId2" Type="http://schemas.openxmlformats.org/officeDocument/2006/relationships/image" Target="../media/image118.wmf"/><Relationship Id="rId19" Type="http://schemas.openxmlformats.org/officeDocument/2006/relationships/image" Target="../media/image126.wmf"/><Relationship Id="rId18" Type="http://schemas.openxmlformats.org/officeDocument/2006/relationships/oleObject" Target="../embeddings/oleObject128.bin"/><Relationship Id="rId17" Type="http://schemas.openxmlformats.org/officeDocument/2006/relationships/image" Target="../media/image125.wmf"/><Relationship Id="rId16" Type="http://schemas.openxmlformats.org/officeDocument/2006/relationships/oleObject" Target="../embeddings/oleObject127.bin"/><Relationship Id="rId15" Type="http://schemas.openxmlformats.org/officeDocument/2006/relationships/oleObject" Target="../embeddings/oleObject126.bin"/><Relationship Id="rId14" Type="http://schemas.openxmlformats.org/officeDocument/2006/relationships/image" Target="../media/image124.wmf"/><Relationship Id="rId13" Type="http://schemas.openxmlformats.org/officeDocument/2006/relationships/oleObject" Target="../embeddings/oleObject125.bin"/><Relationship Id="rId12" Type="http://schemas.openxmlformats.org/officeDocument/2006/relationships/image" Target="../media/image123.wmf"/><Relationship Id="rId11" Type="http://schemas.openxmlformats.org/officeDocument/2006/relationships/oleObject" Target="../embeddings/oleObject124.bin"/><Relationship Id="rId10" Type="http://schemas.openxmlformats.org/officeDocument/2006/relationships/image" Target="../media/image122.wmf"/><Relationship Id="rId1" Type="http://schemas.openxmlformats.org/officeDocument/2006/relationships/oleObject" Target="../embeddings/oleObject119.bin"/></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2.wmf"/><Relationship Id="rId7" Type="http://schemas.openxmlformats.org/officeDocument/2006/relationships/oleObject" Target="../embeddings/oleObject133.bin"/><Relationship Id="rId6" Type="http://schemas.openxmlformats.org/officeDocument/2006/relationships/image" Target="../media/image130.wmf"/><Relationship Id="rId5" Type="http://schemas.openxmlformats.org/officeDocument/2006/relationships/oleObject" Target="../embeddings/oleObject132.bin"/><Relationship Id="rId4" Type="http://schemas.openxmlformats.org/officeDocument/2006/relationships/image" Target="../media/image129.wmf"/><Relationship Id="rId3" Type="http://schemas.openxmlformats.org/officeDocument/2006/relationships/oleObject" Target="../embeddings/oleObject131.bin"/><Relationship Id="rId2" Type="http://schemas.openxmlformats.org/officeDocument/2006/relationships/image" Target="../media/image128.wmf"/><Relationship Id="rId11" Type="http://schemas.openxmlformats.org/officeDocument/2006/relationships/notesSlide" Target="../notesSlides/notesSlide11.xml"/><Relationship Id="rId10" Type="http://schemas.openxmlformats.org/officeDocument/2006/relationships/vmlDrawing" Target="../drawings/vmlDrawing32.vml"/><Relationship Id="rId1" Type="http://schemas.openxmlformats.org/officeDocument/2006/relationships/oleObject" Target="../embeddings/oleObject130.bin"/></Relationships>
</file>

<file path=ppt/slides/_rels/slide39.xml.rels><?xml version="1.0" encoding="UTF-8" standalone="yes"?>
<Relationships xmlns="http://schemas.openxmlformats.org/package/2006/relationships"><Relationship Id="rId8" Type="http://schemas.openxmlformats.org/officeDocument/2006/relationships/vmlDrawing" Target="../drawings/vmlDrawing33.vml"/><Relationship Id="rId7" Type="http://schemas.openxmlformats.org/officeDocument/2006/relationships/slideLayout" Target="../slideLayouts/slideLayout2.xml"/><Relationship Id="rId6" Type="http://schemas.openxmlformats.org/officeDocument/2006/relationships/image" Target="../media/image133.wmf"/><Relationship Id="rId5" Type="http://schemas.openxmlformats.org/officeDocument/2006/relationships/oleObject" Target="../embeddings/oleObject136.bin"/><Relationship Id="rId4" Type="http://schemas.openxmlformats.org/officeDocument/2006/relationships/image" Target="../media/image132.wmf"/><Relationship Id="rId3" Type="http://schemas.openxmlformats.org/officeDocument/2006/relationships/oleObject" Target="../embeddings/oleObject135.bin"/><Relationship Id="rId2" Type="http://schemas.openxmlformats.org/officeDocument/2006/relationships/image" Target="../media/image131.wmf"/><Relationship Id="rId1" Type="http://schemas.openxmlformats.org/officeDocument/2006/relationships/oleObject" Target="../embeddings/oleObject134.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vmlDrawing" Target="../drawings/vmlDrawing34.vml"/><Relationship Id="rId7" Type="http://schemas.openxmlformats.org/officeDocument/2006/relationships/slideLayout" Target="../slideLayouts/slideLayout2.xml"/><Relationship Id="rId6" Type="http://schemas.openxmlformats.org/officeDocument/2006/relationships/image" Target="../media/image136.wmf"/><Relationship Id="rId5" Type="http://schemas.openxmlformats.org/officeDocument/2006/relationships/oleObject" Target="../embeddings/oleObject139.bin"/><Relationship Id="rId4" Type="http://schemas.openxmlformats.org/officeDocument/2006/relationships/image" Target="../media/image135.wmf"/><Relationship Id="rId3" Type="http://schemas.openxmlformats.org/officeDocument/2006/relationships/oleObject" Target="../embeddings/oleObject138.bin"/><Relationship Id="rId2" Type="http://schemas.openxmlformats.org/officeDocument/2006/relationships/image" Target="../media/image134.wmf"/><Relationship Id="rId1" Type="http://schemas.openxmlformats.org/officeDocument/2006/relationships/oleObject" Target="../embeddings/oleObject137.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vmlDrawing" Target="../drawings/vmlDrawing35.vml"/><Relationship Id="rId7" Type="http://schemas.openxmlformats.org/officeDocument/2006/relationships/slideLayout" Target="../slideLayouts/slideLayout2.xml"/><Relationship Id="rId6" Type="http://schemas.openxmlformats.org/officeDocument/2006/relationships/image" Target="../media/image139.wmf"/><Relationship Id="rId5" Type="http://schemas.openxmlformats.org/officeDocument/2006/relationships/oleObject" Target="../embeddings/oleObject142.bin"/><Relationship Id="rId4" Type="http://schemas.openxmlformats.org/officeDocument/2006/relationships/image" Target="../media/image138.wmf"/><Relationship Id="rId3" Type="http://schemas.openxmlformats.org/officeDocument/2006/relationships/oleObject" Target="../embeddings/oleObject141.bin"/><Relationship Id="rId2" Type="http://schemas.openxmlformats.org/officeDocument/2006/relationships/image" Target="../media/image137.wmf"/><Relationship Id="rId1" Type="http://schemas.openxmlformats.org/officeDocument/2006/relationships/oleObject" Target="../embeddings/oleObject140.bin"/></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36.vml"/><Relationship Id="rId5" Type="http://schemas.openxmlformats.org/officeDocument/2006/relationships/slideLayout" Target="../slideLayouts/slideLayout2.xml"/><Relationship Id="rId4" Type="http://schemas.openxmlformats.org/officeDocument/2006/relationships/image" Target="../media/image140.wmf"/><Relationship Id="rId3" Type="http://schemas.openxmlformats.org/officeDocument/2006/relationships/oleObject" Target="../embeddings/oleObject144.bin"/><Relationship Id="rId2" Type="http://schemas.openxmlformats.org/officeDocument/2006/relationships/image" Target="../media/image76.wmf"/><Relationship Id="rId1" Type="http://schemas.openxmlformats.org/officeDocument/2006/relationships/oleObject" Target="../embeddings/oleObject143.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2.xml"/><Relationship Id="rId2" Type="http://schemas.openxmlformats.org/officeDocument/2006/relationships/image" Target="../media/image141.wmf"/><Relationship Id="rId1" Type="http://schemas.openxmlformats.org/officeDocument/2006/relationships/oleObject" Target="../embeddings/oleObject145.bin"/></Relationships>
</file>

<file path=ppt/slides/_rels/slide46.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vmlDrawing" Target="../drawings/vmlDrawing38.vml"/><Relationship Id="rId7" Type="http://schemas.openxmlformats.org/officeDocument/2006/relationships/slideLayout" Target="../slideLayouts/slideLayout2.xml"/><Relationship Id="rId6" Type="http://schemas.openxmlformats.org/officeDocument/2006/relationships/image" Target="../media/image144.wmf"/><Relationship Id="rId5" Type="http://schemas.openxmlformats.org/officeDocument/2006/relationships/oleObject" Target="../embeddings/oleObject148.bin"/><Relationship Id="rId4" Type="http://schemas.openxmlformats.org/officeDocument/2006/relationships/image" Target="../media/image143.wmf"/><Relationship Id="rId3" Type="http://schemas.openxmlformats.org/officeDocument/2006/relationships/oleObject" Target="../embeddings/oleObject147.bin"/><Relationship Id="rId2" Type="http://schemas.openxmlformats.org/officeDocument/2006/relationships/image" Target="../media/image142.wmf"/><Relationship Id="rId1" Type="http://schemas.openxmlformats.org/officeDocument/2006/relationships/oleObject" Target="../embeddings/oleObject146.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4"/>
          <p:cNvSpPr>
            <a:spLocks noChangeArrowheads="1"/>
          </p:cNvSpPr>
          <p:nvPr/>
        </p:nvSpPr>
        <p:spPr bwMode="auto">
          <a:xfrm>
            <a:off x="395536" y="2060848"/>
            <a:ext cx="8460432" cy="1528624"/>
          </a:xfrm>
          <a:prstGeom prst="rect">
            <a:avLst/>
          </a:prstGeom>
          <a:no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ts val="5600"/>
              </a:lnSpc>
            </a:pPr>
            <a:r>
              <a:rPr lang="zh-CN" altLang="en-US" sz="4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最优化理论</a:t>
            </a:r>
            <a:endParaRPr lang="en-US" altLang="zh-CN" sz="4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a:p>
            <a:pPr algn="ctr">
              <a:lnSpc>
                <a:spcPts val="5600"/>
              </a:lnSpc>
            </a:pPr>
            <a:r>
              <a:rPr lang="zh-CN" altLang="en-US" sz="4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第三章：线性规划</a:t>
            </a:r>
            <a:endParaRPr lang="zh-CN" altLang="en-US" sz="4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5" name="Text Box 4"/>
          <p:cNvSpPr txBox="1">
            <a:spLocks noChangeArrowheads="1"/>
          </p:cNvSpPr>
          <p:nvPr/>
        </p:nvSpPr>
        <p:spPr bwMode="auto">
          <a:xfrm>
            <a:off x="0" y="4941888"/>
            <a:ext cx="9144000" cy="1077218"/>
          </a:xfrm>
          <a:prstGeom prst="rect">
            <a:avLst/>
          </a:prstGeom>
          <a:noFill/>
          <a:ln>
            <a:noFill/>
          </a:ln>
        </p:spPr>
        <p:txBody>
          <a:bodyPr>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r>
              <a:rPr kumimoji="0" lang="zh-CN" altLang="x-none" sz="3200" b="1" dirty="0">
                <a:latin typeface="华文楷体" panose="02010600040101010101" charset="-122"/>
                <a:ea typeface="华文楷体" panose="02010600040101010101" charset="-122"/>
                <a:cs typeface="华文楷体" panose="02010600040101010101" charset="-122"/>
              </a:rPr>
              <a:t>人工</a:t>
            </a:r>
            <a:r>
              <a:rPr kumimoji="0" lang="zh-CN" altLang="en-US" sz="3200" b="1" dirty="0">
                <a:latin typeface="华文楷体" panose="02010600040101010101" charset="-122"/>
                <a:ea typeface="华文楷体" panose="02010600040101010101" charset="-122"/>
                <a:cs typeface="华文楷体" panose="02010600040101010101" charset="-122"/>
              </a:rPr>
              <a:t>智能学院</a:t>
            </a:r>
            <a:endParaRPr kumimoji="0" lang="en-US" altLang="zh-CN" sz="3200" b="1" dirty="0">
              <a:latin typeface="华文楷体" panose="02010600040101010101" charset="-122"/>
              <a:ea typeface="华文楷体" panose="02010600040101010101" charset="-122"/>
              <a:cs typeface="华文楷体" panose="02010600040101010101" charset="-122"/>
            </a:endParaRPr>
          </a:p>
          <a:p>
            <a:pPr algn="ctr"/>
            <a:r>
              <a:rPr kumimoji="0" lang="zh-CN" altLang="x-none" sz="3200" b="1" dirty="0">
                <a:latin typeface="华文楷体" panose="02010600040101010101" charset="-122"/>
                <a:ea typeface="华文楷体" panose="02010600040101010101" charset="-122"/>
                <a:cs typeface="楷体_GB2312" charset="0"/>
              </a:rPr>
              <a:t>智能感知与图像理解</a:t>
            </a:r>
            <a:r>
              <a:rPr kumimoji="0" lang="zh-CN" altLang="en-US" sz="3200" b="1" dirty="0">
                <a:latin typeface="华文楷体" panose="02010600040101010101" charset="-122"/>
                <a:ea typeface="华文楷体" panose="02010600040101010101" charset="-122"/>
                <a:cs typeface="楷体_GB2312" charset="0"/>
              </a:rPr>
              <a:t>实验室</a:t>
            </a:r>
            <a:endParaRPr lang="zh-CN" altLang="en-US" sz="3200" dirty="0">
              <a:latin typeface="楷体_GB2312" charset="0"/>
              <a:ea typeface="楷体_GB2312" charset="0"/>
              <a:cs typeface="楷体_GB2312"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Times New Roman" panose="02020603050405020304" pitchFamily="18" charset="0"/>
                <a:cs typeface="Times New Roman" panose="02020603050405020304" pitchFamily="18" charset="0"/>
              </a:rPr>
              <a:t>第六节 单纯形法和对偶问题</a:t>
            </a:r>
            <a:endParaRPr lang="zh-CN" altLang="en-US" sz="3600" dirty="0">
              <a:latin typeface="Times New Roman" panose="02020603050405020304" pitchFamily="18" charset="0"/>
              <a:cs typeface="Times New Roman" panose="02020603050405020304" pitchFamily="18" charset="0"/>
            </a:endParaRPr>
          </a:p>
        </p:txBody>
      </p:sp>
      <p:cxnSp>
        <p:nvCxnSpPr>
          <p:cNvPr id="101" name="直接连接符 13"/>
          <p:cNvCxnSpPr>
            <a:cxnSpLocks noChangeShapeType="1"/>
          </p:cNvCxnSpPr>
          <p:nvPr/>
        </p:nvCxnSpPr>
        <p:spPr bwMode="auto">
          <a:xfrm>
            <a:off x="2674912" y="785794"/>
            <a:ext cx="0" cy="5157787"/>
          </a:xfrm>
          <a:prstGeom prst="line">
            <a:avLst/>
          </a:prstGeom>
          <a:noFill/>
          <a:ln w="6350" cmpd="sng">
            <a:solidFill>
              <a:schemeClr val="accent1"/>
            </a:solidFill>
            <a:round/>
          </a:ln>
        </p:spPr>
      </p:cxnSp>
      <p:grpSp>
        <p:nvGrpSpPr>
          <p:cNvPr id="3" name="组 2"/>
          <p:cNvGrpSpPr/>
          <p:nvPr/>
        </p:nvGrpSpPr>
        <p:grpSpPr>
          <a:xfrm>
            <a:off x="1643042" y="1849955"/>
            <a:ext cx="6169292" cy="642941"/>
            <a:chOff x="1643042" y="1268760"/>
            <a:chExt cx="6169292" cy="642941"/>
          </a:xfrm>
        </p:grpSpPr>
        <p:sp>
          <p:nvSpPr>
            <p:cNvPr id="102" name="椭圆 14"/>
            <p:cNvSpPr>
              <a:spLocks noChangeArrowheads="1"/>
            </p:cNvSpPr>
            <p:nvPr/>
          </p:nvSpPr>
          <p:spPr bwMode="auto">
            <a:xfrm>
              <a:off x="2606650" y="1497362"/>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4" name="组合 5"/>
            <p:cNvGrpSpPr/>
            <p:nvPr/>
          </p:nvGrpSpPr>
          <p:grpSpPr bwMode="auto">
            <a:xfrm>
              <a:off x="1643042" y="1268760"/>
              <a:ext cx="714380" cy="642941"/>
              <a:chOff x="0" y="0"/>
              <a:chExt cx="1275488" cy="1275488"/>
            </a:xfrm>
            <a:solidFill>
              <a:srgbClr val="004182"/>
            </a:solidFill>
          </p:grpSpPr>
          <p:sp>
            <p:nvSpPr>
              <p:cNvPr id="106"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07" name="文本框 17"/>
              <p:cNvSpPr txBox="1">
                <a:spLocks noChangeArrowheads="1"/>
              </p:cNvSpPr>
              <p:nvPr/>
            </p:nvSpPr>
            <p:spPr bwMode="auto">
              <a:xfrm>
                <a:off x="399726" y="231905"/>
                <a:ext cx="875762" cy="749344"/>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14" name="矩形 20"/>
            <p:cNvSpPr>
              <a:spLocks noChangeArrowheads="1"/>
            </p:cNvSpPr>
            <p:nvPr/>
          </p:nvSpPr>
          <p:spPr bwMode="auto">
            <a:xfrm>
              <a:off x="3062261" y="1321150"/>
              <a:ext cx="4750073" cy="526172"/>
            </a:xfrm>
            <a:prstGeom prst="rect">
              <a:avLst/>
            </a:prstGeom>
            <a:solidFill>
              <a:srgbClr val="004182"/>
            </a:solidFill>
            <a:ln w="9525">
              <a:noFill/>
              <a:miter lim="800000"/>
            </a:ln>
          </p:spPr>
          <p:txBody>
            <a:bodyPr anchor="ctr"/>
            <a:lstStyle/>
            <a:p>
              <a:pPr algn="ctr"/>
              <a:r>
                <a:rPr lang="zh-CN" altLang="x-none"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单纯形法</a:t>
              </a:r>
              <a:r>
                <a:rPr lang="zh-CN" altLang="en-US"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一般原理</a:t>
              </a:r>
              <a:endParaRPr lang="en-US" altLang="zh-CN"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5" name="组 3"/>
          <p:cNvGrpSpPr/>
          <p:nvPr/>
        </p:nvGrpSpPr>
        <p:grpSpPr>
          <a:xfrm>
            <a:off x="1643042" y="3938187"/>
            <a:ext cx="6169300" cy="642941"/>
            <a:chOff x="1643042" y="2439698"/>
            <a:chExt cx="6169300" cy="642941"/>
          </a:xfrm>
        </p:grpSpPr>
        <p:sp>
          <p:nvSpPr>
            <p:cNvPr id="120"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6" name="组合 5"/>
            <p:cNvGrpSpPr/>
            <p:nvPr/>
          </p:nvGrpSpPr>
          <p:grpSpPr bwMode="auto">
            <a:xfrm>
              <a:off x="1643042" y="2439698"/>
              <a:ext cx="714380" cy="642941"/>
              <a:chOff x="0" y="0"/>
              <a:chExt cx="1275488" cy="1275488"/>
            </a:xfrm>
            <a:solidFill>
              <a:srgbClr val="004182"/>
            </a:solidFill>
          </p:grpSpPr>
          <p:sp>
            <p:nvSpPr>
              <p:cNvPr id="12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2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24" name="矩形 20"/>
            <p:cNvSpPr>
              <a:spLocks noChangeArrowheads="1"/>
            </p:cNvSpPr>
            <p:nvPr/>
          </p:nvSpPr>
          <p:spPr bwMode="auto">
            <a:xfrm>
              <a:off x="3062261" y="2492088"/>
              <a:ext cx="4750081" cy="526172"/>
            </a:xfrm>
            <a:prstGeom prst="rect">
              <a:avLst/>
            </a:prstGeom>
            <a:solidFill>
              <a:srgbClr val="004182"/>
            </a:solidFill>
            <a:ln w="9525">
              <a:noFill/>
              <a:miter lim="800000"/>
            </a:ln>
          </p:spPr>
          <p:txBody>
            <a:bodyPr anchor="ctr"/>
            <a:lstStyle/>
            <a:p>
              <a:pPr algn="ctr"/>
              <a:r>
                <a:rPr lang="zh-CN" altLang="en-US"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表格</a:t>
              </a:r>
              <a:r>
                <a:rPr lang="zh-CN" altLang="x-none"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单纯形法</a:t>
              </a:r>
              <a:endParaRPr lang="en-US" altLang="zh-CN"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0" name="灯片编号占位符 4"/>
          <p:cNvSpPr txBox="1"/>
          <p:nvPr/>
        </p:nvSpPr>
        <p:spPr bwMode="auto">
          <a:xfrm>
            <a:off x="7010400" y="6492876"/>
            <a:ext cx="2133600" cy="365125"/>
          </a:xfrm>
          <a:prstGeom prst="rect">
            <a:avLst/>
          </a:prstGeom>
          <a:noFill/>
          <a:ln>
            <a:noFill/>
          </a:ln>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9pPr>
          </a:lstStyle>
          <a:p>
            <a:pPr algn="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Y.Gu</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rPr>
              <a:t>17</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rPr>
              <a:t>02</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/20</a:t>
            </a:r>
            <a:r>
              <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rPr>
              <a:t>20</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Times New Roman" panose="02020603050405020304" pitchFamily="18" charset="0"/>
                <a:cs typeface="Times New Roman" panose="02020603050405020304" pitchFamily="18" charset="0"/>
              </a:rPr>
              <a:t>第六节 单纯形法和对偶问题</a:t>
            </a:r>
            <a:endParaRPr lang="zh-CN" altLang="en-US" sz="3600" dirty="0">
              <a:latin typeface="Times New Roman" panose="02020603050405020304" pitchFamily="18" charset="0"/>
              <a:cs typeface="Times New Roman" panose="02020603050405020304" pitchFamily="18" charset="0"/>
            </a:endParaRPr>
          </a:p>
        </p:txBody>
      </p:sp>
      <p:cxnSp>
        <p:nvCxnSpPr>
          <p:cNvPr id="101" name="直接连接符 13"/>
          <p:cNvCxnSpPr>
            <a:cxnSpLocks noChangeShapeType="1"/>
          </p:cNvCxnSpPr>
          <p:nvPr/>
        </p:nvCxnSpPr>
        <p:spPr bwMode="auto">
          <a:xfrm>
            <a:off x="2674912" y="785794"/>
            <a:ext cx="0" cy="5157787"/>
          </a:xfrm>
          <a:prstGeom prst="line">
            <a:avLst/>
          </a:prstGeom>
          <a:noFill/>
          <a:ln w="6350" cmpd="sng">
            <a:solidFill>
              <a:schemeClr val="accent1"/>
            </a:solidFill>
            <a:round/>
          </a:ln>
        </p:spPr>
      </p:cxnSp>
      <p:grpSp>
        <p:nvGrpSpPr>
          <p:cNvPr id="3" name="组 2"/>
          <p:cNvGrpSpPr/>
          <p:nvPr/>
        </p:nvGrpSpPr>
        <p:grpSpPr>
          <a:xfrm>
            <a:off x="1643042" y="1849955"/>
            <a:ext cx="6169292" cy="642941"/>
            <a:chOff x="1643042" y="1268760"/>
            <a:chExt cx="6169292" cy="642941"/>
          </a:xfrm>
        </p:grpSpPr>
        <p:sp>
          <p:nvSpPr>
            <p:cNvPr id="102" name="椭圆 14"/>
            <p:cNvSpPr>
              <a:spLocks noChangeArrowheads="1"/>
            </p:cNvSpPr>
            <p:nvPr/>
          </p:nvSpPr>
          <p:spPr bwMode="auto">
            <a:xfrm>
              <a:off x="2606650" y="1497362"/>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4" name="组合 5"/>
            <p:cNvGrpSpPr/>
            <p:nvPr/>
          </p:nvGrpSpPr>
          <p:grpSpPr bwMode="auto">
            <a:xfrm>
              <a:off x="1643042" y="1268760"/>
              <a:ext cx="714380" cy="642941"/>
              <a:chOff x="0" y="0"/>
              <a:chExt cx="1275488" cy="1275488"/>
            </a:xfrm>
            <a:solidFill>
              <a:srgbClr val="004182"/>
            </a:solidFill>
          </p:grpSpPr>
          <p:sp>
            <p:nvSpPr>
              <p:cNvPr id="106"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07" name="文本框 17"/>
              <p:cNvSpPr txBox="1">
                <a:spLocks noChangeArrowheads="1"/>
              </p:cNvSpPr>
              <p:nvPr/>
            </p:nvSpPr>
            <p:spPr bwMode="auto">
              <a:xfrm>
                <a:off x="399726" y="231905"/>
                <a:ext cx="875762" cy="749344"/>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14" name="矩形 20"/>
            <p:cNvSpPr>
              <a:spLocks noChangeArrowheads="1"/>
            </p:cNvSpPr>
            <p:nvPr/>
          </p:nvSpPr>
          <p:spPr bwMode="auto">
            <a:xfrm>
              <a:off x="3062261" y="1321150"/>
              <a:ext cx="4750073" cy="526172"/>
            </a:xfrm>
            <a:prstGeom prst="rect">
              <a:avLst/>
            </a:prstGeom>
            <a:solidFill>
              <a:srgbClr val="004182"/>
            </a:solidFill>
            <a:ln w="9525">
              <a:noFill/>
              <a:miter lim="800000"/>
            </a:ln>
          </p:spPr>
          <p:txBody>
            <a:bodyPr anchor="ctr"/>
            <a:lstStyle/>
            <a:p>
              <a:pPr algn="ctr"/>
              <a:r>
                <a:rPr lang="zh-CN" altLang="x-none"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单纯形法</a:t>
              </a:r>
              <a:r>
                <a:rPr lang="zh-CN" altLang="en-US"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一般原理</a:t>
              </a:r>
              <a:endParaRPr lang="en-US" altLang="zh-CN"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5" name="组 3"/>
          <p:cNvGrpSpPr/>
          <p:nvPr/>
        </p:nvGrpSpPr>
        <p:grpSpPr>
          <a:xfrm>
            <a:off x="1643042" y="3938187"/>
            <a:ext cx="6169300" cy="642941"/>
            <a:chOff x="1643042" y="2439698"/>
            <a:chExt cx="6169300" cy="642941"/>
          </a:xfrm>
        </p:grpSpPr>
        <p:sp>
          <p:nvSpPr>
            <p:cNvPr id="120"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6" name="组合 5"/>
            <p:cNvGrpSpPr/>
            <p:nvPr/>
          </p:nvGrpSpPr>
          <p:grpSpPr bwMode="auto">
            <a:xfrm>
              <a:off x="1643042" y="2439698"/>
              <a:ext cx="714380" cy="642941"/>
              <a:chOff x="0" y="0"/>
              <a:chExt cx="1275488" cy="1275488"/>
            </a:xfrm>
            <a:solidFill>
              <a:srgbClr val="004182"/>
            </a:solidFill>
          </p:grpSpPr>
          <p:sp>
            <p:nvSpPr>
              <p:cNvPr id="12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2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24" name="矩形 20"/>
            <p:cNvSpPr>
              <a:spLocks noChangeArrowheads="1"/>
            </p:cNvSpPr>
            <p:nvPr/>
          </p:nvSpPr>
          <p:spPr bwMode="auto">
            <a:xfrm>
              <a:off x="3062261" y="2492088"/>
              <a:ext cx="4750081" cy="526172"/>
            </a:xfrm>
            <a:prstGeom prst="rect">
              <a:avLst/>
            </a:prstGeom>
            <a:solidFill>
              <a:srgbClr val="004182"/>
            </a:solidFill>
            <a:ln w="9525">
              <a:noFill/>
              <a:miter lim="800000"/>
            </a:ln>
          </p:spPr>
          <p:txBody>
            <a:bodyPr anchor="ctr"/>
            <a:lstStyle/>
            <a:p>
              <a:pPr algn="ctr"/>
              <a:r>
                <a:rPr lang="zh-CN" altLang="en-US" sz="2400" b="1" dirty="0">
                  <a:solidFill>
                    <a:srgbClr val="005AA5"/>
                  </a:solidFill>
                  <a:latin typeface="Times New Roman" panose="02020603050405020304" pitchFamily="18" charset="0"/>
                  <a:ea typeface="微软雅黑" panose="020B0503020204020204" pitchFamily="34" charset="-122"/>
                  <a:cs typeface="Times New Roman" panose="02020603050405020304" pitchFamily="18" charset="0"/>
                </a:rPr>
                <a:t>表格</a:t>
              </a:r>
              <a:r>
                <a:rPr lang="zh-CN" altLang="x-none" sz="2400" b="1" dirty="0">
                  <a:solidFill>
                    <a:srgbClr val="005AA5"/>
                  </a:solidFill>
                  <a:latin typeface="Times New Roman" panose="02020603050405020304" pitchFamily="18" charset="0"/>
                  <a:ea typeface="微软雅黑" panose="020B0503020204020204" pitchFamily="34" charset="-122"/>
                  <a:cs typeface="Times New Roman" panose="02020603050405020304" pitchFamily="18" charset="0"/>
                </a:rPr>
                <a:t>单纯形法</a:t>
              </a:r>
              <a:endParaRPr lang="en-US" altLang="zh-CN" sz="2400" b="1" dirty="0">
                <a:solidFill>
                  <a:srgbClr val="005AA5"/>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0" name="灯片编号占位符 4"/>
          <p:cNvSpPr txBox="1"/>
          <p:nvPr/>
        </p:nvSpPr>
        <p:spPr bwMode="auto">
          <a:xfrm>
            <a:off x="7010400" y="6492876"/>
            <a:ext cx="2133600" cy="365125"/>
          </a:xfrm>
          <a:prstGeom prst="rect">
            <a:avLst/>
          </a:prstGeom>
          <a:noFill/>
          <a:ln>
            <a:noFill/>
          </a:ln>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9pPr>
          </a:lstStyle>
          <a:p>
            <a:pPr algn="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Y.Gu</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rPr>
              <a:t>17</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rPr>
              <a:t>02</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/20</a:t>
            </a:r>
            <a:r>
              <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rPr>
              <a:t>20</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685800" y="2409995"/>
            <a:ext cx="184731" cy="369332"/>
          </a:xfrm>
          <a:prstGeom prst="rect">
            <a:avLst/>
          </a:prstGeom>
          <a:noFill/>
        </p:spPr>
        <p:txBody>
          <a:bodyPr wrap="none" rtlCol="0">
            <a:spAutoFit/>
          </a:bodyPr>
          <a:lstStyle/>
          <a:p>
            <a:endParaRPr lang="x-none"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28926" y="142852"/>
            <a:ext cx="6215073" cy="549844"/>
          </a:xfrm>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11" name="Text Box 2"/>
          <p:cNvSpPr txBox="1">
            <a:spLocks noChangeArrowheads="1"/>
          </p:cNvSpPr>
          <p:nvPr/>
        </p:nvSpPr>
        <p:spPr bwMode="auto">
          <a:xfrm>
            <a:off x="928662" y="3000372"/>
            <a:ext cx="7715250" cy="2124075"/>
          </a:xfrm>
          <a:prstGeom prst="rect">
            <a:avLst/>
          </a:prstGeom>
          <a:noFill/>
          <a:ln w="9525">
            <a:noFill/>
            <a:miter lim="800000"/>
          </a:ln>
        </p:spPr>
        <p:txBody>
          <a:bodyPr>
            <a:spAutoFit/>
          </a:bodyPr>
          <a:lstStyle/>
          <a:p>
            <a:pPr>
              <a:lnSpc>
                <a:spcPct val="110000"/>
              </a:lnSpc>
            </a:pPr>
            <a:r>
              <a:rPr lang="en-US" altLang="zh-CN" sz="2000" dirty="0">
                <a:latin typeface="Times New Roman" panose="02020603050405020304" pitchFamily="18" charset="0"/>
              </a:rPr>
              <a:t>        </a:t>
            </a:r>
            <a:r>
              <a:rPr lang="zh-CN" altLang="en-US" sz="2000" dirty="0">
                <a:latin typeface="仿宋_GB2312" pitchFamily="49" charset="-122"/>
                <a:ea typeface="仿宋_GB2312" pitchFamily="49" charset="-122"/>
              </a:rPr>
              <a:t>旦茨基教授在一次演说中，形象而风趣地说明了单纯形解法的奇效：设给</a:t>
            </a:r>
            <a:r>
              <a:rPr lang="en-US" altLang="zh-CN" sz="2000" dirty="0">
                <a:latin typeface="仿宋_GB2312" pitchFamily="49" charset="-122"/>
                <a:ea typeface="仿宋_GB2312" pitchFamily="49" charset="-122"/>
              </a:rPr>
              <a:t>70</a:t>
            </a:r>
            <a:r>
              <a:rPr lang="zh-CN" altLang="en-US" sz="2000" dirty="0">
                <a:latin typeface="仿宋_GB2312" pitchFamily="49" charset="-122"/>
                <a:ea typeface="仿宋_GB2312" pitchFamily="49" charset="-122"/>
              </a:rPr>
              <a:t>个人分配</a:t>
            </a:r>
            <a:r>
              <a:rPr lang="en-US" altLang="zh-CN" sz="2000" dirty="0">
                <a:latin typeface="仿宋_GB2312" pitchFamily="49" charset="-122"/>
                <a:ea typeface="仿宋_GB2312" pitchFamily="49" charset="-122"/>
              </a:rPr>
              <a:t>70</a:t>
            </a:r>
            <a:r>
              <a:rPr lang="zh-CN" altLang="en-US" sz="2000" dirty="0">
                <a:latin typeface="仿宋_GB2312" pitchFamily="49" charset="-122"/>
                <a:ea typeface="仿宋_GB2312" pitchFamily="49" charset="-122"/>
              </a:rPr>
              <a:t>项任务，每人一项。如果每人完成各项任务所需要付出的代价（时间、工资）都知道，要寻求代价最小的方案。所有的可行方案共有</a:t>
            </a:r>
            <a:r>
              <a:rPr lang="en-US" altLang="zh-CN" sz="2000" dirty="0">
                <a:latin typeface="仿宋_GB2312" pitchFamily="49" charset="-122"/>
                <a:ea typeface="仿宋_GB2312" pitchFamily="49" charset="-122"/>
              </a:rPr>
              <a:t>70</a:t>
            </a:r>
            <a:r>
              <a:rPr lang="zh-CN" altLang="en-US" sz="2000" dirty="0">
                <a:latin typeface="仿宋_GB2312" pitchFamily="49" charset="-122"/>
                <a:ea typeface="仿宋_GB2312" pitchFamily="49" charset="-122"/>
              </a:rPr>
              <a:t>！种。</a:t>
            </a:r>
            <a:r>
              <a:rPr lang="en-US" altLang="zh-CN" sz="2000" dirty="0">
                <a:latin typeface="仿宋_GB2312" pitchFamily="49" charset="-122"/>
                <a:ea typeface="仿宋_GB2312" pitchFamily="49" charset="-122"/>
              </a:rPr>
              <a:t>70</a:t>
            </a:r>
            <a:r>
              <a:rPr lang="zh-CN" altLang="en-US" sz="2000" dirty="0">
                <a:latin typeface="仿宋_GB2312" pitchFamily="49" charset="-122"/>
                <a:ea typeface="仿宋_GB2312" pitchFamily="49" charset="-122"/>
              </a:rPr>
              <a:t>！比     还要大。</a:t>
            </a:r>
            <a:endParaRPr lang="zh-CN" altLang="en-US" sz="2000" dirty="0"/>
          </a:p>
          <a:p>
            <a:pPr>
              <a:lnSpc>
                <a:spcPct val="110000"/>
              </a:lnSpc>
            </a:pPr>
            <a:r>
              <a:rPr lang="zh-CN" altLang="en-US" sz="2000" dirty="0"/>
              <a:t>       </a:t>
            </a:r>
            <a:r>
              <a:rPr lang="zh-CN" altLang="en-US" sz="2000" dirty="0">
                <a:latin typeface="仿宋_GB2312" pitchFamily="49" charset="-122"/>
                <a:ea typeface="仿宋_GB2312" pitchFamily="49" charset="-122"/>
              </a:rPr>
              <a:t>不仅如此，还能预测当方案中某因素发生变化，对决策目标的影响。</a:t>
            </a:r>
            <a:endParaRPr lang="zh-CN" altLang="en-US" sz="2000" dirty="0">
              <a:latin typeface="仿宋_GB2312" pitchFamily="49" charset="-122"/>
              <a:ea typeface="仿宋_GB2312" pitchFamily="49" charset="-122"/>
            </a:endParaRPr>
          </a:p>
        </p:txBody>
      </p:sp>
      <p:sp>
        <p:nvSpPr>
          <p:cNvPr id="12" name="WordArt 7"/>
          <p:cNvSpPr>
            <a:spLocks noChangeArrowheads="1" noChangeShapeType="1" noTextEdit="1"/>
          </p:cNvSpPr>
          <p:nvPr/>
        </p:nvSpPr>
        <p:spPr bwMode="auto">
          <a:xfrm>
            <a:off x="2285984" y="1928802"/>
            <a:ext cx="4321175" cy="457200"/>
          </a:xfrm>
          <a:prstGeom prst="rect">
            <a:avLst/>
          </a:prstGeom>
        </p:spPr>
        <p:txBody>
          <a:bodyPr wrap="none" fromWordArt="1">
            <a:prstTxWarp prst="textPlain">
              <a:avLst>
                <a:gd name="adj" fmla="val 50000"/>
              </a:avLst>
            </a:prstTxWarp>
          </a:bodyPr>
          <a:lstStyle/>
          <a:p>
            <a:r>
              <a:rPr lang="zh-CN" altLang="en-US" sz="3600" kern="10" dirty="0">
                <a:ln w="19050">
                  <a:solidFill>
                    <a:srgbClr val="99CCFF"/>
                  </a:solidFill>
                  <a:miter lim="800000"/>
                </a:ln>
                <a:solidFill>
                  <a:schemeClr val="tx2"/>
                </a:solidFill>
                <a:effectLst>
                  <a:outerShdw dist="35921" dir="2700000" algn="ctr" rotWithShape="0">
                    <a:srgbClr val="990000"/>
                  </a:outerShdw>
                </a:effectLst>
                <a:latin typeface="隶书" panose="02010509060101010101" charset="-122"/>
                <a:ea typeface="隶书" panose="02010509060101010101" charset="-122"/>
              </a:rPr>
              <a:t>神奇的单纯形法</a:t>
            </a:r>
            <a:endParaRPr lang="zh-CN" altLang="en-US" sz="3600" kern="10" dirty="0">
              <a:ln w="19050">
                <a:solidFill>
                  <a:srgbClr val="99CCFF"/>
                </a:solidFill>
                <a:miter lim="800000"/>
              </a:ln>
              <a:solidFill>
                <a:schemeClr val="tx2"/>
              </a:solidFill>
              <a:effectLst>
                <a:outerShdw dist="35921" dir="2700000" algn="ctr" rotWithShape="0">
                  <a:srgbClr val="990000"/>
                </a:outerShdw>
              </a:effectLst>
              <a:latin typeface="隶书" panose="02010509060101010101" charset="-122"/>
              <a:ea typeface="隶书" panose="02010509060101010101" charset="-122"/>
            </a:endParaRPr>
          </a:p>
        </p:txBody>
      </p:sp>
      <p:graphicFrame>
        <p:nvGraphicFramePr>
          <p:cNvPr id="13" name="Object 10"/>
          <p:cNvGraphicFramePr/>
          <p:nvPr/>
        </p:nvGraphicFramePr>
        <p:xfrm>
          <a:off x="5715008" y="4071942"/>
          <a:ext cx="428628" cy="214314"/>
        </p:xfrm>
        <a:graphic>
          <a:graphicData uri="http://schemas.openxmlformats.org/presentationml/2006/ole">
            <mc:AlternateContent xmlns:mc="http://schemas.openxmlformats.org/markup-compatibility/2006">
              <mc:Choice xmlns:v="urn:schemas-microsoft-com:vml" Requires="v">
                <p:oleObj spid="_x0000_s1025" name="" r:id="rId1" imgW="7620000" imgH="4876800" progId="Equation.3">
                  <p:embed/>
                </p:oleObj>
              </mc:Choice>
              <mc:Fallback>
                <p:oleObj name="" r:id="rId1" imgW="7620000" imgH="4876800" progId="Equation.3">
                  <p:embed/>
                  <p:pic>
                    <p:nvPicPr>
                      <p:cNvPr id="0" name="图片 1024"/>
                      <p:cNvPicPr/>
                      <p:nvPr/>
                    </p:nvPicPr>
                    <p:blipFill>
                      <a:blip r:embed="rId2"/>
                      <a:stretch>
                        <a:fillRect/>
                      </a:stretch>
                    </p:blipFill>
                    <p:spPr>
                      <a:xfrm>
                        <a:off x="5715008" y="4071942"/>
                        <a:ext cx="428628" cy="214314"/>
                      </a:xfrm>
                      <a:prstGeom prst="rect">
                        <a:avLst/>
                      </a:prstGeom>
                      <a:noFill/>
                      <a:ln w="38100">
                        <a:noFill/>
                      </a:ln>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zh-CN" altLang="en-US"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a:xfrm>
            <a:off x="355600" y="1300783"/>
            <a:ext cx="4512958" cy="3640385"/>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000" dirty="0">
                <a:ea typeface="仿宋_GB2312" pitchFamily="49" charset="-122"/>
              </a:rPr>
              <a:t>        </a:t>
            </a:r>
            <a:r>
              <a:rPr lang="zh-CN" altLang="en-US" sz="2200" dirty="0">
                <a:ea typeface="仿宋_GB2312" pitchFamily="49" charset="-122"/>
              </a:rPr>
              <a:t>线性规划问题的可行解有无穷多个，与某一凸集上的无穷多个点一一对应。要从无穷多个可行解中寻找最优解，几乎不可能。 可以证明，最优解必定能取在凸集的顶点（极点、基本可行解）上，而极点的个数是有限的。当然，这个</a:t>
            </a:r>
            <a:r>
              <a:rPr lang="zh-CN" altLang="en-US" sz="2200" dirty="0">
                <a:latin typeface="Times New Roman" panose="02020603050405020304" pitchFamily="18" charset="0"/>
                <a:ea typeface="仿宋_GB2312" pitchFamily="49" charset="-122"/>
              </a:rPr>
              <a:t>“</a:t>
            </a:r>
            <a:r>
              <a:rPr lang="zh-CN" altLang="en-US" sz="2200" dirty="0">
                <a:ea typeface="仿宋_GB2312" pitchFamily="49" charset="-122"/>
              </a:rPr>
              <a:t>有限</a:t>
            </a:r>
            <a:r>
              <a:rPr lang="zh-CN" altLang="en-US" sz="2200" dirty="0">
                <a:latin typeface="Times New Roman" panose="02020603050405020304" pitchFamily="18" charset="0"/>
                <a:ea typeface="仿宋_GB2312" pitchFamily="49" charset="-122"/>
              </a:rPr>
              <a:t>”</a:t>
            </a:r>
            <a:r>
              <a:rPr lang="zh-CN" altLang="en-US" sz="2200" dirty="0">
                <a:ea typeface="仿宋_GB2312" pitchFamily="49" charset="-122"/>
              </a:rPr>
              <a:t>，数字往往相当可观，如前面的</a:t>
            </a:r>
            <a:r>
              <a:rPr lang="en-US" altLang="zh-CN" sz="2200" dirty="0">
                <a:ea typeface="仿宋_GB2312" pitchFamily="49" charset="-122"/>
              </a:rPr>
              <a:t>70</a:t>
            </a:r>
            <a:r>
              <a:rPr lang="zh-CN" altLang="en-US" sz="2200" dirty="0">
                <a:ea typeface="仿宋_GB2312" pitchFamily="49" charset="-122"/>
              </a:rPr>
              <a:t>！，要逐个比较的话，也不现实。而单纯形解法，用跨跃的方式，高速地优化基本可行解，迅速达到最优。</a:t>
            </a:r>
            <a:endParaRPr lang="zh-CN" altLang="en-US" sz="2200" dirty="0">
              <a:ea typeface="仿宋_GB2312" pitchFamily="49" charset="-122"/>
            </a:endParaRPr>
          </a:p>
        </p:txBody>
      </p:sp>
      <p:grpSp>
        <p:nvGrpSpPr>
          <p:cNvPr id="8" name="Group 6"/>
          <p:cNvGrpSpPr/>
          <p:nvPr/>
        </p:nvGrpSpPr>
        <p:grpSpPr bwMode="auto">
          <a:xfrm>
            <a:off x="233060" y="5660231"/>
            <a:ext cx="8299450" cy="407988"/>
            <a:chOff x="340" y="3702"/>
            <a:chExt cx="5228" cy="257"/>
          </a:xfrm>
        </p:grpSpPr>
        <p:sp>
          <p:nvSpPr>
            <p:cNvPr id="9" name="Line 7"/>
            <p:cNvSpPr>
              <a:spLocks noChangeShapeType="1"/>
            </p:cNvSpPr>
            <p:nvPr/>
          </p:nvSpPr>
          <p:spPr bwMode="auto">
            <a:xfrm>
              <a:off x="340" y="3747"/>
              <a:ext cx="5171"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x-none"/>
            </a:p>
          </p:txBody>
        </p:sp>
        <p:pic>
          <p:nvPicPr>
            <p:cNvPr id="10" name="Picture 8" descr="BD14594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 y="3702"/>
              <a:ext cx="512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9"/>
            <p:cNvSpPr txBox="1">
              <a:spLocks noChangeArrowheads="1"/>
            </p:cNvSpPr>
            <p:nvPr/>
          </p:nvSpPr>
          <p:spPr bwMode="auto">
            <a:xfrm>
              <a:off x="5284" y="3747"/>
              <a:ext cx="2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zh-CN" altLang="en-US" sz="1600"/>
                <a:t>优</a:t>
              </a:r>
              <a:endParaRPr lang="zh-CN" altLang="en-US" sz="1600"/>
            </a:p>
          </p:txBody>
        </p:sp>
      </p:grpSp>
      <p:sp>
        <p:nvSpPr>
          <p:cNvPr id="12" name="Freeform 10"/>
          <p:cNvSpPr>
            <a:spLocks noChangeArrowheads="1"/>
          </p:cNvSpPr>
          <p:nvPr/>
        </p:nvSpPr>
        <p:spPr bwMode="auto">
          <a:xfrm rot="20559270">
            <a:off x="6136973" y="2707481"/>
            <a:ext cx="1190625" cy="1100138"/>
          </a:xfrm>
          <a:custGeom>
            <a:avLst/>
            <a:gdLst>
              <a:gd name="T0" fmla="*/ 0 w 1179"/>
              <a:gd name="T1" fmla="*/ 0 h 952"/>
              <a:gd name="T2" fmla="*/ 0 w 1179"/>
              <a:gd name="T3" fmla="*/ 680 h 952"/>
              <a:gd name="T4" fmla="*/ 997 w 1179"/>
              <a:gd name="T5" fmla="*/ 952 h 952"/>
              <a:gd name="T6" fmla="*/ 1179 w 1179"/>
              <a:gd name="T7" fmla="*/ 725 h 952"/>
              <a:gd name="T8" fmla="*/ 907 w 1179"/>
              <a:gd name="T9" fmla="*/ 90 h 952"/>
              <a:gd name="T10" fmla="*/ 0 w 1179"/>
              <a:gd name="T11" fmla="*/ 0 h 952"/>
              <a:gd name="T12" fmla="*/ 0 60000 65536"/>
              <a:gd name="T13" fmla="*/ 0 60000 65536"/>
              <a:gd name="T14" fmla="*/ 0 60000 65536"/>
              <a:gd name="T15" fmla="*/ 0 60000 65536"/>
              <a:gd name="T16" fmla="*/ 0 60000 65536"/>
              <a:gd name="T17" fmla="*/ 0 60000 65536"/>
              <a:gd name="T18" fmla="*/ 0 w 1179"/>
              <a:gd name="T19" fmla="*/ 0 h 952"/>
              <a:gd name="T20" fmla="*/ 1179 w 1179"/>
              <a:gd name="T21" fmla="*/ 952 h 952"/>
            </a:gdLst>
            <a:ahLst/>
            <a:cxnLst>
              <a:cxn ang="T12">
                <a:pos x="T0" y="T1"/>
              </a:cxn>
              <a:cxn ang="T13">
                <a:pos x="T2" y="T3"/>
              </a:cxn>
              <a:cxn ang="T14">
                <a:pos x="T4" y="T5"/>
              </a:cxn>
              <a:cxn ang="T15">
                <a:pos x="T6" y="T7"/>
              </a:cxn>
              <a:cxn ang="T16">
                <a:pos x="T8" y="T9"/>
              </a:cxn>
              <a:cxn ang="T17">
                <a:pos x="T10" y="T11"/>
              </a:cxn>
            </a:cxnLst>
            <a:rect l="T18" t="T19" r="T20" b="T21"/>
            <a:pathLst>
              <a:path w="1179" h="952">
                <a:moveTo>
                  <a:pt x="0" y="0"/>
                </a:moveTo>
                <a:lnTo>
                  <a:pt x="0" y="680"/>
                </a:lnTo>
                <a:lnTo>
                  <a:pt x="997" y="952"/>
                </a:lnTo>
                <a:lnTo>
                  <a:pt x="1179" y="725"/>
                </a:lnTo>
                <a:lnTo>
                  <a:pt x="907" y="90"/>
                </a:lnTo>
                <a:lnTo>
                  <a:pt x="0" y="0"/>
                </a:lnTo>
                <a:close/>
              </a:path>
            </a:pathLst>
          </a:custGeom>
          <a:solidFill>
            <a:schemeClr val="accent1"/>
          </a:solidFill>
          <a:ln w="9525">
            <a:solidFill>
              <a:schemeClr val="tx1"/>
            </a:solidFill>
            <a:miter lim="800000"/>
          </a:ln>
        </p:spPr>
        <p:txBody>
          <a:bodyPr wrap="none"/>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 name="Text Box 11"/>
          <p:cNvSpPr txBox="1">
            <a:spLocks noChangeArrowheads="1"/>
          </p:cNvSpPr>
          <p:nvPr/>
        </p:nvSpPr>
        <p:spPr bwMode="auto">
          <a:xfrm>
            <a:off x="7721298" y="3140869"/>
            <a:ext cx="11160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sz="1400">
                <a:solidFill>
                  <a:srgbClr val="FF3300"/>
                </a:solidFill>
              </a:rPr>
              <a:t>max S</a:t>
            </a:r>
            <a:endParaRPr lang="en-US" altLang="zh-CN" sz="1400">
              <a:solidFill>
                <a:srgbClr val="FF3300"/>
              </a:solidFill>
            </a:endParaRPr>
          </a:p>
        </p:txBody>
      </p:sp>
      <p:sp>
        <p:nvSpPr>
          <p:cNvPr id="14" name="Text Box 12"/>
          <p:cNvSpPr txBox="1">
            <a:spLocks noChangeArrowheads="1"/>
          </p:cNvSpPr>
          <p:nvPr/>
        </p:nvSpPr>
        <p:spPr bwMode="auto">
          <a:xfrm>
            <a:off x="7721298" y="4148931"/>
            <a:ext cx="720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sz="1400">
                <a:solidFill>
                  <a:srgbClr val="FF3300"/>
                </a:solidFill>
              </a:rPr>
              <a:t>S=o</a:t>
            </a:r>
            <a:endParaRPr lang="en-US" altLang="zh-CN" sz="1400">
              <a:solidFill>
                <a:srgbClr val="FF3300"/>
              </a:solidFill>
            </a:endParaRPr>
          </a:p>
        </p:txBody>
      </p:sp>
      <p:grpSp>
        <p:nvGrpSpPr>
          <p:cNvPr id="15" name="Group 13"/>
          <p:cNvGrpSpPr/>
          <p:nvPr/>
        </p:nvGrpSpPr>
        <p:grpSpPr bwMode="auto">
          <a:xfrm>
            <a:off x="5344810" y="1627981"/>
            <a:ext cx="2992438" cy="2560638"/>
            <a:chOff x="3560" y="1162"/>
            <a:chExt cx="1885" cy="1613"/>
          </a:xfrm>
        </p:grpSpPr>
        <p:graphicFrame>
          <p:nvGraphicFramePr>
            <p:cNvPr id="16" name="Object 3"/>
            <p:cNvGraphicFramePr/>
            <p:nvPr/>
          </p:nvGraphicFramePr>
          <p:xfrm>
            <a:off x="5284" y="2432"/>
            <a:ext cx="161" cy="227"/>
          </p:xfrm>
          <a:graphic>
            <a:graphicData uri="http://schemas.openxmlformats.org/presentationml/2006/ole">
              <mc:AlternateContent xmlns:mc="http://schemas.openxmlformats.org/markup-compatibility/2006">
                <mc:Choice xmlns:v="urn:schemas-microsoft-com:vml" Requires="v">
                  <p:oleObj spid="_x0000_s2049" name="" r:id="rId2" imgW="3657600" imgH="5181600" progId="Equation.3">
                    <p:embed/>
                  </p:oleObj>
                </mc:Choice>
                <mc:Fallback>
                  <p:oleObj name="" r:id="rId2" imgW="3657600" imgH="5181600" progId="Equation.3">
                    <p:embed/>
                    <p:pic>
                      <p:nvPicPr>
                        <p:cNvPr id="0" name="图片 2048"/>
                        <p:cNvPicPr/>
                        <p:nvPr/>
                      </p:nvPicPr>
                      <p:blipFill>
                        <a:blip r:embed="rId3"/>
                        <a:stretch>
                          <a:fillRect/>
                        </a:stretch>
                      </p:blipFill>
                      <p:spPr>
                        <a:xfrm>
                          <a:off x="5284" y="2432"/>
                          <a:ext cx="161" cy="227"/>
                        </a:xfrm>
                        <a:prstGeom prst="rect">
                          <a:avLst/>
                        </a:prstGeom>
                        <a:solidFill>
                          <a:srgbClr val="1F497D"/>
                        </a:solidFill>
                        <a:ln w="9525" cap="flat" cmpd="sng">
                          <a:solidFill>
                            <a:srgbClr val="1F497D"/>
                          </a:solidFill>
                          <a:prstDash val="solid"/>
                          <a:miter/>
                          <a:headEnd type="none" w="med" len="med"/>
                          <a:tailEnd type="none" w="med" len="med"/>
                        </a:ln>
                      </p:spPr>
                    </p:pic>
                  </p:oleObj>
                </mc:Fallback>
              </mc:AlternateContent>
            </a:graphicData>
          </a:graphic>
        </p:graphicFrame>
        <p:sp>
          <p:nvSpPr>
            <p:cNvPr id="17" name="Line 15"/>
            <p:cNvSpPr>
              <a:spLocks noChangeShapeType="1"/>
            </p:cNvSpPr>
            <p:nvPr/>
          </p:nvSpPr>
          <p:spPr bwMode="auto">
            <a:xfrm flipV="1">
              <a:off x="3969" y="1208"/>
              <a:ext cx="1" cy="1567"/>
            </a:xfrm>
            <a:prstGeom prst="line">
              <a:avLst/>
            </a:prstGeom>
            <a:noFill/>
            <a:ln w="19050">
              <a:solidFill>
                <a:schemeClr val="tx2"/>
              </a:solidFill>
              <a:miter lim="800000"/>
              <a:tailEnd type="triangle" w="med" len="med"/>
            </a:ln>
            <a:extLst>
              <a:ext uri="{909E8E84-426E-40DD-AFC4-6F175D3DCCD1}">
                <a14:hiddenFill xmlns:a14="http://schemas.microsoft.com/office/drawing/2010/main">
                  <a:noFill/>
                </a14:hiddenFill>
              </a:ext>
            </a:extLst>
          </p:spPr>
          <p:txBody>
            <a:bodyPr/>
            <a:lstStyle/>
            <a:p>
              <a:endParaRPr lang="x-none"/>
            </a:p>
          </p:txBody>
        </p:sp>
        <p:graphicFrame>
          <p:nvGraphicFramePr>
            <p:cNvPr id="18" name="Object 4"/>
            <p:cNvGraphicFramePr/>
            <p:nvPr/>
          </p:nvGraphicFramePr>
          <p:xfrm>
            <a:off x="3742" y="1162"/>
            <a:ext cx="173" cy="226"/>
          </p:xfrm>
          <a:graphic>
            <a:graphicData uri="http://schemas.openxmlformats.org/presentationml/2006/ole">
              <mc:AlternateContent xmlns:mc="http://schemas.openxmlformats.org/markup-compatibility/2006">
                <mc:Choice xmlns:v="urn:schemas-microsoft-com:vml" Requires="v">
                  <p:oleObj spid="_x0000_s2050" name="" r:id="rId4" imgW="3962400" imgH="5181600" progId="Equation.3">
                    <p:embed/>
                  </p:oleObj>
                </mc:Choice>
                <mc:Fallback>
                  <p:oleObj name="" r:id="rId4" imgW="3962400" imgH="5181600" progId="Equation.3">
                    <p:embed/>
                    <p:pic>
                      <p:nvPicPr>
                        <p:cNvPr id="0" name="图片 2049"/>
                        <p:cNvPicPr/>
                        <p:nvPr/>
                      </p:nvPicPr>
                      <p:blipFill>
                        <a:blip r:embed="rId5"/>
                        <a:stretch>
                          <a:fillRect/>
                        </a:stretch>
                      </p:blipFill>
                      <p:spPr>
                        <a:xfrm>
                          <a:off x="3742" y="1162"/>
                          <a:ext cx="173" cy="226"/>
                        </a:xfrm>
                        <a:prstGeom prst="rect">
                          <a:avLst/>
                        </a:prstGeom>
                        <a:solidFill>
                          <a:srgbClr val="1F497D"/>
                        </a:solidFill>
                        <a:ln w="9525" cap="flat" cmpd="sng">
                          <a:solidFill>
                            <a:srgbClr val="1F497D"/>
                          </a:solidFill>
                          <a:prstDash val="solid"/>
                          <a:miter/>
                          <a:headEnd type="none" w="med" len="med"/>
                          <a:tailEnd type="none" w="med" len="med"/>
                        </a:ln>
                      </p:spPr>
                    </p:pic>
                  </p:oleObj>
                </mc:Fallback>
              </mc:AlternateContent>
            </a:graphicData>
          </a:graphic>
        </p:graphicFrame>
        <p:sp>
          <p:nvSpPr>
            <p:cNvPr id="19" name="Text Box 17"/>
            <p:cNvSpPr txBox="1">
              <a:spLocks noChangeArrowheads="1"/>
            </p:cNvSpPr>
            <p:nvPr/>
          </p:nvSpPr>
          <p:spPr bwMode="auto">
            <a:xfrm>
              <a:off x="3787" y="2432"/>
              <a:ext cx="136" cy="237"/>
            </a:xfrm>
            <a:prstGeom prst="rect">
              <a:avLst/>
            </a:prstGeom>
            <a:solidFill>
              <a:schemeClr val="tx2"/>
            </a:solidFill>
            <a:ln w="9525">
              <a:solidFill>
                <a:schemeClr val="tx2"/>
              </a:solidFill>
              <a:miter lim="800000"/>
            </a:ln>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sz="1800"/>
                <a:t>o</a:t>
              </a:r>
              <a:endParaRPr lang="en-US" altLang="zh-CN" sz="1800"/>
            </a:p>
          </p:txBody>
        </p:sp>
        <p:sp>
          <p:nvSpPr>
            <p:cNvPr id="20" name="Line 18"/>
            <p:cNvSpPr>
              <a:spLocks noChangeShapeType="1"/>
            </p:cNvSpPr>
            <p:nvPr/>
          </p:nvSpPr>
          <p:spPr bwMode="auto">
            <a:xfrm>
              <a:off x="3560" y="2432"/>
              <a:ext cx="1860" cy="0"/>
            </a:xfrm>
            <a:prstGeom prst="line">
              <a:avLst/>
            </a:prstGeom>
            <a:noFill/>
            <a:ln w="28575">
              <a:solidFill>
                <a:schemeClr val="tx2"/>
              </a:solidFill>
              <a:miter lim="800000"/>
              <a:tailEnd type="triangle" w="med" len="med"/>
            </a:ln>
            <a:extLst>
              <a:ext uri="{909E8E84-426E-40DD-AFC4-6F175D3DCCD1}">
                <a14:hiddenFill xmlns:a14="http://schemas.microsoft.com/office/drawing/2010/main">
                  <a:noFill/>
                </a14:hiddenFill>
              </a:ext>
            </a:extLst>
          </p:spPr>
          <p:txBody>
            <a:bodyPr/>
            <a:lstStyle/>
            <a:p>
              <a:endParaRPr lang="x-none"/>
            </a:p>
          </p:txBody>
        </p:sp>
      </p:grpSp>
      <p:sp>
        <p:nvSpPr>
          <p:cNvPr id="21" name="Line 19"/>
          <p:cNvSpPr>
            <a:spLocks noChangeShapeType="1"/>
          </p:cNvSpPr>
          <p:nvPr/>
        </p:nvSpPr>
        <p:spPr bwMode="auto">
          <a:xfrm>
            <a:off x="4913010" y="3212306"/>
            <a:ext cx="2806700" cy="1152525"/>
          </a:xfrm>
          <a:prstGeom prst="line">
            <a:avLst/>
          </a:prstGeom>
          <a:noFill/>
          <a:ln w="9525">
            <a:solidFill>
              <a:srgbClr val="FF3300"/>
            </a:solidFill>
            <a:miter lim="800000"/>
          </a:ln>
          <a:extLst>
            <a:ext uri="{909E8E84-426E-40DD-AFC4-6F175D3DCCD1}">
              <a14:hiddenFill xmlns:a14="http://schemas.microsoft.com/office/drawing/2010/main">
                <a:noFill/>
              </a14:hiddenFill>
            </a:ext>
          </a:extLst>
        </p:spPr>
        <p:txBody>
          <a:bodyPr/>
          <a:lstStyle/>
          <a:p>
            <a:endParaRPr lang="x-none"/>
          </a:p>
        </p:txBody>
      </p:sp>
      <p:sp>
        <p:nvSpPr>
          <p:cNvPr id="22" name="Line 20"/>
          <p:cNvSpPr>
            <a:spLocks noChangeShapeType="1"/>
          </p:cNvSpPr>
          <p:nvPr/>
        </p:nvSpPr>
        <p:spPr bwMode="auto">
          <a:xfrm>
            <a:off x="5273373" y="2059781"/>
            <a:ext cx="2806700" cy="1152525"/>
          </a:xfrm>
          <a:prstGeom prst="line">
            <a:avLst/>
          </a:prstGeom>
          <a:noFill/>
          <a:ln w="9525">
            <a:solidFill>
              <a:srgbClr val="FF3300"/>
            </a:solidFill>
            <a:miter lim="800000"/>
          </a:ln>
          <a:extLst>
            <a:ext uri="{909E8E84-426E-40DD-AFC4-6F175D3DCCD1}">
              <a14:hiddenFill xmlns:a14="http://schemas.microsoft.com/office/drawing/2010/main">
                <a:noFill/>
              </a14:hiddenFill>
            </a:ext>
          </a:extLst>
        </p:spPr>
        <p:txBody>
          <a:bodyPr/>
          <a:lstStyle/>
          <a:p>
            <a:endParaRPr lang="x-none"/>
          </a:p>
        </p:txBody>
      </p:sp>
      <p:sp>
        <p:nvSpPr>
          <p:cNvPr id="23" name="Text Box 21"/>
          <p:cNvSpPr txBox="1">
            <a:spLocks noChangeArrowheads="1"/>
          </p:cNvSpPr>
          <p:nvPr/>
        </p:nvSpPr>
        <p:spPr bwMode="auto">
          <a:xfrm>
            <a:off x="6786260" y="2456656"/>
            <a:ext cx="360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sz="1600"/>
              <a:t>A</a:t>
            </a:r>
            <a:endParaRPr lang="en-US" altLang="zh-CN" sz="1600"/>
          </a:p>
        </p:txBody>
      </p:sp>
      <p:sp>
        <p:nvSpPr>
          <p:cNvPr id="24" name="Text Box 22"/>
          <p:cNvSpPr txBox="1">
            <a:spLocks noChangeArrowheads="1"/>
          </p:cNvSpPr>
          <p:nvPr/>
        </p:nvSpPr>
        <p:spPr bwMode="auto">
          <a:xfrm>
            <a:off x="5705173" y="2707481"/>
            <a:ext cx="3603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sz="1600"/>
              <a:t>B</a:t>
            </a:r>
            <a:endParaRPr lang="en-US" altLang="zh-CN" sz="1600"/>
          </a:p>
        </p:txBody>
      </p:sp>
      <p:sp>
        <p:nvSpPr>
          <p:cNvPr id="25" name="Text Box 23"/>
          <p:cNvSpPr txBox="1">
            <a:spLocks noChangeArrowheads="1"/>
          </p:cNvSpPr>
          <p:nvPr/>
        </p:nvSpPr>
        <p:spPr bwMode="auto">
          <a:xfrm>
            <a:off x="6138560" y="3607594"/>
            <a:ext cx="360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sz="1600"/>
              <a:t>C</a:t>
            </a:r>
            <a:endParaRPr lang="en-US" altLang="zh-CN" sz="1600"/>
          </a:p>
        </p:txBody>
      </p:sp>
      <p:sp>
        <p:nvSpPr>
          <p:cNvPr id="26" name="Text Box 24"/>
          <p:cNvSpPr txBox="1">
            <a:spLocks noChangeArrowheads="1"/>
          </p:cNvSpPr>
          <p:nvPr/>
        </p:nvSpPr>
        <p:spPr bwMode="auto">
          <a:xfrm>
            <a:off x="7110110" y="3607594"/>
            <a:ext cx="360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sz="1600"/>
              <a:t>D</a:t>
            </a:r>
            <a:endParaRPr lang="en-US" altLang="zh-CN" sz="1600"/>
          </a:p>
        </p:txBody>
      </p:sp>
      <p:sp>
        <p:nvSpPr>
          <p:cNvPr id="27" name="Text Box 25"/>
          <p:cNvSpPr txBox="1">
            <a:spLocks noChangeArrowheads="1"/>
          </p:cNvSpPr>
          <p:nvPr/>
        </p:nvSpPr>
        <p:spPr bwMode="auto">
          <a:xfrm>
            <a:off x="7289498" y="3140869"/>
            <a:ext cx="3603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sz="1600"/>
              <a:t>E</a:t>
            </a:r>
            <a:endParaRPr lang="en-US" altLang="zh-CN" sz="1600"/>
          </a:p>
        </p:txBody>
      </p:sp>
      <p:sp>
        <p:nvSpPr>
          <p:cNvPr id="28" name="Freeform 26"/>
          <p:cNvSpPr>
            <a:spLocks noChangeArrowheads="1"/>
          </p:cNvSpPr>
          <p:nvPr/>
        </p:nvSpPr>
        <p:spPr bwMode="auto">
          <a:xfrm>
            <a:off x="2092023" y="4663281"/>
            <a:ext cx="6453187" cy="1071563"/>
          </a:xfrm>
          <a:custGeom>
            <a:avLst/>
            <a:gdLst>
              <a:gd name="T0" fmla="*/ 0 w 4065"/>
              <a:gd name="T1" fmla="*/ 675 h 675"/>
              <a:gd name="T2" fmla="*/ 174 w 4065"/>
              <a:gd name="T3" fmla="*/ 529 h 675"/>
              <a:gd name="T4" fmla="*/ 348 w 4065"/>
              <a:gd name="T5" fmla="*/ 446 h 675"/>
              <a:gd name="T6" fmla="*/ 584 w 4065"/>
              <a:gd name="T7" fmla="*/ 424 h 675"/>
              <a:gd name="T8" fmla="*/ 870 w 4065"/>
              <a:gd name="T9" fmla="*/ 522 h 675"/>
              <a:gd name="T10" fmla="*/ 1021 w 4065"/>
              <a:gd name="T11" fmla="*/ 675 h 675"/>
              <a:gd name="T12" fmla="*/ 1339 w 4065"/>
              <a:gd name="T13" fmla="*/ 385 h 675"/>
              <a:gd name="T14" fmla="*/ 1764 w 4065"/>
              <a:gd name="T15" fmla="*/ 288 h 675"/>
              <a:gd name="T16" fmla="*/ 2120 w 4065"/>
              <a:gd name="T17" fmla="*/ 435 h 675"/>
              <a:gd name="T18" fmla="*/ 2326 w 4065"/>
              <a:gd name="T19" fmla="*/ 665 h 675"/>
              <a:gd name="T20" fmla="*/ 2608 w 4065"/>
              <a:gd name="T21" fmla="*/ 360 h 675"/>
              <a:gd name="T22" fmla="*/ 2934 w 4065"/>
              <a:gd name="T23" fmla="*/ 197 h 675"/>
              <a:gd name="T24" fmla="*/ 3227 w 4065"/>
              <a:gd name="T25" fmla="*/ 110 h 675"/>
              <a:gd name="T26" fmla="*/ 3597 w 4065"/>
              <a:gd name="T27" fmla="*/ 34 h 675"/>
              <a:gd name="T28" fmla="*/ 4065 w 4065"/>
              <a:gd name="T29" fmla="*/ 0 h 67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065"/>
              <a:gd name="T46" fmla="*/ 0 h 675"/>
              <a:gd name="T47" fmla="*/ 4065 w 4065"/>
              <a:gd name="T48" fmla="*/ 675 h 67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065" h="675">
                <a:moveTo>
                  <a:pt x="0" y="675"/>
                </a:moveTo>
                <a:cubicBezTo>
                  <a:pt x="29" y="649"/>
                  <a:pt x="116" y="567"/>
                  <a:pt x="174" y="529"/>
                </a:cubicBezTo>
                <a:cubicBezTo>
                  <a:pt x="232" y="491"/>
                  <a:pt x="280" y="463"/>
                  <a:pt x="348" y="446"/>
                </a:cubicBezTo>
                <a:cubicBezTo>
                  <a:pt x="416" y="429"/>
                  <a:pt x="497" y="411"/>
                  <a:pt x="584" y="424"/>
                </a:cubicBezTo>
                <a:cubicBezTo>
                  <a:pt x="671" y="437"/>
                  <a:pt x="797" y="480"/>
                  <a:pt x="870" y="522"/>
                </a:cubicBezTo>
                <a:cubicBezTo>
                  <a:pt x="943" y="564"/>
                  <a:pt x="1054" y="675"/>
                  <a:pt x="1021" y="675"/>
                </a:cubicBezTo>
                <a:cubicBezTo>
                  <a:pt x="1043" y="665"/>
                  <a:pt x="1215" y="450"/>
                  <a:pt x="1339" y="385"/>
                </a:cubicBezTo>
                <a:cubicBezTo>
                  <a:pt x="1463" y="320"/>
                  <a:pt x="1634" y="280"/>
                  <a:pt x="1764" y="288"/>
                </a:cubicBezTo>
                <a:cubicBezTo>
                  <a:pt x="1894" y="296"/>
                  <a:pt x="2026" y="372"/>
                  <a:pt x="2120" y="435"/>
                </a:cubicBezTo>
                <a:cubicBezTo>
                  <a:pt x="2214" y="498"/>
                  <a:pt x="2304" y="665"/>
                  <a:pt x="2326" y="665"/>
                </a:cubicBezTo>
                <a:cubicBezTo>
                  <a:pt x="2326" y="644"/>
                  <a:pt x="2507" y="438"/>
                  <a:pt x="2608" y="360"/>
                </a:cubicBezTo>
                <a:cubicBezTo>
                  <a:pt x="2709" y="282"/>
                  <a:pt x="2831" y="239"/>
                  <a:pt x="2934" y="197"/>
                </a:cubicBezTo>
                <a:cubicBezTo>
                  <a:pt x="3037" y="155"/>
                  <a:pt x="3117" y="137"/>
                  <a:pt x="3227" y="110"/>
                </a:cubicBezTo>
                <a:cubicBezTo>
                  <a:pt x="3337" y="83"/>
                  <a:pt x="3457" y="52"/>
                  <a:pt x="3597" y="34"/>
                </a:cubicBezTo>
                <a:cubicBezTo>
                  <a:pt x="3737" y="16"/>
                  <a:pt x="3968" y="7"/>
                  <a:pt x="4065" y="0"/>
                </a:cubicBezTo>
              </a:path>
            </a:pathLst>
          </a:custGeom>
          <a:noFill/>
          <a:ln w="9525">
            <a:solidFill>
              <a:schemeClr val="tx2"/>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0"/>
                                        <p:tgtEl>
                                          <p:spTgt spid="5">
                                            <p:txEl>
                                              <p:pRg st="0" end="0"/>
                                            </p:txEl>
                                          </p:spTgt>
                                        </p:tgtEl>
                                      </p:cBhvr>
                                    </p:animEffect>
                                  </p:childTnLst>
                                  <p:subTnLst>
                                    <p:audio>
                                      <p:cMediaNode vol="100000">
                                        <p:cTn display="0" masterRel="sameClick">
                                          <p:stCondLst>
                                            <p:cond evt="begin" delay="0">
                                              <p:tn val="5"/>
                                            </p:cond>
                                          </p:stCondLst>
                                          <p:endCondLst>
                                            <p:cond evt="onStopAudio" delay="0">
                                              <p:tgtEl>
                                                <p:sldTgt/>
                                              </p:tgtEl>
                                            </p:cond>
                                          </p:endCondLst>
                                        </p:cTn>
                                        <p:tgtEl>
                                          <p:sndTgt r:embed="rId6" name="~PP3230.WAV"/>
                                        </p:tgtEl>
                                      </p:cMediaNode>
                                    </p:audio>
                                  </p:subTnLst>
                                </p:cTn>
                              </p:par>
                            </p:childTnLst>
                          </p:cTn>
                        </p:par>
                        <p:par>
                          <p:cTn id="8" fill="hold">
                            <p:stCondLst>
                              <p:cond delay="5000"/>
                            </p:stCondLst>
                            <p:childTnLst>
                              <p:par>
                                <p:cTn id="9" presetID="2" presetClass="entr" presetSubtype="4" fill="hold" nodeType="afterEffect">
                                  <p:stCondLst>
                                    <p:cond delay="1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par>
                          <p:cTn id="13" fill="hold">
                            <p:stCondLst>
                              <p:cond delay="7000"/>
                            </p:stCondLst>
                            <p:childTnLst>
                              <p:par>
                                <p:cTn id="14" presetID="2" presetClass="entr" presetSubtype="4" accel="50000" decel="50000" fill="hold" grpId="0" nodeType="afterEffect">
                                  <p:stCondLst>
                                    <p:cond delay="50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subTnLst>
                                    <p:audio>
                                      <p:cMediaNode vol="100000">
                                        <p:cTn display="0" masterRel="sameClick">
                                          <p:stCondLst>
                                            <p:cond evt="begin" delay="0">
                                              <p:tn val="14"/>
                                            </p:cond>
                                          </p:stCondLst>
                                          <p:endCondLst>
                                            <p:cond evt="onStopAudio" delay="0">
                                              <p:tgtEl>
                                                <p:sldTgt/>
                                              </p:tgtEl>
                                            </p:cond>
                                          </p:endCondLst>
                                        </p:cTn>
                                        <p:tgtEl>
                                          <p:sndTgt r:embed="rId7" name="~PP1904.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additive="base">
                                        <p:cTn id="22" dur="500" fill="hold"/>
                                        <p:tgtEl>
                                          <p:spTgt spid="23"/>
                                        </p:tgtEl>
                                        <p:attrNameLst>
                                          <p:attrName>ppt_x</p:attrName>
                                        </p:attrNameLst>
                                      </p:cBhvr>
                                      <p:tavLst>
                                        <p:tav tm="0">
                                          <p:val>
                                            <p:strVal val="#ppt_x"/>
                                          </p:val>
                                        </p:tav>
                                        <p:tav tm="100000">
                                          <p:val>
                                            <p:strVal val="#ppt_x"/>
                                          </p:val>
                                        </p:tav>
                                      </p:tavLst>
                                    </p:anim>
                                    <p:anim calcmode="lin" valueType="num">
                                      <p:cBhvr additive="base">
                                        <p:cTn id="23" dur="500" fill="hold"/>
                                        <p:tgtEl>
                                          <p:spTgt spid="23"/>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1+#ppt_h/2"/>
                                          </p:val>
                                        </p:tav>
                                        <p:tav tm="100000">
                                          <p:val>
                                            <p:strVal val="#ppt_y"/>
                                          </p:val>
                                        </p:tav>
                                      </p:tavLst>
                                    </p:anim>
                                  </p:childTnLst>
                                </p:cTn>
                              </p:par>
                            </p:childTnLst>
                          </p:cTn>
                        </p:par>
                        <p:par>
                          <p:cTn id="29" fill="hold">
                            <p:stCondLst>
                              <p:cond delay="1000"/>
                            </p:stCondLst>
                            <p:childTnLst>
                              <p:par>
                                <p:cTn id="30" presetID="2" presetClass="entr" presetSubtype="4"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additive="base">
                                        <p:cTn id="32" dur="500" fill="hold"/>
                                        <p:tgtEl>
                                          <p:spTgt spid="25"/>
                                        </p:tgtEl>
                                        <p:attrNameLst>
                                          <p:attrName>ppt_x</p:attrName>
                                        </p:attrNameLst>
                                      </p:cBhvr>
                                      <p:tavLst>
                                        <p:tav tm="0">
                                          <p:val>
                                            <p:strVal val="#ppt_x"/>
                                          </p:val>
                                        </p:tav>
                                        <p:tav tm="100000">
                                          <p:val>
                                            <p:strVal val="#ppt_x"/>
                                          </p:val>
                                        </p:tav>
                                      </p:tavLst>
                                    </p:anim>
                                    <p:anim calcmode="lin" valueType="num">
                                      <p:cBhvr additive="base">
                                        <p:cTn id="33" dur="500" fill="hold"/>
                                        <p:tgtEl>
                                          <p:spTgt spid="25"/>
                                        </p:tgtEl>
                                        <p:attrNameLst>
                                          <p:attrName>ppt_y</p:attrName>
                                        </p:attrNameLst>
                                      </p:cBhvr>
                                      <p:tavLst>
                                        <p:tav tm="0">
                                          <p:val>
                                            <p:strVal val="1+#ppt_h/2"/>
                                          </p:val>
                                        </p:tav>
                                        <p:tav tm="100000">
                                          <p:val>
                                            <p:strVal val="#ppt_y"/>
                                          </p:val>
                                        </p:tav>
                                      </p:tavLst>
                                    </p:anim>
                                  </p:childTnLst>
                                </p:cTn>
                              </p:par>
                            </p:childTnLst>
                          </p:cTn>
                        </p:par>
                        <p:par>
                          <p:cTn id="34" fill="hold">
                            <p:stCondLst>
                              <p:cond delay="1500"/>
                            </p:stCondLst>
                            <p:childTnLst>
                              <p:par>
                                <p:cTn id="35" presetID="2" presetClass="entr" presetSubtype="4"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fill="hold"/>
                                        <p:tgtEl>
                                          <p:spTgt spid="26"/>
                                        </p:tgtEl>
                                        <p:attrNameLst>
                                          <p:attrName>ppt_x</p:attrName>
                                        </p:attrNameLst>
                                      </p:cBhvr>
                                      <p:tavLst>
                                        <p:tav tm="0">
                                          <p:val>
                                            <p:strVal val="#ppt_x"/>
                                          </p:val>
                                        </p:tav>
                                        <p:tav tm="100000">
                                          <p:val>
                                            <p:strVal val="#ppt_x"/>
                                          </p:val>
                                        </p:tav>
                                      </p:tavLst>
                                    </p:anim>
                                    <p:anim calcmode="lin" valueType="num">
                                      <p:cBhvr additive="base">
                                        <p:cTn id="38" dur="500" fill="hold"/>
                                        <p:tgtEl>
                                          <p:spTgt spid="26"/>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2" presetClass="entr" presetSubtype="4" fill="hold" grpId="0" nodeType="after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additive="base">
                                        <p:cTn id="42" dur="500" fill="hold"/>
                                        <p:tgtEl>
                                          <p:spTgt spid="27"/>
                                        </p:tgtEl>
                                        <p:attrNameLst>
                                          <p:attrName>ppt_x</p:attrName>
                                        </p:attrNameLst>
                                      </p:cBhvr>
                                      <p:tavLst>
                                        <p:tav tm="0">
                                          <p:val>
                                            <p:strVal val="#ppt_x"/>
                                          </p:val>
                                        </p:tav>
                                        <p:tav tm="100000">
                                          <p:val>
                                            <p:strVal val="#ppt_x"/>
                                          </p:val>
                                        </p:tav>
                                      </p:tavLst>
                                    </p:anim>
                                    <p:anim calcmode="lin" valueType="num">
                                      <p:cBhvr additive="base">
                                        <p:cTn id="43" dur="500" fill="hold"/>
                                        <p:tgtEl>
                                          <p:spTgt spid="27"/>
                                        </p:tgtEl>
                                        <p:attrNameLst>
                                          <p:attrName>ppt_y</p:attrName>
                                        </p:attrNameLst>
                                      </p:cBhvr>
                                      <p:tavLst>
                                        <p:tav tm="0">
                                          <p:val>
                                            <p:strVal val="1+#ppt_h/2"/>
                                          </p:val>
                                        </p:tav>
                                        <p:tav tm="100000">
                                          <p:val>
                                            <p:strVal val="#ppt_y"/>
                                          </p:val>
                                        </p:tav>
                                      </p:tavLst>
                                    </p:anim>
                                  </p:childTnLst>
                                  <p:subTnLst>
                                    <p:audio>
                                      <p:cMediaNode vol="100000">
                                        <p:cTn display="0" masterRel="sameClick">
                                          <p:stCondLst>
                                            <p:cond evt="begin" delay="0">
                                              <p:tn val="40"/>
                                            </p:cond>
                                          </p:stCondLst>
                                          <p:endCondLst>
                                            <p:cond evt="onStopAudio" delay="0">
                                              <p:tgtEl>
                                                <p:sldTgt/>
                                              </p:tgtEl>
                                            </p:cond>
                                          </p:endCondLst>
                                        </p:cTn>
                                        <p:tgtEl>
                                          <p:sndTgt r:embed="rId8" name="~PP2226.WAV"/>
                                        </p:tgtEl>
                                      </p:cMediaNode>
                                    </p:audio>
                                  </p:subTnLst>
                                </p:cTn>
                              </p:par>
                            </p:childTnLst>
                          </p:cTn>
                        </p:par>
                      </p:childTnLst>
                    </p:cTn>
                  </p:par>
                  <p:par>
                    <p:cTn id="44" fill="hold">
                      <p:stCondLst>
                        <p:cond delay="indefinite"/>
                      </p:stCondLst>
                      <p:childTnLst>
                        <p:par>
                          <p:cTn id="45" fill="hold">
                            <p:stCondLst>
                              <p:cond delay="0"/>
                            </p:stCondLst>
                            <p:childTnLst>
                              <p:par>
                                <p:cTn id="46" presetID="2" presetClass="entr" presetSubtype="4" accel="50000" decel="5000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1000" fill="hold"/>
                                        <p:tgtEl>
                                          <p:spTgt spid="21"/>
                                        </p:tgtEl>
                                        <p:attrNameLst>
                                          <p:attrName>ppt_x</p:attrName>
                                        </p:attrNameLst>
                                      </p:cBhvr>
                                      <p:tavLst>
                                        <p:tav tm="0">
                                          <p:val>
                                            <p:strVal val="#ppt_x"/>
                                          </p:val>
                                        </p:tav>
                                        <p:tav tm="100000">
                                          <p:val>
                                            <p:strVal val="#ppt_x"/>
                                          </p:val>
                                        </p:tav>
                                      </p:tavLst>
                                    </p:anim>
                                    <p:anim calcmode="lin" valueType="num">
                                      <p:cBhvr additive="base">
                                        <p:cTn id="49" dur="1000" fill="hold"/>
                                        <p:tgtEl>
                                          <p:spTgt spid="21"/>
                                        </p:tgtEl>
                                        <p:attrNameLst>
                                          <p:attrName>ppt_y</p:attrName>
                                        </p:attrNameLst>
                                      </p:cBhvr>
                                      <p:tavLst>
                                        <p:tav tm="0">
                                          <p:val>
                                            <p:strVal val="1+#ppt_h/2"/>
                                          </p:val>
                                        </p:tav>
                                        <p:tav tm="100000">
                                          <p:val>
                                            <p:strVal val="#ppt_y"/>
                                          </p:val>
                                        </p:tav>
                                      </p:tavLst>
                                    </p:anim>
                                  </p:childTnLst>
                                </p:cTn>
                              </p:par>
                            </p:childTnLst>
                          </p:cTn>
                        </p:par>
                        <p:par>
                          <p:cTn id="50" fill="hold">
                            <p:stCondLst>
                              <p:cond delay="1000"/>
                            </p:stCondLst>
                            <p:childTnLst>
                              <p:par>
                                <p:cTn id="51" presetID="2" presetClass="entr" presetSubtype="4" fill="hold" grpId="0" nodeType="after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1+#ppt_h/2"/>
                                          </p:val>
                                        </p:tav>
                                        <p:tav tm="100000">
                                          <p:val>
                                            <p:strVal val="#ppt_y"/>
                                          </p:val>
                                        </p:tav>
                                      </p:tavLst>
                                    </p:anim>
                                  </p:childTnLst>
                                </p:cTn>
                              </p:par>
                            </p:childTnLst>
                          </p:cTn>
                        </p:par>
                        <p:par>
                          <p:cTn id="55" fill="hold">
                            <p:stCondLst>
                              <p:cond delay="1500"/>
                            </p:stCondLst>
                            <p:childTnLst>
                              <p:par>
                                <p:cTn id="56" presetID="2" presetClass="entr" presetSubtype="4" fill="hold" nodeType="afterEffect">
                                  <p:stCondLst>
                                    <p:cond delay="0"/>
                                  </p:stCondLst>
                                  <p:childTnLst>
                                    <p:set>
                                      <p:cBhvr>
                                        <p:cTn id="57" dur="1" fill="hold">
                                          <p:stCondLst>
                                            <p:cond delay="0"/>
                                          </p:stCondLst>
                                        </p:cTn>
                                        <p:tgtEl>
                                          <p:spTgt spid="22"/>
                                        </p:tgtEl>
                                        <p:attrNameLst>
                                          <p:attrName>style.visibility</p:attrName>
                                        </p:attrNameLst>
                                      </p:cBhvr>
                                      <p:to>
                                        <p:strVal val="visible"/>
                                      </p:to>
                                    </p:set>
                                    <p:anim calcmode="lin" valueType="num">
                                      <p:cBhvr additive="base">
                                        <p:cTn id="58" dur="1000" fill="hold"/>
                                        <p:tgtEl>
                                          <p:spTgt spid="22"/>
                                        </p:tgtEl>
                                        <p:attrNameLst>
                                          <p:attrName>ppt_x</p:attrName>
                                        </p:attrNameLst>
                                      </p:cBhvr>
                                      <p:tavLst>
                                        <p:tav tm="0">
                                          <p:val>
                                            <p:strVal val="#ppt_x"/>
                                          </p:val>
                                        </p:tav>
                                        <p:tav tm="100000">
                                          <p:val>
                                            <p:strVal val="#ppt_x"/>
                                          </p:val>
                                        </p:tav>
                                      </p:tavLst>
                                    </p:anim>
                                    <p:anim calcmode="lin" valueType="num">
                                      <p:cBhvr additive="base">
                                        <p:cTn id="59" dur="1000" fill="hold"/>
                                        <p:tgtEl>
                                          <p:spTgt spid="22"/>
                                        </p:tgtEl>
                                        <p:attrNameLst>
                                          <p:attrName>ppt_y</p:attrName>
                                        </p:attrNameLst>
                                      </p:cBhvr>
                                      <p:tavLst>
                                        <p:tav tm="0">
                                          <p:val>
                                            <p:strVal val="1+#ppt_h/2"/>
                                          </p:val>
                                        </p:tav>
                                        <p:tav tm="100000">
                                          <p:val>
                                            <p:strVal val="#ppt_y"/>
                                          </p:val>
                                        </p:tav>
                                      </p:tavLst>
                                    </p:anim>
                                  </p:childTnLst>
                                </p:cTn>
                              </p:par>
                            </p:childTnLst>
                          </p:cTn>
                        </p:par>
                        <p:par>
                          <p:cTn id="60" fill="hold">
                            <p:stCondLst>
                              <p:cond delay="2500"/>
                            </p:stCondLst>
                            <p:childTnLst>
                              <p:par>
                                <p:cTn id="61" presetID="2" presetClass="entr" presetSubtype="4" fill="hold" grpId="0" nodeType="afterEffect">
                                  <p:stCondLst>
                                    <p:cond delay="0"/>
                                  </p:stCondLst>
                                  <p:childTnLst>
                                    <p:set>
                                      <p:cBhvr>
                                        <p:cTn id="62" dur="1" fill="hold">
                                          <p:stCondLst>
                                            <p:cond delay="0"/>
                                          </p:stCondLst>
                                        </p:cTn>
                                        <p:tgtEl>
                                          <p:spTgt spid="13"/>
                                        </p:tgtEl>
                                        <p:attrNameLst>
                                          <p:attrName>style.visibility</p:attrName>
                                        </p:attrNameLst>
                                      </p:cBhvr>
                                      <p:to>
                                        <p:strVal val="visible"/>
                                      </p:to>
                                    </p:set>
                                    <p:anim calcmode="lin" valueType="num">
                                      <p:cBhvr additive="base">
                                        <p:cTn id="63" dur="500" fill="hold"/>
                                        <p:tgtEl>
                                          <p:spTgt spid="13"/>
                                        </p:tgtEl>
                                        <p:attrNameLst>
                                          <p:attrName>ppt_x</p:attrName>
                                        </p:attrNameLst>
                                      </p:cBhvr>
                                      <p:tavLst>
                                        <p:tav tm="0">
                                          <p:val>
                                            <p:strVal val="#ppt_x"/>
                                          </p:val>
                                        </p:tav>
                                        <p:tav tm="100000">
                                          <p:val>
                                            <p:strVal val="#ppt_x"/>
                                          </p:val>
                                        </p:tav>
                                      </p:tavLst>
                                    </p:anim>
                                    <p:anim calcmode="lin" valueType="num">
                                      <p:cBhvr additive="base">
                                        <p:cTn id="64" dur="500" fill="hold"/>
                                        <p:tgtEl>
                                          <p:spTgt spid="1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9" name="~PP781.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8" fill="hold" nodeType="clickEffect">
                                  <p:stCondLst>
                                    <p:cond delay="0"/>
                                  </p:stCondLst>
                                  <p:childTnLst>
                                    <p:set>
                                      <p:cBhvr>
                                        <p:cTn id="68" dur="1" fill="hold">
                                          <p:stCondLst>
                                            <p:cond delay="0"/>
                                          </p:stCondLst>
                                        </p:cTn>
                                        <p:tgtEl>
                                          <p:spTgt spid="8"/>
                                        </p:tgtEl>
                                        <p:attrNameLst>
                                          <p:attrName>style.visibility</p:attrName>
                                        </p:attrNameLst>
                                      </p:cBhvr>
                                      <p:to>
                                        <p:strVal val="visible"/>
                                      </p:to>
                                    </p:set>
                                    <p:anim calcmode="lin" valueType="num">
                                      <p:cBhvr additive="base">
                                        <p:cTn id="69" dur="2000" fill="hold"/>
                                        <p:tgtEl>
                                          <p:spTgt spid="8"/>
                                        </p:tgtEl>
                                        <p:attrNameLst>
                                          <p:attrName>ppt_x</p:attrName>
                                        </p:attrNameLst>
                                      </p:cBhvr>
                                      <p:tavLst>
                                        <p:tav tm="0">
                                          <p:val>
                                            <p:strVal val="0-#ppt_w/2"/>
                                          </p:val>
                                        </p:tav>
                                        <p:tav tm="100000">
                                          <p:val>
                                            <p:strVal val="#ppt_x"/>
                                          </p:val>
                                        </p:tav>
                                      </p:tavLst>
                                    </p:anim>
                                    <p:anim calcmode="lin" valueType="num">
                                      <p:cBhvr additive="base">
                                        <p:cTn id="70" dur="2000" fill="hold"/>
                                        <p:tgtEl>
                                          <p:spTgt spid="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10" name="~PP3864.WAV"/>
                                        </p:tgtEl>
                                      </p:cMediaNode>
                                    </p:audio>
                                  </p:sub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wipe(left)">
                                      <p:cBhvr>
                                        <p:cTn id="75" dur="5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2" grpId="0" animBg="1"/>
      <p:bldP spid="13" grpId="0"/>
      <p:bldP spid="14" grpId="0"/>
      <p:bldP spid="23" grpId="0"/>
      <p:bldP spid="24" grpId="0"/>
      <p:bldP spid="25" grpId="0"/>
      <p:bldP spid="26" grpId="0"/>
      <p:bldP spid="27" grpId="0"/>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5" name="灯片编号占位符 4"/>
          <p:cNvSpPr txBox="1"/>
          <p:nvPr/>
        </p:nvSpPr>
        <p:spPr bwMode="auto">
          <a:xfrm>
            <a:off x="7010400" y="6492876"/>
            <a:ext cx="2133600" cy="365125"/>
          </a:xfrm>
          <a:prstGeom prst="rect">
            <a:avLst/>
          </a:prstGeom>
          <a:noFill/>
          <a:ln>
            <a:noFill/>
          </a:ln>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9pPr>
          </a:lstStyle>
          <a:p>
            <a:pPr algn="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Y.Gu</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rPr>
              <a:t>17</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rPr>
              <a:t>02</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/20</a:t>
            </a:r>
            <a:r>
              <a:rPr lang="en-US" altLang="zh-CN" sz="1600" dirty="0">
                <a:solidFill>
                  <a:schemeClr val="tx1">
                    <a:lumMod val="95000"/>
                    <a:lumOff val="5000"/>
                  </a:schemeClr>
                </a:solidFill>
                <a:latin typeface="Times New Roman" panose="02020603050405020304" pitchFamily="18" charset="0"/>
                <a:cs typeface="Times New Roman" panose="02020603050405020304" pitchFamily="18" charset="0"/>
              </a:rPr>
              <a:t>20</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Rectangle 3"/>
          <p:cNvSpPr>
            <a:spLocks noGrp="1" noChangeArrowheads="1"/>
          </p:cNvSpPr>
          <p:nvPr>
            <p:ph idx="1"/>
          </p:nvPr>
        </p:nvSpPr>
        <p:spPr>
          <a:xfrm>
            <a:off x="457200" y="1223169"/>
            <a:ext cx="8229600" cy="4411662"/>
          </a:xfrm>
        </p:spPr>
        <p:txBody>
          <a:bodyPr/>
          <a:lstStyle/>
          <a:p>
            <a:pPr eaLnBrk="1" hangingPunct="1"/>
            <a:r>
              <a:rPr lang="zh-CN" altLang="en-US" dirty="0"/>
              <a:t>基本思路：</a:t>
            </a:r>
            <a:endParaRPr lang="zh-CN" altLang="en-US" dirty="0"/>
          </a:p>
          <a:p>
            <a:pPr eaLnBrk="1" hangingPunct="1"/>
            <a:r>
              <a:rPr lang="zh-CN" altLang="en-US" dirty="0"/>
              <a:t>首先将线性规划问题化成标准形式</a:t>
            </a:r>
            <a:endParaRPr lang="zh-CN" altLang="en-US" dirty="0"/>
          </a:p>
          <a:p>
            <a:pPr eaLnBrk="1" hangingPunct="1"/>
            <a:r>
              <a:rPr lang="zh-CN" altLang="en-US" dirty="0"/>
              <a:t>求出初始基本可行解</a:t>
            </a:r>
            <a:endParaRPr lang="zh-CN" altLang="en-US" dirty="0"/>
          </a:p>
          <a:p>
            <a:pPr eaLnBrk="1" hangingPunct="1"/>
            <a:r>
              <a:rPr lang="zh-CN" altLang="en-US" dirty="0"/>
              <a:t>判断其是否为最优解</a:t>
            </a:r>
            <a:endParaRPr lang="zh-CN" altLang="en-US" dirty="0"/>
          </a:p>
          <a:p>
            <a:pPr eaLnBrk="1" hangingPunct="1"/>
            <a:r>
              <a:rPr lang="zh-CN" altLang="en-US" dirty="0"/>
              <a:t>如果不是最优，则迭代到其相邻的基本可行解，并再次检验</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5" name="Rectangle 4"/>
          <p:cNvSpPr>
            <a:spLocks noChangeArrowheads="1"/>
          </p:cNvSpPr>
          <p:nvPr/>
        </p:nvSpPr>
        <p:spPr bwMode="auto">
          <a:xfrm>
            <a:off x="468313" y="1341438"/>
            <a:ext cx="8135937" cy="3958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57200" algn="l">
              <a:tabLst>
                <a:tab pos="22860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22860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22860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22860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2286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2286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2286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2286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228600" algn="l"/>
              </a:tabLs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en-US" altLang="zh-CN" sz="2800" dirty="0">
                <a:effectLst/>
                <a:latin typeface="Arial" panose="020B0604020202020204" pitchFamily="34" charset="0"/>
                <a:cs typeface="Arial" panose="020B0604020202020204" pitchFamily="34" charset="0"/>
              </a:rPr>
              <a:t>        </a:t>
            </a:r>
            <a:r>
              <a:rPr lang="zh-CN" altLang="en-US" sz="2800" b="1" dirty="0">
                <a:effectLst/>
                <a:latin typeface="楷体_GB2312" pitchFamily="49" charset="-122"/>
                <a:ea typeface="楷体_GB2312" pitchFamily="49" charset="-122"/>
              </a:rPr>
              <a:t>单纯形法把寻优的</a:t>
            </a:r>
            <a:r>
              <a:rPr lang="zh-CN" altLang="en-US" sz="2800" b="1" dirty="0">
                <a:solidFill>
                  <a:schemeClr val="accent2"/>
                </a:solidFill>
                <a:effectLst/>
                <a:latin typeface="楷体_GB2312" pitchFamily="49" charset="-122"/>
                <a:ea typeface="楷体_GB2312" pitchFamily="49" charset="-122"/>
              </a:rPr>
              <a:t>目标集中在所有基本可行解</a:t>
            </a:r>
            <a:r>
              <a:rPr lang="zh-CN" altLang="en-US" sz="2800" b="1" dirty="0">
                <a:effectLst/>
                <a:latin typeface="楷体_GB2312" pitchFamily="49" charset="-122"/>
                <a:ea typeface="楷体_GB2312" pitchFamily="49" charset="-122"/>
              </a:rPr>
              <a:t>（即可行域顶点）中。</a:t>
            </a:r>
            <a:endParaRPr lang="zh-CN" altLang="en-US" sz="2800" b="1" dirty="0">
              <a:effectLst/>
              <a:latin typeface="楷体_GB2312" pitchFamily="49" charset="-122"/>
              <a:ea typeface="楷体_GB2312" pitchFamily="49" charset="-122"/>
            </a:endParaRPr>
          </a:p>
          <a:p>
            <a:pPr algn="just">
              <a:lnSpc>
                <a:spcPct val="130000"/>
              </a:lnSpc>
            </a:pPr>
            <a:r>
              <a:rPr lang="zh-CN" altLang="en-US" sz="2800" b="1" dirty="0">
                <a:effectLst/>
                <a:latin typeface="楷体_GB2312" pitchFamily="49" charset="-122"/>
                <a:ea typeface="楷体_GB2312" pitchFamily="49" charset="-122"/>
              </a:rPr>
              <a:t>　　</a:t>
            </a:r>
            <a:endParaRPr lang="en-US" altLang="zh-CN" sz="2800" b="1" dirty="0">
              <a:effectLst/>
              <a:latin typeface="楷体_GB2312" pitchFamily="49" charset="-122"/>
              <a:ea typeface="楷体_GB2312" pitchFamily="49" charset="-122"/>
            </a:endParaRPr>
          </a:p>
          <a:p>
            <a:pPr algn="just">
              <a:lnSpc>
                <a:spcPct val="130000"/>
              </a:lnSpc>
            </a:pPr>
            <a:r>
              <a:rPr lang="zh-CN" altLang="en-US" sz="2800" b="1" dirty="0">
                <a:solidFill>
                  <a:schemeClr val="accent2"/>
                </a:solidFill>
                <a:latin typeface="楷体_GB2312" pitchFamily="49" charset="-122"/>
                <a:ea typeface="楷体_GB2312" pitchFamily="49" charset="-122"/>
              </a:rPr>
              <a:t>      </a:t>
            </a:r>
            <a:r>
              <a:rPr lang="zh-CN" altLang="en-US" sz="2800" b="1" dirty="0">
                <a:solidFill>
                  <a:schemeClr val="accent2"/>
                </a:solidFill>
                <a:effectLst/>
                <a:latin typeface="楷体_GB2312" pitchFamily="49" charset="-122"/>
                <a:ea typeface="楷体_GB2312" pitchFamily="49" charset="-122"/>
              </a:rPr>
              <a:t>基本思路</a:t>
            </a:r>
            <a:r>
              <a:rPr lang="en-US" altLang="zh-CN" sz="2800" b="1" dirty="0">
                <a:solidFill>
                  <a:schemeClr val="accent2"/>
                </a:solidFill>
                <a:effectLst/>
                <a:latin typeface="楷体_GB2312" pitchFamily="49" charset="-122"/>
                <a:ea typeface="楷体_GB2312" pitchFamily="49" charset="-122"/>
              </a:rPr>
              <a:t>:</a:t>
            </a:r>
            <a:r>
              <a:rPr lang="zh-CN" altLang="en-US" sz="2800" b="1" dirty="0">
                <a:effectLst/>
                <a:latin typeface="楷体_GB2312" pitchFamily="49" charset="-122"/>
                <a:ea typeface="楷体_GB2312" pitchFamily="49" charset="-122"/>
              </a:rPr>
              <a:t>是从一个初始的基本可行解出发，寻找一条达到最优基本可行解的最佳途径。</a:t>
            </a:r>
            <a:endParaRPr lang="zh-CN" altLang="en-US" sz="2800" b="1" dirty="0">
              <a:effectLst/>
              <a:latin typeface="楷体_GB2312" pitchFamily="49" charset="-122"/>
              <a:ea typeface="楷体_GB2312" pitchFamily="49" charset="-122"/>
            </a:endParaRPr>
          </a:p>
          <a:p>
            <a:pPr algn="just">
              <a:lnSpc>
                <a:spcPct val="130000"/>
              </a:lnSpc>
            </a:pPr>
            <a:r>
              <a:rPr lang="zh-CN" altLang="en-US" sz="2800" b="1" dirty="0">
                <a:effectLst/>
                <a:latin typeface="楷体_GB2312" pitchFamily="49" charset="-122"/>
                <a:ea typeface="楷体_GB2312" pitchFamily="49" charset="-122"/>
              </a:rPr>
              <a:t>   </a:t>
            </a:r>
            <a:endParaRPr lang="zh-CN" altLang="en-US" sz="2800" b="1" dirty="0">
              <a:effectLst/>
              <a:latin typeface="楷体_GB2312" pitchFamily="49" charset="-122"/>
              <a:ea typeface="楷体_GB2312" pitchFamily="49" charset="-122"/>
            </a:endParaRPr>
          </a:p>
          <a:p>
            <a:pPr algn="just">
              <a:lnSpc>
                <a:spcPct val="130000"/>
              </a:lnSpc>
            </a:pPr>
            <a:r>
              <a:rPr lang="zh-CN" altLang="en-US" sz="2800" b="1" dirty="0">
                <a:effectLst/>
                <a:latin typeface="楷体_GB2312" pitchFamily="49" charset="-122"/>
                <a:ea typeface="楷体_GB2312" pitchFamily="49" charset="-122"/>
              </a:rPr>
              <a:t>      </a:t>
            </a:r>
            <a:endParaRPr lang="zh-CN" altLang="en-US" sz="2800" b="1" dirty="0">
              <a:effectLst/>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5" name="Text Box 2"/>
          <p:cNvSpPr txBox="1">
            <a:spLocks noChangeArrowheads="1"/>
          </p:cNvSpPr>
          <p:nvPr/>
        </p:nvSpPr>
        <p:spPr bwMode="auto">
          <a:xfrm>
            <a:off x="323850" y="939195"/>
            <a:ext cx="81359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400" b="1" i="0" dirty="0">
                <a:latin typeface="宋体" panose="02010600030101010101" pitchFamily="2" charset="-122"/>
              </a:rPr>
              <a:t>单纯形法</a:t>
            </a:r>
            <a:r>
              <a:rPr lang="zh-CN" altLang="en-US" sz="2400" i="0" dirty="0">
                <a:latin typeface="宋体" panose="02010600030101010101" pitchFamily="2" charset="-122"/>
              </a:rPr>
              <a:t> </a:t>
            </a:r>
            <a:r>
              <a:rPr lang="zh-CN" altLang="en-US" sz="2400" i="0" dirty="0">
                <a:solidFill>
                  <a:srgbClr val="000000"/>
                </a:solidFill>
                <a:latin typeface="宋体" panose="02010600030101010101" pitchFamily="2" charset="-122"/>
              </a:rPr>
              <a:t>是有选择地取（而不是枚举所有的）基本可行解，即是从可行域的一个顶点出发，沿着</a:t>
            </a:r>
            <a:r>
              <a:rPr lang="zh-CN" altLang="en-US" sz="2400" i="0" dirty="0">
                <a:solidFill>
                  <a:srgbClr val="0000FF"/>
                </a:solidFill>
                <a:latin typeface="宋体" panose="02010600030101010101" pitchFamily="2" charset="-122"/>
              </a:rPr>
              <a:t>可行域的边界</a:t>
            </a:r>
            <a:r>
              <a:rPr lang="zh-CN" altLang="en-US" sz="2400" i="0" dirty="0">
                <a:solidFill>
                  <a:srgbClr val="000000"/>
                </a:solidFill>
                <a:latin typeface="宋体" panose="02010600030101010101" pitchFamily="2" charset="-122"/>
              </a:rPr>
              <a:t>移到另一个相邻的</a:t>
            </a:r>
            <a:r>
              <a:rPr lang="zh-CN" altLang="en-US" sz="2400" i="0" dirty="0">
                <a:solidFill>
                  <a:srgbClr val="000000"/>
                </a:solidFill>
                <a:latin typeface="Arial" panose="020B0604020202020204" pitchFamily="34" charset="0"/>
              </a:rPr>
              <a:t>顶</a:t>
            </a:r>
            <a:r>
              <a:rPr lang="zh-CN" altLang="en-US" sz="2400" i="0" dirty="0">
                <a:solidFill>
                  <a:srgbClr val="000000"/>
                </a:solidFill>
                <a:latin typeface="宋体" panose="02010600030101010101" pitchFamily="2" charset="-122"/>
              </a:rPr>
              <a:t>点，要求新</a:t>
            </a:r>
            <a:r>
              <a:rPr lang="zh-CN" altLang="en-US" sz="2400" i="0" dirty="0">
                <a:solidFill>
                  <a:srgbClr val="000000"/>
                </a:solidFill>
                <a:latin typeface="Arial" panose="020B0604020202020204" pitchFamily="34" charset="0"/>
              </a:rPr>
              <a:t>顶</a:t>
            </a:r>
            <a:r>
              <a:rPr lang="zh-CN" altLang="en-US" sz="2400" i="0" dirty="0">
                <a:solidFill>
                  <a:srgbClr val="000000"/>
                </a:solidFill>
                <a:latin typeface="宋体" panose="02010600030101010101" pitchFamily="2" charset="-122"/>
              </a:rPr>
              <a:t>点的目标函数值不比原目标函数值差，</a:t>
            </a:r>
            <a:r>
              <a:rPr kumimoji="0" lang="zh-CN" altLang="en-US" sz="2400" i="0" dirty="0">
                <a:solidFill>
                  <a:srgbClr val="000000"/>
                </a:solidFill>
                <a:latin typeface="Arial" panose="020B0604020202020204" pitchFamily="34" charset="0"/>
              </a:rPr>
              <a:t>如此迭代，直至找到最优解，或判定问题无界。</a:t>
            </a:r>
            <a:r>
              <a:rPr lang="zh-CN" altLang="en-US" sz="2400" i="0" dirty="0">
                <a:solidFill>
                  <a:srgbClr val="000000"/>
                </a:solidFill>
                <a:latin typeface="宋体" panose="02010600030101010101" pitchFamily="2" charset="-122"/>
              </a:rPr>
              <a:t>    </a:t>
            </a:r>
            <a:endParaRPr lang="zh-CN" altLang="en-US" sz="2400" i="0" dirty="0">
              <a:solidFill>
                <a:srgbClr val="000000"/>
              </a:solidFill>
              <a:latin typeface="宋体" panose="02010600030101010101" pitchFamily="2" charset="-122"/>
            </a:endParaRPr>
          </a:p>
        </p:txBody>
      </p:sp>
      <p:grpSp>
        <p:nvGrpSpPr>
          <p:cNvPr id="6" name="Group 24"/>
          <p:cNvGrpSpPr/>
          <p:nvPr/>
        </p:nvGrpSpPr>
        <p:grpSpPr bwMode="auto">
          <a:xfrm>
            <a:off x="684213" y="2781300"/>
            <a:ext cx="5041900" cy="3095625"/>
            <a:chOff x="612" y="1842"/>
            <a:chExt cx="3176" cy="1950"/>
          </a:xfrm>
        </p:grpSpPr>
        <p:sp>
          <p:nvSpPr>
            <p:cNvPr id="8" name="AutoShape 4" descr="蓝色砂纸"/>
            <p:cNvSpPr>
              <a:spLocks noChangeArrowheads="1"/>
            </p:cNvSpPr>
            <p:nvPr/>
          </p:nvSpPr>
          <p:spPr bwMode="auto">
            <a:xfrm>
              <a:off x="718" y="1842"/>
              <a:ext cx="1559" cy="279"/>
            </a:xfrm>
            <a:prstGeom prst="roundRect">
              <a:avLst>
                <a:gd name="adj" fmla="val 16667"/>
              </a:avLst>
            </a:prstGeom>
            <a:blipFill dpi="0" rotWithShape="0">
              <a:blip r:embed="rId1"/>
              <a:srcRect/>
              <a:tile tx="0" ty="0" sx="100000" sy="100000" flip="none" algn="tl"/>
            </a:blipFill>
            <a:ln>
              <a:noFill/>
            </a:ln>
            <a:extLst>
              <a:ext uri="{91240B29-F687-4F45-9708-019B960494DF}">
                <a14:hiddenLine xmlns:a14="http://schemas.microsoft.com/office/drawing/2010/main" w="57150">
                  <a:solidFill>
                    <a:srgbClr val="000000"/>
                  </a:solidFill>
                  <a:round/>
                </a14:hiddenLine>
              </a:ext>
            </a:extLst>
          </p:spPr>
          <p:txBody>
            <a:bodyPr wrap="none" lIns="92075" tIns="46038" rIns="92075" bIns="46038" anchor="ct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algn="ctr" eaLnBrk="1" fontAlgn="t" hangingPunct="1">
                <a:lnSpc>
                  <a:spcPct val="80000"/>
                </a:lnSpc>
                <a:spcBef>
                  <a:spcPct val="20000"/>
                </a:spcBef>
                <a:buClr>
                  <a:schemeClr val="hlink"/>
                </a:buClr>
                <a:buSzPct val="80000"/>
                <a:buFont typeface="Monotype Sorts" pitchFamily="2" charset="2"/>
                <a:buNone/>
              </a:pPr>
              <a:r>
                <a:rPr kumimoji="0" lang="zh-CN" altLang="en-US" sz="2200" b="1" i="0">
                  <a:solidFill>
                    <a:srgbClr val="3333CC"/>
                  </a:solidFill>
                  <a:latin typeface="黑体" panose="02010609060101010101" pitchFamily="49" charset="-122"/>
                  <a:ea typeface="黑体" panose="02010609060101010101" pitchFamily="49" charset="-122"/>
                </a:rPr>
                <a:t>初始基本可行解</a:t>
              </a:r>
              <a:endParaRPr kumimoji="0" lang="zh-CN" altLang="en-US" sz="2200" b="1" i="0">
                <a:solidFill>
                  <a:srgbClr val="3333CC"/>
                </a:solidFill>
                <a:latin typeface="黑体" panose="02010609060101010101" pitchFamily="49" charset="-122"/>
                <a:ea typeface="黑体" panose="02010609060101010101" pitchFamily="49" charset="-122"/>
              </a:endParaRPr>
            </a:p>
          </p:txBody>
        </p:sp>
        <p:sp>
          <p:nvSpPr>
            <p:cNvPr id="9" name="AutoShape 5" descr="蓝色砂纸"/>
            <p:cNvSpPr>
              <a:spLocks noChangeArrowheads="1"/>
            </p:cNvSpPr>
            <p:nvPr/>
          </p:nvSpPr>
          <p:spPr bwMode="auto">
            <a:xfrm>
              <a:off x="612" y="2523"/>
              <a:ext cx="1736" cy="588"/>
            </a:xfrm>
            <a:prstGeom prst="diamond">
              <a:avLst/>
            </a:prstGeom>
            <a:blipFill dpi="0" rotWithShape="0">
              <a:blip r:embed="rId1"/>
              <a:srcRect/>
              <a:tile tx="0" ty="0" sx="100000" sy="100000" flip="none" algn="tl"/>
            </a:blipFill>
            <a:ln>
              <a:noFill/>
            </a:ln>
            <a:extLst>
              <a:ext uri="{91240B29-F687-4F45-9708-019B960494DF}">
                <a14:hiddenLine xmlns:a14="http://schemas.microsoft.com/office/drawing/2010/main" w="57150">
                  <a:solidFill>
                    <a:srgbClr val="000000"/>
                  </a:solidFill>
                  <a:miter lim="800000"/>
                  <a:headEnd/>
                  <a:tailEnd/>
                </a14:hiddenLine>
              </a:ext>
            </a:extLst>
          </p:spPr>
          <p:txBody>
            <a:bodyPr wrap="none" lIns="92075" tIns="46038" rIns="92075" bIns="46038" anchor="ct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algn="ctr" eaLnBrk="1" fontAlgn="t" hangingPunct="1">
                <a:lnSpc>
                  <a:spcPct val="80000"/>
                </a:lnSpc>
                <a:spcBef>
                  <a:spcPct val="20000"/>
                </a:spcBef>
                <a:buClr>
                  <a:schemeClr val="hlink"/>
                </a:buClr>
                <a:buSzPct val="80000"/>
                <a:buFont typeface="Monotype Sorts" pitchFamily="2" charset="2"/>
                <a:buNone/>
              </a:pPr>
              <a:r>
                <a:rPr kumimoji="0" lang="zh-CN" altLang="en-US" sz="2200" b="1" i="0">
                  <a:solidFill>
                    <a:srgbClr val="3333CC"/>
                  </a:solidFill>
                  <a:latin typeface="黑体" panose="02010609060101010101" pitchFamily="49" charset="-122"/>
                  <a:ea typeface="黑体" panose="02010609060101010101" pitchFamily="49" charset="-122"/>
                </a:rPr>
                <a:t>是否最优解或</a:t>
              </a:r>
              <a:endParaRPr kumimoji="0" lang="zh-CN" altLang="en-US" sz="2200" b="1" i="0">
                <a:solidFill>
                  <a:srgbClr val="3333CC"/>
                </a:solidFill>
                <a:latin typeface="黑体" panose="02010609060101010101" pitchFamily="49" charset="-122"/>
                <a:ea typeface="黑体" panose="02010609060101010101" pitchFamily="49" charset="-122"/>
              </a:endParaRPr>
            </a:p>
            <a:p>
              <a:pPr algn="ctr" eaLnBrk="1" fontAlgn="t" hangingPunct="1">
                <a:lnSpc>
                  <a:spcPct val="80000"/>
                </a:lnSpc>
                <a:spcBef>
                  <a:spcPct val="20000"/>
                </a:spcBef>
                <a:buClr>
                  <a:schemeClr val="hlink"/>
                </a:buClr>
                <a:buSzPct val="80000"/>
                <a:buFont typeface="Monotype Sorts" pitchFamily="2" charset="2"/>
                <a:buNone/>
              </a:pPr>
              <a:r>
                <a:rPr kumimoji="0" lang="zh-CN" altLang="en-US" sz="2200" b="1" i="0">
                  <a:solidFill>
                    <a:srgbClr val="3333CC"/>
                  </a:solidFill>
                  <a:latin typeface="黑体" panose="02010609060101010101" pitchFamily="49" charset="-122"/>
                  <a:ea typeface="黑体" panose="02010609060101010101" pitchFamily="49" charset="-122"/>
                </a:rPr>
                <a:t>无界解</a:t>
              </a:r>
              <a:r>
                <a:rPr kumimoji="0" lang="en-US" altLang="zh-CN" sz="2200" b="1" i="0">
                  <a:solidFill>
                    <a:srgbClr val="3333CC"/>
                  </a:solidFill>
                  <a:latin typeface="黑体" panose="02010609060101010101" pitchFamily="49" charset="-122"/>
                  <a:ea typeface="黑体" panose="02010609060101010101" pitchFamily="49" charset="-122"/>
                </a:rPr>
                <a:t>?</a:t>
              </a:r>
              <a:endParaRPr kumimoji="0" lang="en-US" altLang="zh-CN" sz="2200" b="1" i="0">
                <a:solidFill>
                  <a:srgbClr val="3333CC"/>
                </a:solidFill>
                <a:latin typeface="黑体" panose="02010609060101010101" pitchFamily="49" charset="-122"/>
                <a:ea typeface="黑体" panose="02010609060101010101" pitchFamily="49" charset="-122"/>
              </a:endParaRPr>
            </a:p>
          </p:txBody>
        </p:sp>
        <p:sp>
          <p:nvSpPr>
            <p:cNvPr id="10" name="AutoShape 6" descr="蓝色砂纸"/>
            <p:cNvSpPr>
              <a:spLocks noChangeArrowheads="1"/>
            </p:cNvSpPr>
            <p:nvPr/>
          </p:nvSpPr>
          <p:spPr bwMode="auto">
            <a:xfrm>
              <a:off x="754" y="3513"/>
              <a:ext cx="1558" cy="279"/>
            </a:xfrm>
            <a:prstGeom prst="roundRect">
              <a:avLst>
                <a:gd name="adj" fmla="val 16667"/>
              </a:avLst>
            </a:prstGeom>
            <a:blipFill dpi="0" rotWithShape="0">
              <a:blip r:embed="rId1"/>
              <a:srcRect/>
              <a:tile tx="0" ty="0" sx="100000" sy="100000" flip="none" algn="tl"/>
            </a:blipFill>
            <a:ln>
              <a:noFill/>
            </a:ln>
            <a:extLst>
              <a:ext uri="{91240B29-F687-4F45-9708-019B960494DF}">
                <a14:hiddenLine xmlns:a14="http://schemas.microsoft.com/office/drawing/2010/main" w="57150">
                  <a:solidFill>
                    <a:srgbClr val="000000"/>
                  </a:solidFill>
                  <a:round/>
                </a14:hiddenLine>
              </a:ext>
            </a:extLst>
          </p:spPr>
          <p:txBody>
            <a:bodyPr wrap="none" lIns="92075" tIns="46038" rIns="92075" bIns="46038" anchor="ct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algn="ctr" eaLnBrk="1" fontAlgn="t" hangingPunct="1">
                <a:lnSpc>
                  <a:spcPct val="80000"/>
                </a:lnSpc>
                <a:spcBef>
                  <a:spcPct val="20000"/>
                </a:spcBef>
                <a:buClr>
                  <a:schemeClr val="hlink"/>
                </a:buClr>
                <a:buSzPct val="80000"/>
                <a:buFont typeface="Monotype Sorts" pitchFamily="2" charset="2"/>
                <a:buNone/>
              </a:pPr>
              <a:r>
                <a:rPr kumimoji="0" lang="zh-CN" altLang="en-US" sz="2200" b="1" i="0">
                  <a:solidFill>
                    <a:srgbClr val="3333CC"/>
                  </a:solidFill>
                  <a:latin typeface="黑体" panose="02010609060101010101" pitchFamily="49" charset="-122"/>
                  <a:ea typeface="黑体" panose="02010609060101010101" pitchFamily="49" charset="-122"/>
                </a:rPr>
                <a:t>结束</a:t>
              </a:r>
              <a:endParaRPr kumimoji="0" lang="zh-CN" altLang="en-US" sz="2200" b="1" i="0">
                <a:solidFill>
                  <a:srgbClr val="3333CC"/>
                </a:solidFill>
                <a:latin typeface="黑体" panose="02010609060101010101" pitchFamily="49" charset="-122"/>
                <a:ea typeface="黑体" panose="02010609060101010101" pitchFamily="49" charset="-122"/>
              </a:endParaRPr>
            </a:p>
          </p:txBody>
        </p:sp>
        <p:sp>
          <p:nvSpPr>
            <p:cNvPr id="11" name="Rectangle 7" descr="蓝色砂纸"/>
            <p:cNvSpPr>
              <a:spLocks noChangeArrowheads="1"/>
            </p:cNvSpPr>
            <p:nvPr/>
          </p:nvSpPr>
          <p:spPr bwMode="auto">
            <a:xfrm>
              <a:off x="2789" y="2614"/>
              <a:ext cx="999" cy="754"/>
            </a:xfrm>
            <a:prstGeom prst="rect">
              <a:avLst/>
            </a:prstGeom>
            <a:blipFill dpi="0" rotWithShape="0">
              <a:blip r:embed="rId1"/>
              <a:srcRect/>
              <a:tile tx="0" ty="0" sx="100000" sy="100000" flip="none" algn="tl"/>
            </a:blipFill>
            <a:ln>
              <a:noFill/>
            </a:ln>
            <a:extLst>
              <a:ext uri="{91240B29-F687-4F45-9708-019B960494DF}">
                <a14:hiddenLine xmlns:a14="http://schemas.microsoft.com/office/drawing/2010/main" w="57150">
                  <a:solidFill>
                    <a:srgbClr val="000000"/>
                  </a:solidFill>
                  <a:miter lim="800000"/>
                  <a:headEnd/>
                  <a:tailEnd/>
                </a14:hiddenLine>
              </a:ext>
            </a:extLst>
          </p:spPr>
          <p:txBody>
            <a:bodyPr wrap="none" lIns="92075" tIns="46038" rIns="92075" bIns="46038" anchor="ct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algn="ctr" eaLnBrk="1" fontAlgn="t" hangingPunct="1">
                <a:lnSpc>
                  <a:spcPct val="80000"/>
                </a:lnSpc>
                <a:spcBef>
                  <a:spcPct val="20000"/>
                </a:spcBef>
                <a:buClr>
                  <a:schemeClr val="hlink"/>
                </a:buClr>
                <a:buSzPct val="80000"/>
                <a:buFont typeface="Monotype Sorts" pitchFamily="2" charset="2"/>
                <a:buNone/>
              </a:pPr>
              <a:r>
                <a:rPr kumimoji="0" lang="zh-CN" altLang="en-US" sz="2200" b="1" i="0">
                  <a:solidFill>
                    <a:srgbClr val="3333CC"/>
                  </a:solidFill>
                  <a:latin typeface="黑体" panose="02010609060101010101" pitchFamily="49" charset="-122"/>
                  <a:ea typeface="黑体" panose="02010609060101010101" pitchFamily="49" charset="-122"/>
                </a:rPr>
                <a:t>沿边界找</a:t>
              </a:r>
              <a:endParaRPr kumimoji="0" lang="zh-CN" altLang="en-US" sz="2200" b="1" i="0">
                <a:solidFill>
                  <a:srgbClr val="3333CC"/>
                </a:solidFill>
                <a:latin typeface="黑体" panose="02010609060101010101" pitchFamily="49" charset="-122"/>
                <a:ea typeface="黑体" panose="02010609060101010101" pitchFamily="49" charset="-122"/>
              </a:endParaRPr>
            </a:p>
            <a:p>
              <a:pPr algn="ctr" eaLnBrk="1" fontAlgn="t" hangingPunct="1">
                <a:lnSpc>
                  <a:spcPct val="80000"/>
                </a:lnSpc>
                <a:spcBef>
                  <a:spcPct val="20000"/>
                </a:spcBef>
                <a:buClr>
                  <a:schemeClr val="hlink"/>
                </a:buClr>
                <a:buSzPct val="80000"/>
                <a:buFont typeface="Monotype Sorts" pitchFamily="2" charset="2"/>
                <a:buNone/>
              </a:pPr>
              <a:r>
                <a:rPr kumimoji="0" lang="zh-CN" altLang="en-US" sz="2200" b="1" i="0">
                  <a:solidFill>
                    <a:srgbClr val="3333CC"/>
                  </a:solidFill>
                  <a:latin typeface="黑体" panose="02010609060101010101" pitchFamily="49" charset="-122"/>
                  <a:ea typeface="黑体" panose="02010609060101010101" pitchFamily="49" charset="-122"/>
                </a:rPr>
                <a:t>新的基本</a:t>
              </a:r>
              <a:endParaRPr kumimoji="0" lang="zh-CN" altLang="en-US" sz="2200" b="1" i="0">
                <a:solidFill>
                  <a:srgbClr val="3333CC"/>
                </a:solidFill>
                <a:latin typeface="黑体" panose="02010609060101010101" pitchFamily="49" charset="-122"/>
                <a:ea typeface="黑体" panose="02010609060101010101" pitchFamily="49" charset="-122"/>
              </a:endParaRPr>
            </a:p>
            <a:p>
              <a:pPr algn="ctr" eaLnBrk="1" fontAlgn="t" hangingPunct="1">
                <a:lnSpc>
                  <a:spcPct val="80000"/>
                </a:lnSpc>
                <a:spcBef>
                  <a:spcPct val="20000"/>
                </a:spcBef>
                <a:buClr>
                  <a:schemeClr val="hlink"/>
                </a:buClr>
                <a:buSzPct val="80000"/>
                <a:buFont typeface="Monotype Sorts" pitchFamily="2" charset="2"/>
                <a:buNone/>
              </a:pPr>
              <a:r>
                <a:rPr kumimoji="0" lang="zh-CN" altLang="en-US" sz="2200" b="1" i="0">
                  <a:solidFill>
                    <a:srgbClr val="3333CC"/>
                  </a:solidFill>
                  <a:latin typeface="黑体" panose="02010609060101010101" pitchFamily="49" charset="-122"/>
                  <a:ea typeface="黑体" panose="02010609060101010101" pitchFamily="49" charset="-122"/>
                </a:rPr>
                <a:t>可行解</a:t>
              </a:r>
              <a:endParaRPr kumimoji="0" lang="zh-CN" altLang="en-US" sz="2200" b="1" i="0">
                <a:solidFill>
                  <a:srgbClr val="3333CC"/>
                </a:solidFill>
                <a:latin typeface="黑体" panose="02010609060101010101" pitchFamily="49" charset="-122"/>
                <a:ea typeface="黑体" panose="02010609060101010101" pitchFamily="49" charset="-122"/>
              </a:endParaRPr>
            </a:p>
          </p:txBody>
        </p:sp>
        <p:sp>
          <p:nvSpPr>
            <p:cNvPr id="12" name="Line 8"/>
            <p:cNvSpPr>
              <a:spLocks noChangeShapeType="1"/>
            </p:cNvSpPr>
            <p:nvPr/>
          </p:nvSpPr>
          <p:spPr bwMode="auto">
            <a:xfrm>
              <a:off x="1462" y="2121"/>
              <a:ext cx="0" cy="402"/>
            </a:xfrm>
            <a:prstGeom prst="line">
              <a:avLst/>
            </a:prstGeom>
            <a:noFill/>
            <a:ln w="57150">
              <a:solidFill>
                <a:schemeClr val="hlink"/>
              </a:solidFill>
              <a:rou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x-none"/>
            </a:p>
          </p:txBody>
        </p:sp>
        <p:sp>
          <p:nvSpPr>
            <p:cNvPr id="13" name="Line 9"/>
            <p:cNvSpPr>
              <a:spLocks noChangeShapeType="1"/>
            </p:cNvSpPr>
            <p:nvPr/>
          </p:nvSpPr>
          <p:spPr bwMode="auto">
            <a:xfrm>
              <a:off x="1498" y="3111"/>
              <a:ext cx="0" cy="402"/>
            </a:xfrm>
            <a:prstGeom prst="line">
              <a:avLst/>
            </a:prstGeom>
            <a:noFill/>
            <a:ln w="57150">
              <a:solidFill>
                <a:schemeClr val="hlink"/>
              </a:solidFill>
              <a:rou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x-none"/>
            </a:p>
          </p:txBody>
        </p:sp>
        <p:sp>
          <p:nvSpPr>
            <p:cNvPr id="14" name="Line 10"/>
            <p:cNvSpPr>
              <a:spLocks noChangeShapeType="1"/>
            </p:cNvSpPr>
            <p:nvPr/>
          </p:nvSpPr>
          <p:spPr bwMode="auto">
            <a:xfrm>
              <a:off x="2290" y="2840"/>
              <a:ext cx="496" cy="0"/>
            </a:xfrm>
            <a:prstGeom prst="line">
              <a:avLst/>
            </a:prstGeom>
            <a:noFill/>
            <a:ln w="57150">
              <a:solidFill>
                <a:schemeClr val="hlink"/>
              </a:solidFill>
              <a:rou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x-none"/>
            </a:p>
          </p:txBody>
        </p:sp>
        <p:sp>
          <p:nvSpPr>
            <p:cNvPr id="15" name="Line 11"/>
            <p:cNvSpPr>
              <a:spLocks noChangeShapeType="1"/>
            </p:cNvSpPr>
            <p:nvPr/>
          </p:nvSpPr>
          <p:spPr bwMode="auto">
            <a:xfrm flipV="1">
              <a:off x="3401" y="2275"/>
              <a:ext cx="0" cy="310"/>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wrap="none" lIns="92075" tIns="46038" rIns="92075" bIns="46038" anchor="ctr"/>
            <a:lstStyle/>
            <a:p>
              <a:endParaRPr lang="x-none"/>
            </a:p>
          </p:txBody>
        </p:sp>
        <p:sp>
          <p:nvSpPr>
            <p:cNvPr id="16" name="Line 12"/>
            <p:cNvSpPr>
              <a:spLocks noChangeShapeType="1"/>
            </p:cNvSpPr>
            <p:nvPr/>
          </p:nvSpPr>
          <p:spPr bwMode="auto">
            <a:xfrm flipH="1">
              <a:off x="1474" y="2296"/>
              <a:ext cx="1913" cy="0"/>
            </a:xfrm>
            <a:prstGeom prst="line">
              <a:avLst/>
            </a:prstGeom>
            <a:noFill/>
            <a:ln w="57150">
              <a:solidFill>
                <a:schemeClr val="hlink"/>
              </a:solidFill>
              <a:rou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x-none"/>
            </a:p>
          </p:txBody>
        </p:sp>
        <p:sp>
          <p:nvSpPr>
            <p:cNvPr id="17" name="Rectangle 13"/>
            <p:cNvSpPr>
              <a:spLocks noChangeArrowheads="1"/>
            </p:cNvSpPr>
            <p:nvPr/>
          </p:nvSpPr>
          <p:spPr bwMode="auto">
            <a:xfrm>
              <a:off x="2454" y="2585"/>
              <a:ext cx="21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i="0">
                  <a:solidFill>
                    <a:schemeClr val="hlink"/>
                  </a:solidFill>
                  <a:latin typeface="黑体" panose="02010609060101010101" pitchFamily="49" charset="-122"/>
                  <a:ea typeface="黑体" panose="02010609060101010101" pitchFamily="49" charset="-122"/>
                </a:rPr>
                <a:t>N</a:t>
              </a:r>
              <a:endParaRPr lang="en-US" altLang="zh-CN" sz="2400" i="0">
                <a:solidFill>
                  <a:schemeClr val="hlink"/>
                </a:solidFill>
                <a:latin typeface="黑体" panose="02010609060101010101" pitchFamily="49" charset="-122"/>
                <a:ea typeface="黑体" panose="02010609060101010101" pitchFamily="49" charset="-122"/>
              </a:endParaRPr>
            </a:p>
          </p:txBody>
        </p:sp>
        <p:sp>
          <p:nvSpPr>
            <p:cNvPr id="18" name="Rectangle 14"/>
            <p:cNvSpPr>
              <a:spLocks noChangeArrowheads="1"/>
            </p:cNvSpPr>
            <p:nvPr/>
          </p:nvSpPr>
          <p:spPr bwMode="auto">
            <a:xfrm>
              <a:off x="1250" y="3204"/>
              <a:ext cx="21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i="0">
                  <a:solidFill>
                    <a:schemeClr val="hlink"/>
                  </a:solidFill>
                  <a:latin typeface="黑体" panose="02010609060101010101" pitchFamily="49" charset="-122"/>
                  <a:ea typeface="黑体" panose="02010609060101010101" pitchFamily="49" charset="-122"/>
                </a:rPr>
                <a:t>Y</a:t>
              </a:r>
              <a:endParaRPr lang="en-US" altLang="zh-CN" sz="2400" i="0">
                <a:solidFill>
                  <a:schemeClr val="hlink"/>
                </a:solidFill>
                <a:latin typeface="黑体" panose="02010609060101010101" pitchFamily="49" charset="-122"/>
                <a:ea typeface="黑体" panose="02010609060101010101" pitchFamily="49" charset="-122"/>
              </a:endParaRPr>
            </a:p>
          </p:txBody>
        </p:sp>
      </p:grpSp>
      <p:sp>
        <p:nvSpPr>
          <p:cNvPr id="19" name="Rectangle 15"/>
          <p:cNvSpPr>
            <a:spLocks noChangeArrowheads="1"/>
          </p:cNvSpPr>
          <p:nvPr/>
        </p:nvSpPr>
        <p:spPr bwMode="auto">
          <a:xfrm>
            <a:off x="250825" y="2774950"/>
            <a:ext cx="503238" cy="3390900"/>
          </a:xfrm>
          <a:prstGeom prst="rect">
            <a:avLst/>
          </a:prstGeom>
          <a:solidFill>
            <a:srgbClr val="FFFF99"/>
          </a:solidFill>
          <a:ln w="12700">
            <a:solidFill>
              <a:srgbClr val="0000FF"/>
            </a:solidFill>
            <a:miter lim="800000"/>
            <a:headEnd type="none" w="sm" len="sm"/>
            <a:tailEnd type="none" w="sm" len="sm"/>
          </a:ln>
        </p:spPr>
        <p:txBody>
          <a:bodyPr lIns="92075" tIns="46038" rIns="92075" bIns="46038" anchor="ct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400" i="0">
                <a:latin typeface="黑体" panose="02010609060101010101" pitchFamily="49" charset="-122"/>
                <a:ea typeface="黑体" panose="02010609060101010101" pitchFamily="49" charset="-122"/>
              </a:rPr>
              <a:t>单纯形法的基本过程</a:t>
            </a:r>
            <a:endParaRPr lang="zh-CN" altLang="en-US" sz="2400" i="0">
              <a:latin typeface="黑体" panose="02010609060101010101" pitchFamily="49" charset="-122"/>
              <a:ea typeface="黑体" panose="02010609060101010101" pitchFamily="49" charset="-122"/>
            </a:endParaRPr>
          </a:p>
        </p:txBody>
      </p:sp>
      <p:sp>
        <p:nvSpPr>
          <p:cNvPr id="20" name="Line 23"/>
          <p:cNvSpPr>
            <a:spLocks noChangeShapeType="1"/>
          </p:cNvSpPr>
          <p:nvPr/>
        </p:nvSpPr>
        <p:spPr bwMode="auto">
          <a:xfrm>
            <a:off x="0" y="692150"/>
            <a:ext cx="8153400" cy="0"/>
          </a:xfrm>
          <a:prstGeom prst="line">
            <a:avLst/>
          </a:prstGeom>
          <a:noFill/>
          <a:extLst>
            <a:ext uri="{909E8E84-426E-40DD-AFC4-6F175D3DCCD1}">
              <a14:hiddenFill xmlns:a14="http://schemas.microsoft.com/office/drawing/2010/main">
                <a:noFill/>
              </a14:hiddenFill>
            </a:ext>
          </a:extLst>
        </p:spPr>
        <p:txBody>
          <a:bodyPr/>
          <a:lstStyle/>
          <a:p>
            <a:endParaRPr lang="x-none"/>
          </a:p>
        </p:txBody>
      </p:sp>
      <p:grpSp>
        <p:nvGrpSpPr>
          <p:cNvPr id="21" name="Group 30"/>
          <p:cNvGrpSpPr/>
          <p:nvPr/>
        </p:nvGrpSpPr>
        <p:grpSpPr bwMode="auto">
          <a:xfrm>
            <a:off x="2771775" y="4581525"/>
            <a:ext cx="4240213" cy="1657350"/>
            <a:chOff x="1746" y="2886"/>
            <a:chExt cx="2671" cy="1044"/>
          </a:xfrm>
        </p:grpSpPr>
        <p:sp>
          <p:nvSpPr>
            <p:cNvPr id="22" name="Rectangle 20" descr="蓝色面巾纸"/>
            <p:cNvSpPr>
              <a:spLocks noChangeArrowheads="1"/>
            </p:cNvSpPr>
            <p:nvPr/>
          </p:nvSpPr>
          <p:spPr bwMode="auto">
            <a:xfrm>
              <a:off x="2381" y="3521"/>
              <a:ext cx="2036" cy="409"/>
            </a:xfrm>
            <a:prstGeom prst="rect">
              <a:avLst/>
            </a:prstGeom>
            <a:blipFill dpi="0" rotWithShape="1">
              <a:blip r:embed="rId1"/>
              <a:srcRect/>
              <a:tile tx="0" ty="0" sx="100000" sy="100000" flip="none" algn="tl"/>
            </a:blipFill>
            <a:ln w="9525">
              <a:solidFill>
                <a:srgbClr val="FF0000"/>
              </a:solidFill>
              <a:miter lim="800000"/>
            </a:ln>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0" lang="zh-CN" altLang="en-US" sz="2400" b="1" i="0">
                  <a:solidFill>
                    <a:srgbClr val="000000"/>
                  </a:solidFill>
                  <a:latin typeface="Arial" panose="020B0604020202020204" pitchFamily="34" charset="0"/>
                </a:rPr>
                <a:t>怎么判断达到最优解</a:t>
              </a:r>
              <a:r>
                <a:rPr kumimoji="0" lang="en-US" altLang="zh-CN" sz="2400" b="1" i="0">
                  <a:solidFill>
                    <a:srgbClr val="000000"/>
                  </a:solidFill>
                  <a:latin typeface="Arial" panose="020B0604020202020204" pitchFamily="34" charset="0"/>
                </a:rPr>
                <a:t>?</a:t>
              </a:r>
              <a:endParaRPr kumimoji="0" lang="en-US" altLang="zh-CN" sz="2400" b="1" i="0">
                <a:solidFill>
                  <a:srgbClr val="000000"/>
                </a:solidFill>
                <a:latin typeface="Arial" panose="020B0604020202020204" pitchFamily="34" charset="0"/>
              </a:endParaRPr>
            </a:p>
          </p:txBody>
        </p:sp>
        <p:sp>
          <p:nvSpPr>
            <p:cNvPr id="23" name="Line 25"/>
            <p:cNvSpPr>
              <a:spLocks noChangeShapeType="1"/>
            </p:cNvSpPr>
            <p:nvPr/>
          </p:nvSpPr>
          <p:spPr bwMode="auto">
            <a:xfrm flipH="1" flipV="1">
              <a:off x="1746" y="2886"/>
              <a:ext cx="635" cy="635"/>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x-none"/>
            </a:p>
          </p:txBody>
        </p:sp>
      </p:grpSp>
      <p:grpSp>
        <p:nvGrpSpPr>
          <p:cNvPr id="24" name="Group 29"/>
          <p:cNvGrpSpPr/>
          <p:nvPr/>
        </p:nvGrpSpPr>
        <p:grpSpPr bwMode="auto">
          <a:xfrm>
            <a:off x="3251200" y="2492375"/>
            <a:ext cx="4344988" cy="1196975"/>
            <a:chOff x="2048" y="1570"/>
            <a:chExt cx="2737" cy="754"/>
          </a:xfrm>
        </p:grpSpPr>
        <p:sp>
          <p:nvSpPr>
            <p:cNvPr id="25" name="Rectangle 18"/>
            <p:cNvSpPr>
              <a:spLocks noChangeArrowheads="1"/>
            </p:cNvSpPr>
            <p:nvPr/>
          </p:nvSpPr>
          <p:spPr bwMode="auto">
            <a:xfrm>
              <a:off x="3606" y="1570"/>
              <a:ext cx="1179" cy="754"/>
            </a:xfrm>
            <a:prstGeom prst="rect">
              <a:avLst/>
            </a:prstGeom>
            <a:solidFill>
              <a:srgbClr val="FFFF99"/>
            </a:solidFill>
            <a:ln w="9525">
              <a:solidFill>
                <a:srgbClr val="FF0000"/>
              </a:solidFill>
              <a:miter lim="800000"/>
            </a:ln>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0" lang="zh-CN" altLang="en-US" sz="2400" b="1" i="0">
                  <a:solidFill>
                    <a:srgbClr val="000000"/>
                  </a:solidFill>
                  <a:latin typeface="Arial" panose="020B0604020202020204" pitchFamily="34" charset="0"/>
                </a:rPr>
                <a:t>如何给出初始基可行解</a:t>
              </a:r>
              <a:r>
                <a:rPr kumimoji="0" lang="en-US" altLang="zh-CN" sz="2400" b="1" i="0">
                  <a:solidFill>
                    <a:srgbClr val="000000"/>
                  </a:solidFill>
                  <a:latin typeface="Arial" panose="020B0604020202020204" pitchFamily="34" charset="0"/>
                </a:rPr>
                <a:t>?</a:t>
              </a:r>
              <a:endParaRPr kumimoji="0" lang="en-US" altLang="zh-CN" sz="2400" b="1" i="0">
                <a:solidFill>
                  <a:srgbClr val="000000"/>
                </a:solidFill>
                <a:latin typeface="Arial" panose="020B0604020202020204" pitchFamily="34" charset="0"/>
              </a:endParaRPr>
            </a:p>
          </p:txBody>
        </p:sp>
        <p:sp>
          <p:nvSpPr>
            <p:cNvPr id="26" name="Line 26"/>
            <p:cNvSpPr>
              <a:spLocks noChangeShapeType="1"/>
            </p:cNvSpPr>
            <p:nvPr/>
          </p:nvSpPr>
          <p:spPr bwMode="auto">
            <a:xfrm flipH="1" flipV="1">
              <a:off x="2048" y="1923"/>
              <a:ext cx="1560" cy="1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x-none"/>
            </a:p>
          </p:txBody>
        </p:sp>
      </p:grpSp>
      <p:grpSp>
        <p:nvGrpSpPr>
          <p:cNvPr id="27" name="Group 28"/>
          <p:cNvGrpSpPr/>
          <p:nvPr/>
        </p:nvGrpSpPr>
        <p:grpSpPr bwMode="auto">
          <a:xfrm>
            <a:off x="5724525" y="4292600"/>
            <a:ext cx="3311525" cy="649288"/>
            <a:chOff x="3606" y="2704"/>
            <a:chExt cx="2086" cy="409"/>
          </a:xfrm>
        </p:grpSpPr>
        <p:sp>
          <p:nvSpPr>
            <p:cNvPr id="28" name="Rectangle 19"/>
            <p:cNvSpPr>
              <a:spLocks noChangeArrowheads="1"/>
            </p:cNvSpPr>
            <p:nvPr/>
          </p:nvSpPr>
          <p:spPr bwMode="auto">
            <a:xfrm>
              <a:off x="4150" y="2704"/>
              <a:ext cx="1542" cy="409"/>
            </a:xfrm>
            <a:prstGeom prst="rect">
              <a:avLst/>
            </a:prstGeom>
            <a:solidFill>
              <a:srgbClr val="CCFFFF"/>
            </a:solidFill>
            <a:ln w="9525">
              <a:solidFill>
                <a:srgbClr val="FF0000"/>
              </a:solidFill>
              <a:miter lim="800000"/>
            </a:ln>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kumimoji="0" lang="zh-CN" altLang="en-US" sz="2400" b="1" i="0">
                  <a:solidFill>
                    <a:srgbClr val="000000"/>
                  </a:solidFill>
                  <a:latin typeface="Arial" panose="020B0604020202020204" pitchFamily="34" charset="0"/>
                </a:rPr>
                <a:t>迭代如何进行</a:t>
              </a:r>
              <a:r>
                <a:rPr kumimoji="0" lang="en-US" altLang="zh-CN" sz="2400" b="1" i="0">
                  <a:solidFill>
                    <a:srgbClr val="000000"/>
                  </a:solidFill>
                  <a:latin typeface="Arial" panose="020B0604020202020204" pitchFamily="34" charset="0"/>
                </a:rPr>
                <a:t>?</a:t>
              </a:r>
              <a:endParaRPr kumimoji="0" lang="en-US" altLang="zh-CN" sz="2400" b="1" i="0">
                <a:solidFill>
                  <a:srgbClr val="000000"/>
                </a:solidFill>
                <a:latin typeface="Arial" panose="020B0604020202020204" pitchFamily="34" charset="0"/>
              </a:endParaRPr>
            </a:p>
          </p:txBody>
        </p:sp>
        <p:sp>
          <p:nvSpPr>
            <p:cNvPr id="29" name="Line 27"/>
            <p:cNvSpPr>
              <a:spLocks noChangeShapeType="1"/>
            </p:cNvSpPr>
            <p:nvPr/>
          </p:nvSpPr>
          <p:spPr bwMode="auto">
            <a:xfrm flipH="1">
              <a:off x="3606" y="2886"/>
              <a:ext cx="544"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x-none"/>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box(in)">
                                      <p:cBhvr>
                                        <p:cTn id="3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28927" y="38094"/>
            <a:ext cx="6072230" cy="582594"/>
          </a:xfrm>
        </p:spPr>
        <p:txBody>
          <a:bodyPr/>
          <a:lstStyle/>
          <a:p>
            <a:r>
              <a:rPr kumimoji="1" lang="zh-CN" altLang="en-US" dirty="0">
                <a:latin typeface="Times New Roman" panose="02020603050405020304" pitchFamily="18" charset="0"/>
                <a:cs typeface="Times New Roman" panose="02020603050405020304" pitchFamily="18" charset="0"/>
              </a:rPr>
              <a:t>整体回顾</a:t>
            </a:r>
            <a:endParaRPr kumimoji="1" lang="zh-CN" altLang="en-US" dirty="0">
              <a:latin typeface="Times New Roman" panose="02020603050405020304" pitchFamily="18" charset="0"/>
              <a:cs typeface="Times New Roman" panose="02020603050405020304" pitchFamily="18" charset="0"/>
            </a:endParaRPr>
          </a:p>
        </p:txBody>
      </p:sp>
      <p:graphicFrame>
        <p:nvGraphicFramePr>
          <p:cNvPr id="88" name="Object 3"/>
          <p:cNvGraphicFramePr>
            <a:graphicFrameLocks noChangeAspect="1"/>
          </p:cNvGraphicFramePr>
          <p:nvPr/>
        </p:nvGraphicFramePr>
        <p:xfrm>
          <a:off x="2123728" y="1909528"/>
          <a:ext cx="5358118" cy="3449960"/>
        </p:xfrm>
        <a:graphic>
          <a:graphicData uri="http://schemas.openxmlformats.org/presentationml/2006/ole">
            <mc:AlternateContent xmlns:mc="http://schemas.openxmlformats.org/markup-compatibility/2006">
              <mc:Choice xmlns:v="urn:schemas-microsoft-com:vml" Requires="v">
                <p:oleObj spid="_x0000_s3073" name="Equation" r:id="rId1" imgW="64312800" imgH="41452800" progId="Equation.DSMT4">
                  <p:embed/>
                </p:oleObj>
              </mc:Choice>
              <mc:Fallback>
                <p:oleObj name="Equation" r:id="rId1" imgW="64312800" imgH="41452800" progId="Equation.DSMT4">
                  <p:embed/>
                  <p:pic>
                    <p:nvPicPr>
                      <p:cNvPr id="0" name="图片 3072"/>
                      <p:cNvPicPr>
                        <a:picLocks noChangeAspect="1"/>
                      </p:cNvPicPr>
                      <p:nvPr/>
                    </p:nvPicPr>
                    <p:blipFill>
                      <a:blip r:embed="rId2"/>
                      <a:stretch>
                        <a:fillRect/>
                      </a:stretch>
                    </p:blipFill>
                    <p:spPr>
                      <a:xfrm>
                        <a:off x="2123728" y="1909528"/>
                        <a:ext cx="5358118" cy="3449960"/>
                      </a:xfrm>
                      <a:prstGeom prst="rect">
                        <a:avLst/>
                      </a:prstGeom>
                      <a:noFill/>
                      <a:ln w="9525">
                        <a:noFill/>
                      </a:ln>
                    </p:spPr>
                  </p:pic>
                </p:oleObj>
              </mc:Fallback>
            </mc:AlternateContent>
          </a:graphicData>
        </a:graphic>
      </p:graphicFrame>
      <p:sp>
        <p:nvSpPr>
          <p:cNvPr id="89" name="AutoShape 4"/>
          <p:cNvSpPr>
            <a:spLocks noChangeArrowheads="1"/>
          </p:cNvSpPr>
          <p:nvPr/>
        </p:nvSpPr>
        <p:spPr bwMode="auto">
          <a:xfrm>
            <a:off x="6019800" y="1133128"/>
            <a:ext cx="1676400" cy="609600"/>
          </a:xfrm>
          <a:prstGeom prst="wedgeRoundRectCallout">
            <a:avLst>
              <a:gd name="adj1" fmla="val -128694"/>
              <a:gd name="adj2" fmla="val 75523"/>
              <a:gd name="adj3" fmla="val 16667"/>
            </a:avLst>
          </a:prstGeom>
          <a:noFill/>
          <a:ln w="381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kumimoji="1" lang="zh-CN" altLang="en-US">
                <a:solidFill>
                  <a:schemeClr val="hlink"/>
                </a:solidFill>
                <a:latin typeface="Times New Roman" panose="02020603050405020304" pitchFamily="18" charset="0"/>
                <a:ea typeface="楷体_GB2312" pitchFamily="49" charset="-122"/>
              </a:rPr>
              <a:t>目标函数</a:t>
            </a:r>
            <a:endParaRPr kumimoji="1" lang="zh-CN" altLang="en-US">
              <a:solidFill>
                <a:schemeClr val="hlink"/>
              </a:solidFill>
              <a:latin typeface="Times New Roman" panose="02020603050405020304" pitchFamily="18" charset="0"/>
              <a:ea typeface="楷体_GB2312" pitchFamily="49" charset="-122"/>
            </a:endParaRPr>
          </a:p>
        </p:txBody>
      </p:sp>
      <p:sp>
        <p:nvSpPr>
          <p:cNvPr id="90" name="AutoShape 5"/>
          <p:cNvSpPr>
            <a:spLocks noChangeArrowheads="1"/>
          </p:cNvSpPr>
          <p:nvPr/>
        </p:nvSpPr>
        <p:spPr bwMode="auto">
          <a:xfrm>
            <a:off x="685800" y="5095528"/>
            <a:ext cx="1676400" cy="609600"/>
          </a:xfrm>
          <a:prstGeom prst="wedgeRoundRectCallout">
            <a:avLst>
              <a:gd name="adj1" fmla="val 64773"/>
              <a:gd name="adj2" fmla="val -178384"/>
              <a:gd name="adj3" fmla="val 16667"/>
            </a:avLst>
          </a:prstGeom>
          <a:noFill/>
          <a:ln w="381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kumimoji="1" lang="zh-CN" altLang="en-US">
                <a:solidFill>
                  <a:schemeClr val="hlink"/>
                </a:solidFill>
                <a:latin typeface="Times New Roman" panose="02020603050405020304" pitchFamily="18" charset="0"/>
                <a:ea typeface="楷体_GB2312" pitchFamily="49" charset="-122"/>
              </a:rPr>
              <a:t>约束条件</a:t>
            </a:r>
            <a:endParaRPr kumimoji="1" lang="zh-CN" altLang="en-US">
              <a:solidFill>
                <a:schemeClr val="hlink"/>
              </a:solidFill>
              <a:latin typeface="Times New Roman" panose="02020603050405020304" pitchFamily="18" charset="0"/>
              <a:ea typeface="楷体_GB2312" pitchFamily="49" charset="-122"/>
            </a:endParaRPr>
          </a:p>
        </p:txBody>
      </p:sp>
      <p:sp>
        <p:nvSpPr>
          <p:cNvPr id="91" name="AutoShape 6"/>
          <p:cNvSpPr>
            <a:spLocks noChangeArrowheads="1"/>
          </p:cNvSpPr>
          <p:nvPr/>
        </p:nvSpPr>
        <p:spPr bwMode="auto">
          <a:xfrm>
            <a:off x="685800" y="980728"/>
            <a:ext cx="4419600" cy="533400"/>
          </a:xfrm>
          <a:prstGeom prst="roundRect">
            <a:avLst>
              <a:gd name="adj" fmla="val 16667"/>
            </a:avLst>
          </a:prstGeom>
          <a:noFill/>
          <a:ln w="38100">
            <a:solidFill>
              <a:schemeClr val="tx2"/>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spcBef>
                <a:spcPct val="20000"/>
              </a:spcBef>
              <a:buClr>
                <a:schemeClr val="accent2"/>
              </a:buClr>
              <a:buSzPct val="80000"/>
              <a:buFont typeface="Wingdings" panose="05000000000000000000" pitchFamily="2" charset="2"/>
              <a:buNone/>
            </a:pPr>
            <a:r>
              <a:rPr kumimoji="1" lang="en-US" altLang="zh-CN" sz="2800">
                <a:solidFill>
                  <a:srgbClr val="FF0000"/>
                </a:solidFill>
                <a:latin typeface="Times New Roman" panose="02020603050405020304" pitchFamily="18" charset="0"/>
                <a:ea typeface="楷体_GB2312" pitchFamily="49" charset="-122"/>
              </a:rPr>
              <a:t>(1) </a:t>
            </a:r>
            <a:r>
              <a:rPr kumimoji="1" lang="zh-CN" altLang="en-US" sz="2800">
                <a:solidFill>
                  <a:srgbClr val="FF0000"/>
                </a:solidFill>
                <a:latin typeface="Times New Roman" panose="02020603050405020304" pitchFamily="18" charset="0"/>
                <a:ea typeface="楷体_GB2312" pitchFamily="49" charset="-122"/>
              </a:rPr>
              <a:t>线性规划模型一般形式</a:t>
            </a:r>
            <a:endParaRPr kumimoji="1" lang="zh-CN" altLang="en-US" sz="2800">
              <a:solidFill>
                <a:srgbClr val="FF00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28927" y="38094"/>
            <a:ext cx="6072230" cy="582594"/>
          </a:xfrm>
        </p:spPr>
        <p:txBody>
          <a:bodyPr/>
          <a:lstStyle/>
          <a:p>
            <a:r>
              <a:rPr kumimoji="1" lang="zh-CN" altLang="en-US" dirty="0" smtClean="0">
                <a:latin typeface="Times New Roman" panose="02020603050405020304" pitchFamily="18" charset="0"/>
                <a:cs typeface="Times New Roman" panose="02020603050405020304" pitchFamily="18" charset="0"/>
              </a:rPr>
              <a:t>整体回顾</a:t>
            </a:r>
            <a:endParaRPr kumimoji="1" lang="zh-CN" altLang="en-US" dirty="0">
              <a:latin typeface="Times New Roman" panose="02020603050405020304" pitchFamily="18" charset="0"/>
              <a:cs typeface="Times New Roman" panose="02020603050405020304" pitchFamily="18" charset="0"/>
            </a:endParaRPr>
          </a:p>
        </p:txBody>
      </p:sp>
      <p:sp>
        <p:nvSpPr>
          <p:cNvPr id="84" name="AutoShape 2"/>
          <p:cNvSpPr>
            <a:spLocks noChangeArrowheads="1"/>
          </p:cNvSpPr>
          <p:nvPr/>
        </p:nvSpPr>
        <p:spPr bwMode="auto">
          <a:xfrm>
            <a:off x="5257800" y="1377280"/>
            <a:ext cx="1676400" cy="457200"/>
          </a:xfrm>
          <a:prstGeom prst="wedgeRoundRectCallout">
            <a:avLst>
              <a:gd name="adj1" fmla="val -108051"/>
              <a:gd name="adj2" fmla="val 118750"/>
              <a:gd name="adj3" fmla="val 16667"/>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a:solidFill>
                  <a:srgbClr val="5D093B"/>
                </a:solidFill>
                <a:latin typeface="Times New Roman" panose="02020603050405020304" pitchFamily="18" charset="0"/>
                <a:ea typeface="楷体_GB2312" pitchFamily="49" charset="-122"/>
              </a:rPr>
              <a:t>价值系数</a:t>
            </a:r>
            <a:endParaRPr kumimoji="1" lang="zh-CN" altLang="en-US">
              <a:solidFill>
                <a:srgbClr val="5D093B"/>
              </a:solidFill>
              <a:latin typeface="Times New Roman" panose="02020603050405020304" pitchFamily="18" charset="0"/>
              <a:ea typeface="楷体_GB2312" pitchFamily="49" charset="-122"/>
            </a:endParaRPr>
          </a:p>
        </p:txBody>
      </p:sp>
      <p:sp>
        <p:nvSpPr>
          <p:cNvPr id="85" name="AutoShape 3"/>
          <p:cNvSpPr>
            <a:spLocks noChangeArrowheads="1"/>
          </p:cNvSpPr>
          <p:nvPr/>
        </p:nvSpPr>
        <p:spPr bwMode="auto">
          <a:xfrm>
            <a:off x="6925310" y="2596480"/>
            <a:ext cx="1600200" cy="533400"/>
          </a:xfrm>
          <a:prstGeom prst="wedgeRoundRectCallout">
            <a:avLst>
              <a:gd name="adj1" fmla="val -91866"/>
              <a:gd name="adj2" fmla="val -78273"/>
              <a:gd name="adj3" fmla="val 16667"/>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a:solidFill>
                  <a:srgbClr val="5D093B"/>
                </a:solidFill>
                <a:latin typeface="Times New Roman" panose="02020603050405020304" pitchFamily="18" charset="0"/>
                <a:ea typeface="楷体_GB2312" pitchFamily="49" charset="-122"/>
              </a:rPr>
              <a:t>决策变量</a:t>
            </a:r>
            <a:endParaRPr kumimoji="1" lang="zh-CN" altLang="en-US">
              <a:solidFill>
                <a:srgbClr val="5D093B"/>
              </a:solidFill>
              <a:latin typeface="Times New Roman" panose="02020603050405020304" pitchFamily="18" charset="0"/>
              <a:ea typeface="楷体_GB2312" pitchFamily="49" charset="-122"/>
            </a:endParaRPr>
          </a:p>
        </p:txBody>
      </p:sp>
      <p:sp>
        <p:nvSpPr>
          <p:cNvPr id="86" name="AutoShape 4"/>
          <p:cNvSpPr>
            <a:spLocks noChangeArrowheads="1"/>
          </p:cNvSpPr>
          <p:nvPr/>
        </p:nvSpPr>
        <p:spPr bwMode="auto">
          <a:xfrm>
            <a:off x="457200" y="2520280"/>
            <a:ext cx="1600200" cy="457200"/>
          </a:xfrm>
          <a:prstGeom prst="wedgeRoundRectCallout">
            <a:avLst>
              <a:gd name="adj1" fmla="val 69347"/>
              <a:gd name="adj2" fmla="val 94792"/>
              <a:gd name="adj3" fmla="val 16667"/>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a:solidFill>
                  <a:srgbClr val="5D093B"/>
                </a:solidFill>
                <a:latin typeface="Times New Roman" panose="02020603050405020304" pitchFamily="18" charset="0"/>
                <a:ea typeface="楷体_GB2312" pitchFamily="49" charset="-122"/>
              </a:rPr>
              <a:t>技术系数</a:t>
            </a:r>
            <a:endParaRPr kumimoji="1" lang="zh-CN" altLang="en-US">
              <a:solidFill>
                <a:srgbClr val="5D093B"/>
              </a:solidFill>
              <a:latin typeface="Times New Roman" panose="02020603050405020304" pitchFamily="18" charset="0"/>
              <a:ea typeface="楷体_GB2312" pitchFamily="49" charset="-122"/>
            </a:endParaRPr>
          </a:p>
        </p:txBody>
      </p:sp>
      <p:sp>
        <p:nvSpPr>
          <p:cNvPr id="87" name="AutoShape 5"/>
          <p:cNvSpPr>
            <a:spLocks noChangeArrowheads="1"/>
          </p:cNvSpPr>
          <p:nvPr/>
        </p:nvSpPr>
        <p:spPr bwMode="auto">
          <a:xfrm>
            <a:off x="7086600" y="5415880"/>
            <a:ext cx="1600200" cy="533400"/>
          </a:xfrm>
          <a:prstGeom prst="wedgeRoundRectCallout">
            <a:avLst>
              <a:gd name="adj1" fmla="val -68949"/>
              <a:gd name="adj2" fmla="val -113690"/>
              <a:gd name="adj3" fmla="val 16667"/>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a:solidFill>
                  <a:srgbClr val="5D093B"/>
                </a:solidFill>
                <a:latin typeface="Times New Roman" panose="02020603050405020304" pitchFamily="18" charset="0"/>
                <a:ea typeface="楷体_GB2312" pitchFamily="49" charset="-122"/>
              </a:rPr>
              <a:t>右端常数</a:t>
            </a:r>
            <a:endParaRPr kumimoji="1" lang="zh-CN" altLang="en-US">
              <a:solidFill>
                <a:srgbClr val="5D093B"/>
              </a:solidFill>
              <a:latin typeface="Times New Roman" panose="02020603050405020304" pitchFamily="18" charset="0"/>
              <a:ea typeface="楷体_GB2312" pitchFamily="49" charset="-122"/>
            </a:endParaRPr>
          </a:p>
        </p:txBody>
      </p:sp>
      <p:graphicFrame>
        <p:nvGraphicFramePr>
          <p:cNvPr id="88" name="Object 6"/>
          <p:cNvGraphicFramePr>
            <a:graphicFrameLocks noChangeAspect="1"/>
          </p:cNvGraphicFramePr>
          <p:nvPr/>
        </p:nvGraphicFramePr>
        <p:xfrm>
          <a:off x="1979712" y="2090872"/>
          <a:ext cx="4536504" cy="3658947"/>
        </p:xfrm>
        <a:graphic>
          <a:graphicData uri="http://schemas.openxmlformats.org/presentationml/2006/ole">
            <mc:AlternateContent xmlns:mc="http://schemas.openxmlformats.org/markup-compatibility/2006">
              <mc:Choice xmlns:v="urn:schemas-microsoft-com:vml" Requires="v">
                <p:oleObj spid="_x0000_s4097" name="Equation" r:id="rId1" imgW="55778400" imgH="45110400" progId="Equation.DSMT4">
                  <p:embed/>
                </p:oleObj>
              </mc:Choice>
              <mc:Fallback>
                <p:oleObj name="Equation" r:id="rId1" imgW="55778400" imgH="45110400" progId="Equation.DSMT4">
                  <p:embed/>
                  <p:pic>
                    <p:nvPicPr>
                      <p:cNvPr id="0" name="图片 4096"/>
                      <p:cNvPicPr>
                        <a:picLocks noChangeAspect="1"/>
                      </p:cNvPicPr>
                      <p:nvPr/>
                    </p:nvPicPr>
                    <p:blipFill>
                      <a:blip r:embed="rId2"/>
                      <a:stretch>
                        <a:fillRect/>
                      </a:stretch>
                    </p:blipFill>
                    <p:spPr>
                      <a:xfrm>
                        <a:off x="1979712" y="2090872"/>
                        <a:ext cx="4536504" cy="3658947"/>
                      </a:xfrm>
                      <a:prstGeom prst="rect">
                        <a:avLst/>
                      </a:prstGeom>
                      <a:noFill/>
                      <a:ln w="9525">
                        <a:noFill/>
                      </a:ln>
                    </p:spPr>
                  </p:pic>
                </p:oleObj>
              </mc:Fallback>
            </mc:AlternateContent>
          </a:graphicData>
        </a:graphic>
      </p:graphicFrame>
      <p:sp>
        <p:nvSpPr>
          <p:cNvPr id="89" name="AutoShape 7"/>
          <p:cNvSpPr>
            <a:spLocks noChangeArrowheads="1"/>
          </p:cNvSpPr>
          <p:nvPr/>
        </p:nvSpPr>
        <p:spPr bwMode="auto">
          <a:xfrm>
            <a:off x="533400" y="1072480"/>
            <a:ext cx="4191000" cy="533400"/>
          </a:xfrm>
          <a:prstGeom prst="roundRect">
            <a:avLst>
              <a:gd name="adj" fmla="val 16667"/>
            </a:avLst>
          </a:prstGeom>
          <a:noFill/>
          <a:ln w="38100">
            <a:solidFill>
              <a:schemeClr val="tx2"/>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spcBef>
                <a:spcPct val="20000"/>
              </a:spcBef>
              <a:buClr>
                <a:schemeClr val="accent2"/>
              </a:buClr>
              <a:buSzPct val="80000"/>
              <a:buFont typeface="Wingdings" panose="05000000000000000000" pitchFamily="2" charset="2"/>
              <a:buNone/>
            </a:pPr>
            <a:r>
              <a:rPr kumimoji="1" lang="en-US" altLang="zh-CN" sz="2800">
                <a:solidFill>
                  <a:srgbClr val="FF0000"/>
                </a:solidFill>
                <a:latin typeface="Times New Roman" panose="02020603050405020304" pitchFamily="18" charset="0"/>
                <a:ea typeface="楷体_GB2312" pitchFamily="49" charset="-122"/>
              </a:rPr>
              <a:t>(2) </a:t>
            </a:r>
            <a:r>
              <a:rPr kumimoji="1" lang="zh-CN" altLang="en-US" sz="2800">
                <a:solidFill>
                  <a:srgbClr val="FF0000"/>
                </a:solidFill>
                <a:latin typeface="Times New Roman" panose="02020603050405020304" pitchFamily="18" charset="0"/>
                <a:ea typeface="楷体_GB2312" pitchFamily="49" charset="-122"/>
              </a:rPr>
              <a:t>线性规划模型标准形式</a:t>
            </a:r>
            <a:endParaRPr kumimoji="1" lang="zh-CN" altLang="en-US" sz="2800">
              <a:solidFill>
                <a:srgbClr val="FF00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0-#ppt_w/2"/>
                                          </p:val>
                                        </p:tav>
                                        <p:tav tm="100000">
                                          <p:val>
                                            <p:strVal val="#ppt_x"/>
                                          </p:val>
                                        </p:tav>
                                      </p:tavLst>
                                    </p:anim>
                                    <p:anim calcmode="lin" valueType="num">
                                      <p:cBhvr additive="base">
                                        <p:cTn id="8" dur="500" fill="hold"/>
                                        <p:tgtEl>
                                          <p:spTgt spid="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5"/>
                                        </p:tgtEl>
                                        <p:attrNameLst>
                                          <p:attrName>style.visibility</p:attrName>
                                        </p:attrNameLst>
                                      </p:cBhvr>
                                      <p:to>
                                        <p:strVal val="visible"/>
                                      </p:to>
                                    </p:set>
                                    <p:anim calcmode="lin" valueType="num">
                                      <p:cBhvr additive="base">
                                        <p:cTn id="13" dur="500" fill="hold"/>
                                        <p:tgtEl>
                                          <p:spTgt spid="85"/>
                                        </p:tgtEl>
                                        <p:attrNameLst>
                                          <p:attrName>ppt_x</p:attrName>
                                        </p:attrNameLst>
                                      </p:cBhvr>
                                      <p:tavLst>
                                        <p:tav tm="0">
                                          <p:val>
                                            <p:strVal val="0-#ppt_w/2"/>
                                          </p:val>
                                        </p:tav>
                                        <p:tav tm="100000">
                                          <p:val>
                                            <p:strVal val="#ppt_x"/>
                                          </p:val>
                                        </p:tav>
                                      </p:tavLst>
                                    </p:anim>
                                    <p:anim calcmode="lin" valueType="num">
                                      <p:cBhvr additive="base">
                                        <p:cTn id="14" dur="500" fill="hold"/>
                                        <p:tgtEl>
                                          <p:spTgt spid="8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6"/>
                                        </p:tgtEl>
                                        <p:attrNameLst>
                                          <p:attrName>style.visibility</p:attrName>
                                        </p:attrNameLst>
                                      </p:cBhvr>
                                      <p:to>
                                        <p:strVal val="visible"/>
                                      </p:to>
                                    </p:set>
                                    <p:anim calcmode="lin" valueType="num">
                                      <p:cBhvr additive="base">
                                        <p:cTn id="19" dur="500" fill="hold"/>
                                        <p:tgtEl>
                                          <p:spTgt spid="86"/>
                                        </p:tgtEl>
                                        <p:attrNameLst>
                                          <p:attrName>ppt_x</p:attrName>
                                        </p:attrNameLst>
                                      </p:cBhvr>
                                      <p:tavLst>
                                        <p:tav tm="0">
                                          <p:val>
                                            <p:strVal val="0-#ppt_w/2"/>
                                          </p:val>
                                        </p:tav>
                                        <p:tav tm="100000">
                                          <p:val>
                                            <p:strVal val="#ppt_x"/>
                                          </p:val>
                                        </p:tav>
                                      </p:tavLst>
                                    </p:anim>
                                    <p:anim calcmode="lin" valueType="num">
                                      <p:cBhvr additive="base">
                                        <p:cTn id="20"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7"/>
                                        </p:tgtEl>
                                        <p:attrNameLst>
                                          <p:attrName>style.visibility</p:attrName>
                                        </p:attrNameLst>
                                      </p:cBhvr>
                                      <p:to>
                                        <p:strVal val="visible"/>
                                      </p:to>
                                    </p:set>
                                    <p:anim calcmode="lin" valueType="num">
                                      <p:cBhvr additive="base">
                                        <p:cTn id="25" dur="500" fill="hold"/>
                                        <p:tgtEl>
                                          <p:spTgt spid="87"/>
                                        </p:tgtEl>
                                        <p:attrNameLst>
                                          <p:attrName>ppt_x</p:attrName>
                                        </p:attrNameLst>
                                      </p:cBhvr>
                                      <p:tavLst>
                                        <p:tav tm="0">
                                          <p:val>
                                            <p:strVal val="0-#ppt_w/2"/>
                                          </p:val>
                                        </p:tav>
                                        <p:tav tm="100000">
                                          <p:val>
                                            <p:strVal val="#ppt_x"/>
                                          </p:val>
                                        </p:tav>
                                      </p:tavLst>
                                    </p:anim>
                                    <p:anim calcmode="lin" valueType="num">
                                      <p:cBhvr additive="base">
                                        <p:cTn id="26" dur="500" fill="hold"/>
                                        <p:tgtEl>
                                          <p:spTgt spid="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autoUpdateAnimBg="0"/>
      <p:bldP spid="85" grpId="0" bldLvl="0" animBg="1" autoUpdateAnimBg="0"/>
      <p:bldP spid="86" grpId="0" animBg="1" autoUpdateAnimBg="0"/>
      <p:bldP spid="87"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28927" y="38094"/>
            <a:ext cx="6072230" cy="582594"/>
          </a:xfrm>
        </p:spPr>
        <p:txBody>
          <a:bodyPr/>
          <a:lstStyle/>
          <a:p>
            <a:r>
              <a:rPr kumimoji="1" lang="zh-CN" altLang="en-US" dirty="0" smtClean="0">
                <a:latin typeface="Times New Roman" panose="02020603050405020304" pitchFamily="18" charset="0"/>
                <a:cs typeface="Times New Roman" panose="02020603050405020304" pitchFamily="18" charset="0"/>
              </a:rPr>
              <a:t>整体回顾</a:t>
            </a:r>
            <a:endParaRPr kumimoji="1" lang="zh-CN" altLang="en-US" dirty="0">
              <a:latin typeface="Times New Roman" panose="02020603050405020304" pitchFamily="18" charset="0"/>
              <a:cs typeface="Times New Roman" panose="02020603050405020304" pitchFamily="18" charset="0"/>
            </a:endParaRPr>
          </a:p>
        </p:txBody>
      </p:sp>
      <p:graphicFrame>
        <p:nvGraphicFramePr>
          <p:cNvPr id="84" name="Object 2"/>
          <p:cNvGraphicFramePr>
            <a:graphicFrameLocks noChangeAspect="1"/>
          </p:cNvGraphicFramePr>
          <p:nvPr/>
        </p:nvGraphicFramePr>
        <p:xfrm>
          <a:off x="3103563" y="1541784"/>
          <a:ext cx="1757701" cy="1240730"/>
        </p:xfrm>
        <a:graphic>
          <a:graphicData uri="http://schemas.openxmlformats.org/presentationml/2006/ole">
            <mc:AlternateContent xmlns:mc="http://schemas.openxmlformats.org/markup-compatibility/2006">
              <mc:Choice xmlns:v="urn:schemas-microsoft-com:vml" Requires="v">
                <p:oleObj spid="_x0000_s5121" name="Equation" r:id="rId1" imgW="23469600" imgH="16459200" progId="Equation.DSMT4">
                  <p:embed/>
                </p:oleObj>
              </mc:Choice>
              <mc:Fallback>
                <p:oleObj name="Equation" r:id="rId1" imgW="23469600" imgH="16459200" progId="Equation.DSMT4">
                  <p:embed/>
                  <p:pic>
                    <p:nvPicPr>
                      <p:cNvPr id="0" name="图片 5120"/>
                      <p:cNvPicPr>
                        <a:picLocks noChangeAspect="1"/>
                      </p:cNvPicPr>
                      <p:nvPr/>
                    </p:nvPicPr>
                    <p:blipFill>
                      <a:blip r:embed="rId2"/>
                      <a:stretch>
                        <a:fillRect/>
                      </a:stretch>
                    </p:blipFill>
                    <p:spPr>
                      <a:xfrm>
                        <a:off x="3103563" y="1541784"/>
                        <a:ext cx="1757701" cy="1240730"/>
                      </a:xfrm>
                      <a:prstGeom prst="rect">
                        <a:avLst/>
                      </a:prstGeom>
                      <a:noFill/>
                      <a:ln w="9525">
                        <a:noFill/>
                      </a:ln>
                    </p:spPr>
                  </p:pic>
                </p:oleObj>
              </mc:Fallback>
            </mc:AlternateContent>
          </a:graphicData>
        </a:graphic>
      </p:graphicFrame>
      <p:graphicFrame>
        <p:nvGraphicFramePr>
          <p:cNvPr id="85" name="Object 3"/>
          <p:cNvGraphicFramePr>
            <a:graphicFrameLocks noChangeAspect="1"/>
          </p:cNvGraphicFramePr>
          <p:nvPr/>
        </p:nvGraphicFramePr>
        <p:xfrm>
          <a:off x="5486400" y="1340768"/>
          <a:ext cx="2720975" cy="457200"/>
        </p:xfrm>
        <a:graphic>
          <a:graphicData uri="http://schemas.openxmlformats.org/presentationml/2006/ole">
            <mc:AlternateContent xmlns:mc="http://schemas.openxmlformats.org/markup-compatibility/2006">
              <mc:Choice xmlns:v="urn:schemas-microsoft-com:vml" Requires="v">
                <p:oleObj spid="_x0000_s5122" name="" r:id="rId3" imgW="32613600" imgH="5486400" progId="Equation.3">
                  <p:embed/>
                </p:oleObj>
              </mc:Choice>
              <mc:Fallback>
                <p:oleObj name="" r:id="rId3" imgW="32613600" imgH="5486400" progId="Equation.3">
                  <p:embed/>
                  <p:pic>
                    <p:nvPicPr>
                      <p:cNvPr id="0" name="图片 5121"/>
                      <p:cNvPicPr>
                        <a:picLocks noChangeAspect="1"/>
                      </p:cNvPicPr>
                      <p:nvPr/>
                    </p:nvPicPr>
                    <p:blipFill>
                      <a:blip r:embed="rId4"/>
                      <a:stretch>
                        <a:fillRect/>
                      </a:stretch>
                    </p:blipFill>
                    <p:spPr>
                      <a:xfrm>
                        <a:off x="5486400" y="1340768"/>
                        <a:ext cx="2720975" cy="457200"/>
                      </a:xfrm>
                      <a:prstGeom prst="rect">
                        <a:avLst/>
                      </a:prstGeom>
                      <a:noFill/>
                      <a:ln w="9525">
                        <a:noFill/>
                      </a:ln>
                    </p:spPr>
                  </p:pic>
                </p:oleObj>
              </mc:Fallback>
            </mc:AlternateContent>
          </a:graphicData>
        </a:graphic>
      </p:graphicFrame>
      <p:graphicFrame>
        <p:nvGraphicFramePr>
          <p:cNvPr id="86" name="Object 4"/>
          <p:cNvGraphicFramePr>
            <a:graphicFrameLocks noChangeAspect="1"/>
          </p:cNvGraphicFramePr>
          <p:nvPr/>
        </p:nvGraphicFramePr>
        <p:xfrm>
          <a:off x="3103563" y="2864768"/>
          <a:ext cx="3297237" cy="1887538"/>
        </p:xfrm>
        <a:graphic>
          <a:graphicData uri="http://schemas.openxmlformats.org/presentationml/2006/ole">
            <mc:AlternateContent xmlns:mc="http://schemas.openxmlformats.org/markup-compatibility/2006">
              <mc:Choice xmlns:v="urn:schemas-microsoft-com:vml" Requires="v">
                <p:oleObj spid="_x0000_s5123" name="" r:id="rId5" imgW="39624000" imgH="22555200" progId="Equation.3">
                  <p:embed/>
                </p:oleObj>
              </mc:Choice>
              <mc:Fallback>
                <p:oleObj name="" r:id="rId5" imgW="39624000" imgH="22555200" progId="Equation.3">
                  <p:embed/>
                  <p:pic>
                    <p:nvPicPr>
                      <p:cNvPr id="0" name="图片 5122"/>
                      <p:cNvPicPr>
                        <a:picLocks noChangeAspect="1"/>
                      </p:cNvPicPr>
                      <p:nvPr/>
                    </p:nvPicPr>
                    <p:blipFill>
                      <a:blip r:embed="rId6"/>
                      <a:stretch>
                        <a:fillRect/>
                      </a:stretch>
                    </p:blipFill>
                    <p:spPr>
                      <a:xfrm>
                        <a:off x="3103563" y="2864768"/>
                        <a:ext cx="3297237" cy="1887538"/>
                      </a:xfrm>
                      <a:prstGeom prst="rect">
                        <a:avLst/>
                      </a:prstGeom>
                      <a:noFill/>
                      <a:ln w="9525">
                        <a:noFill/>
                      </a:ln>
                    </p:spPr>
                  </p:pic>
                </p:oleObj>
              </mc:Fallback>
            </mc:AlternateContent>
          </a:graphicData>
        </a:graphic>
      </p:graphicFrame>
      <p:graphicFrame>
        <p:nvGraphicFramePr>
          <p:cNvPr id="87" name="Object 5"/>
          <p:cNvGraphicFramePr>
            <a:graphicFrameLocks noChangeAspect="1"/>
          </p:cNvGraphicFramePr>
          <p:nvPr/>
        </p:nvGraphicFramePr>
        <p:xfrm>
          <a:off x="1219200" y="2864768"/>
          <a:ext cx="1274763" cy="1884363"/>
        </p:xfrm>
        <a:graphic>
          <a:graphicData uri="http://schemas.openxmlformats.org/presentationml/2006/ole">
            <mc:AlternateContent xmlns:mc="http://schemas.openxmlformats.org/markup-compatibility/2006">
              <mc:Choice xmlns:v="urn:schemas-microsoft-com:vml" Requires="v">
                <p:oleObj spid="_x0000_s5124" name="" r:id="rId7" imgW="15240000" imgH="22555200" progId="Equation.3">
                  <p:embed/>
                </p:oleObj>
              </mc:Choice>
              <mc:Fallback>
                <p:oleObj name="" r:id="rId7" imgW="15240000" imgH="22555200" progId="Equation.3">
                  <p:embed/>
                  <p:pic>
                    <p:nvPicPr>
                      <p:cNvPr id="0" name="图片 5123"/>
                      <p:cNvPicPr>
                        <a:picLocks noChangeAspect="1"/>
                      </p:cNvPicPr>
                      <p:nvPr/>
                    </p:nvPicPr>
                    <p:blipFill>
                      <a:blip r:embed="rId8"/>
                      <a:stretch>
                        <a:fillRect/>
                      </a:stretch>
                    </p:blipFill>
                    <p:spPr>
                      <a:xfrm>
                        <a:off x="1219200" y="2864768"/>
                        <a:ext cx="1274763" cy="1884363"/>
                      </a:xfrm>
                      <a:prstGeom prst="rect">
                        <a:avLst/>
                      </a:prstGeom>
                      <a:noFill/>
                      <a:ln w="9525">
                        <a:noFill/>
                      </a:ln>
                    </p:spPr>
                  </p:pic>
                </p:oleObj>
              </mc:Fallback>
            </mc:AlternateContent>
          </a:graphicData>
        </a:graphic>
      </p:graphicFrame>
      <p:sp>
        <p:nvSpPr>
          <p:cNvPr id="88" name="AutoShape 6"/>
          <p:cNvSpPr>
            <a:spLocks noChangeArrowheads="1"/>
          </p:cNvSpPr>
          <p:nvPr/>
        </p:nvSpPr>
        <p:spPr bwMode="auto">
          <a:xfrm>
            <a:off x="6096000" y="2026568"/>
            <a:ext cx="1752600" cy="609600"/>
          </a:xfrm>
          <a:prstGeom prst="wedgeRoundRectCallout">
            <a:avLst>
              <a:gd name="adj1" fmla="val 454"/>
              <a:gd name="adj2" fmla="val -83074"/>
              <a:gd name="adj3" fmla="val 16667"/>
            </a:avLst>
          </a:prstGeom>
          <a:noFill/>
          <a:ln w="19050">
            <a:solidFill>
              <a:schemeClr val="tx1"/>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sz="2800">
                <a:solidFill>
                  <a:schemeClr val="tx2"/>
                </a:solidFill>
                <a:latin typeface="Times New Roman" panose="02020603050405020304" pitchFamily="18" charset="0"/>
                <a:ea typeface="楷体_GB2312" pitchFamily="49" charset="-122"/>
              </a:rPr>
              <a:t>价值向量</a:t>
            </a:r>
            <a:endParaRPr kumimoji="1" lang="zh-CN" altLang="en-US" sz="2800">
              <a:solidFill>
                <a:schemeClr val="tx2"/>
              </a:solidFill>
              <a:latin typeface="Times New Roman" panose="02020603050405020304" pitchFamily="18" charset="0"/>
              <a:ea typeface="楷体_GB2312" pitchFamily="49" charset="-122"/>
            </a:endParaRPr>
          </a:p>
        </p:txBody>
      </p:sp>
      <p:sp>
        <p:nvSpPr>
          <p:cNvPr id="89" name="AutoShape 7"/>
          <p:cNvSpPr>
            <a:spLocks noChangeArrowheads="1"/>
          </p:cNvSpPr>
          <p:nvPr/>
        </p:nvSpPr>
        <p:spPr bwMode="auto">
          <a:xfrm>
            <a:off x="1066800" y="5531768"/>
            <a:ext cx="1752600" cy="609600"/>
          </a:xfrm>
          <a:prstGeom prst="wedgeRoundRectCallout">
            <a:avLst>
              <a:gd name="adj1" fmla="val -14310"/>
              <a:gd name="adj2" fmla="val -174481"/>
              <a:gd name="adj3" fmla="val 16667"/>
            </a:avLst>
          </a:prstGeom>
          <a:noFill/>
          <a:ln w="19050">
            <a:solidFill>
              <a:schemeClr val="tx1"/>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sz="2800">
                <a:solidFill>
                  <a:schemeClr val="tx2"/>
                </a:solidFill>
                <a:latin typeface="Times New Roman" panose="02020603050405020304" pitchFamily="18" charset="0"/>
                <a:ea typeface="楷体_GB2312" pitchFamily="49" charset="-122"/>
              </a:rPr>
              <a:t>决策向量</a:t>
            </a:r>
            <a:endParaRPr kumimoji="1" lang="zh-CN" altLang="en-US" sz="2800">
              <a:solidFill>
                <a:schemeClr val="tx2"/>
              </a:solidFill>
              <a:latin typeface="Times New Roman" panose="02020603050405020304" pitchFamily="18" charset="0"/>
              <a:ea typeface="楷体_GB2312" pitchFamily="49" charset="-122"/>
            </a:endParaRPr>
          </a:p>
        </p:txBody>
      </p:sp>
      <p:sp>
        <p:nvSpPr>
          <p:cNvPr id="90" name="AutoShape 8"/>
          <p:cNvSpPr>
            <a:spLocks noChangeArrowheads="1"/>
          </p:cNvSpPr>
          <p:nvPr/>
        </p:nvSpPr>
        <p:spPr bwMode="auto">
          <a:xfrm>
            <a:off x="3657600" y="5531768"/>
            <a:ext cx="1752600" cy="685800"/>
          </a:xfrm>
          <a:prstGeom prst="wedgeRoundRectCallout">
            <a:avLst>
              <a:gd name="adj1" fmla="val -7426"/>
              <a:gd name="adj2" fmla="val -169907"/>
              <a:gd name="adj3" fmla="val 16667"/>
            </a:avLst>
          </a:prstGeom>
          <a:noFill/>
          <a:ln w="19050">
            <a:solidFill>
              <a:schemeClr val="tx1"/>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sz="2800">
                <a:solidFill>
                  <a:schemeClr val="tx2"/>
                </a:solidFill>
                <a:latin typeface="Times New Roman" panose="02020603050405020304" pitchFamily="18" charset="0"/>
                <a:ea typeface="楷体_GB2312" pitchFamily="49" charset="-122"/>
              </a:rPr>
              <a:t>系数矩阵</a:t>
            </a:r>
            <a:endParaRPr kumimoji="1" lang="zh-CN" altLang="en-US" sz="2800">
              <a:solidFill>
                <a:schemeClr val="tx2"/>
              </a:solidFill>
              <a:latin typeface="Times New Roman" panose="02020603050405020304" pitchFamily="18" charset="0"/>
              <a:ea typeface="楷体_GB2312" pitchFamily="49" charset="-122"/>
            </a:endParaRPr>
          </a:p>
        </p:txBody>
      </p:sp>
      <p:graphicFrame>
        <p:nvGraphicFramePr>
          <p:cNvPr id="91" name="Object 9"/>
          <p:cNvGraphicFramePr>
            <a:graphicFrameLocks noChangeAspect="1"/>
          </p:cNvGraphicFramePr>
          <p:nvPr/>
        </p:nvGraphicFramePr>
        <p:xfrm>
          <a:off x="6994525" y="2864768"/>
          <a:ext cx="1158875" cy="1881188"/>
        </p:xfrm>
        <a:graphic>
          <a:graphicData uri="http://schemas.openxmlformats.org/presentationml/2006/ole">
            <mc:AlternateContent xmlns:mc="http://schemas.openxmlformats.org/markup-compatibility/2006">
              <mc:Choice xmlns:v="urn:schemas-microsoft-com:vml" Requires="v">
                <p:oleObj spid="_x0000_s5125" name="" r:id="rId9" imgW="14020800" imgH="22555200" progId="Equation.3">
                  <p:embed/>
                </p:oleObj>
              </mc:Choice>
              <mc:Fallback>
                <p:oleObj name="" r:id="rId9" imgW="14020800" imgH="22555200" progId="Equation.3">
                  <p:embed/>
                  <p:pic>
                    <p:nvPicPr>
                      <p:cNvPr id="0" name="图片 5124"/>
                      <p:cNvPicPr>
                        <a:picLocks noChangeAspect="1"/>
                      </p:cNvPicPr>
                      <p:nvPr/>
                    </p:nvPicPr>
                    <p:blipFill>
                      <a:blip r:embed="rId10"/>
                      <a:stretch>
                        <a:fillRect/>
                      </a:stretch>
                    </p:blipFill>
                    <p:spPr>
                      <a:xfrm>
                        <a:off x="6994525" y="2864768"/>
                        <a:ext cx="1158875" cy="1881188"/>
                      </a:xfrm>
                      <a:prstGeom prst="rect">
                        <a:avLst/>
                      </a:prstGeom>
                      <a:noFill/>
                      <a:ln w="9525">
                        <a:noFill/>
                      </a:ln>
                    </p:spPr>
                  </p:pic>
                </p:oleObj>
              </mc:Fallback>
            </mc:AlternateContent>
          </a:graphicData>
        </a:graphic>
      </p:graphicFrame>
      <p:sp>
        <p:nvSpPr>
          <p:cNvPr id="92" name="AutoShape 10"/>
          <p:cNvSpPr>
            <a:spLocks noChangeArrowheads="1"/>
          </p:cNvSpPr>
          <p:nvPr/>
        </p:nvSpPr>
        <p:spPr bwMode="auto">
          <a:xfrm>
            <a:off x="6172200" y="5531768"/>
            <a:ext cx="1905000" cy="609600"/>
          </a:xfrm>
          <a:prstGeom prst="wedgeRoundRectCallout">
            <a:avLst>
              <a:gd name="adj1" fmla="val 20083"/>
              <a:gd name="adj2" fmla="val -174481"/>
              <a:gd name="adj3" fmla="val 16667"/>
            </a:avLst>
          </a:prstGeom>
          <a:noFill/>
          <a:ln w="19050">
            <a:solidFill>
              <a:schemeClr val="tx1"/>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sz="2800">
                <a:solidFill>
                  <a:schemeClr val="tx2"/>
                </a:solidFill>
                <a:latin typeface="Times New Roman" panose="02020603050405020304" pitchFamily="18" charset="0"/>
                <a:ea typeface="楷体_GB2312" pitchFamily="49" charset="-122"/>
              </a:rPr>
              <a:t>右端向量</a:t>
            </a:r>
            <a:endParaRPr kumimoji="1" lang="zh-CN" altLang="en-US" sz="2800">
              <a:solidFill>
                <a:schemeClr val="tx2"/>
              </a:solidFill>
              <a:latin typeface="Times New Roman" panose="02020603050405020304" pitchFamily="18" charset="0"/>
              <a:ea typeface="楷体_GB2312" pitchFamily="49" charset="-122"/>
            </a:endParaRPr>
          </a:p>
        </p:txBody>
      </p:sp>
      <p:sp>
        <p:nvSpPr>
          <p:cNvPr id="93" name="AutoShape 11"/>
          <p:cNvSpPr>
            <a:spLocks noChangeArrowheads="1"/>
          </p:cNvSpPr>
          <p:nvPr/>
        </p:nvSpPr>
        <p:spPr bwMode="auto">
          <a:xfrm>
            <a:off x="381000" y="814536"/>
            <a:ext cx="4191000" cy="533400"/>
          </a:xfrm>
          <a:prstGeom prst="roundRect">
            <a:avLst>
              <a:gd name="adj" fmla="val 16667"/>
            </a:avLst>
          </a:prstGeom>
          <a:noFill/>
          <a:ln w="38100">
            <a:solidFill>
              <a:schemeClr val="tx2"/>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90000"/>
              </a:lnSpc>
              <a:spcBef>
                <a:spcPct val="20000"/>
              </a:spcBef>
              <a:buClr>
                <a:schemeClr val="accent2"/>
              </a:buClr>
              <a:buSzPct val="80000"/>
              <a:buFont typeface="Wingdings" panose="05000000000000000000" pitchFamily="2" charset="2"/>
              <a:buNone/>
            </a:pPr>
            <a:r>
              <a:rPr kumimoji="1" lang="en-US" altLang="zh-CN" sz="2800">
                <a:solidFill>
                  <a:srgbClr val="FF0000"/>
                </a:solidFill>
                <a:latin typeface="Times New Roman" panose="02020603050405020304" pitchFamily="18" charset="0"/>
                <a:ea typeface="楷体_GB2312" pitchFamily="49" charset="-122"/>
              </a:rPr>
              <a:t>(3) </a:t>
            </a:r>
            <a:r>
              <a:rPr kumimoji="1" lang="zh-CN" altLang="en-US" sz="2800">
                <a:solidFill>
                  <a:srgbClr val="FF0000"/>
                </a:solidFill>
                <a:latin typeface="Times New Roman" panose="02020603050405020304" pitchFamily="18" charset="0"/>
                <a:ea typeface="楷体_GB2312" pitchFamily="49" charset="-122"/>
              </a:rPr>
              <a:t>线性规划模型矩阵形式</a:t>
            </a:r>
            <a:endParaRPr kumimoji="1" lang="zh-CN" altLang="en-US" sz="2800">
              <a:solidFill>
                <a:srgbClr val="FF00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0-#ppt_w/2"/>
                                          </p:val>
                                        </p:tav>
                                        <p:tav tm="100000">
                                          <p:val>
                                            <p:strVal val="#ppt_x"/>
                                          </p:val>
                                        </p:tav>
                                      </p:tavLst>
                                    </p:anim>
                                    <p:anim calcmode="lin" valueType="num">
                                      <p:cBhvr additive="base">
                                        <p:cTn id="8" dur="500" fill="hold"/>
                                        <p:tgtEl>
                                          <p:spTgt spid="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5"/>
                                        </p:tgtEl>
                                        <p:attrNameLst>
                                          <p:attrName>style.visibility</p:attrName>
                                        </p:attrNameLst>
                                      </p:cBhvr>
                                      <p:to>
                                        <p:strVal val="visible"/>
                                      </p:to>
                                    </p:set>
                                    <p:anim calcmode="lin" valueType="num">
                                      <p:cBhvr additive="base">
                                        <p:cTn id="13" dur="500" fill="hold"/>
                                        <p:tgtEl>
                                          <p:spTgt spid="85"/>
                                        </p:tgtEl>
                                        <p:attrNameLst>
                                          <p:attrName>ppt_x</p:attrName>
                                        </p:attrNameLst>
                                      </p:cBhvr>
                                      <p:tavLst>
                                        <p:tav tm="0">
                                          <p:val>
                                            <p:strVal val="0-#ppt_w/2"/>
                                          </p:val>
                                        </p:tav>
                                        <p:tav tm="100000">
                                          <p:val>
                                            <p:strVal val="#ppt_x"/>
                                          </p:val>
                                        </p:tav>
                                      </p:tavLst>
                                    </p:anim>
                                    <p:anim calcmode="lin" valueType="num">
                                      <p:cBhvr additive="base">
                                        <p:cTn id="14" dur="500" fill="hold"/>
                                        <p:tgtEl>
                                          <p:spTgt spid="8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8"/>
                                        </p:tgtEl>
                                        <p:attrNameLst>
                                          <p:attrName>style.visibility</p:attrName>
                                        </p:attrNameLst>
                                      </p:cBhvr>
                                      <p:to>
                                        <p:strVal val="visible"/>
                                      </p:to>
                                    </p:set>
                                    <p:anim calcmode="lin" valueType="num">
                                      <p:cBhvr additive="base">
                                        <p:cTn id="19" dur="500" fill="hold"/>
                                        <p:tgtEl>
                                          <p:spTgt spid="88"/>
                                        </p:tgtEl>
                                        <p:attrNameLst>
                                          <p:attrName>ppt_x</p:attrName>
                                        </p:attrNameLst>
                                      </p:cBhvr>
                                      <p:tavLst>
                                        <p:tav tm="0">
                                          <p:val>
                                            <p:strVal val="0-#ppt_w/2"/>
                                          </p:val>
                                        </p:tav>
                                        <p:tav tm="100000">
                                          <p:val>
                                            <p:strVal val="#ppt_x"/>
                                          </p:val>
                                        </p:tav>
                                      </p:tavLst>
                                    </p:anim>
                                    <p:anim calcmode="lin" valueType="num">
                                      <p:cBhvr additive="base">
                                        <p:cTn id="20" dur="500" fill="hold"/>
                                        <p:tgtEl>
                                          <p:spTgt spid="8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87"/>
                                        </p:tgtEl>
                                        <p:attrNameLst>
                                          <p:attrName>style.visibility</p:attrName>
                                        </p:attrNameLst>
                                      </p:cBhvr>
                                      <p:to>
                                        <p:strVal val="visible"/>
                                      </p:to>
                                    </p:set>
                                    <p:anim calcmode="lin" valueType="num">
                                      <p:cBhvr additive="base">
                                        <p:cTn id="25" dur="500" fill="hold"/>
                                        <p:tgtEl>
                                          <p:spTgt spid="87"/>
                                        </p:tgtEl>
                                        <p:attrNameLst>
                                          <p:attrName>ppt_x</p:attrName>
                                        </p:attrNameLst>
                                      </p:cBhvr>
                                      <p:tavLst>
                                        <p:tav tm="0">
                                          <p:val>
                                            <p:strVal val="0-#ppt_w/2"/>
                                          </p:val>
                                        </p:tav>
                                        <p:tav tm="100000">
                                          <p:val>
                                            <p:strVal val="#ppt_x"/>
                                          </p:val>
                                        </p:tav>
                                      </p:tavLst>
                                    </p:anim>
                                    <p:anim calcmode="lin" valueType="num">
                                      <p:cBhvr additive="base">
                                        <p:cTn id="26" dur="500" fill="hold"/>
                                        <p:tgtEl>
                                          <p:spTgt spid="8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9"/>
                                        </p:tgtEl>
                                        <p:attrNameLst>
                                          <p:attrName>style.visibility</p:attrName>
                                        </p:attrNameLst>
                                      </p:cBhvr>
                                      <p:to>
                                        <p:strVal val="visible"/>
                                      </p:to>
                                    </p:set>
                                    <p:anim calcmode="lin" valueType="num">
                                      <p:cBhvr additive="base">
                                        <p:cTn id="31" dur="500" fill="hold"/>
                                        <p:tgtEl>
                                          <p:spTgt spid="89"/>
                                        </p:tgtEl>
                                        <p:attrNameLst>
                                          <p:attrName>ppt_x</p:attrName>
                                        </p:attrNameLst>
                                      </p:cBhvr>
                                      <p:tavLst>
                                        <p:tav tm="0">
                                          <p:val>
                                            <p:strVal val="0-#ppt_w/2"/>
                                          </p:val>
                                        </p:tav>
                                        <p:tav tm="100000">
                                          <p:val>
                                            <p:strVal val="#ppt_x"/>
                                          </p:val>
                                        </p:tav>
                                      </p:tavLst>
                                    </p:anim>
                                    <p:anim calcmode="lin" valueType="num">
                                      <p:cBhvr additive="base">
                                        <p:cTn id="32"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86"/>
                                        </p:tgtEl>
                                        <p:attrNameLst>
                                          <p:attrName>style.visibility</p:attrName>
                                        </p:attrNameLst>
                                      </p:cBhvr>
                                      <p:to>
                                        <p:strVal val="visible"/>
                                      </p:to>
                                    </p:set>
                                    <p:anim calcmode="lin" valueType="num">
                                      <p:cBhvr additive="base">
                                        <p:cTn id="37" dur="500" fill="hold"/>
                                        <p:tgtEl>
                                          <p:spTgt spid="86"/>
                                        </p:tgtEl>
                                        <p:attrNameLst>
                                          <p:attrName>ppt_x</p:attrName>
                                        </p:attrNameLst>
                                      </p:cBhvr>
                                      <p:tavLst>
                                        <p:tav tm="0">
                                          <p:val>
                                            <p:strVal val="0-#ppt_w/2"/>
                                          </p:val>
                                        </p:tav>
                                        <p:tav tm="100000">
                                          <p:val>
                                            <p:strVal val="#ppt_x"/>
                                          </p:val>
                                        </p:tav>
                                      </p:tavLst>
                                    </p:anim>
                                    <p:anim calcmode="lin" valueType="num">
                                      <p:cBhvr additive="base">
                                        <p:cTn id="38"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0"/>
                                        </p:tgtEl>
                                        <p:attrNameLst>
                                          <p:attrName>style.visibility</p:attrName>
                                        </p:attrNameLst>
                                      </p:cBhvr>
                                      <p:to>
                                        <p:strVal val="visible"/>
                                      </p:to>
                                    </p:set>
                                    <p:anim calcmode="lin" valueType="num">
                                      <p:cBhvr additive="base">
                                        <p:cTn id="43" dur="500" fill="hold"/>
                                        <p:tgtEl>
                                          <p:spTgt spid="90"/>
                                        </p:tgtEl>
                                        <p:attrNameLst>
                                          <p:attrName>ppt_x</p:attrName>
                                        </p:attrNameLst>
                                      </p:cBhvr>
                                      <p:tavLst>
                                        <p:tav tm="0">
                                          <p:val>
                                            <p:strVal val="0-#ppt_w/2"/>
                                          </p:val>
                                        </p:tav>
                                        <p:tav tm="100000">
                                          <p:val>
                                            <p:strVal val="#ppt_x"/>
                                          </p:val>
                                        </p:tav>
                                      </p:tavLst>
                                    </p:anim>
                                    <p:anim calcmode="lin" valueType="num">
                                      <p:cBhvr additive="base">
                                        <p:cTn id="44" dur="500" fill="hold"/>
                                        <p:tgtEl>
                                          <p:spTgt spid="9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91"/>
                                        </p:tgtEl>
                                        <p:attrNameLst>
                                          <p:attrName>style.visibility</p:attrName>
                                        </p:attrNameLst>
                                      </p:cBhvr>
                                      <p:to>
                                        <p:strVal val="visible"/>
                                      </p:to>
                                    </p:set>
                                    <p:anim calcmode="lin" valueType="num">
                                      <p:cBhvr additive="base">
                                        <p:cTn id="49" dur="500" fill="hold"/>
                                        <p:tgtEl>
                                          <p:spTgt spid="91"/>
                                        </p:tgtEl>
                                        <p:attrNameLst>
                                          <p:attrName>ppt_x</p:attrName>
                                        </p:attrNameLst>
                                      </p:cBhvr>
                                      <p:tavLst>
                                        <p:tav tm="0">
                                          <p:val>
                                            <p:strVal val="0-#ppt_w/2"/>
                                          </p:val>
                                        </p:tav>
                                        <p:tav tm="100000">
                                          <p:val>
                                            <p:strVal val="#ppt_x"/>
                                          </p:val>
                                        </p:tav>
                                      </p:tavLst>
                                    </p:anim>
                                    <p:anim calcmode="lin" valueType="num">
                                      <p:cBhvr additive="base">
                                        <p:cTn id="50"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92"/>
                                        </p:tgtEl>
                                        <p:attrNameLst>
                                          <p:attrName>style.visibility</p:attrName>
                                        </p:attrNameLst>
                                      </p:cBhvr>
                                      <p:to>
                                        <p:strVal val="visible"/>
                                      </p:to>
                                    </p:set>
                                    <p:anim calcmode="lin" valueType="num">
                                      <p:cBhvr additive="base">
                                        <p:cTn id="55" dur="500" fill="hold"/>
                                        <p:tgtEl>
                                          <p:spTgt spid="92"/>
                                        </p:tgtEl>
                                        <p:attrNameLst>
                                          <p:attrName>ppt_x</p:attrName>
                                        </p:attrNameLst>
                                      </p:cBhvr>
                                      <p:tavLst>
                                        <p:tav tm="0">
                                          <p:val>
                                            <p:strVal val="0-#ppt_w/2"/>
                                          </p:val>
                                        </p:tav>
                                        <p:tav tm="100000">
                                          <p:val>
                                            <p:strVal val="#ppt_x"/>
                                          </p:val>
                                        </p:tav>
                                      </p:tavLst>
                                    </p:anim>
                                    <p:anim calcmode="lin" valueType="num">
                                      <p:cBhvr additive="base">
                                        <p:cTn id="56" dur="500" fill="hold"/>
                                        <p:tgtEl>
                                          <p:spTgt spid="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autoUpdateAnimBg="0"/>
      <p:bldP spid="89" grpId="0" animBg="1" autoUpdateAnimBg="0"/>
      <p:bldP spid="90" grpId="0" animBg="1" autoUpdateAnimBg="0"/>
      <p:bldP spid="92"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28927" y="38094"/>
            <a:ext cx="6072230" cy="582594"/>
          </a:xfrm>
        </p:spPr>
        <p:txBody>
          <a:bodyPr/>
          <a:lstStyle/>
          <a:p>
            <a:r>
              <a:rPr kumimoji="1" lang="zh-CN" altLang="en-US" dirty="0" smtClean="0">
                <a:latin typeface="Times New Roman" panose="02020603050405020304" pitchFamily="18" charset="0"/>
                <a:cs typeface="Times New Roman" panose="02020603050405020304" pitchFamily="18" charset="0"/>
              </a:rPr>
              <a:t>整体回顾</a:t>
            </a:r>
            <a:endParaRPr kumimoji="1" lang="zh-CN" altLang="en-US" dirty="0">
              <a:latin typeface="Times New Roman" panose="02020603050405020304" pitchFamily="18" charset="0"/>
              <a:cs typeface="Times New Roman" panose="02020603050405020304" pitchFamily="18" charset="0"/>
            </a:endParaRPr>
          </a:p>
        </p:txBody>
      </p:sp>
      <p:graphicFrame>
        <p:nvGraphicFramePr>
          <p:cNvPr id="84" name="Object 2"/>
          <p:cNvGraphicFramePr>
            <a:graphicFrameLocks noChangeAspect="1"/>
          </p:cNvGraphicFramePr>
          <p:nvPr/>
        </p:nvGraphicFramePr>
        <p:xfrm>
          <a:off x="1243013" y="692696"/>
          <a:ext cx="6453187" cy="1878013"/>
        </p:xfrm>
        <a:graphic>
          <a:graphicData uri="http://schemas.openxmlformats.org/presentationml/2006/ole">
            <mc:AlternateContent xmlns:mc="http://schemas.openxmlformats.org/markup-compatibility/2006">
              <mc:Choice xmlns:v="urn:schemas-microsoft-com:vml" Requires="v">
                <p:oleObj spid="_x0000_s6145" name="" r:id="rId1" imgW="77724000" imgH="22555200" progId="Equation.3">
                  <p:embed/>
                </p:oleObj>
              </mc:Choice>
              <mc:Fallback>
                <p:oleObj name="" r:id="rId1" imgW="77724000" imgH="22555200" progId="Equation.3">
                  <p:embed/>
                  <p:pic>
                    <p:nvPicPr>
                      <p:cNvPr id="0" name="图片 6144"/>
                      <p:cNvPicPr>
                        <a:picLocks noChangeAspect="1"/>
                      </p:cNvPicPr>
                      <p:nvPr/>
                    </p:nvPicPr>
                    <p:blipFill>
                      <a:blip r:embed="rId2"/>
                      <a:stretch>
                        <a:fillRect/>
                      </a:stretch>
                    </p:blipFill>
                    <p:spPr>
                      <a:xfrm>
                        <a:off x="1243013" y="692696"/>
                        <a:ext cx="6453187" cy="1878013"/>
                      </a:xfrm>
                      <a:prstGeom prst="rect">
                        <a:avLst/>
                      </a:prstGeom>
                      <a:noFill/>
                      <a:ln w="9525">
                        <a:noFill/>
                      </a:ln>
                    </p:spPr>
                  </p:pic>
                </p:oleObj>
              </mc:Fallback>
            </mc:AlternateContent>
          </a:graphicData>
        </a:graphic>
      </p:graphicFrame>
      <p:graphicFrame>
        <p:nvGraphicFramePr>
          <p:cNvPr id="85" name="Object 3"/>
          <p:cNvGraphicFramePr>
            <a:graphicFrameLocks noChangeAspect="1"/>
          </p:cNvGraphicFramePr>
          <p:nvPr/>
        </p:nvGraphicFramePr>
        <p:xfrm>
          <a:off x="1017588" y="3131096"/>
          <a:ext cx="3325812" cy="1879600"/>
        </p:xfrm>
        <a:graphic>
          <a:graphicData uri="http://schemas.openxmlformats.org/presentationml/2006/ole">
            <mc:AlternateContent xmlns:mc="http://schemas.openxmlformats.org/markup-compatibility/2006">
              <mc:Choice xmlns:v="urn:schemas-microsoft-com:vml" Requires="v">
                <p:oleObj spid="_x0000_s6146" name="Equation" r:id="rId3" imgW="39014400" imgH="22555200" progId="Equation.3">
                  <p:embed/>
                </p:oleObj>
              </mc:Choice>
              <mc:Fallback>
                <p:oleObj name="Equation" r:id="rId3" imgW="39014400" imgH="22555200" progId="Equation.3">
                  <p:embed/>
                  <p:pic>
                    <p:nvPicPr>
                      <p:cNvPr id="0" name="图片 6145"/>
                      <p:cNvPicPr>
                        <a:picLocks noChangeAspect="1"/>
                      </p:cNvPicPr>
                      <p:nvPr/>
                    </p:nvPicPr>
                    <p:blipFill>
                      <a:blip r:embed="rId4"/>
                      <a:stretch>
                        <a:fillRect/>
                      </a:stretch>
                    </p:blipFill>
                    <p:spPr>
                      <a:xfrm>
                        <a:off x="1017588" y="3131096"/>
                        <a:ext cx="3325812" cy="1879600"/>
                      </a:xfrm>
                      <a:prstGeom prst="rect">
                        <a:avLst/>
                      </a:prstGeom>
                      <a:noFill/>
                      <a:ln w="9525">
                        <a:noFill/>
                      </a:ln>
                    </p:spPr>
                  </p:pic>
                </p:oleObj>
              </mc:Fallback>
            </mc:AlternateContent>
          </a:graphicData>
        </a:graphic>
      </p:graphicFrame>
      <p:graphicFrame>
        <p:nvGraphicFramePr>
          <p:cNvPr id="86" name="Object 4"/>
          <p:cNvGraphicFramePr>
            <a:graphicFrameLocks noChangeAspect="1"/>
          </p:cNvGraphicFramePr>
          <p:nvPr/>
        </p:nvGraphicFramePr>
        <p:xfrm>
          <a:off x="4419600" y="3118396"/>
          <a:ext cx="3732213" cy="1841500"/>
        </p:xfrm>
        <a:graphic>
          <a:graphicData uri="http://schemas.openxmlformats.org/presentationml/2006/ole">
            <mc:AlternateContent xmlns:mc="http://schemas.openxmlformats.org/markup-compatibility/2006">
              <mc:Choice xmlns:v="urn:schemas-microsoft-com:vml" Requires="v">
                <p:oleObj spid="_x0000_s6147" name="Equation" r:id="rId5" imgW="44805600" imgH="22555200" progId="Equation.3">
                  <p:embed/>
                </p:oleObj>
              </mc:Choice>
              <mc:Fallback>
                <p:oleObj name="Equation" r:id="rId5" imgW="44805600" imgH="22555200" progId="Equation.3">
                  <p:embed/>
                  <p:pic>
                    <p:nvPicPr>
                      <p:cNvPr id="0" name="图片 6146"/>
                      <p:cNvPicPr>
                        <a:picLocks noChangeAspect="1"/>
                      </p:cNvPicPr>
                      <p:nvPr/>
                    </p:nvPicPr>
                    <p:blipFill>
                      <a:blip r:embed="rId6"/>
                      <a:stretch>
                        <a:fillRect/>
                      </a:stretch>
                    </p:blipFill>
                    <p:spPr>
                      <a:xfrm>
                        <a:off x="4419600" y="3118396"/>
                        <a:ext cx="3732213" cy="1841500"/>
                      </a:xfrm>
                      <a:prstGeom prst="rect">
                        <a:avLst/>
                      </a:prstGeom>
                      <a:noFill/>
                      <a:ln w="9525">
                        <a:noFill/>
                      </a:ln>
                    </p:spPr>
                  </p:pic>
                </p:oleObj>
              </mc:Fallback>
            </mc:AlternateContent>
          </a:graphicData>
        </a:graphic>
      </p:graphicFrame>
      <p:sp>
        <p:nvSpPr>
          <p:cNvPr id="87" name="Rectangle 5"/>
          <p:cNvSpPr>
            <a:spLocks noChangeArrowheads="1"/>
          </p:cNvSpPr>
          <p:nvPr/>
        </p:nvSpPr>
        <p:spPr bwMode="auto">
          <a:xfrm>
            <a:off x="1905000" y="692696"/>
            <a:ext cx="2514600" cy="1828800"/>
          </a:xfrm>
          <a:prstGeom prst="rect">
            <a:avLst/>
          </a:prstGeom>
          <a:noFill/>
          <a:ln w="28575">
            <a:solidFill>
              <a:srgbClr val="FF3300"/>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88" name="Rectangle 6"/>
          <p:cNvSpPr>
            <a:spLocks noChangeArrowheads="1"/>
          </p:cNvSpPr>
          <p:nvPr/>
        </p:nvSpPr>
        <p:spPr bwMode="auto">
          <a:xfrm>
            <a:off x="4572000" y="692696"/>
            <a:ext cx="2971800" cy="1828800"/>
          </a:xfrm>
          <a:prstGeom prst="rect">
            <a:avLst/>
          </a:prstGeom>
          <a:noFill/>
          <a:ln w="38100">
            <a:solidFill>
              <a:srgbClr val="99F70C"/>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dirty="0"/>
          </a:p>
        </p:txBody>
      </p:sp>
      <p:sp>
        <p:nvSpPr>
          <p:cNvPr id="89" name="Line 7"/>
          <p:cNvSpPr>
            <a:spLocks noChangeShapeType="1"/>
          </p:cNvSpPr>
          <p:nvPr/>
        </p:nvSpPr>
        <p:spPr bwMode="auto">
          <a:xfrm flipH="1">
            <a:off x="1295400" y="2521496"/>
            <a:ext cx="2133600" cy="1371600"/>
          </a:xfrm>
          <a:prstGeom prst="line">
            <a:avLst/>
          </a:prstGeom>
          <a:noFill/>
          <a:ln w="76200">
            <a:solidFill>
              <a:srgbClr val="FF33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90" name="Line 8"/>
          <p:cNvSpPr>
            <a:spLocks noChangeShapeType="1"/>
          </p:cNvSpPr>
          <p:nvPr/>
        </p:nvSpPr>
        <p:spPr bwMode="auto">
          <a:xfrm flipH="1">
            <a:off x="4800600" y="2521496"/>
            <a:ext cx="1143000" cy="1295400"/>
          </a:xfrm>
          <a:prstGeom prst="line">
            <a:avLst/>
          </a:prstGeom>
          <a:noFill/>
          <a:ln w="76200">
            <a:solidFill>
              <a:srgbClr val="99F70C"/>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solidFill>
                <a:srgbClr val="00B050"/>
              </a:solidFill>
            </a:endParaRPr>
          </a:p>
        </p:txBody>
      </p:sp>
      <p:sp>
        <p:nvSpPr>
          <p:cNvPr id="91" name="Text Box 9"/>
          <p:cNvSpPr txBox="1">
            <a:spLocks noChangeArrowheads="1"/>
          </p:cNvSpPr>
          <p:nvPr/>
        </p:nvSpPr>
        <p:spPr bwMode="auto">
          <a:xfrm>
            <a:off x="1447800" y="2597696"/>
            <a:ext cx="990600" cy="476250"/>
          </a:xfrm>
          <a:prstGeom prst="rect">
            <a:avLst/>
          </a:prstGeom>
          <a:noFill/>
          <a:ln>
            <a:noFill/>
          </a:ln>
          <a:effectLst/>
          <a:extLst>
            <a:ext uri="{909E8E84-426E-40DD-AFC4-6F175D3DCCD1}">
              <a14:hiddenFill xmlns:a14="http://schemas.microsoft.com/office/drawing/2010/main">
                <a:solidFill>
                  <a:srgbClr val="FF0066"/>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chemeClr val="accent2"/>
              </a:buClr>
              <a:buSzPct val="80000"/>
              <a:buFont typeface="Wingdings" panose="05000000000000000000" pitchFamily="2" charset="2"/>
              <a:buNone/>
            </a:pPr>
            <a:r>
              <a:rPr kumimoji="1" lang="zh-CN" altLang="en-US" sz="2800">
                <a:solidFill>
                  <a:srgbClr val="FF3300"/>
                </a:solidFill>
                <a:latin typeface="Times New Roman" panose="02020603050405020304" pitchFamily="18" charset="0"/>
                <a:ea typeface="楷体_GB2312" pitchFamily="49" charset="-122"/>
              </a:rPr>
              <a:t>基阵</a:t>
            </a:r>
            <a:endParaRPr kumimoji="1" lang="zh-CN" altLang="en-US" sz="2800">
              <a:solidFill>
                <a:srgbClr val="FF3300"/>
              </a:solidFill>
              <a:latin typeface="Times New Roman" panose="02020603050405020304" pitchFamily="18" charset="0"/>
              <a:ea typeface="楷体_GB2312" pitchFamily="49" charset="-122"/>
            </a:endParaRPr>
          </a:p>
        </p:txBody>
      </p:sp>
      <p:sp>
        <p:nvSpPr>
          <p:cNvPr id="92" name="Text Box 10"/>
          <p:cNvSpPr txBox="1">
            <a:spLocks noChangeArrowheads="1"/>
          </p:cNvSpPr>
          <p:nvPr/>
        </p:nvSpPr>
        <p:spPr bwMode="auto">
          <a:xfrm>
            <a:off x="6019800" y="2673896"/>
            <a:ext cx="1295400" cy="476250"/>
          </a:xfrm>
          <a:prstGeom prst="rect">
            <a:avLst/>
          </a:prstGeom>
          <a:noFill/>
          <a:ln>
            <a:noFill/>
          </a:ln>
          <a:effectLst/>
          <a:extLst>
            <a:ext uri="{909E8E84-426E-40DD-AFC4-6F175D3DCCD1}">
              <a14:hiddenFill xmlns:a14="http://schemas.microsoft.com/office/drawing/2010/main">
                <a:solidFill>
                  <a:srgbClr val="FF0066"/>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chemeClr val="accent2"/>
              </a:buClr>
              <a:buSzPct val="80000"/>
              <a:buFont typeface="Wingdings" panose="05000000000000000000" pitchFamily="2" charset="2"/>
              <a:buNone/>
            </a:pPr>
            <a:r>
              <a:rPr kumimoji="1" lang="zh-CN" altLang="en-US" sz="2800" dirty="0">
                <a:solidFill>
                  <a:srgbClr val="00B050"/>
                </a:solidFill>
                <a:latin typeface="Times New Roman" panose="02020603050405020304" pitchFamily="18" charset="0"/>
                <a:ea typeface="楷体_GB2312" pitchFamily="49" charset="-122"/>
              </a:rPr>
              <a:t>非基阵</a:t>
            </a:r>
            <a:endParaRPr kumimoji="1" lang="zh-CN" altLang="en-US" sz="2800" dirty="0">
              <a:solidFill>
                <a:srgbClr val="00B050"/>
              </a:solidFill>
              <a:latin typeface="Times New Roman" panose="02020603050405020304" pitchFamily="18" charset="0"/>
              <a:ea typeface="楷体_GB2312" pitchFamily="49" charset="-122"/>
            </a:endParaRPr>
          </a:p>
        </p:txBody>
      </p:sp>
      <p:graphicFrame>
        <p:nvGraphicFramePr>
          <p:cNvPr id="93" name="Object 11"/>
          <p:cNvGraphicFramePr>
            <a:graphicFrameLocks noChangeAspect="1"/>
          </p:cNvGraphicFramePr>
          <p:nvPr/>
        </p:nvGraphicFramePr>
        <p:xfrm>
          <a:off x="1219200" y="5188496"/>
          <a:ext cx="3022600" cy="509588"/>
        </p:xfrm>
        <a:graphic>
          <a:graphicData uri="http://schemas.openxmlformats.org/presentationml/2006/ole">
            <mc:AlternateContent xmlns:mc="http://schemas.openxmlformats.org/markup-compatibility/2006">
              <mc:Choice xmlns:v="urn:schemas-microsoft-com:vml" Requires="v">
                <p:oleObj spid="_x0000_s6148" name="Equation" r:id="rId7" imgW="36576000" imgH="6096000" progId="Equation.3">
                  <p:embed/>
                </p:oleObj>
              </mc:Choice>
              <mc:Fallback>
                <p:oleObj name="Equation" r:id="rId7" imgW="36576000" imgH="6096000" progId="Equation.3">
                  <p:embed/>
                  <p:pic>
                    <p:nvPicPr>
                      <p:cNvPr id="0" name="图片 6147"/>
                      <p:cNvPicPr>
                        <a:picLocks noChangeAspect="1"/>
                      </p:cNvPicPr>
                      <p:nvPr/>
                    </p:nvPicPr>
                    <p:blipFill>
                      <a:blip r:embed="rId8"/>
                      <a:stretch>
                        <a:fillRect/>
                      </a:stretch>
                    </p:blipFill>
                    <p:spPr>
                      <a:xfrm>
                        <a:off x="1219200" y="5188496"/>
                        <a:ext cx="3022600" cy="509588"/>
                      </a:xfrm>
                      <a:prstGeom prst="rect">
                        <a:avLst/>
                      </a:prstGeom>
                      <a:noFill/>
                      <a:ln w="9525">
                        <a:noFill/>
                      </a:ln>
                    </p:spPr>
                  </p:pic>
                </p:oleObj>
              </mc:Fallback>
            </mc:AlternateContent>
          </a:graphicData>
        </a:graphic>
      </p:graphicFrame>
      <p:graphicFrame>
        <p:nvGraphicFramePr>
          <p:cNvPr id="94" name="Object 12"/>
          <p:cNvGraphicFramePr>
            <a:graphicFrameLocks noChangeAspect="1"/>
          </p:cNvGraphicFramePr>
          <p:nvPr/>
        </p:nvGraphicFramePr>
        <p:xfrm>
          <a:off x="4819650" y="5188496"/>
          <a:ext cx="3562350" cy="514350"/>
        </p:xfrm>
        <a:graphic>
          <a:graphicData uri="http://schemas.openxmlformats.org/presentationml/2006/ole">
            <mc:AlternateContent xmlns:mc="http://schemas.openxmlformats.org/markup-compatibility/2006">
              <mc:Choice xmlns:v="urn:schemas-microsoft-com:vml" Requires="v">
                <p:oleObj spid="_x0000_s6149" name="" r:id="rId9" imgW="42672000" imgH="6096000" progId="Equation.3">
                  <p:embed/>
                </p:oleObj>
              </mc:Choice>
              <mc:Fallback>
                <p:oleObj name="" r:id="rId9" imgW="42672000" imgH="6096000" progId="Equation.3">
                  <p:embed/>
                  <p:pic>
                    <p:nvPicPr>
                      <p:cNvPr id="0" name="图片 6148"/>
                      <p:cNvPicPr>
                        <a:picLocks noChangeAspect="1"/>
                      </p:cNvPicPr>
                      <p:nvPr/>
                    </p:nvPicPr>
                    <p:blipFill>
                      <a:blip r:embed="rId10"/>
                      <a:stretch>
                        <a:fillRect/>
                      </a:stretch>
                    </p:blipFill>
                    <p:spPr>
                      <a:xfrm>
                        <a:off x="4819650" y="5188496"/>
                        <a:ext cx="3562350" cy="514350"/>
                      </a:xfrm>
                      <a:prstGeom prst="rect">
                        <a:avLst/>
                      </a:prstGeom>
                      <a:noFill/>
                      <a:ln w="9525">
                        <a:noFill/>
                      </a:ln>
                    </p:spPr>
                  </p:pic>
                </p:oleObj>
              </mc:Fallback>
            </mc:AlternateContent>
          </a:graphicData>
        </a:graphic>
      </p:graphicFrame>
      <p:sp>
        <p:nvSpPr>
          <p:cNvPr id="95" name="Oval 13"/>
          <p:cNvSpPr>
            <a:spLocks noChangeArrowheads="1"/>
          </p:cNvSpPr>
          <p:nvPr/>
        </p:nvSpPr>
        <p:spPr bwMode="auto">
          <a:xfrm>
            <a:off x="2286000" y="3054896"/>
            <a:ext cx="685800" cy="1981200"/>
          </a:xfrm>
          <a:prstGeom prst="ellipse">
            <a:avLst/>
          </a:prstGeom>
          <a:noFill/>
          <a:ln w="38100">
            <a:solidFill>
              <a:srgbClr val="FF3300"/>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96" name="Oval 14"/>
          <p:cNvSpPr>
            <a:spLocks noChangeArrowheads="1"/>
          </p:cNvSpPr>
          <p:nvPr/>
        </p:nvSpPr>
        <p:spPr bwMode="auto">
          <a:xfrm>
            <a:off x="5867400" y="3108871"/>
            <a:ext cx="914400" cy="1981200"/>
          </a:xfrm>
          <a:prstGeom prst="ellipse">
            <a:avLst/>
          </a:prstGeom>
          <a:noFill/>
          <a:ln w="57150">
            <a:solidFill>
              <a:srgbClr val="99F70C"/>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97" name="AutoShape 15"/>
          <p:cNvSpPr>
            <a:spLocks noChangeArrowheads="1"/>
          </p:cNvSpPr>
          <p:nvPr/>
        </p:nvSpPr>
        <p:spPr bwMode="auto">
          <a:xfrm>
            <a:off x="609600" y="4045496"/>
            <a:ext cx="457200" cy="1219200"/>
          </a:xfrm>
          <a:prstGeom prst="wedgeRoundRectCallout">
            <a:avLst>
              <a:gd name="adj1" fmla="val 312153"/>
              <a:gd name="adj2" fmla="val -3907"/>
              <a:gd name="adj3" fmla="val 16667"/>
            </a:avLst>
          </a:prstGeom>
          <a:noFill/>
          <a:ln w="38100">
            <a:solidFill>
              <a:srgbClr val="FF3300"/>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a:solidFill>
                  <a:srgbClr val="FF3300"/>
                </a:solidFill>
                <a:latin typeface="Times New Roman" panose="02020603050405020304" pitchFamily="18" charset="0"/>
                <a:ea typeface="楷体_GB2312" pitchFamily="49" charset="-122"/>
              </a:rPr>
              <a:t>基</a:t>
            </a:r>
            <a:endParaRPr kumimoji="1" lang="zh-CN" altLang="en-US">
              <a:solidFill>
                <a:srgbClr val="FF3300"/>
              </a:solidFill>
              <a:latin typeface="Times New Roman" panose="02020603050405020304" pitchFamily="18" charset="0"/>
              <a:ea typeface="楷体_GB2312" pitchFamily="49" charset="-122"/>
            </a:endParaRPr>
          </a:p>
          <a:p>
            <a:pPr algn="ctr">
              <a:lnSpc>
                <a:spcPct val="90000"/>
              </a:lnSpc>
              <a:spcBef>
                <a:spcPct val="20000"/>
              </a:spcBef>
              <a:buClr>
                <a:schemeClr val="accent2"/>
              </a:buClr>
              <a:buSzPct val="80000"/>
              <a:buFont typeface="Wingdings" panose="05000000000000000000" pitchFamily="2" charset="2"/>
              <a:buNone/>
            </a:pPr>
            <a:r>
              <a:rPr kumimoji="1" lang="zh-CN" altLang="en-US">
                <a:solidFill>
                  <a:srgbClr val="FF3300"/>
                </a:solidFill>
                <a:latin typeface="Times New Roman" panose="02020603050405020304" pitchFamily="18" charset="0"/>
                <a:ea typeface="楷体_GB2312" pitchFamily="49" charset="-122"/>
              </a:rPr>
              <a:t>向</a:t>
            </a:r>
            <a:endParaRPr kumimoji="1" lang="zh-CN" altLang="en-US">
              <a:solidFill>
                <a:srgbClr val="FF3300"/>
              </a:solidFill>
              <a:latin typeface="Times New Roman" panose="02020603050405020304" pitchFamily="18" charset="0"/>
              <a:ea typeface="楷体_GB2312" pitchFamily="49" charset="-122"/>
            </a:endParaRPr>
          </a:p>
          <a:p>
            <a:pPr algn="ctr">
              <a:lnSpc>
                <a:spcPct val="90000"/>
              </a:lnSpc>
              <a:spcBef>
                <a:spcPct val="20000"/>
              </a:spcBef>
              <a:buClr>
                <a:schemeClr val="accent2"/>
              </a:buClr>
              <a:buSzPct val="80000"/>
              <a:buFont typeface="Wingdings" panose="05000000000000000000" pitchFamily="2" charset="2"/>
              <a:buNone/>
            </a:pPr>
            <a:r>
              <a:rPr kumimoji="1" lang="zh-CN" altLang="en-US">
                <a:solidFill>
                  <a:srgbClr val="FF3300"/>
                </a:solidFill>
                <a:latin typeface="Times New Roman" panose="02020603050405020304" pitchFamily="18" charset="0"/>
                <a:ea typeface="楷体_GB2312" pitchFamily="49" charset="-122"/>
              </a:rPr>
              <a:t>量</a:t>
            </a:r>
            <a:endParaRPr kumimoji="1" lang="zh-CN" altLang="en-US">
              <a:solidFill>
                <a:srgbClr val="FF3300"/>
              </a:solidFill>
              <a:latin typeface="Times New Roman" panose="02020603050405020304" pitchFamily="18" charset="0"/>
              <a:ea typeface="楷体_GB2312" pitchFamily="49" charset="-122"/>
            </a:endParaRPr>
          </a:p>
        </p:txBody>
      </p:sp>
      <p:sp>
        <p:nvSpPr>
          <p:cNvPr id="98" name="AutoShape 16"/>
          <p:cNvSpPr>
            <a:spLocks noChangeArrowheads="1"/>
          </p:cNvSpPr>
          <p:nvPr/>
        </p:nvSpPr>
        <p:spPr bwMode="auto">
          <a:xfrm>
            <a:off x="8229600" y="3435896"/>
            <a:ext cx="533400" cy="1524000"/>
          </a:xfrm>
          <a:prstGeom prst="wedgeRoundRectCallout">
            <a:avLst>
              <a:gd name="adj1" fmla="val -312500"/>
              <a:gd name="adj2" fmla="val -8125"/>
              <a:gd name="adj3" fmla="val 16667"/>
            </a:avLst>
          </a:prstGeom>
          <a:noFill/>
          <a:ln w="57150">
            <a:solidFill>
              <a:srgbClr val="99F70C"/>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buClr>
                <a:schemeClr val="accent2"/>
              </a:buClr>
              <a:buSzPct val="80000"/>
              <a:buFont typeface="Wingdings" panose="05000000000000000000" pitchFamily="2" charset="2"/>
              <a:buNone/>
            </a:pPr>
            <a:r>
              <a:rPr kumimoji="1" lang="zh-CN" altLang="en-US" b="1">
                <a:solidFill>
                  <a:srgbClr val="00B050"/>
                </a:solidFill>
                <a:latin typeface="Times New Roman" panose="02020603050405020304" pitchFamily="18" charset="0"/>
                <a:ea typeface="楷体_GB2312" pitchFamily="49" charset="-122"/>
              </a:rPr>
              <a:t>非</a:t>
            </a:r>
            <a:endParaRPr kumimoji="1" lang="zh-CN" altLang="en-US" b="1">
              <a:solidFill>
                <a:srgbClr val="00B050"/>
              </a:solidFill>
              <a:latin typeface="Times New Roman" panose="02020603050405020304" pitchFamily="18" charset="0"/>
              <a:ea typeface="楷体_GB2312" pitchFamily="49" charset="-122"/>
            </a:endParaRPr>
          </a:p>
          <a:p>
            <a:pPr algn="ctr">
              <a:buClr>
                <a:schemeClr val="accent2"/>
              </a:buClr>
              <a:buSzPct val="80000"/>
              <a:buFont typeface="Wingdings" panose="05000000000000000000" pitchFamily="2" charset="2"/>
              <a:buNone/>
            </a:pPr>
            <a:r>
              <a:rPr kumimoji="1" lang="zh-CN" altLang="en-US" b="1">
                <a:solidFill>
                  <a:srgbClr val="00B050"/>
                </a:solidFill>
                <a:latin typeface="Times New Roman" panose="02020603050405020304" pitchFamily="18" charset="0"/>
                <a:ea typeface="楷体_GB2312" pitchFamily="49" charset="-122"/>
              </a:rPr>
              <a:t>基</a:t>
            </a:r>
            <a:endParaRPr kumimoji="1" lang="zh-CN" altLang="en-US" b="1">
              <a:solidFill>
                <a:srgbClr val="00B050"/>
              </a:solidFill>
              <a:latin typeface="Times New Roman" panose="02020603050405020304" pitchFamily="18" charset="0"/>
              <a:ea typeface="楷体_GB2312" pitchFamily="49" charset="-122"/>
            </a:endParaRPr>
          </a:p>
          <a:p>
            <a:pPr algn="ctr">
              <a:buClr>
                <a:schemeClr val="accent2"/>
              </a:buClr>
              <a:buSzPct val="80000"/>
              <a:buFont typeface="Wingdings" panose="05000000000000000000" pitchFamily="2" charset="2"/>
              <a:buNone/>
            </a:pPr>
            <a:r>
              <a:rPr kumimoji="1" lang="zh-CN" altLang="en-US" b="1">
                <a:solidFill>
                  <a:srgbClr val="00B050"/>
                </a:solidFill>
                <a:latin typeface="Times New Roman" panose="02020603050405020304" pitchFamily="18" charset="0"/>
                <a:ea typeface="楷体_GB2312" pitchFamily="49" charset="-122"/>
              </a:rPr>
              <a:t>向</a:t>
            </a:r>
            <a:endParaRPr kumimoji="1" lang="zh-CN" altLang="en-US" b="1">
              <a:solidFill>
                <a:srgbClr val="00B050"/>
              </a:solidFill>
              <a:latin typeface="Times New Roman" panose="02020603050405020304" pitchFamily="18" charset="0"/>
              <a:ea typeface="楷体_GB2312" pitchFamily="49" charset="-122"/>
            </a:endParaRPr>
          </a:p>
          <a:p>
            <a:pPr algn="ctr">
              <a:buClr>
                <a:schemeClr val="accent2"/>
              </a:buClr>
              <a:buSzPct val="80000"/>
              <a:buFont typeface="Wingdings" panose="05000000000000000000" pitchFamily="2" charset="2"/>
              <a:buNone/>
            </a:pPr>
            <a:r>
              <a:rPr kumimoji="1" lang="zh-CN" altLang="en-US" b="1">
                <a:solidFill>
                  <a:srgbClr val="00B050"/>
                </a:solidFill>
                <a:latin typeface="Times New Roman" panose="02020603050405020304" pitchFamily="18" charset="0"/>
                <a:ea typeface="楷体_GB2312" pitchFamily="49" charset="-122"/>
              </a:rPr>
              <a:t>量</a:t>
            </a:r>
            <a:endParaRPr kumimoji="1" lang="zh-CN" altLang="en-US" b="1">
              <a:solidFill>
                <a:srgbClr val="00B050"/>
              </a:solidFill>
              <a:latin typeface="Times New Roman" panose="02020603050405020304" pitchFamily="18" charset="0"/>
              <a:ea typeface="楷体_GB2312" pitchFamily="49" charset="-122"/>
            </a:endParaRPr>
          </a:p>
        </p:txBody>
      </p:sp>
      <p:sp>
        <p:nvSpPr>
          <p:cNvPr id="99" name="AutoShape 17"/>
          <p:cNvSpPr>
            <a:spLocks noChangeArrowheads="1"/>
          </p:cNvSpPr>
          <p:nvPr/>
        </p:nvSpPr>
        <p:spPr bwMode="auto">
          <a:xfrm>
            <a:off x="1752600" y="5950496"/>
            <a:ext cx="1219200" cy="457200"/>
          </a:xfrm>
          <a:prstGeom prst="wedgeRoundRectCallout">
            <a:avLst>
              <a:gd name="adj1" fmla="val -70574"/>
              <a:gd name="adj2" fmla="val -109722"/>
              <a:gd name="adj3" fmla="val 16667"/>
            </a:avLst>
          </a:prstGeom>
          <a:noFill/>
          <a:ln w="38100">
            <a:solidFill>
              <a:srgbClr val="FF3300"/>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a:solidFill>
                  <a:srgbClr val="FF3300"/>
                </a:solidFill>
                <a:latin typeface="Times New Roman" panose="02020603050405020304" pitchFamily="18" charset="0"/>
                <a:ea typeface="楷体_GB2312" pitchFamily="49" charset="-122"/>
              </a:rPr>
              <a:t>基变量</a:t>
            </a:r>
            <a:endParaRPr kumimoji="1" lang="zh-CN" altLang="en-US">
              <a:solidFill>
                <a:srgbClr val="FF3300"/>
              </a:solidFill>
              <a:latin typeface="Times New Roman" panose="02020603050405020304" pitchFamily="18" charset="0"/>
              <a:ea typeface="楷体_GB2312" pitchFamily="49" charset="-122"/>
            </a:endParaRPr>
          </a:p>
        </p:txBody>
      </p:sp>
      <p:sp>
        <p:nvSpPr>
          <p:cNvPr id="100" name="AutoShape 18"/>
          <p:cNvSpPr>
            <a:spLocks noChangeArrowheads="1"/>
          </p:cNvSpPr>
          <p:nvPr/>
        </p:nvSpPr>
        <p:spPr bwMode="auto">
          <a:xfrm>
            <a:off x="5486400" y="5950496"/>
            <a:ext cx="1676400" cy="457200"/>
          </a:xfrm>
          <a:prstGeom prst="wedgeRoundRectCallout">
            <a:avLst>
              <a:gd name="adj1" fmla="val -77366"/>
              <a:gd name="adj2" fmla="val -113542"/>
              <a:gd name="adj3" fmla="val 16667"/>
            </a:avLst>
          </a:prstGeom>
          <a:noFill/>
          <a:ln w="57150">
            <a:solidFill>
              <a:srgbClr val="99F70C"/>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b="1">
                <a:solidFill>
                  <a:srgbClr val="00B050"/>
                </a:solidFill>
                <a:latin typeface="Times New Roman" panose="02020603050405020304" pitchFamily="18" charset="0"/>
                <a:ea typeface="楷体_GB2312" pitchFamily="49" charset="-122"/>
              </a:rPr>
              <a:t>非基变量</a:t>
            </a:r>
            <a:endParaRPr kumimoji="1" lang="zh-CN" altLang="en-US" b="1">
              <a:solidFill>
                <a:srgbClr val="00B05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additive="base">
                                        <p:cTn id="7" dur="500" fill="hold"/>
                                        <p:tgtEl>
                                          <p:spTgt spid="87"/>
                                        </p:tgtEl>
                                        <p:attrNameLst>
                                          <p:attrName>ppt_x</p:attrName>
                                        </p:attrNameLst>
                                      </p:cBhvr>
                                      <p:tavLst>
                                        <p:tav tm="0">
                                          <p:val>
                                            <p:strVal val="0-#ppt_w/2"/>
                                          </p:val>
                                        </p:tav>
                                        <p:tav tm="100000">
                                          <p:val>
                                            <p:strVal val="#ppt_x"/>
                                          </p:val>
                                        </p:tav>
                                      </p:tavLst>
                                    </p:anim>
                                    <p:anim calcmode="lin" valueType="num">
                                      <p:cBhvr additive="base">
                                        <p:cTn id="8" dur="500" fill="hold"/>
                                        <p:tgtEl>
                                          <p:spTgt spid="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1"/>
                                        </p:tgtEl>
                                        <p:attrNameLst>
                                          <p:attrName>style.visibility</p:attrName>
                                        </p:attrNameLst>
                                      </p:cBhvr>
                                      <p:to>
                                        <p:strVal val="visible"/>
                                      </p:to>
                                    </p:set>
                                    <p:anim calcmode="lin" valueType="num">
                                      <p:cBhvr additive="base">
                                        <p:cTn id="13" dur="500" fill="hold"/>
                                        <p:tgtEl>
                                          <p:spTgt spid="91"/>
                                        </p:tgtEl>
                                        <p:attrNameLst>
                                          <p:attrName>ppt_x</p:attrName>
                                        </p:attrNameLst>
                                      </p:cBhvr>
                                      <p:tavLst>
                                        <p:tav tm="0">
                                          <p:val>
                                            <p:strVal val="0-#ppt_w/2"/>
                                          </p:val>
                                        </p:tav>
                                        <p:tav tm="100000">
                                          <p:val>
                                            <p:strVal val="#ppt_x"/>
                                          </p:val>
                                        </p:tav>
                                      </p:tavLst>
                                    </p:anim>
                                    <p:anim calcmode="lin" valueType="num">
                                      <p:cBhvr additive="base">
                                        <p:cTn id="14"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5"/>
                                        </p:tgtEl>
                                        <p:attrNameLst>
                                          <p:attrName>style.visibility</p:attrName>
                                        </p:attrNameLst>
                                      </p:cBhvr>
                                      <p:to>
                                        <p:strVal val="visible"/>
                                      </p:to>
                                    </p:set>
                                    <p:anim calcmode="lin" valueType="num">
                                      <p:cBhvr additive="base">
                                        <p:cTn id="19" dur="500" fill="hold"/>
                                        <p:tgtEl>
                                          <p:spTgt spid="95"/>
                                        </p:tgtEl>
                                        <p:attrNameLst>
                                          <p:attrName>ppt_x</p:attrName>
                                        </p:attrNameLst>
                                      </p:cBhvr>
                                      <p:tavLst>
                                        <p:tav tm="0">
                                          <p:val>
                                            <p:strVal val="0-#ppt_w/2"/>
                                          </p:val>
                                        </p:tav>
                                        <p:tav tm="100000">
                                          <p:val>
                                            <p:strVal val="#ppt_x"/>
                                          </p:val>
                                        </p:tav>
                                      </p:tavLst>
                                    </p:anim>
                                    <p:anim calcmode="lin" valueType="num">
                                      <p:cBhvr additive="base">
                                        <p:cTn id="20" dur="500" fill="hold"/>
                                        <p:tgtEl>
                                          <p:spTgt spid="9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89"/>
                                        </p:tgtEl>
                                        <p:attrNameLst>
                                          <p:attrName>style.visibility</p:attrName>
                                        </p:attrNameLst>
                                      </p:cBhvr>
                                      <p:to>
                                        <p:strVal val="visible"/>
                                      </p:to>
                                    </p:set>
                                    <p:anim calcmode="lin" valueType="num">
                                      <p:cBhvr additive="base">
                                        <p:cTn id="25" dur="500" fill="hold"/>
                                        <p:tgtEl>
                                          <p:spTgt spid="89"/>
                                        </p:tgtEl>
                                        <p:attrNameLst>
                                          <p:attrName>ppt_x</p:attrName>
                                        </p:attrNameLst>
                                      </p:cBhvr>
                                      <p:tavLst>
                                        <p:tav tm="0">
                                          <p:val>
                                            <p:strVal val="0-#ppt_w/2"/>
                                          </p:val>
                                        </p:tav>
                                        <p:tav tm="100000">
                                          <p:val>
                                            <p:strVal val="#ppt_x"/>
                                          </p:val>
                                        </p:tav>
                                      </p:tavLst>
                                    </p:anim>
                                    <p:anim calcmode="lin" valueType="num">
                                      <p:cBhvr additive="base">
                                        <p:cTn id="26"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7"/>
                                        </p:tgtEl>
                                        <p:attrNameLst>
                                          <p:attrName>style.visibility</p:attrName>
                                        </p:attrNameLst>
                                      </p:cBhvr>
                                      <p:to>
                                        <p:strVal val="visible"/>
                                      </p:to>
                                    </p:set>
                                    <p:anim calcmode="lin" valueType="num">
                                      <p:cBhvr additive="base">
                                        <p:cTn id="31" dur="500" fill="hold"/>
                                        <p:tgtEl>
                                          <p:spTgt spid="97"/>
                                        </p:tgtEl>
                                        <p:attrNameLst>
                                          <p:attrName>ppt_x</p:attrName>
                                        </p:attrNameLst>
                                      </p:cBhvr>
                                      <p:tavLst>
                                        <p:tav tm="0">
                                          <p:val>
                                            <p:strVal val="0-#ppt_w/2"/>
                                          </p:val>
                                        </p:tav>
                                        <p:tav tm="100000">
                                          <p:val>
                                            <p:strVal val="#ppt_x"/>
                                          </p:val>
                                        </p:tav>
                                      </p:tavLst>
                                    </p:anim>
                                    <p:anim calcmode="lin" valueType="num">
                                      <p:cBhvr additive="base">
                                        <p:cTn id="32" dur="5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88"/>
                                        </p:tgtEl>
                                        <p:attrNameLst>
                                          <p:attrName>style.visibility</p:attrName>
                                        </p:attrNameLst>
                                      </p:cBhvr>
                                      <p:to>
                                        <p:strVal val="visible"/>
                                      </p:to>
                                    </p:set>
                                    <p:anim calcmode="lin" valueType="num">
                                      <p:cBhvr additive="base">
                                        <p:cTn id="37" dur="500" fill="hold"/>
                                        <p:tgtEl>
                                          <p:spTgt spid="88"/>
                                        </p:tgtEl>
                                        <p:attrNameLst>
                                          <p:attrName>ppt_x</p:attrName>
                                        </p:attrNameLst>
                                      </p:cBhvr>
                                      <p:tavLst>
                                        <p:tav tm="0">
                                          <p:val>
                                            <p:strVal val="0-#ppt_w/2"/>
                                          </p:val>
                                        </p:tav>
                                        <p:tav tm="100000">
                                          <p:val>
                                            <p:strVal val="#ppt_x"/>
                                          </p:val>
                                        </p:tav>
                                      </p:tavLst>
                                    </p:anim>
                                    <p:anim calcmode="lin" valueType="num">
                                      <p:cBhvr additive="base">
                                        <p:cTn id="38" dur="500" fill="hold"/>
                                        <p:tgtEl>
                                          <p:spTgt spid="8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2"/>
                                        </p:tgtEl>
                                        <p:attrNameLst>
                                          <p:attrName>style.visibility</p:attrName>
                                        </p:attrNameLst>
                                      </p:cBhvr>
                                      <p:to>
                                        <p:strVal val="visible"/>
                                      </p:to>
                                    </p:set>
                                    <p:anim calcmode="lin" valueType="num">
                                      <p:cBhvr additive="base">
                                        <p:cTn id="43" dur="500" fill="hold"/>
                                        <p:tgtEl>
                                          <p:spTgt spid="92"/>
                                        </p:tgtEl>
                                        <p:attrNameLst>
                                          <p:attrName>ppt_x</p:attrName>
                                        </p:attrNameLst>
                                      </p:cBhvr>
                                      <p:tavLst>
                                        <p:tav tm="0">
                                          <p:val>
                                            <p:strVal val="0-#ppt_w/2"/>
                                          </p:val>
                                        </p:tav>
                                        <p:tav tm="100000">
                                          <p:val>
                                            <p:strVal val="#ppt_x"/>
                                          </p:val>
                                        </p:tav>
                                      </p:tavLst>
                                    </p:anim>
                                    <p:anim calcmode="lin" valueType="num">
                                      <p:cBhvr additive="base">
                                        <p:cTn id="44"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90"/>
                                        </p:tgtEl>
                                        <p:attrNameLst>
                                          <p:attrName>style.visibility</p:attrName>
                                        </p:attrNameLst>
                                      </p:cBhvr>
                                      <p:to>
                                        <p:strVal val="visible"/>
                                      </p:to>
                                    </p:set>
                                    <p:anim calcmode="lin" valueType="num">
                                      <p:cBhvr additive="base">
                                        <p:cTn id="49" dur="500" fill="hold"/>
                                        <p:tgtEl>
                                          <p:spTgt spid="90"/>
                                        </p:tgtEl>
                                        <p:attrNameLst>
                                          <p:attrName>ppt_x</p:attrName>
                                        </p:attrNameLst>
                                      </p:cBhvr>
                                      <p:tavLst>
                                        <p:tav tm="0">
                                          <p:val>
                                            <p:strVal val="0-#ppt_w/2"/>
                                          </p:val>
                                        </p:tav>
                                        <p:tav tm="100000">
                                          <p:val>
                                            <p:strVal val="#ppt_x"/>
                                          </p:val>
                                        </p:tav>
                                      </p:tavLst>
                                    </p:anim>
                                    <p:anim calcmode="lin" valueType="num">
                                      <p:cBhvr additive="base">
                                        <p:cTn id="50" dur="500" fill="hold"/>
                                        <p:tgtEl>
                                          <p:spTgt spid="9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96"/>
                                        </p:tgtEl>
                                        <p:attrNameLst>
                                          <p:attrName>style.visibility</p:attrName>
                                        </p:attrNameLst>
                                      </p:cBhvr>
                                      <p:to>
                                        <p:strVal val="visible"/>
                                      </p:to>
                                    </p:set>
                                    <p:anim calcmode="lin" valueType="num">
                                      <p:cBhvr additive="base">
                                        <p:cTn id="55" dur="500" fill="hold"/>
                                        <p:tgtEl>
                                          <p:spTgt spid="96"/>
                                        </p:tgtEl>
                                        <p:attrNameLst>
                                          <p:attrName>ppt_x</p:attrName>
                                        </p:attrNameLst>
                                      </p:cBhvr>
                                      <p:tavLst>
                                        <p:tav tm="0">
                                          <p:val>
                                            <p:strVal val="0-#ppt_w/2"/>
                                          </p:val>
                                        </p:tav>
                                        <p:tav tm="100000">
                                          <p:val>
                                            <p:strVal val="#ppt_x"/>
                                          </p:val>
                                        </p:tav>
                                      </p:tavLst>
                                    </p:anim>
                                    <p:anim calcmode="lin" valueType="num">
                                      <p:cBhvr additive="base">
                                        <p:cTn id="56" dur="500" fill="hold"/>
                                        <p:tgtEl>
                                          <p:spTgt spid="96"/>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98"/>
                                        </p:tgtEl>
                                        <p:attrNameLst>
                                          <p:attrName>style.visibility</p:attrName>
                                        </p:attrNameLst>
                                      </p:cBhvr>
                                      <p:to>
                                        <p:strVal val="visible"/>
                                      </p:to>
                                    </p:set>
                                    <p:anim calcmode="lin" valueType="num">
                                      <p:cBhvr additive="base">
                                        <p:cTn id="61" dur="500" fill="hold"/>
                                        <p:tgtEl>
                                          <p:spTgt spid="98"/>
                                        </p:tgtEl>
                                        <p:attrNameLst>
                                          <p:attrName>ppt_x</p:attrName>
                                        </p:attrNameLst>
                                      </p:cBhvr>
                                      <p:tavLst>
                                        <p:tav tm="0">
                                          <p:val>
                                            <p:strVal val="0-#ppt_w/2"/>
                                          </p:val>
                                        </p:tav>
                                        <p:tav tm="100000">
                                          <p:val>
                                            <p:strVal val="#ppt_x"/>
                                          </p:val>
                                        </p:tav>
                                      </p:tavLst>
                                    </p:anim>
                                    <p:anim calcmode="lin" valueType="num">
                                      <p:cBhvr additive="base">
                                        <p:cTn id="62" dur="500" fill="hold"/>
                                        <p:tgtEl>
                                          <p:spTgt spid="98"/>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99"/>
                                        </p:tgtEl>
                                        <p:attrNameLst>
                                          <p:attrName>style.visibility</p:attrName>
                                        </p:attrNameLst>
                                      </p:cBhvr>
                                      <p:to>
                                        <p:strVal val="visible"/>
                                      </p:to>
                                    </p:set>
                                    <p:anim calcmode="lin" valueType="num">
                                      <p:cBhvr additive="base">
                                        <p:cTn id="67" dur="500" fill="hold"/>
                                        <p:tgtEl>
                                          <p:spTgt spid="99"/>
                                        </p:tgtEl>
                                        <p:attrNameLst>
                                          <p:attrName>ppt_x</p:attrName>
                                        </p:attrNameLst>
                                      </p:cBhvr>
                                      <p:tavLst>
                                        <p:tav tm="0">
                                          <p:val>
                                            <p:strVal val="0-#ppt_w/2"/>
                                          </p:val>
                                        </p:tav>
                                        <p:tav tm="100000">
                                          <p:val>
                                            <p:strVal val="#ppt_x"/>
                                          </p:val>
                                        </p:tav>
                                      </p:tavLst>
                                    </p:anim>
                                    <p:anim calcmode="lin" valueType="num">
                                      <p:cBhvr additive="base">
                                        <p:cTn id="68" dur="500" fill="hold"/>
                                        <p:tgtEl>
                                          <p:spTgt spid="99"/>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00"/>
                                        </p:tgtEl>
                                        <p:attrNameLst>
                                          <p:attrName>style.visibility</p:attrName>
                                        </p:attrNameLst>
                                      </p:cBhvr>
                                      <p:to>
                                        <p:strVal val="visible"/>
                                      </p:to>
                                    </p:set>
                                    <p:anim calcmode="lin" valueType="num">
                                      <p:cBhvr additive="base">
                                        <p:cTn id="73" dur="500" fill="hold"/>
                                        <p:tgtEl>
                                          <p:spTgt spid="100"/>
                                        </p:tgtEl>
                                        <p:attrNameLst>
                                          <p:attrName>ppt_x</p:attrName>
                                        </p:attrNameLst>
                                      </p:cBhvr>
                                      <p:tavLst>
                                        <p:tav tm="0">
                                          <p:val>
                                            <p:strVal val="0-#ppt_w/2"/>
                                          </p:val>
                                        </p:tav>
                                        <p:tav tm="100000">
                                          <p:val>
                                            <p:strVal val="#ppt_x"/>
                                          </p:val>
                                        </p:tav>
                                      </p:tavLst>
                                    </p:anim>
                                    <p:anim calcmode="lin" valueType="num">
                                      <p:cBhvr additive="base">
                                        <p:cTn id="74" dur="500" fill="hold"/>
                                        <p:tgtEl>
                                          <p:spTgt spid="1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utoUpdateAnimBg="0"/>
      <p:bldP spid="92" grpId="0" autoUpdateAnimBg="0"/>
      <p:bldP spid="97" grpId="0" animBg="1" autoUpdateAnimBg="0"/>
      <p:bldP spid="98" grpId="0" animBg="1" autoUpdateAnimBg="0"/>
      <p:bldP spid="99" grpId="0" animBg="1" autoUpdateAnimBg="0"/>
      <p:bldP spid="100"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6" name="Rectangle 3"/>
          <p:cNvSpPr txBox="1">
            <a:spLocks noChangeArrowheads="1"/>
          </p:cNvSpPr>
          <p:nvPr/>
        </p:nvSpPr>
        <p:spPr>
          <a:xfrm>
            <a:off x="467544" y="902473"/>
            <a:ext cx="5867400" cy="68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None/>
            </a:pPr>
            <a:r>
              <a:rPr lang="en-US" altLang="zh-CN" sz="2800" b="1">
                <a:latin typeface="黑体" panose="02010609060101010101" pitchFamily="49" charset="-122"/>
                <a:ea typeface="黑体" panose="02010609060101010101" pitchFamily="49" charset="-122"/>
              </a:rPr>
              <a:t>  1 </a:t>
            </a:r>
            <a:r>
              <a:rPr lang="zh-CN" altLang="en-US" sz="2800" b="1">
                <a:latin typeface="黑体" panose="02010609060101010101" pitchFamily="49" charset="-122"/>
                <a:ea typeface="黑体" panose="02010609060101010101" pitchFamily="49" charset="-122"/>
              </a:rPr>
              <a:t>确定初始的基本可行解</a:t>
            </a:r>
            <a:r>
              <a:rPr lang="zh-CN" altLang="en-US" sz="2800"/>
              <a:t> </a:t>
            </a:r>
            <a:endParaRPr lang="zh-CN" altLang="en-US" sz="2800"/>
          </a:p>
        </p:txBody>
      </p:sp>
      <p:sp>
        <p:nvSpPr>
          <p:cNvPr id="8" name="Rectangle 4"/>
          <p:cNvSpPr>
            <a:spLocks noChangeArrowheads="1"/>
          </p:cNvSpPr>
          <p:nvPr/>
        </p:nvSpPr>
        <p:spPr bwMode="auto">
          <a:xfrm>
            <a:off x="251644" y="1623198"/>
            <a:ext cx="8497887" cy="3545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40000"/>
              </a:lnSpc>
            </a:pPr>
            <a:r>
              <a:rPr lang="en-US" altLang="zh-CN" dirty="0">
                <a:effectLst/>
              </a:rPr>
              <a:t>    </a:t>
            </a:r>
            <a:r>
              <a:rPr lang="zh-CN" altLang="en-US" b="1" dirty="0">
                <a:effectLst/>
                <a:ea typeface="楷体_GB2312" pitchFamily="49" charset="-122"/>
              </a:rPr>
              <a:t>确定</a:t>
            </a:r>
            <a:r>
              <a:rPr lang="zh-CN" altLang="en-US" b="1" dirty="0">
                <a:solidFill>
                  <a:schemeClr val="accent2"/>
                </a:solidFill>
                <a:effectLst/>
                <a:ea typeface="楷体_GB2312" pitchFamily="49" charset="-122"/>
              </a:rPr>
              <a:t>初始的基本可行解</a:t>
            </a:r>
            <a:r>
              <a:rPr lang="zh-CN" altLang="en-US" b="1" dirty="0">
                <a:effectLst/>
                <a:ea typeface="楷体_GB2312" pitchFamily="49" charset="-122"/>
              </a:rPr>
              <a:t>等价于确定</a:t>
            </a:r>
            <a:r>
              <a:rPr lang="zh-CN" altLang="en-US" b="1" dirty="0">
                <a:solidFill>
                  <a:schemeClr val="accent2"/>
                </a:solidFill>
                <a:effectLst/>
                <a:ea typeface="楷体_GB2312" pitchFamily="49" charset="-122"/>
              </a:rPr>
              <a:t>初始的可行基</a:t>
            </a:r>
            <a:r>
              <a:rPr lang="zh-CN" altLang="en-US" b="1" dirty="0">
                <a:effectLst/>
                <a:ea typeface="楷体_GB2312" pitchFamily="49" charset="-122"/>
              </a:rPr>
              <a:t>，一旦初始的可行基确定了，那么对应的初始基本可行解也就唯一确定</a:t>
            </a:r>
            <a:r>
              <a:rPr lang="en-US" altLang="zh-CN" b="1" dirty="0">
                <a:effectLst/>
                <a:ea typeface="楷体_GB2312" pitchFamily="49" charset="-122"/>
              </a:rPr>
              <a:t>.</a:t>
            </a:r>
            <a:endParaRPr lang="en-US" altLang="zh-CN" b="1" dirty="0">
              <a:effectLst/>
              <a:ea typeface="楷体_GB2312" pitchFamily="49" charset="-122"/>
            </a:endParaRPr>
          </a:p>
          <a:p>
            <a:pPr algn="l">
              <a:lnSpc>
                <a:spcPct val="140000"/>
              </a:lnSpc>
            </a:pPr>
            <a:r>
              <a:rPr lang="en-US" altLang="zh-CN" b="1" dirty="0">
                <a:effectLst/>
              </a:rPr>
              <a:t>    </a:t>
            </a:r>
            <a:r>
              <a:rPr lang="zh-CN" altLang="en-US" b="1" dirty="0">
                <a:effectLst/>
                <a:ea typeface="楷体_GB2312" pitchFamily="49" charset="-122"/>
              </a:rPr>
              <a:t>为了讨论方便，不妨假设在标准型线性规划中，系数矩阵Ａ中前</a:t>
            </a:r>
            <a:r>
              <a:rPr lang="en-US" altLang="zh-CN" b="1" i="1" dirty="0">
                <a:effectLst/>
                <a:ea typeface="楷体_GB2312" pitchFamily="49" charset="-122"/>
              </a:rPr>
              <a:t>m</a:t>
            </a:r>
            <a:r>
              <a:rPr lang="zh-CN" altLang="en-US" b="1" dirty="0">
                <a:effectLst/>
                <a:ea typeface="楷体_GB2312" pitchFamily="49" charset="-122"/>
              </a:rPr>
              <a:t>个系数列向量恰好构成一个可行基，即</a:t>
            </a:r>
            <a:endParaRPr lang="zh-CN" altLang="en-US" b="1" dirty="0">
              <a:effectLst/>
              <a:ea typeface="楷体_GB2312" pitchFamily="49" charset="-122"/>
            </a:endParaRPr>
          </a:p>
          <a:p>
            <a:pPr algn="l">
              <a:lnSpc>
                <a:spcPct val="140000"/>
              </a:lnSpc>
            </a:pPr>
            <a:r>
              <a:rPr lang="zh-CN" altLang="en-US" b="1" dirty="0">
                <a:effectLst/>
                <a:ea typeface="楷体_GB2312" pitchFamily="49" charset="-122"/>
              </a:rPr>
              <a:t> 其中</a:t>
            </a:r>
            <a:endParaRPr lang="zh-CN" altLang="en-US" b="1" dirty="0">
              <a:effectLst/>
              <a:ea typeface="楷体_GB2312" pitchFamily="49" charset="-122"/>
            </a:endParaRPr>
          </a:p>
          <a:p>
            <a:pPr algn="l">
              <a:lnSpc>
                <a:spcPct val="140000"/>
              </a:lnSpc>
            </a:pPr>
            <a:r>
              <a:rPr lang="zh-CN" altLang="en-US" b="1" dirty="0">
                <a:effectLst/>
                <a:ea typeface="楷体_GB2312" pitchFamily="49" charset="-122"/>
              </a:rPr>
              <a:t>                                                     为</a:t>
            </a:r>
            <a:r>
              <a:rPr lang="zh-CN" altLang="en-US" b="1" dirty="0">
                <a:solidFill>
                  <a:srgbClr val="FF3300"/>
                </a:solidFill>
                <a:effectLst/>
                <a:ea typeface="楷体_GB2312" pitchFamily="49" charset="-122"/>
              </a:rPr>
              <a:t>基变量</a:t>
            </a:r>
            <a:r>
              <a:rPr lang="en-US" altLang="zh-CN" b="1" i="1" dirty="0">
                <a:effectLst/>
                <a:ea typeface="楷体_GB2312" pitchFamily="49" charset="-122"/>
              </a:rPr>
              <a:t>x</a:t>
            </a:r>
            <a:r>
              <a:rPr lang="en-US" altLang="zh-CN" b="1" baseline="-30000" dirty="0">
                <a:effectLst/>
                <a:ea typeface="楷体_GB2312" pitchFamily="49" charset="-122"/>
              </a:rPr>
              <a:t>1</a:t>
            </a:r>
            <a:r>
              <a:rPr lang="zh-CN" altLang="en-US" b="1" baseline="-30000" dirty="0">
                <a:effectLst/>
                <a:ea typeface="楷体_GB2312" pitchFamily="49" charset="-122"/>
              </a:rPr>
              <a:t>，</a:t>
            </a:r>
            <a:r>
              <a:rPr lang="en-US" altLang="zh-CN" b="1" i="1" dirty="0">
                <a:effectLst/>
                <a:ea typeface="楷体_GB2312" pitchFamily="49" charset="-122"/>
              </a:rPr>
              <a:t>x</a:t>
            </a:r>
            <a:r>
              <a:rPr lang="en-US" altLang="zh-CN" b="1" baseline="-30000" dirty="0">
                <a:effectLst/>
                <a:ea typeface="楷体_GB2312" pitchFamily="49" charset="-122"/>
              </a:rPr>
              <a:t>2</a:t>
            </a:r>
            <a:r>
              <a:rPr lang="zh-CN" altLang="en-US" b="1" baseline="-30000" dirty="0">
                <a:effectLst/>
                <a:ea typeface="楷体_GB2312" pitchFamily="49" charset="-122"/>
              </a:rPr>
              <a:t>，</a:t>
            </a:r>
            <a:r>
              <a:rPr lang="en-US" altLang="zh-CN" b="1" dirty="0">
                <a:effectLst/>
                <a:ea typeface="楷体_GB2312" pitchFamily="49" charset="-122"/>
              </a:rPr>
              <a:t>…,</a:t>
            </a:r>
            <a:r>
              <a:rPr lang="en-US" altLang="zh-CN" b="1" i="1" dirty="0" err="1">
                <a:effectLst/>
                <a:ea typeface="楷体_GB2312" pitchFamily="49" charset="-122"/>
              </a:rPr>
              <a:t>x</a:t>
            </a:r>
            <a:r>
              <a:rPr lang="en-US" altLang="zh-CN" b="1" i="1" baseline="-30000" dirty="0" err="1">
                <a:effectLst/>
                <a:ea typeface="楷体_GB2312" pitchFamily="49" charset="-122"/>
              </a:rPr>
              <a:t>m</a:t>
            </a:r>
            <a:r>
              <a:rPr lang="zh-CN" altLang="en-US" b="1" dirty="0">
                <a:effectLst/>
                <a:ea typeface="楷体_GB2312" pitchFamily="49" charset="-122"/>
              </a:rPr>
              <a:t>的系数列向量</a:t>
            </a:r>
            <a:endParaRPr lang="zh-CN" altLang="en-US" b="1" dirty="0">
              <a:effectLst/>
              <a:ea typeface="楷体_GB2312" pitchFamily="49" charset="-122"/>
            </a:endParaRPr>
          </a:p>
          <a:p>
            <a:pPr algn="l">
              <a:lnSpc>
                <a:spcPct val="140000"/>
              </a:lnSpc>
            </a:pPr>
            <a:r>
              <a:rPr lang="zh-CN" altLang="en-US" b="1" dirty="0">
                <a:effectLst/>
                <a:ea typeface="楷体_GB2312" pitchFamily="49" charset="-122"/>
              </a:rPr>
              <a:t>    构成的</a:t>
            </a:r>
            <a:r>
              <a:rPr lang="zh-CN" altLang="en-US" b="1" dirty="0">
                <a:solidFill>
                  <a:schemeClr val="accent2"/>
                </a:solidFill>
                <a:effectLst/>
                <a:ea typeface="楷体_GB2312" pitchFamily="49" charset="-122"/>
              </a:rPr>
              <a:t>可行基</a:t>
            </a:r>
            <a:r>
              <a:rPr lang="zh-CN" altLang="en-US" b="1" dirty="0">
                <a:effectLst/>
                <a:ea typeface="楷体_GB2312" pitchFamily="49" charset="-122"/>
              </a:rPr>
              <a:t>，</a:t>
            </a:r>
            <a:endParaRPr lang="zh-CN" altLang="en-US" b="1" dirty="0">
              <a:effectLst/>
              <a:ea typeface="楷体_GB2312" pitchFamily="49" charset="-122"/>
            </a:endParaRPr>
          </a:p>
          <a:p>
            <a:pPr algn="l">
              <a:lnSpc>
                <a:spcPct val="140000"/>
              </a:lnSpc>
            </a:pPr>
            <a:r>
              <a:rPr lang="zh-CN" altLang="en-US" b="1" dirty="0">
                <a:effectLst/>
                <a:ea typeface="楷体_GB2312" pitchFamily="49" charset="-122"/>
              </a:rPr>
              <a:t>                                                         为</a:t>
            </a:r>
            <a:r>
              <a:rPr lang="zh-CN" altLang="en-US" b="1" dirty="0">
                <a:solidFill>
                  <a:srgbClr val="FF3300"/>
                </a:solidFill>
                <a:effectLst/>
                <a:ea typeface="楷体_GB2312" pitchFamily="49" charset="-122"/>
              </a:rPr>
              <a:t>非基变量</a:t>
            </a:r>
            <a:r>
              <a:rPr lang="en-US" altLang="zh-CN" b="1" i="1" dirty="0">
                <a:effectLst/>
                <a:ea typeface="楷体_GB2312" pitchFamily="49" charset="-122"/>
              </a:rPr>
              <a:t>x</a:t>
            </a:r>
            <a:r>
              <a:rPr lang="en-US" altLang="zh-CN" b="1" i="1" baseline="-30000" dirty="0">
                <a:effectLst/>
                <a:ea typeface="楷体_GB2312" pitchFamily="49" charset="-122"/>
              </a:rPr>
              <a:t>m</a:t>
            </a:r>
            <a:r>
              <a:rPr lang="en-US" altLang="zh-CN" b="1" baseline="-30000" dirty="0">
                <a:effectLst/>
                <a:ea typeface="楷体_GB2312" pitchFamily="49" charset="-122"/>
              </a:rPr>
              <a:t>+1</a:t>
            </a:r>
            <a:r>
              <a:rPr lang="zh-CN" altLang="en-US" b="1" baseline="-30000" dirty="0">
                <a:effectLst/>
                <a:ea typeface="楷体_GB2312" pitchFamily="49" charset="-122"/>
              </a:rPr>
              <a:t>，</a:t>
            </a:r>
            <a:r>
              <a:rPr lang="en-US" altLang="zh-CN" b="1" i="1" dirty="0">
                <a:effectLst/>
                <a:ea typeface="楷体_GB2312" pitchFamily="49" charset="-122"/>
              </a:rPr>
              <a:t>x</a:t>
            </a:r>
            <a:r>
              <a:rPr lang="en-US" altLang="zh-CN" b="1" i="1" baseline="-30000" dirty="0">
                <a:effectLst/>
                <a:ea typeface="楷体_GB2312" pitchFamily="49" charset="-122"/>
              </a:rPr>
              <a:t>m</a:t>
            </a:r>
            <a:r>
              <a:rPr lang="en-US" altLang="zh-CN" b="1" baseline="-30000" dirty="0">
                <a:effectLst/>
                <a:ea typeface="楷体_GB2312" pitchFamily="49" charset="-122"/>
              </a:rPr>
              <a:t>+2</a:t>
            </a:r>
            <a:r>
              <a:rPr lang="zh-CN" altLang="en-US" b="1" baseline="-30000" dirty="0">
                <a:effectLst/>
                <a:ea typeface="楷体_GB2312" pitchFamily="49" charset="-122"/>
              </a:rPr>
              <a:t>，</a:t>
            </a:r>
            <a:r>
              <a:rPr lang="zh-CN" altLang="en-US" b="1" dirty="0">
                <a:effectLst/>
                <a:ea typeface="楷体_GB2312" pitchFamily="49" charset="-122"/>
              </a:rPr>
              <a:t> </a:t>
            </a:r>
            <a:r>
              <a:rPr lang="en-US" altLang="zh-CN" b="1" dirty="0">
                <a:effectLst/>
                <a:ea typeface="楷体_GB2312" pitchFamily="49" charset="-122"/>
              </a:rPr>
              <a:t>…,</a:t>
            </a:r>
            <a:r>
              <a:rPr lang="en-US" altLang="zh-CN" b="1" i="1" dirty="0" err="1">
                <a:effectLst/>
                <a:ea typeface="楷体_GB2312" pitchFamily="49" charset="-122"/>
              </a:rPr>
              <a:t>x</a:t>
            </a:r>
            <a:r>
              <a:rPr lang="en-US" altLang="zh-CN" b="1" i="1" baseline="-30000" dirty="0" err="1">
                <a:effectLst/>
                <a:ea typeface="楷体_GB2312" pitchFamily="49" charset="-122"/>
              </a:rPr>
              <a:t>n</a:t>
            </a:r>
            <a:r>
              <a:rPr lang="zh-CN" altLang="en-US" b="1" dirty="0">
                <a:effectLst/>
                <a:ea typeface="楷体_GB2312" pitchFamily="49" charset="-122"/>
              </a:rPr>
              <a:t>的</a:t>
            </a:r>
            <a:endParaRPr lang="zh-CN" altLang="en-US" b="1" dirty="0">
              <a:effectLst/>
              <a:ea typeface="楷体_GB2312" pitchFamily="49" charset="-122"/>
            </a:endParaRPr>
          </a:p>
          <a:p>
            <a:pPr algn="l">
              <a:lnSpc>
                <a:spcPct val="140000"/>
              </a:lnSpc>
            </a:pPr>
            <a:r>
              <a:rPr lang="zh-CN" altLang="en-US" b="1" dirty="0">
                <a:effectLst/>
                <a:ea typeface="楷体_GB2312" pitchFamily="49" charset="-122"/>
              </a:rPr>
              <a:t>    系数列向量构成的矩阵。 </a:t>
            </a:r>
            <a:endParaRPr lang="zh-CN" altLang="en-US" b="1" dirty="0">
              <a:effectLst/>
              <a:ea typeface="楷体_GB2312" pitchFamily="49" charset="-122"/>
            </a:endParaRPr>
          </a:p>
        </p:txBody>
      </p:sp>
      <p:graphicFrame>
        <p:nvGraphicFramePr>
          <p:cNvPr id="9" name="Object 2"/>
          <p:cNvGraphicFramePr>
            <a:graphicFrameLocks noChangeAspect="1"/>
          </p:cNvGraphicFramePr>
          <p:nvPr/>
        </p:nvGraphicFramePr>
        <p:xfrm>
          <a:off x="2862287" y="2780170"/>
          <a:ext cx="1638300" cy="482600"/>
        </p:xfrm>
        <a:graphic>
          <a:graphicData uri="http://schemas.openxmlformats.org/presentationml/2006/ole">
            <mc:AlternateContent xmlns:mc="http://schemas.openxmlformats.org/markup-compatibility/2006">
              <mc:Choice xmlns:v="urn:schemas-microsoft-com:vml" Requires="v">
                <p:oleObj spid="_x0000_s7169" name="公式" r:id="rId1" imgW="39319200" imgH="11582400" progId="Equation.3">
                  <p:embed/>
                </p:oleObj>
              </mc:Choice>
              <mc:Fallback>
                <p:oleObj name="公式" r:id="rId1" imgW="39319200" imgH="11582400" progId="Equation.3">
                  <p:embed/>
                  <p:pic>
                    <p:nvPicPr>
                      <p:cNvPr id="0" name="图片 7168"/>
                      <p:cNvPicPr>
                        <a:picLocks noChangeAspect="1"/>
                      </p:cNvPicPr>
                      <p:nvPr/>
                    </p:nvPicPr>
                    <p:blipFill>
                      <a:blip r:embed="rId2"/>
                      <a:stretch>
                        <a:fillRect/>
                      </a:stretch>
                    </p:blipFill>
                    <p:spPr>
                      <a:xfrm>
                        <a:off x="2862287" y="2780170"/>
                        <a:ext cx="1638300" cy="482600"/>
                      </a:xfrm>
                      <a:prstGeom prst="rect">
                        <a:avLst/>
                      </a:prstGeom>
                      <a:noFill/>
                      <a:ln w="9525">
                        <a:noFill/>
                      </a:ln>
                    </p:spPr>
                  </p:pic>
                </p:oleObj>
              </mc:Fallback>
            </mc:AlternateContent>
          </a:graphicData>
        </a:graphic>
      </p:graphicFrame>
      <p:graphicFrame>
        <p:nvGraphicFramePr>
          <p:cNvPr id="10" name="Object 3"/>
          <p:cNvGraphicFramePr>
            <a:graphicFrameLocks noChangeAspect="1"/>
          </p:cNvGraphicFramePr>
          <p:nvPr/>
        </p:nvGraphicFramePr>
        <p:xfrm>
          <a:off x="642070" y="3586577"/>
          <a:ext cx="2417762" cy="396875"/>
        </p:xfrm>
        <a:graphic>
          <a:graphicData uri="http://schemas.openxmlformats.org/presentationml/2006/ole">
            <mc:AlternateContent xmlns:mc="http://schemas.openxmlformats.org/markup-compatibility/2006">
              <mc:Choice xmlns:v="urn:schemas-microsoft-com:vml" Requires="v">
                <p:oleObj spid="_x0000_s7170" name="公式" r:id="rId3" imgW="64922400" imgH="10668000" progId="Equation.3">
                  <p:embed/>
                </p:oleObj>
              </mc:Choice>
              <mc:Fallback>
                <p:oleObj name="公式" r:id="rId3" imgW="64922400" imgH="10668000" progId="Equation.3">
                  <p:embed/>
                  <p:pic>
                    <p:nvPicPr>
                      <p:cNvPr id="0" name="图片 7169"/>
                      <p:cNvPicPr>
                        <a:picLocks noChangeAspect="1"/>
                      </p:cNvPicPr>
                      <p:nvPr/>
                    </p:nvPicPr>
                    <p:blipFill>
                      <a:blip r:embed="rId4"/>
                      <a:stretch>
                        <a:fillRect/>
                      </a:stretch>
                    </p:blipFill>
                    <p:spPr>
                      <a:xfrm>
                        <a:off x="642070" y="3586577"/>
                        <a:ext cx="2417762" cy="396875"/>
                      </a:xfrm>
                      <a:prstGeom prst="rect">
                        <a:avLst/>
                      </a:prstGeom>
                      <a:noFill/>
                      <a:ln w="9525">
                        <a:noFill/>
                      </a:ln>
                    </p:spPr>
                  </p:pic>
                </p:oleObj>
              </mc:Fallback>
            </mc:AlternateContent>
          </a:graphicData>
        </a:graphic>
      </p:graphicFrame>
      <p:graphicFrame>
        <p:nvGraphicFramePr>
          <p:cNvPr id="11" name="Object 4"/>
          <p:cNvGraphicFramePr>
            <a:graphicFrameLocks noChangeAspect="1"/>
          </p:cNvGraphicFramePr>
          <p:nvPr/>
        </p:nvGraphicFramePr>
        <p:xfrm>
          <a:off x="384895" y="4378282"/>
          <a:ext cx="2932112" cy="395287"/>
        </p:xfrm>
        <a:graphic>
          <a:graphicData uri="http://schemas.openxmlformats.org/presentationml/2006/ole">
            <mc:AlternateContent xmlns:mc="http://schemas.openxmlformats.org/markup-compatibility/2006">
              <mc:Choice xmlns:v="urn:schemas-microsoft-com:vml" Requires="v">
                <p:oleObj spid="_x0000_s7171" name="Equation" r:id="rId5" imgW="79248000" imgH="10668000" progId="Equation.3">
                  <p:embed/>
                </p:oleObj>
              </mc:Choice>
              <mc:Fallback>
                <p:oleObj name="Equation" r:id="rId5" imgW="79248000" imgH="10668000" progId="Equation.3">
                  <p:embed/>
                  <p:pic>
                    <p:nvPicPr>
                      <p:cNvPr id="0" name="图片 7170"/>
                      <p:cNvPicPr>
                        <a:picLocks noChangeAspect="1"/>
                      </p:cNvPicPr>
                      <p:nvPr/>
                    </p:nvPicPr>
                    <p:blipFill>
                      <a:blip r:embed="rId6"/>
                      <a:stretch>
                        <a:fillRect/>
                      </a:stretch>
                    </p:blipFill>
                    <p:spPr>
                      <a:xfrm>
                        <a:off x="384895" y="4378282"/>
                        <a:ext cx="2932112" cy="395287"/>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par>
                                <p:cTn id="13" presetID="29"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1000" fill="hold"/>
                                        <p:tgtEl>
                                          <p:spTgt spid="9"/>
                                        </p:tgtEl>
                                        <p:attrNameLst>
                                          <p:attrName>ppt_x</p:attrName>
                                        </p:attrNameLst>
                                      </p:cBhvr>
                                      <p:tavLst>
                                        <p:tav tm="0">
                                          <p:val>
                                            <p:strVal val="#ppt_x-.2"/>
                                          </p:val>
                                        </p:tav>
                                        <p:tav tm="100000">
                                          <p:val>
                                            <p:strVal val="#ppt_x"/>
                                          </p:val>
                                        </p:tav>
                                      </p:tavLst>
                                    </p:anim>
                                    <p:anim calcmode="lin" valueType="num">
                                      <p:cBhvr>
                                        <p:cTn id="16"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left)">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wipe(left)">
                                      <p:cBhvr>
                                        <p:cTn id="27" dur="500"/>
                                        <p:tgtEl>
                                          <p:spTgt spid="8">
                                            <p:txEl>
                                              <p:pRg st="3" end="3"/>
                                            </p:txEl>
                                          </p:spTgt>
                                        </p:tgtEl>
                                      </p:cBhvr>
                                    </p:animEffect>
                                  </p:childTnLst>
                                </p:cTn>
                              </p:par>
                              <p:par>
                                <p:cTn id="28" presetID="54" presetClass="entr" presetSubtype="0" accel="10000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strVal val="#ppt_w*0.05"/>
                                          </p:val>
                                        </p:tav>
                                        <p:tav tm="100000">
                                          <p:val>
                                            <p:strVal val="#ppt_w"/>
                                          </p:val>
                                        </p:tav>
                                      </p:tavLst>
                                    </p:anim>
                                    <p:anim calcmode="lin" valueType="num">
                                      <p:cBhvr>
                                        <p:cTn id="31" dur="500" fill="hold"/>
                                        <p:tgtEl>
                                          <p:spTgt spid="10"/>
                                        </p:tgtEl>
                                        <p:attrNameLst>
                                          <p:attrName>ppt_h</p:attrName>
                                        </p:attrNameLst>
                                      </p:cBhvr>
                                      <p:tavLst>
                                        <p:tav tm="0">
                                          <p:val>
                                            <p:strVal val="#ppt_h"/>
                                          </p:val>
                                        </p:tav>
                                        <p:tav tm="100000">
                                          <p:val>
                                            <p:strVal val="#ppt_h"/>
                                          </p:val>
                                        </p:tav>
                                      </p:tavLst>
                                    </p:anim>
                                    <p:anim calcmode="lin" valueType="num">
                                      <p:cBhvr>
                                        <p:cTn id="32" dur="500" fill="hold"/>
                                        <p:tgtEl>
                                          <p:spTgt spid="10"/>
                                        </p:tgtEl>
                                        <p:attrNameLst>
                                          <p:attrName>ppt_x</p:attrName>
                                        </p:attrNameLst>
                                      </p:cBhvr>
                                      <p:tavLst>
                                        <p:tav tm="0">
                                          <p:val>
                                            <p:strVal val="#ppt_x-.2"/>
                                          </p:val>
                                        </p:tav>
                                        <p:tav tm="100000">
                                          <p:val>
                                            <p:strVal val="#ppt_x"/>
                                          </p:val>
                                        </p:tav>
                                      </p:tavLst>
                                    </p:anim>
                                    <p:anim calcmode="lin" valueType="num">
                                      <p:cBhvr>
                                        <p:cTn id="33" dur="500" fill="hold"/>
                                        <p:tgtEl>
                                          <p:spTgt spid="10"/>
                                        </p:tgtEl>
                                        <p:attrNameLst>
                                          <p:attrName>ppt_y</p:attrName>
                                        </p:attrNameLst>
                                      </p:cBhvr>
                                      <p:tavLst>
                                        <p:tav tm="0">
                                          <p:val>
                                            <p:strVal val="#ppt_y"/>
                                          </p:val>
                                        </p:tav>
                                        <p:tav tm="100000">
                                          <p:val>
                                            <p:strVal val="#ppt_y"/>
                                          </p:val>
                                        </p:tav>
                                      </p:tavLst>
                                    </p:anim>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
                                            <p:txEl>
                                              <p:pRg st="4" end="4"/>
                                            </p:txEl>
                                          </p:spTgt>
                                        </p:tgtEl>
                                        <p:attrNameLst>
                                          <p:attrName>style.visibility</p:attrName>
                                        </p:attrNameLst>
                                      </p:cBhvr>
                                      <p:to>
                                        <p:strVal val="visible"/>
                                      </p:to>
                                    </p:set>
                                    <p:animEffect transition="in" filter="wipe(left)">
                                      <p:cBhvr>
                                        <p:cTn id="39" dur="500"/>
                                        <p:tgtEl>
                                          <p:spTgt spid="8">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8">
                                            <p:txEl>
                                              <p:pRg st="5" end="5"/>
                                            </p:txEl>
                                          </p:spTgt>
                                        </p:tgtEl>
                                        <p:attrNameLst>
                                          <p:attrName>style.visibility</p:attrName>
                                        </p:attrNameLst>
                                      </p:cBhvr>
                                      <p:to>
                                        <p:strVal val="visible"/>
                                      </p:to>
                                    </p:set>
                                    <p:animEffect transition="in" filter="wipe(left)">
                                      <p:cBhvr>
                                        <p:cTn id="44" dur="500"/>
                                        <p:tgtEl>
                                          <p:spTgt spid="8">
                                            <p:txEl>
                                              <p:pRg st="5" end="5"/>
                                            </p:txEl>
                                          </p:spTgt>
                                        </p:tgtEl>
                                      </p:cBhvr>
                                    </p:animEffect>
                                  </p:childTnLst>
                                </p:cTn>
                              </p:par>
                              <p:par>
                                <p:cTn id="45" presetID="5" presetClass="entr" presetSubtype="1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checkerboard(across)">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
                                            <p:txEl>
                                              <p:pRg st="6" end="6"/>
                                            </p:txEl>
                                          </p:spTgt>
                                        </p:tgtEl>
                                        <p:attrNameLst>
                                          <p:attrName>style.visibility</p:attrName>
                                        </p:attrNameLst>
                                      </p:cBhvr>
                                      <p:to>
                                        <p:strVal val="visible"/>
                                      </p:to>
                                    </p:set>
                                    <p:animEffect transition="in" filter="wipe(left)">
                                      <p:cBhvr>
                                        <p:cTn id="5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33796" name="AutoShape 4" descr="http://img3.imgtn.bdimg.com/it/u=1856441543,880950928&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zh-CN" altLang="en-US"/>
          </a:p>
        </p:txBody>
      </p:sp>
      <p:sp>
        <p:nvSpPr>
          <p:cNvPr id="33798" name="AutoShape 6" descr="http://img3.imgtn.bdimg.com/it/u=1856441543,880950928&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zh-CN" altLang="en-US"/>
          </a:p>
        </p:txBody>
      </p:sp>
      <p:graphicFrame>
        <p:nvGraphicFramePr>
          <p:cNvPr id="7" name="Object 3"/>
          <p:cNvGraphicFramePr>
            <a:graphicFrameLocks noChangeAspect="1"/>
          </p:cNvGraphicFramePr>
          <p:nvPr/>
        </p:nvGraphicFramePr>
        <p:xfrm>
          <a:off x="2328863" y="3068960"/>
          <a:ext cx="2952750" cy="2701925"/>
        </p:xfrm>
        <a:graphic>
          <a:graphicData uri="http://schemas.openxmlformats.org/presentationml/2006/ole">
            <mc:AlternateContent xmlns:mc="http://schemas.openxmlformats.org/markup-compatibility/2006">
              <mc:Choice xmlns:v="urn:schemas-microsoft-com:vml" Requires="v">
                <p:oleObj spid="_x0000_s8193" name="Equation" r:id="rId1" imgW="39624000" imgH="36271200" progId="Equation.DSMT4">
                  <p:embed/>
                </p:oleObj>
              </mc:Choice>
              <mc:Fallback>
                <p:oleObj name="Equation" r:id="rId1" imgW="39624000" imgH="36271200" progId="Equation.DSMT4">
                  <p:embed/>
                  <p:pic>
                    <p:nvPicPr>
                      <p:cNvPr id="0" name="图片 8192"/>
                      <p:cNvPicPr>
                        <a:picLocks noChangeAspect="1"/>
                      </p:cNvPicPr>
                      <p:nvPr/>
                    </p:nvPicPr>
                    <p:blipFill>
                      <a:blip r:embed="rId2"/>
                      <a:stretch>
                        <a:fillRect/>
                      </a:stretch>
                    </p:blipFill>
                    <p:spPr>
                      <a:xfrm>
                        <a:off x="2328863" y="3068960"/>
                        <a:ext cx="2952750" cy="2701925"/>
                      </a:xfrm>
                      <a:prstGeom prst="rect">
                        <a:avLst/>
                      </a:prstGeom>
                      <a:noFill/>
                      <a:ln w="9525">
                        <a:noFill/>
                      </a:ln>
                    </p:spPr>
                  </p:pic>
                </p:oleObj>
              </mc:Fallback>
            </mc:AlternateContent>
          </a:graphicData>
        </a:graphic>
      </p:graphicFrame>
      <p:graphicFrame>
        <p:nvGraphicFramePr>
          <p:cNvPr id="8" name="Object 4"/>
          <p:cNvGraphicFramePr>
            <a:graphicFrameLocks noChangeAspect="1"/>
          </p:cNvGraphicFramePr>
          <p:nvPr/>
        </p:nvGraphicFramePr>
        <p:xfrm>
          <a:off x="2530475" y="1536386"/>
          <a:ext cx="2041525" cy="1670050"/>
        </p:xfrm>
        <a:graphic>
          <a:graphicData uri="http://schemas.openxmlformats.org/presentationml/2006/ole">
            <mc:AlternateContent xmlns:mc="http://schemas.openxmlformats.org/markup-compatibility/2006">
              <mc:Choice xmlns:v="urn:schemas-microsoft-com:vml" Requires="v">
                <p:oleObj spid="_x0000_s8194" name="Equation" r:id="rId3" imgW="23469600" imgH="19202400" progId="Equation.DSMT4">
                  <p:embed/>
                </p:oleObj>
              </mc:Choice>
              <mc:Fallback>
                <p:oleObj name="Equation" r:id="rId3" imgW="23469600" imgH="19202400" progId="Equation.DSMT4">
                  <p:embed/>
                  <p:pic>
                    <p:nvPicPr>
                      <p:cNvPr id="0" name="图片 8193"/>
                      <p:cNvPicPr>
                        <a:picLocks noChangeAspect="1"/>
                      </p:cNvPicPr>
                      <p:nvPr/>
                    </p:nvPicPr>
                    <p:blipFill>
                      <a:blip r:embed="rId4"/>
                      <a:stretch>
                        <a:fillRect/>
                      </a:stretch>
                    </p:blipFill>
                    <p:spPr>
                      <a:xfrm>
                        <a:off x="2530475" y="1536386"/>
                        <a:ext cx="2041525" cy="1670050"/>
                      </a:xfrm>
                      <a:prstGeom prst="rect">
                        <a:avLst/>
                      </a:prstGeom>
                      <a:noFill/>
                      <a:ln w="9525">
                        <a:noFill/>
                      </a:ln>
                    </p:spPr>
                  </p:pic>
                </p:oleObj>
              </mc:Fallback>
            </mc:AlternateContent>
          </a:graphicData>
        </a:graphic>
      </p:graphicFrame>
      <p:sp>
        <p:nvSpPr>
          <p:cNvPr id="9" name="Rectangle 2"/>
          <p:cNvSpPr txBox="1">
            <a:spLocks noChangeArrowheads="1"/>
          </p:cNvSpPr>
          <p:nvPr/>
        </p:nvSpPr>
        <p:spPr>
          <a:xfrm>
            <a:off x="179512" y="692696"/>
            <a:ext cx="7772400" cy="838200"/>
          </a:xfrm>
          <a:prstGeom prst="rect">
            <a:avLst/>
          </a:prstGeom>
          <a:noFill/>
          <a:extLst>
            <a:ext uri="{909E8E84-426E-40DD-AFC4-6F175D3DCCD1}">
              <a14:hiddenFill xmlns:a14="http://schemas.microsoft.com/office/drawing/2010/main">
                <a:solidFill>
                  <a:srgbClr val="0066FF"/>
                </a:solidFill>
              </a14:hiddenFill>
            </a:ext>
          </a:extLst>
        </p:spPr>
        <p:txBody>
          <a:bodyPr vert="horz" lIns="91440" tIns="45720" rIns="91440" bIns="45720" rtlCol="0" anchor="ctr">
            <a:noAutofit/>
          </a:bodyPr>
          <a:lstStyle>
            <a:lvl1pPr algn="ctr" defTabSz="914400" rtl="0" eaLnBrk="1" latinLnBrk="0" hangingPunct="1">
              <a:spcBef>
                <a:spcPct val="0"/>
              </a:spcBef>
              <a:buNone/>
              <a:defRPr sz="3200" b="1" kern="1200">
                <a:solidFill>
                  <a:schemeClr val="bg1"/>
                </a:solidFill>
                <a:latin typeface="黑体" panose="02010609060101010101" pitchFamily="49" charset="-122"/>
                <a:ea typeface="黑体" panose="02010609060101010101" pitchFamily="49" charset="-122"/>
                <a:cs typeface="+mj-cs"/>
              </a:defRPr>
            </a:lvl1pPr>
          </a:lstStyle>
          <a:p>
            <a:pPr algn="l"/>
            <a:r>
              <a:rPr lang="zh-CN" altLang="en-US" sz="2800">
                <a:solidFill>
                  <a:schemeClr val="tx1"/>
                </a:solidFill>
                <a:ea typeface="楷体_GB2312" pitchFamily="49" charset="-122"/>
              </a:rPr>
              <a:t>线性规划问题基变换的矩阵表示</a:t>
            </a:r>
            <a:endParaRPr lang="zh-CN" altLang="en-US" sz="2800" dirty="0">
              <a:solidFill>
                <a:schemeClr val="tx1"/>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33796" name="AutoShape 4" descr="http://img3.imgtn.bdimg.com/it/u=1856441543,880950928&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zh-CN" altLang="en-US"/>
          </a:p>
        </p:txBody>
      </p:sp>
      <p:sp>
        <p:nvSpPr>
          <p:cNvPr id="33798" name="AutoShape 6" descr="http://img3.imgtn.bdimg.com/it/u=1856441543,880950928&amp;fm=26&amp;gp=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zh-CN" altLang="en-US"/>
          </a:p>
        </p:txBody>
      </p:sp>
      <p:graphicFrame>
        <p:nvGraphicFramePr>
          <p:cNvPr id="11" name="Object 2"/>
          <p:cNvGraphicFramePr>
            <a:graphicFrameLocks noChangeAspect="1"/>
          </p:cNvGraphicFramePr>
          <p:nvPr/>
        </p:nvGraphicFramePr>
        <p:xfrm>
          <a:off x="2527801" y="3429000"/>
          <a:ext cx="4289425" cy="1887538"/>
        </p:xfrm>
        <a:graphic>
          <a:graphicData uri="http://schemas.openxmlformats.org/presentationml/2006/ole">
            <mc:AlternateContent xmlns:mc="http://schemas.openxmlformats.org/markup-compatibility/2006">
              <mc:Choice xmlns:v="urn:schemas-microsoft-com:vml" Requires="v">
                <p:oleObj spid="_x0000_s9217" name="Equation" r:id="rId1" imgW="60655200" imgH="20726400" progId="Equation.DSMT4">
                  <p:embed/>
                </p:oleObj>
              </mc:Choice>
              <mc:Fallback>
                <p:oleObj name="Equation" r:id="rId1" imgW="60655200" imgH="20726400" progId="Equation.DSMT4">
                  <p:embed/>
                  <p:pic>
                    <p:nvPicPr>
                      <p:cNvPr id="0" name="图片 9216"/>
                      <p:cNvPicPr>
                        <a:picLocks noChangeAspect="1"/>
                      </p:cNvPicPr>
                      <p:nvPr/>
                    </p:nvPicPr>
                    <p:blipFill>
                      <a:blip r:embed="rId2"/>
                      <a:stretch>
                        <a:fillRect/>
                      </a:stretch>
                    </p:blipFill>
                    <p:spPr>
                      <a:xfrm>
                        <a:off x="2527801" y="3429000"/>
                        <a:ext cx="4289425" cy="1887538"/>
                      </a:xfrm>
                      <a:prstGeom prst="rect">
                        <a:avLst/>
                      </a:prstGeom>
                      <a:noFill/>
                      <a:ln w="9525">
                        <a:noFill/>
                      </a:ln>
                    </p:spPr>
                  </p:pic>
                </p:oleObj>
              </mc:Fallback>
            </mc:AlternateContent>
          </a:graphicData>
        </a:graphic>
      </p:graphicFrame>
      <p:graphicFrame>
        <p:nvGraphicFramePr>
          <p:cNvPr id="12" name="Object 48"/>
          <p:cNvGraphicFramePr>
            <a:graphicFrameLocks noChangeAspect="1"/>
          </p:cNvGraphicFramePr>
          <p:nvPr/>
        </p:nvGraphicFramePr>
        <p:xfrm>
          <a:off x="219075" y="1000146"/>
          <a:ext cx="3663950" cy="1887537"/>
        </p:xfrm>
        <a:graphic>
          <a:graphicData uri="http://schemas.openxmlformats.org/presentationml/2006/ole">
            <mc:AlternateContent xmlns:mc="http://schemas.openxmlformats.org/markup-compatibility/2006">
              <mc:Choice xmlns:v="urn:schemas-microsoft-com:vml" Requires="v">
                <p:oleObj spid="_x0000_s9218" name="Equation" r:id="rId3" imgW="40233600" imgH="20726400" progId="Equation.DSMT4">
                  <p:embed/>
                </p:oleObj>
              </mc:Choice>
              <mc:Fallback>
                <p:oleObj name="Equation" r:id="rId3" imgW="40233600" imgH="20726400" progId="Equation.DSMT4">
                  <p:embed/>
                  <p:pic>
                    <p:nvPicPr>
                      <p:cNvPr id="0" name="图片 9217"/>
                      <p:cNvPicPr>
                        <a:picLocks noChangeAspect="1"/>
                      </p:cNvPicPr>
                      <p:nvPr/>
                    </p:nvPicPr>
                    <p:blipFill>
                      <a:blip r:embed="rId4"/>
                      <a:stretch>
                        <a:fillRect/>
                      </a:stretch>
                    </p:blipFill>
                    <p:spPr>
                      <a:xfrm>
                        <a:off x="219075" y="1000146"/>
                        <a:ext cx="3663950" cy="1887537"/>
                      </a:xfrm>
                      <a:prstGeom prst="rect">
                        <a:avLst/>
                      </a:prstGeom>
                      <a:noFill/>
                      <a:ln w="9525">
                        <a:noFill/>
                      </a:ln>
                    </p:spPr>
                  </p:pic>
                </p:oleObj>
              </mc:Fallback>
            </mc:AlternateContent>
          </a:graphicData>
        </a:graphic>
      </p:graphicFrame>
      <p:graphicFrame>
        <p:nvGraphicFramePr>
          <p:cNvPr id="13" name="Object 139"/>
          <p:cNvGraphicFramePr>
            <a:graphicFrameLocks noChangeAspect="1"/>
          </p:cNvGraphicFramePr>
          <p:nvPr/>
        </p:nvGraphicFramePr>
        <p:xfrm>
          <a:off x="4860032" y="960775"/>
          <a:ext cx="3848100" cy="1887538"/>
        </p:xfrm>
        <a:graphic>
          <a:graphicData uri="http://schemas.openxmlformats.org/presentationml/2006/ole">
            <mc:AlternateContent xmlns:mc="http://schemas.openxmlformats.org/markup-compatibility/2006">
              <mc:Choice xmlns:v="urn:schemas-microsoft-com:vml" Requires="v">
                <p:oleObj spid="_x0000_s9219" name="Equation" r:id="rId5" imgW="43891200" imgH="20726400" progId="Equation.DSMT4">
                  <p:embed/>
                </p:oleObj>
              </mc:Choice>
              <mc:Fallback>
                <p:oleObj name="Equation" r:id="rId5" imgW="43891200" imgH="20726400" progId="Equation.DSMT4">
                  <p:embed/>
                  <p:pic>
                    <p:nvPicPr>
                      <p:cNvPr id="0" name="图片 9218"/>
                      <p:cNvPicPr>
                        <a:picLocks noChangeAspect="1"/>
                      </p:cNvPicPr>
                      <p:nvPr/>
                    </p:nvPicPr>
                    <p:blipFill>
                      <a:blip r:embed="rId6"/>
                      <a:stretch>
                        <a:fillRect/>
                      </a:stretch>
                    </p:blipFill>
                    <p:spPr>
                      <a:xfrm>
                        <a:off x="4860032" y="960775"/>
                        <a:ext cx="3848100" cy="188753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25" name="Rectangle 6"/>
          <p:cNvSpPr>
            <a:spLocks noChangeArrowheads="1"/>
          </p:cNvSpPr>
          <p:nvPr/>
        </p:nvSpPr>
        <p:spPr bwMode="auto">
          <a:xfrm>
            <a:off x="755650" y="795338"/>
            <a:ext cx="6696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effectLst/>
                <a:ea typeface="楷体_GB2312" pitchFamily="49" charset="-122"/>
                <a:cs typeface="Arial" panose="020B0604020202020204" pitchFamily="34" charset="0"/>
              </a:rPr>
              <a:t>所以约束方程 </a:t>
            </a:r>
            <a:r>
              <a:rPr lang="en-US" altLang="zh-CN" b="1" i="1">
                <a:effectLst/>
                <a:ea typeface="楷体_GB2312" pitchFamily="49" charset="-122"/>
                <a:cs typeface="Arial" panose="020B0604020202020204" pitchFamily="34" charset="0"/>
              </a:rPr>
              <a:t>AX</a:t>
            </a:r>
            <a:r>
              <a:rPr lang="en-US" altLang="zh-CN" b="1">
                <a:effectLst/>
                <a:ea typeface="楷体_GB2312" pitchFamily="49" charset="-122"/>
                <a:cs typeface="Arial" panose="020B0604020202020204" pitchFamily="34" charset="0"/>
              </a:rPr>
              <a:t>=</a:t>
            </a:r>
            <a:r>
              <a:rPr lang="en-US" altLang="zh-CN" b="1" i="1">
                <a:effectLst/>
                <a:ea typeface="楷体_GB2312" pitchFamily="49" charset="-122"/>
                <a:cs typeface="Arial" panose="020B0604020202020204" pitchFamily="34" charset="0"/>
              </a:rPr>
              <a:t>b</a:t>
            </a:r>
            <a:r>
              <a:rPr lang="zh-CN" altLang="en-US" b="1">
                <a:effectLst/>
                <a:ea typeface="楷体_GB2312" pitchFamily="49" charset="-122"/>
                <a:cs typeface="Arial" panose="020B0604020202020204" pitchFamily="34" charset="0"/>
              </a:rPr>
              <a:t>　就可以表示为</a:t>
            </a:r>
            <a:r>
              <a:rPr lang="en-US" altLang="zh-CN" b="1">
                <a:effectLst/>
                <a:ea typeface="楷体_GB2312" pitchFamily="49" charset="-122"/>
                <a:cs typeface="Arial" panose="020B0604020202020204" pitchFamily="34" charset="0"/>
              </a:rPr>
              <a:t>:</a:t>
            </a:r>
            <a:endParaRPr lang="en-US" altLang="zh-CN" b="1">
              <a:effectLst/>
              <a:ea typeface="楷体_GB2312" pitchFamily="49" charset="-122"/>
              <a:cs typeface="Arial" panose="020B0604020202020204" pitchFamily="34" charset="0"/>
            </a:endParaRPr>
          </a:p>
        </p:txBody>
      </p:sp>
      <p:sp>
        <p:nvSpPr>
          <p:cNvPr id="26" name="Rectangle 7"/>
          <p:cNvSpPr>
            <a:spLocks noChangeArrowheads="1"/>
          </p:cNvSpPr>
          <p:nvPr/>
        </p:nvSpPr>
        <p:spPr bwMode="auto">
          <a:xfrm>
            <a:off x="755650" y="2781300"/>
            <a:ext cx="1152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effectLst/>
                <a:latin typeface="楷体_GB2312" pitchFamily="49" charset="-122"/>
                <a:ea typeface="楷体_GB2312" pitchFamily="49" charset="-122"/>
                <a:cs typeface="Arial" panose="020B0604020202020204" pitchFamily="34" charset="0"/>
              </a:rPr>
              <a:t>得：</a:t>
            </a:r>
            <a:endParaRPr lang="zh-CN" altLang="en-US" b="1">
              <a:effectLst/>
              <a:latin typeface="楷体_GB2312" pitchFamily="49" charset="-122"/>
              <a:ea typeface="楷体_GB2312" pitchFamily="49" charset="-122"/>
              <a:cs typeface="Arial" panose="020B0604020202020204" pitchFamily="34" charset="0"/>
            </a:endParaRPr>
          </a:p>
        </p:txBody>
      </p:sp>
      <p:sp>
        <p:nvSpPr>
          <p:cNvPr id="27" name="Rectangle 3"/>
          <p:cNvSpPr>
            <a:spLocks noChangeArrowheads="1"/>
          </p:cNvSpPr>
          <p:nvPr/>
        </p:nvSpPr>
        <p:spPr bwMode="auto">
          <a:xfrm>
            <a:off x="684213" y="5373688"/>
            <a:ext cx="763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effectLst/>
                <a:latin typeface="楷体_GB2312" pitchFamily="49" charset="-122"/>
                <a:ea typeface="楷体_GB2312" pitchFamily="49" charset="-122"/>
                <a:cs typeface="Arial" panose="020B0604020202020204" pitchFamily="34" charset="0"/>
              </a:rPr>
              <a:t>由此可得初始的基本可行解</a:t>
            </a:r>
            <a:endParaRPr lang="zh-CN" altLang="en-US" b="1">
              <a:effectLst/>
              <a:latin typeface="楷体_GB2312" pitchFamily="49" charset="-122"/>
              <a:ea typeface="楷体_GB2312" pitchFamily="49" charset="-122"/>
              <a:cs typeface="Arial" panose="020B0604020202020204" pitchFamily="34" charset="0"/>
            </a:endParaRPr>
          </a:p>
        </p:txBody>
      </p:sp>
      <p:graphicFrame>
        <p:nvGraphicFramePr>
          <p:cNvPr id="28" name="Object 4"/>
          <p:cNvGraphicFramePr>
            <a:graphicFrameLocks noChangeAspect="1"/>
          </p:cNvGraphicFramePr>
          <p:nvPr/>
        </p:nvGraphicFramePr>
        <p:xfrm>
          <a:off x="3167063" y="4437063"/>
          <a:ext cx="1549400" cy="469900"/>
        </p:xfrm>
        <a:graphic>
          <a:graphicData uri="http://schemas.openxmlformats.org/presentationml/2006/ole">
            <mc:AlternateContent xmlns:mc="http://schemas.openxmlformats.org/markup-compatibility/2006">
              <mc:Choice xmlns:v="urn:schemas-microsoft-com:vml" Requires="v">
                <p:oleObj spid="_x0000_s10241" name="Equation" r:id="rId1" imgW="37185600" imgH="11277600" progId="Equation.3">
                  <p:embed/>
                </p:oleObj>
              </mc:Choice>
              <mc:Fallback>
                <p:oleObj name="Equation" r:id="rId1" imgW="37185600" imgH="11277600" progId="Equation.3">
                  <p:embed/>
                  <p:pic>
                    <p:nvPicPr>
                      <p:cNvPr id="0" name="图片 10240"/>
                      <p:cNvPicPr>
                        <a:picLocks noChangeAspect="1"/>
                      </p:cNvPicPr>
                      <p:nvPr/>
                    </p:nvPicPr>
                    <p:blipFill>
                      <a:blip r:embed="rId2"/>
                      <a:stretch>
                        <a:fillRect/>
                      </a:stretch>
                    </p:blipFill>
                    <p:spPr>
                      <a:xfrm>
                        <a:off x="3167063" y="4437063"/>
                        <a:ext cx="1549400" cy="469900"/>
                      </a:xfrm>
                      <a:prstGeom prst="rect">
                        <a:avLst/>
                      </a:prstGeom>
                      <a:solidFill>
                        <a:srgbClr val="FF9966"/>
                      </a:solidFill>
                      <a:ln w="9525">
                        <a:noFill/>
                      </a:ln>
                    </p:spPr>
                  </p:pic>
                </p:oleObj>
              </mc:Fallback>
            </mc:AlternateContent>
          </a:graphicData>
        </a:graphic>
      </p:graphicFrame>
      <p:graphicFrame>
        <p:nvGraphicFramePr>
          <p:cNvPr id="29" name="Object 5"/>
          <p:cNvGraphicFramePr>
            <a:graphicFrameLocks noChangeAspect="1"/>
          </p:cNvGraphicFramePr>
          <p:nvPr/>
        </p:nvGraphicFramePr>
        <p:xfrm>
          <a:off x="1619250" y="1268413"/>
          <a:ext cx="5435600" cy="1016000"/>
        </p:xfrm>
        <a:graphic>
          <a:graphicData uri="http://schemas.openxmlformats.org/presentationml/2006/ole">
            <mc:AlternateContent xmlns:mc="http://schemas.openxmlformats.org/markup-compatibility/2006">
              <mc:Choice xmlns:v="urn:schemas-microsoft-com:vml" Requires="v">
                <p:oleObj spid="_x0000_s10242" name="公式" r:id="rId3" imgW="130454400" imgH="24384000" progId="Equation.3">
                  <p:embed/>
                </p:oleObj>
              </mc:Choice>
              <mc:Fallback>
                <p:oleObj name="公式" r:id="rId3" imgW="130454400" imgH="24384000" progId="Equation.3">
                  <p:embed/>
                  <p:pic>
                    <p:nvPicPr>
                      <p:cNvPr id="0" name="图片 10241"/>
                      <p:cNvPicPr>
                        <a:picLocks noChangeAspect="1"/>
                      </p:cNvPicPr>
                      <p:nvPr/>
                    </p:nvPicPr>
                    <p:blipFill>
                      <a:blip r:embed="rId4"/>
                      <a:stretch>
                        <a:fillRect/>
                      </a:stretch>
                    </p:blipFill>
                    <p:spPr>
                      <a:xfrm>
                        <a:off x="1619250" y="1268413"/>
                        <a:ext cx="5435600" cy="1016000"/>
                      </a:xfrm>
                      <a:prstGeom prst="rect">
                        <a:avLst/>
                      </a:prstGeom>
                      <a:noFill/>
                      <a:ln w="9525">
                        <a:noFill/>
                      </a:ln>
                    </p:spPr>
                  </p:pic>
                </p:oleObj>
              </mc:Fallback>
            </mc:AlternateContent>
          </a:graphicData>
        </a:graphic>
      </p:graphicFrame>
      <p:graphicFrame>
        <p:nvGraphicFramePr>
          <p:cNvPr id="30" name="Object 6"/>
          <p:cNvGraphicFramePr>
            <a:graphicFrameLocks noChangeAspect="1"/>
          </p:cNvGraphicFramePr>
          <p:nvPr/>
        </p:nvGraphicFramePr>
        <p:xfrm>
          <a:off x="1979613" y="2781300"/>
          <a:ext cx="3671887" cy="576263"/>
        </p:xfrm>
        <a:graphic>
          <a:graphicData uri="http://schemas.openxmlformats.org/presentationml/2006/ole">
            <mc:AlternateContent xmlns:mc="http://schemas.openxmlformats.org/markup-compatibility/2006">
              <mc:Choice xmlns:v="urn:schemas-microsoft-com:vml" Requires="v">
                <p:oleObj spid="_x0000_s10243" name="Equation" r:id="rId5" imgW="32918400" imgH="5486400" progId="Equation.3">
                  <p:embed/>
                </p:oleObj>
              </mc:Choice>
              <mc:Fallback>
                <p:oleObj name="Equation" r:id="rId5" imgW="32918400" imgH="5486400" progId="Equation.3">
                  <p:embed/>
                  <p:pic>
                    <p:nvPicPr>
                      <p:cNvPr id="0" name="图片 10242"/>
                      <p:cNvPicPr>
                        <a:picLocks noChangeAspect="1"/>
                      </p:cNvPicPr>
                      <p:nvPr/>
                    </p:nvPicPr>
                    <p:blipFill>
                      <a:blip r:embed="rId6"/>
                      <a:stretch>
                        <a:fillRect/>
                      </a:stretch>
                    </p:blipFill>
                    <p:spPr>
                      <a:xfrm>
                        <a:off x="1979613" y="2781300"/>
                        <a:ext cx="3671887" cy="576263"/>
                      </a:xfrm>
                      <a:prstGeom prst="rect">
                        <a:avLst/>
                      </a:prstGeom>
                      <a:solidFill>
                        <a:srgbClr val="FF9966"/>
                      </a:solidFill>
                      <a:ln w="9525">
                        <a:noFill/>
                      </a:ln>
                    </p:spPr>
                  </p:pic>
                </p:oleObj>
              </mc:Fallback>
            </mc:AlternateContent>
          </a:graphicData>
        </a:graphic>
      </p:graphicFrame>
      <p:graphicFrame>
        <p:nvGraphicFramePr>
          <p:cNvPr id="31" name="Object 7"/>
          <p:cNvGraphicFramePr>
            <a:graphicFrameLocks noChangeAspect="1"/>
          </p:cNvGraphicFramePr>
          <p:nvPr/>
        </p:nvGraphicFramePr>
        <p:xfrm>
          <a:off x="5003800" y="5084763"/>
          <a:ext cx="1728788" cy="1008062"/>
        </p:xfrm>
        <a:graphic>
          <a:graphicData uri="http://schemas.openxmlformats.org/presentationml/2006/ole">
            <mc:AlternateContent xmlns:mc="http://schemas.openxmlformats.org/markup-compatibility/2006">
              <mc:Choice xmlns:v="urn:schemas-microsoft-com:vml" Requires="v">
                <p:oleObj spid="_x0000_s10244" name="Equation" r:id="rId7" imgW="18592800" imgH="11582400" progId="Equation.3">
                  <p:embed/>
                </p:oleObj>
              </mc:Choice>
              <mc:Fallback>
                <p:oleObj name="Equation" r:id="rId7" imgW="18592800" imgH="11582400" progId="Equation.3">
                  <p:embed/>
                  <p:pic>
                    <p:nvPicPr>
                      <p:cNvPr id="0" name="图片 10243"/>
                      <p:cNvPicPr>
                        <a:picLocks noChangeAspect="1"/>
                      </p:cNvPicPr>
                      <p:nvPr/>
                    </p:nvPicPr>
                    <p:blipFill>
                      <a:blip r:embed="rId8"/>
                      <a:stretch>
                        <a:fillRect/>
                      </a:stretch>
                    </p:blipFill>
                    <p:spPr>
                      <a:xfrm>
                        <a:off x="5003800" y="5084763"/>
                        <a:ext cx="1728788" cy="1008062"/>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ox(i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3" presetClass="entr" presetSubtype="16"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plus(in)">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left)">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13" presetClass="entr" presetSubtype="16" fill="hold"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plus(in)">
                                      <p:cBhvr>
                                        <p:cTn id="3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7" name="Rectangle 2"/>
          <p:cNvSpPr>
            <a:spLocks noChangeArrowheads="1"/>
          </p:cNvSpPr>
          <p:nvPr/>
        </p:nvSpPr>
        <p:spPr bwMode="auto">
          <a:xfrm>
            <a:off x="898525" y="809649"/>
            <a:ext cx="7029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 typeface="Wingdings" panose="05000000000000000000" pitchFamily="2" charset="2"/>
              <a:buNone/>
            </a:pPr>
            <a:r>
              <a:rPr lang="en-US" altLang="zh-CN" sz="2800" b="1">
                <a:effectLst/>
                <a:latin typeface="黑体" panose="02010609060101010101" pitchFamily="49" charset="-122"/>
                <a:ea typeface="黑体" panose="02010609060101010101" pitchFamily="49" charset="-122"/>
              </a:rPr>
              <a:t>2. </a:t>
            </a:r>
            <a:r>
              <a:rPr lang="zh-CN" altLang="en-US" sz="2800" b="1">
                <a:effectLst/>
                <a:latin typeface="黑体" panose="02010609060101010101" pitchFamily="49" charset="-122"/>
                <a:ea typeface="黑体" panose="02010609060101010101" pitchFamily="49" charset="-122"/>
              </a:rPr>
              <a:t>判断现行的基本可行解是否最优</a:t>
            </a:r>
            <a:r>
              <a:rPr lang="zh-CN" altLang="en-US" sz="2800">
                <a:effectLst/>
              </a:rPr>
              <a:t> </a:t>
            </a:r>
            <a:endParaRPr lang="zh-CN" altLang="en-US" sz="2800">
              <a:effectLst/>
            </a:endParaRPr>
          </a:p>
        </p:txBody>
      </p:sp>
      <p:sp>
        <p:nvSpPr>
          <p:cNvPr id="8" name="Rectangle 4"/>
          <p:cNvSpPr>
            <a:spLocks noChangeArrowheads="1"/>
          </p:cNvSpPr>
          <p:nvPr/>
        </p:nvSpPr>
        <p:spPr bwMode="auto">
          <a:xfrm>
            <a:off x="539750" y="1674837"/>
            <a:ext cx="5370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zh-CN" sz="2400" dirty="0">
                <a:effectLst/>
                <a:latin typeface="Arial" panose="020B0604020202020204" pitchFamily="34" charset="0"/>
                <a:cs typeface="Arial" panose="020B0604020202020204" pitchFamily="34" charset="0"/>
              </a:rPr>
              <a:t>  </a:t>
            </a:r>
            <a:r>
              <a:rPr lang="zh-CN" altLang="en-US" sz="2400" dirty="0">
                <a:effectLst/>
                <a:latin typeface="Arial" panose="020B0604020202020204" pitchFamily="34" charset="0"/>
                <a:cs typeface="Arial" panose="020B0604020202020204" pitchFamily="34" charset="0"/>
              </a:rPr>
              <a:t>　　</a:t>
            </a:r>
            <a:r>
              <a:rPr lang="zh-CN" altLang="en-US" sz="2400" b="1" dirty="0">
                <a:effectLst/>
                <a:latin typeface="楷体_GB2312" pitchFamily="49" charset="-122"/>
                <a:ea typeface="楷体_GB2312" pitchFamily="49" charset="-122"/>
                <a:cs typeface="Arial" panose="020B0604020202020204" pitchFamily="34" charset="0"/>
              </a:rPr>
              <a:t>假如已求得一个基本可行解</a:t>
            </a:r>
            <a:endParaRPr lang="zh-CN" altLang="en-US" sz="2400" b="1" dirty="0">
              <a:effectLst/>
              <a:latin typeface="楷体_GB2312" pitchFamily="49" charset="-122"/>
              <a:ea typeface="楷体_GB2312" pitchFamily="49" charset="-122"/>
            </a:endParaRPr>
          </a:p>
        </p:txBody>
      </p:sp>
      <p:sp>
        <p:nvSpPr>
          <p:cNvPr id="9" name="Rectangle 6"/>
          <p:cNvSpPr>
            <a:spLocks noChangeArrowheads="1"/>
          </p:cNvSpPr>
          <p:nvPr/>
        </p:nvSpPr>
        <p:spPr bwMode="auto">
          <a:xfrm>
            <a:off x="611188" y="4119897"/>
            <a:ext cx="7848600" cy="907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40000"/>
              </a:lnSpc>
            </a:pPr>
            <a:r>
              <a:rPr lang="zh-CN" altLang="en-US" sz="2000" dirty="0">
                <a:effectLst/>
                <a:latin typeface="楷体_GB2312" pitchFamily="49" charset="-122"/>
                <a:ea typeface="楷体_GB2312" pitchFamily="49" charset="-122"/>
                <a:cs typeface="Arial" panose="020B0604020202020204" pitchFamily="34" charset="0"/>
              </a:rPr>
              <a:t>　</a:t>
            </a:r>
            <a:r>
              <a:rPr lang="zh-CN" altLang="en-US" sz="2000" b="1" dirty="0">
                <a:effectLst/>
                <a:latin typeface="楷体_GB2312" pitchFamily="49" charset="-122"/>
                <a:ea typeface="楷体_GB2312" pitchFamily="49" charset="-122"/>
                <a:cs typeface="Arial" panose="020B0604020202020204" pitchFamily="34" charset="0"/>
              </a:rPr>
              <a:t>其中　　　　　　　　　　　　　　　　　　         分别表示基变量和非基变量所对应的目标函数系数子向量。</a:t>
            </a:r>
            <a:endParaRPr lang="zh-CN" altLang="en-US" sz="2000" b="1" dirty="0">
              <a:effectLst/>
              <a:latin typeface="楷体_GB2312" pitchFamily="49" charset="-122"/>
              <a:ea typeface="楷体_GB2312" pitchFamily="49" charset="-122"/>
              <a:cs typeface="Arial" panose="020B0604020202020204" pitchFamily="34" charset="0"/>
            </a:endParaRPr>
          </a:p>
        </p:txBody>
      </p:sp>
      <p:sp>
        <p:nvSpPr>
          <p:cNvPr id="10" name="Rectangle 2"/>
          <p:cNvSpPr>
            <a:spLocks noChangeArrowheads="1"/>
          </p:cNvSpPr>
          <p:nvPr/>
        </p:nvSpPr>
        <p:spPr bwMode="auto">
          <a:xfrm>
            <a:off x="395288" y="5346030"/>
            <a:ext cx="82804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333375"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40000"/>
              </a:lnSpc>
            </a:pPr>
            <a:r>
              <a:rPr lang="zh-CN" altLang="en-US" b="1">
                <a:solidFill>
                  <a:schemeClr val="accent2"/>
                </a:solidFill>
                <a:effectLst/>
                <a:ea typeface="楷体_GB2312" pitchFamily="49" charset="-122"/>
                <a:cs typeface="Arial" panose="020B0604020202020204" pitchFamily="34" charset="0"/>
              </a:rPr>
              <a:t>　怎样判定　　　　　　是否已经达到最小值</a:t>
            </a:r>
            <a:r>
              <a:rPr lang="en-US" altLang="zh-CN" b="1">
                <a:solidFill>
                  <a:schemeClr val="accent2"/>
                </a:solidFill>
                <a:effectLst/>
                <a:ea typeface="楷体_GB2312" pitchFamily="49" charset="-122"/>
                <a:cs typeface="Arial" panose="020B0604020202020204" pitchFamily="34" charset="0"/>
              </a:rPr>
              <a:t>?</a:t>
            </a:r>
            <a:endParaRPr lang="en-US" altLang="zh-CN" b="1">
              <a:solidFill>
                <a:schemeClr val="accent2"/>
              </a:solidFill>
              <a:effectLst/>
              <a:ea typeface="楷体_GB2312" pitchFamily="49" charset="-122"/>
              <a:cs typeface="Arial" panose="020B0604020202020204" pitchFamily="34" charset="0"/>
            </a:endParaRPr>
          </a:p>
        </p:txBody>
      </p:sp>
      <p:graphicFrame>
        <p:nvGraphicFramePr>
          <p:cNvPr id="11" name="Object 4"/>
          <p:cNvGraphicFramePr>
            <a:graphicFrameLocks noChangeAspect="1"/>
          </p:cNvGraphicFramePr>
          <p:nvPr/>
        </p:nvGraphicFramePr>
        <p:xfrm>
          <a:off x="5100648" y="1448077"/>
          <a:ext cx="1728787" cy="1008062"/>
        </p:xfrm>
        <a:graphic>
          <a:graphicData uri="http://schemas.openxmlformats.org/presentationml/2006/ole">
            <mc:AlternateContent xmlns:mc="http://schemas.openxmlformats.org/markup-compatibility/2006">
              <mc:Choice xmlns:v="urn:schemas-microsoft-com:vml" Requires="v">
                <p:oleObj spid="_x0000_s11265" name="Equation" r:id="rId1" imgW="18592800" imgH="11582400" progId="Equation.3">
                  <p:embed/>
                </p:oleObj>
              </mc:Choice>
              <mc:Fallback>
                <p:oleObj name="Equation" r:id="rId1" imgW="18592800" imgH="11582400" progId="Equation.3">
                  <p:embed/>
                  <p:pic>
                    <p:nvPicPr>
                      <p:cNvPr id="0" name="图片 11264"/>
                      <p:cNvPicPr>
                        <a:picLocks noChangeAspect="1"/>
                      </p:cNvPicPr>
                      <p:nvPr/>
                    </p:nvPicPr>
                    <p:blipFill>
                      <a:blip r:embed="rId2"/>
                      <a:stretch>
                        <a:fillRect/>
                      </a:stretch>
                    </p:blipFill>
                    <p:spPr>
                      <a:xfrm>
                        <a:off x="5100648" y="1448077"/>
                        <a:ext cx="1728787" cy="1008062"/>
                      </a:xfrm>
                      <a:prstGeom prst="rect">
                        <a:avLst/>
                      </a:prstGeom>
                      <a:noFill/>
                      <a:ln w="9525">
                        <a:noFill/>
                      </a:ln>
                    </p:spPr>
                  </p:pic>
                </p:oleObj>
              </mc:Fallback>
            </mc:AlternateContent>
          </a:graphicData>
        </a:graphic>
      </p:graphicFrame>
      <p:graphicFrame>
        <p:nvGraphicFramePr>
          <p:cNvPr id="12" name="Object 5"/>
          <p:cNvGraphicFramePr>
            <a:graphicFrameLocks noChangeAspect="1"/>
          </p:cNvGraphicFramePr>
          <p:nvPr/>
        </p:nvGraphicFramePr>
        <p:xfrm>
          <a:off x="1787535" y="2652779"/>
          <a:ext cx="5041900" cy="1008063"/>
        </p:xfrm>
        <a:graphic>
          <a:graphicData uri="http://schemas.openxmlformats.org/presentationml/2006/ole">
            <mc:AlternateContent xmlns:mc="http://schemas.openxmlformats.org/markup-compatibility/2006">
              <mc:Choice xmlns:v="urn:schemas-microsoft-com:vml" Requires="v">
                <p:oleObj spid="_x0000_s11266" name="公式" r:id="rId3" imgW="54254400" imgH="11582400" progId="Equation.3">
                  <p:embed/>
                </p:oleObj>
              </mc:Choice>
              <mc:Fallback>
                <p:oleObj name="公式" r:id="rId3" imgW="54254400" imgH="11582400" progId="Equation.3">
                  <p:embed/>
                  <p:pic>
                    <p:nvPicPr>
                      <p:cNvPr id="0" name="图片 11265"/>
                      <p:cNvPicPr>
                        <a:picLocks noChangeAspect="1"/>
                      </p:cNvPicPr>
                      <p:nvPr/>
                    </p:nvPicPr>
                    <p:blipFill>
                      <a:blip r:embed="rId4"/>
                      <a:stretch>
                        <a:fillRect/>
                      </a:stretch>
                    </p:blipFill>
                    <p:spPr>
                      <a:xfrm>
                        <a:off x="1787535" y="2652779"/>
                        <a:ext cx="5041900" cy="1008063"/>
                      </a:xfrm>
                      <a:prstGeom prst="rect">
                        <a:avLst/>
                      </a:prstGeom>
                      <a:solidFill>
                        <a:srgbClr val="FF9966"/>
                      </a:solidFill>
                      <a:ln w="9525">
                        <a:noFill/>
                      </a:ln>
                    </p:spPr>
                  </p:pic>
                </p:oleObj>
              </mc:Fallback>
            </mc:AlternateContent>
          </a:graphicData>
        </a:graphic>
      </p:graphicFrame>
      <p:graphicFrame>
        <p:nvGraphicFramePr>
          <p:cNvPr id="13" name="Object 6"/>
          <p:cNvGraphicFramePr>
            <a:graphicFrameLocks noChangeAspect="1"/>
          </p:cNvGraphicFramePr>
          <p:nvPr/>
        </p:nvGraphicFramePr>
        <p:xfrm>
          <a:off x="1454944" y="4148931"/>
          <a:ext cx="5256212" cy="503238"/>
        </p:xfrm>
        <a:graphic>
          <a:graphicData uri="http://schemas.openxmlformats.org/presentationml/2006/ole">
            <mc:AlternateContent xmlns:mc="http://schemas.openxmlformats.org/markup-compatibility/2006">
              <mc:Choice xmlns:v="urn:schemas-microsoft-com:vml" Requires="v">
                <p:oleObj spid="_x0000_s11267" name="公式" r:id="rId5" imgW="67056000" imgH="5486400" progId="Equation.3">
                  <p:embed/>
                </p:oleObj>
              </mc:Choice>
              <mc:Fallback>
                <p:oleObj name="公式" r:id="rId5" imgW="67056000" imgH="5486400" progId="Equation.3">
                  <p:embed/>
                  <p:pic>
                    <p:nvPicPr>
                      <p:cNvPr id="0" name="图片 11266"/>
                      <p:cNvPicPr>
                        <a:picLocks noChangeAspect="1"/>
                      </p:cNvPicPr>
                      <p:nvPr/>
                    </p:nvPicPr>
                    <p:blipFill>
                      <a:blip r:embed="rId6"/>
                      <a:stretch>
                        <a:fillRect/>
                      </a:stretch>
                    </p:blipFill>
                    <p:spPr>
                      <a:xfrm>
                        <a:off x="1454944" y="4148931"/>
                        <a:ext cx="5256212" cy="503238"/>
                      </a:xfrm>
                      <a:prstGeom prst="rect">
                        <a:avLst/>
                      </a:prstGeom>
                      <a:noFill/>
                      <a:ln w="9525">
                        <a:noFill/>
                      </a:ln>
                    </p:spPr>
                  </p:pic>
                </p:oleObj>
              </mc:Fallback>
            </mc:AlternateContent>
          </a:graphicData>
        </a:graphic>
      </p:graphicFrame>
      <p:graphicFrame>
        <p:nvGraphicFramePr>
          <p:cNvPr id="14" name="Object 7"/>
          <p:cNvGraphicFramePr>
            <a:graphicFrameLocks noChangeAspect="1"/>
          </p:cNvGraphicFramePr>
          <p:nvPr/>
        </p:nvGraphicFramePr>
        <p:xfrm>
          <a:off x="2411413" y="5445224"/>
          <a:ext cx="1671637" cy="477838"/>
        </p:xfrm>
        <a:graphic>
          <a:graphicData uri="http://schemas.openxmlformats.org/presentationml/2006/ole">
            <mc:AlternateContent xmlns:mc="http://schemas.openxmlformats.org/markup-compatibility/2006">
              <mc:Choice xmlns:v="urn:schemas-microsoft-com:vml" Requires="v">
                <p:oleObj spid="_x0000_s11268" name="公式" r:id="rId7" imgW="17983200" imgH="5486400" progId="Equation.3">
                  <p:embed/>
                </p:oleObj>
              </mc:Choice>
              <mc:Fallback>
                <p:oleObj name="公式" r:id="rId7" imgW="17983200" imgH="5486400" progId="Equation.3">
                  <p:embed/>
                  <p:pic>
                    <p:nvPicPr>
                      <p:cNvPr id="0" name="图片 11267"/>
                      <p:cNvPicPr>
                        <a:picLocks noChangeAspect="1"/>
                      </p:cNvPicPr>
                      <p:nvPr/>
                    </p:nvPicPr>
                    <p:blipFill>
                      <a:blip r:embed="rId8"/>
                      <a:stretch>
                        <a:fillRect/>
                      </a:stretch>
                    </p:blipFill>
                    <p:spPr>
                      <a:xfrm>
                        <a:off x="2411413" y="5445224"/>
                        <a:ext cx="1671637" cy="47783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4" presetClass="entr" presetSubtype="0" accel="10000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strVal val="#ppt_w*0.05"/>
                                          </p:val>
                                        </p:tav>
                                        <p:tav tm="100000">
                                          <p:val>
                                            <p:strVal val="#ppt_w"/>
                                          </p:val>
                                        </p:tav>
                                      </p:tavLst>
                                    </p:anim>
                                    <p:anim calcmode="lin" valueType="num">
                                      <p:cBhvr>
                                        <p:cTn id="13" dur="500" fill="hold"/>
                                        <p:tgtEl>
                                          <p:spTgt spid="11"/>
                                        </p:tgtEl>
                                        <p:attrNameLst>
                                          <p:attrName>ppt_h</p:attrName>
                                        </p:attrNameLst>
                                      </p:cBhvr>
                                      <p:tavLst>
                                        <p:tav tm="0">
                                          <p:val>
                                            <p:strVal val="#ppt_h"/>
                                          </p:val>
                                        </p:tav>
                                        <p:tav tm="100000">
                                          <p:val>
                                            <p:strVal val="#ppt_h"/>
                                          </p:val>
                                        </p:tav>
                                      </p:tavLst>
                                    </p:anim>
                                    <p:anim calcmode="lin" valueType="num">
                                      <p:cBhvr>
                                        <p:cTn id="14" dur="500" fill="hold"/>
                                        <p:tgtEl>
                                          <p:spTgt spid="11"/>
                                        </p:tgtEl>
                                        <p:attrNameLst>
                                          <p:attrName>ppt_x</p:attrName>
                                        </p:attrNameLst>
                                      </p:cBhvr>
                                      <p:tavLst>
                                        <p:tav tm="0">
                                          <p:val>
                                            <p:strVal val="#ppt_x-.2"/>
                                          </p:val>
                                        </p:tav>
                                        <p:tav tm="100000">
                                          <p:val>
                                            <p:strVal val="#ppt_x"/>
                                          </p:val>
                                        </p:tav>
                                      </p:tavLst>
                                    </p:anim>
                                    <p:anim calcmode="lin" valueType="num">
                                      <p:cBhvr>
                                        <p:cTn id="15" dur="500" fill="hold"/>
                                        <p:tgtEl>
                                          <p:spTgt spid="11"/>
                                        </p:tgtEl>
                                        <p:attrNameLst>
                                          <p:attrName>ppt_y</p:attrName>
                                        </p:attrNameLst>
                                      </p:cBhvr>
                                      <p:tavLst>
                                        <p:tav tm="0">
                                          <p:val>
                                            <p:strVal val="#ppt_y"/>
                                          </p:val>
                                        </p:tav>
                                        <p:tav tm="100000">
                                          <p:val>
                                            <p:strVal val="#ppt_y"/>
                                          </p:val>
                                        </p:tav>
                                      </p:tavLst>
                                    </p:anim>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54" presetClass="entr" presetSubtype="0" accel="10000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strVal val="#ppt_w*0.05"/>
                                          </p:val>
                                        </p:tav>
                                        <p:tav tm="100000">
                                          <p:val>
                                            <p:strVal val="#ppt_w"/>
                                          </p:val>
                                        </p:tav>
                                      </p:tavLst>
                                    </p:anim>
                                    <p:anim calcmode="lin" valueType="num">
                                      <p:cBhvr>
                                        <p:cTn id="22" dur="500" fill="hold"/>
                                        <p:tgtEl>
                                          <p:spTgt spid="12"/>
                                        </p:tgtEl>
                                        <p:attrNameLst>
                                          <p:attrName>ppt_h</p:attrName>
                                        </p:attrNameLst>
                                      </p:cBhvr>
                                      <p:tavLst>
                                        <p:tav tm="0">
                                          <p:val>
                                            <p:strVal val="#ppt_h"/>
                                          </p:val>
                                        </p:tav>
                                        <p:tav tm="100000">
                                          <p:val>
                                            <p:strVal val="#ppt_h"/>
                                          </p:val>
                                        </p:tav>
                                      </p:tavLst>
                                    </p:anim>
                                    <p:anim calcmode="lin" valueType="num">
                                      <p:cBhvr>
                                        <p:cTn id="23" dur="500" fill="hold"/>
                                        <p:tgtEl>
                                          <p:spTgt spid="12"/>
                                        </p:tgtEl>
                                        <p:attrNameLst>
                                          <p:attrName>ppt_x</p:attrName>
                                        </p:attrNameLst>
                                      </p:cBhvr>
                                      <p:tavLst>
                                        <p:tav tm="0">
                                          <p:val>
                                            <p:strVal val="#ppt_x-.2"/>
                                          </p:val>
                                        </p:tav>
                                        <p:tav tm="100000">
                                          <p:val>
                                            <p:strVal val="#ppt_x"/>
                                          </p:val>
                                        </p:tav>
                                      </p:tavLst>
                                    </p:anim>
                                    <p:anim calcmode="lin" valueType="num">
                                      <p:cBhvr>
                                        <p:cTn id="24" dur="500" fill="hold"/>
                                        <p:tgtEl>
                                          <p:spTgt spid="12"/>
                                        </p:tgtEl>
                                        <p:attrNameLst>
                                          <p:attrName>ppt_y</p:attrName>
                                        </p:attrNameLst>
                                      </p:cBhvr>
                                      <p:tavLst>
                                        <p:tav tm="0">
                                          <p:val>
                                            <p:strVal val="#ppt_y"/>
                                          </p:val>
                                        </p:tav>
                                        <p:tav tm="100000">
                                          <p:val>
                                            <p:strVal val="#ppt_y"/>
                                          </p:val>
                                        </p:tav>
                                      </p:tavLst>
                                    </p:anim>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5" presetClass="entr" presetSubtype="1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checkerboard(across)">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500"/>
                                        <p:tgtEl>
                                          <p:spTgt spid="10"/>
                                        </p:tgtEl>
                                      </p:cBhvr>
                                    </p:animEffect>
                                  </p:childTnLst>
                                </p:cTn>
                              </p:par>
                              <p:par>
                                <p:cTn id="39" presetID="24"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 to="" calcmode="lin" valueType="num">
                                      <p:cBhvr>
                                        <p:cTn id="41" dur="1" fill="hold"/>
                                        <p:tgtEl>
                                          <p:spTgt spid="14"/>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5" name="Rectangle 6"/>
          <p:cNvSpPr>
            <a:spLocks noChangeArrowheads="1"/>
          </p:cNvSpPr>
          <p:nvPr/>
        </p:nvSpPr>
        <p:spPr bwMode="auto">
          <a:xfrm>
            <a:off x="395536" y="1380150"/>
            <a:ext cx="8065071" cy="319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lnSpc>
                <a:spcPct val="160000"/>
              </a:lnSpc>
            </a:pPr>
            <a:r>
              <a:rPr lang="zh-CN" altLang="en-US" sz="3200" b="1" dirty="0">
                <a:solidFill>
                  <a:schemeClr val="accent2"/>
                </a:solidFill>
                <a:effectLst/>
                <a:latin typeface="楷体_GB2312" pitchFamily="49" charset="-122"/>
                <a:ea typeface="楷体_GB2312" pitchFamily="49" charset="-122"/>
                <a:cs typeface="Arial" panose="020B0604020202020204" pitchFamily="34" charset="0"/>
              </a:rPr>
              <a:t>最优解判别定理</a:t>
            </a:r>
            <a:endParaRPr lang="zh-CN" altLang="en-US" sz="3200" b="1" dirty="0">
              <a:solidFill>
                <a:schemeClr val="accent2"/>
              </a:solidFill>
              <a:effectLst/>
              <a:latin typeface="楷体_GB2312" pitchFamily="49" charset="-122"/>
              <a:ea typeface="楷体_GB2312" pitchFamily="49" charset="-122"/>
              <a:cs typeface="Arial" panose="020B0604020202020204" pitchFamily="34" charset="0"/>
            </a:endParaRPr>
          </a:p>
          <a:p>
            <a:pPr algn="l" eaLnBrk="0" hangingPunct="0">
              <a:lnSpc>
                <a:spcPct val="200000"/>
              </a:lnSpc>
            </a:pPr>
            <a:r>
              <a:rPr lang="zh-CN" altLang="en-US" b="1" dirty="0">
                <a:effectLst/>
                <a:latin typeface="楷体_GB2312" pitchFamily="49" charset="-122"/>
                <a:ea typeface="楷体_GB2312" pitchFamily="49" charset="-122"/>
                <a:cs typeface="Arial" panose="020B0604020202020204" pitchFamily="34" charset="0"/>
              </a:rPr>
              <a:t>    </a:t>
            </a:r>
            <a:r>
              <a:rPr lang="zh-CN" altLang="en-US" sz="2000" b="1" dirty="0">
                <a:effectLst/>
                <a:latin typeface="楷体_GB2312" pitchFamily="49" charset="-122"/>
                <a:ea typeface="楷体_GB2312" pitchFamily="49" charset="-122"/>
                <a:cs typeface="Arial" panose="020B0604020202020204" pitchFamily="34" charset="0"/>
              </a:rPr>
              <a:t>对于线性规划问题</a:t>
            </a:r>
            <a:r>
              <a:rPr lang="zh-CN" altLang="en-US" b="1" dirty="0">
                <a:effectLst/>
                <a:latin typeface="楷体_GB2312" pitchFamily="49" charset="-122"/>
                <a:ea typeface="楷体_GB2312" pitchFamily="49" charset="-122"/>
                <a:cs typeface="Arial" panose="020B0604020202020204" pitchFamily="34" charset="0"/>
              </a:rPr>
              <a:t>　　　　　　　　　　　　　　　　</a:t>
            </a:r>
            <a:endParaRPr lang="zh-CN" altLang="en-US" b="1" dirty="0">
              <a:effectLst/>
              <a:latin typeface="楷体_GB2312" pitchFamily="49" charset="-122"/>
              <a:ea typeface="楷体_GB2312" pitchFamily="49" charset="-122"/>
              <a:cs typeface="Arial" panose="020B0604020202020204" pitchFamily="34" charset="0"/>
            </a:endParaRPr>
          </a:p>
          <a:p>
            <a:pPr algn="l" eaLnBrk="0" hangingPunct="0">
              <a:lnSpc>
                <a:spcPct val="200000"/>
              </a:lnSpc>
            </a:pPr>
            <a:r>
              <a:rPr lang="zh-CN" altLang="en-US" sz="2000" b="1" dirty="0">
                <a:effectLst/>
                <a:latin typeface="楷体_GB2312" pitchFamily="49" charset="-122"/>
                <a:ea typeface="楷体_GB2312" pitchFamily="49" charset="-122"/>
                <a:cs typeface="Arial" panose="020B0604020202020204" pitchFamily="34" charset="0"/>
              </a:rPr>
              <a:t>若某个基本可行解所对应的检验向量</a:t>
            </a:r>
            <a:r>
              <a:rPr lang="zh-CN" altLang="en-US" b="1" dirty="0">
                <a:effectLst/>
                <a:latin typeface="楷体_GB2312" pitchFamily="49" charset="-122"/>
                <a:ea typeface="楷体_GB2312" pitchFamily="49" charset="-122"/>
                <a:cs typeface="Arial" panose="020B0604020202020204" pitchFamily="34" charset="0"/>
              </a:rPr>
              <a:t>　　　　　　　　             ，</a:t>
            </a:r>
            <a:r>
              <a:rPr lang="zh-CN" altLang="en-US" sz="2000" b="1" dirty="0">
                <a:effectLst/>
                <a:latin typeface="楷体_GB2312" pitchFamily="49" charset="-122"/>
                <a:ea typeface="楷体_GB2312" pitchFamily="49" charset="-122"/>
                <a:cs typeface="Arial" panose="020B0604020202020204" pitchFamily="34" charset="0"/>
              </a:rPr>
              <a:t>则这个基本可行解就是最优解。检验向量</a:t>
            </a:r>
            <a:r>
              <a:rPr lang="zh-CN" altLang="en-US" sz="2000" b="1" dirty="0">
                <a:effectLst/>
                <a:ea typeface="楷体_GB2312" pitchFamily="49" charset="-122"/>
                <a:cs typeface="Arial" panose="020B0604020202020204" pitchFamily="34" charset="0"/>
              </a:rPr>
              <a:t>的各个分量称为</a:t>
            </a:r>
            <a:r>
              <a:rPr lang="zh-CN" altLang="en-US" sz="2000" b="1" dirty="0">
                <a:solidFill>
                  <a:schemeClr val="accent2"/>
                </a:solidFill>
                <a:effectLst/>
                <a:ea typeface="楷体_GB2312" pitchFamily="49" charset="-122"/>
                <a:cs typeface="Arial" panose="020B0604020202020204" pitchFamily="34" charset="0"/>
              </a:rPr>
              <a:t>检验数</a:t>
            </a:r>
            <a:r>
              <a:rPr lang="en-US" altLang="zh-CN" sz="2000" b="1" dirty="0">
                <a:solidFill>
                  <a:schemeClr val="accent2"/>
                </a:solidFill>
                <a:effectLst/>
                <a:ea typeface="楷体_GB2312" pitchFamily="49" charset="-122"/>
                <a:cs typeface="Arial" panose="020B0604020202020204" pitchFamily="34" charset="0"/>
              </a:rPr>
              <a:t>.</a:t>
            </a:r>
            <a:endParaRPr lang="en-US" altLang="zh-CN" sz="2000" b="1" dirty="0">
              <a:effectLst/>
              <a:latin typeface="楷体_GB2312" pitchFamily="49" charset="-122"/>
              <a:ea typeface="楷体_GB2312" pitchFamily="49" charset="-122"/>
              <a:cs typeface="Arial" panose="020B0604020202020204" pitchFamily="34" charset="0"/>
            </a:endParaRPr>
          </a:p>
          <a:p>
            <a:pPr algn="l" eaLnBrk="0" hangingPunct="0">
              <a:lnSpc>
                <a:spcPct val="200000"/>
              </a:lnSpc>
            </a:pPr>
            <a:endParaRPr lang="en-US" altLang="zh-CN" b="1" dirty="0">
              <a:effectLst/>
              <a:latin typeface="楷体_GB2312" pitchFamily="49" charset="-122"/>
              <a:ea typeface="楷体_GB2312" pitchFamily="49" charset="-122"/>
              <a:cs typeface="Arial" panose="020B0604020202020204" pitchFamily="34" charset="0"/>
            </a:endParaRPr>
          </a:p>
        </p:txBody>
      </p:sp>
      <p:graphicFrame>
        <p:nvGraphicFramePr>
          <p:cNvPr id="7" name="Object 6"/>
          <p:cNvGraphicFramePr>
            <a:graphicFrameLocks noChangeAspect="1"/>
          </p:cNvGraphicFramePr>
          <p:nvPr/>
        </p:nvGraphicFramePr>
        <p:xfrm>
          <a:off x="2941503" y="2385354"/>
          <a:ext cx="4608512" cy="431800"/>
        </p:xfrm>
        <a:graphic>
          <a:graphicData uri="http://schemas.openxmlformats.org/presentationml/2006/ole">
            <mc:AlternateContent xmlns:mc="http://schemas.openxmlformats.org/markup-compatibility/2006">
              <mc:Choice xmlns:v="urn:schemas-microsoft-com:vml" Requires="v">
                <p:oleObj spid="_x0000_s12289" name="Equation" r:id="rId1" imgW="62788800" imgH="6096000" progId="Equation.3">
                  <p:embed/>
                </p:oleObj>
              </mc:Choice>
              <mc:Fallback>
                <p:oleObj name="Equation" r:id="rId1" imgW="62788800" imgH="6096000" progId="Equation.3">
                  <p:embed/>
                  <p:pic>
                    <p:nvPicPr>
                      <p:cNvPr id="0" name="图片 12288"/>
                      <p:cNvPicPr>
                        <a:picLocks noChangeAspect="1"/>
                      </p:cNvPicPr>
                      <p:nvPr/>
                    </p:nvPicPr>
                    <p:blipFill>
                      <a:blip r:embed="rId2"/>
                      <a:stretch>
                        <a:fillRect/>
                      </a:stretch>
                    </p:blipFill>
                    <p:spPr>
                      <a:xfrm>
                        <a:off x="2941503" y="2385354"/>
                        <a:ext cx="4608512" cy="431800"/>
                      </a:xfrm>
                      <a:prstGeom prst="rect">
                        <a:avLst/>
                      </a:prstGeom>
                      <a:noFill/>
                      <a:ln w="9525">
                        <a:noFill/>
                      </a:ln>
                    </p:spPr>
                  </p:pic>
                </p:oleObj>
              </mc:Fallback>
            </mc:AlternateContent>
          </a:graphicData>
        </a:graphic>
      </p:graphicFrame>
      <p:graphicFrame>
        <p:nvGraphicFramePr>
          <p:cNvPr id="8" name="Object 7"/>
          <p:cNvGraphicFramePr>
            <a:graphicFrameLocks noChangeAspect="1"/>
          </p:cNvGraphicFramePr>
          <p:nvPr/>
        </p:nvGraphicFramePr>
        <p:xfrm>
          <a:off x="4572000" y="2968620"/>
          <a:ext cx="2666894" cy="431800"/>
        </p:xfrm>
        <a:graphic>
          <a:graphicData uri="http://schemas.openxmlformats.org/presentationml/2006/ole">
            <mc:AlternateContent xmlns:mc="http://schemas.openxmlformats.org/markup-compatibility/2006">
              <mc:Choice xmlns:v="urn:schemas-microsoft-com:vml" Requires="v">
                <p:oleObj spid="_x0000_s12290" name="公式" r:id="rId3" imgW="35966400" imgH="5791200" progId="Equation.3">
                  <p:embed/>
                </p:oleObj>
              </mc:Choice>
              <mc:Fallback>
                <p:oleObj name="公式" r:id="rId3" imgW="35966400" imgH="5791200" progId="Equation.3">
                  <p:embed/>
                  <p:pic>
                    <p:nvPicPr>
                      <p:cNvPr id="0" name="图片 12289"/>
                      <p:cNvPicPr>
                        <a:picLocks noChangeAspect="1"/>
                      </p:cNvPicPr>
                      <p:nvPr/>
                    </p:nvPicPr>
                    <p:blipFill>
                      <a:blip r:embed="rId4"/>
                      <a:stretch>
                        <a:fillRect/>
                      </a:stretch>
                    </p:blipFill>
                    <p:spPr>
                      <a:xfrm>
                        <a:off x="4572000" y="2968620"/>
                        <a:ext cx="2666894" cy="4318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5" name="Rectangle 6"/>
          <p:cNvSpPr>
            <a:spLocks noChangeArrowheads="1"/>
          </p:cNvSpPr>
          <p:nvPr/>
        </p:nvSpPr>
        <p:spPr bwMode="auto">
          <a:xfrm>
            <a:off x="251520" y="548680"/>
            <a:ext cx="8065071" cy="780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lnSpc>
                <a:spcPct val="160000"/>
              </a:lnSpc>
            </a:pPr>
            <a:r>
              <a:rPr lang="zh-CN" altLang="en-US" sz="3200" b="1" dirty="0">
                <a:solidFill>
                  <a:schemeClr val="accent2"/>
                </a:solidFill>
                <a:latin typeface="楷体_GB2312" pitchFamily="49" charset="-122"/>
                <a:ea typeface="楷体_GB2312" pitchFamily="49" charset="-122"/>
                <a:cs typeface="Arial" panose="020B0604020202020204" pitchFamily="34" charset="0"/>
              </a:rPr>
              <a:t>特殊情况：</a:t>
            </a:r>
            <a:endParaRPr lang="zh-CN" altLang="en-US" sz="3200" b="1" dirty="0">
              <a:solidFill>
                <a:schemeClr val="accent2"/>
              </a:solidFill>
              <a:effectLst/>
              <a:latin typeface="楷体_GB2312" pitchFamily="49" charset="-122"/>
              <a:ea typeface="楷体_GB2312" pitchFamily="49" charset="-122"/>
              <a:cs typeface="Arial" panose="020B0604020202020204" pitchFamily="34" charset="0"/>
            </a:endParaRPr>
          </a:p>
        </p:txBody>
      </p:sp>
      <p:sp>
        <p:nvSpPr>
          <p:cNvPr id="10" name="Rectangle 7"/>
          <p:cNvSpPr>
            <a:spLocks noChangeArrowheads="1"/>
          </p:cNvSpPr>
          <p:nvPr/>
        </p:nvSpPr>
        <p:spPr bwMode="auto">
          <a:xfrm>
            <a:off x="526118" y="1196752"/>
            <a:ext cx="8280400" cy="2443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60000"/>
              </a:lnSpc>
            </a:pPr>
            <a:r>
              <a:rPr lang="zh-CN" altLang="en-US" b="1" dirty="0">
                <a:solidFill>
                  <a:schemeClr val="accent2"/>
                </a:solidFill>
                <a:latin typeface="楷体_GB2312" pitchFamily="49" charset="-122"/>
                <a:ea typeface="楷体_GB2312" pitchFamily="49" charset="-122"/>
              </a:rPr>
              <a:t>情况</a:t>
            </a:r>
            <a:r>
              <a:rPr lang="en-US" altLang="zh-CN" b="1" dirty="0">
                <a:solidFill>
                  <a:schemeClr val="accent2"/>
                </a:solidFill>
                <a:effectLst/>
                <a:latin typeface="楷体_GB2312" pitchFamily="49" charset="-122"/>
                <a:ea typeface="楷体_GB2312" pitchFamily="49" charset="-122"/>
              </a:rPr>
              <a:t>2</a:t>
            </a:r>
            <a:r>
              <a:rPr lang="zh-CN" altLang="en-US" b="1" dirty="0">
                <a:effectLst/>
                <a:latin typeface="楷体_GB2312" pitchFamily="49" charset="-122"/>
                <a:ea typeface="楷体_GB2312" pitchFamily="49" charset="-122"/>
              </a:rPr>
              <a:t>：</a:t>
            </a:r>
            <a:r>
              <a:rPr lang="zh-CN" altLang="en-US" b="1" dirty="0">
                <a:solidFill>
                  <a:schemeClr val="accent2"/>
                </a:solidFill>
                <a:effectLst/>
                <a:latin typeface="楷体_GB2312" pitchFamily="49" charset="-122"/>
                <a:ea typeface="楷体_GB2312" pitchFamily="49" charset="-122"/>
              </a:rPr>
              <a:t>无穷多最优解判别定理</a:t>
            </a:r>
            <a:r>
              <a:rPr lang="zh-CN" altLang="en-US" b="1" dirty="0">
                <a:effectLst/>
                <a:latin typeface="楷体_GB2312" pitchFamily="49" charset="-122"/>
                <a:ea typeface="楷体_GB2312" pitchFamily="49" charset="-122"/>
              </a:rPr>
              <a:t> </a:t>
            </a:r>
            <a:r>
              <a:rPr lang="zh-CN" altLang="en-US" b="1" dirty="0">
                <a:effectLst/>
                <a:latin typeface="楷体_GB2312" pitchFamily="49" charset="-122"/>
                <a:ea typeface="楷体_GB2312" pitchFamily="49" charset="-122"/>
                <a:cs typeface="Arial" panose="020B0604020202020204" pitchFamily="34" charset="0"/>
              </a:rPr>
              <a:t>　</a:t>
            </a:r>
            <a:endParaRPr lang="zh-CN" altLang="en-US" b="1" dirty="0">
              <a:effectLst/>
              <a:latin typeface="楷体_GB2312" pitchFamily="49" charset="-122"/>
              <a:ea typeface="楷体_GB2312" pitchFamily="49" charset="-122"/>
              <a:cs typeface="Arial" panose="020B0604020202020204" pitchFamily="34" charset="0"/>
            </a:endParaRPr>
          </a:p>
          <a:p>
            <a:pPr algn="l">
              <a:lnSpc>
                <a:spcPct val="160000"/>
              </a:lnSpc>
            </a:pPr>
            <a:r>
              <a:rPr lang="zh-CN" altLang="en-US" b="1" dirty="0">
                <a:effectLst/>
                <a:latin typeface="楷体_GB2312" pitchFamily="49" charset="-122"/>
                <a:ea typeface="楷体_GB2312" pitchFamily="49" charset="-122"/>
                <a:cs typeface="Arial" panose="020B0604020202020204" pitchFamily="34" charset="0"/>
              </a:rPr>
              <a:t>　　</a:t>
            </a:r>
            <a:r>
              <a:rPr lang="zh-CN" altLang="en-US" sz="2000" b="1" dirty="0">
                <a:effectLst/>
                <a:latin typeface="楷体_GB2312" pitchFamily="49" charset="-122"/>
                <a:ea typeface="楷体_GB2312" pitchFamily="49" charset="-122"/>
                <a:cs typeface="Arial" panose="020B0604020202020204" pitchFamily="34" charset="0"/>
              </a:rPr>
              <a:t>若　　　　　是一个基本可行解，所对应的检验向量</a:t>
            </a:r>
            <a:endParaRPr lang="zh-CN" altLang="en-US" sz="2000" b="1" dirty="0">
              <a:effectLst/>
              <a:latin typeface="楷体_GB2312" pitchFamily="49" charset="-122"/>
              <a:ea typeface="楷体_GB2312" pitchFamily="49" charset="-122"/>
              <a:cs typeface="Arial" panose="020B0604020202020204" pitchFamily="34" charset="0"/>
            </a:endParaRPr>
          </a:p>
          <a:p>
            <a:pPr algn="l">
              <a:lnSpc>
                <a:spcPct val="160000"/>
              </a:lnSpc>
            </a:pPr>
            <a:endParaRPr lang="zh-CN" altLang="en-US" sz="2000" b="1" dirty="0">
              <a:effectLst/>
              <a:latin typeface="楷体_GB2312" pitchFamily="49" charset="-122"/>
              <a:ea typeface="楷体_GB2312" pitchFamily="49" charset="-122"/>
              <a:cs typeface="Arial" panose="020B0604020202020204" pitchFamily="34" charset="0"/>
            </a:endParaRPr>
          </a:p>
          <a:p>
            <a:pPr algn="l">
              <a:lnSpc>
                <a:spcPct val="160000"/>
              </a:lnSpc>
            </a:pPr>
            <a:r>
              <a:rPr lang="zh-CN" altLang="en-US" sz="2000" b="1" dirty="0">
                <a:effectLst/>
                <a:latin typeface="楷体_GB2312" pitchFamily="49" charset="-122"/>
                <a:ea typeface="楷体_GB2312" pitchFamily="49" charset="-122"/>
                <a:cs typeface="Arial" panose="020B0604020202020204" pitchFamily="34" charset="0"/>
              </a:rPr>
              <a:t>　　　　　　　　　　　     ，其中存在一个检验数</a:t>
            </a:r>
            <a:r>
              <a:rPr lang="en-US" altLang="zh-CN" sz="2000" b="1" i="1" dirty="0" err="1">
                <a:effectLst/>
                <a:latin typeface="楷体_GB2312" pitchFamily="49" charset="-122"/>
                <a:ea typeface="楷体_GB2312" pitchFamily="49" charset="-122"/>
                <a:cs typeface="Arial" panose="020B0604020202020204" pitchFamily="34" charset="0"/>
              </a:rPr>
              <a:t>σ</a:t>
            </a:r>
            <a:r>
              <a:rPr lang="en-US" altLang="zh-CN" sz="2000" b="1" i="1" baseline="-30000" dirty="0" err="1">
                <a:effectLst/>
                <a:latin typeface="楷体_GB2312" pitchFamily="49" charset="-122"/>
                <a:ea typeface="楷体_GB2312" pitchFamily="49" charset="-122"/>
                <a:cs typeface="Arial" panose="020B0604020202020204" pitchFamily="34" charset="0"/>
              </a:rPr>
              <a:t>m</a:t>
            </a:r>
            <a:r>
              <a:rPr lang="en-US" altLang="zh-CN" sz="2000" b="1" baseline="-30000" dirty="0" err="1">
                <a:effectLst/>
                <a:latin typeface="楷体_GB2312" pitchFamily="49" charset="-122"/>
                <a:ea typeface="楷体_GB2312" pitchFamily="49" charset="-122"/>
                <a:cs typeface="Arial" panose="020B0604020202020204" pitchFamily="34" charset="0"/>
              </a:rPr>
              <a:t>+</a:t>
            </a:r>
            <a:r>
              <a:rPr lang="en-US" altLang="zh-CN" sz="2000" b="1" i="1" baseline="-30000" dirty="0" err="1">
                <a:effectLst/>
                <a:latin typeface="楷体_GB2312" pitchFamily="49" charset="-122"/>
                <a:ea typeface="楷体_GB2312" pitchFamily="49" charset="-122"/>
                <a:cs typeface="Arial" panose="020B0604020202020204" pitchFamily="34" charset="0"/>
              </a:rPr>
              <a:t>k</a:t>
            </a:r>
            <a:r>
              <a:rPr lang="en-US" altLang="zh-CN" sz="2000" b="1" dirty="0">
                <a:effectLst/>
                <a:latin typeface="楷体_GB2312" pitchFamily="49" charset="-122"/>
                <a:ea typeface="楷体_GB2312" pitchFamily="49" charset="-122"/>
                <a:cs typeface="Arial" panose="020B0604020202020204" pitchFamily="34" charset="0"/>
              </a:rPr>
              <a:t>=0</a:t>
            </a:r>
            <a:r>
              <a:rPr lang="zh-CN" altLang="en-US" sz="2000" b="1" dirty="0">
                <a:effectLst/>
                <a:latin typeface="楷体_GB2312" pitchFamily="49" charset="-122"/>
                <a:ea typeface="楷体_GB2312" pitchFamily="49" charset="-122"/>
                <a:cs typeface="Arial" panose="020B0604020202020204" pitchFamily="34" charset="0"/>
              </a:rPr>
              <a:t>，</a:t>
            </a:r>
            <a:endParaRPr lang="zh-CN" altLang="en-US" sz="2000" b="1" dirty="0">
              <a:effectLst/>
              <a:latin typeface="楷体_GB2312" pitchFamily="49" charset="-122"/>
              <a:ea typeface="楷体_GB2312" pitchFamily="49" charset="-122"/>
              <a:cs typeface="Arial" panose="020B0604020202020204" pitchFamily="34" charset="0"/>
            </a:endParaRPr>
          </a:p>
          <a:p>
            <a:pPr algn="l">
              <a:lnSpc>
                <a:spcPct val="160000"/>
              </a:lnSpc>
            </a:pPr>
            <a:r>
              <a:rPr lang="zh-CN" altLang="en-US" sz="2000" b="1" dirty="0">
                <a:effectLst/>
                <a:latin typeface="楷体_GB2312" pitchFamily="49" charset="-122"/>
                <a:ea typeface="楷体_GB2312" pitchFamily="49" charset="-122"/>
                <a:cs typeface="Arial" panose="020B0604020202020204" pitchFamily="34" charset="0"/>
              </a:rPr>
              <a:t>　　则线性规划问题有无穷多最优解。</a:t>
            </a:r>
            <a:endParaRPr lang="zh-CN" altLang="en-US" sz="2000" b="1" dirty="0">
              <a:effectLst/>
              <a:latin typeface="楷体_GB2312" pitchFamily="49" charset="-122"/>
              <a:ea typeface="楷体_GB2312" pitchFamily="49" charset="-122"/>
              <a:cs typeface="Arial" panose="020B0604020202020204" pitchFamily="34" charset="0"/>
            </a:endParaRPr>
          </a:p>
        </p:txBody>
      </p:sp>
      <p:graphicFrame>
        <p:nvGraphicFramePr>
          <p:cNvPr id="11" name="Object 8"/>
          <p:cNvGraphicFramePr>
            <a:graphicFrameLocks noChangeAspect="1"/>
          </p:cNvGraphicFramePr>
          <p:nvPr/>
        </p:nvGraphicFramePr>
        <p:xfrm>
          <a:off x="1331640" y="1673159"/>
          <a:ext cx="1223963" cy="673100"/>
        </p:xfrm>
        <a:graphic>
          <a:graphicData uri="http://schemas.openxmlformats.org/presentationml/2006/ole">
            <mc:AlternateContent xmlns:mc="http://schemas.openxmlformats.org/markup-compatibility/2006">
              <mc:Choice xmlns:v="urn:schemas-microsoft-com:vml" Requires="v">
                <p:oleObj spid="_x0000_s13313" name="Equation" r:id="rId1" imgW="18592800" imgH="11582400" progId="Equation.3">
                  <p:embed/>
                </p:oleObj>
              </mc:Choice>
              <mc:Fallback>
                <p:oleObj name="Equation" r:id="rId1" imgW="18592800" imgH="11582400" progId="Equation.3">
                  <p:embed/>
                  <p:pic>
                    <p:nvPicPr>
                      <p:cNvPr id="0" name="图片 13312"/>
                      <p:cNvPicPr>
                        <a:picLocks noChangeAspect="1"/>
                      </p:cNvPicPr>
                      <p:nvPr/>
                    </p:nvPicPr>
                    <p:blipFill>
                      <a:blip r:embed="rId2"/>
                      <a:stretch>
                        <a:fillRect/>
                      </a:stretch>
                    </p:blipFill>
                    <p:spPr>
                      <a:xfrm>
                        <a:off x="1331640" y="1673159"/>
                        <a:ext cx="1223963" cy="673100"/>
                      </a:xfrm>
                      <a:prstGeom prst="rect">
                        <a:avLst/>
                      </a:prstGeom>
                      <a:noFill/>
                      <a:ln w="9525">
                        <a:noFill/>
                      </a:ln>
                    </p:spPr>
                  </p:pic>
                </p:oleObj>
              </mc:Fallback>
            </mc:AlternateContent>
          </a:graphicData>
        </a:graphic>
      </p:graphicFrame>
      <p:graphicFrame>
        <p:nvGraphicFramePr>
          <p:cNvPr id="12" name="Object 9"/>
          <p:cNvGraphicFramePr>
            <a:graphicFrameLocks noChangeAspect="1"/>
          </p:cNvGraphicFramePr>
          <p:nvPr/>
        </p:nvGraphicFramePr>
        <p:xfrm>
          <a:off x="1115616" y="2770267"/>
          <a:ext cx="2665412" cy="431800"/>
        </p:xfrm>
        <a:graphic>
          <a:graphicData uri="http://schemas.openxmlformats.org/presentationml/2006/ole">
            <mc:AlternateContent xmlns:mc="http://schemas.openxmlformats.org/markup-compatibility/2006">
              <mc:Choice xmlns:v="urn:schemas-microsoft-com:vml" Requires="v">
                <p:oleObj spid="_x0000_s13314" name="Equation" r:id="rId3" imgW="35661600" imgH="5486400" progId="Equation.3">
                  <p:embed/>
                </p:oleObj>
              </mc:Choice>
              <mc:Fallback>
                <p:oleObj name="Equation" r:id="rId3" imgW="35661600" imgH="5486400" progId="Equation.3">
                  <p:embed/>
                  <p:pic>
                    <p:nvPicPr>
                      <p:cNvPr id="0" name="图片 13313"/>
                      <p:cNvPicPr>
                        <a:picLocks noChangeAspect="1"/>
                      </p:cNvPicPr>
                      <p:nvPr/>
                    </p:nvPicPr>
                    <p:blipFill>
                      <a:blip r:embed="rId4"/>
                      <a:stretch>
                        <a:fillRect/>
                      </a:stretch>
                    </p:blipFill>
                    <p:spPr>
                      <a:xfrm>
                        <a:off x="1115616" y="2770267"/>
                        <a:ext cx="2665412" cy="431800"/>
                      </a:xfrm>
                      <a:prstGeom prst="rect">
                        <a:avLst/>
                      </a:prstGeom>
                      <a:noFill/>
                      <a:ln w="9525">
                        <a:noFill/>
                      </a:ln>
                    </p:spPr>
                  </p:pic>
                </p:oleObj>
              </mc:Fallback>
            </mc:AlternateContent>
          </a:graphicData>
        </a:graphic>
      </p:graphicFrame>
      <p:sp>
        <p:nvSpPr>
          <p:cNvPr id="13" name="Rectangle 6"/>
          <p:cNvSpPr>
            <a:spLocks noChangeArrowheads="1"/>
          </p:cNvSpPr>
          <p:nvPr/>
        </p:nvSpPr>
        <p:spPr bwMode="auto">
          <a:xfrm>
            <a:off x="540072" y="3581927"/>
            <a:ext cx="8280400" cy="1255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60000"/>
              </a:lnSpc>
            </a:pPr>
            <a:r>
              <a:rPr lang="zh-CN" altLang="en-US" b="1" dirty="0">
                <a:solidFill>
                  <a:schemeClr val="accent2"/>
                </a:solidFill>
                <a:ea typeface="楷体_GB2312" pitchFamily="49" charset="-122"/>
              </a:rPr>
              <a:t>情况</a:t>
            </a:r>
            <a:r>
              <a:rPr lang="en-US" altLang="zh-CN" b="1" dirty="0">
                <a:solidFill>
                  <a:schemeClr val="accent2"/>
                </a:solidFill>
                <a:effectLst/>
                <a:ea typeface="楷体_GB2312" pitchFamily="49" charset="-122"/>
              </a:rPr>
              <a:t>3</a:t>
            </a:r>
            <a:r>
              <a:rPr lang="zh-CN" altLang="en-US" b="1" dirty="0">
                <a:effectLst/>
                <a:ea typeface="楷体_GB2312" pitchFamily="49" charset="-122"/>
              </a:rPr>
              <a:t>：</a:t>
            </a:r>
            <a:r>
              <a:rPr lang="zh-CN" altLang="en-US" b="1" dirty="0">
                <a:solidFill>
                  <a:schemeClr val="accent2"/>
                </a:solidFill>
                <a:effectLst/>
                <a:ea typeface="楷体_GB2312" pitchFamily="49" charset="-122"/>
              </a:rPr>
              <a:t>无有界最优解判别定理</a:t>
            </a:r>
            <a:r>
              <a:rPr lang="zh-CN" altLang="en-US" b="1" dirty="0">
                <a:effectLst/>
                <a:ea typeface="楷体_GB2312" pitchFamily="49" charset="-122"/>
              </a:rPr>
              <a:t> </a:t>
            </a:r>
            <a:r>
              <a:rPr lang="zh-CN" altLang="en-US" b="1" dirty="0">
                <a:effectLst/>
                <a:ea typeface="楷体_GB2312" pitchFamily="49" charset="-122"/>
                <a:cs typeface="Arial" panose="020B0604020202020204" pitchFamily="34" charset="0"/>
              </a:rPr>
              <a:t>　</a:t>
            </a:r>
            <a:endParaRPr lang="zh-CN" altLang="en-US" b="1" dirty="0">
              <a:effectLst/>
              <a:ea typeface="楷体_GB2312" pitchFamily="49" charset="-122"/>
              <a:cs typeface="Arial" panose="020B0604020202020204" pitchFamily="34" charset="0"/>
            </a:endParaRPr>
          </a:p>
          <a:p>
            <a:pPr algn="l">
              <a:lnSpc>
                <a:spcPct val="160000"/>
              </a:lnSpc>
            </a:pPr>
            <a:r>
              <a:rPr lang="zh-CN" altLang="en-US" b="1" dirty="0">
                <a:effectLst/>
                <a:ea typeface="楷体_GB2312" pitchFamily="49" charset="-122"/>
                <a:cs typeface="Arial" panose="020B0604020202020204" pitchFamily="34" charset="0"/>
              </a:rPr>
              <a:t>　　若　　　　　      是一个基本可行解，所对应的检验向</a:t>
            </a:r>
            <a:r>
              <a:rPr lang="zh-CN" altLang="en-US" b="1" dirty="0">
                <a:effectLst/>
              </a:rPr>
              <a:t>量</a:t>
            </a:r>
            <a:r>
              <a:rPr lang="zh-CN" altLang="en-US" b="1" dirty="0">
                <a:effectLst/>
                <a:ea typeface="楷体_GB2312" pitchFamily="49" charset="-122"/>
              </a:rPr>
              <a:t>    </a:t>
            </a:r>
            <a:endParaRPr lang="zh-CN" altLang="en-US" b="1" dirty="0">
              <a:effectLst/>
              <a:ea typeface="楷体_GB2312" pitchFamily="49" charset="-122"/>
            </a:endParaRPr>
          </a:p>
          <a:p>
            <a:pPr algn="l"/>
            <a:r>
              <a:rPr lang="zh-CN" altLang="en-US" b="1" dirty="0">
                <a:effectLst/>
                <a:ea typeface="楷体_GB2312" pitchFamily="49" charset="-122"/>
              </a:rPr>
              <a:t>                                     </a:t>
            </a:r>
            <a:endParaRPr lang="zh-CN" altLang="en-US" b="1" dirty="0">
              <a:effectLst/>
              <a:ea typeface="楷体_GB2312" pitchFamily="49" charset="-122"/>
            </a:endParaRPr>
          </a:p>
        </p:txBody>
      </p:sp>
      <p:graphicFrame>
        <p:nvGraphicFramePr>
          <p:cNvPr id="14" name="Object 17"/>
          <p:cNvGraphicFramePr>
            <a:graphicFrameLocks noChangeAspect="1"/>
          </p:cNvGraphicFramePr>
          <p:nvPr/>
        </p:nvGraphicFramePr>
        <p:xfrm>
          <a:off x="1223690" y="3967226"/>
          <a:ext cx="1439862" cy="792162"/>
        </p:xfrm>
        <a:graphic>
          <a:graphicData uri="http://schemas.openxmlformats.org/presentationml/2006/ole">
            <mc:AlternateContent xmlns:mc="http://schemas.openxmlformats.org/markup-compatibility/2006">
              <mc:Choice xmlns:v="urn:schemas-microsoft-com:vml" Requires="v">
                <p:oleObj spid="_x0000_s13315" name="Equation" r:id="rId5" imgW="18592800" imgH="11582400" progId="Equation.3">
                  <p:embed/>
                </p:oleObj>
              </mc:Choice>
              <mc:Fallback>
                <p:oleObj name="Equation" r:id="rId5" imgW="18592800" imgH="11582400" progId="Equation.3">
                  <p:embed/>
                  <p:pic>
                    <p:nvPicPr>
                      <p:cNvPr id="0" name="图片 13314"/>
                      <p:cNvPicPr>
                        <a:picLocks noChangeAspect="1"/>
                      </p:cNvPicPr>
                      <p:nvPr/>
                    </p:nvPicPr>
                    <p:blipFill>
                      <a:blip r:embed="rId2"/>
                      <a:stretch>
                        <a:fillRect/>
                      </a:stretch>
                    </p:blipFill>
                    <p:spPr>
                      <a:xfrm>
                        <a:off x="1223690" y="3967226"/>
                        <a:ext cx="1439862" cy="792162"/>
                      </a:xfrm>
                      <a:prstGeom prst="rect">
                        <a:avLst/>
                      </a:prstGeom>
                      <a:noFill/>
                      <a:ln w="9525">
                        <a:noFill/>
                      </a:ln>
                    </p:spPr>
                  </p:pic>
                </p:oleObj>
              </mc:Fallback>
            </mc:AlternateContent>
          </a:graphicData>
        </a:graphic>
      </p:graphicFrame>
      <p:graphicFrame>
        <p:nvGraphicFramePr>
          <p:cNvPr id="15" name="Object 19"/>
          <p:cNvGraphicFramePr>
            <a:graphicFrameLocks noChangeAspect="1"/>
          </p:cNvGraphicFramePr>
          <p:nvPr/>
        </p:nvGraphicFramePr>
        <p:xfrm>
          <a:off x="463641" y="5087640"/>
          <a:ext cx="2255837" cy="431800"/>
        </p:xfrm>
        <a:graphic>
          <a:graphicData uri="http://schemas.openxmlformats.org/presentationml/2006/ole">
            <mc:AlternateContent xmlns:mc="http://schemas.openxmlformats.org/markup-compatibility/2006">
              <mc:Choice xmlns:v="urn:schemas-microsoft-com:vml" Requires="v">
                <p:oleObj spid="_x0000_s13316" name="Equation" r:id="rId6" imgW="30175200" imgH="5486400" progId="Equation.3">
                  <p:embed/>
                </p:oleObj>
              </mc:Choice>
              <mc:Fallback>
                <p:oleObj name="Equation" r:id="rId6" imgW="30175200" imgH="5486400" progId="Equation.3">
                  <p:embed/>
                  <p:pic>
                    <p:nvPicPr>
                      <p:cNvPr id="0" name="图片 13315"/>
                      <p:cNvPicPr>
                        <a:picLocks noChangeAspect="1"/>
                      </p:cNvPicPr>
                      <p:nvPr/>
                    </p:nvPicPr>
                    <p:blipFill>
                      <a:blip r:embed="rId7"/>
                      <a:stretch>
                        <a:fillRect/>
                      </a:stretch>
                    </p:blipFill>
                    <p:spPr>
                      <a:xfrm>
                        <a:off x="463641" y="5087640"/>
                        <a:ext cx="2255837" cy="431800"/>
                      </a:xfrm>
                      <a:prstGeom prst="rect">
                        <a:avLst/>
                      </a:prstGeom>
                      <a:noFill/>
                      <a:ln w="9525">
                        <a:noFill/>
                      </a:ln>
                    </p:spPr>
                  </p:pic>
                </p:oleObj>
              </mc:Fallback>
            </mc:AlternateContent>
          </a:graphicData>
        </a:graphic>
      </p:graphicFrame>
      <p:sp>
        <p:nvSpPr>
          <p:cNvPr id="16" name="Text Box 20"/>
          <p:cNvSpPr txBox="1">
            <a:spLocks noChangeArrowheads="1"/>
          </p:cNvSpPr>
          <p:nvPr/>
        </p:nvSpPr>
        <p:spPr bwMode="auto">
          <a:xfrm>
            <a:off x="793531" y="5133677"/>
            <a:ext cx="7704138" cy="1104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spcBef>
                <a:spcPct val="50000"/>
              </a:spcBef>
            </a:pPr>
            <a:r>
              <a:rPr lang="en-US" altLang="zh-CN" b="1" dirty="0">
                <a:effectLst/>
              </a:rPr>
              <a:t>                                  ,  </a:t>
            </a:r>
            <a:r>
              <a:rPr lang="zh-CN" altLang="en-US" b="1" dirty="0">
                <a:effectLst/>
                <a:ea typeface="楷体_GB2312" pitchFamily="49" charset="-122"/>
                <a:cs typeface="Arial" panose="020B0604020202020204" pitchFamily="34" charset="0"/>
              </a:rPr>
              <a:t>其中存在一个检验数                     ，且该检验数所对应的非基变量的系数列向量的全部系数都为负数或零，则线性规划问题无有界最优解。</a:t>
            </a:r>
            <a:endParaRPr lang="zh-CN" altLang="en-US" b="1" dirty="0">
              <a:effectLst/>
              <a:ea typeface="楷体_GB2312" pitchFamily="49" charset="-122"/>
              <a:cs typeface="Arial" panose="020B0604020202020204" pitchFamily="34" charset="0"/>
            </a:endParaRPr>
          </a:p>
        </p:txBody>
      </p:sp>
      <p:graphicFrame>
        <p:nvGraphicFramePr>
          <p:cNvPr id="17" name="Object 21"/>
          <p:cNvGraphicFramePr>
            <a:graphicFrameLocks noChangeAspect="1"/>
          </p:cNvGraphicFramePr>
          <p:nvPr/>
        </p:nvGraphicFramePr>
        <p:xfrm>
          <a:off x="4968092" y="5087640"/>
          <a:ext cx="996950" cy="503237"/>
        </p:xfrm>
        <a:graphic>
          <a:graphicData uri="http://schemas.openxmlformats.org/presentationml/2006/ole">
            <mc:AlternateContent xmlns:mc="http://schemas.openxmlformats.org/markup-compatibility/2006">
              <mc:Choice xmlns:v="urn:schemas-microsoft-com:vml" Requires="v">
                <p:oleObj spid="_x0000_s13317" name="Equation" r:id="rId8" imgW="13716000" imgH="5486400" progId="Equation.3">
                  <p:embed/>
                </p:oleObj>
              </mc:Choice>
              <mc:Fallback>
                <p:oleObj name="Equation" r:id="rId8" imgW="13716000" imgH="5486400" progId="Equation.3">
                  <p:embed/>
                  <p:pic>
                    <p:nvPicPr>
                      <p:cNvPr id="0" name="图片 13316"/>
                      <p:cNvPicPr>
                        <a:picLocks noChangeAspect="1"/>
                      </p:cNvPicPr>
                      <p:nvPr/>
                    </p:nvPicPr>
                    <p:blipFill>
                      <a:blip r:embed="rId9"/>
                      <a:stretch>
                        <a:fillRect/>
                      </a:stretch>
                    </p:blipFill>
                    <p:spPr>
                      <a:xfrm>
                        <a:off x="4968092" y="5087640"/>
                        <a:ext cx="996950" cy="503237"/>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en-US" altLang="zh-CN" sz="3600" dirty="0">
              <a:latin typeface="Times New Roman" panose="02020603050405020304" pitchFamily="18" charset="0"/>
              <a:cs typeface="Times New Roman" panose="02020603050405020304" pitchFamily="18" charset="0"/>
            </a:endParaRPr>
          </a:p>
        </p:txBody>
      </p:sp>
      <p:graphicFrame>
        <p:nvGraphicFramePr>
          <p:cNvPr id="9" name="Object 26"/>
          <p:cNvGraphicFramePr>
            <a:graphicFrameLocks noChangeAspect="1"/>
          </p:cNvGraphicFramePr>
          <p:nvPr/>
        </p:nvGraphicFramePr>
        <p:xfrm>
          <a:off x="1384300" y="3097113"/>
          <a:ext cx="6408738" cy="2087563"/>
        </p:xfrm>
        <a:graphic>
          <a:graphicData uri="http://schemas.openxmlformats.org/presentationml/2006/ole">
            <mc:AlternateContent xmlns:mc="http://schemas.openxmlformats.org/markup-compatibility/2006">
              <mc:Choice xmlns:v="urn:schemas-microsoft-com:vml" Requires="v">
                <p:oleObj spid="_x0000_s14337" name="公式" r:id="rId1" imgW="56083200" imgH="17373600" progId="Equation.3">
                  <p:embed/>
                </p:oleObj>
              </mc:Choice>
              <mc:Fallback>
                <p:oleObj name="公式" r:id="rId1" imgW="56083200" imgH="17373600" progId="Equation.3">
                  <p:embed/>
                  <p:pic>
                    <p:nvPicPr>
                      <p:cNvPr id="0" name="图片 14336"/>
                      <p:cNvPicPr>
                        <a:picLocks noChangeAspect="1"/>
                      </p:cNvPicPr>
                      <p:nvPr/>
                    </p:nvPicPr>
                    <p:blipFill>
                      <a:blip r:embed="rId2"/>
                      <a:stretch>
                        <a:fillRect/>
                      </a:stretch>
                    </p:blipFill>
                    <p:spPr>
                      <a:xfrm>
                        <a:off x="1384300" y="3097113"/>
                        <a:ext cx="6408738" cy="2087563"/>
                      </a:xfrm>
                      <a:prstGeom prst="rect">
                        <a:avLst/>
                      </a:prstGeom>
                      <a:noFill/>
                      <a:ln w="9525">
                        <a:noFill/>
                      </a:ln>
                    </p:spPr>
                  </p:pic>
                </p:oleObj>
              </mc:Fallback>
            </mc:AlternateContent>
          </a:graphicData>
        </a:graphic>
      </p:graphicFrame>
      <p:graphicFrame>
        <p:nvGraphicFramePr>
          <p:cNvPr id="10" name="Object 30"/>
          <p:cNvGraphicFramePr>
            <a:graphicFrameLocks noChangeAspect="1"/>
          </p:cNvGraphicFramePr>
          <p:nvPr/>
        </p:nvGraphicFramePr>
        <p:xfrm>
          <a:off x="1835150" y="1080988"/>
          <a:ext cx="3384550" cy="531813"/>
        </p:xfrm>
        <a:graphic>
          <a:graphicData uri="http://schemas.openxmlformats.org/presentationml/2006/ole">
            <mc:AlternateContent xmlns:mc="http://schemas.openxmlformats.org/markup-compatibility/2006">
              <mc:Choice xmlns:v="urn:schemas-microsoft-com:vml" Requires="v">
                <p:oleObj spid="_x0000_s14338" name="Equation" r:id="rId3" imgW="32918400" imgH="5486400" progId="Equation.3">
                  <p:embed/>
                </p:oleObj>
              </mc:Choice>
              <mc:Fallback>
                <p:oleObj name="Equation" r:id="rId3" imgW="32918400" imgH="5486400" progId="Equation.3">
                  <p:embed/>
                  <p:pic>
                    <p:nvPicPr>
                      <p:cNvPr id="0" name="图片 14337"/>
                      <p:cNvPicPr>
                        <a:picLocks noChangeAspect="1"/>
                      </p:cNvPicPr>
                      <p:nvPr/>
                    </p:nvPicPr>
                    <p:blipFill>
                      <a:blip r:embed="rId4"/>
                      <a:stretch>
                        <a:fillRect/>
                      </a:stretch>
                    </p:blipFill>
                    <p:spPr>
                      <a:xfrm>
                        <a:off x="1835150" y="1080988"/>
                        <a:ext cx="3384550" cy="531813"/>
                      </a:xfrm>
                      <a:prstGeom prst="rect">
                        <a:avLst/>
                      </a:prstGeom>
                      <a:solidFill>
                        <a:srgbClr val="FF9966"/>
                      </a:solidFill>
                      <a:ln w="9525">
                        <a:noFill/>
                      </a:ln>
                    </p:spPr>
                  </p:pic>
                </p:oleObj>
              </mc:Fallback>
            </mc:AlternateContent>
          </a:graphicData>
        </a:graphic>
      </p:graphicFrame>
      <p:graphicFrame>
        <p:nvGraphicFramePr>
          <p:cNvPr id="11" name="Object 31"/>
          <p:cNvGraphicFramePr>
            <a:graphicFrameLocks noChangeAspect="1"/>
          </p:cNvGraphicFramePr>
          <p:nvPr/>
        </p:nvGraphicFramePr>
        <p:xfrm>
          <a:off x="1835150" y="1801713"/>
          <a:ext cx="3455988" cy="633413"/>
        </p:xfrm>
        <a:graphic>
          <a:graphicData uri="http://schemas.openxmlformats.org/presentationml/2006/ole">
            <mc:AlternateContent xmlns:mc="http://schemas.openxmlformats.org/markup-compatibility/2006">
              <mc:Choice xmlns:v="urn:schemas-microsoft-com:vml" Requires="v">
                <p:oleObj spid="_x0000_s14339" name="公式" r:id="rId5" imgW="29870400" imgH="5486400" progId="Equation.3">
                  <p:embed/>
                </p:oleObj>
              </mc:Choice>
              <mc:Fallback>
                <p:oleObj name="公式" r:id="rId5" imgW="29870400" imgH="5486400" progId="Equation.3">
                  <p:embed/>
                  <p:pic>
                    <p:nvPicPr>
                      <p:cNvPr id="0" name="图片 14338"/>
                      <p:cNvPicPr>
                        <a:picLocks noChangeAspect="1"/>
                      </p:cNvPicPr>
                      <p:nvPr/>
                    </p:nvPicPr>
                    <p:blipFill>
                      <a:blip r:embed="rId6"/>
                      <a:stretch>
                        <a:fillRect/>
                      </a:stretch>
                    </p:blipFill>
                    <p:spPr>
                      <a:xfrm>
                        <a:off x="1835150" y="1801713"/>
                        <a:ext cx="3455988" cy="633413"/>
                      </a:xfrm>
                      <a:prstGeom prst="rect">
                        <a:avLst/>
                      </a:prstGeom>
                      <a:noFill/>
                      <a:ln w="9525">
                        <a:noFill/>
                      </a:ln>
                    </p:spPr>
                  </p:pic>
                </p:oleObj>
              </mc:Fallback>
            </mc:AlternateContent>
          </a:graphicData>
        </a:graphic>
      </p:graphicFrame>
      <p:sp>
        <p:nvSpPr>
          <p:cNvPr id="12" name="Text Box 32"/>
          <p:cNvSpPr txBox="1">
            <a:spLocks noChangeArrowheads="1"/>
          </p:cNvSpPr>
          <p:nvPr/>
        </p:nvSpPr>
        <p:spPr bwMode="auto">
          <a:xfrm>
            <a:off x="1187450" y="1080988"/>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a:effectLst>
                  <a:outerShdw blurRad="38100" dist="38100" dir="2700000" algn="tl">
                    <a:srgbClr val="C0C0C0"/>
                  </a:outerShdw>
                </a:effectLst>
                <a:ea typeface="楷体_GB2312" pitchFamily="49" charset="-122"/>
              </a:rPr>
              <a:t>将</a:t>
            </a:r>
            <a:endParaRPr lang="zh-CN" altLang="en-US" sz="2800">
              <a:effectLst>
                <a:outerShdw blurRad="38100" dist="38100" dir="2700000" algn="tl">
                  <a:srgbClr val="C0C0C0"/>
                </a:outerShdw>
              </a:effectLst>
              <a:ea typeface="楷体_GB2312" pitchFamily="49" charset="-122"/>
            </a:endParaRPr>
          </a:p>
        </p:txBody>
      </p:sp>
      <p:sp>
        <p:nvSpPr>
          <p:cNvPr id="13" name="Text Box 33"/>
          <p:cNvSpPr txBox="1">
            <a:spLocks noChangeArrowheads="1"/>
          </p:cNvSpPr>
          <p:nvPr/>
        </p:nvSpPr>
        <p:spPr bwMode="auto">
          <a:xfrm>
            <a:off x="5219700" y="1080988"/>
            <a:ext cx="2317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a:effectLst>
                  <a:outerShdw blurRad="38100" dist="38100" dir="2700000" algn="tl">
                    <a:srgbClr val="C0C0C0"/>
                  </a:outerShdw>
                </a:effectLst>
              </a:rPr>
              <a:t>代入目标函数</a:t>
            </a:r>
            <a:endParaRPr lang="zh-CN" altLang="en-US" sz="2800">
              <a:effectLst>
                <a:outerShdw blurRad="38100" dist="38100" dir="2700000" algn="tl">
                  <a:srgbClr val="C0C0C0"/>
                </a:outerShdw>
              </a:effectLst>
            </a:endParaRPr>
          </a:p>
        </p:txBody>
      </p:sp>
      <p:sp>
        <p:nvSpPr>
          <p:cNvPr id="14" name="Text Box 34"/>
          <p:cNvSpPr txBox="1">
            <a:spLocks noChangeArrowheads="1"/>
          </p:cNvSpPr>
          <p:nvPr/>
        </p:nvSpPr>
        <p:spPr bwMode="auto">
          <a:xfrm>
            <a:off x="1258888" y="2449413"/>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a:effectLst>
                  <a:outerShdw blurRad="38100" dist="38100" dir="2700000" algn="tl">
                    <a:srgbClr val="C0C0C0"/>
                  </a:outerShdw>
                </a:effectLst>
              </a:rPr>
              <a:t>得</a:t>
            </a:r>
            <a:endParaRPr lang="zh-CN" altLang="en-US" sz="2800">
              <a:effectLst>
                <a:outerShdw blurRad="38100" dist="38100" dir="2700000" algn="tl">
                  <a:srgbClr val="C0C0C0"/>
                </a:outerShdw>
              </a:effectLst>
            </a:endParaRPr>
          </a:p>
        </p:txBody>
      </p:sp>
      <p:graphicFrame>
        <p:nvGraphicFramePr>
          <p:cNvPr id="15" name="Object 35"/>
          <p:cNvGraphicFramePr>
            <a:graphicFrameLocks noChangeAspect="1"/>
          </p:cNvGraphicFramePr>
          <p:nvPr/>
        </p:nvGraphicFramePr>
        <p:xfrm>
          <a:off x="1403350" y="5402163"/>
          <a:ext cx="3816350" cy="619125"/>
        </p:xfrm>
        <a:graphic>
          <a:graphicData uri="http://schemas.openxmlformats.org/presentationml/2006/ole">
            <mc:AlternateContent xmlns:mc="http://schemas.openxmlformats.org/markup-compatibility/2006">
              <mc:Choice xmlns:v="urn:schemas-microsoft-com:vml" Requires="v">
                <p:oleObj spid="_x0000_s14340" name="公式" r:id="rId7" imgW="35966400" imgH="5791200" progId="Equation.3">
                  <p:embed/>
                </p:oleObj>
              </mc:Choice>
              <mc:Fallback>
                <p:oleObj name="公式" r:id="rId7" imgW="35966400" imgH="5791200" progId="Equation.3">
                  <p:embed/>
                  <p:pic>
                    <p:nvPicPr>
                      <p:cNvPr id="0" name="图片 14339"/>
                      <p:cNvPicPr>
                        <a:picLocks noChangeAspect="1"/>
                      </p:cNvPicPr>
                      <p:nvPr/>
                    </p:nvPicPr>
                    <p:blipFill>
                      <a:blip r:embed="rId8"/>
                      <a:stretch>
                        <a:fillRect/>
                      </a:stretch>
                    </p:blipFill>
                    <p:spPr>
                      <a:xfrm>
                        <a:off x="1403350" y="5402163"/>
                        <a:ext cx="3816350" cy="619125"/>
                      </a:xfrm>
                      <a:prstGeom prst="rect">
                        <a:avLst/>
                      </a:prstGeom>
                      <a:solidFill>
                        <a:srgbClr val="FF9966"/>
                      </a:solid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plus(i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9" name="Rectangle 3"/>
          <p:cNvSpPr>
            <a:spLocks noChangeArrowheads="1"/>
          </p:cNvSpPr>
          <p:nvPr/>
        </p:nvSpPr>
        <p:spPr bwMode="auto">
          <a:xfrm>
            <a:off x="179239" y="908720"/>
            <a:ext cx="59769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 typeface="Wingdings" panose="05000000000000000000" pitchFamily="2" charset="2"/>
              <a:buNone/>
            </a:pPr>
            <a:r>
              <a:rPr lang="en-US" altLang="zh-CN" sz="2400" dirty="0">
                <a:effectLst/>
                <a:latin typeface="黑体" panose="02010609060101010101" pitchFamily="49" charset="-122"/>
                <a:ea typeface="黑体" panose="02010609060101010101" pitchFamily="49" charset="-122"/>
              </a:rPr>
              <a:t>3. </a:t>
            </a:r>
            <a:r>
              <a:rPr lang="zh-CN" altLang="en-US" sz="2400" dirty="0">
                <a:effectLst/>
                <a:latin typeface="黑体" panose="02010609060101010101" pitchFamily="49" charset="-122"/>
                <a:ea typeface="黑体" panose="02010609060101010101" pitchFamily="49" charset="-122"/>
              </a:rPr>
              <a:t>基本可行解的改进</a:t>
            </a:r>
            <a:r>
              <a:rPr lang="zh-CN" altLang="en-US" sz="2400" dirty="0">
                <a:effectLst/>
              </a:rPr>
              <a:t> </a:t>
            </a:r>
            <a:r>
              <a:rPr lang="en-US" altLang="zh-CN" sz="2400" dirty="0">
                <a:effectLst/>
              </a:rPr>
              <a:t>——</a:t>
            </a:r>
            <a:r>
              <a:rPr lang="zh-CN" altLang="en-US" sz="2400" dirty="0">
                <a:solidFill>
                  <a:schemeClr val="accent2"/>
                </a:solidFill>
                <a:effectLst/>
                <a:ea typeface="楷体_GB2312" pitchFamily="49" charset="-122"/>
              </a:rPr>
              <a:t>基变换</a:t>
            </a:r>
            <a:endParaRPr lang="zh-CN" altLang="en-US" sz="2400" dirty="0">
              <a:solidFill>
                <a:schemeClr val="accent2"/>
              </a:solidFill>
              <a:effectLst/>
              <a:ea typeface="楷体_GB2312" pitchFamily="49" charset="-122"/>
            </a:endParaRPr>
          </a:p>
        </p:txBody>
      </p:sp>
      <p:sp>
        <p:nvSpPr>
          <p:cNvPr id="10" name="Rectangle 4"/>
          <p:cNvSpPr>
            <a:spLocks noChangeArrowheads="1"/>
          </p:cNvSpPr>
          <p:nvPr/>
        </p:nvSpPr>
        <p:spPr bwMode="auto">
          <a:xfrm>
            <a:off x="137240" y="1274612"/>
            <a:ext cx="7848600" cy="3832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40000"/>
              </a:lnSpc>
            </a:pPr>
            <a:r>
              <a:rPr lang="en-US" altLang="zh-CN" sz="2200" dirty="0">
                <a:effectLst/>
                <a:latin typeface="宋体" panose="02010600030101010101" pitchFamily="2" charset="-122"/>
              </a:rPr>
              <a:t>  </a:t>
            </a:r>
            <a:r>
              <a:rPr lang="zh-CN" altLang="en-US" sz="2200" dirty="0">
                <a:effectLst/>
                <a:latin typeface="楷体_GB2312" pitchFamily="49" charset="-122"/>
                <a:ea typeface="楷体_GB2312" pitchFamily="49" charset="-122"/>
              </a:rPr>
              <a:t>如果现行的基本可行解Ｘ不是最优解，即在检验向量</a:t>
            </a:r>
            <a:r>
              <a:rPr lang="en-US" altLang="zh-CN" sz="2200" i="1" dirty="0" err="1">
                <a:solidFill>
                  <a:srgbClr val="FF3300"/>
                </a:solidFill>
                <a:effectLst/>
              </a:rPr>
              <a:t>σ</a:t>
            </a:r>
            <a:r>
              <a:rPr lang="en-US" altLang="zh-CN" sz="2200" i="1" baseline="-25000" dirty="0" err="1">
                <a:solidFill>
                  <a:srgbClr val="FF3300"/>
                </a:solidFill>
                <a:effectLst/>
              </a:rPr>
              <a:t>N</a:t>
            </a:r>
            <a:r>
              <a:rPr lang="en-US" altLang="zh-CN" sz="2200" i="1" baseline="-25000" dirty="0">
                <a:solidFill>
                  <a:srgbClr val="FF3300"/>
                </a:solidFill>
                <a:effectLst/>
              </a:rPr>
              <a:t> </a:t>
            </a:r>
            <a:r>
              <a:rPr lang="en-US" altLang="zh-CN" sz="2200" dirty="0">
                <a:solidFill>
                  <a:srgbClr val="FF3300"/>
                </a:solidFill>
                <a:effectLst/>
              </a:rPr>
              <a:t>=</a:t>
            </a:r>
            <a:r>
              <a:rPr lang="en-US" altLang="zh-CN" sz="2200" i="1" dirty="0">
                <a:solidFill>
                  <a:srgbClr val="FF3300"/>
                </a:solidFill>
                <a:effectLst/>
              </a:rPr>
              <a:t>C</a:t>
            </a:r>
            <a:r>
              <a:rPr lang="en-US" altLang="zh-CN" sz="2200" i="1" baseline="-25000" dirty="0">
                <a:solidFill>
                  <a:srgbClr val="FF3300"/>
                </a:solidFill>
                <a:effectLst/>
              </a:rPr>
              <a:t>N</a:t>
            </a:r>
            <a:r>
              <a:rPr lang="zh-CN" altLang="en-US" sz="2200" dirty="0">
                <a:solidFill>
                  <a:srgbClr val="FF3300"/>
                </a:solidFill>
                <a:effectLst/>
              </a:rPr>
              <a:t>－</a:t>
            </a:r>
            <a:r>
              <a:rPr lang="en-US" altLang="zh-CN" sz="2200" i="1" dirty="0">
                <a:solidFill>
                  <a:srgbClr val="FF3300"/>
                </a:solidFill>
                <a:effectLst/>
              </a:rPr>
              <a:t>C</a:t>
            </a:r>
            <a:r>
              <a:rPr lang="en-US" altLang="zh-CN" sz="2200" i="1" baseline="-25000" dirty="0">
                <a:solidFill>
                  <a:srgbClr val="FF3300"/>
                </a:solidFill>
                <a:effectLst/>
              </a:rPr>
              <a:t>B</a:t>
            </a:r>
            <a:r>
              <a:rPr lang="en-US" altLang="zh-CN" sz="2200" i="1" dirty="0">
                <a:solidFill>
                  <a:srgbClr val="FF3300"/>
                </a:solidFill>
                <a:effectLst/>
              </a:rPr>
              <a:t>B</a:t>
            </a:r>
            <a:r>
              <a:rPr lang="zh-CN" altLang="en-US" sz="2200" baseline="30000" dirty="0">
                <a:solidFill>
                  <a:srgbClr val="FF3300"/>
                </a:solidFill>
                <a:effectLst/>
              </a:rPr>
              <a:t>－</a:t>
            </a:r>
            <a:r>
              <a:rPr lang="en-US" altLang="zh-CN" sz="2200" baseline="30000" dirty="0">
                <a:solidFill>
                  <a:srgbClr val="FF3300"/>
                </a:solidFill>
                <a:effectLst/>
              </a:rPr>
              <a:t>1</a:t>
            </a:r>
            <a:r>
              <a:rPr lang="en-US" altLang="zh-CN" sz="2200" i="1" dirty="0">
                <a:solidFill>
                  <a:srgbClr val="FF3300"/>
                </a:solidFill>
                <a:effectLst/>
              </a:rPr>
              <a:t>N</a:t>
            </a:r>
            <a:r>
              <a:rPr lang="en-US" altLang="zh-CN" sz="2200" dirty="0">
                <a:effectLst/>
                <a:latin typeface="楷体_GB2312" pitchFamily="49" charset="-122"/>
                <a:ea typeface="楷体_GB2312" pitchFamily="49" charset="-122"/>
              </a:rPr>
              <a:t>  </a:t>
            </a:r>
            <a:r>
              <a:rPr lang="zh-CN" altLang="en-US" sz="2200" dirty="0">
                <a:effectLst/>
                <a:latin typeface="楷体_GB2312" pitchFamily="49" charset="-122"/>
                <a:ea typeface="楷体_GB2312" pitchFamily="49" charset="-122"/>
              </a:rPr>
              <a:t>中存在负的检验数，则需在原基本可行解Ｘ的基础上寻找一个新的基本可行解，并使目标函数值有所改善。</a:t>
            </a:r>
            <a:r>
              <a:rPr lang="zh-CN" altLang="en-US" sz="2200" dirty="0">
                <a:solidFill>
                  <a:schemeClr val="accent2"/>
                </a:solidFill>
                <a:effectLst/>
                <a:latin typeface="楷体_GB2312" pitchFamily="49" charset="-122"/>
                <a:ea typeface="楷体_GB2312" pitchFamily="49" charset="-122"/>
              </a:rPr>
              <a:t>具体做法</a:t>
            </a:r>
            <a:r>
              <a:rPr lang="zh-CN" altLang="en-US" sz="2200" dirty="0">
                <a:effectLst/>
                <a:latin typeface="楷体_GB2312" pitchFamily="49" charset="-122"/>
                <a:ea typeface="楷体_GB2312" pitchFamily="49" charset="-122"/>
              </a:rPr>
              <a:t>是：</a:t>
            </a:r>
            <a:endParaRPr lang="zh-CN" altLang="en-US" sz="2200" dirty="0">
              <a:effectLst/>
              <a:latin typeface="楷体_GB2312" pitchFamily="49" charset="-122"/>
              <a:ea typeface="楷体_GB2312" pitchFamily="49" charset="-122"/>
            </a:endParaRPr>
          </a:p>
          <a:p>
            <a:pPr lvl="1" algn="just">
              <a:lnSpc>
                <a:spcPct val="140000"/>
              </a:lnSpc>
              <a:buFont typeface="Wingdings" panose="05000000000000000000" pitchFamily="2" charset="2"/>
              <a:buChar char="Ø"/>
            </a:pPr>
            <a:r>
              <a:rPr lang="zh-CN" altLang="en-US" sz="2200" dirty="0">
                <a:effectLst/>
                <a:latin typeface="楷体_GB2312" pitchFamily="49" charset="-122"/>
                <a:ea typeface="楷体_GB2312" pitchFamily="49" charset="-122"/>
              </a:rPr>
              <a:t>先从检验数为负的非基变量中确定一个</a:t>
            </a:r>
            <a:r>
              <a:rPr lang="zh-CN" altLang="en-US" sz="2200" dirty="0">
                <a:solidFill>
                  <a:schemeClr val="accent2"/>
                </a:solidFill>
                <a:effectLst/>
                <a:latin typeface="楷体_GB2312" pitchFamily="49" charset="-122"/>
                <a:ea typeface="楷体_GB2312" pitchFamily="49" charset="-122"/>
              </a:rPr>
              <a:t>换入变量</a:t>
            </a:r>
            <a:r>
              <a:rPr lang="zh-CN" altLang="en-US" sz="2200" dirty="0">
                <a:effectLst/>
                <a:latin typeface="楷体_GB2312" pitchFamily="49" charset="-122"/>
                <a:ea typeface="楷体_GB2312" pitchFamily="49" charset="-122"/>
              </a:rPr>
              <a:t>，使它从非基变量变成基变量，</a:t>
            </a:r>
            <a:endParaRPr lang="zh-CN" altLang="en-US" sz="2200" dirty="0">
              <a:effectLst/>
              <a:latin typeface="楷体_GB2312" pitchFamily="49" charset="-122"/>
              <a:ea typeface="楷体_GB2312" pitchFamily="49" charset="-122"/>
            </a:endParaRPr>
          </a:p>
          <a:p>
            <a:pPr lvl="1" algn="just">
              <a:lnSpc>
                <a:spcPct val="140000"/>
              </a:lnSpc>
              <a:buFont typeface="Wingdings" panose="05000000000000000000" pitchFamily="2" charset="2"/>
              <a:buChar char="Ø"/>
            </a:pPr>
            <a:r>
              <a:rPr lang="zh-CN" altLang="en-US" sz="2200" dirty="0">
                <a:effectLst/>
                <a:latin typeface="楷体_GB2312" pitchFamily="49" charset="-122"/>
                <a:ea typeface="楷体_GB2312" pitchFamily="49" charset="-122"/>
              </a:rPr>
              <a:t>再从原来的基变量中确定一个</a:t>
            </a:r>
            <a:r>
              <a:rPr lang="zh-CN" altLang="en-US" sz="2200" dirty="0">
                <a:solidFill>
                  <a:schemeClr val="accent2"/>
                </a:solidFill>
                <a:effectLst/>
                <a:latin typeface="楷体_GB2312" pitchFamily="49" charset="-122"/>
                <a:ea typeface="楷体_GB2312" pitchFamily="49" charset="-122"/>
              </a:rPr>
              <a:t>换出变量</a:t>
            </a:r>
            <a:r>
              <a:rPr lang="zh-CN" altLang="en-US" sz="2200" dirty="0">
                <a:effectLst/>
                <a:latin typeface="楷体_GB2312" pitchFamily="49" charset="-122"/>
                <a:ea typeface="楷体_GB2312" pitchFamily="49" charset="-122"/>
              </a:rPr>
              <a:t>，使它从基变量变成非基变量。</a:t>
            </a:r>
            <a:endParaRPr lang="zh-CN" altLang="en-US" sz="2200" dirty="0">
              <a:effectLst/>
              <a:latin typeface="楷体_GB2312" pitchFamily="49" charset="-122"/>
              <a:ea typeface="楷体_GB2312" pitchFamily="49" charset="-122"/>
            </a:endParaRPr>
          </a:p>
        </p:txBody>
      </p:sp>
      <p:sp>
        <p:nvSpPr>
          <p:cNvPr id="11" name="Rectangle 3"/>
          <p:cNvSpPr>
            <a:spLocks noChangeArrowheads="1"/>
          </p:cNvSpPr>
          <p:nvPr/>
        </p:nvSpPr>
        <p:spPr bwMode="auto">
          <a:xfrm>
            <a:off x="107504" y="5194895"/>
            <a:ext cx="7848600" cy="9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40000"/>
              </a:lnSpc>
            </a:pPr>
            <a:r>
              <a:rPr lang="zh-CN" altLang="en-US" sz="2200" dirty="0">
                <a:effectLst/>
                <a:latin typeface="楷体_GB2312" pitchFamily="49" charset="-122"/>
                <a:ea typeface="楷体_GB2312" pitchFamily="49" charset="-122"/>
              </a:rPr>
              <a:t>由此可得一个</a:t>
            </a:r>
            <a:r>
              <a:rPr lang="zh-CN" altLang="en-US" sz="2200" dirty="0">
                <a:solidFill>
                  <a:schemeClr val="accent2"/>
                </a:solidFill>
                <a:effectLst/>
                <a:latin typeface="楷体_GB2312" pitchFamily="49" charset="-122"/>
                <a:ea typeface="楷体_GB2312" pitchFamily="49" charset="-122"/>
              </a:rPr>
              <a:t>新的基本可行解</a:t>
            </a:r>
            <a:r>
              <a:rPr lang="zh-CN" altLang="en-US" sz="2200" dirty="0">
                <a:effectLst/>
                <a:latin typeface="楷体_GB2312" pitchFamily="49" charset="-122"/>
                <a:ea typeface="楷体_GB2312" pitchFamily="49" charset="-122"/>
              </a:rPr>
              <a:t>，由                </a:t>
            </a:r>
            <a:endParaRPr lang="zh-CN" altLang="en-US" sz="2200" dirty="0">
              <a:effectLst/>
              <a:latin typeface="楷体_GB2312" pitchFamily="49" charset="-122"/>
              <a:ea typeface="楷体_GB2312" pitchFamily="49" charset="-122"/>
            </a:endParaRPr>
          </a:p>
          <a:p>
            <a:pPr algn="just">
              <a:lnSpc>
                <a:spcPct val="140000"/>
              </a:lnSpc>
              <a:buFont typeface="Wingdings" panose="05000000000000000000" pitchFamily="2" charset="2"/>
              <a:buNone/>
            </a:pPr>
            <a:r>
              <a:rPr lang="zh-CN" altLang="en-US" sz="2200" dirty="0">
                <a:effectLst/>
                <a:latin typeface="楷体_GB2312" pitchFamily="49" charset="-122"/>
                <a:ea typeface="楷体_GB2312" pitchFamily="49" charset="-122"/>
              </a:rPr>
              <a:t>可知，这样的变换一定能使目标函数值有所减少。</a:t>
            </a:r>
            <a:endParaRPr lang="zh-CN" altLang="en-US" sz="2200" dirty="0">
              <a:effectLst/>
              <a:latin typeface="楷体_GB2312" pitchFamily="49" charset="-122"/>
              <a:ea typeface="楷体_GB2312" pitchFamily="49" charset="-122"/>
            </a:endParaRPr>
          </a:p>
        </p:txBody>
      </p:sp>
      <p:graphicFrame>
        <p:nvGraphicFramePr>
          <p:cNvPr id="12" name="Object 4"/>
          <p:cNvGraphicFramePr>
            <a:graphicFrameLocks noChangeAspect="1"/>
          </p:cNvGraphicFramePr>
          <p:nvPr/>
        </p:nvGraphicFramePr>
        <p:xfrm>
          <a:off x="4788024" y="4594895"/>
          <a:ext cx="3452813" cy="1871663"/>
        </p:xfrm>
        <a:graphic>
          <a:graphicData uri="http://schemas.openxmlformats.org/presentationml/2006/ole">
            <mc:AlternateContent xmlns:mc="http://schemas.openxmlformats.org/markup-compatibility/2006">
              <mc:Choice xmlns:v="urn:schemas-microsoft-com:vml" Requires="v">
                <p:oleObj spid="_x0000_s15361" name="公式" r:id="rId1" imgW="60350400" imgH="26517600" progId="Equation.3">
                  <p:embed/>
                </p:oleObj>
              </mc:Choice>
              <mc:Fallback>
                <p:oleObj name="公式" r:id="rId1" imgW="60350400" imgH="26517600" progId="Equation.3">
                  <p:embed/>
                  <p:pic>
                    <p:nvPicPr>
                      <p:cNvPr id="0" name="图片 15360"/>
                      <p:cNvPicPr>
                        <a:picLocks noChangeAspect="1"/>
                      </p:cNvPicPr>
                      <p:nvPr/>
                    </p:nvPicPr>
                    <p:blipFill>
                      <a:blip r:embed="rId2"/>
                      <a:stretch>
                        <a:fillRect/>
                      </a:stretch>
                    </p:blipFill>
                    <p:spPr>
                      <a:xfrm>
                        <a:off x="4788024" y="4594895"/>
                        <a:ext cx="3452813" cy="1871663"/>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6" name="Rectangle 4"/>
          <p:cNvSpPr>
            <a:spLocks noChangeArrowheads="1"/>
          </p:cNvSpPr>
          <p:nvPr/>
        </p:nvSpPr>
        <p:spPr bwMode="auto">
          <a:xfrm>
            <a:off x="276018" y="4374938"/>
            <a:ext cx="7993062" cy="463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200" dirty="0">
                <a:effectLst/>
                <a:ea typeface="楷体_GB2312" pitchFamily="49" charset="-122"/>
              </a:rPr>
              <a:t>则选取对应的</a:t>
            </a:r>
            <a:r>
              <a:rPr lang="en-US" altLang="zh-CN" sz="2200" i="1" dirty="0" err="1">
                <a:solidFill>
                  <a:srgbClr val="FF0000"/>
                </a:solidFill>
                <a:effectLst/>
                <a:ea typeface="楷体_GB2312" pitchFamily="49" charset="-122"/>
              </a:rPr>
              <a:t>x</a:t>
            </a:r>
            <a:r>
              <a:rPr lang="en-US" altLang="zh-CN" sz="2200" i="1" baseline="-25000" dirty="0" err="1">
                <a:solidFill>
                  <a:srgbClr val="FF0000"/>
                </a:solidFill>
                <a:effectLst/>
                <a:ea typeface="楷体_GB2312" pitchFamily="49" charset="-122"/>
              </a:rPr>
              <a:t>m</a:t>
            </a:r>
            <a:r>
              <a:rPr lang="en-US" altLang="zh-CN" sz="2200" baseline="-25000" dirty="0" err="1">
                <a:solidFill>
                  <a:srgbClr val="FF0000"/>
                </a:solidFill>
                <a:effectLst/>
                <a:ea typeface="楷体_GB2312" pitchFamily="49" charset="-122"/>
              </a:rPr>
              <a:t>+</a:t>
            </a:r>
            <a:r>
              <a:rPr lang="en-US" altLang="zh-CN" sz="2200" i="1" baseline="-25000" dirty="0" err="1">
                <a:solidFill>
                  <a:srgbClr val="FF0000"/>
                </a:solidFill>
                <a:effectLst/>
                <a:ea typeface="楷体_GB2312" pitchFamily="49" charset="-122"/>
              </a:rPr>
              <a:t>k</a:t>
            </a:r>
            <a:r>
              <a:rPr lang="zh-CN" altLang="en-US" sz="2200" dirty="0">
                <a:effectLst/>
                <a:ea typeface="楷体_GB2312" pitchFamily="49" charset="-122"/>
              </a:rPr>
              <a:t>为换入变量，</a:t>
            </a:r>
            <a:endParaRPr lang="zh-CN" altLang="en-US" sz="2200" dirty="0">
              <a:effectLst/>
              <a:ea typeface="楷体_GB2312" pitchFamily="49" charset="-122"/>
            </a:endParaRPr>
          </a:p>
        </p:txBody>
      </p:sp>
      <p:sp>
        <p:nvSpPr>
          <p:cNvPr id="7" name="Rectangle 7"/>
          <p:cNvSpPr>
            <a:spLocks noChangeArrowheads="1"/>
          </p:cNvSpPr>
          <p:nvPr/>
        </p:nvSpPr>
        <p:spPr bwMode="auto">
          <a:xfrm>
            <a:off x="250825" y="4938501"/>
            <a:ext cx="3889375" cy="463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200">
                <a:effectLst/>
                <a:latin typeface="楷体_GB2312" pitchFamily="49" charset="-122"/>
                <a:ea typeface="楷体_GB2312" pitchFamily="49" charset="-122"/>
              </a:rPr>
              <a:t>由于</a:t>
            </a:r>
            <a:r>
              <a:rPr lang="en-US" altLang="zh-CN" sz="2200" i="1">
                <a:effectLst/>
              </a:rPr>
              <a:t>σ</a:t>
            </a:r>
            <a:r>
              <a:rPr lang="en-US" altLang="zh-CN" sz="2200" i="1" baseline="-25000">
                <a:effectLst/>
              </a:rPr>
              <a:t>m</a:t>
            </a:r>
            <a:r>
              <a:rPr lang="en-US" altLang="zh-CN" sz="2200" baseline="-25000">
                <a:effectLst/>
              </a:rPr>
              <a:t>+</a:t>
            </a:r>
            <a:r>
              <a:rPr lang="en-US" altLang="zh-CN" sz="2200" i="1" baseline="-25000">
                <a:effectLst/>
              </a:rPr>
              <a:t>k</a:t>
            </a:r>
            <a:r>
              <a:rPr lang="en-US" altLang="zh-CN" sz="2200">
                <a:effectLst/>
              </a:rPr>
              <a:t>&lt;0</a:t>
            </a:r>
            <a:r>
              <a:rPr lang="en-US" altLang="zh-CN" sz="2200">
                <a:effectLst/>
                <a:latin typeface="楷体_GB2312" pitchFamily="49" charset="-122"/>
                <a:ea typeface="楷体_GB2312" pitchFamily="49" charset="-122"/>
              </a:rPr>
              <a:t> </a:t>
            </a:r>
            <a:r>
              <a:rPr lang="zh-CN" altLang="en-US" sz="2200">
                <a:effectLst/>
                <a:latin typeface="楷体_GB2312" pitchFamily="49" charset="-122"/>
                <a:ea typeface="楷体_GB2312" pitchFamily="49" charset="-122"/>
              </a:rPr>
              <a:t>且为最小，</a:t>
            </a:r>
            <a:endParaRPr lang="zh-CN" altLang="en-US" sz="2200">
              <a:effectLst/>
              <a:latin typeface="楷体_GB2312" pitchFamily="49" charset="-122"/>
              <a:ea typeface="楷体_GB2312" pitchFamily="49" charset="-122"/>
            </a:endParaRPr>
          </a:p>
        </p:txBody>
      </p:sp>
      <p:sp>
        <p:nvSpPr>
          <p:cNvPr id="9" name="Rectangle 2"/>
          <p:cNvSpPr>
            <a:spLocks noChangeArrowheads="1"/>
          </p:cNvSpPr>
          <p:nvPr/>
        </p:nvSpPr>
        <p:spPr bwMode="auto">
          <a:xfrm>
            <a:off x="-20538" y="889000"/>
            <a:ext cx="46799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200" dirty="0">
                <a:solidFill>
                  <a:schemeClr val="accent2"/>
                </a:solidFill>
                <a:effectLst/>
                <a:latin typeface="楷体_GB2312" pitchFamily="49" charset="-122"/>
                <a:ea typeface="楷体_GB2312" pitchFamily="49" charset="-122"/>
              </a:rPr>
              <a:t>  </a:t>
            </a:r>
            <a:r>
              <a:rPr lang="zh-CN" altLang="en-US" sz="2200" dirty="0">
                <a:solidFill>
                  <a:schemeClr val="accent2"/>
                </a:solidFill>
                <a:effectLst/>
                <a:latin typeface="楷体_GB2312" pitchFamily="49" charset="-122"/>
                <a:ea typeface="楷体_GB2312" pitchFamily="49" charset="-122"/>
              </a:rPr>
              <a:t>换入变量和换出变量的确定</a:t>
            </a:r>
            <a:r>
              <a:rPr lang="zh-CN" altLang="en-US" sz="2200" dirty="0">
                <a:solidFill>
                  <a:schemeClr val="accent2"/>
                </a:solidFill>
                <a:effectLst/>
              </a:rPr>
              <a:t>：</a:t>
            </a:r>
            <a:endParaRPr lang="zh-CN" altLang="en-US" sz="2200" dirty="0">
              <a:solidFill>
                <a:schemeClr val="accent2"/>
              </a:solidFill>
              <a:effectLst/>
            </a:endParaRPr>
          </a:p>
        </p:txBody>
      </p:sp>
      <p:sp>
        <p:nvSpPr>
          <p:cNvPr id="10" name="Rectangle 3"/>
          <p:cNvSpPr>
            <a:spLocks noChangeArrowheads="1"/>
          </p:cNvSpPr>
          <p:nvPr/>
        </p:nvSpPr>
        <p:spPr bwMode="auto">
          <a:xfrm>
            <a:off x="107504" y="1431132"/>
            <a:ext cx="756126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 typeface="Wingdings" panose="05000000000000000000" pitchFamily="2" charset="2"/>
              <a:buChar char="l"/>
            </a:pPr>
            <a:r>
              <a:rPr lang="zh-CN" altLang="en-US" sz="2200" dirty="0">
                <a:effectLst/>
                <a:latin typeface="楷体_GB2312" pitchFamily="49" charset="-122"/>
                <a:ea typeface="楷体_GB2312" pitchFamily="49" charset="-122"/>
              </a:rPr>
              <a:t>换入变量的确定</a:t>
            </a:r>
            <a:r>
              <a:rPr lang="en-US" altLang="zh-CN" sz="2200" dirty="0">
                <a:effectLst/>
                <a:ea typeface="楷体_GB2312" pitchFamily="49" charset="-122"/>
                <a:cs typeface="Arial" panose="020B0604020202020204" pitchFamily="34" charset="0"/>
              </a:rPr>
              <a:t>—</a:t>
            </a:r>
            <a:r>
              <a:rPr lang="en-US" altLang="zh-CN" sz="2200" dirty="0">
                <a:effectLst/>
                <a:latin typeface="楷体_GB2312" pitchFamily="49" charset="-122"/>
                <a:ea typeface="楷体_GB2312" pitchFamily="49" charset="-122"/>
                <a:cs typeface="Arial" panose="020B0604020202020204" pitchFamily="34" charset="0"/>
              </a:rPr>
              <a:t> </a:t>
            </a:r>
            <a:r>
              <a:rPr lang="zh-CN" altLang="en-US" sz="2200" dirty="0">
                <a:solidFill>
                  <a:srgbClr val="FF3300"/>
                </a:solidFill>
                <a:effectLst/>
                <a:latin typeface="楷体_GB2312" pitchFamily="49" charset="-122"/>
                <a:ea typeface="楷体_GB2312" pitchFamily="49" charset="-122"/>
              </a:rPr>
              <a:t>最大减小原则 </a:t>
            </a:r>
            <a:endParaRPr lang="zh-CN" altLang="en-US" sz="2200" dirty="0">
              <a:solidFill>
                <a:srgbClr val="FF3300"/>
              </a:solidFill>
              <a:effectLst/>
              <a:latin typeface="楷体_GB2312" pitchFamily="49" charset="-122"/>
              <a:ea typeface="楷体_GB2312" pitchFamily="49" charset="-122"/>
            </a:endParaRPr>
          </a:p>
        </p:txBody>
      </p:sp>
      <p:sp>
        <p:nvSpPr>
          <p:cNvPr id="11" name="Rectangle 2"/>
          <p:cNvSpPr>
            <a:spLocks noChangeArrowheads="1"/>
          </p:cNvSpPr>
          <p:nvPr/>
        </p:nvSpPr>
        <p:spPr bwMode="auto">
          <a:xfrm>
            <a:off x="684213" y="2376314"/>
            <a:ext cx="7993062" cy="1276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200" dirty="0">
                <a:effectLst/>
                <a:latin typeface="楷体_GB2312" pitchFamily="49" charset="-122"/>
                <a:ea typeface="楷体_GB2312" pitchFamily="49" charset="-122"/>
              </a:rPr>
              <a:t>若其中有两个以上的检验数为负，那么为了使目标函数值下降得快些，通常要用</a:t>
            </a:r>
            <a:r>
              <a:rPr lang="zh-CN" altLang="en-US" sz="2200" dirty="0">
                <a:effectLst/>
                <a:ea typeface="楷体_GB2312" pitchFamily="49" charset="-122"/>
              </a:rPr>
              <a:t>“</a:t>
            </a:r>
            <a:r>
              <a:rPr lang="zh-CN" altLang="en-US" sz="2200" dirty="0">
                <a:effectLst/>
                <a:latin typeface="楷体_GB2312" pitchFamily="49" charset="-122"/>
                <a:ea typeface="楷体_GB2312" pitchFamily="49" charset="-122"/>
              </a:rPr>
              <a:t>最大减小原则</a:t>
            </a:r>
            <a:r>
              <a:rPr lang="zh-CN" altLang="en-US" sz="2200" dirty="0">
                <a:effectLst/>
                <a:ea typeface="楷体_GB2312" pitchFamily="49" charset="-122"/>
              </a:rPr>
              <a:t>”</a:t>
            </a:r>
            <a:r>
              <a:rPr lang="zh-CN" altLang="en-US" sz="2200" dirty="0">
                <a:effectLst/>
                <a:latin typeface="楷体_GB2312" pitchFamily="49" charset="-122"/>
                <a:ea typeface="楷体_GB2312" pitchFamily="49" charset="-122"/>
              </a:rPr>
              <a:t>，即</a:t>
            </a:r>
            <a:r>
              <a:rPr lang="zh-CN" altLang="en-US" sz="2200" dirty="0">
                <a:solidFill>
                  <a:schemeClr val="accent2"/>
                </a:solidFill>
                <a:effectLst/>
                <a:latin typeface="楷体_GB2312" pitchFamily="49" charset="-122"/>
                <a:ea typeface="楷体_GB2312" pitchFamily="49" charset="-122"/>
              </a:rPr>
              <a:t>选取最小负检验数所对应的非基变量为换入变量</a:t>
            </a:r>
            <a:r>
              <a:rPr lang="zh-CN" altLang="en-US" sz="2200" dirty="0">
                <a:effectLst/>
                <a:latin typeface="楷体_GB2312" pitchFamily="49" charset="-122"/>
                <a:ea typeface="楷体_GB2312" pitchFamily="49" charset="-122"/>
              </a:rPr>
              <a:t>，即若</a:t>
            </a:r>
            <a:endParaRPr lang="zh-CN" altLang="en-US" sz="2200" dirty="0">
              <a:effectLst/>
              <a:latin typeface="楷体_GB2312" pitchFamily="49" charset="-122"/>
              <a:ea typeface="楷体_GB2312" pitchFamily="49" charset="-122"/>
            </a:endParaRPr>
          </a:p>
        </p:txBody>
      </p:sp>
      <p:sp>
        <p:nvSpPr>
          <p:cNvPr id="12" name="Rectangle 5"/>
          <p:cNvSpPr>
            <a:spLocks noChangeArrowheads="1"/>
          </p:cNvSpPr>
          <p:nvPr/>
        </p:nvSpPr>
        <p:spPr bwMode="auto">
          <a:xfrm>
            <a:off x="3516313" y="4959139"/>
            <a:ext cx="4392612" cy="463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200">
                <a:effectLst/>
                <a:latin typeface="楷体_GB2312" pitchFamily="49" charset="-122"/>
                <a:ea typeface="楷体_GB2312" pitchFamily="49" charset="-122"/>
              </a:rPr>
              <a:t>因此当</a:t>
            </a:r>
            <a:r>
              <a:rPr lang="en-US" altLang="zh-CN" sz="2200" i="1">
                <a:solidFill>
                  <a:srgbClr val="FF0000"/>
                </a:solidFill>
                <a:effectLst/>
                <a:ea typeface="楷体_GB2312" pitchFamily="49" charset="-122"/>
              </a:rPr>
              <a:t>x</a:t>
            </a:r>
            <a:r>
              <a:rPr lang="en-US" altLang="zh-CN" sz="2200" i="1" baseline="-25000">
                <a:solidFill>
                  <a:srgbClr val="FF0000"/>
                </a:solidFill>
                <a:effectLst/>
                <a:ea typeface="楷体_GB2312" pitchFamily="49" charset="-122"/>
              </a:rPr>
              <a:t>m</a:t>
            </a:r>
            <a:r>
              <a:rPr lang="en-US" altLang="zh-CN" sz="2200" baseline="-25000">
                <a:solidFill>
                  <a:srgbClr val="FF0000"/>
                </a:solidFill>
                <a:effectLst/>
                <a:ea typeface="楷体_GB2312" pitchFamily="49" charset="-122"/>
              </a:rPr>
              <a:t>+</a:t>
            </a:r>
            <a:r>
              <a:rPr lang="en-US" altLang="zh-CN" sz="2200" i="1" baseline="-25000">
                <a:solidFill>
                  <a:srgbClr val="FF0000"/>
                </a:solidFill>
                <a:effectLst/>
                <a:ea typeface="楷体_GB2312" pitchFamily="49" charset="-122"/>
              </a:rPr>
              <a:t>k</a:t>
            </a:r>
            <a:r>
              <a:rPr lang="zh-CN" altLang="en-US" sz="2200">
                <a:effectLst/>
                <a:latin typeface="楷体_GB2312" pitchFamily="49" charset="-122"/>
                <a:ea typeface="楷体_GB2312" pitchFamily="49" charset="-122"/>
              </a:rPr>
              <a:t>由零增至正值，</a:t>
            </a:r>
            <a:endParaRPr lang="zh-CN" altLang="en-US" sz="2200">
              <a:effectLst/>
              <a:latin typeface="楷体_GB2312" pitchFamily="49" charset="-122"/>
              <a:ea typeface="楷体_GB2312" pitchFamily="49" charset="-122"/>
            </a:endParaRPr>
          </a:p>
        </p:txBody>
      </p:sp>
      <p:sp>
        <p:nvSpPr>
          <p:cNvPr id="13" name="Text Box 3"/>
          <p:cNvSpPr txBox="1">
            <a:spLocks noChangeArrowheads="1"/>
          </p:cNvSpPr>
          <p:nvPr/>
        </p:nvSpPr>
        <p:spPr bwMode="auto">
          <a:xfrm>
            <a:off x="323850" y="1906588"/>
            <a:ext cx="208756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dirty="0">
                <a:effectLst/>
                <a:latin typeface="楷体_GB2312" pitchFamily="49" charset="-122"/>
                <a:ea typeface="楷体_GB2312" pitchFamily="49" charset="-122"/>
              </a:rPr>
              <a:t>假设检验向量</a:t>
            </a:r>
            <a:r>
              <a:rPr lang="zh-CN" altLang="en-US" sz="2200" dirty="0">
                <a:effectLst>
                  <a:outerShdw blurRad="38100" dist="38100" dir="2700000" algn="tl">
                    <a:srgbClr val="C0C0C0"/>
                  </a:outerShdw>
                </a:effectLst>
              </a:rPr>
              <a:t> </a:t>
            </a:r>
            <a:endParaRPr lang="zh-CN" altLang="en-US" sz="2200" dirty="0">
              <a:effectLst>
                <a:outerShdw blurRad="38100" dist="38100" dir="2700000" algn="tl">
                  <a:srgbClr val="C0C0C0"/>
                </a:outerShdw>
              </a:effectLst>
            </a:endParaRPr>
          </a:p>
        </p:txBody>
      </p:sp>
      <p:sp>
        <p:nvSpPr>
          <p:cNvPr id="14" name="Rectangle 8"/>
          <p:cNvSpPr>
            <a:spLocks noChangeArrowheads="1"/>
          </p:cNvSpPr>
          <p:nvPr/>
        </p:nvSpPr>
        <p:spPr bwMode="auto">
          <a:xfrm>
            <a:off x="250825" y="5539808"/>
            <a:ext cx="7993063" cy="464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200" dirty="0">
                <a:effectLst/>
                <a:latin typeface="楷体_GB2312" pitchFamily="49" charset="-122"/>
                <a:ea typeface="楷体_GB2312" pitchFamily="49" charset="-122"/>
              </a:rPr>
              <a:t>可使目标函数值最大限度的</a:t>
            </a:r>
            <a:r>
              <a:rPr lang="zh-CN" altLang="en-US" sz="2200" dirty="0">
                <a:solidFill>
                  <a:srgbClr val="FF0000"/>
                </a:solidFill>
                <a:effectLst/>
                <a:latin typeface="楷体_GB2312" pitchFamily="49" charset="-122"/>
                <a:ea typeface="楷体_GB2312" pitchFamily="49" charset="-122"/>
              </a:rPr>
              <a:t>减小</a:t>
            </a:r>
            <a:r>
              <a:rPr lang="zh-CN" altLang="en-US" sz="2200" dirty="0">
                <a:effectLst/>
                <a:latin typeface="楷体_GB2312" pitchFamily="49" charset="-122"/>
                <a:ea typeface="楷体_GB2312" pitchFamily="49" charset="-122"/>
              </a:rPr>
              <a:t>。</a:t>
            </a:r>
            <a:endParaRPr lang="zh-CN" altLang="en-US" sz="2200" dirty="0">
              <a:effectLst/>
              <a:latin typeface="楷体_GB2312" pitchFamily="49" charset="-122"/>
              <a:ea typeface="楷体_GB2312" pitchFamily="49" charset="-122"/>
            </a:endParaRPr>
          </a:p>
        </p:txBody>
      </p:sp>
      <p:graphicFrame>
        <p:nvGraphicFramePr>
          <p:cNvPr id="15" name="Object 10"/>
          <p:cNvGraphicFramePr>
            <a:graphicFrameLocks noChangeAspect="1"/>
          </p:cNvGraphicFramePr>
          <p:nvPr/>
        </p:nvGraphicFramePr>
        <p:xfrm>
          <a:off x="2098675" y="3789363"/>
          <a:ext cx="4732338" cy="576262"/>
        </p:xfrm>
        <a:graphic>
          <a:graphicData uri="http://schemas.openxmlformats.org/presentationml/2006/ole">
            <mc:AlternateContent xmlns:mc="http://schemas.openxmlformats.org/markup-compatibility/2006">
              <mc:Choice xmlns:v="urn:schemas-microsoft-com:vml" Requires="v">
                <p:oleObj spid="_x0000_s16385" name="公式" r:id="rId1" imgW="55473600" imgH="6705600" progId="Equation.3">
                  <p:embed/>
                </p:oleObj>
              </mc:Choice>
              <mc:Fallback>
                <p:oleObj name="公式" r:id="rId1" imgW="55473600" imgH="6705600" progId="Equation.3">
                  <p:embed/>
                  <p:pic>
                    <p:nvPicPr>
                      <p:cNvPr id="0" name="图片 16384"/>
                      <p:cNvPicPr>
                        <a:picLocks noChangeAspect="1"/>
                      </p:cNvPicPr>
                      <p:nvPr/>
                    </p:nvPicPr>
                    <p:blipFill>
                      <a:blip r:embed="rId2"/>
                      <a:stretch>
                        <a:fillRect/>
                      </a:stretch>
                    </p:blipFill>
                    <p:spPr>
                      <a:xfrm>
                        <a:off x="2098675" y="3789363"/>
                        <a:ext cx="4732338" cy="576262"/>
                      </a:xfrm>
                      <a:prstGeom prst="rect">
                        <a:avLst/>
                      </a:prstGeom>
                      <a:noFill/>
                      <a:ln w="9525">
                        <a:noFill/>
                      </a:ln>
                    </p:spPr>
                  </p:pic>
                </p:oleObj>
              </mc:Fallback>
            </mc:AlternateContent>
          </a:graphicData>
        </a:graphic>
      </p:graphicFrame>
      <p:graphicFrame>
        <p:nvGraphicFramePr>
          <p:cNvPr id="17" name="Object 12"/>
          <p:cNvGraphicFramePr>
            <a:graphicFrameLocks noChangeAspect="1"/>
          </p:cNvGraphicFramePr>
          <p:nvPr/>
        </p:nvGraphicFramePr>
        <p:xfrm>
          <a:off x="2411413" y="1860472"/>
          <a:ext cx="5040313" cy="465137"/>
        </p:xfrm>
        <a:graphic>
          <a:graphicData uri="http://schemas.openxmlformats.org/presentationml/2006/ole">
            <mc:AlternateContent xmlns:mc="http://schemas.openxmlformats.org/markup-compatibility/2006">
              <mc:Choice xmlns:v="urn:schemas-microsoft-com:vml" Requires="v">
                <p:oleObj spid="_x0000_s16386" name="公式" r:id="rId3" imgW="62788800" imgH="5791200" progId="Equation.3">
                  <p:embed/>
                </p:oleObj>
              </mc:Choice>
              <mc:Fallback>
                <p:oleObj name="公式" r:id="rId3" imgW="62788800" imgH="5791200" progId="Equation.3">
                  <p:embed/>
                  <p:pic>
                    <p:nvPicPr>
                      <p:cNvPr id="0" name="图片 16385"/>
                      <p:cNvPicPr>
                        <a:picLocks noChangeAspect="1"/>
                      </p:cNvPicPr>
                      <p:nvPr/>
                    </p:nvPicPr>
                    <p:blipFill>
                      <a:blip r:embed="rId4"/>
                      <a:stretch>
                        <a:fillRect/>
                      </a:stretch>
                    </p:blipFill>
                    <p:spPr>
                      <a:xfrm>
                        <a:off x="2411413" y="1860472"/>
                        <a:ext cx="5040313" cy="465137"/>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ox(in)">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9"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1000" fill="hold"/>
                                        <p:tgtEl>
                                          <p:spTgt spid="15"/>
                                        </p:tgtEl>
                                        <p:attrNameLst>
                                          <p:attrName>ppt_x</p:attrName>
                                        </p:attrNameLst>
                                      </p:cBhvr>
                                      <p:tavLst>
                                        <p:tav tm="0">
                                          <p:val>
                                            <p:strVal val="#ppt_x-.2"/>
                                          </p:val>
                                        </p:tav>
                                        <p:tav tm="100000">
                                          <p:val>
                                            <p:strVal val="#ppt_x"/>
                                          </p:val>
                                        </p:tav>
                                      </p:tavLst>
                                    </p:anim>
                                    <p:anim calcmode="lin" valueType="num">
                                      <p:cBhvr>
                                        <p:cTn id="28" dur="1000" fill="hold"/>
                                        <p:tgtEl>
                                          <p:spTgt spid="15"/>
                                        </p:tgtEl>
                                        <p:attrNameLst>
                                          <p:attrName>ppt_y</p:attrName>
                                        </p:attrNameLst>
                                      </p:cBhvr>
                                      <p:tavLst>
                                        <p:tav tm="0">
                                          <p:val>
                                            <p:strVal val="#ppt_y"/>
                                          </p:val>
                                        </p:tav>
                                        <p:tav tm="100000">
                                          <p:val>
                                            <p:strVal val="#ppt_y"/>
                                          </p:val>
                                        </p:tav>
                                      </p:tavLst>
                                    </p:anim>
                                    <p:animEffect transition="in" filter="wipe(right)" prLst="gradientSize: 0.1">
                                      <p:cBhvr>
                                        <p:cTn id="29" dur="10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left)">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p:bldP spid="12" grpId="0"/>
      <p:bldP spid="1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7" name="Rectangle 16"/>
          <p:cNvSpPr>
            <a:spLocks noChangeArrowheads="1"/>
          </p:cNvSpPr>
          <p:nvPr/>
        </p:nvSpPr>
        <p:spPr bwMode="auto">
          <a:xfrm>
            <a:off x="306387" y="1330121"/>
            <a:ext cx="7740650" cy="514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tabLst>
                <a:tab pos="68580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68580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68580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68580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6858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140000"/>
              </a:lnSpc>
              <a:buFont typeface="Wingdings" panose="05000000000000000000" pitchFamily="2" charset="2"/>
              <a:buNone/>
            </a:pPr>
            <a:r>
              <a:rPr lang="zh-CN" altLang="en-US" sz="2200" dirty="0">
                <a:effectLst/>
                <a:ea typeface="楷体_GB2312" pitchFamily="49" charset="-122"/>
                <a:cs typeface="Arial" panose="020B0604020202020204" pitchFamily="34" charset="0"/>
              </a:rPr>
              <a:t>如果确定</a:t>
            </a:r>
            <a:r>
              <a:rPr lang="en-US" altLang="zh-CN" sz="2200" i="1" dirty="0" err="1">
                <a:effectLst/>
                <a:ea typeface="楷体_GB2312" pitchFamily="49" charset="-122"/>
                <a:cs typeface="Arial" panose="020B0604020202020204" pitchFamily="34" charset="0"/>
              </a:rPr>
              <a:t>X</a:t>
            </a:r>
            <a:r>
              <a:rPr lang="en-US" altLang="zh-CN" sz="2200" i="1" baseline="-25000" dirty="0" err="1">
                <a:effectLst/>
                <a:ea typeface="楷体_GB2312" pitchFamily="49" charset="-122"/>
                <a:cs typeface="Arial" panose="020B0604020202020204" pitchFamily="34" charset="0"/>
              </a:rPr>
              <a:t>m</a:t>
            </a:r>
            <a:r>
              <a:rPr lang="en-US" altLang="zh-CN" sz="2200" baseline="-25000" dirty="0" err="1">
                <a:effectLst/>
                <a:ea typeface="楷体_GB2312" pitchFamily="49" charset="-122"/>
                <a:cs typeface="Arial" panose="020B0604020202020204" pitchFamily="34" charset="0"/>
              </a:rPr>
              <a:t>+</a:t>
            </a:r>
            <a:r>
              <a:rPr lang="en-US" altLang="zh-CN" sz="2200" i="1" baseline="-25000" dirty="0" err="1">
                <a:effectLst/>
                <a:ea typeface="楷体_GB2312" pitchFamily="49" charset="-122"/>
                <a:cs typeface="Arial" panose="020B0604020202020204" pitchFamily="34" charset="0"/>
              </a:rPr>
              <a:t>k</a:t>
            </a:r>
            <a:r>
              <a:rPr lang="en-US" altLang="zh-CN" sz="2200" dirty="0">
                <a:effectLst/>
                <a:ea typeface="楷体_GB2312" pitchFamily="49" charset="-122"/>
                <a:cs typeface="Arial" panose="020B0604020202020204" pitchFamily="34" charset="0"/>
              </a:rPr>
              <a:t> </a:t>
            </a:r>
            <a:r>
              <a:rPr lang="zh-CN" altLang="en-US" sz="2200" dirty="0">
                <a:effectLst/>
                <a:ea typeface="楷体_GB2312" pitchFamily="49" charset="-122"/>
                <a:cs typeface="Arial" panose="020B0604020202020204" pitchFamily="34" charset="0"/>
              </a:rPr>
              <a:t>为换入变量，方程</a:t>
            </a:r>
            <a:endParaRPr lang="zh-CN" altLang="en-US" sz="2200" dirty="0">
              <a:effectLst/>
              <a:ea typeface="楷体_GB2312" pitchFamily="49" charset="-122"/>
              <a:cs typeface="Arial" panose="020B0604020202020204" pitchFamily="34" charset="0"/>
            </a:endParaRPr>
          </a:p>
        </p:txBody>
      </p:sp>
      <p:sp>
        <p:nvSpPr>
          <p:cNvPr id="9" name="Text Box 35"/>
          <p:cNvSpPr txBox="1">
            <a:spLocks noChangeArrowheads="1"/>
          </p:cNvSpPr>
          <p:nvPr/>
        </p:nvSpPr>
        <p:spPr bwMode="auto">
          <a:xfrm>
            <a:off x="467544" y="5805264"/>
            <a:ext cx="501611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200" dirty="0">
                <a:effectLst/>
                <a:ea typeface="楷体_GB2312" pitchFamily="49" charset="-122"/>
              </a:rPr>
              <a:t>则选取对应的基变量 </a:t>
            </a:r>
            <a:r>
              <a:rPr lang="en-US" altLang="zh-CN" sz="2200" dirty="0">
                <a:effectLst/>
                <a:ea typeface="楷体_GB2312" pitchFamily="49" charset="-122"/>
              </a:rPr>
              <a:t>X</a:t>
            </a:r>
            <a:r>
              <a:rPr lang="en-US" altLang="zh-CN" sz="2200" i="1" baseline="-25000" dirty="0">
                <a:effectLst/>
                <a:ea typeface="楷体_GB2312" pitchFamily="49" charset="-122"/>
              </a:rPr>
              <a:t>l</a:t>
            </a:r>
            <a:r>
              <a:rPr lang="zh-CN" altLang="en-US" sz="2200" dirty="0">
                <a:effectLst/>
                <a:ea typeface="楷体_GB2312" pitchFamily="49" charset="-122"/>
              </a:rPr>
              <a:t>　为换出变量。 </a:t>
            </a:r>
            <a:endParaRPr lang="zh-CN" altLang="en-US" sz="2200" dirty="0">
              <a:effectLst/>
              <a:ea typeface="楷体_GB2312" pitchFamily="49" charset="-122"/>
            </a:endParaRPr>
          </a:p>
        </p:txBody>
      </p:sp>
      <p:sp>
        <p:nvSpPr>
          <p:cNvPr id="10" name="Rectangle 3"/>
          <p:cNvSpPr>
            <a:spLocks noChangeArrowheads="1"/>
          </p:cNvSpPr>
          <p:nvPr/>
        </p:nvSpPr>
        <p:spPr bwMode="auto">
          <a:xfrm>
            <a:off x="142843" y="769692"/>
            <a:ext cx="7740650" cy="514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tabLst>
                <a:tab pos="68580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68580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68580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68580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6858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140000"/>
              </a:lnSpc>
              <a:buFont typeface="Wingdings" panose="05000000000000000000" pitchFamily="2" charset="2"/>
              <a:buChar char="l"/>
            </a:pPr>
            <a:r>
              <a:rPr lang="en-US" altLang="zh-CN" sz="2200" dirty="0">
                <a:effectLst/>
                <a:ea typeface="楷体_GB2312" pitchFamily="49" charset="-122"/>
                <a:cs typeface="Arial" panose="020B0604020202020204" pitchFamily="34" charset="0"/>
              </a:rPr>
              <a:t>  </a:t>
            </a:r>
            <a:r>
              <a:rPr lang="zh-CN" altLang="en-US" sz="2200" dirty="0">
                <a:effectLst/>
                <a:ea typeface="楷体_GB2312" pitchFamily="49" charset="-122"/>
                <a:cs typeface="Arial" panose="020B0604020202020204" pitchFamily="34" charset="0"/>
              </a:rPr>
              <a:t>换出变量的确定</a:t>
            </a:r>
            <a:r>
              <a:rPr lang="en-US" altLang="zh-CN" sz="2200" dirty="0">
                <a:effectLst/>
                <a:ea typeface="楷体_GB2312" pitchFamily="49" charset="-122"/>
                <a:cs typeface="Arial" panose="020B0604020202020204" pitchFamily="34" charset="0"/>
              </a:rPr>
              <a:t>— </a:t>
            </a:r>
            <a:r>
              <a:rPr lang="zh-CN" altLang="en-US" sz="2200" dirty="0">
                <a:solidFill>
                  <a:srgbClr val="FF3300"/>
                </a:solidFill>
                <a:effectLst/>
                <a:ea typeface="楷体_GB2312" pitchFamily="49" charset="-122"/>
                <a:cs typeface="Arial" panose="020B0604020202020204" pitchFamily="34" charset="0"/>
              </a:rPr>
              <a:t>最小比值原则</a:t>
            </a:r>
            <a:endParaRPr lang="zh-CN" altLang="en-US" sz="2200" dirty="0">
              <a:effectLst/>
              <a:ea typeface="楷体_GB2312" pitchFamily="49" charset="-122"/>
              <a:cs typeface="Arial" panose="020B0604020202020204" pitchFamily="34" charset="0"/>
            </a:endParaRPr>
          </a:p>
        </p:txBody>
      </p:sp>
      <p:graphicFrame>
        <p:nvGraphicFramePr>
          <p:cNvPr id="11" name="Object 4"/>
          <p:cNvGraphicFramePr>
            <a:graphicFrameLocks noChangeAspect="1"/>
          </p:cNvGraphicFramePr>
          <p:nvPr/>
        </p:nvGraphicFramePr>
        <p:xfrm>
          <a:off x="607050" y="4840288"/>
          <a:ext cx="7777162" cy="936625"/>
        </p:xfrm>
        <a:graphic>
          <a:graphicData uri="http://schemas.openxmlformats.org/presentationml/2006/ole">
            <mc:AlternateContent xmlns:mc="http://schemas.openxmlformats.org/markup-compatibility/2006">
              <mc:Choice xmlns:v="urn:schemas-microsoft-com:vml" Requires="v">
                <p:oleObj spid="_x0000_s17409" name="公式" r:id="rId1" imgW="205130400" imgH="24384000" progId="Equation.3">
                  <p:embed/>
                </p:oleObj>
              </mc:Choice>
              <mc:Fallback>
                <p:oleObj name="公式" r:id="rId1" imgW="205130400" imgH="24384000" progId="Equation.3">
                  <p:embed/>
                  <p:pic>
                    <p:nvPicPr>
                      <p:cNvPr id="0" name="图片 17408"/>
                      <p:cNvPicPr>
                        <a:picLocks noChangeAspect="1"/>
                      </p:cNvPicPr>
                      <p:nvPr/>
                    </p:nvPicPr>
                    <p:blipFill>
                      <a:blip r:embed="rId2"/>
                      <a:stretch>
                        <a:fillRect/>
                      </a:stretch>
                    </p:blipFill>
                    <p:spPr>
                      <a:xfrm>
                        <a:off x="607050" y="4840288"/>
                        <a:ext cx="7777162" cy="936625"/>
                      </a:xfrm>
                      <a:prstGeom prst="rect">
                        <a:avLst/>
                      </a:prstGeom>
                      <a:noFill/>
                      <a:ln w="9525">
                        <a:noFill/>
                      </a:ln>
                    </p:spPr>
                  </p:pic>
                </p:oleObj>
              </mc:Fallback>
            </mc:AlternateContent>
          </a:graphicData>
        </a:graphic>
      </p:graphicFrame>
      <p:graphicFrame>
        <p:nvGraphicFramePr>
          <p:cNvPr id="12" name="Object 6"/>
          <p:cNvGraphicFramePr>
            <a:graphicFrameLocks noChangeAspect="1"/>
          </p:cNvGraphicFramePr>
          <p:nvPr/>
        </p:nvGraphicFramePr>
        <p:xfrm>
          <a:off x="684213" y="1928019"/>
          <a:ext cx="6453188" cy="536575"/>
        </p:xfrm>
        <a:graphic>
          <a:graphicData uri="http://schemas.openxmlformats.org/presentationml/2006/ole">
            <mc:AlternateContent xmlns:mc="http://schemas.openxmlformats.org/markup-compatibility/2006">
              <mc:Choice xmlns:v="urn:schemas-microsoft-com:vml" Requires="v">
                <p:oleObj spid="_x0000_s17410" name="公式" r:id="rId3" imgW="76809600" imgH="5791200" progId="Equation.3">
                  <p:embed/>
                </p:oleObj>
              </mc:Choice>
              <mc:Fallback>
                <p:oleObj name="公式" r:id="rId3" imgW="76809600" imgH="5791200" progId="Equation.3">
                  <p:embed/>
                  <p:pic>
                    <p:nvPicPr>
                      <p:cNvPr id="0" name="图片 17409"/>
                      <p:cNvPicPr>
                        <a:picLocks noChangeAspect="1"/>
                      </p:cNvPicPr>
                      <p:nvPr/>
                    </p:nvPicPr>
                    <p:blipFill>
                      <a:blip r:embed="rId4"/>
                      <a:stretch>
                        <a:fillRect/>
                      </a:stretch>
                    </p:blipFill>
                    <p:spPr>
                      <a:xfrm>
                        <a:off x="684213" y="1928019"/>
                        <a:ext cx="6453188" cy="536575"/>
                      </a:xfrm>
                      <a:prstGeom prst="rect">
                        <a:avLst/>
                      </a:prstGeom>
                      <a:noFill/>
                      <a:ln w="9525">
                        <a:noFill/>
                      </a:ln>
                    </p:spPr>
                  </p:pic>
                </p:oleObj>
              </mc:Fallback>
            </mc:AlternateContent>
          </a:graphicData>
        </a:graphic>
      </p:graphicFrame>
      <p:sp>
        <p:nvSpPr>
          <p:cNvPr id="13" name="Text Box 7"/>
          <p:cNvSpPr txBox="1">
            <a:spLocks noChangeArrowheads="1"/>
          </p:cNvSpPr>
          <p:nvPr/>
        </p:nvSpPr>
        <p:spPr bwMode="auto">
          <a:xfrm>
            <a:off x="3426460" y="4991735"/>
            <a:ext cx="1783080" cy="671830"/>
          </a:xfrm>
          <a:prstGeom prst="rect">
            <a:avLst/>
          </a:prstGeom>
          <a:noFill/>
          <a:ln w="38100" algn="ctr">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endParaRPr lang="x-none" altLang="x-none" sz="2200">
              <a:effectLst>
                <a:outerShdw blurRad="38100" dist="38100" dir="2700000" algn="tl">
                  <a:srgbClr val="C0C0C0"/>
                </a:outerShdw>
              </a:effectLst>
            </a:endParaRPr>
          </a:p>
        </p:txBody>
      </p:sp>
      <p:sp>
        <p:nvSpPr>
          <p:cNvPr id="14" name="Rectangle 2"/>
          <p:cNvSpPr>
            <a:spLocks noChangeArrowheads="1"/>
          </p:cNvSpPr>
          <p:nvPr/>
        </p:nvSpPr>
        <p:spPr bwMode="auto">
          <a:xfrm>
            <a:off x="342106" y="2524200"/>
            <a:ext cx="8459787" cy="21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tabLst>
                <a:tab pos="68580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68580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68580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68580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6858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685800" algn="l"/>
              </a:tabLs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60000"/>
              </a:lnSpc>
            </a:pPr>
            <a:r>
              <a:rPr lang="zh-CN" altLang="en-US" sz="2200" dirty="0">
                <a:effectLst/>
                <a:ea typeface="楷体_GB2312" pitchFamily="49" charset="-122"/>
                <a:cs typeface="Arial" panose="020B0604020202020204" pitchFamily="34" charset="0"/>
              </a:rPr>
              <a:t>其中   </a:t>
            </a:r>
            <a:r>
              <a:rPr lang="en-US" altLang="zh-CN" sz="2200" i="1" dirty="0" err="1">
                <a:effectLst/>
                <a:ea typeface="楷体_GB2312" pitchFamily="49" charset="-122"/>
                <a:cs typeface="Arial" panose="020B0604020202020204" pitchFamily="34" charset="0"/>
              </a:rPr>
              <a:t>P</a:t>
            </a:r>
            <a:r>
              <a:rPr lang="en-US" altLang="zh-CN" sz="2200" i="1" baseline="-25000" dirty="0" err="1">
                <a:effectLst/>
                <a:ea typeface="楷体_GB2312" pitchFamily="49" charset="-122"/>
                <a:cs typeface="Arial" panose="020B0604020202020204" pitchFamily="34" charset="0"/>
              </a:rPr>
              <a:t>m</a:t>
            </a:r>
            <a:r>
              <a:rPr lang="en-US" altLang="zh-CN" sz="2200" baseline="-25000" dirty="0" err="1">
                <a:effectLst/>
                <a:ea typeface="楷体_GB2312" pitchFamily="49" charset="-122"/>
                <a:cs typeface="Arial" panose="020B0604020202020204" pitchFamily="34" charset="0"/>
              </a:rPr>
              <a:t>+</a:t>
            </a:r>
            <a:r>
              <a:rPr lang="en-US" altLang="zh-CN" sz="2200" i="1" baseline="-25000" dirty="0" err="1">
                <a:effectLst/>
                <a:ea typeface="楷体_GB2312" pitchFamily="49" charset="-122"/>
                <a:cs typeface="Arial" panose="020B0604020202020204" pitchFamily="34" charset="0"/>
              </a:rPr>
              <a:t>k</a:t>
            </a:r>
            <a:r>
              <a:rPr lang="zh-CN" altLang="en-US" sz="2200" dirty="0">
                <a:effectLst/>
                <a:ea typeface="楷体_GB2312" pitchFamily="49" charset="-122"/>
                <a:cs typeface="Arial" panose="020B0604020202020204" pitchFamily="34" charset="0"/>
              </a:rPr>
              <a:t>　为Ａ中与　 </a:t>
            </a:r>
            <a:r>
              <a:rPr lang="en-US" altLang="zh-CN" sz="2200" i="1" dirty="0" err="1">
                <a:effectLst/>
                <a:ea typeface="楷体_GB2312" pitchFamily="49" charset="-122"/>
                <a:cs typeface="Arial" panose="020B0604020202020204" pitchFamily="34" charset="0"/>
              </a:rPr>
              <a:t>X</a:t>
            </a:r>
            <a:r>
              <a:rPr lang="en-US" altLang="zh-CN" sz="2200" i="1" baseline="-25000" dirty="0" err="1">
                <a:effectLst/>
                <a:ea typeface="楷体_GB2312" pitchFamily="49" charset="-122"/>
                <a:cs typeface="Arial" panose="020B0604020202020204" pitchFamily="34" charset="0"/>
              </a:rPr>
              <a:t>m</a:t>
            </a:r>
            <a:r>
              <a:rPr lang="en-US" altLang="zh-CN" sz="2200" baseline="-25000" dirty="0" err="1">
                <a:effectLst/>
                <a:ea typeface="楷体_GB2312" pitchFamily="49" charset="-122"/>
                <a:cs typeface="Arial" panose="020B0604020202020204" pitchFamily="34" charset="0"/>
              </a:rPr>
              <a:t>+</a:t>
            </a:r>
            <a:r>
              <a:rPr lang="en-US" altLang="zh-CN" sz="2200" i="1" baseline="-25000" dirty="0" err="1">
                <a:effectLst/>
                <a:ea typeface="楷体_GB2312" pitchFamily="49" charset="-122"/>
                <a:cs typeface="Arial" panose="020B0604020202020204" pitchFamily="34" charset="0"/>
              </a:rPr>
              <a:t>k</a:t>
            </a:r>
            <a:r>
              <a:rPr lang="en-US" altLang="zh-CN" sz="2200" dirty="0">
                <a:effectLst/>
                <a:ea typeface="楷体_GB2312" pitchFamily="49" charset="-122"/>
                <a:cs typeface="Arial" panose="020B0604020202020204" pitchFamily="34" charset="0"/>
              </a:rPr>
              <a:t>   </a:t>
            </a:r>
            <a:r>
              <a:rPr lang="zh-CN" altLang="en-US" sz="2200" dirty="0">
                <a:effectLst/>
                <a:ea typeface="楷体_GB2312" pitchFamily="49" charset="-122"/>
                <a:cs typeface="Arial" panose="020B0604020202020204" pitchFamily="34" charset="0"/>
              </a:rPr>
              <a:t>对应的系数列向量。</a:t>
            </a:r>
            <a:endParaRPr lang="zh-CN" altLang="en-US" sz="2200" dirty="0">
              <a:effectLst/>
              <a:ea typeface="楷体_GB2312" pitchFamily="49" charset="-122"/>
              <a:cs typeface="Arial" panose="020B0604020202020204" pitchFamily="34" charset="0"/>
            </a:endParaRPr>
          </a:p>
          <a:p>
            <a:pPr eaLnBrk="0" hangingPunct="0">
              <a:lnSpc>
                <a:spcPct val="160000"/>
              </a:lnSpc>
            </a:pPr>
            <a:r>
              <a:rPr lang="zh-CN" altLang="en-US" sz="2200" dirty="0">
                <a:effectLst/>
                <a:ea typeface="楷体_GB2312" pitchFamily="49" charset="-122"/>
                <a:cs typeface="Arial" panose="020B0604020202020204" pitchFamily="34" charset="0"/>
              </a:rPr>
              <a:t>现在需在</a:t>
            </a:r>
            <a:r>
              <a:rPr lang="en-US" altLang="zh-CN" sz="2200" i="1" dirty="0">
                <a:effectLst/>
                <a:ea typeface="楷体_GB2312" pitchFamily="49" charset="-122"/>
                <a:cs typeface="Arial" panose="020B0604020202020204" pitchFamily="34" charset="0"/>
              </a:rPr>
              <a:t>X</a:t>
            </a:r>
            <a:r>
              <a:rPr lang="en-US" altLang="zh-CN" sz="2200" baseline="-25000" dirty="0">
                <a:effectLst/>
                <a:ea typeface="楷体_GB2312" pitchFamily="49" charset="-122"/>
                <a:cs typeface="Arial" panose="020B0604020202020204" pitchFamily="34" charset="0"/>
              </a:rPr>
              <a:t>B</a:t>
            </a:r>
            <a:r>
              <a:rPr lang="en-US" altLang="zh-CN" sz="2200" dirty="0">
                <a:effectLst/>
                <a:ea typeface="楷体_GB2312" pitchFamily="49" charset="-122"/>
                <a:cs typeface="Arial" panose="020B0604020202020204" pitchFamily="34" charset="0"/>
              </a:rPr>
              <a:t>=(</a:t>
            </a:r>
            <a:r>
              <a:rPr lang="en-US" altLang="zh-CN" sz="2200" i="1" dirty="0">
                <a:effectLst/>
                <a:ea typeface="楷体_GB2312" pitchFamily="49" charset="-122"/>
                <a:cs typeface="Arial" panose="020B0604020202020204" pitchFamily="34" charset="0"/>
              </a:rPr>
              <a:t>x</a:t>
            </a:r>
            <a:r>
              <a:rPr lang="en-US" altLang="zh-CN" sz="2200" baseline="-25000" dirty="0">
                <a:effectLst/>
                <a:ea typeface="楷体_GB2312" pitchFamily="49" charset="-122"/>
                <a:cs typeface="Arial" panose="020B0604020202020204" pitchFamily="34" charset="0"/>
              </a:rPr>
              <a:t>1</a:t>
            </a:r>
            <a:r>
              <a:rPr lang="en-US" altLang="zh-CN" sz="2200" dirty="0">
                <a:effectLst/>
                <a:ea typeface="楷体_GB2312" pitchFamily="49" charset="-122"/>
                <a:cs typeface="Arial" panose="020B0604020202020204" pitchFamily="34" charset="0"/>
              </a:rPr>
              <a:t>,</a:t>
            </a:r>
            <a:r>
              <a:rPr lang="en-US" altLang="zh-CN" sz="2200" i="1" dirty="0">
                <a:effectLst/>
                <a:ea typeface="楷体_GB2312" pitchFamily="49" charset="-122"/>
                <a:cs typeface="Arial" panose="020B0604020202020204" pitchFamily="34" charset="0"/>
              </a:rPr>
              <a:t>x</a:t>
            </a:r>
            <a:r>
              <a:rPr lang="en-US" altLang="zh-CN" sz="2200" baseline="-25000" dirty="0">
                <a:effectLst/>
                <a:ea typeface="楷体_GB2312" pitchFamily="49" charset="-122"/>
                <a:cs typeface="Arial" panose="020B0604020202020204" pitchFamily="34" charset="0"/>
              </a:rPr>
              <a:t>2</a:t>
            </a:r>
            <a:r>
              <a:rPr lang="en-US" altLang="zh-CN" sz="2200" dirty="0">
                <a:effectLst/>
                <a:ea typeface="楷体_GB2312" pitchFamily="49" charset="-122"/>
                <a:cs typeface="Arial" panose="020B0604020202020204" pitchFamily="34" charset="0"/>
              </a:rPr>
              <a:t>,…,</a:t>
            </a:r>
            <a:r>
              <a:rPr lang="en-US" altLang="zh-CN" sz="2200" i="1" dirty="0" err="1">
                <a:effectLst/>
                <a:ea typeface="楷体_GB2312" pitchFamily="49" charset="-122"/>
                <a:cs typeface="Arial" panose="020B0604020202020204" pitchFamily="34" charset="0"/>
              </a:rPr>
              <a:t>x</a:t>
            </a:r>
            <a:r>
              <a:rPr lang="en-US" altLang="zh-CN" sz="2200" i="1" baseline="-25000" dirty="0" err="1">
                <a:effectLst/>
                <a:ea typeface="楷体_GB2312" pitchFamily="49" charset="-122"/>
                <a:cs typeface="Arial" panose="020B0604020202020204" pitchFamily="34" charset="0"/>
              </a:rPr>
              <a:t>m</a:t>
            </a:r>
            <a:r>
              <a:rPr lang="en-US" altLang="zh-CN" sz="2200" dirty="0">
                <a:effectLst/>
                <a:ea typeface="楷体_GB2312" pitchFamily="49" charset="-122"/>
                <a:cs typeface="Arial" panose="020B0604020202020204" pitchFamily="34" charset="0"/>
              </a:rPr>
              <a:t>)</a:t>
            </a:r>
            <a:r>
              <a:rPr lang="en-US" altLang="zh-CN" sz="2200" i="1" baseline="30000" dirty="0">
                <a:effectLst/>
                <a:ea typeface="楷体_GB2312" pitchFamily="49" charset="-122"/>
                <a:cs typeface="Arial" panose="020B0604020202020204" pitchFamily="34" charset="0"/>
              </a:rPr>
              <a:t>T</a:t>
            </a:r>
            <a:r>
              <a:rPr lang="en-US" altLang="zh-CN" sz="2200" dirty="0">
                <a:effectLst/>
                <a:ea typeface="楷体_GB2312" pitchFamily="49" charset="-122"/>
                <a:cs typeface="Arial" panose="020B0604020202020204" pitchFamily="34" charset="0"/>
              </a:rPr>
              <a:t> </a:t>
            </a:r>
            <a:r>
              <a:rPr lang="zh-CN" altLang="en-US" sz="2200" dirty="0">
                <a:effectLst/>
                <a:ea typeface="楷体_GB2312" pitchFamily="49" charset="-122"/>
                <a:cs typeface="Arial" panose="020B0604020202020204" pitchFamily="34" charset="0"/>
              </a:rPr>
              <a:t>中确定一个基变量为换出变量。 当 </a:t>
            </a:r>
            <a:r>
              <a:rPr lang="en-US" altLang="zh-CN" sz="2200" i="1" dirty="0" err="1">
                <a:effectLst/>
                <a:ea typeface="楷体_GB2312" pitchFamily="49" charset="-122"/>
                <a:cs typeface="Arial" panose="020B0604020202020204" pitchFamily="34" charset="0"/>
              </a:rPr>
              <a:t>x</a:t>
            </a:r>
            <a:r>
              <a:rPr lang="en-US" altLang="zh-CN" sz="2200" i="1" baseline="-25000" dirty="0" err="1">
                <a:effectLst/>
                <a:ea typeface="楷体_GB2312" pitchFamily="49" charset="-122"/>
                <a:cs typeface="Arial" panose="020B0604020202020204" pitchFamily="34" charset="0"/>
              </a:rPr>
              <a:t>m</a:t>
            </a:r>
            <a:r>
              <a:rPr lang="en-US" altLang="zh-CN" sz="2200" baseline="-25000" dirty="0" err="1">
                <a:effectLst/>
                <a:ea typeface="楷体_GB2312" pitchFamily="49" charset="-122"/>
                <a:cs typeface="Arial" panose="020B0604020202020204" pitchFamily="34" charset="0"/>
              </a:rPr>
              <a:t>+</a:t>
            </a:r>
            <a:r>
              <a:rPr lang="en-US" altLang="zh-CN" sz="2200" i="1" baseline="-25000" dirty="0" err="1">
                <a:effectLst/>
                <a:ea typeface="楷体_GB2312" pitchFamily="49" charset="-122"/>
                <a:cs typeface="Arial" panose="020B0604020202020204" pitchFamily="34" charset="0"/>
              </a:rPr>
              <a:t>k</a:t>
            </a:r>
            <a:r>
              <a:rPr lang="zh-CN" altLang="en-US" sz="2200" dirty="0">
                <a:effectLst/>
                <a:ea typeface="楷体_GB2312" pitchFamily="49" charset="-122"/>
                <a:cs typeface="Arial" panose="020B0604020202020204" pitchFamily="34" charset="0"/>
              </a:rPr>
              <a:t>由零慢慢增加到某个值时，</a:t>
            </a:r>
            <a:r>
              <a:rPr lang="en-US" altLang="zh-CN" sz="2200" i="1" dirty="0">
                <a:effectLst/>
                <a:ea typeface="楷体_GB2312" pitchFamily="49" charset="-122"/>
                <a:cs typeface="Arial" panose="020B0604020202020204" pitchFamily="34" charset="0"/>
              </a:rPr>
              <a:t>X</a:t>
            </a:r>
            <a:r>
              <a:rPr lang="en-US" altLang="zh-CN" sz="2200" i="1" baseline="-25000" dirty="0">
                <a:effectLst/>
                <a:ea typeface="楷体_GB2312" pitchFamily="49" charset="-122"/>
                <a:cs typeface="Arial" panose="020B0604020202020204" pitchFamily="34" charset="0"/>
              </a:rPr>
              <a:t>B</a:t>
            </a:r>
            <a:r>
              <a:rPr lang="en-US" altLang="zh-CN" sz="2200" dirty="0">
                <a:effectLst/>
                <a:ea typeface="楷体_GB2312" pitchFamily="49" charset="-122"/>
                <a:cs typeface="Arial" panose="020B0604020202020204" pitchFamily="34" charset="0"/>
              </a:rPr>
              <a:t> </a:t>
            </a:r>
            <a:r>
              <a:rPr lang="zh-CN" altLang="en-US" sz="2200" dirty="0">
                <a:effectLst/>
                <a:ea typeface="楷体_GB2312" pitchFamily="49" charset="-122"/>
                <a:cs typeface="Arial" panose="020B0604020202020204" pitchFamily="34" charset="0"/>
              </a:rPr>
              <a:t>的非负性可能被打破。为保持解的可行性，可以按最小比值原则确定换出变量：</a:t>
            </a:r>
            <a:endParaRPr lang="zh-CN" altLang="en-US" sz="2200" dirty="0">
              <a:effectLst/>
              <a:ea typeface="楷体_GB2312" pitchFamily="49"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54" presetClass="entr" presetSubtype="0" accel="10000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strVal val="#ppt_w*0.05"/>
                                          </p:val>
                                        </p:tav>
                                        <p:tav tm="100000">
                                          <p:val>
                                            <p:strVal val="#ppt_w"/>
                                          </p:val>
                                        </p:tav>
                                      </p:tavLst>
                                    </p:anim>
                                    <p:anim calcmode="lin" valueType="num">
                                      <p:cBhvr>
                                        <p:cTn id="18" dur="500" fill="hold"/>
                                        <p:tgtEl>
                                          <p:spTgt spid="11"/>
                                        </p:tgtEl>
                                        <p:attrNameLst>
                                          <p:attrName>ppt_h</p:attrName>
                                        </p:attrNameLst>
                                      </p:cBhvr>
                                      <p:tavLst>
                                        <p:tav tm="0">
                                          <p:val>
                                            <p:strVal val="#ppt_h"/>
                                          </p:val>
                                        </p:tav>
                                        <p:tav tm="100000">
                                          <p:val>
                                            <p:strVal val="#ppt_h"/>
                                          </p:val>
                                        </p:tav>
                                      </p:tavLst>
                                    </p:anim>
                                    <p:anim calcmode="lin" valueType="num">
                                      <p:cBhvr>
                                        <p:cTn id="19" dur="500" fill="hold"/>
                                        <p:tgtEl>
                                          <p:spTgt spid="11"/>
                                        </p:tgtEl>
                                        <p:attrNameLst>
                                          <p:attrName>ppt_x</p:attrName>
                                        </p:attrNameLst>
                                      </p:cBhvr>
                                      <p:tavLst>
                                        <p:tav tm="0">
                                          <p:val>
                                            <p:strVal val="#ppt_x-.2"/>
                                          </p:val>
                                        </p:tav>
                                        <p:tav tm="100000">
                                          <p:val>
                                            <p:strVal val="#ppt_x"/>
                                          </p:val>
                                        </p:tav>
                                      </p:tavLst>
                                    </p:anim>
                                    <p:anim calcmode="lin" valueType="num">
                                      <p:cBhvr>
                                        <p:cTn id="20" dur="500" fill="hold"/>
                                        <p:tgtEl>
                                          <p:spTgt spid="11"/>
                                        </p:tgtEl>
                                        <p:attrNameLst>
                                          <p:attrName>ppt_y</p:attrName>
                                        </p:attrNameLst>
                                      </p:cBhvr>
                                      <p:tavLst>
                                        <p:tav tm="0">
                                          <p:val>
                                            <p:strVal val="#ppt_y"/>
                                          </p:val>
                                        </p:tav>
                                        <p:tav tm="100000">
                                          <p:val>
                                            <p:strVal val="#ppt_y"/>
                                          </p:val>
                                        </p:tav>
                                      </p:tavLst>
                                    </p:anim>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up)">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优化过程 </a:t>
            </a:r>
            <a:r>
              <a:rPr kumimoji="1" lang="en-US" altLang="zh-CN" dirty="0">
                <a:latin typeface="Times New Roman" panose="02020603050405020304" pitchFamily="18" charset="0"/>
                <a:cs typeface="Times New Roman" panose="02020603050405020304" pitchFamily="18" charset="0"/>
              </a:rPr>
              <a:t>(</a:t>
            </a:r>
            <a:r>
              <a:rPr kumimoji="1" lang="zh-CN" altLang="en-US" dirty="0">
                <a:latin typeface="Times New Roman" panose="02020603050405020304" pitchFamily="18" charset="0"/>
                <a:cs typeface="Times New Roman" panose="02020603050405020304" pitchFamily="18" charset="0"/>
              </a:rPr>
              <a:t>单纯形法</a:t>
            </a:r>
            <a:r>
              <a:rPr kumimoji="1" lang="en-US" altLang="zh-CN" dirty="0">
                <a:latin typeface="Times New Roman" panose="02020603050405020304" pitchFamily="18" charset="0"/>
                <a:cs typeface="Times New Roman" panose="02020603050405020304" pitchFamily="18" charset="0"/>
              </a:rPr>
              <a:t>Routine)</a:t>
            </a:r>
            <a:endParaRPr kumimoji="1" lang="zh-CN" altLang="en-US" dirty="0">
              <a:latin typeface="Times New Roman" panose="02020603050405020304" pitchFamily="18" charset="0"/>
              <a:cs typeface="Times New Roman" panose="02020603050405020304" pitchFamily="18" charset="0"/>
            </a:endParaRPr>
          </a:p>
        </p:txBody>
      </p:sp>
      <p:sp>
        <p:nvSpPr>
          <p:cNvPr id="6" name="Rectangle 2"/>
          <p:cNvSpPr txBox="1">
            <a:spLocks noChangeArrowheads="1"/>
          </p:cNvSpPr>
          <p:nvPr/>
        </p:nvSpPr>
        <p:spPr>
          <a:xfrm>
            <a:off x="0" y="945930"/>
            <a:ext cx="8447088" cy="5334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buFont typeface="Wingdings" panose="05000000000000000000" pitchFamily="2" charset="2"/>
              <a:buNone/>
            </a:pPr>
            <a:r>
              <a:rPr lang="en-US" altLang="zh-CN" sz="2800" dirty="0">
                <a:cs typeface="Arial" panose="020B0604020202020204" pitchFamily="34" charset="0"/>
              </a:rPr>
              <a:t>   4.  </a:t>
            </a:r>
            <a:r>
              <a:rPr lang="zh-CN" altLang="en-US" sz="2800" dirty="0">
                <a:ea typeface="黑体" panose="02010609060101010101" pitchFamily="49" charset="-122"/>
              </a:rPr>
              <a:t>用初等变换求改进了的基本可行解</a:t>
            </a:r>
            <a:r>
              <a:rPr lang="en-US" altLang="zh-CN" sz="2800" dirty="0">
                <a:ea typeface="黑体" panose="02010609060101010101" pitchFamily="49" charset="-122"/>
              </a:rPr>
              <a:t>——</a:t>
            </a:r>
            <a:r>
              <a:rPr lang="zh-CN" altLang="en-US" sz="2800" dirty="0">
                <a:solidFill>
                  <a:schemeClr val="accent2"/>
                </a:solidFill>
                <a:ea typeface="楷体_GB2312" pitchFamily="49" charset="-122"/>
              </a:rPr>
              <a:t>旋转运算</a:t>
            </a:r>
            <a:r>
              <a:rPr lang="zh-CN" altLang="en-US" sz="2800" dirty="0"/>
              <a:t> </a:t>
            </a:r>
            <a:endParaRPr lang="zh-CN" altLang="en-US" sz="2800" dirty="0"/>
          </a:p>
        </p:txBody>
      </p:sp>
      <p:sp>
        <p:nvSpPr>
          <p:cNvPr id="7" name="Rectangle 6"/>
          <p:cNvSpPr>
            <a:spLocks noChangeArrowheads="1"/>
          </p:cNvSpPr>
          <p:nvPr/>
        </p:nvSpPr>
        <p:spPr bwMode="auto">
          <a:xfrm>
            <a:off x="303213" y="1415829"/>
            <a:ext cx="8229600" cy="2932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en-US" altLang="zh-CN" sz="2200" dirty="0">
                <a:effectLst/>
                <a:latin typeface="Arial" panose="020B0604020202020204" pitchFamily="34" charset="0"/>
                <a:cs typeface="Arial" panose="020B0604020202020204" pitchFamily="34" charset="0"/>
              </a:rPr>
              <a:t>    </a:t>
            </a:r>
            <a:r>
              <a:rPr lang="zh-CN" altLang="en-US" sz="2200" dirty="0">
                <a:effectLst/>
                <a:latin typeface="楷体_GB2312" pitchFamily="49" charset="-122"/>
                <a:ea typeface="楷体_GB2312" pitchFamily="49" charset="-122"/>
              </a:rPr>
              <a:t>假设Ｂ是线性规划      　　　　　　　　　　  的可行基，则</a:t>
            </a:r>
            <a:endParaRPr lang="zh-CN" altLang="en-US" sz="2200" dirty="0">
              <a:effectLst/>
              <a:latin typeface="楷体_GB2312" pitchFamily="49" charset="-122"/>
              <a:ea typeface="楷体_GB2312" pitchFamily="49" charset="-122"/>
            </a:endParaRPr>
          </a:p>
          <a:p>
            <a:pPr algn="just">
              <a:lnSpc>
                <a:spcPct val="120000"/>
              </a:lnSpc>
            </a:pPr>
            <a:endParaRPr lang="zh-CN" altLang="en-US" sz="2200" dirty="0">
              <a:effectLst/>
              <a:latin typeface="楷体_GB2312" pitchFamily="49" charset="-122"/>
              <a:ea typeface="楷体_GB2312" pitchFamily="49" charset="-122"/>
              <a:cs typeface="Arial" panose="020B0604020202020204" pitchFamily="34" charset="0"/>
            </a:endParaRPr>
          </a:p>
          <a:p>
            <a:pPr algn="just" eaLnBrk="0" hangingPunct="0">
              <a:lnSpc>
                <a:spcPct val="120000"/>
              </a:lnSpc>
            </a:pPr>
            <a:endParaRPr lang="zh-CN" altLang="en-US" sz="2200" dirty="0">
              <a:effectLst/>
              <a:latin typeface="楷体_GB2312" pitchFamily="49" charset="-122"/>
              <a:ea typeface="楷体_GB2312" pitchFamily="49" charset="-122"/>
            </a:endParaRPr>
          </a:p>
          <a:p>
            <a:pPr eaLnBrk="0" hangingPunct="0">
              <a:lnSpc>
                <a:spcPct val="120000"/>
              </a:lnSpc>
            </a:pPr>
            <a:r>
              <a:rPr lang="zh-CN" altLang="en-US" sz="2200" dirty="0">
                <a:effectLst/>
                <a:latin typeface="楷体_GB2312" pitchFamily="49" charset="-122"/>
                <a:ea typeface="楷体_GB2312" pitchFamily="49" charset="-122"/>
              </a:rPr>
              <a:t>令非基变量　　　 ，则基变量　　　　  　　</a:t>
            </a:r>
            <a:endParaRPr lang="zh-CN" altLang="en-US" sz="2200" dirty="0">
              <a:effectLst/>
              <a:latin typeface="楷体_GB2312" pitchFamily="49" charset="-122"/>
              <a:ea typeface="楷体_GB2312" pitchFamily="49" charset="-122"/>
            </a:endParaRPr>
          </a:p>
          <a:p>
            <a:pPr eaLnBrk="0" hangingPunct="0">
              <a:lnSpc>
                <a:spcPct val="120000"/>
              </a:lnSpc>
            </a:pPr>
            <a:endParaRPr lang="zh-CN" altLang="en-US" sz="2200" dirty="0">
              <a:effectLst/>
              <a:latin typeface="楷体_GB2312" pitchFamily="49" charset="-122"/>
              <a:ea typeface="楷体_GB2312" pitchFamily="49" charset="-122"/>
            </a:endParaRPr>
          </a:p>
          <a:p>
            <a:pPr eaLnBrk="0" hangingPunct="0">
              <a:lnSpc>
                <a:spcPct val="120000"/>
              </a:lnSpc>
            </a:pPr>
            <a:r>
              <a:rPr lang="zh-CN" altLang="en-US" sz="2200" dirty="0">
                <a:effectLst/>
                <a:latin typeface="楷体_GB2312" pitchFamily="49" charset="-122"/>
                <a:ea typeface="楷体_GB2312" pitchFamily="49" charset="-122"/>
              </a:rPr>
              <a:t>可得基本可行解       　    </a:t>
            </a:r>
            <a:endParaRPr lang="zh-CN" altLang="en-US" sz="2200" dirty="0">
              <a:effectLst/>
              <a:latin typeface="楷体_GB2312" pitchFamily="49" charset="-122"/>
              <a:ea typeface="楷体_GB2312" pitchFamily="49" charset="-122"/>
            </a:endParaRPr>
          </a:p>
        </p:txBody>
      </p:sp>
      <p:sp>
        <p:nvSpPr>
          <p:cNvPr id="9" name="Rectangle 4"/>
          <p:cNvSpPr>
            <a:spLocks noChangeArrowheads="1"/>
          </p:cNvSpPr>
          <p:nvPr/>
        </p:nvSpPr>
        <p:spPr bwMode="auto">
          <a:xfrm>
            <a:off x="598488" y="4486573"/>
            <a:ext cx="7848600" cy="167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30000"/>
              </a:lnSpc>
              <a:buFont typeface="Wingdings" panose="05000000000000000000" pitchFamily="2" charset="2"/>
              <a:buChar char="Ø"/>
            </a:pPr>
            <a:r>
              <a:rPr lang="zh-CN" altLang="en-US" sz="2000" dirty="0">
                <a:effectLst/>
                <a:latin typeface="楷体_GB2312" pitchFamily="49" charset="-122"/>
                <a:ea typeface="楷体_GB2312" pitchFamily="49" charset="-122"/>
              </a:rPr>
              <a:t>　用逆阵     左乘约束方程组的两端，等价于对方程组施以一系列的初等</a:t>
            </a:r>
            <a:r>
              <a:rPr lang="zh-CN" altLang="en-US" sz="2000" dirty="0">
                <a:effectLst/>
                <a:ea typeface="楷体_GB2312" pitchFamily="49" charset="-122"/>
              </a:rPr>
              <a:t>“</a:t>
            </a:r>
            <a:r>
              <a:rPr lang="zh-CN" altLang="en-US" sz="2000" dirty="0">
                <a:effectLst/>
                <a:latin typeface="楷体_GB2312" pitchFamily="49" charset="-122"/>
                <a:ea typeface="楷体_GB2312" pitchFamily="49" charset="-122"/>
              </a:rPr>
              <a:t>行变换</a:t>
            </a:r>
            <a:r>
              <a:rPr lang="zh-CN" altLang="en-US" sz="2000" dirty="0">
                <a:effectLst/>
                <a:ea typeface="楷体_GB2312" pitchFamily="49" charset="-122"/>
              </a:rPr>
              <a:t>”</a:t>
            </a:r>
            <a:r>
              <a:rPr lang="zh-CN" altLang="en-US" sz="2000" dirty="0">
                <a:effectLst/>
                <a:latin typeface="楷体_GB2312" pitchFamily="49" charset="-122"/>
                <a:ea typeface="楷体_GB2312" pitchFamily="49" charset="-122"/>
              </a:rPr>
              <a:t>。变换的结果是将系数矩阵</a:t>
            </a:r>
            <a:r>
              <a:rPr lang="zh-CN" altLang="en-US" sz="2000" i="1" dirty="0">
                <a:effectLst/>
                <a:latin typeface="楷体_GB2312" pitchFamily="49" charset="-122"/>
                <a:ea typeface="楷体_GB2312" pitchFamily="49" charset="-122"/>
              </a:rPr>
              <a:t>Ａ</a:t>
            </a:r>
            <a:r>
              <a:rPr lang="zh-CN" altLang="en-US" sz="2000" dirty="0">
                <a:effectLst/>
                <a:latin typeface="楷体_GB2312" pitchFamily="49" charset="-122"/>
                <a:ea typeface="楷体_GB2312" pitchFamily="49" charset="-122"/>
              </a:rPr>
              <a:t>中的</a:t>
            </a:r>
            <a:r>
              <a:rPr lang="zh-CN" altLang="en-US" sz="2000" dirty="0">
                <a:solidFill>
                  <a:schemeClr val="accent2"/>
                </a:solidFill>
                <a:effectLst/>
                <a:latin typeface="楷体_GB2312" pitchFamily="49" charset="-122"/>
                <a:ea typeface="楷体_GB2312" pitchFamily="49" charset="-122"/>
              </a:rPr>
              <a:t>可行基</a:t>
            </a:r>
            <a:r>
              <a:rPr lang="zh-CN" altLang="en-US" sz="2000" i="1" dirty="0">
                <a:solidFill>
                  <a:schemeClr val="accent2"/>
                </a:solidFill>
                <a:effectLst/>
                <a:latin typeface="楷体_GB2312" pitchFamily="49" charset="-122"/>
                <a:ea typeface="楷体_GB2312" pitchFamily="49" charset="-122"/>
              </a:rPr>
              <a:t>Ｂ</a:t>
            </a:r>
            <a:r>
              <a:rPr lang="zh-CN" altLang="en-US" sz="2000" dirty="0">
                <a:solidFill>
                  <a:schemeClr val="accent2"/>
                </a:solidFill>
                <a:effectLst/>
                <a:latin typeface="楷体_GB2312" pitchFamily="49" charset="-122"/>
                <a:ea typeface="楷体_GB2312" pitchFamily="49" charset="-122"/>
              </a:rPr>
              <a:t>变换成单位矩阵</a:t>
            </a:r>
            <a:r>
              <a:rPr lang="en-US" altLang="zh-CN" sz="2000" i="1" dirty="0">
                <a:solidFill>
                  <a:schemeClr val="accent2"/>
                </a:solidFill>
                <a:effectLst/>
                <a:latin typeface="楷体_GB2312" pitchFamily="49" charset="-122"/>
                <a:ea typeface="楷体_GB2312" pitchFamily="49" charset="-122"/>
              </a:rPr>
              <a:t>I</a:t>
            </a:r>
            <a:r>
              <a:rPr lang="zh-CN" altLang="en-US" sz="2000" dirty="0">
                <a:effectLst/>
                <a:latin typeface="楷体_GB2312" pitchFamily="49" charset="-122"/>
                <a:ea typeface="楷体_GB2312" pitchFamily="49" charset="-122"/>
              </a:rPr>
              <a:t>，把非基变量系数列向量构成的矩阵Ｎ变换成     ，把向量</a:t>
            </a:r>
            <a:r>
              <a:rPr lang="en-US" altLang="zh-CN" sz="2000" i="1" dirty="0">
                <a:effectLst/>
                <a:latin typeface="楷体_GB2312" pitchFamily="49" charset="-122"/>
                <a:ea typeface="楷体_GB2312" pitchFamily="49" charset="-122"/>
              </a:rPr>
              <a:t>b </a:t>
            </a:r>
            <a:r>
              <a:rPr lang="zh-CN" altLang="en-US" sz="2000" dirty="0">
                <a:effectLst/>
                <a:latin typeface="楷体_GB2312" pitchFamily="49" charset="-122"/>
                <a:ea typeface="楷体_GB2312" pitchFamily="49" charset="-122"/>
              </a:rPr>
              <a:t>变换成    </a:t>
            </a:r>
            <a:endParaRPr lang="zh-CN" altLang="en-US" sz="2000" dirty="0">
              <a:effectLst/>
              <a:latin typeface="楷体_GB2312" pitchFamily="49" charset="-122"/>
              <a:ea typeface="楷体_GB2312" pitchFamily="49" charset="-122"/>
            </a:endParaRPr>
          </a:p>
        </p:txBody>
      </p:sp>
      <p:graphicFrame>
        <p:nvGraphicFramePr>
          <p:cNvPr id="10" name="Object 2"/>
          <p:cNvGraphicFramePr>
            <a:graphicFrameLocks noChangeAspect="1"/>
          </p:cNvGraphicFramePr>
          <p:nvPr/>
        </p:nvGraphicFramePr>
        <p:xfrm>
          <a:off x="1187450" y="1965920"/>
          <a:ext cx="6769100" cy="863600"/>
        </p:xfrm>
        <a:graphic>
          <a:graphicData uri="http://schemas.openxmlformats.org/presentationml/2006/ole">
            <mc:AlternateContent xmlns:mc="http://schemas.openxmlformats.org/markup-compatibility/2006">
              <mc:Choice xmlns:v="urn:schemas-microsoft-com:vml" Requires="v">
                <p:oleObj spid="_x0000_s18433" name="公式" r:id="rId1" imgW="81686400" imgH="11582400" progId="Equation.3">
                  <p:embed/>
                </p:oleObj>
              </mc:Choice>
              <mc:Fallback>
                <p:oleObj name="公式" r:id="rId1" imgW="81686400" imgH="11582400" progId="Equation.3">
                  <p:embed/>
                  <p:pic>
                    <p:nvPicPr>
                      <p:cNvPr id="0" name="图片 18432"/>
                      <p:cNvPicPr>
                        <a:picLocks noChangeAspect="1"/>
                      </p:cNvPicPr>
                      <p:nvPr/>
                    </p:nvPicPr>
                    <p:blipFill>
                      <a:blip r:embed="rId2"/>
                      <a:stretch>
                        <a:fillRect/>
                      </a:stretch>
                    </p:blipFill>
                    <p:spPr>
                      <a:xfrm>
                        <a:off x="1187450" y="1965920"/>
                        <a:ext cx="6769100" cy="863600"/>
                      </a:xfrm>
                      <a:prstGeom prst="rect">
                        <a:avLst/>
                      </a:prstGeom>
                      <a:noFill/>
                      <a:ln w="9525">
                        <a:noFill/>
                      </a:ln>
                    </p:spPr>
                  </p:pic>
                </p:oleObj>
              </mc:Fallback>
            </mc:AlternateContent>
          </a:graphicData>
        </a:graphic>
      </p:graphicFrame>
      <p:graphicFrame>
        <p:nvGraphicFramePr>
          <p:cNvPr id="11" name="Object 3"/>
          <p:cNvGraphicFramePr>
            <a:graphicFrameLocks noChangeAspect="1"/>
          </p:cNvGraphicFramePr>
          <p:nvPr/>
        </p:nvGraphicFramePr>
        <p:xfrm>
          <a:off x="3348038" y="1526182"/>
          <a:ext cx="3240087" cy="366713"/>
        </p:xfrm>
        <a:graphic>
          <a:graphicData uri="http://schemas.openxmlformats.org/presentationml/2006/ole">
            <mc:AlternateContent xmlns:mc="http://schemas.openxmlformats.org/markup-compatibility/2006">
              <mc:Choice xmlns:v="urn:schemas-microsoft-com:vml" Requires="v">
                <p:oleObj spid="_x0000_s18434" name="公式" r:id="rId3" imgW="43281600" imgH="4876800" progId="Equation.3">
                  <p:embed/>
                </p:oleObj>
              </mc:Choice>
              <mc:Fallback>
                <p:oleObj name="公式" r:id="rId3" imgW="43281600" imgH="4876800" progId="Equation.3">
                  <p:embed/>
                  <p:pic>
                    <p:nvPicPr>
                      <p:cNvPr id="0" name="图片 18433"/>
                      <p:cNvPicPr>
                        <a:picLocks noChangeAspect="1"/>
                      </p:cNvPicPr>
                      <p:nvPr/>
                    </p:nvPicPr>
                    <p:blipFill>
                      <a:blip r:embed="rId4"/>
                      <a:stretch>
                        <a:fillRect/>
                      </a:stretch>
                    </p:blipFill>
                    <p:spPr>
                      <a:xfrm>
                        <a:off x="3348038" y="1526182"/>
                        <a:ext cx="3240087" cy="366713"/>
                      </a:xfrm>
                      <a:prstGeom prst="rect">
                        <a:avLst/>
                      </a:prstGeom>
                      <a:noFill/>
                      <a:ln w="9525">
                        <a:noFill/>
                      </a:ln>
                    </p:spPr>
                  </p:pic>
                </p:oleObj>
              </mc:Fallback>
            </mc:AlternateContent>
          </a:graphicData>
        </a:graphic>
      </p:graphicFrame>
      <p:graphicFrame>
        <p:nvGraphicFramePr>
          <p:cNvPr id="12" name="Object 4"/>
          <p:cNvGraphicFramePr>
            <a:graphicFrameLocks noChangeAspect="1"/>
          </p:cNvGraphicFramePr>
          <p:nvPr/>
        </p:nvGraphicFramePr>
        <p:xfrm>
          <a:off x="2124075" y="3068932"/>
          <a:ext cx="720725" cy="431800"/>
        </p:xfrm>
        <a:graphic>
          <a:graphicData uri="http://schemas.openxmlformats.org/presentationml/2006/ole">
            <mc:AlternateContent xmlns:mc="http://schemas.openxmlformats.org/markup-compatibility/2006">
              <mc:Choice xmlns:v="urn:schemas-microsoft-com:vml" Requires="v">
                <p:oleObj spid="_x0000_s18435" name="公式" r:id="rId5" imgW="12192000" imgH="5181600" progId="Equation.3">
                  <p:embed/>
                </p:oleObj>
              </mc:Choice>
              <mc:Fallback>
                <p:oleObj name="公式" r:id="rId5" imgW="12192000" imgH="5181600" progId="Equation.3">
                  <p:embed/>
                  <p:pic>
                    <p:nvPicPr>
                      <p:cNvPr id="0" name="图片 18434"/>
                      <p:cNvPicPr>
                        <a:picLocks noChangeAspect="1"/>
                      </p:cNvPicPr>
                      <p:nvPr/>
                    </p:nvPicPr>
                    <p:blipFill>
                      <a:blip r:embed="rId6"/>
                      <a:stretch>
                        <a:fillRect/>
                      </a:stretch>
                    </p:blipFill>
                    <p:spPr>
                      <a:xfrm>
                        <a:off x="2124075" y="3068932"/>
                        <a:ext cx="720725" cy="431800"/>
                      </a:xfrm>
                      <a:prstGeom prst="rect">
                        <a:avLst/>
                      </a:prstGeom>
                      <a:noFill/>
                      <a:ln w="9525">
                        <a:noFill/>
                      </a:ln>
                    </p:spPr>
                  </p:pic>
                </p:oleObj>
              </mc:Fallback>
            </mc:AlternateContent>
          </a:graphicData>
        </a:graphic>
      </p:graphicFrame>
      <p:graphicFrame>
        <p:nvGraphicFramePr>
          <p:cNvPr id="13" name="Object 5"/>
          <p:cNvGraphicFramePr>
            <a:graphicFrameLocks noChangeAspect="1"/>
          </p:cNvGraphicFramePr>
          <p:nvPr/>
        </p:nvGraphicFramePr>
        <p:xfrm>
          <a:off x="4425474" y="3068932"/>
          <a:ext cx="1414462" cy="409575"/>
        </p:xfrm>
        <a:graphic>
          <a:graphicData uri="http://schemas.openxmlformats.org/presentationml/2006/ole">
            <mc:AlternateContent xmlns:mc="http://schemas.openxmlformats.org/markup-compatibility/2006">
              <mc:Choice xmlns:v="urn:schemas-microsoft-com:vml" Requires="v">
                <p:oleObj spid="_x0000_s18436" name="公式" r:id="rId7" imgW="17068800" imgH="5486400" progId="Equation.3">
                  <p:embed/>
                </p:oleObj>
              </mc:Choice>
              <mc:Fallback>
                <p:oleObj name="公式" r:id="rId7" imgW="17068800" imgH="5486400" progId="Equation.3">
                  <p:embed/>
                  <p:pic>
                    <p:nvPicPr>
                      <p:cNvPr id="0" name="图片 18435"/>
                      <p:cNvPicPr>
                        <a:picLocks noChangeAspect="1"/>
                      </p:cNvPicPr>
                      <p:nvPr/>
                    </p:nvPicPr>
                    <p:blipFill>
                      <a:blip r:embed="rId8"/>
                      <a:stretch>
                        <a:fillRect/>
                      </a:stretch>
                    </p:blipFill>
                    <p:spPr>
                      <a:xfrm>
                        <a:off x="4425474" y="3068932"/>
                        <a:ext cx="1414462" cy="409575"/>
                      </a:xfrm>
                      <a:prstGeom prst="rect">
                        <a:avLst/>
                      </a:prstGeom>
                      <a:noFill/>
                      <a:ln w="9525">
                        <a:noFill/>
                      </a:ln>
                    </p:spPr>
                  </p:pic>
                </p:oleObj>
              </mc:Fallback>
            </mc:AlternateContent>
          </a:graphicData>
        </a:graphic>
      </p:graphicFrame>
      <p:graphicFrame>
        <p:nvGraphicFramePr>
          <p:cNvPr id="14" name="Object 6"/>
          <p:cNvGraphicFramePr>
            <a:graphicFrameLocks noChangeAspect="1"/>
          </p:cNvGraphicFramePr>
          <p:nvPr/>
        </p:nvGraphicFramePr>
        <p:xfrm>
          <a:off x="2928461" y="3644592"/>
          <a:ext cx="1566862" cy="863600"/>
        </p:xfrm>
        <a:graphic>
          <a:graphicData uri="http://schemas.openxmlformats.org/presentationml/2006/ole">
            <mc:AlternateContent xmlns:mc="http://schemas.openxmlformats.org/markup-compatibility/2006">
              <mc:Choice xmlns:v="urn:schemas-microsoft-com:vml" Requires="v">
                <p:oleObj spid="_x0000_s18437" name="公式" r:id="rId9" imgW="18897600" imgH="11582400" progId="Equation.3">
                  <p:embed/>
                </p:oleObj>
              </mc:Choice>
              <mc:Fallback>
                <p:oleObj name="公式" r:id="rId9" imgW="18897600" imgH="11582400" progId="Equation.3">
                  <p:embed/>
                  <p:pic>
                    <p:nvPicPr>
                      <p:cNvPr id="0" name="图片 18436"/>
                      <p:cNvPicPr>
                        <a:picLocks noChangeAspect="1"/>
                      </p:cNvPicPr>
                      <p:nvPr/>
                    </p:nvPicPr>
                    <p:blipFill>
                      <a:blip r:embed="rId10"/>
                      <a:stretch>
                        <a:fillRect/>
                      </a:stretch>
                    </p:blipFill>
                    <p:spPr>
                      <a:xfrm>
                        <a:off x="2928461" y="3644592"/>
                        <a:ext cx="1566862" cy="863600"/>
                      </a:xfrm>
                      <a:prstGeom prst="rect">
                        <a:avLst/>
                      </a:prstGeom>
                      <a:noFill/>
                      <a:ln w="9525">
                        <a:noFill/>
                      </a:ln>
                    </p:spPr>
                  </p:pic>
                </p:oleObj>
              </mc:Fallback>
            </mc:AlternateContent>
          </a:graphicData>
        </a:graphic>
      </p:graphicFrame>
      <p:graphicFrame>
        <p:nvGraphicFramePr>
          <p:cNvPr id="15" name="Object 8"/>
          <p:cNvGraphicFramePr>
            <a:graphicFrameLocks noChangeAspect="1"/>
          </p:cNvGraphicFramePr>
          <p:nvPr/>
        </p:nvGraphicFramePr>
        <p:xfrm>
          <a:off x="2071670" y="4572008"/>
          <a:ext cx="433388" cy="325438"/>
        </p:xfrm>
        <a:graphic>
          <a:graphicData uri="http://schemas.openxmlformats.org/presentationml/2006/ole">
            <mc:AlternateContent xmlns:mc="http://schemas.openxmlformats.org/markup-compatibility/2006">
              <mc:Choice xmlns:v="urn:schemas-microsoft-com:vml" Requires="v">
                <p:oleObj spid="_x0000_s18438" name="公式" r:id="rId11" imgW="6096000" imgH="4572000" progId="Equation.3">
                  <p:embed/>
                </p:oleObj>
              </mc:Choice>
              <mc:Fallback>
                <p:oleObj name="公式" r:id="rId11" imgW="6096000" imgH="4572000" progId="Equation.3">
                  <p:embed/>
                  <p:pic>
                    <p:nvPicPr>
                      <p:cNvPr id="0" name="图片 18437"/>
                      <p:cNvPicPr>
                        <a:picLocks noChangeAspect="1"/>
                      </p:cNvPicPr>
                      <p:nvPr/>
                    </p:nvPicPr>
                    <p:blipFill>
                      <a:blip r:embed="rId12"/>
                      <a:stretch>
                        <a:fillRect/>
                      </a:stretch>
                    </p:blipFill>
                    <p:spPr>
                      <a:xfrm>
                        <a:off x="2071670" y="4572008"/>
                        <a:ext cx="433388" cy="325438"/>
                      </a:xfrm>
                      <a:prstGeom prst="rect">
                        <a:avLst/>
                      </a:prstGeom>
                      <a:noFill/>
                      <a:ln w="9525">
                        <a:noFill/>
                      </a:ln>
                    </p:spPr>
                  </p:pic>
                </p:oleObj>
              </mc:Fallback>
            </mc:AlternateContent>
          </a:graphicData>
        </a:graphic>
      </p:graphicFrame>
      <p:graphicFrame>
        <p:nvGraphicFramePr>
          <p:cNvPr id="16" name="Object 9"/>
          <p:cNvGraphicFramePr>
            <a:graphicFrameLocks noChangeAspect="1"/>
          </p:cNvGraphicFramePr>
          <p:nvPr/>
        </p:nvGraphicFramePr>
        <p:xfrm>
          <a:off x="7143768" y="5286388"/>
          <a:ext cx="650875" cy="346075"/>
        </p:xfrm>
        <a:graphic>
          <a:graphicData uri="http://schemas.openxmlformats.org/presentationml/2006/ole">
            <mc:AlternateContent xmlns:mc="http://schemas.openxmlformats.org/markup-compatibility/2006">
              <mc:Choice xmlns:v="urn:schemas-microsoft-com:vml" Requires="v">
                <p:oleObj spid="_x0000_s18439" name="公式" r:id="rId13" imgW="9144000" imgH="4876800" progId="Equation.3">
                  <p:embed/>
                </p:oleObj>
              </mc:Choice>
              <mc:Fallback>
                <p:oleObj name="公式" r:id="rId13" imgW="9144000" imgH="4876800" progId="Equation.3">
                  <p:embed/>
                  <p:pic>
                    <p:nvPicPr>
                      <p:cNvPr id="0" name="图片 18438"/>
                      <p:cNvPicPr>
                        <a:picLocks noChangeAspect="1"/>
                      </p:cNvPicPr>
                      <p:nvPr/>
                    </p:nvPicPr>
                    <p:blipFill>
                      <a:blip r:embed="rId14"/>
                      <a:stretch>
                        <a:fillRect/>
                      </a:stretch>
                    </p:blipFill>
                    <p:spPr>
                      <a:xfrm>
                        <a:off x="7143768" y="5286388"/>
                        <a:ext cx="650875" cy="346075"/>
                      </a:xfrm>
                      <a:prstGeom prst="rect">
                        <a:avLst/>
                      </a:prstGeom>
                      <a:noFill/>
                      <a:ln w="9525">
                        <a:noFill/>
                      </a:ln>
                    </p:spPr>
                  </p:pic>
                </p:oleObj>
              </mc:Fallback>
            </mc:AlternateContent>
          </a:graphicData>
        </a:graphic>
      </p:graphicFrame>
      <p:graphicFrame>
        <p:nvGraphicFramePr>
          <p:cNvPr id="17" name="Object 10"/>
          <p:cNvGraphicFramePr>
            <a:graphicFrameLocks noChangeAspect="1"/>
          </p:cNvGraphicFramePr>
          <p:nvPr/>
        </p:nvGraphicFramePr>
        <p:xfrm>
          <a:off x="2285984" y="5715016"/>
          <a:ext cx="585787" cy="346075"/>
        </p:xfrm>
        <a:graphic>
          <a:graphicData uri="http://schemas.openxmlformats.org/presentationml/2006/ole">
            <mc:AlternateContent xmlns:mc="http://schemas.openxmlformats.org/markup-compatibility/2006">
              <mc:Choice xmlns:v="urn:schemas-microsoft-com:vml" Requires="v">
                <p:oleObj spid="_x0000_s18440" name="公式" r:id="rId15" imgW="8229600" imgH="4876800" progId="Equation.3">
                  <p:embed/>
                </p:oleObj>
              </mc:Choice>
              <mc:Fallback>
                <p:oleObj name="公式" r:id="rId15" imgW="8229600" imgH="4876800" progId="Equation.3">
                  <p:embed/>
                  <p:pic>
                    <p:nvPicPr>
                      <p:cNvPr id="0" name="图片 18439"/>
                      <p:cNvPicPr>
                        <a:picLocks noChangeAspect="1"/>
                      </p:cNvPicPr>
                      <p:nvPr/>
                    </p:nvPicPr>
                    <p:blipFill>
                      <a:blip r:embed="rId16"/>
                      <a:stretch>
                        <a:fillRect/>
                      </a:stretch>
                    </p:blipFill>
                    <p:spPr>
                      <a:xfrm>
                        <a:off x="2285984" y="5715016"/>
                        <a:ext cx="585787" cy="34607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6" name="Rectangle 4"/>
          <p:cNvSpPr>
            <a:spLocks noChangeArrowheads="1"/>
          </p:cNvSpPr>
          <p:nvPr/>
        </p:nvSpPr>
        <p:spPr bwMode="auto">
          <a:xfrm>
            <a:off x="539750" y="2205038"/>
            <a:ext cx="7777163" cy="359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40000"/>
              </a:lnSpc>
            </a:pPr>
            <a:r>
              <a:rPr lang="zh-CN" altLang="en-US" dirty="0">
                <a:effectLst/>
                <a:latin typeface="楷体_GB2312" pitchFamily="49" charset="-122"/>
                <a:ea typeface="楷体_GB2312" pitchFamily="49" charset="-122"/>
              </a:rPr>
              <a:t>　</a:t>
            </a:r>
            <a:r>
              <a:rPr lang="zh-CN" altLang="en-US" sz="2000" dirty="0">
                <a:effectLst/>
                <a:latin typeface="楷体_GB2312" pitchFamily="49" charset="-122"/>
                <a:ea typeface="楷体_GB2312" pitchFamily="49" charset="-122"/>
              </a:rPr>
              <a:t>且改进了的基本可行解　 只是在</a:t>
            </a:r>
            <a:r>
              <a:rPr lang="zh-CN" altLang="en-US" sz="2000" i="1" dirty="0">
                <a:effectLst/>
                <a:latin typeface="楷体_GB2312" pitchFamily="49" charset="-122"/>
                <a:ea typeface="楷体_GB2312" pitchFamily="49" charset="-122"/>
              </a:rPr>
              <a:t>Ｘ </a:t>
            </a:r>
            <a:r>
              <a:rPr lang="zh-CN" altLang="en-US" sz="2000" dirty="0">
                <a:effectLst/>
                <a:latin typeface="楷体_GB2312" pitchFamily="49" charset="-122"/>
                <a:ea typeface="楷体_GB2312" pitchFamily="49" charset="-122"/>
              </a:rPr>
              <a:t>的基变量的基础上用一个换入变量替代其中一个换出变量，其它的基变量仍然保持不变。这些基变量的系数列向量是单位矩阵</a:t>
            </a:r>
            <a:r>
              <a:rPr lang="en-US" altLang="zh-CN" sz="2000" dirty="0">
                <a:effectLst/>
                <a:latin typeface="楷体_GB2312" pitchFamily="49" charset="-122"/>
                <a:ea typeface="楷体_GB2312" pitchFamily="49" charset="-122"/>
              </a:rPr>
              <a:t>I</a:t>
            </a:r>
            <a:r>
              <a:rPr lang="zh-CN" altLang="en-US" sz="2000" dirty="0">
                <a:effectLst/>
                <a:latin typeface="楷体_GB2312" pitchFamily="49" charset="-122"/>
                <a:ea typeface="楷体_GB2312" pitchFamily="49" charset="-122"/>
              </a:rPr>
              <a:t>中的单位向量。为了求得改进的基本可行解 　，只需对增广矩阵</a:t>
            </a:r>
            <a:endParaRPr lang="zh-CN" altLang="en-US" sz="2000" dirty="0">
              <a:effectLst/>
              <a:latin typeface="楷体_GB2312" pitchFamily="49" charset="-122"/>
              <a:ea typeface="楷体_GB2312" pitchFamily="49" charset="-122"/>
            </a:endParaRPr>
          </a:p>
          <a:p>
            <a:pPr>
              <a:lnSpc>
                <a:spcPct val="140000"/>
              </a:lnSpc>
            </a:pPr>
            <a:endParaRPr lang="zh-CN" altLang="en-US" sz="2000" dirty="0">
              <a:effectLst/>
              <a:latin typeface="楷体_GB2312" pitchFamily="49" charset="-122"/>
              <a:ea typeface="楷体_GB2312" pitchFamily="49" charset="-122"/>
            </a:endParaRPr>
          </a:p>
          <a:p>
            <a:pPr>
              <a:lnSpc>
                <a:spcPct val="140000"/>
              </a:lnSpc>
            </a:pPr>
            <a:endParaRPr lang="zh-CN" altLang="en-US" sz="2000" dirty="0">
              <a:effectLst/>
              <a:latin typeface="楷体_GB2312" pitchFamily="49" charset="-122"/>
              <a:ea typeface="楷体_GB2312" pitchFamily="49" charset="-122"/>
            </a:endParaRPr>
          </a:p>
          <a:p>
            <a:pPr>
              <a:lnSpc>
                <a:spcPct val="140000"/>
              </a:lnSpc>
            </a:pPr>
            <a:r>
              <a:rPr lang="zh-CN" altLang="en-US" sz="2000" dirty="0">
                <a:effectLst/>
                <a:latin typeface="楷体_GB2312" pitchFamily="49" charset="-122"/>
                <a:ea typeface="楷体_GB2312" pitchFamily="49" charset="-122"/>
              </a:rPr>
              <a:t> 施行初等行变换，将换入变量的系数列向量变换成换出变量所对应的单位向量即可。</a:t>
            </a:r>
            <a:endParaRPr lang="zh-CN" altLang="en-US" sz="2000" dirty="0">
              <a:effectLst/>
              <a:latin typeface="楷体_GB2312" pitchFamily="49" charset="-122"/>
              <a:ea typeface="楷体_GB2312" pitchFamily="49" charset="-122"/>
            </a:endParaRPr>
          </a:p>
        </p:txBody>
      </p:sp>
      <p:sp>
        <p:nvSpPr>
          <p:cNvPr id="7" name="Rectangle 6"/>
          <p:cNvSpPr>
            <a:spLocks noChangeArrowheads="1"/>
          </p:cNvSpPr>
          <p:nvPr/>
        </p:nvSpPr>
        <p:spPr bwMode="auto">
          <a:xfrm>
            <a:off x="611188" y="765175"/>
            <a:ext cx="7705725" cy="117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a:effectLst/>
                <a:ea typeface="楷体_GB2312" pitchFamily="49" charset="-122"/>
              </a:rPr>
              <a:t>　　</a:t>
            </a:r>
            <a:r>
              <a:rPr lang="zh-CN" altLang="en-US" sz="2000">
                <a:effectLst/>
                <a:ea typeface="楷体_GB2312" pitchFamily="49" charset="-122"/>
              </a:rPr>
              <a:t>由于行初等变换后的方程组　　　　　　　　　　　</a:t>
            </a:r>
            <a:endParaRPr lang="zh-CN" altLang="en-US" sz="2000">
              <a:effectLst/>
              <a:ea typeface="楷体_GB2312" pitchFamily="49" charset="-122"/>
            </a:endParaRPr>
          </a:p>
          <a:p>
            <a:pPr algn="l">
              <a:lnSpc>
                <a:spcPct val="120000"/>
              </a:lnSpc>
            </a:pPr>
            <a:endParaRPr lang="zh-CN" altLang="en-US" sz="2000">
              <a:effectLst/>
              <a:ea typeface="楷体_GB2312" pitchFamily="49" charset="-122"/>
            </a:endParaRPr>
          </a:p>
          <a:p>
            <a:pPr algn="l">
              <a:lnSpc>
                <a:spcPct val="120000"/>
              </a:lnSpc>
            </a:pPr>
            <a:r>
              <a:rPr lang="zh-CN" altLang="en-US" sz="2000">
                <a:effectLst/>
                <a:ea typeface="楷体_GB2312" pitchFamily="49" charset="-122"/>
              </a:rPr>
              <a:t>与原约束方程组　  　　   或　　　　　　　　　　同解</a:t>
            </a:r>
            <a:endParaRPr lang="zh-CN" altLang="en-US" sz="2000">
              <a:effectLst/>
              <a:ea typeface="楷体_GB2312" pitchFamily="49" charset="-122"/>
            </a:endParaRPr>
          </a:p>
        </p:txBody>
      </p:sp>
      <p:graphicFrame>
        <p:nvGraphicFramePr>
          <p:cNvPr id="9" name="Object 2"/>
          <p:cNvGraphicFramePr>
            <a:graphicFrameLocks noChangeAspect="1"/>
          </p:cNvGraphicFramePr>
          <p:nvPr/>
        </p:nvGraphicFramePr>
        <p:xfrm>
          <a:off x="4500563" y="693738"/>
          <a:ext cx="2954337" cy="863600"/>
        </p:xfrm>
        <a:graphic>
          <a:graphicData uri="http://schemas.openxmlformats.org/presentationml/2006/ole">
            <mc:AlternateContent xmlns:mc="http://schemas.openxmlformats.org/markup-compatibility/2006">
              <mc:Choice xmlns:v="urn:schemas-microsoft-com:vml" Requires="v">
                <p:oleObj spid="_x0000_s19457" name="公式" r:id="rId1" imgW="35661600" imgH="11582400" progId="Equation.3">
                  <p:embed/>
                </p:oleObj>
              </mc:Choice>
              <mc:Fallback>
                <p:oleObj name="公式" r:id="rId1" imgW="35661600" imgH="11582400" progId="Equation.3">
                  <p:embed/>
                  <p:pic>
                    <p:nvPicPr>
                      <p:cNvPr id="0" name="图片 19456"/>
                      <p:cNvPicPr>
                        <a:picLocks noChangeAspect="1"/>
                      </p:cNvPicPr>
                      <p:nvPr/>
                    </p:nvPicPr>
                    <p:blipFill>
                      <a:blip r:embed="rId2"/>
                      <a:stretch>
                        <a:fillRect/>
                      </a:stretch>
                    </p:blipFill>
                    <p:spPr>
                      <a:xfrm>
                        <a:off x="4500563" y="693738"/>
                        <a:ext cx="2954337" cy="863600"/>
                      </a:xfrm>
                      <a:prstGeom prst="rect">
                        <a:avLst/>
                      </a:prstGeom>
                      <a:noFill/>
                      <a:ln w="9525">
                        <a:noFill/>
                      </a:ln>
                    </p:spPr>
                  </p:pic>
                </p:oleObj>
              </mc:Fallback>
            </mc:AlternateContent>
          </a:graphicData>
        </a:graphic>
      </p:graphicFrame>
      <p:graphicFrame>
        <p:nvGraphicFramePr>
          <p:cNvPr id="10" name="Object 3"/>
          <p:cNvGraphicFramePr>
            <a:graphicFrameLocks noChangeAspect="1"/>
          </p:cNvGraphicFramePr>
          <p:nvPr/>
        </p:nvGraphicFramePr>
        <p:xfrm>
          <a:off x="2455863" y="1556792"/>
          <a:ext cx="1036637" cy="317500"/>
        </p:xfrm>
        <a:graphic>
          <a:graphicData uri="http://schemas.openxmlformats.org/presentationml/2006/ole">
            <mc:AlternateContent xmlns:mc="http://schemas.openxmlformats.org/markup-compatibility/2006">
              <mc:Choice xmlns:v="urn:schemas-microsoft-com:vml" Requires="v">
                <p:oleObj spid="_x0000_s19458" name="公式" r:id="rId3" imgW="12496800" imgH="4267200" progId="Equation.3">
                  <p:embed/>
                </p:oleObj>
              </mc:Choice>
              <mc:Fallback>
                <p:oleObj name="公式" r:id="rId3" imgW="12496800" imgH="4267200" progId="Equation.3">
                  <p:embed/>
                  <p:pic>
                    <p:nvPicPr>
                      <p:cNvPr id="0" name="图片 19457"/>
                      <p:cNvPicPr>
                        <a:picLocks noChangeAspect="1"/>
                      </p:cNvPicPr>
                      <p:nvPr/>
                    </p:nvPicPr>
                    <p:blipFill>
                      <a:blip r:embed="rId4"/>
                      <a:stretch>
                        <a:fillRect/>
                      </a:stretch>
                    </p:blipFill>
                    <p:spPr>
                      <a:xfrm>
                        <a:off x="2455863" y="1556792"/>
                        <a:ext cx="1036637" cy="317500"/>
                      </a:xfrm>
                      <a:prstGeom prst="rect">
                        <a:avLst/>
                      </a:prstGeom>
                      <a:noFill/>
                      <a:ln w="9525">
                        <a:noFill/>
                      </a:ln>
                    </p:spPr>
                  </p:pic>
                </p:oleObj>
              </mc:Fallback>
            </mc:AlternateContent>
          </a:graphicData>
        </a:graphic>
      </p:graphicFrame>
      <p:graphicFrame>
        <p:nvGraphicFramePr>
          <p:cNvPr id="11" name="Object 4"/>
          <p:cNvGraphicFramePr>
            <a:graphicFrameLocks noChangeAspect="1"/>
          </p:cNvGraphicFramePr>
          <p:nvPr/>
        </p:nvGraphicFramePr>
        <p:xfrm>
          <a:off x="3989388" y="1412875"/>
          <a:ext cx="2095500" cy="863600"/>
        </p:xfrm>
        <a:graphic>
          <a:graphicData uri="http://schemas.openxmlformats.org/presentationml/2006/ole">
            <mc:AlternateContent xmlns:mc="http://schemas.openxmlformats.org/markup-compatibility/2006">
              <mc:Choice xmlns:v="urn:schemas-microsoft-com:vml" Requires="v">
                <p:oleObj spid="_x0000_s19459" name="公式" r:id="rId5" imgW="25298400" imgH="11582400" progId="Equation.3">
                  <p:embed/>
                </p:oleObj>
              </mc:Choice>
              <mc:Fallback>
                <p:oleObj name="公式" r:id="rId5" imgW="25298400" imgH="11582400" progId="Equation.3">
                  <p:embed/>
                  <p:pic>
                    <p:nvPicPr>
                      <p:cNvPr id="0" name="图片 19458"/>
                      <p:cNvPicPr>
                        <a:picLocks noChangeAspect="1"/>
                      </p:cNvPicPr>
                      <p:nvPr/>
                    </p:nvPicPr>
                    <p:blipFill>
                      <a:blip r:embed="rId6"/>
                      <a:stretch>
                        <a:fillRect/>
                      </a:stretch>
                    </p:blipFill>
                    <p:spPr>
                      <a:xfrm>
                        <a:off x="3989388" y="1412875"/>
                        <a:ext cx="2095500" cy="863600"/>
                      </a:xfrm>
                      <a:prstGeom prst="rect">
                        <a:avLst/>
                      </a:prstGeom>
                      <a:noFill/>
                      <a:ln w="9525">
                        <a:noFill/>
                      </a:ln>
                    </p:spPr>
                  </p:pic>
                </p:oleObj>
              </mc:Fallback>
            </mc:AlternateContent>
          </a:graphicData>
        </a:graphic>
      </p:graphicFrame>
      <p:graphicFrame>
        <p:nvGraphicFramePr>
          <p:cNvPr id="12" name="Object 5"/>
          <p:cNvGraphicFramePr>
            <a:graphicFrameLocks noChangeAspect="1"/>
          </p:cNvGraphicFramePr>
          <p:nvPr/>
        </p:nvGraphicFramePr>
        <p:xfrm>
          <a:off x="3708400" y="2420938"/>
          <a:ext cx="430213" cy="295275"/>
        </p:xfrm>
        <a:graphic>
          <a:graphicData uri="http://schemas.openxmlformats.org/presentationml/2006/ole">
            <mc:AlternateContent xmlns:mc="http://schemas.openxmlformats.org/markup-compatibility/2006">
              <mc:Choice xmlns:v="urn:schemas-microsoft-com:vml" Requires="v">
                <p:oleObj spid="_x0000_s19460" name="公式" r:id="rId7" imgW="5181600" imgH="3962400" progId="Equation.3">
                  <p:embed/>
                </p:oleObj>
              </mc:Choice>
              <mc:Fallback>
                <p:oleObj name="公式" r:id="rId7" imgW="5181600" imgH="3962400" progId="Equation.3">
                  <p:embed/>
                  <p:pic>
                    <p:nvPicPr>
                      <p:cNvPr id="0" name="图片 19459"/>
                      <p:cNvPicPr>
                        <a:picLocks noChangeAspect="1"/>
                      </p:cNvPicPr>
                      <p:nvPr/>
                    </p:nvPicPr>
                    <p:blipFill>
                      <a:blip r:embed="rId8"/>
                      <a:stretch>
                        <a:fillRect/>
                      </a:stretch>
                    </p:blipFill>
                    <p:spPr>
                      <a:xfrm>
                        <a:off x="3708400" y="2420938"/>
                        <a:ext cx="430213" cy="295275"/>
                      </a:xfrm>
                      <a:prstGeom prst="rect">
                        <a:avLst/>
                      </a:prstGeom>
                      <a:noFill/>
                      <a:ln w="9525">
                        <a:noFill/>
                      </a:ln>
                    </p:spPr>
                  </p:pic>
                </p:oleObj>
              </mc:Fallback>
            </mc:AlternateContent>
          </a:graphicData>
        </a:graphic>
      </p:graphicFrame>
      <p:graphicFrame>
        <p:nvGraphicFramePr>
          <p:cNvPr id="13" name="Object 6"/>
          <p:cNvGraphicFramePr>
            <a:graphicFrameLocks noChangeAspect="1"/>
          </p:cNvGraphicFramePr>
          <p:nvPr/>
        </p:nvGraphicFramePr>
        <p:xfrm>
          <a:off x="1834937" y="3716338"/>
          <a:ext cx="430213" cy="295275"/>
        </p:xfrm>
        <a:graphic>
          <a:graphicData uri="http://schemas.openxmlformats.org/presentationml/2006/ole">
            <mc:AlternateContent xmlns:mc="http://schemas.openxmlformats.org/markup-compatibility/2006">
              <mc:Choice xmlns:v="urn:schemas-microsoft-com:vml" Requires="v">
                <p:oleObj spid="_x0000_s19461" name="公式" r:id="rId9" imgW="5181600" imgH="3962400" progId="Equation.3">
                  <p:embed/>
                </p:oleObj>
              </mc:Choice>
              <mc:Fallback>
                <p:oleObj name="公式" r:id="rId9" imgW="5181600" imgH="3962400" progId="Equation.3">
                  <p:embed/>
                  <p:pic>
                    <p:nvPicPr>
                      <p:cNvPr id="0" name="图片 19460"/>
                      <p:cNvPicPr>
                        <a:picLocks noChangeAspect="1"/>
                      </p:cNvPicPr>
                      <p:nvPr/>
                    </p:nvPicPr>
                    <p:blipFill>
                      <a:blip r:embed="rId8"/>
                      <a:stretch>
                        <a:fillRect/>
                      </a:stretch>
                    </p:blipFill>
                    <p:spPr>
                      <a:xfrm>
                        <a:off x="1834937" y="3716338"/>
                        <a:ext cx="430213" cy="295275"/>
                      </a:xfrm>
                      <a:prstGeom prst="rect">
                        <a:avLst/>
                      </a:prstGeom>
                      <a:noFill/>
                      <a:ln w="9525">
                        <a:noFill/>
                      </a:ln>
                    </p:spPr>
                  </p:pic>
                </p:oleObj>
              </mc:Fallback>
            </mc:AlternateContent>
          </a:graphicData>
        </a:graphic>
      </p:graphicFrame>
      <p:graphicFrame>
        <p:nvGraphicFramePr>
          <p:cNvPr id="14" name="Object 7"/>
          <p:cNvGraphicFramePr>
            <a:graphicFrameLocks noChangeAspect="1"/>
          </p:cNvGraphicFramePr>
          <p:nvPr/>
        </p:nvGraphicFramePr>
        <p:xfrm>
          <a:off x="2771775" y="4273550"/>
          <a:ext cx="2447925" cy="501650"/>
        </p:xfrm>
        <a:graphic>
          <a:graphicData uri="http://schemas.openxmlformats.org/presentationml/2006/ole">
            <mc:AlternateContent xmlns:mc="http://schemas.openxmlformats.org/markup-compatibility/2006">
              <mc:Choice xmlns:v="urn:schemas-microsoft-com:vml" Requires="v">
                <p:oleObj spid="_x0000_s19462" name="公式" r:id="rId10" imgW="24079200" imgH="5486400" progId="Equation.3">
                  <p:embed/>
                </p:oleObj>
              </mc:Choice>
              <mc:Fallback>
                <p:oleObj name="公式" r:id="rId10" imgW="24079200" imgH="5486400" progId="Equation.3">
                  <p:embed/>
                  <p:pic>
                    <p:nvPicPr>
                      <p:cNvPr id="0" name="图片 19461"/>
                      <p:cNvPicPr>
                        <a:picLocks noChangeAspect="1"/>
                      </p:cNvPicPr>
                      <p:nvPr/>
                    </p:nvPicPr>
                    <p:blipFill>
                      <a:blip r:embed="rId11"/>
                      <a:stretch>
                        <a:fillRect/>
                      </a:stretch>
                    </p:blipFill>
                    <p:spPr>
                      <a:xfrm>
                        <a:off x="2771775" y="4273550"/>
                        <a:ext cx="2447925" cy="5016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4" presetClass="entr" presetSubtype="16"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ox(in)">
                                      <p:cBhvr>
                                        <p:cTn id="10" dur="500"/>
                                        <p:tgtEl>
                                          <p:spTgt spid="9"/>
                                        </p:tgtEl>
                                      </p:cBhvr>
                                    </p:animEffect>
                                  </p:childTnLst>
                                </p:cTn>
                              </p:par>
                              <p:par>
                                <p:cTn id="11" presetID="4" presetClass="entr" presetSubtype="16"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ox(in)">
                                      <p:cBhvr>
                                        <p:cTn id="13" dur="500"/>
                                        <p:tgtEl>
                                          <p:spTgt spid="10"/>
                                        </p:tgtEl>
                                      </p:cBhvr>
                                    </p:animEffect>
                                  </p:childTnLst>
                                </p:cTn>
                              </p:par>
                              <p:par>
                                <p:cTn id="14" presetID="4" presetClass="entr" presetSubtype="16"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ox(i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ox(in)">
                                      <p:cBhvr>
                                        <p:cTn id="21" dur="500"/>
                                        <p:tgtEl>
                                          <p:spTgt spid="12"/>
                                        </p:tgtEl>
                                      </p:cBhvr>
                                    </p:animEffect>
                                  </p:childTnLst>
                                </p:cTn>
                              </p:par>
                              <p:par>
                                <p:cTn id="22" presetID="4" presetClass="entr" presetSubtype="16"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ox(in)">
                                      <p:cBhvr>
                                        <p:cTn id="24" dur="500"/>
                                        <p:tgtEl>
                                          <p:spTgt spid="13"/>
                                        </p:tgtEl>
                                      </p:cBhvr>
                                    </p:animEffect>
                                  </p:childTnLst>
                                </p:cTn>
                              </p:par>
                              <p:par>
                                <p:cTn id="25" presetID="4" presetClass="entr" presetSubtype="16"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ox(in)">
                                      <p:cBhvr>
                                        <p:cTn id="27" dur="500"/>
                                        <p:tgtEl>
                                          <p:spTgt spid="14"/>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ox(in)">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832079" y="122238"/>
            <a:ext cx="6072230" cy="582594"/>
          </a:xfrm>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sp>
        <p:nvSpPr>
          <p:cNvPr id="3" name="AutoShape 2"/>
          <p:cNvSpPr>
            <a:spLocks noChangeAspect="1" noChangeArrowheads="1"/>
          </p:cNvSpPr>
          <p:nvPr/>
        </p:nvSpPr>
        <p:spPr bwMode="auto">
          <a:xfrm>
            <a:off x="21763038" y="-144463"/>
            <a:ext cx="457200" cy="2667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x-none"/>
          </a:p>
        </p:txBody>
      </p:sp>
      <p:sp>
        <p:nvSpPr>
          <p:cNvPr id="5" name="AutoShape 3"/>
          <p:cNvSpPr>
            <a:spLocks noChangeAspect="1" noChangeArrowheads="1"/>
          </p:cNvSpPr>
          <p:nvPr/>
        </p:nvSpPr>
        <p:spPr bwMode="auto">
          <a:xfrm>
            <a:off x="23623588" y="-144463"/>
            <a:ext cx="215900" cy="2667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x-none"/>
          </a:p>
        </p:txBody>
      </p:sp>
      <p:sp>
        <p:nvSpPr>
          <p:cNvPr id="7" name="AutoShape 4"/>
          <p:cNvSpPr>
            <a:spLocks noChangeAspect="1" noChangeArrowheads="1"/>
          </p:cNvSpPr>
          <p:nvPr/>
        </p:nvSpPr>
        <p:spPr bwMode="auto">
          <a:xfrm>
            <a:off x="24455438" y="-144463"/>
            <a:ext cx="5207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x-none"/>
          </a:p>
        </p:txBody>
      </p:sp>
      <p:sp>
        <p:nvSpPr>
          <p:cNvPr id="9" name="AutoShape 5"/>
          <p:cNvSpPr>
            <a:spLocks noChangeAspect="1" noChangeArrowheads="1"/>
          </p:cNvSpPr>
          <p:nvPr/>
        </p:nvSpPr>
        <p:spPr bwMode="auto">
          <a:xfrm>
            <a:off x="25741313" y="-144463"/>
            <a:ext cx="6477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x-none"/>
          </a:p>
        </p:txBody>
      </p:sp>
      <p:sp>
        <p:nvSpPr>
          <p:cNvPr id="18" name="Rectangle 3"/>
          <p:cNvSpPr>
            <a:spLocks noChangeArrowheads="1"/>
          </p:cNvSpPr>
          <p:nvPr/>
        </p:nvSpPr>
        <p:spPr bwMode="auto">
          <a:xfrm>
            <a:off x="1192908" y="3230562"/>
            <a:ext cx="43195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dirty="0">
                <a:solidFill>
                  <a:schemeClr val="accent2"/>
                </a:solidFill>
                <a:effectLst/>
                <a:latin typeface="楷体_GB2312" pitchFamily="49" charset="-122"/>
                <a:ea typeface="楷体_GB2312" pitchFamily="49" charset="-122"/>
              </a:rPr>
              <a:t>(</a:t>
            </a:r>
            <a:r>
              <a:rPr lang="zh-CN" altLang="en-US" sz="2000" b="1" dirty="0">
                <a:solidFill>
                  <a:schemeClr val="accent2"/>
                </a:solidFill>
                <a:effectLst/>
                <a:latin typeface="楷体_GB2312" pitchFamily="49" charset="-122"/>
                <a:ea typeface="楷体_GB2312" pitchFamily="49" charset="-122"/>
              </a:rPr>
              <a:t>１</a:t>
            </a:r>
            <a:r>
              <a:rPr lang="en-US" altLang="zh-CN" sz="2000" b="1" dirty="0">
                <a:solidFill>
                  <a:schemeClr val="accent2"/>
                </a:solidFill>
                <a:effectLst/>
                <a:latin typeface="楷体_GB2312" pitchFamily="49" charset="-122"/>
                <a:ea typeface="楷体_GB2312" pitchFamily="49" charset="-122"/>
              </a:rPr>
              <a:t>)</a:t>
            </a:r>
            <a:r>
              <a:rPr lang="zh-CN" altLang="en-US" sz="2000" b="1" dirty="0">
                <a:solidFill>
                  <a:schemeClr val="accent2"/>
                </a:solidFill>
                <a:effectLst/>
                <a:latin typeface="楷体_GB2312" pitchFamily="49" charset="-122"/>
                <a:ea typeface="楷体_GB2312" pitchFamily="49" charset="-122"/>
              </a:rPr>
              <a:t>确定初始的基本可行解</a:t>
            </a:r>
            <a:endParaRPr lang="zh-CN" altLang="en-US" sz="2000" b="1" dirty="0">
              <a:solidFill>
                <a:schemeClr val="accent2"/>
              </a:solidFill>
              <a:effectLst/>
              <a:latin typeface="楷体_GB2312" pitchFamily="49" charset="-122"/>
              <a:ea typeface="楷体_GB2312" pitchFamily="49" charset="-122"/>
            </a:endParaRPr>
          </a:p>
        </p:txBody>
      </p:sp>
      <p:graphicFrame>
        <p:nvGraphicFramePr>
          <p:cNvPr id="19" name="Object 7"/>
          <p:cNvGraphicFramePr>
            <a:graphicFrameLocks noChangeAspect="1"/>
          </p:cNvGraphicFramePr>
          <p:nvPr/>
        </p:nvGraphicFramePr>
        <p:xfrm>
          <a:off x="1746587" y="1212476"/>
          <a:ext cx="3810000" cy="1736725"/>
        </p:xfrm>
        <a:graphic>
          <a:graphicData uri="http://schemas.openxmlformats.org/presentationml/2006/ole">
            <mc:AlternateContent xmlns:mc="http://schemas.openxmlformats.org/markup-compatibility/2006">
              <mc:Choice xmlns:v="urn:schemas-microsoft-com:vml" Requires="v">
                <p:oleObj spid="_x0000_s20481" name="Equation" r:id="rId1" imgW="49682400" imgH="22555200" progId="Equation.DSMT4">
                  <p:embed/>
                </p:oleObj>
              </mc:Choice>
              <mc:Fallback>
                <p:oleObj name="Equation" r:id="rId1" imgW="49682400" imgH="22555200" progId="Equation.DSMT4">
                  <p:embed/>
                  <p:pic>
                    <p:nvPicPr>
                      <p:cNvPr id="0" name="图片 20480"/>
                      <p:cNvPicPr>
                        <a:picLocks noChangeAspect="1"/>
                      </p:cNvPicPr>
                      <p:nvPr/>
                    </p:nvPicPr>
                    <p:blipFill>
                      <a:blip r:embed="rId2"/>
                      <a:stretch>
                        <a:fillRect/>
                      </a:stretch>
                    </p:blipFill>
                    <p:spPr>
                      <a:xfrm>
                        <a:off x="1746587" y="1212476"/>
                        <a:ext cx="3810000" cy="1736725"/>
                      </a:xfrm>
                      <a:prstGeom prst="rect">
                        <a:avLst/>
                      </a:prstGeom>
                      <a:noFill/>
                      <a:ln w="9525">
                        <a:noFill/>
                      </a:ln>
                    </p:spPr>
                  </p:pic>
                </p:oleObj>
              </mc:Fallback>
            </mc:AlternateContent>
          </a:graphicData>
        </a:graphic>
      </p:graphicFrame>
      <p:graphicFrame>
        <p:nvGraphicFramePr>
          <p:cNvPr id="20" name="Object 6"/>
          <p:cNvGraphicFramePr>
            <a:graphicFrameLocks noChangeAspect="1"/>
          </p:cNvGraphicFramePr>
          <p:nvPr/>
        </p:nvGraphicFramePr>
        <p:xfrm>
          <a:off x="4468714" y="3856037"/>
          <a:ext cx="2952750" cy="863600"/>
        </p:xfrm>
        <a:graphic>
          <a:graphicData uri="http://schemas.openxmlformats.org/presentationml/2006/ole">
            <mc:AlternateContent xmlns:mc="http://schemas.openxmlformats.org/markup-compatibility/2006">
              <mc:Choice xmlns:v="urn:schemas-microsoft-com:vml" Requires="v">
                <p:oleObj spid="_x0000_s20482" name="Equation" r:id="rId3" imgW="31394400" imgH="10972800" progId="Equation.DSMT4">
                  <p:embed/>
                </p:oleObj>
              </mc:Choice>
              <mc:Fallback>
                <p:oleObj name="Equation" r:id="rId3" imgW="31394400" imgH="10972800" progId="Equation.DSMT4">
                  <p:embed/>
                  <p:pic>
                    <p:nvPicPr>
                      <p:cNvPr id="0" name="图片 20481"/>
                      <p:cNvPicPr>
                        <a:picLocks noChangeAspect="1"/>
                      </p:cNvPicPr>
                      <p:nvPr/>
                    </p:nvPicPr>
                    <p:blipFill>
                      <a:blip r:embed="rId4"/>
                      <a:stretch>
                        <a:fillRect/>
                      </a:stretch>
                    </p:blipFill>
                    <p:spPr>
                      <a:xfrm>
                        <a:off x="4468714" y="3856037"/>
                        <a:ext cx="2952750" cy="863600"/>
                      </a:xfrm>
                      <a:prstGeom prst="rect">
                        <a:avLst/>
                      </a:prstGeom>
                      <a:noFill/>
                      <a:ln w="9525">
                        <a:noFill/>
                      </a:ln>
                    </p:spPr>
                  </p:pic>
                </p:oleObj>
              </mc:Fallback>
            </mc:AlternateContent>
          </a:graphicData>
        </a:graphic>
      </p:graphicFrame>
      <p:graphicFrame>
        <p:nvGraphicFramePr>
          <p:cNvPr id="21" name="Object 4"/>
          <p:cNvGraphicFramePr>
            <a:graphicFrameLocks noChangeAspect="1"/>
          </p:cNvGraphicFramePr>
          <p:nvPr/>
        </p:nvGraphicFramePr>
        <p:xfrm>
          <a:off x="939066" y="4717630"/>
          <a:ext cx="865188" cy="847725"/>
        </p:xfrm>
        <a:graphic>
          <a:graphicData uri="http://schemas.openxmlformats.org/presentationml/2006/ole">
            <mc:AlternateContent xmlns:mc="http://schemas.openxmlformats.org/markup-compatibility/2006">
              <mc:Choice xmlns:v="urn:schemas-microsoft-com:vml" Requires="v">
                <p:oleObj spid="_x0000_s20483" name="Equation" r:id="rId5" imgW="12192000" imgH="10972800" progId="Equation.DSMT4">
                  <p:embed/>
                </p:oleObj>
              </mc:Choice>
              <mc:Fallback>
                <p:oleObj name="Equation" r:id="rId5" imgW="12192000" imgH="10972800" progId="Equation.DSMT4">
                  <p:embed/>
                  <p:pic>
                    <p:nvPicPr>
                      <p:cNvPr id="0" name="图片 20482"/>
                      <p:cNvPicPr>
                        <a:picLocks noChangeAspect="1"/>
                      </p:cNvPicPr>
                      <p:nvPr/>
                    </p:nvPicPr>
                    <p:blipFill>
                      <a:blip r:embed="rId6"/>
                      <a:stretch>
                        <a:fillRect/>
                      </a:stretch>
                    </p:blipFill>
                    <p:spPr>
                      <a:xfrm>
                        <a:off x="939066" y="4717630"/>
                        <a:ext cx="865188" cy="847725"/>
                      </a:xfrm>
                      <a:prstGeom prst="rect">
                        <a:avLst/>
                      </a:prstGeom>
                      <a:noFill/>
                      <a:ln w="9525">
                        <a:noFill/>
                      </a:ln>
                    </p:spPr>
                  </p:pic>
                </p:oleObj>
              </mc:Fallback>
            </mc:AlternateContent>
          </a:graphicData>
        </a:graphic>
      </p:graphicFrame>
      <p:graphicFrame>
        <p:nvGraphicFramePr>
          <p:cNvPr id="22" name="Object 2"/>
          <p:cNvGraphicFramePr>
            <a:graphicFrameLocks noChangeAspect="1"/>
          </p:cNvGraphicFramePr>
          <p:nvPr/>
        </p:nvGraphicFramePr>
        <p:xfrm>
          <a:off x="896382" y="3935412"/>
          <a:ext cx="2832100" cy="352425"/>
        </p:xfrm>
        <a:graphic>
          <a:graphicData uri="http://schemas.openxmlformats.org/presentationml/2006/ole">
            <mc:AlternateContent xmlns:mc="http://schemas.openxmlformats.org/markup-compatibility/2006">
              <mc:Choice xmlns:v="urn:schemas-microsoft-com:vml" Requires="v">
                <p:oleObj spid="_x0000_s20484" name="Equation" r:id="rId7" imgW="31089600" imgH="4876800" progId="Equation.DSMT4">
                  <p:embed/>
                </p:oleObj>
              </mc:Choice>
              <mc:Fallback>
                <p:oleObj name="Equation" r:id="rId7" imgW="31089600" imgH="4876800" progId="Equation.DSMT4">
                  <p:embed/>
                  <p:pic>
                    <p:nvPicPr>
                      <p:cNvPr id="0" name="图片 20483"/>
                      <p:cNvPicPr>
                        <a:picLocks noChangeAspect="1"/>
                      </p:cNvPicPr>
                      <p:nvPr/>
                    </p:nvPicPr>
                    <p:blipFill>
                      <a:blip r:embed="rId8"/>
                      <a:stretch>
                        <a:fillRect/>
                      </a:stretch>
                    </p:blipFill>
                    <p:spPr>
                      <a:xfrm>
                        <a:off x="896382" y="3935412"/>
                        <a:ext cx="2832100" cy="352425"/>
                      </a:xfrm>
                      <a:prstGeom prst="rect">
                        <a:avLst/>
                      </a:prstGeom>
                      <a:noFill/>
                      <a:ln w="9525">
                        <a:noFill/>
                      </a:ln>
                    </p:spPr>
                  </p:pic>
                </p:oleObj>
              </mc:Fallback>
            </mc:AlternateContent>
          </a:graphicData>
        </a:graphic>
      </p:graphicFrame>
      <p:sp>
        <p:nvSpPr>
          <p:cNvPr id="23" name="Rectangle 0"/>
          <p:cNvSpPr>
            <a:spLocks noChangeArrowheads="1"/>
          </p:cNvSpPr>
          <p:nvPr/>
        </p:nvSpPr>
        <p:spPr bwMode="auto">
          <a:xfrm>
            <a:off x="758826" y="981643"/>
            <a:ext cx="6810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solidFill>
                  <a:srgbClr val="7030A0"/>
                </a:solidFill>
                <a:effectLst/>
                <a:latin typeface="楷体_GB2312" pitchFamily="49" charset="-122"/>
                <a:ea typeface="楷体_GB2312" pitchFamily="49" charset="-122"/>
              </a:rPr>
              <a:t>例</a:t>
            </a:r>
            <a:r>
              <a:rPr lang="en-US" altLang="zh-CN" sz="2400" b="1" dirty="0">
                <a:solidFill>
                  <a:srgbClr val="7030A0"/>
                </a:solidFill>
                <a:effectLst/>
                <a:latin typeface="楷体_GB2312" pitchFamily="49" charset="-122"/>
                <a:ea typeface="楷体_GB2312" pitchFamily="49" charset="-122"/>
              </a:rPr>
              <a:t>1</a:t>
            </a:r>
            <a:endParaRPr lang="en-US" altLang="zh-CN" sz="2400" b="1" dirty="0">
              <a:solidFill>
                <a:srgbClr val="7030A0"/>
              </a:solidFill>
              <a:effectLst/>
              <a:latin typeface="楷体_GB2312" pitchFamily="49" charset="-122"/>
              <a:ea typeface="楷体_GB2312" pitchFamily="49" charset="-122"/>
            </a:endParaRPr>
          </a:p>
        </p:txBody>
      </p:sp>
      <p:sp>
        <p:nvSpPr>
          <p:cNvPr id="24" name="Rectangle 1"/>
          <p:cNvSpPr>
            <a:spLocks noChangeArrowheads="1"/>
          </p:cNvSpPr>
          <p:nvPr/>
        </p:nvSpPr>
        <p:spPr bwMode="auto">
          <a:xfrm>
            <a:off x="761108" y="3236912"/>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b="1" dirty="0">
                <a:solidFill>
                  <a:schemeClr val="accent2"/>
                </a:solidFill>
                <a:effectLst/>
                <a:ea typeface="楷体_GB2312" pitchFamily="49" charset="-122"/>
              </a:rPr>
              <a:t>解：</a:t>
            </a:r>
            <a:endParaRPr lang="zh-CN" altLang="en-US" sz="2000" b="1" dirty="0">
              <a:solidFill>
                <a:schemeClr val="accent2"/>
              </a:solidFill>
              <a:effectLst/>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2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graphicFrame>
        <p:nvGraphicFramePr>
          <p:cNvPr id="8" name="Object 5"/>
          <p:cNvGraphicFramePr>
            <a:graphicFrameLocks noChangeAspect="1"/>
          </p:cNvGraphicFramePr>
          <p:nvPr/>
        </p:nvGraphicFramePr>
        <p:xfrm>
          <a:off x="151853" y="1609128"/>
          <a:ext cx="114300" cy="219075"/>
        </p:xfrm>
        <a:graphic>
          <a:graphicData uri="http://schemas.openxmlformats.org/presentationml/2006/ole">
            <mc:AlternateContent xmlns:mc="http://schemas.openxmlformats.org/markup-compatibility/2006">
              <mc:Choice xmlns:v="urn:schemas-microsoft-com:vml" Requires="v">
                <p:oleObj spid="_x0000_s21505" name="" r:id="rId1" imgW="2743200" imgH="5181600" progId="Equation.3">
                  <p:embed/>
                </p:oleObj>
              </mc:Choice>
              <mc:Fallback>
                <p:oleObj name="" r:id="rId1" imgW="2743200" imgH="5181600" progId="Equation.3">
                  <p:embed/>
                  <p:pic>
                    <p:nvPicPr>
                      <p:cNvPr id="0" name="图片 21504"/>
                      <p:cNvPicPr>
                        <a:picLocks noChangeAspect="1"/>
                      </p:cNvPicPr>
                      <p:nvPr/>
                    </p:nvPicPr>
                    <p:blipFill>
                      <a:blip r:embed="rId2"/>
                      <a:stretch>
                        <a:fillRect/>
                      </a:stretch>
                    </p:blipFill>
                    <p:spPr>
                      <a:xfrm>
                        <a:off x="151853" y="1609128"/>
                        <a:ext cx="114300" cy="219075"/>
                      </a:xfrm>
                      <a:prstGeom prst="rect">
                        <a:avLst/>
                      </a:prstGeom>
                      <a:noFill/>
                      <a:ln w="9525">
                        <a:noFill/>
                      </a:ln>
                    </p:spPr>
                  </p:pic>
                </p:oleObj>
              </mc:Fallback>
            </mc:AlternateContent>
          </a:graphicData>
        </a:graphic>
      </p:graphicFrame>
      <p:grpSp>
        <p:nvGrpSpPr>
          <p:cNvPr id="10" name="Group 4"/>
          <p:cNvGrpSpPr/>
          <p:nvPr/>
        </p:nvGrpSpPr>
        <p:grpSpPr bwMode="auto">
          <a:xfrm>
            <a:off x="610641" y="1301153"/>
            <a:ext cx="8064500" cy="830263"/>
            <a:chOff x="289" y="2024"/>
            <a:chExt cx="5080" cy="523"/>
          </a:xfrm>
        </p:grpSpPr>
        <p:sp>
          <p:nvSpPr>
            <p:cNvPr id="11" name="Rectangle 2"/>
            <p:cNvSpPr>
              <a:spLocks noChangeArrowheads="1"/>
            </p:cNvSpPr>
            <p:nvPr/>
          </p:nvSpPr>
          <p:spPr bwMode="auto">
            <a:xfrm>
              <a:off x="289" y="2156"/>
              <a:ext cx="50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dirty="0">
                  <a:effectLst/>
                  <a:latin typeface="楷体_GB2312" pitchFamily="49" charset="-122"/>
                  <a:ea typeface="楷体_GB2312" pitchFamily="49" charset="-122"/>
                </a:rPr>
                <a:t>　　　　　　　　     ，基变量     　 ，非基变量          </a:t>
              </a:r>
              <a:endParaRPr lang="zh-CN" altLang="en-US" sz="2000" b="1" dirty="0">
                <a:effectLst/>
                <a:latin typeface="楷体_GB2312" pitchFamily="49" charset="-122"/>
                <a:ea typeface="楷体_GB2312" pitchFamily="49" charset="-122"/>
              </a:endParaRPr>
            </a:p>
          </p:txBody>
        </p:sp>
        <p:graphicFrame>
          <p:nvGraphicFramePr>
            <p:cNvPr id="12" name="Object 3"/>
            <p:cNvGraphicFramePr>
              <a:graphicFrameLocks noChangeAspect="1"/>
            </p:cNvGraphicFramePr>
            <p:nvPr/>
          </p:nvGraphicFramePr>
          <p:xfrm>
            <a:off x="567" y="2024"/>
            <a:ext cx="1451" cy="523"/>
          </p:xfrm>
          <a:graphic>
            <a:graphicData uri="http://schemas.openxmlformats.org/presentationml/2006/ole">
              <mc:AlternateContent xmlns:mc="http://schemas.openxmlformats.org/markup-compatibility/2006">
                <mc:Choice xmlns:v="urn:schemas-microsoft-com:vml" Requires="v">
                  <p:oleObj spid="_x0000_s21506" name="Equation" r:id="rId3" imgW="27127200" imgH="10972800" progId="Equation.DSMT4">
                    <p:embed/>
                  </p:oleObj>
                </mc:Choice>
                <mc:Fallback>
                  <p:oleObj name="Equation" r:id="rId3" imgW="27127200" imgH="10972800" progId="Equation.DSMT4">
                    <p:embed/>
                    <p:pic>
                      <p:nvPicPr>
                        <p:cNvPr id="0" name="图片 21505"/>
                        <p:cNvPicPr>
                          <a:picLocks noChangeAspect="1"/>
                        </p:cNvPicPr>
                        <p:nvPr/>
                      </p:nvPicPr>
                      <p:blipFill>
                        <a:blip r:embed="rId4"/>
                        <a:stretch>
                          <a:fillRect/>
                        </a:stretch>
                      </p:blipFill>
                      <p:spPr>
                        <a:xfrm>
                          <a:off x="567" y="2024"/>
                          <a:ext cx="1451" cy="523"/>
                        </a:xfrm>
                        <a:prstGeom prst="rect">
                          <a:avLst/>
                        </a:prstGeom>
                        <a:noFill/>
                        <a:ln w="9525">
                          <a:noFill/>
                        </a:ln>
                      </p:spPr>
                    </p:pic>
                  </p:oleObj>
                </mc:Fallback>
              </mc:AlternateContent>
            </a:graphicData>
          </a:graphic>
        </p:graphicFrame>
        <p:graphicFrame>
          <p:nvGraphicFramePr>
            <p:cNvPr id="13" name="Object 4"/>
            <p:cNvGraphicFramePr>
              <a:graphicFrameLocks noChangeAspect="1"/>
            </p:cNvGraphicFramePr>
            <p:nvPr/>
          </p:nvGraphicFramePr>
          <p:xfrm>
            <a:off x="2726" y="2121"/>
            <a:ext cx="506" cy="326"/>
          </p:xfrm>
          <a:graphic>
            <a:graphicData uri="http://schemas.openxmlformats.org/presentationml/2006/ole">
              <mc:AlternateContent xmlns:mc="http://schemas.openxmlformats.org/markup-compatibility/2006">
                <mc:Choice xmlns:v="urn:schemas-microsoft-com:vml" Requires="v">
                  <p:oleObj spid="_x0000_s21507" name="Equation" r:id="rId5" imgW="8534400" imgH="5486400" progId="Equation.DSMT4">
                    <p:embed/>
                  </p:oleObj>
                </mc:Choice>
                <mc:Fallback>
                  <p:oleObj name="Equation" r:id="rId5" imgW="8534400" imgH="5486400" progId="Equation.DSMT4">
                    <p:embed/>
                    <p:pic>
                      <p:nvPicPr>
                        <p:cNvPr id="0" name="图片 21506"/>
                        <p:cNvPicPr>
                          <a:picLocks noChangeAspect="1"/>
                        </p:cNvPicPr>
                        <p:nvPr/>
                      </p:nvPicPr>
                      <p:blipFill>
                        <a:blip r:embed="rId6"/>
                        <a:stretch>
                          <a:fillRect/>
                        </a:stretch>
                      </p:blipFill>
                      <p:spPr>
                        <a:xfrm>
                          <a:off x="2726" y="2121"/>
                          <a:ext cx="506" cy="326"/>
                        </a:xfrm>
                        <a:prstGeom prst="rect">
                          <a:avLst/>
                        </a:prstGeom>
                        <a:noFill/>
                        <a:ln w="9525">
                          <a:noFill/>
                        </a:ln>
                      </p:spPr>
                    </p:pic>
                  </p:oleObj>
                </mc:Fallback>
              </mc:AlternateContent>
            </a:graphicData>
          </a:graphic>
        </p:graphicFrame>
        <p:graphicFrame>
          <p:nvGraphicFramePr>
            <p:cNvPr id="14" name="Object 5"/>
            <p:cNvGraphicFramePr>
              <a:graphicFrameLocks noChangeAspect="1"/>
            </p:cNvGraphicFramePr>
            <p:nvPr/>
          </p:nvGraphicFramePr>
          <p:xfrm>
            <a:off x="4251" y="2118"/>
            <a:ext cx="741" cy="326"/>
          </p:xfrm>
          <a:graphic>
            <a:graphicData uri="http://schemas.openxmlformats.org/presentationml/2006/ole">
              <mc:AlternateContent xmlns:mc="http://schemas.openxmlformats.org/markup-compatibility/2006">
                <mc:Choice xmlns:v="urn:schemas-microsoft-com:vml" Requires="v">
                  <p:oleObj spid="_x0000_s21508" name="Equation" r:id="rId7" imgW="12496800" imgH="5486400" progId="Equation.DSMT4">
                    <p:embed/>
                  </p:oleObj>
                </mc:Choice>
                <mc:Fallback>
                  <p:oleObj name="Equation" r:id="rId7" imgW="12496800" imgH="5486400" progId="Equation.DSMT4">
                    <p:embed/>
                    <p:pic>
                      <p:nvPicPr>
                        <p:cNvPr id="0" name="图片 21507"/>
                        <p:cNvPicPr>
                          <a:picLocks noChangeAspect="1"/>
                        </p:cNvPicPr>
                        <p:nvPr/>
                      </p:nvPicPr>
                      <p:blipFill>
                        <a:blip r:embed="rId8"/>
                        <a:stretch>
                          <a:fillRect/>
                        </a:stretch>
                      </p:blipFill>
                      <p:spPr>
                        <a:xfrm>
                          <a:off x="4251" y="2118"/>
                          <a:ext cx="741" cy="326"/>
                        </a:xfrm>
                        <a:prstGeom prst="rect">
                          <a:avLst/>
                        </a:prstGeom>
                        <a:noFill/>
                        <a:ln w="9525">
                          <a:noFill/>
                        </a:ln>
                      </p:spPr>
                    </p:pic>
                  </p:oleObj>
                </mc:Fallback>
              </mc:AlternateContent>
            </a:graphicData>
          </a:graphic>
        </p:graphicFrame>
      </p:grpSp>
      <p:graphicFrame>
        <p:nvGraphicFramePr>
          <p:cNvPr id="15" name="Object 6"/>
          <p:cNvGraphicFramePr>
            <a:graphicFrameLocks noChangeAspect="1"/>
          </p:cNvGraphicFramePr>
          <p:nvPr/>
        </p:nvGraphicFramePr>
        <p:xfrm>
          <a:off x="468064" y="2211388"/>
          <a:ext cx="8280400" cy="1217612"/>
        </p:xfrm>
        <a:graphic>
          <a:graphicData uri="http://schemas.openxmlformats.org/presentationml/2006/ole">
            <mc:AlternateContent xmlns:mc="http://schemas.openxmlformats.org/markup-compatibility/2006">
              <mc:Choice xmlns:v="urn:schemas-microsoft-com:vml" Requires="v">
                <p:oleObj spid="_x0000_s21509" name="Equation" r:id="rId9" imgW="109118400" imgH="17068800" progId="Equation.DSMT4">
                  <p:embed/>
                </p:oleObj>
              </mc:Choice>
              <mc:Fallback>
                <p:oleObj name="Equation" r:id="rId9" imgW="109118400" imgH="17068800" progId="Equation.DSMT4">
                  <p:embed/>
                  <p:pic>
                    <p:nvPicPr>
                      <p:cNvPr id="0" name="图片 21508"/>
                      <p:cNvPicPr>
                        <a:picLocks noChangeAspect="1"/>
                      </p:cNvPicPr>
                      <p:nvPr/>
                    </p:nvPicPr>
                    <p:blipFill>
                      <a:blip r:embed="rId10"/>
                      <a:stretch>
                        <a:fillRect/>
                      </a:stretch>
                    </p:blipFill>
                    <p:spPr>
                      <a:xfrm>
                        <a:off x="468064" y="2211388"/>
                        <a:ext cx="8280400" cy="1217612"/>
                      </a:xfrm>
                      <a:prstGeom prst="rect">
                        <a:avLst/>
                      </a:prstGeom>
                      <a:noFill/>
                      <a:ln w="9525">
                        <a:noFill/>
                      </a:ln>
                    </p:spPr>
                  </p:pic>
                </p:oleObj>
              </mc:Fallback>
            </mc:AlternateContent>
          </a:graphicData>
        </a:graphic>
      </p:graphicFrame>
      <p:graphicFrame>
        <p:nvGraphicFramePr>
          <p:cNvPr id="16" name="Object 7"/>
          <p:cNvGraphicFramePr>
            <a:graphicFrameLocks noChangeAspect="1"/>
          </p:cNvGraphicFramePr>
          <p:nvPr/>
        </p:nvGraphicFramePr>
        <p:xfrm>
          <a:off x="1258341" y="3550146"/>
          <a:ext cx="3282950" cy="742950"/>
        </p:xfrm>
        <a:graphic>
          <a:graphicData uri="http://schemas.openxmlformats.org/presentationml/2006/ole">
            <mc:AlternateContent xmlns:mc="http://schemas.openxmlformats.org/markup-compatibility/2006">
              <mc:Choice xmlns:v="urn:schemas-microsoft-com:vml" Requires="v">
                <p:oleObj spid="_x0000_s21510" name="Equation" r:id="rId11" imgW="40843200" imgH="10972800" progId="Equation.DSMT4">
                  <p:embed/>
                </p:oleObj>
              </mc:Choice>
              <mc:Fallback>
                <p:oleObj name="Equation" r:id="rId11" imgW="40843200" imgH="10972800" progId="Equation.DSMT4">
                  <p:embed/>
                  <p:pic>
                    <p:nvPicPr>
                      <p:cNvPr id="0" name="图片 21509"/>
                      <p:cNvPicPr>
                        <a:picLocks noChangeAspect="1"/>
                      </p:cNvPicPr>
                      <p:nvPr/>
                    </p:nvPicPr>
                    <p:blipFill>
                      <a:blip r:embed="rId12"/>
                      <a:stretch>
                        <a:fillRect/>
                      </a:stretch>
                    </p:blipFill>
                    <p:spPr>
                      <a:xfrm>
                        <a:off x="1258341" y="3550146"/>
                        <a:ext cx="3282950" cy="742950"/>
                      </a:xfrm>
                      <a:prstGeom prst="rect">
                        <a:avLst/>
                      </a:prstGeom>
                      <a:noFill/>
                      <a:ln w="9525">
                        <a:noFill/>
                      </a:ln>
                    </p:spPr>
                  </p:pic>
                </p:oleObj>
              </mc:Fallback>
            </mc:AlternateContent>
          </a:graphicData>
        </a:graphic>
      </p:graphicFrame>
      <p:graphicFrame>
        <p:nvGraphicFramePr>
          <p:cNvPr id="17" name="Object 8"/>
          <p:cNvGraphicFramePr>
            <a:graphicFrameLocks noChangeAspect="1"/>
          </p:cNvGraphicFramePr>
          <p:nvPr/>
        </p:nvGraphicFramePr>
        <p:xfrm>
          <a:off x="4642891" y="3693021"/>
          <a:ext cx="2665413" cy="407987"/>
        </p:xfrm>
        <a:graphic>
          <a:graphicData uri="http://schemas.openxmlformats.org/presentationml/2006/ole">
            <mc:AlternateContent xmlns:mc="http://schemas.openxmlformats.org/markup-compatibility/2006">
              <mc:Choice xmlns:v="urn:schemas-microsoft-com:vml" Requires="v">
                <p:oleObj spid="_x0000_s21511" name="Equation" r:id="rId13" imgW="23164800" imgH="5486400" progId="Equation.DSMT4">
                  <p:embed/>
                </p:oleObj>
              </mc:Choice>
              <mc:Fallback>
                <p:oleObj name="Equation" r:id="rId13" imgW="23164800" imgH="5486400" progId="Equation.DSMT4">
                  <p:embed/>
                  <p:pic>
                    <p:nvPicPr>
                      <p:cNvPr id="0" name="图片 21510"/>
                      <p:cNvPicPr>
                        <a:picLocks noChangeAspect="1"/>
                      </p:cNvPicPr>
                      <p:nvPr/>
                    </p:nvPicPr>
                    <p:blipFill>
                      <a:blip r:embed="rId14"/>
                      <a:stretch>
                        <a:fillRect/>
                      </a:stretch>
                    </p:blipFill>
                    <p:spPr>
                      <a:xfrm>
                        <a:off x="4642891" y="3693021"/>
                        <a:ext cx="2665413" cy="407987"/>
                      </a:xfrm>
                      <a:prstGeom prst="rect">
                        <a:avLst/>
                      </a:prstGeom>
                      <a:noFill/>
                      <a:ln w="9525">
                        <a:noFill/>
                      </a:ln>
                    </p:spPr>
                  </p:pic>
                </p:oleObj>
              </mc:Fallback>
            </mc:AlternateContent>
          </a:graphicData>
        </a:graphic>
      </p:graphicFrame>
      <p:graphicFrame>
        <p:nvGraphicFramePr>
          <p:cNvPr id="18" name="Object 9"/>
          <p:cNvGraphicFramePr>
            <a:graphicFrameLocks noChangeAspect="1"/>
          </p:cNvGraphicFramePr>
          <p:nvPr/>
        </p:nvGraphicFramePr>
        <p:xfrm>
          <a:off x="2540000" y="4770660"/>
          <a:ext cx="2997200" cy="782638"/>
        </p:xfrm>
        <a:graphic>
          <a:graphicData uri="http://schemas.openxmlformats.org/presentationml/2006/ole">
            <mc:AlternateContent xmlns:mc="http://schemas.openxmlformats.org/markup-compatibility/2006">
              <mc:Choice xmlns:v="urn:schemas-microsoft-com:vml" Requires="v">
                <p:oleObj spid="_x0000_s21512" name="Equation" r:id="rId15" imgW="38100000" imgH="10972800" progId="Equation.DSMT4">
                  <p:embed/>
                </p:oleObj>
              </mc:Choice>
              <mc:Fallback>
                <p:oleObj name="Equation" r:id="rId15" imgW="38100000" imgH="10972800" progId="Equation.DSMT4">
                  <p:embed/>
                  <p:pic>
                    <p:nvPicPr>
                      <p:cNvPr id="0" name="图片 21511"/>
                      <p:cNvPicPr>
                        <a:picLocks noChangeAspect="1"/>
                      </p:cNvPicPr>
                      <p:nvPr/>
                    </p:nvPicPr>
                    <p:blipFill>
                      <a:blip r:embed="rId16"/>
                      <a:stretch>
                        <a:fillRect/>
                      </a:stretch>
                    </p:blipFill>
                    <p:spPr>
                      <a:xfrm>
                        <a:off x="2540000" y="4770660"/>
                        <a:ext cx="2997200" cy="78263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en-US" altLang="zh-CN" dirty="0">
              <a:latin typeface="Times New Roman" panose="02020603050405020304" pitchFamily="18" charset="0"/>
              <a:cs typeface="Times New Roman" panose="02020603050405020304" pitchFamily="18" charset="0"/>
            </a:endParaRPr>
          </a:p>
        </p:txBody>
      </p:sp>
      <p:sp>
        <p:nvSpPr>
          <p:cNvPr id="14" name="Text Box 2"/>
          <p:cNvSpPr txBox="1">
            <a:spLocks noChangeArrowheads="1"/>
          </p:cNvSpPr>
          <p:nvPr/>
        </p:nvSpPr>
        <p:spPr bwMode="auto">
          <a:xfrm>
            <a:off x="619142" y="2584037"/>
            <a:ext cx="2016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a:effectLst/>
                <a:latin typeface="楷体_GB2312" pitchFamily="49" charset="-122"/>
                <a:ea typeface="楷体_GB2312" pitchFamily="49" charset="-122"/>
              </a:rPr>
              <a:t>检验向量</a:t>
            </a:r>
            <a:endParaRPr lang="zh-CN" altLang="en-US">
              <a:effectLst/>
              <a:latin typeface="楷体_GB2312" pitchFamily="49" charset="-122"/>
              <a:ea typeface="楷体_GB2312" pitchFamily="49" charset="-122"/>
            </a:endParaRPr>
          </a:p>
        </p:txBody>
      </p:sp>
      <p:grpSp>
        <p:nvGrpSpPr>
          <p:cNvPr id="15" name="Group 3"/>
          <p:cNvGrpSpPr/>
          <p:nvPr/>
        </p:nvGrpSpPr>
        <p:grpSpPr bwMode="auto">
          <a:xfrm>
            <a:off x="331805" y="1988840"/>
            <a:ext cx="8215312" cy="403225"/>
            <a:chOff x="295" y="1207"/>
            <a:chExt cx="5175" cy="254"/>
          </a:xfrm>
        </p:grpSpPr>
        <p:sp>
          <p:nvSpPr>
            <p:cNvPr id="16" name="Text Box 6"/>
            <p:cNvSpPr txBox="1">
              <a:spLocks noChangeArrowheads="1"/>
            </p:cNvSpPr>
            <p:nvPr/>
          </p:nvSpPr>
          <p:spPr bwMode="auto">
            <a:xfrm>
              <a:off x="295" y="1207"/>
              <a:ext cx="51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a:solidFill>
                    <a:schemeClr val="accent2"/>
                  </a:solidFill>
                  <a:effectLst/>
                </a:rPr>
                <a:t>(</a:t>
              </a:r>
              <a:r>
                <a:rPr lang="en-US" altLang="zh-CN" sz="2000" b="1">
                  <a:solidFill>
                    <a:schemeClr val="accent2"/>
                  </a:solidFill>
                  <a:effectLst/>
                  <a:cs typeface="Arial" panose="020B0604020202020204" pitchFamily="34" charset="0"/>
                </a:rPr>
                <a:t>2)  </a:t>
              </a:r>
              <a:r>
                <a:rPr lang="zh-CN" altLang="en-US" sz="2000" b="1">
                  <a:solidFill>
                    <a:schemeClr val="accent2"/>
                  </a:solidFill>
                  <a:effectLst/>
                  <a:latin typeface="楷体_GB2312" pitchFamily="49" charset="-122"/>
                  <a:ea typeface="楷体_GB2312" pitchFamily="49" charset="-122"/>
                </a:rPr>
                <a:t>检验　　　　　　　　　</a:t>
              </a:r>
              <a:r>
                <a:rPr lang="zh-CN" altLang="en-US" sz="2000" b="1">
                  <a:solidFill>
                    <a:schemeClr val="accent2"/>
                  </a:solidFill>
                  <a:effectLst/>
                  <a:latin typeface="楷体_GB2312" pitchFamily="49" charset="-122"/>
                  <a:ea typeface="楷体_GB2312" pitchFamily="49" charset="-122"/>
                  <a:cs typeface="Arial" panose="020B0604020202020204" pitchFamily="34" charset="0"/>
                </a:rPr>
                <a:t> </a:t>
              </a:r>
              <a:r>
                <a:rPr lang="zh-CN" altLang="en-US" sz="2000" b="1">
                  <a:solidFill>
                    <a:schemeClr val="accent2"/>
                  </a:solidFill>
                  <a:effectLst/>
                  <a:latin typeface="楷体_GB2312" pitchFamily="49" charset="-122"/>
                  <a:ea typeface="楷体_GB2312" pitchFamily="49" charset="-122"/>
                </a:rPr>
                <a:t>是否最优。</a:t>
              </a:r>
              <a:endParaRPr lang="zh-CN" altLang="en-US">
                <a:solidFill>
                  <a:schemeClr val="accent2"/>
                </a:solidFill>
                <a:effectLst/>
                <a:latin typeface="楷体_GB2312" pitchFamily="49" charset="-122"/>
                <a:ea typeface="楷体_GB2312" pitchFamily="49" charset="-122"/>
              </a:endParaRPr>
            </a:p>
          </p:txBody>
        </p:sp>
        <p:graphicFrame>
          <p:nvGraphicFramePr>
            <p:cNvPr id="17" name="Object 2"/>
            <p:cNvGraphicFramePr>
              <a:graphicFrameLocks noChangeAspect="1"/>
            </p:cNvGraphicFramePr>
            <p:nvPr/>
          </p:nvGraphicFramePr>
          <p:xfrm>
            <a:off x="975" y="1207"/>
            <a:ext cx="1451" cy="254"/>
          </p:xfrm>
          <a:graphic>
            <a:graphicData uri="http://schemas.openxmlformats.org/presentationml/2006/ole">
              <mc:AlternateContent xmlns:mc="http://schemas.openxmlformats.org/markup-compatibility/2006">
                <mc:Choice xmlns:v="urn:schemas-microsoft-com:vml" Requires="v">
                  <p:oleObj spid="_x0000_s22529" name="Equation" r:id="rId1" imgW="23164800" imgH="5486400" progId="Equation.DSMT4">
                    <p:embed/>
                  </p:oleObj>
                </mc:Choice>
                <mc:Fallback>
                  <p:oleObj name="Equation" r:id="rId1" imgW="23164800" imgH="5486400" progId="Equation.DSMT4">
                    <p:embed/>
                    <p:pic>
                      <p:nvPicPr>
                        <p:cNvPr id="0" name="图片 22528"/>
                        <p:cNvPicPr>
                          <a:picLocks noChangeAspect="1"/>
                        </p:cNvPicPr>
                        <p:nvPr/>
                      </p:nvPicPr>
                      <p:blipFill>
                        <a:blip r:embed="rId2"/>
                        <a:stretch>
                          <a:fillRect/>
                        </a:stretch>
                      </p:blipFill>
                      <p:spPr>
                        <a:xfrm>
                          <a:off x="975" y="1207"/>
                          <a:ext cx="1451" cy="254"/>
                        </a:xfrm>
                        <a:prstGeom prst="rect">
                          <a:avLst/>
                        </a:prstGeom>
                        <a:noFill/>
                        <a:ln w="9525">
                          <a:noFill/>
                        </a:ln>
                      </p:spPr>
                    </p:pic>
                  </p:oleObj>
                </mc:Fallback>
              </mc:AlternateContent>
            </a:graphicData>
          </a:graphic>
        </p:graphicFrame>
      </p:grpSp>
      <p:graphicFrame>
        <p:nvGraphicFramePr>
          <p:cNvPr id="18" name="Object 3"/>
          <p:cNvGraphicFramePr>
            <a:graphicFrameLocks noChangeAspect="1"/>
          </p:cNvGraphicFramePr>
          <p:nvPr/>
        </p:nvGraphicFramePr>
        <p:xfrm>
          <a:off x="1189055" y="2834862"/>
          <a:ext cx="7427912" cy="1325563"/>
        </p:xfrm>
        <a:graphic>
          <a:graphicData uri="http://schemas.openxmlformats.org/presentationml/2006/ole">
            <mc:AlternateContent xmlns:mc="http://schemas.openxmlformats.org/markup-compatibility/2006">
              <mc:Choice xmlns:v="urn:schemas-microsoft-com:vml" Requires="v">
                <p:oleObj spid="_x0000_s22530" name="Equation" r:id="rId3" imgW="76504800" imgH="16459200" progId="Equation.DSMT4">
                  <p:embed/>
                </p:oleObj>
              </mc:Choice>
              <mc:Fallback>
                <p:oleObj name="Equation" r:id="rId3" imgW="76504800" imgH="16459200" progId="Equation.DSMT4">
                  <p:embed/>
                  <p:pic>
                    <p:nvPicPr>
                      <p:cNvPr id="0" name="图片 22529"/>
                      <p:cNvPicPr>
                        <a:picLocks noChangeAspect="1"/>
                      </p:cNvPicPr>
                      <p:nvPr/>
                    </p:nvPicPr>
                    <p:blipFill>
                      <a:blip r:embed="rId4"/>
                      <a:stretch>
                        <a:fillRect/>
                      </a:stretch>
                    </p:blipFill>
                    <p:spPr>
                      <a:xfrm>
                        <a:off x="1189055" y="2834862"/>
                        <a:ext cx="7427912" cy="1325563"/>
                      </a:xfrm>
                      <a:prstGeom prst="rect">
                        <a:avLst/>
                      </a:prstGeom>
                      <a:noFill/>
                      <a:ln w="9525">
                        <a:noFill/>
                      </a:ln>
                    </p:spPr>
                  </p:pic>
                </p:oleObj>
              </mc:Fallback>
            </mc:AlternateContent>
          </a:graphicData>
        </a:graphic>
      </p:graphicFrame>
      <p:grpSp>
        <p:nvGrpSpPr>
          <p:cNvPr id="19" name="Group 5"/>
          <p:cNvGrpSpPr/>
          <p:nvPr/>
        </p:nvGrpSpPr>
        <p:grpSpPr bwMode="auto">
          <a:xfrm>
            <a:off x="757255" y="5034035"/>
            <a:ext cx="8215312" cy="1022350"/>
            <a:chOff x="295" y="2949"/>
            <a:chExt cx="5175" cy="644"/>
          </a:xfrm>
        </p:grpSpPr>
        <p:sp>
          <p:nvSpPr>
            <p:cNvPr id="20" name="Text Box 4"/>
            <p:cNvSpPr txBox="1">
              <a:spLocks noChangeArrowheads="1"/>
            </p:cNvSpPr>
            <p:nvPr/>
          </p:nvSpPr>
          <p:spPr bwMode="auto">
            <a:xfrm>
              <a:off x="295" y="2949"/>
              <a:ext cx="5175"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dirty="0">
                  <a:effectLst/>
                  <a:latin typeface="楷体_GB2312" pitchFamily="49" charset="-122"/>
                  <a:ea typeface="楷体_GB2312" pitchFamily="49" charset="-122"/>
                </a:rPr>
                <a:t>因为</a:t>
              </a:r>
              <a:r>
                <a:rPr lang="en-US" altLang="zh-CN" sz="2000" b="1" dirty="0">
                  <a:effectLst/>
                  <a:latin typeface="楷体_GB2312" pitchFamily="49" charset="-122"/>
                  <a:ea typeface="楷体_GB2312" pitchFamily="49" charset="-122"/>
                </a:rPr>
                <a:t>σ</a:t>
              </a:r>
              <a:r>
                <a:rPr lang="en-US" altLang="zh-CN" sz="2000" b="1" baseline="-30000" dirty="0">
                  <a:effectLst/>
                  <a:latin typeface="楷体_GB2312" pitchFamily="49" charset="-122"/>
                  <a:ea typeface="楷体_GB2312" pitchFamily="49" charset="-122"/>
                </a:rPr>
                <a:t>1</a:t>
              </a:r>
              <a:r>
                <a:rPr lang="en-US" altLang="zh-CN" sz="2000" b="1" dirty="0">
                  <a:effectLst/>
                  <a:latin typeface="楷体_GB2312" pitchFamily="49" charset="-122"/>
                  <a:ea typeface="楷体_GB2312" pitchFamily="49" charset="-122"/>
                </a:rPr>
                <a:t>=</a:t>
              </a:r>
              <a:r>
                <a:rPr lang="zh-CN" altLang="en-US" sz="2000" b="1" dirty="0">
                  <a:effectLst/>
                  <a:latin typeface="楷体_GB2312" pitchFamily="49" charset="-122"/>
                  <a:ea typeface="楷体_GB2312" pitchFamily="49" charset="-122"/>
                </a:rPr>
                <a:t>－</a:t>
              </a:r>
              <a:r>
                <a:rPr lang="en-US" altLang="zh-CN" sz="2000" b="1" dirty="0">
                  <a:effectLst/>
                  <a:latin typeface="楷体_GB2312" pitchFamily="49" charset="-122"/>
                  <a:ea typeface="楷体_GB2312" pitchFamily="49" charset="-122"/>
                </a:rPr>
                <a:t>3</a:t>
              </a:r>
              <a:r>
                <a:rPr lang="zh-CN" altLang="en-US" sz="2000" b="1" dirty="0">
                  <a:effectLst/>
                  <a:latin typeface="楷体_GB2312" pitchFamily="49" charset="-122"/>
                  <a:ea typeface="楷体_GB2312" pitchFamily="49" charset="-122"/>
                </a:rPr>
                <a:t>，</a:t>
              </a:r>
              <a:r>
                <a:rPr lang="en-US" altLang="zh-CN" sz="2000" b="1" dirty="0">
                  <a:effectLst/>
                  <a:latin typeface="楷体_GB2312" pitchFamily="49" charset="-122"/>
                  <a:ea typeface="楷体_GB2312" pitchFamily="49" charset="-122"/>
                </a:rPr>
                <a:t>σ</a:t>
              </a:r>
              <a:r>
                <a:rPr lang="en-US" altLang="zh-CN" sz="2000" b="1" baseline="-30000" dirty="0">
                  <a:effectLst/>
                  <a:latin typeface="楷体_GB2312" pitchFamily="49" charset="-122"/>
                  <a:ea typeface="楷体_GB2312" pitchFamily="49" charset="-122"/>
                </a:rPr>
                <a:t>3</a:t>
              </a:r>
              <a:r>
                <a:rPr lang="en-US" altLang="zh-CN" sz="2000" b="1" dirty="0">
                  <a:effectLst/>
                  <a:latin typeface="楷体_GB2312" pitchFamily="49" charset="-122"/>
                  <a:ea typeface="楷体_GB2312" pitchFamily="49" charset="-122"/>
                </a:rPr>
                <a:t>=</a:t>
              </a:r>
              <a:r>
                <a:rPr lang="zh-CN" altLang="en-US" sz="2000" b="1" dirty="0">
                  <a:effectLst/>
                  <a:latin typeface="楷体_GB2312" pitchFamily="49" charset="-122"/>
                  <a:ea typeface="楷体_GB2312" pitchFamily="49" charset="-122"/>
                </a:rPr>
                <a:t>－</a:t>
              </a:r>
              <a:r>
                <a:rPr lang="en-US" altLang="zh-CN" sz="2000" b="1" dirty="0">
                  <a:effectLst/>
                  <a:latin typeface="楷体_GB2312" pitchFamily="49" charset="-122"/>
                  <a:ea typeface="楷体_GB2312" pitchFamily="49" charset="-122"/>
                </a:rPr>
                <a:t>4 </a:t>
              </a:r>
              <a:r>
                <a:rPr lang="zh-CN" altLang="en-US" sz="2000" b="1" dirty="0">
                  <a:effectLst/>
                  <a:latin typeface="楷体_GB2312" pitchFamily="49" charset="-122"/>
                  <a:ea typeface="楷体_GB2312" pitchFamily="49" charset="-122"/>
                </a:rPr>
                <a:t>均</a:t>
              </a:r>
              <a:r>
                <a:rPr lang="zh-CN" altLang="en-US" sz="2000" b="1" dirty="0">
                  <a:solidFill>
                    <a:srgbClr val="FF0000"/>
                  </a:solidFill>
                  <a:effectLst/>
                  <a:latin typeface="楷体_GB2312" pitchFamily="49" charset="-122"/>
                  <a:ea typeface="楷体_GB2312" pitchFamily="49" charset="-122"/>
                </a:rPr>
                <a:t>小于零</a:t>
              </a:r>
              <a:r>
                <a:rPr lang="zh-CN" altLang="en-US" sz="2000" b="1" dirty="0">
                  <a:effectLst/>
                  <a:latin typeface="楷体_GB2312" pitchFamily="49" charset="-122"/>
                  <a:ea typeface="楷体_GB2312" pitchFamily="49" charset="-122"/>
                </a:rPr>
                <a:t>，</a:t>
              </a:r>
              <a:endParaRPr lang="zh-CN" altLang="en-US" sz="2000" b="1" dirty="0">
                <a:effectLst/>
                <a:latin typeface="楷体_GB2312" pitchFamily="49" charset="-122"/>
                <a:ea typeface="楷体_GB2312" pitchFamily="49" charset="-122"/>
              </a:endParaRPr>
            </a:p>
            <a:p>
              <a:pPr algn="l"/>
              <a:endParaRPr lang="zh-CN" altLang="en-US" sz="2000" b="1" dirty="0">
                <a:effectLst/>
                <a:latin typeface="楷体_GB2312" pitchFamily="49" charset="-122"/>
                <a:ea typeface="楷体_GB2312" pitchFamily="49" charset="-122"/>
              </a:endParaRPr>
            </a:p>
            <a:p>
              <a:pPr algn="l"/>
              <a:r>
                <a:rPr lang="zh-CN" altLang="en-US" sz="2000" b="1" dirty="0">
                  <a:effectLst/>
                  <a:latin typeface="楷体_GB2312" pitchFamily="49" charset="-122"/>
                  <a:ea typeface="楷体_GB2312" pitchFamily="49" charset="-122"/>
                </a:rPr>
                <a:t>　所以　　　　　　　　　不是</a:t>
              </a:r>
              <a:r>
                <a:rPr lang="zh-CN" altLang="en-US" sz="2000" b="1" dirty="0">
                  <a:solidFill>
                    <a:srgbClr val="FF0000"/>
                  </a:solidFill>
                  <a:effectLst/>
                  <a:latin typeface="楷体_GB2312" pitchFamily="49" charset="-122"/>
                  <a:ea typeface="楷体_GB2312" pitchFamily="49" charset="-122"/>
                </a:rPr>
                <a:t>最优解</a:t>
              </a:r>
              <a:endParaRPr lang="zh-CN" altLang="en-US" dirty="0">
                <a:effectLst/>
                <a:latin typeface="楷体_GB2312" pitchFamily="49" charset="-122"/>
                <a:ea typeface="楷体_GB2312" pitchFamily="49" charset="-122"/>
              </a:endParaRPr>
            </a:p>
          </p:txBody>
        </p:sp>
        <p:graphicFrame>
          <p:nvGraphicFramePr>
            <p:cNvPr id="21" name="Object 1"/>
            <p:cNvGraphicFramePr>
              <a:graphicFrameLocks noChangeAspect="1"/>
            </p:cNvGraphicFramePr>
            <p:nvPr/>
          </p:nvGraphicFramePr>
          <p:xfrm>
            <a:off x="884" y="3339"/>
            <a:ext cx="1451" cy="254"/>
          </p:xfrm>
          <a:graphic>
            <a:graphicData uri="http://schemas.openxmlformats.org/presentationml/2006/ole">
              <mc:AlternateContent xmlns:mc="http://schemas.openxmlformats.org/markup-compatibility/2006">
                <mc:Choice xmlns:v="urn:schemas-microsoft-com:vml" Requires="v">
                  <p:oleObj spid="_x0000_s22531" name="Equation" r:id="rId5" imgW="23164800" imgH="5486400" progId="Equation.DSMT4">
                    <p:embed/>
                  </p:oleObj>
                </mc:Choice>
                <mc:Fallback>
                  <p:oleObj name="Equation" r:id="rId5" imgW="23164800" imgH="5486400" progId="Equation.DSMT4">
                    <p:embed/>
                    <p:pic>
                      <p:nvPicPr>
                        <p:cNvPr id="0" name="图片 22530"/>
                        <p:cNvPicPr>
                          <a:picLocks noChangeAspect="1"/>
                        </p:cNvPicPr>
                        <p:nvPr/>
                      </p:nvPicPr>
                      <p:blipFill>
                        <a:blip r:embed="rId2"/>
                        <a:stretch>
                          <a:fillRect/>
                        </a:stretch>
                      </p:blipFill>
                      <p:spPr>
                        <a:xfrm>
                          <a:off x="884" y="3339"/>
                          <a:ext cx="1451" cy="254"/>
                        </a:xfrm>
                        <a:prstGeom prst="rect">
                          <a:avLst/>
                        </a:prstGeom>
                        <a:noFill/>
                        <a:ln w="9525">
                          <a:noFill/>
                        </a:ln>
                      </p:spPr>
                    </p:pic>
                  </p:oleObj>
                </mc:Fallback>
              </mc:AlternateContent>
            </a:graphicData>
          </a:graphic>
        </p:graphicFrame>
      </p:grpSp>
      <p:graphicFrame>
        <p:nvGraphicFramePr>
          <p:cNvPr id="22" name="Object 6"/>
          <p:cNvGraphicFramePr>
            <a:graphicFrameLocks noChangeAspect="1"/>
          </p:cNvGraphicFramePr>
          <p:nvPr/>
        </p:nvGraphicFramePr>
        <p:xfrm>
          <a:off x="5588017" y="4095337"/>
          <a:ext cx="1511300" cy="971550"/>
        </p:xfrm>
        <a:graphic>
          <a:graphicData uri="http://schemas.openxmlformats.org/presentationml/2006/ole">
            <mc:AlternateContent xmlns:mc="http://schemas.openxmlformats.org/markup-compatibility/2006">
              <mc:Choice xmlns:v="urn:schemas-microsoft-com:vml" Requires="v">
                <p:oleObj spid="_x0000_s22532" name="Equation" r:id="rId6" imgW="17068800" imgH="10972800" progId="Equation.DSMT4">
                  <p:embed/>
                </p:oleObj>
              </mc:Choice>
              <mc:Fallback>
                <p:oleObj name="Equation" r:id="rId6" imgW="17068800" imgH="10972800" progId="Equation.DSMT4">
                  <p:embed/>
                  <p:pic>
                    <p:nvPicPr>
                      <p:cNvPr id="0" name="图片 22531"/>
                      <p:cNvPicPr>
                        <a:picLocks noChangeAspect="1"/>
                      </p:cNvPicPr>
                      <p:nvPr/>
                    </p:nvPicPr>
                    <p:blipFill>
                      <a:blip r:embed="rId7"/>
                      <a:stretch>
                        <a:fillRect/>
                      </a:stretch>
                    </p:blipFill>
                    <p:spPr>
                      <a:xfrm>
                        <a:off x="5588017" y="4095337"/>
                        <a:ext cx="1511300" cy="971550"/>
                      </a:xfrm>
                      <a:prstGeom prst="rect">
                        <a:avLst/>
                      </a:prstGeom>
                      <a:noFill/>
                      <a:ln w="9525">
                        <a:noFill/>
                      </a:ln>
                    </p:spPr>
                  </p:pic>
                </p:oleObj>
              </mc:Fallback>
            </mc:AlternateContent>
          </a:graphicData>
        </a:graphic>
      </p:graphicFrame>
      <p:graphicFrame>
        <p:nvGraphicFramePr>
          <p:cNvPr id="23" name="Object 0"/>
          <p:cNvGraphicFramePr>
            <a:graphicFrameLocks noChangeAspect="1"/>
          </p:cNvGraphicFramePr>
          <p:nvPr/>
        </p:nvGraphicFramePr>
        <p:xfrm>
          <a:off x="446881" y="676094"/>
          <a:ext cx="8250237" cy="1223962"/>
        </p:xfrm>
        <a:graphic>
          <a:graphicData uri="http://schemas.openxmlformats.org/presentationml/2006/ole">
            <mc:AlternateContent xmlns:mc="http://schemas.openxmlformats.org/markup-compatibility/2006">
              <mc:Choice xmlns:v="urn:schemas-microsoft-com:vml" Requires="v">
                <p:oleObj spid="_x0000_s22533" name="Equation" r:id="rId8" imgW="109118400" imgH="17068800" progId="Equation.DSMT4">
                  <p:embed/>
                </p:oleObj>
              </mc:Choice>
              <mc:Fallback>
                <p:oleObj name="Equation" r:id="rId8" imgW="109118400" imgH="17068800" progId="Equation.DSMT4">
                  <p:embed/>
                  <p:pic>
                    <p:nvPicPr>
                      <p:cNvPr id="0" name="图片 22532"/>
                      <p:cNvPicPr>
                        <a:picLocks noChangeAspect="1"/>
                      </p:cNvPicPr>
                      <p:nvPr/>
                    </p:nvPicPr>
                    <p:blipFill>
                      <a:blip r:embed="rId9"/>
                      <a:stretch>
                        <a:fillRect/>
                      </a:stretch>
                    </p:blipFill>
                    <p:spPr>
                      <a:xfrm>
                        <a:off x="446881" y="676094"/>
                        <a:ext cx="8250237" cy="1223962"/>
                      </a:xfrm>
                      <a:prstGeom prst="rect">
                        <a:avLst/>
                      </a:prstGeom>
                      <a:noFill/>
                      <a:ln w="9525">
                        <a:noFill/>
                      </a:ln>
                    </p:spPr>
                  </p:pic>
                </p:oleObj>
              </mc:Fallback>
            </mc:AlternateContent>
          </a:graphicData>
        </a:graphic>
      </p:graphicFrame>
      <p:sp>
        <p:nvSpPr>
          <p:cNvPr id="24" name="Line 0"/>
          <p:cNvSpPr>
            <a:spLocks noChangeShapeType="1"/>
          </p:cNvSpPr>
          <p:nvPr/>
        </p:nvSpPr>
        <p:spPr bwMode="auto">
          <a:xfrm>
            <a:off x="488156" y="1916832"/>
            <a:ext cx="820896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down)">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en-US" altLang="zh-CN" dirty="0">
              <a:latin typeface="Times New Roman" panose="02020603050405020304" pitchFamily="18" charset="0"/>
              <a:cs typeface="Times New Roman" panose="02020603050405020304" pitchFamily="18" charset="0"/>
            </a:endParaRPr>
          </a:p>
        </p:txBody>
      </p:sp>
      <p:sp>
        <p:nvSpPr>
          <p:cNvPr id="13" name="Text Box 5"/>
          <p:cNvSpPr txBox="1">
            <a:spLocks noChangeArrowheads="1"/>
          </p:cNvSpPr>
          <p:nvPr/>
        </p:nvSpPr>
        <p:spPr bwMode="auto">
          <a:xfrm>
            <a:off x="973138" y="4937918"/>
            <a:ext cx="81359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pPr>
            <a:r>
              <a:rPr lang="zh-CN" altLang="en-US" sz="2000" b="1">
                <a:effectLst/>
                <a:ea typeface="楷体_GB2312" pitchFamily="49" charset="-122"/>
              </a:rPr>
              <a:t>选取</a:t>
            </a:r>
            <a:r>
              <a:rPr lang="en-US" altLang="zh-CN" sz="2000" b="1" i="1">
                <a:effectLst/>
                <a:ea typeface="楷体_GB2312" pitchFamily="49" charset="-122"/>
              </a:rPr>
              <a:t>x</a:t>
            </a:r>
            <a:r>
              <a:rPr lang="en-US" altLang="zh-CN" sz="2000" b="1" baseline="-30000">
                <a:effectLst/>
                <a:ea typeface="楷体_GB2312" pitchFamily="49" charset="-122"/>
              </a:rPr>
              <a:t>4</a:t>
            </a:r>
            <a:r>
              <a:rPr lang="zh-CN" altLang="en-US" sz="2000" b="1">
                <a:effectLst/>
                <a:ea typeface="楷体_GB2312" pitchFamily="49" charset="-122"/>
              </a:rPr>
              <a:t>为换出变量</a:t>
            </a:r>
            <a:r>
              <a:rPr lang="en-US" altLang="zh-CN" sz="2000" b="1">
                <a:effectLst/>
                <a:ea typeface="楷体_GB2312" pitchFamily="49" charset="-122"/>
              </a:rPr>
              <a:t>.</a:t>
            </a:r>
            <a:endParaRPr lang="en-US" altLang="zh-CN" sz="2000" b="1">
              <a:effectLst/>
              <a:ea typeface="楷体_GB2312" pitchFamily="49" charset="-122"/>
            </a:endParaRPr>
          </a:p>
        </p:txBody>
      </p:sp>
      <p:sp>
        <p:nvSpPr>
          <p:cNvPr id="14" name="Text Box 4"/>
          <p:cNvSpPr txBox="1">
            <a:spLocks noChangeArrowheads="1"/>
          </p:cNvSpPr>
          <p:nvPr/>
        </p:nvSpPr>
        <p:spPr bwMode="auto">
          <a:xfrm>
            <a:off x="395288" y="3413918"/>
            <a:ext cx="81359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pPr>
            <a:r>
              <a:rPr lang="en-US" altLang="zh-CN" sz="2000" b="1">
                <a:effectLst/>
                <a:ea typeface="楷体_GB2312" pitchFamily="49" charset="-122"/>
              </a:rPr>
              <a:t>     ②    </a:t>
            </a:r>
            <a:r>
              <a:rPr lang="zh-CN" altLang="en-US" sz="2000" b="1">
                <a:effectLst/>
                <a:ea typeface="楷体_GB2312" pitchFamily="49" charset="-122"/>
              </a:rPr>
              <a:t>选取换出变量</a:t>
            </a:r>
            <a:endParaRPr lang="zh-CN" altLang="en-US" sz="2000" b="1">
              <a:effectLst/>
              <a:ea typeface="楷体_GB2312" pitchFamily="49" charset="-122"/>
            </a:endParaRPr>
          </a:p>
        </p:txBody>
      </p:sp>
      <p:sp>
        <p:nvSpPr>
          <p:cNvPr id="15" name="Text Box 10"/>
          <p:cNvSpPr txBox="1">
            <a:spLocks noChangeArrowheads="1"/>
          </p:cNvSpPr>
          <p:nvPr/>
        </p:nvSpPr>
        <p:spPr bwMode="auto">
          <a:xfrm>
            <a:off x="395288" y="1829593"/>
            <a:ext cx="81359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pPr>
            <a:r>
              <a:rPr lang="zh-CN" altLang="en-US" sz="2000" b="1">
                <a:solidFill>
                  <a:schemeClr val="accent2"/>
                </a:solidFill>
                <a:effectLst/>
              </a:rPr>
              <a:t>（</a:t>
            </a:r>
            <a:r>
              <a:rPr lang="en-US" altLang="zh-CN" sz="2000" b="1">
                <a:solidFill>
                  <a:schemeClr val="accent2"/>
                </a:solidFill>
                <a:effectLst/>
                <a:cs typeface="Arial" panose="020B0604020202020204" pitchFamily="34" charset="0"/>
              </a:rPr>
              <a:t>3</a:t>
            </a:r>
            <a:r>
              <a:rPr lang="zh-CN" altLang="en-US" sz="2000" b="1">
                <a:solidFill>
                  <a:schemeClr val="accent2"/>
                </a:solidFill>
                <a:effectLst/>
              </a:rPr>
              <a:t>）</a:t>
            </a:r>
            <a:r>
              <a:rPr lang="zh-CN" altLang="en-US" sz="2000" b="1">
                <a:solidFill>
                  <a:schemeClr val="accent2"/>
                </a:solidFill>
                <a:effectLst/>
                <a:ea typeface="楷体_GB2312" pitchFamily="49" charset="-122"/>
              </a:rPr>
              <a:t>基本可行解　　　　　　　　　的改进</a:t>
            </a:r>
            <a:r>
              <a:rPr lang="zh-CN" altLang="en-US" sz="2000" b="1">
                <a:solidFill>
                  <a:schemeClr val="accent2"/>
                </a:solidFill>
                <a:effectLst/>
                <a:ea typeface="楷体_GB2312" pitchFamily="49" charset="-122"/>
                <a:cs typeface="Arial" panose="020B0604020202020204" pitchFamily="34" charset="0"/>
              </a:rPr>
              <a:t>     </a:t>
            </a:r>
            <a:endParaRPr lang="zh-CN" altLang="en-US" sz="2000" b="1">
              <a:solidFill>
                <a:schemeClr val="accent2"/>
              </a:solidFill>
              <a:effectLst/>
              <a:ea typeface="楷体_GB2312" pitchFamily="49" charset="-122"/>
            </a:endParaRPr>
          </a:p>
        </p:txBody>
      </p:sp>
      <p:graphicFrame>
        <p:nvGraphicFramePr>
          <p:cNvPr id="16" name="Object 15"/>
          <p:cNvGraphicFramePr>
            <a:graphicFrameLocks noChangeAspect="1"/>
          </p:cNvGraphicFramePr>
          <p:nvPr/>
        </p:nvGraphicFramePr>
        <p:xfrm>
          <a:off x="5119688" y="3945731"/>
          <a:ext cx="2433637" cy="836612"/>
        </p:xfrm>
        <a:graphic>
          <a:graphicData uri="http://schemas.openxmlformats.org/presentationml/2006/ole">
            <mc:AlternateContent xmlns:mc="http://schemas.openxmlformats.org/markup-compatibility/2006">
              <mc:Choice xmlns:v="urn:schemas-microsoft-com:vml" Requires="v">
                <p:oleObj spid="_x0000_s23553" name="Equation" r:id="rId1" imgW="27736800" imgH="10363200" progId="Equation.DSMT4">
                  <p:embed/>
                </p:oleObj>
              </mc:Choice>
              <mc:Fallback>
                <p:oleObj name="Equation" r:id="rId1" imgW="27736800" imgH="10363200" progId="Equation.DSMT4">
                  <p:embed/>
                  <p:pic>
                    <p:nvPicPr>
                      <p:cNvPr id="0" name="图片 23552"/>
                      <p:cNvPicPr>
                        <a:picLocks noChangeAspect="1"/>
                      </p:cNvPicPr>
                      <p:nvPr/>
                    </p:nvPicPr>
                    <p:blipFill>
                      <a:blip r:embed="rId2"/>
                      <a:stretch>
                        <a:fillRect/>
                      </a:stretch>
                    </p:blipFill>
                    <p:spPr>
                      <a:xfrm>
                        <a:off x="5119688" y="3945731"/>
                        <a:ext cx="2433637" cy="836612"/>
                      </a:xfrm>
                      <a:prstGeom prst="rect">
                        <a:avLst/>
                      </a:prstGeom>
                      <a:noFill/>
                      <a:ln w="9525">
                        <a:noFill/>
                      </a:ln>
                    </p:spPr>
                  </p:pic>
                </p:oleObj>
              </mc:Fallback>
            </mc:AlternateContent>
          </a:graphicData>
        </a:graphic>
      </p:graphicFrame>
      <p:graphicFrame>
        <p:nvGraphicFramePr>
          <p:cNvPr id="17" name="Object 2"/>
          <p:cNvGraphicFramePr>
            <a:graphicFrameLocks noChangeAspect="1"/>
          </p:cNvGraphicFramePr>
          <p:nvPr/>
        </p:nvGraphicFramePr>
        <p:xfrm>
          <a:off x="2555875" y="1974056"/>
          <a:ext cx="2232025" cy="390525"/>
        </p:xfrm>
        <a:graphic>
          <a:graphicData uri="http://schemas.openxmlformats.org/presentationml/2006/ole">
            <mc:AlternateContent xmlns:mc="http://schemas.openxmlformats.org/markup-compatibility/2006">
              <mc:Choice xmlns:v="urn:schemas-microsoft-com:vml" Requires="v">
                <p:oleObj spid="_x0000_s23554" name="Equation" r:id="rId3" imgW="23164800" imgH="5486400" progId="Equation.DSMT4">
                  <p:embed/>
                </p:oleObj>
              </mc:Choice>
              <mc:Fallback>
                <p:oleObj name="Equation" r:id="rId3" imgW="23164800" imgH="5486400" progId="Equation.DSMT4">
                  <p:embed/>
                  <p:pic>
                    <p:nvPicPr>
                      <p:cNvPr id="0" name="图片 23553"/>
                      <p:cNvPicPr>
                        <a:picLocks noChangeAspect="1"/>
                      </p:cNvPicPr>
                      <p:nvPr/>
                    </p:nvPicPr>
                    <p:blipFill>
                      <a:blip r:embed="rId4"/>
                      <a:stretch>
                        <a:fillRect/>
                      </a:stretch>
                    </p:blipFill>
                    <p:spPr>
                      <a:xfrm>
                        <a:off x="2555875" y="1974056"/>
                        <a:ext cx="2232025" cy="390525"/>
                      </a:xfrm>
                      <a:prstGeom prst="rect">
                        <a:avLst/>
                      </a:prstGeom>
                      <a:noFill/>
                      <a:ln w="9525">
                        <a:noFill/>
                      </a:ln>
                    </p:spPr>
                  </p:pic>
                </p:oleObj>
              </mc:Fallback>
            </mc:AlternateContent>
          </a:graphicData>
        </a:graphic>
      </p:graphicFrame>
      <p:graphicFrame>
        <p:nvGraphicFramePr>
          <p:cNvPr id="18" name="Object 4"/>
          <p:cNvGraphicFramePr>
            <a:graphicFrameLocks noChangeAspect="1"/>
          </p:cNvGraphicFramePr>
          <p:nvPr/>
        </p:nvGraphicFramePr>
        <p:xfrm>
          <a:off x="1187450" y="3912393"/>
          <a:ext cx="3600450" cy="869950"/>
        </p:xfrm>
        <a:graphic>
          <a:graphicData uri="http://schemas.openxmlformats.org/presentationml/2006/ole">
            <mc:AlternateContent xmlns:mc="http://schemas.openxmlformats.org/markup-compatibility/2006">
              <mc:Choice xmlns:v="urn:schemas-microsoft-com:vml" Requires="v">
                <p:oleObj spid="_x0000_s23555" name="Equation" r:id="rId5" imgW="39624000" imgH="10972800" progId="Equation.DSMT4">
                  <p:embed/>
                </p:oleObj>
              </mc:Choice>
              <mc:Fallback>
                <p:oleObj name="Equation" r:id="rId5" imgW="39624000" imgH="10972800" progId="Equation.DSMT4">
                  <p:embed/>
                  <p:pic>
                    <p:nvPicPr>
                      <p:cNvPr id="0" name="图片 23554"/>
                      <p:cNvPicPr>
                        <a:picLocks noChangeAspect="1"/>
                      </p:cNvPicPr>
                      <p:nvPr/>
                    </p:nvPicPr>
                    <p:blipFill>
                      <a:blip r:embed="rId6"/>
                      <a:stretch>
                        <a:fillRect/>
                      </a:stretch>
                    </p:blipFill>
                    <p:spPr>
                      <a:xfrm>
                        <a:off x="1187450" y="3912393"/>
                        <a:ext cx="3600450" cy="869950"/>
                      </a:xfrm>
                      <a:prstGeom prst="rect">
                        <a:avLst/>
                      </a:prstGeom>
                      <a:noFill/>
                      <a:ln w="9525">
                        <a:noFill/>
                      </a:ln>
                    </p:spPr>
                  </p:pic>
                </p:oleObj>
              </mc:Fallback>
            </mc:AlternateContent>
          </a:graphicData>
        </a:graphic>
      </p:graphicFrame>
      <p:sp>
        <p:nvSpPr>
          <p:cNvPr id="19" name="Line 1"/>
          <p:cNvSpPr>
            <a:spLocks noChangeShapeType="1"/>
          </p:cNvSpPr>
          <p:nvPr/>
        </p:nvSpPr>
        <p:spPr bwMode="auto">
          <a:xfrm>
            <a:off x="468313" y="1686718"/>
            <a:ext cx="820737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graphicFrame>
        <p:nvGraphicFramePr>
          <p:cNvPr id="20" name="Object 2"/>
          <p:cNvGraphicFramePr>
            <a:graphicFrameLocks noChangeAspect="1"/>
          </p:cNvGraphicFramePr>
          <p:nvPr/>
        </p:nvGraphicFramePr>
        <p:xfrm>
          <a:off x="611188" y="965993"/>
          <a:ext cx="4022725" cy="390525"/>
        </p:xfrm>
        <a:graphic>
          <a:graphicData uri="http://schemas.openxmlformats.org/presentationml/2006/ole">
            <mc:AlternateContent xmlns:mc="http://schemas.openxmlformats.org/markup-compatibility/2006">
              <mc:Choice xmlns:v="urn:schemas-microsoft-com:vml" Requires="v">
                <p:oleObj spid="_x0000_s23556" name="Equation" r:id="rId7" imgW="41757600" imgH="5486400" progId="Equation.DSMT4">
                  <p:embed/>
                </p:oleObj>
              </mc:Choice>
              <mc:Fallback>
                <p:oleObj name="Equation" r:id="rId7" imgW="41757600" imgH="5486400" progId="Equation.DSMT4">
                  <p:embed/>
                  <p:pic>
                    <p:nvPicPr>
                      <p:cNvPr id="0" name="图片 23555"/>
                      <p:cNvPicPr>
                        <a:picLocks noChangeAspect="1"/>
                      </p:cNvPicPr>
                      <p:nvPr/>
                    </p:nvPicPr>
                    <p:blipFill>
                      <a:blip r:embed="rId8"/>
                      <a:stretch>
                        <a:fillRect/>
                      </a:stretch>
                    </p:blipFill>
                    <p:spPr>
                      <a:xfrm>
                        <a:off x="611188" y="965993"/>
                        <a:ext cx="4022725" cy="390525"/>
                      </a:xfrm>
                      <a:prstGeom prst="rect">
                        <a:avLst/>
                      </a:prstGeom>
                      <a:noFill/>
                      <a:ln w="9525">
                        <a:noFill/>
                      </a:ln>
                    </p:spPr>
                  </p:pic>
                </p:oleObj>
              </mc:Fallback>
            </mc:AlternateContent>
          </a:graphicData>
        </a:graphic>
      </p:graphicFrame>
      <p:sp>
        <p:nvSpPr>
          <p:cNvPr id="22" name="Text Box 3"/>
          <p:cNvSpPr txBox="1">
            <a:spLocks noChangeArrowheads="1"/>
          </p:cNvSpPr>
          <p:nvPr/>
        </p:nvSpPr>
        <p:spPr bwMode="auto">
          <a:xfrm>
            <a:off x="395288" y="2405856"/>
            <a:ext cx="813593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pPr>
            <a:r>
              <a:rPr lang="en-US" altLang="zh-CN" sz="2000" b="1">
                <a:effectLst/>
                <a:ea typeface="楷体_GB2312" pitchFamily="49" charset="-122"/>
                <a:cs typeface="Arial" panose="020B0604020202020204" pitchFamily="34" charset="0"/>
              </a:rPr>
              <a:t>     ①</a:t>
            </a:r>
            <a:r>
              <a:rPr lang="en-US" altLang="zh-CN" sz="2000" b="1">
                <a:effectLst/>
                <a:ea typeface="楷体_GB2312" pitchFamily="49" charset="-122"/>
                <a:cs typeface="Times New Roman" panose="02020603050405020304" pitchFamily="18" charset="0"/>
              </a:rPr>
              <a:t>    </a:t>
            </a:r>
            <a:r>
              <a:rPr lang="zh-CN" altLang="en-US" sz="2000" b="1">
                <a:effectLst/>
                <a:ea typeface="楷体_GB2312" pitchFamily="49" charset="-122"/>
                <a:cs typeface="Arial" panose="020B0604020202020204" pitchFamily="34" charset="0"/>
              </a:rPr>
              <a:t>选取换入变量</a:t>
            </a:r>
            <a:endParaRPr lang="zh-CN" altLang="en-US" sz="2000" b="1">
              <a:effectLst/>
              <a:ea typeface="楷体_GB2312" pitchFamily="49" charset="-122"/>
              <a:cs typeface="Arial" panose="020B0604020202020204" pitchFamily="34" charset="0"/>
            </a:endParaRPr>
          </a:p>
          <a:p>
            <a:pPr algn="l">
              <a:lnSpc>
                <a:spcPct val="150000"/>
              </a:lnSpc>
            </a:pPr>
            <a:r>
              <a:rPr lang="zh-CN" altLang="en-US" sz="2000" b="1">
                <a:effectLst/>
                <a:ea typeface="楷体_GB2312" pitchFamily="49" charset="-122"/>
                <a:cs typeface="Arial" panose="020B0604020202020204" pitchFamily="34" charset="0"/>
              </a:rPr>
              <a:t>　　因为</a:t>
            </a:r>
            <a:r>
              <a:rPr lang="en-US" altLang="zh-CN" sz="2000" b="1">
                <a:effectLst/>
                <a:ea typeface="楷体_GB2312" pitchFamily="49" charset="-122"/>
              </a:rPr>
              <a:t>min{</a:t>
            </a:r>
            <a:r>
              <a:rPr lang="zh-CN" altLang="en-US" sz="2000" b="1">
                <a:effectLst/>
                <a:ea typeface="楷体_GB2312" pitchFamily="49" charset="-122"/>
              </a:rPr>
              <a:t>－</a:t>
            </a:r>
            <a:r>
              <a:rPr lang="en-US" altLang="zh-CN" sz="2000" b="1">
                <a:effectLst/>
                <a:ea typeface="楷体_GB2312" pitchFamily="49" charset="-122"/>
              </a:rPr>
              <a:t>3</a:t>
            </a:r>
            <a:r>
              <a:rPr lang="zh-CN" altLang="en-US" sz="2000" b="1">
                <a:effectLst/>
                <a:ea typeface="楷体_GB2312" pitchFamily="49" charset="-122"/>
              </a:rPr>
              <a:t>，－</a:t>
            </a:r>
            <a:r>
              <a:rPr lang="en-US" altLang="zh-CN" sz="2000" b="1">
                <a:effectLst/>
                <a:ea typeface="楷体_GB2312" pitchFamily="49" charset="-122"/>
              </a:rPr>
              <a:t>4}=</a:t>
            </a:r>
            <a:r>
              <a:rPr lang="zh-CN" altLang="en-US" sz="2000" b="1">
                <a:effectLst/>
                <a:ea typeface="楷体_GB2312" pitchFamily="49" charset="-122"/>
              </a:rPr>
              <a:t>－</a:t>
            </a:r>
            <a:r>
              <a:rPr lang="en-US" altLang="zh-CN" sz="2000" b="1">
                <a:effectLst/>
                <a:ea typeface="楷体_GB2312" pitchFamily="49" charset="-122"/>
              </a:rPr>
              <a:t>4</a:t>
            </a:r>
            <a:r>
              <a:rPr lang="zh-CN" altLang="en-US" sz="2000" b="1">
                <a:effectLst/>
                <a:ea typeface="楷体_GB2312" pitchFamily="49" charset="-122"/>
              </a:rPr>
              <a:t>，取</a:t>
            </a:r>
            <a:r>
              <a:rPr lang="en-US" altLang="zh-CN" sz="2000" b="1" i="1">
                <a:effectLst/>
                <a:ea typeface="楷体_GB2312" pitchFamily="49" charset="-122"/>
              </a:rPr>
              <a:t>x</a:t>
            </a:r>
            <a:r>
              <a:rPr lang="en-US" altLang="zh-CN" sz="2000" b="1" baseline="-30000">
                <a:effectLst/>
                <a:ea typeface="楷体_GB2312" pitchFamily="49" charset="-122"/>
              </a:rPr>
              <a:t>3</a:t>
            </a:r>
            <a:r>
              <a:rPr lang="zh-CN" altLang="en-US" sz="2000" b="1">
                <a:effectLst/>
                <a:ea typeface="楷体_GB2312" pitchFamily="49" charset="-122"/>
              </a:rPr>
              <a:t>为换入变量。</a:t>
            </a:r>
            <a:endParaRPr lang="zh-CN" altLang="en-US" sz="2000" b="1">
              <a:effectLst/>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2">
                                            <p:txEl>
                                              <p:pRg st="0" end="0"/>
                                            </p:txEl>
                                          </p:spTgt>
                                        </p:tgtEl>
                                        <p:attrNameLst>
                                          <p:attrName>style.visibility</p:attrName>
                                        </p:attrNameLst>
                                      </p:cBhvr>
                                      <p:to>
                                        <p:strVal val="visible"/>
                                      </p:to>
                                    </p:set>
                                    <p:animEffect transition="in" filter="wipe(left)">
                                      <p:cBhvr>
                                        <p:cTn id="15" dur="500"/>
                                        <p:tgtEl>
                                          <p:spTgt spid="2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2">
                                            <p:txEl>
                                              <p:pRg st="1" end="1"/>
                                            </p:txEl>
                                          </p:spTgt>
                                        </p:tgtEl>
                                        <p:attrNameLst>
                                          <p:attrName>style.visibility</p:attrName>
                                        </p:attrNameLst>
                                      </p:cBhvr>
                                      <p:to>
                                        <p:strVal val="visible"/>
                                      </p:to>
                                    </p:set>
                                    <p:animEffect transition="in" filter="wipe(left)">
                                      <p:cBhvr>
                                        <p:cTn id="20" dur="500"/>
                                        <p:tgtEl>
                                          <p:spTgt spid="2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2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zh-CN" altLang="en-US" dirty="0">
              <a:latin typeface="Times New Roman" panose="02020603050405020304" pitchFamily="18" charset="0"/>
              <a:cs typeface="Times New Roman" panose="02020603050405020304" pitchFamily="18" charset="0"/>
            </a:endParaRPr>
          </a:p>
        </p:txBody>
      </p:sp>
      <p:sp>
        <p:nvSpPr>
          <p:cNvPr id="6" name="Rectangle 7"/>
          <p:cNvSpPr>
            <a:spLocks noChangeArrowheads="1"/>
          </p:cNvSpPr>
          <p:nvPr/>
        </p:nvSpPr>
        <p:spPr bwMode="auto">
          <a:xfrm>
            <a:off x="179512" y="874692"/>
            <a:ext cx="8153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0000"/>
              </a:lnSpc>
            </a:pPr>
            <a:r>
              <a:rPr lang="zh-CN" altLang="en-US" sz="2000" b="1">
                <a:solidFill>
                  <a:schemeClr val="accent2"/>
                </a:solidFill>
                <a:effectLst/>
              </a:rPr>
              <a:t>（</a:t>
            </a:r>
            <a:r>
              <a:rPr lang="en-US" altLang="zh-CN" sz="2000" b="1">
                <a:solidFill>
                  <a:schemeClr val="accent2"/>
                </a:solidFill>
                <a:effectLst/>
                <a:cs typeface="Arial" panose="020B0604020202020204" pitchFamily="34" charset="0"/>
              </a:rPr>
              <a:t>4</a:t>
            </a:r>
            <a:r>
              <a:rPr lang="zh-CN" altLang="en-US" sz="2000" b="1">
                <a:solidFill>
                  <a:schemeClr val="accent2"/>
                </a:solidFill>
                <a:effectLst/>
              </a:rPr>
              <a:t>）</a:t>
            </a:r>
            <a:r>
              <a:rPr lang="zh-CN" altLang="en-US" sz="2000" b="1">
                <a:solidFill>
                  <a:schemeClr val="accent2"/>
                </a:solidFill>
                <a:effectLst/>
                <a:ea typeface="楷体_GB2312" pitchFamily="49" charset="-122"/>
              </a:rPr>
              <a:t>求改进了的基本可行解</a:t>
            </a:r>
            <a:r>
              <a:rPr lang="en-US" altLang="zh-CN" sz="2000" b="1">
                <a:solidFill>
                  <a:schemeClr val="accent2"/>
                </a:solidFill>
                <a:effectLst/>
                <a:ea typeface="楷体_GB2312" pitchFamily="49" charset="-122"/>
              </a:rPr>
              <a:t>X’——</a:t>
            </a:r>
            <a:r>
              <a:rPr lang="zh-CN" altLang="en-US" sz="2000" b="1">
                <a:solidFill>
                  <a:schemeClr val="accent2"/>
                </a:solidFill>
                <a:effectLst/>
                <a:ea typeface="楷体_GB2312" pitchFamily="49" charset="-122"/>
              </a:rPr>
              <a:t>旋转运算</a:t>
            </a:r>
            <a:endParaRPr lang="zh-CN" altLang="en-US" sz="2000" b="1">
              <a:solidFill>
                <a:schemeClr val="accent2"/>
              </a:solidFill>
              <a:effectLst/>
              <a:ea typeface="楷体_GB2312" pitchFamily="49" charset="-122"/>
            </a:endParaRPr>
          </a:p>
        </p:txBody>
      </p:sp>
      <p:grpSp>
        <p:nvGrpSpPr>
          <p:cNvPr id="8" name="Group 1030"/>
          <p:cNvGrpSpPr/>
          <p:nvPr/>
        </p:nvGrpSpPr>
        <p:grpSpPr bwMode="auto">
          <a:xfrm>
            <a:off x="323528" y="1377930"/>
            <a:ext cx="8153400" cy="2020888"/>
            <a:chOff x="340" y="1434"/>
            <a:chExt cx="5136" cy="1273"/>
          </a:xfrm>
        </p:grpSpPr>
        <p:sp>
          <p:nvSpPr>
            <p:cNvPr id="9" name="Rectangle 1026"/>
            <p:cNvSpPr>
              <a:spLocks noChangeArrowheads="1"/>
            </p:cNvSpPr>
            <p:nvPr/>
          </p:nvSpPr>
          <p:spPr bwMode="auto">
            <a:xfrm>
              <a:off x="340" y="1434"/>
              <a:ext cx="5136" cy="1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220000"/>
                </a:lnSpc>
              </a:pPr>
              <a:r>
                <a:rPr lang="en-US" altLang="zh-CN" sz="2000" b="1" dirty="0">
                  <a:effectLst/>
                  <a:ea typeface="楷体_GB2312" pitchFamily="49" charset="-122"/>
                  <a:cs typeface="Arial" panose="020B0604020202020204" pitchFamily="34" charset="0"/>
                </a:rPr>
                <a:t>        </a:t>
              </a:r>
              <a:r>
                <a:rPr lang="zh-CN" altLang="en-US" sz="2000" b="1" dirty="0">
                  <a:effectLst/>
                  <a:ea typeface="楷体_GB2312" pitchFamily="49" charset="-122"/>
                  <a:cs typeface="Arial" panose="020B0604020202020204" pitchFamily="34" charset="0"/>
                </a:rPr>
                <a:t>对约束方程组的增广矩阵施以初等行变换，使换入变量</a:t>
              </a:r>
              <a:r>
                <a:rPr lang="en-US" altLang="zh-CN" sz="2000" b="1" i="1" dirty="0">
                  <a:solidFill>
                    <a:srgbClr val="FF3300"/>
                  </a:solidFill>
                  <a:effectLst/>
                  <a:ea typeface="楷体_GB2312" pitchFamily="49" charset="-122"/>
                  <a:cs typeface="Arial" panose="020B0604020202020204" pitchFamily="34" charset="0"/>
                </a:rPr>
                <a:t>x</a:t>
              </a:r>
              <a:r>
                <a:rPr lang="en-US" altLang="zh-CN" sz="2000" b="1" baseline="-30000" dirty="0">
                  <a:solidFill>
                    <a:srgbClr val="FF3300"/>
                  </a:solidFill>
                  <a:effectLst/>
                  <a:ea typeface="楷体_GB2312" pitchFamily="49" charset="-122"/>
                  <a:cs typeface="Arial" panose="020B0604020202020204" pitchFamily="34" charset="0"/>
                </a:rPr>
                <a:t>3</a:t>
              </a:r>
              <a:r>
                <a:rPr lang="zh-CN" altLang="en-US" sz="2000" b="1" dirty="0">
                  <a:effectLst/>
                  <a:ea typeface="楷体_GB2312" pitchFamily="49" charset="-122"/>
                  <a:cs typeface="Arial" panose="020B0604020202020204" pitchFamily="34" charset="0"/>
                </a:rPr>
                <a:t>所对应的系数列向量                 变换成换出变量</a:t>
              </a:r>
              <a:r>
                <a:rPr lang="en-US" altLang="zh-CN" sz="2000" b="1" i="1" dirty="0">
                  <a:solidFill>
                    <a:srgbClr val="FF3300"/>
                  </a:solidFill>
                  <a:effectLst/>
                  <a:ea typeface="楷体_GB2312" pitchFamily="49" charset="-122"/>
                  <a:cs typeface="Arial" panose="020B0604020202020204" pitchFamily="34" charset="0"/>
                </a:rPr>
                <a:t>x</a:t>
              </a:r>
              <a:r>
                <a:rPr lang="en-US" altLang="zh-CN" sz="2000" b="1" baseline="-30000" dirty="0">
                  <a:solidFill>
                    <a:srgbClr val="FF3300"/>
                  </a:solidFill>
                  <a:effectLst/>
                  <a:ea typeface="楷体_GB2312" pitchFamily="49" charset="-122"/>
                  <a:cs typeface="Arial" panose="020B0604020202020204" pitchFamily="34" charset="0"/>
                </a:rPr>
                <a:t>4  </a:t>
              </a:r>
              <a:r>
                <a:rPr lang="zh-CN" altLang="en-US" sz="2000" b="1" dirty="0">
                  <a:effectLst/>
                  <a:ea typeface="楷体_GB2312" pitchFamily="49" charset="-122"/>
                  <a:cs typeface="Arial" panose="020B0604020202020204" pitchFamily="34" charset="0"/>
                </a:rPr>
                <a:t>所对应的单位向量         </a:t>
              </a:r>
              <a:endParaRPr lang="en-US" altLang="zh-CN" sz="2000" b="1" dirty="0">
                <a:effectLst/>
                <a:ea typeface="楷体_GB2312" pitchFamily="49" charset="-122"/>
                <a:cs typeface="Arial" panose="020B0604020202020204" pitchFamily="34" charset="0"/>
              </a:endParaRPr>
            </a:p>
            <a:p>
              <a:pPr algn="just" eaLnBrk="0" hangingPunct="0">
                <a:lnSpc>
                  <a:spcPct val="220000"/>
                </a:lnSpc>
              </a:pPr>
              <a:r>
                <a:rPr lang="zh-CN" altLang="en-US" sz="2000" b="1" dirty="0">
                  <a:effectLst/>
                  <a:ea typeface="楷体_GB2312" pitchFamily="49" charset="-122"/>
                  <a:cs typeface="Arial" panose="020B0604020202020204" pitchFamily="34" charset="0"/>
                </a:rPr>
                <a:t>注意保持基变量</a:t>
              </a:r>
              <a:r>
                <a:rPr lang="en-US" altLang="zh-CN" sz="2000" b="1" i="1" dirty="0">
                  <a:solidFill>
                    <a:srgbClr val="FF3300"/>
                  </a:solidFill>
                  <a:effectLst/>
                  <a:ea typeface="楷体_GB2312" pitchFamily="49" charset="-122"/>
                  <a:cs typeface="Arial" panose="020B0604020202020204" pitchFamily="34" charset="0"/>
                </a:rPr>
                <a:t>x</a:t>
              </a:r>
              <a:r>
                <a:rPr lang="en-US" altLang="zh-CN" sz="2000" b="1" baseline="-30000" dirty="0">
                  <a:solidFill>
                    <a:srgbClr val="FF3300"/>
                  </a:solidFill>
                  <a:effectLst/>
                  <a:ea typeface="楷体_GB2312" pitchFamily="49" charset="-122"/>
                  <a:cs typeface="Arial" panose="020B0604020202020204" pitchFamily="34" charset="0"/>
                </a:rPr>
                <a:t>5</a:t>
              </a:r>
              <a:r>
                <a:rPr lang="zh-CN" altLang="en-US" sz="2000" b="1" dirty="0">
                  <a:effectLst/>
                  <a:ea typeface="楷体_GB2312" pitchFamily="49" charset="-122"/>
                  <a:cs typeface="Arial" panose="020B0604020202020204" pitchFamily="34" charset="0"/>
                </a:rPr>
                <a:t>的系数列向量                 为单位向量不变。</a:t>
              </a:r>
              <a:endParaRPr lang="zh-CN" altLang="en-US" sz="2000" b="1" dirty="0">
                <a:effectLst/>
                <a:ea typeface="楷体_GB2312" pitchFamily="49" charset="-122"/>
                <a:cs typeface="Arial" panose="020B0604020202020204" pitchFamily="34" charset="0"/>
              </a:endParaRPr>
            </a:p>
          </p:txBody>
        </p:sp>
        <p:graphicFrame>
          <p:nvGraphicFramePr>
            <p:cNvPr id="10" name="Object 6"/>
            <p:cNvGraphicFramePr>
              <a:graphicFrameLocks noChangeAspect="1"/>
            </p:cNvGraphicFramePr>
            <p:nvPr/>
          </p:nvGraphicFramePr>
          <p:xfrm>
            <a:off x="1234" y="1905"/>
            <a:ext cx="594" cy="528"/>
          </p:xfrm>
          <a:graphic>
            <a:graphicData uri="http://schemas.openxmlformats.org/presentationml/2006/ole">
              <mc:AlternateContent xmlns:mc="http://schemas.openxmlformats.org/markup-compatibility/2006">
                <mc:Choice xmlns:v="urn:schemas-microsoft-com:vml" Requires="v">
                  <p:oleObj spid="_x0000_s24577" name="Equation" r:id="rId1" imgW="12192000" imgH="10972800" progId="Equation.DSMT4">
                    <p:embed/>
                  </p:oleObj>
                </mc:Choice>
                <mc:Fallback>
                  <p:oleObj name="Equation" r:id="rId1" imgW="12192000" imgH="10972800" progId="Equation.DSMT4">
                    <p:embed/>
                    <p:pic>
                      <p:nvPicPr>
                        <p:cNvPr id="0" name="图片 24576"/>
                        <p:cNvPicPr>
                          <a:picLocks noChangeAspect="1"/>
                        </p:cNvPicPr>
                        <p:nvPr/>
                      </p:nvPicPr>
                      <p:blipFill>
                        <a:blip r:embed="rId2"/>
                        <a:stretch>
                          <a:fillRect/>
                        </a:stretch>
                      </p:blipFill>
                      <p:spPr>
                        <a:xfrm>
                          <a:off x="1234" y="1905"/>
                          <a:ext cx="594" cy="528"/>
                        </a:xfrm>
                        <a:prstGeom prst="rect">
                          <a:avLst/>
                        </a:prstGeom>
                        <a:noFill/>
                        <a:ln w="9525">
                          <a:noFill/>
                        </a:ln>
                      </p:spPr>
                    </p:pic>
                  </p:oleObj>
                </mc:Fallback>
              </mc:AlternateContent>
            </a:graphicData>
          </a:graphic>
        </p:graphicFrame>
        <p:graphicFrame>
          <p:nvGraphicFramePr>
            <p:cNvPr id="11" name="Object 5"/>
            <p:cNvGraphicFramePr>
              <a:graphicFrameLocks noChangeAspect="1"/>
            </p:cNvGraphicFramePr>
            <p:nvPr/>
          </p:nvGraphicFramePr>
          <p:xfrm>
            <a:off x="4467" y="1915"/>
            <a:ext cx="633" cy="523"/>
          </p:xfrm>
          <a:graphic>
            <a:graphicData uri="http://schemas.openxmlformats.org/presentationml/2006/ole">
              <mc:AlternateContent xmlns:mc="http://schemas.openxmlformats.org/markup-compatibility/2006">
                <mc:Choice xmlns:v="urn:schemas-microsoft-com:vml" Requires="v">
                  <p:oleObj spid="_x0000_s24578" name="Equation" r:id="rId3" imgW="13411200" imgH="10972800" progId="Equation.DSMT4">
                    <p:embed/>
                  </p:oleObj>
                </mc:Choice>
                <mc:Fallback>
                  <p:oleObj name="Equation" r:id="rId3" imgW="13411200" imgH="10972800" progId="Equation.DSMT4">
                    <p:embed/>
                    <p:pic>
                      <p:nvPicPr>
                        <p:cNvPr id="0" name="图片 24577"/>
                        <p:cNvPicPr>
                          <a:picLocks noChangeAspect="1"/>
                        </p:cNvPicPr>
                        <p:nvPr/>
                      </p:nvPicPr>
                      <p:blipFill>
                        <a:blip r:embed="rId4"/>
                        <a:stretch>
                          <a:fillRect/>
                        </a:stretch>
                      </p:blipFill>
                      <p:spPr>
                        <a:xfrm>
                          <a:off x="4467" y="1915"/>
                          <a:ext cx="633" cy="523"/>
                        </a:xfrm>
                        <a:prstGeom prst="rect">
                          <a:avLst/>
                        </a:prstGeom>
                        <a:noFill/>
                        <a:ln w="9525">
                          <a:noFill/>
                        </a:ln>
                      </p:spPr>
                    </p:pic>
                  </p:oleObj>
                </mc:Fallback>
              </mc:AlternateContent>
            </a:graphicData>
          </a:graphic>
        </p:graphicFrame>
      </p:grpSp>
      <p:graphicFrame>
        <p:nvGraphicFramePr>
          <p:cNvPr id="12" name="Object 4"/>
          <p:cNvGraphicFramePr>
            <a:graphicFrameLocks noChangeAspect="1"/>
          </p:cNvGraphicFramePr>
          <p:nvPr/>
        </p:nvGraphicFramePr>
        <p:xfrm>
          <a:off x="3923928" y="2816204"/>
          <a:ext cx="930275" cy="838200"/>
        </p:xfrm>
        <a:graphic>
          <a:graphicData uri="http://schemas.openxmlformats.org/presentationml/2006/ole">
            <mc:AlternateContent xmlns:mc="http://schemas.openxmlformats.org/markup-compatibility/2006">
              <mc:Choice xmlns:v="urn:schemas-microsoft-com:vml" Requires="v">
                <p:oleObj spid="_x0000_s24579" name="Equation" r:id="rId5" imgW="12192000" imgH="10972800" progId="Equation.DSMT4">
                  <p:embed/>
                </p:oleObj>
              </mc:Choice>
              <mc:Fallback>
                <p:oleObj name="Equation" r:id="rId5" imgW="12192000" imgH="10972800" progId="Equation.DSMT4">
                  <p:embed/>
                  <p:pic>
                    <p:nvPicPr>
                      <p:cNvPr id="0" name="图片 24578"/>
                      <p:cNvPicPr>
                        <a:picLocks noChangeAspect="1"/>
                      </p:cNvPicPr>
                      <p:nvPr/>
                    </p:nvPicPr>
                    <p:blipFill>
                      <a:blip r:embed="rId6"/>
                      <a:stretch>
                        <a:fillRect/>
                      </a:stretch>
                    </p:blipFill>
                    <p:spPr>
                      <a:xfrm>
                        <a:off x="3923928" y="2816204"/>
                        <a:ext cx="930275" cy="838200"/>
                      </a:xfrm>
                      <a:prstGeom prst="rect">
                        <a:avLst/>
                      </a:prstGeom>
                      <a:noFill/>
                      <a:ln w="9525">
                        <a:noFill/>
                      </a:ln>
                    </p:spPr>
                  </p:pic>
                </p:oleObj>
              </mc:Fallback>
            </mc:AlternateContent>
          </a:graphicData>
        </a:graphic>
      </p:graphicFrame>
      <p:graphicFrame>
        <p:nvGraphicFramePr>
          <p:cNvPr id="13" name="Object 3"/>
          <p:cNvGraphicFramePr>
            <a:graphicFrameLocks noChangeAspect="1"/>
          </p:cNvGraphicFramePr>
          <p:nvPr/>
        </p:nvGraphicFramePr>
        <p:xfrm>
          <a:off x="755774" y="3609954"/>
          <a:ext cx="2214563" cy="862013"/>
        </p:xfrm>
        <a:graphic>
          <a:graphicData uri="http://schemas.openxmlformats.org/presentationml/2006/ole">
            <mc:AlternateContent xmlns:mc="http://schemas.openxmlformats.org/markup-compatibility/2006">
              <mc:Choice xmlns:v="urn:schemas-microsoft-com:vml" Requires="v">
                <p:oleObj spid="_x0000_s24580" name="Equation" r:id="rId7" imgW="24079200" imgH="9144000" progId="Equation.DSMT4">
                  <p:embed/>
                </p:oleObj>
              </mc:Choice>
              <mc:Fallback>
                <p:oleObj name="Equation" r:id="rId7" imgW="24079200" imgH="9144000" progId="Equation.DSMT4">
                  <p:embed/>
                  <p:pic>
                    <p:nvPicPr>
                      <p:cNvPr id="0" name="图片 24579"/>
                      <p:cNvPicPr>
                        <a:picLocks noChangeAspect="1"/>
                      </p:cNvPicPr>
                      <p:nvPr/>
                    </p:nvPicPr>
                    <p:blipFill>
                      <a:blip r:embed="rId8"/>
                      <a:stretch>
                        <a:fillRect/>
                      </a:stretch>
                    </p:blipFill>
                    <p:spPr>
                      <a:xfrm>
                        <a:off x="755774" y="3609954"/>
                        <a:ext cx="2214563" cy="862013"/>
                      </a:xfrm>
                      <a:prstGeom prst="rect">
                        <a:avLst/>
                      </a:prstGeom>
                      <a:noFill/>
                      <a:ln w="9525">
                        <a:noFill/>
                      </a:ln>
                    </p:spPr>
                  </p:pic>
                </p:oleObj>
              </mc:Fallback>
            </mc:AlternateContent>
          </a:graphicData>
        </a:graphic>
      </p:graphicFrame>
      <p:grpSp>
        <p:nvGrpSpPr>
          <p:cNvPr id="15" name="Group 1031"/>
          <p:cNvGrpSpPr/>
          <p:nvPr/>
        </p:nvGrpSpPr>
        <p:grpSpPr bwMode="auto">
          <a:xfrm>
            <a:off x="2916362" y="3467079"/>
            <a:ext cx="4824412" cy="2357438"/>
            <a:chOff x="1973" y="2750"/>
            <a:chExt cx="3039" cy="1485"/>
          </a:xfrm>
        </p:grpSpPr>
        <p:graphicFrame>
          <p:nvGraphicFramePr>
            <p:cNvPr id="16" name="Object 1029"/>
            <p:cNvGraphicFramePr>
              <a:graphicFrameLocks noChangeAspect="1"/>
            </p:cNvGraphicFramePr>
            <p:nvPr/>
          </p:nvGraphicFramePr>
          <p:xfrm>
            <a:off x="2064" y="2750"/>
            <a:ext cx="2948" cy="1485"/>
          </p:xfrm>
          <a:graphic>
            <a:graphicData uri="http://schemas.openxmlformats.org/presentationml/2006/ole">
              <mc:AlternateContent xmlns:mc="http://schemas.openxmlformats.org/markup-compatibility/2006">
                <mc:Choice xmlns:v="urn:schemas-microsoft-com:vml" Requires="v">
                  <p:oleObj spid="_x0000_s24581" name="Equation" r:id="rId9" imgW="50901600" imgH="24993600" progId="Equation.DSMT4">
                    <p:embed/>
                  </p:oleObj>
                </mc:Choice>
                <mc:Fallback>
                  <p:oleObj name="Equation" r:id="rId9" imgW="50901600" imgH="24993600" progId="Equation.DSMT4">
                    <p:embed/>
                    <p:pic>
                      <p:nvPicPr>
                        <p:cNvPr id="0" name="图片 24580"/>
                        <p:cNvPicPr>
                          <a:picLocks noChangeAspect="1"/>
                        </p:cNvPicPr>
                        <p:nvPr/>
                      </p:nvPicPr>
                      <p:blipFill>
                        <a:blip r:embed="rId10"/>
                        <a:stretch>
                          <a:fillRect/>
                        </a:stretch>
                      </p:blipFill>
                      <p:spPr>
                        <a:xfrm>
                          <a:off x="2064" y="2750"/>
                          <a:ext cx="2948" cy="1485"/>
                        </a:xfrm>
                        <a:prstGeom prst="rect">
                          <a:avLst/>
                        </a:prstGeom>
                        <a:noFill/>
                        <a:ln w="9525">
                          <a:noFill/>
                        </a:ln>
                      </p:spPr>
                    </p:pic>
                  </p:oleObj>
                </mc:Fallback>
              </mc:AlternateContent>
            </a:graphicData>
          </a:graphic>
        </p:graphicFrame>
        <p:sp>
          <p:nvSpPr>
            <p:cNvPr id="17" name="Text Box 0"/>
            <p:cNvSpPr txBox="1">
              <a:spLocks noChangeArrowheads="1"/>
            </p:cNvSpPr>
            <p:nvPr/>
          </p:nvSpPr>
          <p:spPr bwMode="auto">
            <a:xfrm>
              <a:off x="2109" y="2898"/>
              <a:ext cx="108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1800" b="1">
                  <a:effectLst/>
                  <a:ea typeface="楷体_GB2312" pitchFamily="49" charset="-122"/>
                </a:rPr>
                <a:t>第一行除以２</a:t>
              </a:r>
              <a:endParaRPr lang="zh-CN" altLang="en-US" sz="1800" b="1">
                <a:effectLst/>
                <a:ea typeface="楷体_GB2312" pitchFamily="49" charset="-122"/>
              </a:endParaRPr>
            </a:p>
          </p:txBody>
        </p:sp>
        <p:sp>
          <p:nvSpPr>
            <p:cNvPr id="18" name="Text Box 1"/>
            <p:cNvSpPr txBox="1">
              <a:spLocks noChangeArrowheads="1"/>
            </p:cNvSpPr>
            <p:nvPr/>
          </p:nvSpPr>
          <p:spPr bwMode="auto">
            <a:xfrm>
              <a:off x="1973" y="3623"/>
              <a:ext cx="1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1800" b="1">
                  <a:effectLst/>
                  <a:ea typeface="楷体_GB2312" pitchFamily="49" charset="-122"/>
                </a:rPr>
                <a:t>第二行减去第一行</a:t>
              </a:r>
              <a:endParaRPr lang="zh-CN" altLang="en-US" sz="1800" b="1">
                <a:effectLst/>
                <a:ea typeface="楷体_GB2312" pitchFamily="49" charset="-122"/>
              </a:endParaRPr>
            </a:p>
          </p:txBody>
        </p:sp>
      </p:grpSp>
      <p:grpSp>
        <p:nvGrpSpPr>
          <p:cNvPr id="19" name="Group 1033"/>
          <p:cNvGrpSpPr/>
          <p:nvPr/>
        </p:nvGrpSpPr>
        <p:grpSpPr bwMode="auto">
          <a:xfrm>
            <a:off x="1546349" y="3702029"/>
            <a:ext cx="649288" cy="792163"/>
            <a:chOff x="1110" y="2898"/>
            <a:chExt cx="409" cy="499"/>
          </a:xfrm>
        </p:grpSpPr>
        <p:sp>
          <p:nvSpPr>
            <p:cNvPr id="20" name="Rectangle 1024"/>
            <p:cNvSpPr>
              <a:spLocks noChangeArrowheads="1"/>
            </p:cNvSpPr>
            <p:nvPr/>
          </p:nvSpPr>
          <p:spPr bwMode="auto">
            <a:xfrm>
              <a:off x="1337" y="2898"/>
              <a:ext cx="182" cy="499"/>
            </a:xfrm>
            <a:prstGeom prst="rect">
              <a:avLst/>
            </a:prstGeom>
            <a:noFill/>
            <a:ln w="952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21" name="Rectangle 1025"/>
            <p:cNvSpPr>
              <a:spLocks noChangeArrowheads="1"/>
            </p:cNvSpPr>
            <p:nvPr/>
          </p:nvSpPr>
          <p:spPr bwMode="auto">
            <a:xfrm>
              <a:off x="1110" y="2898"/>
              <a:ext cx="182" cy="49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grpSp>
      <p:grpSp>
        <p:nvGrpSpPr>
          <p:cNvPr id="22" name="Group 1032"/>
          <p:cNvGrpSpPr/>
          <p:nvPr/>
        </p:nvGrpSpPr>
        <p:grpSpPr bwMode="auto">
          <a:xfrm>
            <a:off x="6240587" y="4778354"/>
            <a:ext cx="1009650" cy="792163"/>
            <a:chOff x="4067" y="3576"/>
            <a:chExt cx="636" cy="499"/>
          </a:xfrm>
        </p:grpSpPr>
        <p:sp>
          <p:nvSpPr>
            <p:cNvPr id="23" name="Rectangle 1027"/>
            <p:cNvSpPr>
              <a:spLocks noChangeArrowheads="1"/>
            </p:cNvSpPr>
            <p:nvPr/>
          </p:nvSpPr>
          <p:spPr bwMode="auto">
            <a:xfrm>
              <a:off x="4521" y="3576"/>
              <a:ext cx="182" cy="499"/>
            </a:xfrm>
            <a:prstGeom prst="rect">
              <a:avLst/>
            </a:prstGeom>
            <a:noFill/>
            <a:ln w="952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24" name="Rectangle 1028"/>
            <p:cNvSpPr>
              <a:spLocks noChangeArrowheads="1"/>
            </p:cNvSpPr>
            <p:nvPr/>
          </p:nvSpPr>
          <p:spPr bwMode="auto">
            <a:xfrm>
              <a:off x="4067" y="3576"/>
              <a:ext cx="182" cy="499"/>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zh-CN" altLang="en-US" dirty="0">
              <a:latin typeface="Times New Roman" panose="02020603050405020304" pitchFamily="18" charset="0"/>
              <a:cs typeface="Times New Roman" panose="02020603050405020304" pitchFamily="18" charset="0"/>
            </a:endParaRPr>
          </a:p>
        </p:txBody>
      </p:sp>
      <p:grpSp>
        <p:nvGrpSpPr>
          <p:cNvPr id="12" name="Group 4"/>
          <p:cNvGrpSpPr/>
          <p:nvPr/>
        </p:nvGrpSpPr>
        <p:grpSpPr bwMode="auto">
          <a:xfrm>
            <a:off x="311346" y="1052736"/>
            <a:ext cx="8424862" cy="1190625"/>
            <a:chOff x="249" y="1389"/>
            <a:chExt cx="5307" cy="750"/>
          </a:xfrm>
        </p:grpSpPr>
        <p:sp>
          <p:nvSpPr>
            <p:cNvPr id="13" name="Rectangle 4"/>
            <p:cNvSpPr>
              <a:spLocks noChangeArrowheads="1"/>
            </p:cNvSpPr>
            <p:nvPr/>
          </p:nvSpPr>
          <p:spPr bwMode="auto">
            <a:xfrm>
              <a:off x="249" y="1389"/>
              <a:ext cx="5307"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2000" b="1">
                  <a:effectLst/>
                  <a:ea typeface="楷体_GB2312" pitchFamily="49" charset="-122"/>
                </a:rPr>
                <a:t>可得改进的基本可行解。</a:t>
              </a:r>
              <a:r>
                <a:rPr lang="zh-CN" altLang="en-US" sz="2000" b="1">
                  <a:effectLst/>
                  <a:ea typeface="楷体_GB2312" pitchFamily="49" charset="-122"/>
                  <a:cs typeface="Arial" panose="020B0604020202020204" pitchFamily="34" charset="0"/>
                </a:rPr>
                <a:t>        </a:t>
              </a:r>
              <a:endParaRPr lang="zh-CN" altLang="en-US" sz="2000" b="1">
                <a:effectLst/>
                <a:ea typeface="楷体_GB2312" pitchFamily="49" charset="-122"/>
              </a:endParaRPr>
            </a:p>
            <a:p>
              <a:pPr algn="just" eaLnBrk="0" hangingPunct="0"/>
              <a:endParaRPr lang="zh-CN" altLang="en-US" sz="2000" b="1">
                <a:effectLst/>
                <a:ea typeface="楷体_GB2312" pitchFamily="49" charset="-122"/>
              </a:endParaRPr>
            </a:p>
            <a:p>
              <a:pPr algn="just" eaLnBrk="0" hangingPunct="0"/>
              <a:r>
                <a:rPr lang="zh-CN" altLang="en-US" sz="2000" b="1">
                  <a:effectLst/>
                  <a:ea typeface="楷体_GB2312" pitchFamily="49" charset="-122"/>
                </a:rPr>
                <a:t>　　　　　　　　　，基变量  </a:t>
              </a:r>
              <a:r>
                <a:rPr lang="en-US" altLang="zh-CN" sz="2000" b="1" i="1">
                  <a:effectLst/>
                  <a:ea typeface="楷体_GB2312" pitchFamily="49" charset="-122"/>
                </a:rPr>
                <a:t>x</a:t>
              </a:r>
              <a:r>
                <a:rPr lang="en-US" altLang="zh-CN" sz="2000" b="1" baseline="-25000">
                  <a:effectLst/>
                  <a:ea typeface="楷体_GB2312" pitchFamily="49" charset="-122"/>
                </a:rPr>
                <a:t>3</a:t>
              </a:r>
              <a:r>
                <a:rPr lang="en-US" altLang="zh-CN" sz="2000" b="1">
                  <a:effectLst/>
                  <a:ea typeface="楷体_GB2312" pitchFamily="49" charset="-122"/>
                </a:rPr>
                <a:t>, </a:t>
              </a:r>
              <a:r>
                <a:rPr lang="en-US" altLang="zh-CN" sz="2000" b="1" i="1">
                  <a:effectLst/>
                  <a:ea typeface="楷体_GB2312" pitchFamily="49" charset="-122"/>
                </a:rPr>
                <a:t>x</a:t>
              </a:r>
              <a:r>
                <a:rPr lang="en-US" altLang="zh-CN" sz="2000" b="1" baseline="-25000">
                  <a:effectLst/>
                  <a:ea typeface="楷体_GB2312" pitchFamily="49" charset="-122"/>
                </a:rPr>
                <a:t>5 </a:t>
              </a:r>
              <a:r>
                <a:rPr lang="en-US" altLang="zh-CN" sz="2000" b="1">
                  <a:effectLst/>
                  <a:ea typeface="楷体_GB2312" pitchFamily="49" charset="-122"/>
                </a:rPr>
                <a:t>,  </a:t>
              </a:r>
              <a:r>
                <a:rPr lang="zh-CN" altLang="en-US" sz="2000" b="1">
                  <a:effectLst/>
                  <a:latin typeface="楷体_GB2312" pitchFamily="49" charset="-122"/>
                  <a:ea typeface="楷体_GB2312" pitchFamily="49" charset="-122"/>
                </a:rPr>
                <a:t>非基变量</a:t>
              </a:r>
              <a:r>
                <a:rPr lang="zh-CN" altLang="en-US" sz="2000" b="1">
                  <a:effectLst/>
                  <a:ea typeface="楷体_GB2312" pitchFamily="49" charset="-122"/>
                </a:rPr>
                <a:t>  </a:t>
              </a:r>
              <a:r>
                <a:rPr lang="en-US" altLang="zh-CN" sz="2000" b="1" i="1">
                  <a:effectLst/>
                  <a:ea typeface="楷体_GB2312" pitchFamily="49" charset="-122"/>
                </a:rPr>
                <a:t>x</a:t>
              </a:r>
              <a:r>
                <a:rPr lang="en-US" altLang="zh-CN" sz="2000" b="1" baseline="-25000">
                  <a:effectLst/>
                  <a:ea typeface="楷体_GB2312" pitchFamily="49" charset="-122"/>
                </a:rPr>
                <a:t>1</a:t>
              </a:r>
              <a:r>
                <a:rPr lang="en-US" altLang="zh-CN" sz="2000" b="1">
                  <a:effectLst/>
                  <a:ea typeface="楷体_GB2312" pitchFamily="49" charset="-122"/>
                </a:rPr>
                <a:t>, </a:t>
              </a:r>
              <a:r>
                <a:rPr lang="en-US" altLang="zh-CN" sz="2000" b="1" i="1">
                  <a:effectLst/>
                  <a:ea typeface="楷体_GB2312" pitchFamily="49" charset="-122"/>
                </a:rPr>
                <a:t>x</a:t>
              </a:r>
              <a:r>
                <a:rPr lang="en-US" altLang="zh-CN" sz="2000" b="1" baseline="-25000">
                  <a:effectLst/>
                  <a:ea typeface="楷体_GB2312" pitchFamily="49" charset="-122"/>
                </a:rPr>
                <a:t>2</a:t>
              </a:r>
              <a:r>
                <a:rPr lang="en-US" altLang="zh-CN" sz="2000" b="1">
                  <a:effectLst/>
                  <a:ea typeface="楷体_GB2312" pitchFamily="49" charset="-122"/>
                </a:rPr>
                <a:t>, </a:t>
              </a:r>
              <a:r>
                <a:rPr lang="en-US" altLang="zh-CN" sz="2000" b="1" i="1">
                  <a:effectLst/>
                  <a:ea typeface="楷体_GB2312" pitchFamily="49" charset="-122"/>
                </a:rPr>
                <a:t>x</a:t>
              </a:r>
              <a:r>
                <a:rPr lang="en-US" altLang="zh-CN" sz="2000" b="1" baseline="-25000">
                  <a:effectLst/>
                  <a:ea typeface="楷体_GB2312" pitchFamily="49" charset="-122"/>
                </a:rPr>
                <a:t>4 </a:t>
              </a:r>
              <a:r>
                <a:rPr lang="zh-CN" altLang="en-US" sz="2000" b="1">
                  <a:effectLst/>
                  <a:ea typeface="楷体_GB2312" pitchFamily="49" charset="-122"/>
                </a:rPr>
                <a:t>。</a:t>
              </a:r>
              <a:endParaRPr lang="zh-CN" altLang="en-US" sz="2000" b="1">
                <a:effectLst/>
                <a:ea typeface="楷体_GB2312" pitchFamily="49" charset="-122"/>
              </a:endParaRPr>
            </a:p>
          </p:txBody>
        </p:sp>
        <p:graphicFrame>
          <p:nvGraphicFramePr>
            <p:cNvPr id="14" name="Object 5"/>
            <p:cNvGraphicFramePr>
              <a:graphicFrameLocks noChangeAspect="1"/>
            </p:cNvGraphicFramePr>
            <p:nvPr/>
          </p:nvGraphicFramePr>
          <p:xfrm>
            <a:off x="403" y="1616"/>
            <a:ext cx="1598" cy="523"/>
          </p:xfrm>
          <a:graphic>
            <a:graphicData uri="http://schemas.openxmlformats.org/presentationml/2006/ole">
              <mc:AlternateContent xmlns:mc="http://schemas.openxmlformats.org/markup-compatibility/2006">
                <mc:Choice xmlns:v="urn:schemas-microsoft-com:vml" Requires="v">
                  <p:oleObj spid="_x0000_s25601" name="Equation" r:id="rId1" imgW="29870400" imgH="10972800" progId="Equation.DSMT4">
                    <p:embed/>
                  </p:oleObj>
                </mc:Choice>
                <mc:Fallback>
                  <p:oleObj name="Equation" r:id="rId1" imgW="29870400" imgH="10972800" progId="Equation.DSMT4">
                    <p:embed/>
                    <p:pic>
                      <p:nvPicPr>
                        <p:cNvPr id="0" name="图片 25600"/>
                        <p:cNvPicPr>
                          <a:picLocks noChangeAspect="1"/>
                        </p:cNvPicPr>
                        <p:nvPr/>
                      </p:nvPicPr>
                      <p:blipFill>
                        <a:blip r:embed="rId2"/>
                        <a:stretch>
                          <a:fillRect/>
                        </a:stretch>
                      </p:blipFill>
                      <p:spPr>
                        <a:xfrm>
                          <a:off x="403" y="1616"/>
                          <a:ext cx="1598" cy="523"/>
                        </a:xfrm>
                        <a:prstGeom prst="rect">
                          <a:avLst/>
                        </a:prstGeom>
                        <a:noFill/>
                        <a:ln w="9525">
                          <a:noFill/>
                        </a:ln>
                      </p:spPr>
                    </p:pic>
                  </p:oleObj>
                </mc:Fallback>
              </mc:AlternateContent>
            </a:graphicData>
          </a:graphic>
        </p:graphicFrame>
      </p:grpSp>
      <p:graphicFrame>
        <p:nvGraphicFramePr>
          <p:cNvPr id="15" name="Object 9"/>
          <p:cNvGraphicFramePr>
            <a:graphicFrameLocks noChangeAspect="1"/>
          </p:cNvGraphicFramePr>
          <p:nvPr/>
        </p:nvGraphicFramePr>
        <p:xfrm>
          <a:off x="600271" y="2132236"/>
          <a:ext cx="7321550" cy="1527175"/>
        </p:xfrm>
        <a:graphic>
          <a:graphicData uri="http://schemas.openxmlformats.org/presentationml/2006/ole">
            <mc:AlternateContent xmlns:mc="http://schemas.openxmlformats.org/markup-compatibility/2006">
              <mc:Choice xmlns:v="urn:schemas-microsoft-com:vml" Requires="v">
                <p:oleObj spid="_x0000_s25602" name="Equation" r:id="rId3" imgW="113995200" imgH="20116800" progId="Equation.DSMT4">
                  <p:embed/>
                </p:oleObj>
              </mc:Choice>
              <mc:Fallback>
                <p:oleObj name="Equation" r:id="rId3" imgW="113995200" imgH="20116800" progId="Equation.DSMT4">
                  <p:embed/>
                  <p:pic>
                    <p:nvPicPr>
                      <p:cNvPr id="0" name="图片 25601"/>
                      <p:cNvPicPr>
                        <a:picLocks noChangeAspect="1"/>
                      </p:cNvPicPr>
                      <p:nvPr/>
                    </p:nvPicPr>
                    <p:blipFill>
                      <a:blip r:embed="rId4"/>
                      <a:stretch>
                        <a:fillRect/>
                      </a:stretch>
                    </p:blipFill>
                    <p:spPr>
                      <a:xfrm>
                        <a:off x="600271" y="2132236"/>
                        <a:ext cx="7321550" cy="1527175"/>
                      </a:xfrm>
                      <a:prstGeom prst="rect">
                        <a:avLst/>
                      </a:prstGeom>
                      <a:noFill/>
                      <a:ln w="9525">
                        <a:noFill/>
                      </a:ln>
                    </p:spPr>
                  </p:pic>
                </p:oleObj>
              </mc:Fallback>
            </mc:AlternateContent>
          </a:graphicData>
        </a:graphic>
      </p:graphicFrame>
      <p:graphicFrame>
        <p:nvGraphicFramePr>
          <p:cNvPr id="16" name="Object 10"/>
          <p:cNvGraphicFramePr>
            <a:graphicFrameLocks noChangeAspect="1"/>
          </p:cNvGraphicFramePr>
          <p:nvPr/>
        </p:nvGraphicFramePr>
        <p:xfrm>
          <a:off x="625671" y="3500661"/>
          <a:ext cx="4024312" cy="887412"/>
        </p:xfrm>
        <a:graphic>
          <a:graphicData uri="http://schemas.openxmlformats.org/presentationml/2006/ole">
            <mc:AlternateContent xmlns:mc="http://schemas.openxmlformats.org/markup-compatibility/2006">
              <mc:Choice xmlns:v="urn:schemas-microsoft-com:vml" Requires="v">
                <p:oleObj spid="_x0000_s25603" name="Equation" r:id="rId5" imgW="45110400" imgH="10972800" progId="Equation.DSMT4">
                  <p:embed/>
                </p:oleObj>
              </mc:Choice>
              <mc:Fallback>
                <p:oleObj name="Equation" r:id="rId5" imgW="45110400" imgH="10972800" progId="Equation.DSMT4">
                  <p:embed/>
                  <p:pic>
                    <p:nvPicPr>
                      <p:cNvPr id="0" name="图片 25602"/>
                      <p:cNvPicPr>
                        <a:picLocks noChangeAspect="1"/>
                      </p:cNvPicPr>
                      <p:nvPr/>
                    </p:nvPicPr>
                    <p:blipFill>
                      <a:blip r:embed="rId6"/>
                      <a:stretch>
                        <a:fillRect/>
                      </a:stretch>
                    </p:blipFill>
                    <p:spPr>
                      <a:xfrm>
                        <a:off x="625671" y="3500661"/>
                        <a:ext cx="4024312" cy="887412"/>
                      </a:xfrm>
                      <a:prstGeom prst="rect">
                        <a:avLst/>
                      </a:prstGeom>
                      <a:noFill/>
                      <a:ln w="9525">
                        <a:noFill/>
                      </a:ln>
                    </p:spPr>
                  </p:pic>
                </p:oleObj>
              </mc:Fallback>
            </mc:AlternateContent>
          </a:graphicData>
        </a:graphic>
      </p:graphicFrame>
      <p:graphicFrame>
        <p:nvGraphicFramePr>
          <p:cNvPr id="17" name="Object 11"/>
          <p:cNvGraphicFramePr>
            <a:graphicFrameLocks noChangeAspect="1"/>
          </p:cNvGraphicFramePr>
          <p:nvPr/>
        </p:nvGraphicFramePr>
        <p:xfrm>
          <a:off x="6000946" y="3716561"/>
          <a:ext cx="2303462" cy="392112"/>
        </p:xfrm>
        <a:graphic>
          <a:graphicData uri="http://schemas.openxmlformats.org/presentationml/2006/ole">
            <mc:AlternateContent xmlns:mc="http://schemas.openxmlformats.org/markup-compatibility/2006">
              <mc:Choice xmlns:v="urn:schemas-microsoft-com:vml" Requires="v">
                <p:oleObj spid="_x0000_s25604" name="Equation" r:id="rId7" imgW="23164800" imgH="5486400" progId="Equation.DSMT4">
                  <p:embed/>
                </p:oleObj>
              </mc:Choice>
              <mc:Fallback>
                <p:oleObj name="Equation" r:id="rId7" imgW="23164800" imgH="5486400" progId="Equation.DSMT4">
                  <p:embed/>
                  <p:pic>
                    <p:nvPicPr>
                      <p:cNvPr id="0" name="图片 25603"/>
                      <p:cNvPicPr>
                        <a:picLocks noChangeAspect="1"/>
                      </p:cNvPicPr>
                      <p:nvPr/>
                    </p:nvPicPr>
                    <p:blipFill>
                      <a:blip r:embed="rId8"/>
                      <a:stretch>
                        <a:fillRect/>
                      </a:stretch>
                    </p:blipFill>
                    <p:spPr>
                      <a:xfrm>
                        <a:off x="6000946" y="3716561"/>
                        <a:ext cx="2303462" cy="392112"/>
                      </a:xfrm>
                      <a:prstGeom prst="rect">
                        <a:avLst/>
                      </a:prstGeom>
                      <a:noFill/>
                      <a:ln w="9525">
                        <a:noFill/>
                      </a:ln>
                    </p:spPr>
                  </p:pic>
                </p:oleObj>
              </mc:Fallback>
            </mc:AlternateContent>
          </a:graphicData>
        </a:graphic>
      </p:graphicFrame>
      <p:graphicFrame>
        <p:nvGraphicFramePr>
          <p:cNvPr id="18" name="Object 12"/>
          <p:cNvGraphicFramePr>
            <a:graphicFrameLocks noChangeAspect="1"/>
          </p:cNvGraphicFramePr>
          <p:nvPr/>
        </p:nvGraphicFramePr>
        <p:xfrm>
          <a:off x="2148083" y="4221386"/>
          <a:ext cx="4113213" cy="830262"/>
        </p:xfrm>
        <a:graphic>
          <a:graphicData uri="http://schemas.openxmlformats.org/presentationml/2006/ole">
            <mc:AlternateContent xmlns:mc="http://schemas.openxmlformats.org/markup-compatibility/2006">
              <mc:Choice xmlns:v="urn:schemas-microsoft-com:vml" Requires="v">
                <p:oleObj spid="_x0000_s25605" name="Equation" r:id="rId9" imgW="46939200" imgH="10972800" progId="Equation.DSMT4">
                  <p:embed/>
                </p:oleObj>
              </mc:Choice>
              <mc:Fallback>
                <p:oleObj name="Equation" r:id="rId9" imgW="46939200" imgH="10972800" progId="Equation.DSMT4">
                  <p:embed/>
                  <p:pic>
                    <p:nvPicPr>
                      <p:cNvPr id="0" name="图片 25604"/>
                      <p:cNvPicPr>
                        <a:picLocks noChangeAspect="1"/>
                      </p:cNvPicPr>
                      <p:nvPr/>
                    </p:nvPicPr>
                    <p:blipFill>
                      <a:blip r:embed="rId10"/>
                      <a:stretch>
                        <a:fillRect/>
                      </a:stretch>
                    </p:blipFill>
                    <p:spPr>
                      <a:xfrm>
                        <a:off x="2148083" y="4221386"/>
                        <a:ext cx="4113213" cy="830262"/>
                      </a:xfrm>
                      <a:prstGeom prst="rect">
                        <a:avLst/>
                      </a:prstGeom>
                      <a:noFill/>
                      <a:ln w="9525">
                        <a:noFill/>
                      </a:ln>
                    </p:spPr>
                  </p:pic>
                </p:oleObj>
              </mc:Fallback>
            </mc:AlternateContent>
          </a:graphicData>
        </a:graphic>
      </p:graphicFrame>
      <p:sp>
        <p:nvSpPr>
          <p:cNvPr id="19" name="Rectangle 2"/>
          <p:cNvSpPr>
            <a:spLocks noChangeArrowheads="1"/>
          </p:cNvSpPr>
          <p:nvPr/>
        </p:nvSpPr>
        <p:spPr bwMode="auto">
          <a:xfrm>
            <a:off x="384371" y="4394423"/>
            <a:ext cx="6335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000" b="1">
                <a:effectLst/>
                <a:latin typeface="楷体_GB2312" pitchFamily="49" charset="-122"/>
                <a:ea typeface="楷体_GB2312" pitchFamily="49" charset="-122"/>
              </a:rPr>
              <a:t>目标函数值</a:t>
            </a:r>
            <a:endParaRPr lang="zh-CN" altLang="en-US" sz="2000" b="1">
              <a:effectLst/>
              <a:latin typeface="楷体_GB2312" pitchFamily="49" charset="-122"/>
              <a:ea typeface="楷体_GB2312" pitchFamily="49" charset="-122"/>
            </a:endParaRPr>
          </a:p>
        </p:txBody>
      </p:sp>
      <p:sp>
        <p:nvSpPr>
          <p:cNvPr id="21" name="Text Box 6"/>
          <p:cNvSpPr txBox="1">
            <a:spLocks noChangeArrowheads="1"/>
          </p:cNvSpPr>
          <p:nvPr/>
        </p:nvSpPr>
        <p:spPr bwMode="auto">
          <a:xfrm>
            <a:off x="4488058" y="3732436"/>
            <a:ext cx="1584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effectLst/>
                <a:latin typeface="楷体_GB2312" pitchFamily="49" charset="-122"/>
                <a:ea typeface="楷体_GB2312" pitchFamily="49" charset="-122"/>
              </a:rPr>
              <a:t>基本可行解</a:t>
            </a:r>
            <a:endParaRPr lang="zh-CN" altLang="en-US" sz="2000" b="1">
              <a:effectLst/>
              <a:latin typeface="楷体_GB2312" pitchFamily="49" charset="-122"/>
              <a:ea typeface="楷体_GB2312" pitchFamily="49" charset="-122"/>
            </a:endParaRPr>
          </a:p>
        </p:txBody>
      </p:sp>
      <p:sp>
        <p:nvSpPr>
          <p:cNvPr id="22" name="Rectangle 7"/>
          <p:cNvSpPr>
            <a:spLocks noChangeArrowheads="1"/>
          </p:cNvSpPr>
          <p:nvPr/>
        </p:nvSpPr>
        <p:spPr bwMode="auto">
          <a:xfrm>
            <a:off x="384371" y="5050061"/>
            <a:ext cx="8424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000" b="1">
                <a:effectLst/>
                <a:latin typeface="楷体_GB2312" pitchFamily="49" charset="-122"/>
                <a:ea typeface="楷体_GB2312" pitchFamily="49" charset="-122"/>
              </a:rPr>
              <a:t>易见目标函数值比原来的</a:t>
            </a:r>
            <a:r>
              <a:rPr lang="en-US" altLang="zh-CN" sz="2000" b="1">
                <a:effectLst/>
                <a:latin typeface="楷体_GB2312" pitchFamily="49" charset="-122"/>
                <a:ea typeface="楷体_GB2312" pitchFamily="49" charset="-122"/>
              </a:rPr>
              <a:t>Z=1</a:t>
            </a:r>
            <a:r>
              <a:rPr lang="zh-CN" altLang="en-US" sz="2000" b="1">
                <a:effectLst/>
                <a:latin typeface="楷体_GB2312" pitchFamily="49" charset="-122"/>
                <a:ea typeface="楷体_GB2312" pitchFamily="49" charset="-122"/>
              </a:rPr>
              <a:t>减小了， 再转向步骤</a:t>
            </a:r>
            <a:r>
              <a:rPr lang="en-US" altLang="zh-CN" sz="2000" b="1">
                <a:effectLst/>
                <a:latin typeface="楷体_GB2312" pitchFamily="49" charset="-122"/>
                <a:ea typeface="楷体_GB2312" pitchFamily="49" charset="-122"/>
              </a:rPr>
              <a:t>(2)</a:t>
            </a:r>
            <a:endParaRPr lang="en-US" altLang="zh-CN" sz="2000" b="1">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par>
                                <p:cTn id="23" presetID="22" presetClass="entr" presetSubtype="8"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1" presetID="22" presetClass="entr" presetSubtype="8"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left)">
                                      <p:cBhvr>
                                        <p:cTn id="3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zh-CN" altLang="en-US" dirty="0">
              <a:latin typeface="Times New Roman" panose="02020603050405020304" pitchFamily="18" charset="0"/>
              <a:cs typeface="Times New Roman" panose="02020603050405020304" pitchFamily="18" charset="0"/>
            </a:endParaRPr>
          </a:p>
        </p:txBody>
      </p:sp>
      <p:sp>
        <p:nvSpPr>
          <p:cNvPr id="10" name="Text Box 4"/>
          <p:cNvSpPr txBox="1">
            <a:spLocks noChangeArrowheads="1"/>
          </p:cNvSpPr>
          <p:nvPr/>
        </p:nvSpPr>
        <p:spPr bwMode="auto">
          <a:xfrm>
            <a:off x="461194" y="2310209"/>
            <a:ext cx="82153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a:solidFill>
                  <a:schemeClr val="accent2"/>
                </a:solidFill>
                <a:effectLst/>
              </a:rPr>
              <a:t>（</a:t>
            </a:r>
            <a:r>
              <a:rPr lang="en-US" altLang="zh-CN" sz="2000" b="1">
                <a:solidFill>
                  <a:schemeClr val="accent2"/>
                </a:solidFill>
                <a:effectLst/>
                <a:cs typeface="Arial" panose="020B0604020202020204" pitchFamily="34" charset="0"/>
              </a:rPr>
              <a:t>2</a:t>
            </a:r>
            <a:r>
              <a:rPr lang="zh-CN" altLang="en-US" sz="2000" b="1">
                <a:solidFill>
                  <a:schemeClr val="accent2"/>
                </a:solidFill>
                <a:effectLst/>
              </a:rPr>
              <a:t>）</a:t>
            </a:r>
            <a:r>
              <a:rPr lang="zh-CN" altLang="en-US" sz="2000" b="1">
                <a:solidFill>
                  <a:schemeClr val="accent2"/>
                </a:solidFill>
                <a:effectLst/>
                <a:latin typeface="楷体_GB2312" pitchFamily="49" charset="-122"/>
                <a:ea typeface="楷体_GB2312" pitchFamily="49" charset="-122"/>
              </a:rPr>
              <a:t>检验　　　　　　　　　</a:t>
            </a:r>
            <a:r>
              <a:rPr lang="zh-CN" altLang="en-US" sz="2000" b="1">
                <a:solidFill>
                  <a:schemeClr val="accent2"/>
                </a:solidFill>
                <a:effectLst/>
                <a:latin typeface="楷体_GB2312" pitchFamily="49" charset="-122"/>
                <a:ea typeface="楷体_GB2312" pitchFamily="49" charset="-122"/>
                <a:cs typeface="Arial" panose="020B0604020202020204" pitchFamily="34" charset="0"/>
              </a:rPr>
              <a:t> </a:t>
            </a:r>
            <a:r>
              <a:rPr lang="zh-CN" altLang="en-US" sz="2000" b="1">
                <a:solidFill>
                  <a:schemeClr val="accent2"/>
                </a:solidFill>
                <a:effectLst/>
                <a:latin typeface="楷体_GB2312" pitchFamily="49" charset="-122"/>
                <a:ea typeface="楷体_GB2312" pitchFamily="49" charset="-122"/>
              </a:rPr>
              <a:t>是否最优。</a:t>
            </a:r>
            <a:endParaRPr lang="zh-CN" altLang="en-US" sz="2000" b="1">
              <a:solidFill>
                <a:schemeClr val="accent2"/>
              </a:solidFill>
              <a:effectLst/>
              <a:latin typeface="楷体_GB2312" pitchFamily="49" charset="-122"/>
              <a:ea typeface="楷体_GB2312" pitchFamily="49" charset="-122"/>
            </a:endParaRPr>
          </a:p>
        </p:txBody>
      </p:sp>
      <p:graphicFrame>
        <p:nvGraphicFramePr>
          <p:cNvPr id="11" name="Object 6"/>
          <p:cNvGraphicFramePr>
            <a:graphicFrameLocks noChangeAspect="1"/>
          </p:cNvGraphicFramePr>
          <p:nvPr/>
        </p:nvGraphicFramePr>
        <p:xfrm>
          <a:off x="1691507" y="2276872"/>
          <a:ext cx="2519362" cy="441325"/>
        </p:xfrm>
        <a:graphic>
          <a:graphicData uri="http://schemas.openxmlformats.org/presentationml/2006/ole">
            <mc:AlternateContent xmlns:mc="http://schemas.openxmlformats.org/markup-compatibility/2006">
              <mc:Choice xmlns:v="urn:schemas-microsoft-com:vml" Requires="v">
                <p:oleObj spid="_x0000_s26625" name="Equation" r:id="rId1" imgW="23164800" imgH="5486400" progId="Equation.DSMT4">
                  <p:embed/>
                </p:oleObj>
              </mc:Choice>
              <mc:Fallback>
                <p:oleObj name="Equation" r:id="rId1" imgW="23164800" imgH="5486400" progId="Equation.DSMT4">
                  <p:embed/>
                  <p:pic>
                    <p:nvPicPr>
                      <p:cNvPr id="0" name="图片 26624"/>
                      <p:cNvPicPr>
                        <a:picLocks noChangeAspect="1"/>
                      </p:cNvPicPr>
                      <p:nvPr/>
                    </p:nvPicPr>
                    <p:blipFill>
                      <a:blip r:embed="rId2"/>
                      <a:stretch>
                        <a:fillRect/>
                      </a:stretch>
                    </p:blipFill>
                    <p:spPr>
                      <a:xfrm>
                        <a:off x="1691507" y="2276872"/>
                        <a:ext cx="2519362" cy="441325"/>
                      </a:xfrm>
                      <a:prstGeom prst="rect">
                        <a:avLst/>
                      </a:prstGeom>
                      <a:noFill/>
                      <a:ln w="9525">
                        <a:noFill/>
                      </a:ln>
                    </p:spPr>
                  </p:pic>
                </p:oleObj>
              </mc:Fallback>
            </mc:AlternateContent>
          </a:graphicData>
        </a:graphic>
      </p:graphicFrame>
      <p:graphicFrame>
        <p:nvGraphicFramePr>
          <p:cNvPr id="12" name="Object 7"/>
          <p:cNvGraphicFramePr>
            <a:graphicFrameLocks noChangeAspect="1"/>
          </p:cNvGraphicFramePr>
          <p:nvPr/>
        </p:nvGraphicFramePr>
        <p:xfrm>
          <a:off x="1691507" y="2680097"/>
          <a:ext cx="6551612" cy="1762125"/>
        </p:xfrm>
        <a:graphic>
          <a:graphicData uri="http://schemas.openxmlformats.org/presentationml/2006/ole">
            <mc:AlternateContent xmlns:mc="http://schemas.openxmlformats.org/markup-compatibility/2006">
              <mc:Choice xmlns:v="urn:schemas-microsoft-com:vml" Requires="v">
                <p:oleObj spid="_x0000_s26626" name="Equation" r:id="rId3" imgW="77114400" imgH="24993600" progId="Equation.DSMT4">
                  <p:embed/>
                </p:oleObj>
              </mc:Choice>
              <mc:Fallback>
                <p:oleObj name="Equation" r:id="rId3" imgW="77114400" imgH="24993600" progId="Equation.DSMT4">
                  <p:embed/>
                  <p:pic>
                    <p:nvPicPr>
                      <p:cNvPr id="0" name="图片 26625"/>
                      <p:cNvPicPr>
                        <a:picLocks noChangeAspect="1"/>
                      </p:cNvPicPr>
                      <p:nvPr/>
                    </p:nvPicPr>
                    <p:blipFill>
                      <a:blip r:embed="rId4"/>
                      <a:stretch>
                        <a:fillRect/>
                      </a:stretch>
                    </p:blipFill>
                    <p:spPr>
                      <a:xfrm>
                        <a:off x="1691507" y="2680097"/>
                        <a:ext cx="6551612" cy="1762125"/>
                      </a:xfrm>
                      <a:prstGeom prst="rect">
                        <a:avLst/>
                      </a:prstGeom>
                      <a:noFill/>
                      <a:ln w="9525">
                        <a:noFill/>
                      </a:ln>
                    </p:spPr>
                  </p:pic>
                </p:oleObj>
              </mc:Fallback>
            </mc:AlternateContent>
          </a:graphicData>
        </a:graphic>
      </p:graphicFrame>
      <p:graphicFrame>
        <p:nvGraphicFramePr>
          <p:cNvPr id="13" name="Object 8"/>
          <p:cNvGraphicFramePr>
            <a:graphicFrameLocks noChangeAspect="1"/>
          </p:cNvGraphicFramePr>
          <p:nvPr/>
        </p:nvGraphicFramePr>
        <p:xfrm>
          <a:off x="1332557" y="5589240"/>
          <a:ext cx="2519363" cy="452437"/>
        </p:xfrm>
        <a:graphic>
          <a:graphicData uri="http://schemas.openxmlformats.org/presentationml/2006/ole">
            <mc:AlternateContent xmlns:mc="http://schemas.openxmlformats.org/markup-compatibility/2006">
              <mc:Choice xmlns:v="urn:schemas-microsoft-com:vml" Requires="v">
                <p:oleObj spid="_x0000_s26627" name="Equation" r:id="rId5" imgW="23164800" imgH="5486400" progId="Equation.DSMT4">
                  <p:embed/>
                </p:oleObj>
              </mc:Choice>
              <mc:Fallback>
                <p:oleObj name="Equation" r:id="rId5" imgW="23164800" imgH="5486400" progId="Equation.DSMT4">
                  <p:embed/>
                  <p:pic>
                    <p:nvPicPr>
                      <p:cNvPr id="0" name="图片 26626"/>
                      <p:cNvPicPr>
                        <a:picLocks noChangeAspect="1"/>
                      </p:cNvPicPr>
                      <p:nvPr/>
                    </p:nvPicPr>
                    <p:blipFill>
                      <a:blip r:embed="rId6"/>
                      <a:stretch>
                        <a:fillRect/>
                      </a:stretch>
                    </p:blipFill>
                    <p:spPr>
                      <a:xfrm>
                        <a:off x="1332557" y="5589240"/>
                        <a:ext cx="2519363" cy="452437"/>
                      </a:xfrm>
                      <a:prstGeom prst="rect">
                        <a:avLst/>
                      </a:prstGeom>
                      <a:noFill/>
                      <a:ln w="9525">
                        <a:noFill/>
                      </a:ln>
                    </p:spPr>
                  </p:pic>
                </p:oleObj>
              </mc:Fallback>
            </mc:AlternateContent>
          </a:graphicData>
        </a:graphic>
      </p:graphicFrame>
      <p:graphicFrame>
        <p:nvGraphicFramePr>
          <p:cNvPr id="14" name="Object 0"/>
          <p:cNvGraphicFramePr>
            <a:graphicFrameLocks noChangeAspect="1"/>
          </p:cNvGraphicFramePr>
          <p:nvPr/>
        </p:nvGraphicFramePr>
        <p:xfrm>
          <a:off x="467544" y="707200"/>
          <a:ext cx="7826375" cy="1527175"/>
        </p:xfrm>
        <a:graphic>
          <a:graphicData uri="http://schemas.openxmlformats.org/presentationml/2006/ole">
            <mc:AlternateContent xmlns:mc="http://schemas.openxmlformats.org/markup-compatibility/2006">
              <mc:Choice xmlns:v="urn:schemas-microsoft-com:vml" Requires="v">
                <p:oleObj spid="_x0000_s26628" name="Equation" r:id="rId7" imgW="113995200" imgH="20116800" progId="Equation.DSMT4">
                  <p:embed/>
                </p:oleObj>
              </mc:Choice>
              <mc:Fallback>
                <p:oleObj name="Equation" r:id="rId7" imgW="113995200" imgH="20116800" progId="Equation.DSMT4">
                  <p:embed/>
                  <p:pic>
                    <p:nvPicPr>
                      <p:cNvPr id="0" name="图片 26627"/>
                      <p:cNvPicPr>
                        <a:picLocks noChangeAspect="1"/>
                      </p:cNvPicPr>
                      <p:nvPr/>
                    </p:nvPicPr>
                    <p:blipFill>
                      <a:blip r:embed="rId8"/>
                      <a:stretch>
                        <a:fillRect/>
                      </a:stretch>
                    </p:blipFill>
                    <p:spPr>
                      <a:xfrm>
                        <a:off x="467544" y="707200"/>
                        <a:ext cx="7826375" cy="1527175"/>
                      </a:xfrm>
                      <a:prstGeom prst="rect">
                        <a:avLst/>
                      </a:prstGeom>
                      <a:noFill/>
                      <a:ln w="9525">
                        <a:noFill/>
                      </a:ln>
                    </p:spPr>
                  </p:pic>
                </p:oleObj>
              </mc:Fallback>
            </mc:AlternateContent>
          </a:graphicData>
        </a:graphic>
      </p:graphicFrame>
      <p:sp>
        <p:nvSpPr>
          <p:cNvPr id="15" name="Line 1"/>
          <p:cNvSpPr>
            <a:spLocks noChangeShapeType="1"/>
          </p:cNvSpPr>
          <p:nvPr/>
        </p:nvSpPr>
        <p:spPr bwMode="auto">
          <a:xfrm>
            <a:off x="467544" y="2204864"/>
            <a:ext cx="81359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graphicFrame>
        <p:nvGraphicFramePr>
          <p:cNvPr id="16" name="Object 2"/>
          <p:cNvGraphicFramePr>
            <a:graphicFrameLocks noChangeAspect="1"/>
          </p:cNvGraphicFramePr>
          <p:nvPr/>
        </p:nvGraphicFramePr>
        <p:xfrm>
          <a:off x="1821681" y="5072459"/>
          <a:ext cx="1684337" cy="460375"/>
        </p:xfrm>
        <a:graphic>
          <a:graphicData uri="http://schemas.openxmlformats.org/presentationml/2006/ole">
            <mc:AlternateContent xmlns:mc="http://schemas.openxmlformats.org/markup-compatibility/2006">
              <mc:Choice xmlns:v="urn:schemas-microsoft-com:vml" Requires="v">
                <p:oleObj spid="_x0000_s26629" name="Equation" r:id="rId9" imgW="20116800" imgH="5486400" progId="Equation.DSMT4">
                  <p:embed/>
                </p:oleObj>
              </mc:Choice>
              <mc:Fallback>
                <p:oleObj name="Equation" r:id="rId9" imgW="20116800" imgH="5486400" progId="Equation.DSMT4">
                  <p:embed/>
                  <p:pic>
                    <p:nvPicPr>
                      <p:cNvPr id="0" name="图片 26628"/>
                      <p:cNvPicPr>
                        <a:picLocks noChangeAspect="1"/>
                      </p:cNvPicPr>
                      <p:nvPr/>
                    </p:nvPicPr>
                    <p:blipFill>
                      <a:blip r:embed="rId10"/>
                      <a:stretch>
                        <a:fillRect/>
                      </a:stretch>
                    </p:blipFill>
                    <p:spPr>
                      <a:xfrm>
                        <a:off x="1821681" y="5072459"/>
                        <a:ext cx="1684337" cy="460375"/>
                      </a:xfrm>
                      <a:prstGeom prst="rect">
                        <a:avLst/>
                      </a:prstGeom>
                      <a:noFill/>
                      <a:ln w="9525">
                        <a:noFill/>
                      </a:ln>
                    </p:spPr>
                  </p:pic>
                </p:oleObj>
              </mc:Fallback>
            </mc:AlternateContent>
          </a:graphicData>
        </a:graphic>
      </p:graphicFrame>
      <p:graphicFrame>
        <p:nvGraphicFramePr>
          <p:cNvPr id="17" name="Object 2"/>
          <p:cNvGraphicFramePr>
            <a:graphicFrameLocks noChangeAspect="1"/>
          </p:cNvGraphicFramePr>
          <p:nvPr/>
        </p:nvGraphicFramePr>
        <p:xfrm>
          <a:off x="5363394" y="4480322"/>
          <a:ext cx="936625" cy="592137"/>
        </p:xfrm>
        <a:graphic>
          <a:graphicData uri="http://schemas.openxmlformats.org/presentationml/2006/ole">
            <mc:AlternateContent xmlns:mc="http://schemas.openxmlformats.org/markup-compatibility/2006">
              <mc:Choice xmlns:v="urn:schemas-microsoft-com:vml" Requires="v">
                <p:oleObj spid="_x0000_s26630" name="Equation" r:id="rId11" imgW="17373600" imgH="10972800" progId="Equation.DSMT4">
                  <p:embed/>
                </p:oleObj>
              </mc:Choice>
              <mc:Fallback>
                <p:oleObj name="Equation" r:id="rId11" imgW="17373600" imgH="10972800" progId="Equation.DSMT4">
                  <p:embed/>
                  <p:pic>
                    <p:nvPicPr>
                      <p:cNvPr id="0" name="图片 26629"/>
                      <p:cNvPicPr>
                        <a:picLocks noChangeAspect="1"/>
                      </p:cNvPicPr>
                      <p:nvPr/>
                    </p:nvPicPr>
                    <p:blipFill>
                      <a:blip r:embed="rId12"/>
                      <a:stretch>
                        <a:fillRect/>
                      </a:stretch>
                    </p:blipFill>
                    <p:spPr>
                      <a:xfrm>
                        <a:off x="5363394" y="4480322"/>
                        <a:ext cx="936625" cy="592137"/>
                      </a:xfrm>
                      <a:prstGeom prst="rect">
                        <a:avLst/>
                      </a:prstGeom>
                      <a:noFill/>
                      <a:ln w="9525">
                        <a:noFill/>
                      </a:ln>
                    </p:spPr>
                  </p:pic>
                </p:oleObj>
              </mc:Fallback>
            </mc:AlternateContent>
          </a:graphicData>
        </a:graphic>
      </p:graphicFrame>
      <p:sp>
        <p:nvSpPr>
          <p:cNvPr id="18" name="Text Box 3"/>
          <p:cNvSpPr txBox="1">
            <a:spLocks noChangeArrowheads="1"/>
          </p:cNvSpPr>
          <p:nvPr/>
        </p:nvSpPr>
        <p:spPr bwMode="auto">
          <a:xfrm>
            <a:off x="467544" y="3111897"/>
            <a:ext cx="1584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a:effectLst/>
                <a:latin typeface="楷体_GB2312" pitchFamily="49" charset="-122"/>
                <a:ea typeface="楷体_GB2312" pitchFamily="49" charset="-122"/>
              </a:rPr>
              <a:t>检验向量</a:t>
            </a:r>
            <a:endParaRPr lang="zh-CN" altLang="en-US" sz="2000" b="1">
              <a:effectLst/>
              <a:latin typeface="楷体_GB2312" pitchFamily="49" charset="-122"/>
              <a:ea typeface="楷体_GB2312" pitchFamily="49" charset="-122"/>
            </a:endParaRPr>
          </a:p>
        </p:txBody>
      </p:sp>
      <p:sp>
        <p:nvSpPr>
          <p:cNvPr id="19" name="Text Box 4"/>
          <p:cNvSpPr txBox="1">
            <a:spLocks noChangeArrowheads="1"/>
          </p:cNvSpPr>
          <p:nvPr/>
        </p:nvSpPr>
        <p:spPr bwMode="auto">
          <a:xfrm>
            <a:off x="697732" y="5632847"/>
            <a:ext cx="6408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dirty="0">
                <a:effectLst/>
                <a:latin typeface="楷体_GB2312" pitchFamily="49" charset="-122"/>
                <a:ea typeface="楷体_GB2312" pitchFamily="49" charset="-122"/>
              </a:rPr>
              <a:t>所以                                 仍不是最优解</a:t>
            </a:r>
            <a:endParaRPr lang="zh-CN" altLang="en-US" sz="2000" b="1" dirty="0">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down)">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down)">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down)">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down)">
                                      <p:cBhvr>
                                        <p:cTn id="35" dur="500"/>
                                        <p:tgtEl>
                                          <p:spTgt spid="19"/>
                                        </p:tgtEl>
                                      </p:cBhvr>
                                    </p:animEffect>
                                  </p:childTnLst>
                                </p:cTn>
                              </p:par>
                              <p:par>
                                <p:cTn id="36" presetID="22" presetClass="entr" presetSubtype="4"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down)">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zh-CN" altLang="en-US" dirty="0">
              <a:latin typeface="Times New Roman" panose="02020603050405020304" pitchFamily="18" charset="0"/>
              <a:cs typeface="Times New Roman" panose="02020603050405020304" pitchFamily="18" charset="0"/>
            </a:endParaRPr>
          </a:p>
        </p:txBody>
      </p:sp>
      <p:sp>
        <p:nvSpPr>
          <p:cNvPr id="9" name="Text Box 3"/>
          <p:cNvSpPr txBox="1">
            <a:spLocks noChangeArrowheads="1"/>
          </p:cNvSpPr>
          <p:nvPr/>
        </p:nvSpPr>
        <p:spPr bwMode="auto">
          <a:xfrm>
            <a:off x="533400" y="1908969"/>
            <a:ext cx="8077200"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a:effectLst/>
                <a:ea typeface="楷体_GB2312" pitchFamily="49" charset="-122"/>
                <a:cs typeface="Arial" panose="020B0604020202020204" pitchFamily="34" charset="0"/>
              </a:rPr>
              <a:t>     ①</a:t>
            </a:r>
            <a:r>
              <a:rPr lang="en-US" altLang="zh-CN" sz="2000" b="1">
                <a:effectLst/>
                <a:ea typeface="楷体_GB2312" pitchFamily="49" charset="-122"/>
                <a:cs typeface="Times New Roman" panose="02020603050405020304" pitchFamily="18" charset="0"/>
              </a:rPr>
              <a:t>    </a:t>
            </a:r>
            <a:r>
              <a:rPr lang="zh-CN" altLang="en-US" sz="2000" b="1">
                <a:effectLst/>
                <a:ea typeface="楷体_GB2312" pitchFamily="49" charset="-122"/>
                <a:cs typeface="Arial" panose="020B0604020202020204" pitchFamily="34" charset="0"/>
              </a:rPr>
              <a:t>选取换入变量</a:t>
            </a:r>
            <a:endParaRPr lang="zh-CN" altLang="en-US" sz="2000" b="1">
              <a:effectLst/>
              <a:ea typeface="楷体_GB2312" pitchFamily="49" charset="-122"/>
              <a:cs typeface="Arial" panose="020B0604020202020204" pitchFamily="34" charset="0"/>
            </a:endParaRPr>
          </a:p>
          <a:p>
            <a:pPr algn="l">
              <a:lnSpc>
                <a:spcPct val="140000"/>
              </a:lnSpc>
            </a:pPr>
            <a:r>
              <a:rPr lang="zh-CN" altLang="en-US" sz="2000" b="1">
                <a:effectLst/>
                <a:ea typeface="楷体_GB2312" pitchFamily="49" charset="-122"/>
                <a:cs typeface="Arial" panose="020B0604020202020204" pitchFamily="34" charset="0"/>
              </a:rPr>
              <a:t>　　因为　　　　　  </a:t>
            </a:r>
            <a:r>
              <a:rPr lang="zh-CN" altLang="en-US" sz="2000" b="1">
                <a:effectLst/>
                <a:ea typeface="楷体_GB2312" pitchFamily="49" charset="-122"/>
              </a:rPr>
              <a:t>， 取　</a:t>
            </a:r>
            <a:r>
              <a:rPr lang="en-US" altLang="zh-CN" sz="2000" b="1" i="1">
                <a:effectLst/>
                <a:ea typeface="楷体_GB2312" pitchFamily="49" charset="-122"/>
              </a:rPr>
              <a:t>x</a:t>
            </a:r>
            <a:r>
              <a:rPr lang="en-US" altLang="zh-CN" sz="2000" b="1" baseline="-25000">
                <a:effectLst/>
                <a:ea typeface="楷体_GB2312" pitchFamily="49" charset="-122"/>
              </a:rPr>
              <a:t>1</a:t>
            </a:r>
            <a:r>
              <a:rPr lang="zh-CN" altLang="en-US" sz="2000" b="1">
                <a:effectLst/>
                <a:ea typeface="楷体_GB2312" pitchFamily="49" charset="-122"/>
              </a:rPr>
              <a:t>　为换入变量。</a:t>
            </a:r>
            <a:endParaRPr lang="zh-CN" altLang="en-US" sz="2000" b="1">
              <a:effectLst/>
              <a:ea typeface="楷体_GB2312" pitchFamily="49" charset="-122"/>
            </a:endParaRPr>
          </a:p>
          <a:p>
            <a:pPr algn="l">
              <a:lnSpc>
                <a:spcPct val="140000"/>
              </a:lnSpc>
            </a:pPr>
            <a:r>
              <a:rPr lang="zh-CN" altLang="en-US" sz="2000" b="1">
                <a:effectLst/>
                <a:ea typeface="楷体_GB2312" pitchFamily="49" charset="-122"/>
              </a:rPr>
              <a:t>     ②    选取换出变量</a:t>
            </a:r>
            <a:endParaRPr lang="zh-CN" altLang="en-US" sz="2000" b="1">
              <a:effectLst/>
              <a:ea typeface="楷体_GB2312" pitchFamily="49" charset="-122"/>
            </a:endParaRPr>
          </a:p>
          <a:p>
            <a:pPr algn="l">
              <a:lnSpc>
                <a:spcPct val="140000"/>
              </a:lnSpc>
            </a:pPr>
            <a:endParaRPr lang="zh-CN" altLang="en-US" sz="2000" b="1">
              <a:effectLst/>
              <a:ea typeface="楷体_GB2312" pitchFamily="49" charset="-122"/>
            </a:endParaRPr>
          </a:p>
          <a:p>
            <a:pPr algn="l">
              <a:lnSpc>
                <a:spcPct val="110000"/>
              </a:lnSpc>
            </a:pPr>
            <a:r>
              <a:rPr lang="zh-CN" altLang="en-US" sz="2000" b="1">
                <a:effectLst/>
                <a:ea typeface="楷体_GB2312" pitchFamily="49" charset="-122"/>
              </a:rPr>
              <a:t>　　　　　　　　　　　　　　　　　且　　　　              ，</a:t>
            </a:r>
            <a:endParaRPr lang="zh-CN" altLang="en-US" sz="2000" b="1">
              <a:effectLst/>
              <a:ea typeface="楷体_GB2312" pitchFamily="49" charset="-122"/>
            </a:endParaRPr>
          </a:p>
          <a:p>
            <a:pPr algn="l">
              <a:lnSpc>
                <a:spcPct val="140000"/>
              </a:lnSpc>
            </a:pPr>
            <a:endParaRPr lang="zh-CN" altLang="en-US" sz="2000" b="1">
              <a:effectLst/>
              <a:ea typeface="楷体_GB2312" pitchFamily="49" charset="-122"/>
            </a:endParaRPr>
          </a:p>
          <a:p>
            <a:pPr algn="l">
              <a:lnSpc>
                <a:spcPct val="140000"/>
              </a:lnSpc>
            </a:pPr>
            <a:r>
              <a:rPr lang="zh-CN" altLang="en-US" sz="2000" b="1">
                <a:effectLst/>
                <a:ea typeface="楷体_GB2312" pitchFamily="49" charset="-122"/>
              </a:rPr>
              <a:t>　选取 </a:t>
            </a:r>
            <a:r>
              <a:rPr lang="en-US" altLang="zh-CN" sz="2000" b="1" i="1">
                <a:effectLst/>
                <a:ea typeface="楷体_GB2312" pitchFamily="49" charset="-122"/>
              </a:rPr>
              <a:t>x</a:t>
            </a:r>
            <a:r>
              <a:rPr lang="en-US" altLang="zh-CN" sz="2000" b="1" baseline="-25000">
                <a:effectLst/>
                <a:ea typeface="楷体_GB2312" pitchFamily="49" charset="-122"/>
              </a:rPr>
              <a:t>5 </a:t>
            </a:r>
            <a:r>
              <a:rPr lang="zh-CN" altLang="en-US" sz="2000" b="1">
                <a:effectLst/>
                <a:ea typeface="楷体_GB2312" pitchFamily="49" charset="-122"/>
              </a:rPr>
              <a:t>为换出变量</a:t>
            </a:r>
            <a:r>
              <a:rPr lang="en-US" altLang="zh-CN" sz="2000" b="1">
                <a:effectLst/>
                <a:ea typeface="楷体_GB2312" pitchFamily="49" charset="-122"/>
              </a:rPr>
              <a:t>.</a:t>
            </a:r>
            <a:endParaRPr lang="en-US" altLang="zh-CN" sz="2000" b="1">
              <a:effectLst/>
              <a:ea typeface="楷体_GB2312" pitchFamily="49" charset="-122"/>
            </a:endParaRPr>
          </a:p>
        </p:txBody>
      </p:sp>
      <p:sp>
        <p:nvSpPr>
          <p:cNvPr id="10" name="Text Box 4"/>
          <p:cNvSpPr txBox="1">
            <a:spLocks noChangeArrowheads="1"/>
          </p:cNvSpPr>
          <p:nvPr/>
        </p:nvSpPr>
        <p:spPr bwMode="auto">
          <a:xfrm>
            <a:off x="533400" y="1153319"/>
            <a:ext cx="807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a:solidFill>
                  <a:schemeClr val="accent2"/>
                </a:solidFill>
                <a:effectLst/>
                <a:latin typeface="宋体" panose="02010600030101010101" pitchFamily="2" charset="-122"/>
              </a:rPr>
              <a:t>（</a:t>
            </a:r>
            <a:r>
              <a:rPr lang="en-US" altLang="zh-CN" sz="2000" b="1">
                <a:solidFill>
                  <a:schemeClr val="accent2"/>
                </a:solidFill>
                <a:effectLst/>
                <a:latin typeface="Arial" panose="020B0604020202020204" pitchFamily="34" charset="0"/>
                <a:cs typeface="Arial" panose="020B0604020202020204" pitchFamily="34" charset="0"/>
              </a:rPr>
              <a:t>3</a:t>
            </a:r>
            <a:r>
              <a:rPr lang="zh-CN" altLang="en-US" sz="2000" b="1">
                <a:solidFill>
                  <a:schemeClr val="accent2"/>
                </a:solidFill>
                <a:effectLst/>
                <a:latin typeface="宋体" panose="02010600030101010101" pitchFamily="2" charset="-122"/>
              </a:rPr>
              <a:t>）</a:t>
            </a:r>
            <a:r>
              <a:rPr lang="zh-CN" altLang="en-US" sz="2000" b="1">
                <a:solidFill>
                  <a:schemeClr val="accent2"/>
                </a:solidFill>
                <a:effectLst/>
                <a:latin typeface="楷体_GB2312" pitchFamily="49" charset="-122"/>
                <a:ea typeface="楷体_GB2312" pitchFamily="49" charset="-122"/>
              </a:rPr>
              <a:t>基本可行解　　　　　　　　　　的改进</a:t>
            </a:r>
            <a:endParaRPr lang="zh-CN" altLang="en-US" sz="2000" b="1">
              <a:solidFill>
                <a:schemeClr val="accent2"/>
              </a:solidFill>
              <a:effectLst/>
              <a:latin typeface="楷体_GB2312" pitchFamily="49" charset="-122"/>
              <a:ea typeface="楷体_GB2312" pitchFamily="49" charset="-122"/>
            </a:endParaRPr>
          </a:p>
        </p:txBody>
      </p:sp>
      <p:graphicFrame>
        <p:nvGraphicFramePr>
          <p:cNvPr id="11" name="Object 6"/>
          <p:cNvGraphicFramePr>
            <a:graphicFrameLocks noChangeAspect="1"/>
          </p:cNvGraphicFramePr>
          <p:nvPr/>
        </p:nvGraphicFramePr>
        <p:xfrm>
          <a:off x="5357813" y="3326607"/>
          <a:ext cx="2736850" cy="815975"/>
        </p:xfrm>
        <a:graphic>
          <a:graphicData uri="http://schemas.openxmlformats.org/presentationml/2006/ole">
            <mc:AlternateContent xmlns:mc="http://schemas.openxmlformats.org/markup-compatibility/2006">
              <mc:Choice xmlns:v="urn:schemas-microsoft-com:vml" Requires="v">
                <p:oleObj spid="_x0000_s27649" name="Equation" r:id="rId1" imgW="34747200" imgH="10363200" progId="Equation.DSMT4">
                  <p:embed/>
                </p:oleObj>
              </mc:Choice>
              <mc:Fallback>
                <p:oleObj name="Equation" r:id="rId1" imgW="34747200" imgH="10363200" progId="Equation.DSMT4">
                  <p:embed/>
                  <p:pic>
                    <p:nvPicPr>
                      <p:cNvPr id="0" name="图片 27648"/>
                      <p:cNvPicPr>
                        <a:picLocks noChangeAspect="1"/>
                      </p:cNvPicPr>
                      <p:nvPr/>
                    </p:nvPicPr>
                    <p:blipFill>
                      <a:blip r:embed="rId2"/>
                      <a:stretch>
                        <a:fillRect/>
                      </a:stretch>
                    </p:blipFill>
                    <p:spPr>
                      <a:xfrm>
                        <a:off x="5357813" y="3326607"/>
                        <a:ext cx="2736850" cy="815975"/>
                      </a:xfrm>
                      <a:prstGeom prst="rect">
                        <a:avLst/>
                      </a:prstGeom>
                      <a:noFill/>
                      <a:ln w="9525">
                        <a:noFill/>
                      </a:ln>
                    </p:spPr>
                  </p:pic>
                </p:oleObj>
              </mc:Fallback>
            </mc:AlternateContent>
          </a:graphicData>
        </a:graphic>
      </p:graphicFrame>
      <p:graphicFrame>
        <p:nvGraphicFramePr>
          <p:cNvPr id="12" name="Object 8"/>
          <p:cNvGraphicFramePr>
            <a:graphicFrameLocks noChangeAspect="1"/>
          </p:cNvGraphicFramePr>
          <p:nvPr/>
        </p:nvGraphicFramePr>
        <p:xfrm>
          <a:off x="2620963" y="1124744"/>
          <a:ext cx="2519362" cy="441325"/>
        </p:xfrm>
        <a:graphic>
          <a:graphicData uri="http://schemas.openxmlformats.org/presentationml/2006/ole">
            <mc:AlternateContent xmlns:mc="http://schemas.openxmlformats.org/markup-compatibility/2006">
              <mc:Choice xmlns:v="urn:schemas-microsoft-com:vml" Requires="v">
                <p:oleObj spid="_x0000_s27650" name="Equation" r:id="rId3" imgW="23164800" imgH="5486400" progId="Equation.DSMT4">
                  <p:embed/>
                </p:oleObj>
              </mc:Choice>
              <mc:Fallback>
                <p:oleObj name="Equation" r:id="rId3" imgW="23164800" imgH="5486400" progId="Equation.DSMT4">
                  <p:embed/>
                  <p:pic>
                    <p:nvPicPr>
                      <p:cNvPr id="0" name="图片 27649"/>
                      <p:cNvPicPr>
                        <a:picLocks noChangeAspect="1"/>
                      </p:cNvPicPr>
                      <p:nvPr/>
                    </p:nvPicPr>
                    <p:blipFill>
                      <a:blip r:embed="rId4"/>
                      <a:stretch>
                        <a:fillRect/>
                      </a:stretch>
                    </p:blipFill>
                    <p:spPr>
                      <a:xfrm>
                        <a:off x="2620963" y="1124744"/>
                        <a:ext cx="2519362" cy="441325"/>
                      </a:xfrm>
                      <a:prstGeom prst="rect">
                        <a:avLst/>
                      </a:prstGeom>
                      <a:noFill/>
                      <a:ln w="9525">
                        <a:noFill/>
                      </a:ln>
                    </p:spPr>
                  </p:pic>
                </p:oleObj>
              </mc:Fallback>
            </mc:AlternateContent>
          </a:graphicData>
        </a:graphic>
      </p:graphicFrame>
      <p:graphicFrame>
        <p:nvGraphicFramePr>
          <p:cNvPr id="13" name="Object 10"/>
          <p:cNvGraphicFramePr>
            <a:graphicFrameLocks noChangeAspect="1"/>
          </p:cNvGraphicFramePr>
          <p:nvPr/>
        </p:nvGraphicFramePr>
        <p:xfrm>
          <a:off x="1150938" y="3029744"/>
          <a:ext cx="3559175" cy="1449388"/>
        </p:xfrm>
        <a:graphic>
          <a:graphicData uri="http://schemas.openxmlformats.org/presentationml/2006/ole">
            <mc:AlternateContent xmlns:mc="http://schemas.openxmlformats.org/markup-compatibility/2006">
              <mc:Choice xmlns:v="urn:schemas-microsoft-com:vml" Requires="v">
                <p:oleObj spid="_x0000_s27651" name="Equation" r:id="rId5" imgW="39928800" imgH="20116800" progId="Equation.DSMT4">
                  <p:embed/>
                </p:oleObj>
              </mc:Choice>
              <mc:Fallback>
                <p:oleObj name="Equation" r:id="rId5" imgW="39928800" imgH="20116800" progId="Equation.DSMT4">
                  <p:embed/>
                  <p:pic>
                    <p:nvPicPr>
                      <p:cNvPr id="0" name="图片 27650"/>
                      <p:cNvPicPr>
                        <a:picLocks noChangeAspect="1"/>
                      </p:cNvPicPr>
                      <p:nvPr/>
                    </p:nvPicPr>
                    <p:blipFill>
                      <a:blip r:embed="rId6"/>
                      <a:stretch>
                        <a:fillRect/>
                      </a:stretch>
                    </p:blipFill>
                    <p:spPr>
                      <a:xfrm>
                        <a:off x="1150938" y="3029744"/>
                        <a:ext cx="3559175" cy="1449388"/>
                      </a:xfrm>
                      <a:prstGeom prst="rect">
                        <a:avLst/>
                      </a:prstGeom>
                      <a:noFill/>
                      <a:ln w="9525">
                        <a:noFill/>
                      </a:ln>
                    </p:spPr>
                  </p:pic>
                </p:oleObj>
              </mc:Fallback>
            </mc:AlternateContent>
          </a:graphicData>
        </a:graphic>
      </p:graphicFrame>
      <p:graphicFrame>
        <p:nvGraphicFramePr>
          <p:cNvPr id="14" name="Object 12"/>
          <p:cNvGraphicFramePr>
            <a:graphicFrameLocks noChangeAspect="1"/>
          </p:cNvGraphicFramePr>
          <p:nvPr/>
        </p:nvGraphicFramePr>
        <p:xfrm>
          <a:off x="1684338" y="2318544"/>
          <a:ext cx="1428750" cy="460375"/>
        </p:xfrm>
        <a:graphic>
          <a:graphicData uri="http://schemas.openxmlformats.org/presentationml/2006/ole">
            <mc:AlternateContent xmlns:mc="http://schemas.openxmlformats.org/markup-compatibility/2006">
              <mc:Choice xmlns:v="urn:schemas-microsoft-com:vml" Requires="v">
                <p:oleObj spid="_x0000_s27652" name="Equation" r:id="rId7" imgW="17068800" imgH="5486400" progId="Equation.DSMT4">
                  <p:embed/>
                </p:oleObj>
              </mc:Choice>
              <mc:Fallback>
                <p:oleObj name="Equation" r:id="rId7" imgW="17068800" imgH="5486400" progId="Equation.DSMT4">
                  <p:embed/>
                  <p:pic>
                    <p:nvPicPr>
                      <p:cNvPr id="0" name="图片 27651"/>
                      <p:cNvPicPr>
                        <a:picLocks noChangeAspect="1"/>
                      </p:cNvPicPr>
                      <p:nvPr/>
                    </p:nvPicPr>
                    <p:blipFill>
                      <a:blip r:embed="rId8"/>
                      <a:stretch>
                        <a:fillRect/>
                      </a:stretch>
                    </p:blipFill>
                    <p:spPr>
                      <a:xfrm>
                        <a:off x="1684338" y="2318544"/>
                        <a:ext cx="1428750" cy="460375"/>
                      </a:xfrm>
                      <a:prstGeom prst="rect">
                        <a:avLst/>
                      </a:prstGeom>
                      <a:noFill/>
                      <a:ln w="9525">
                        <a:noFill/>
                      </a:ln>
                    </p:spPr>
                  </p:pic>
                </p:oleObj>
              </mc:Fallback>
            </mc:AlternateContent>
          </a:graphicData>
        </a:graphic>
      </p:graphicFrame>
      <p:graphicFrame>
        <p:nvGraphicFramePr>
          <p:cNvPr id="16" name="Object 2"/>
          <p:cNvGraphicFramePr>
            <a:graphicFrameLocks noChangeAspect="1"/>
          </p:cNvGraphicFramePr>
          <p:nvPr/>
        </p:nvGraphicFramePr>
        <p:xfrm>
          <a:off x="3486150" y="4464844"/>
          <a:ext cx="4602163" cy="877888"/>
        </p:xfrm>
        <a:graphic>
          <a:graphicData uri="http://schemas.openxmlformats.org/presentationml/2006/ole">
            <mc:AlternateContent xmlns:mc="http://schemas.openxmlformats.org/markup-compatibility/2006">
              <mc:Choice xmlns:v="urn:schemas-microsoft-com:vml" Requires="v">
                <p:oleObj spid="_x0000_s27653" name="Equation" r:id="rId9" imgW="49682400" imgH="11582400" progId="Equation.DSMT4">
                  <p:embed/>
                </p:oleObj>
              </mc:Choice>
              <mc:Fallback>
                <p:oleObj name="Equation" r:id="rId9" imgW="49682400" imgH="11582400" progId="Equation.DSMT4">
                  <p:embed/>
                  <p:pic>
                    <p:nvPicPr>
                      <p:cNvPr id="0" name="图片 27652"/>
                      <p:cNvPicPr>
                        <a:picLocks noChangeAspect="1"/>
                      </p:cNvPicPr>
                      <p:nvPr/>
                    </p:nvPicPr>
                    <p:blipFill>
                      <a:blip r:embed="rId10"/>
                      <a:stretch>
                        <a:fillRect/>
                      </a:stretch>
                    </p:blipFill>
                    <p:spPr>
                      <a:xfrm>
                        <a:off x="3486150" y="4464844"/>
                        <a:ext cx="4602163" cy="87788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zh-CN" altLang="en-US" dirty="0">
              <a:latin typeface="Times New Roman" panose="02020603050405020304" pitchFamily="18" charset="0"/>
              <a:cs typeface="Times New Roman" panose="02020603050405020304" pitchFamily="18" charset="0"/>
            </a:endParaRPr>
          </a:p>
        </p:txBody>
      </p:sp>
      <p:sp>
        <p:nvSpPr>
          <p:cNvPr id="9" name="Rectangle 4"/>
          <p:cNvSpPr>
            <a:spLocks noChangeArrowheads="1"/>
          </p:cNvSpPr>
          <p:nvPr/>
        </p:nvSpPr>
        <p:spPr bwMode="auto">
          <a:xfrm>
            <a:off x="251520" y="1052736"/>
            <a:ext cx="8351838"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lang="zh-CN" altLang="en-US" sz="2000" b="1">
                <a:solidFill>
                  <a:schemeClr val="accent2"/>
                </a:solidFill>
                <a:effectLst/>
              </a:rPr>
              <a:t>（</a:t>
            </a:r>
            <a:r>
              <a:rPr lang="en-US" altLang="zh-CN" sz="2000" b="1">
                <a:solidFill>
                  <a:schemeClr val="accent2"/>
                </a:solidFill>
                <a:effectLst/>
                <a:cs typeface="Arial" panose="020B0604020202020204" pitchFamily="34" charset="0"/>
              </a:rPr>
              <a:t>4</a:t>
            </a:r>
            <a:r>
              <a:rPr lang="zh-CN" altLang="en-US" sz="2000" b="1">
                <a:solidFill>
                  <a:schemeClr val="accent2"/>
                </a:solidFill>
                <a:effectLst/>
              </a:rPr>
              <a:t>）</a:t>
            </a:r>
            <a:r>
              <a:rPr lang="zh-CN" altLang="en-US" sz="2000" b="1">
                <a:solidFill>
                  <a:schemeClr val="accent2"/>
                </a:solidFill>
                <a:effectLst/>
                <a:ea typeface="楷体_GB2312" pitchFamily="49" charset="-122"/>
              </a:rPr>
              <a:t>求改进了的基本可行解</a:t>
            </a:r>
            <a:r>
              <a:rPr lang="en-US" altLang="zh-CN" sz="2000" b="1">
                <a:solidFill>
                  <a:schemeClr val="accent2"/>
                </a:solidFill>
                <a:effectLst/>
                <a:ea typeface="楷体_GB2312" pitchFamily="49" charset="-122"/>
              </a:rPr>
              <a:t>X”——</a:t>
            </a:r>
            <a:r>
              <a:rPr lang="zh-CN" altLang="en-US" sz="2000" b="1">
                <a:solidFill>
                  <a:schemeClr val="accent2"/>
                </a:solidFill>
                <a:effectLst/>
                <a:ea typeface="楷体_GB2312" pitchFamily="49" charset="-122"/>
              </a:rPr>
              <a:t>旋转运算</a:t>
            </a:r>
            <a:endParaRPr lang="zh-CN" altLang="en-US" sz="2000" b="1">
              <a:solidFill>
                <a:schemeClr val="accent2"/>
              </a:solidFill>
              <a:effectLst/>
              <a:ea typeface="楷体_GB2312" pitchFamily="49" charset="-122"/>
            </a:endParaRPr>
          </a:p>
          <a:p>
            <a:pPr algn="just" eaLnBrk="0" hangingPunct="0">
              <a:lnSpc>
                <a:spcPct val="120000"/>
              </a:lnSpc>
            </a:pPr>
            <a:r>
              <a:rPr lang="zh-CN" altLang="en-US" sz="2000" b="1">
                <a:effectLst/>
                <a:ea typeface="楷体_GB2312" pitchFamily="49" charset="-122"/>
                <a:cs typeface="Arial" panose="020B0604020202020204" pitchFamily="34" charset="0"/>
              </a:rPr>
              <a:t>    对约束方程组的增广矩阵施以初等行变换，使换入变量 </a:t>
            </a:r>
            <a:r>
              <a:rPr lang="en-US" altLang="zh-CN" sz="2000" b="1" i="1">
                <a:effectLst/>
                <a:ea typeface="楷体_GB2312" pitchFamily="49" charset="-122"/>
                <a:cs typeface="Arial" panose="020B0604020202020204" pitchFamily="34" charset="0"/>
              </a:rPr>
              <a:t>x</a:t>
            </a:r>
            <a:r>
              <a:rPr lang="en-US" altLang="zh-CN" sz="2000" b="1" baseline="-25000">
                <a:effectLst/>
                <a:ea typeface="楷体_GB2312" pitchFamily="49" charset="-122"/>
                <a:cs typeface="Arial" panose="020B0604020202020204" pitchFamily="34" charset="0"/>
              </a:rPr>
              <a:t>1 </a:t>
            </a:r>
            <a:r>
              <a:rPr lang="zh-CN" altLang="en-US" sz="2000" b="1">
                <a:effectLst/>
                <a:ea typeface="楷体_GB2312" pitchFamily="49" charset="-122"/>
              </a:rPr>
              <a:t>所对应</a:t>
            </a:r>
            <a:endParaRPr lang="zh-CN" altLang="en-US" sz="2000" b="1">
              <a:effectLst/>
              <a:ea typeface="楷体_GB2312" pitchFamily="49" charset="-122"/>
            </a:endParaRPr>
          </a:p>
          <a:p>
            <a:pPr algn="just" eaLnBrk="0" hangingPunct="0">
              <a:lnSpc>
                <a:spcPct val="120000"/>
              </a:lnSpc>
            </a:pPr>
            <a:endParaRPr lang="zh-CN" altLang="en-US" sz="2000" b="1">
              <a:effectLst/>
              <a:ea typeface="楷体_GB2312" pitchFamily="49" charset="-122"/>
            </a:endParaRPr>
          </a:p>
          <a:p>
            <a:pPr algn="just" eaLnBrk="0" hangingPunct="0">
              <a:lnSpc>
                <a:spcPct val="120000"/>
              </a:lnSpc>
            </a:pPr>
            <a:r>
              <a:rPr lang="zh-CN" altLang="en-US" sz="2000" b="1">
                <a:effectLst/>
                <a:ea typeface="楷体_GB2312" pitchFamily="49" charset="-122"/>
              </a:rPr>
              <a:t>　的系数列向量　　　　变换成换出变量 </a:t>
            </a:r>
            <a:r>
              <a:rPr lang="en-US" altLang="zh-CN" sz="2000" b="1" i="1">
                <a:effectLst/>
                <a:ea typeface="楷体_GB2312" pitchFamily="49" charset="-122"/>
              </a:rPr>
              <a:t>x</a:t>
            </a:r>
            <a:r>
              <a:rPr lang="en-US" altLang="zh-CN" sz="2000" b="1" baseline="-25000">
                <a:effectLst/>
                <a:ea typeface="楷体_GB2312" pitchFamily="49" charset="-122"/>
              </a:rPr>
              <a:t>5 </a:t>
            </a:r>
            <a:r>
              <a:rPr lang="zh-CN" altLang="en-US" sz="2000" b="1">
                <a:effectLst/>
                <a:ea typeface="楷体_GB2312" pitchFamily="49" charset="-122"/>
              </a:rPr>
              <a:t>所对应的单位向量   　　     </a:t>
            </a:r>
            <a:r>
              <a:rPr lang="en-US" altLang="zh-CN" sz="2000" b="1">
                <a:effectLst/>
                <a:ea typeface="楷体_GB2312" pitchFamily="49" charset="-122"/>
              </a:rPr>
              <a:t>, </a:t>
            </a:r>
            <a:endParaRPr lang="en-US" altLang="zh-CN" sz="2000" b="1">
              <a:effectLst/>
              <a:ea typeface="楷体_GB2312" pitchFamily="49" charset="-122"/>
            </a:endParaRPr>
          </a:p>
          <a:p>
            <a:pPr algn="just" eaLnBrk="0" hangingPunct="0"/>
            <a:endParaRPr lang="en-US" altLang="zh-CN" sz="2000" b="1">
              <a:effectLst/>
              <a:ea typeface="楷体_GB2312" pitchFamily="49" charset="-122"/>
            </a:endParaRPr>
          </a:p>
        </p:txBody>
      </p:sp>
      <p:graphicFrame>
        <p:nvGraphicFramePr>
          <p:cNvPr id="10" name="Object 5"/>
          <p:cNvGraphicFramePr>
            <a:graphicFrameLocks noChangeAspect="1"/>
          </p:cNvGraphicFramePr>
          <p:nvPr/>
        </p:nvGraphicFramePr>
        <p:xfrm>
          <a:off x="2072978" y="1787748"/>
          <a:ext cx="1058862" cy="1223963"/>
        </p:xfrm>
        <a:graphic>
          <a:graphicData uri="http://schemas.openxmlformats.org/presentationml/2006/ole">
            <mc:AlternateContent xmlns:mc="http://schemas.openxmlformats.org/markup-compatibility/2006">
              <mc:Choice xmlns:v="urn:schemas-microsoft-com:vml" Requires="v">
                <p:oleObj spid="_x0000_s28673" name="Equation" r:id="rId1" imgW="12496800" imgH="20116800" progId="Equation.DSMT4">
                  <p:embed/>
                </p:oleObj>
              </mc:Choice>
              <mc:Fallback>
                <p:oleObj name="Equation" r:id="rId1" imgW="12496800" imgH="20116800" progId="Equation.DSMT4">
                  <p:embed/>
                  <p:pic>
                    <p:nvPicPr>
                      <p:cNvPr id="0" name="图片 28672"/>
                      <p:cNvPicPr>
                        <a:picLocks noChangeAspect="1"/>
                      </p:cNvPicPr>
                      <p:nvPr/>
                    </p:nvPicPr>
                    <p:blipFill>
                      <a:blip r:embed="rId2"/>
                      <a:stretch>
                        <a:fillRect/>
                      </a:stretch>
                    </p:blipFill>
                    <p:spPr>
                      <a:xfrm>
                        <a:off x="2072978" y="1787748"/>
                        <a:ext cx="1058862" cy="1223963"/>
                      </a:xfrm>
                      <a:prstGeom prst="rect">
                        <a:avLst/>
                      </a:prstGeom>
                      <a:noFill/>
                      <a:ln w="9525">
                        <a:noFill/>
                      </a:ln>
                    </p:spPr>
                  </p:pic>
                </p:oleObj>
              </mc:Fallback>
            </mc:AlternateContent>
          </a:graphicData>
        </a:graphic>
      </p:graphicFrame>
      <p:graphicFrame>
        <p:nvGraphicFramePr>
          <p:cNvPr id="11" name="Object 6"/>
          <p:cNvGraphicFramePr>
            <a:graphicFrameLocks noChangeAspect="1"/>
          </p:cNvGraphicFramePr>
          <p:nvPr/>
        </p:nvGraphicFramePr>
        <p:xfrm>
          <a:off x="7382570" y="1949673"/>
          <a:ext cx="1004888" cy="830263"/>
        </p:xfrm>
        <a:graphic>
          <a:graphicData uri="http://schemas.openxmlformats.org/presentationml/2006/ole">
            <mc:AlternateContent xmlns:mc="http://schemas.openxmlformats.org/markup-compatibility/2006">
              <mc:Choice xmlns:v="urn:schemas-microsoft-com:vml" Requires="v">
                <p:oleObj spid="_x0000_s28674" name="Equation" r:id="rId3" imgW="13411200" imgH="10972800" progId="Equation.DSMT4">
                  <p:embed/>
                </p:oleObj>
              </mc:Choice>
              <mc:Fallback>
                <p:oleObj name="Equation" r:id="rId3" imgW="13411200" imgH="10972800" progId="Equation.DSMT4">
                  <p:embed/>
                  <p:pic>
                    <p:nvPicPr>
                      <p:cNvPr id="0" name="图片 28673"/>
                      <p:cNvPicPr>
                        <a:picLocks noChangeAspect="1"/>
                      </p:cNvPicPr>
                      <p:nvPr/>
                    </p:nvPicPr>
                    <p:blipFill>
                      <a:blip r:embed="rId4"/>
                      <a:stretch>
                        <a:fillRect/>
                      </a:stretch>
                    </p:blipFill>
                    <p:spPr>
                      <a:xfrm>
                        <a:off x="7382570" y="1949673"/>
                        <a:ext cx="1004888" cy="830263"/>
                      </a:xfrm>
                      <a:prstGeom prst="rect">
                        <a:avLst/>
                      </a:prstGeom>
                      <a:noFill/>
                      <a:ln w="9525">
                        <a:noFill/>
                      </a:ln>
                    </p:spPr>
                  </p:pic>
                </p:oleObj>
              </mc:Fallback>
            </mc:AlternateContent>
          </a:graphicData>
        </a:graphic>
      </p:graphicFrame>
      <p:graphicFrame>
        <p:nvGraphicFramePr>
          <p:cNvPr id="12" name="Object 25"/>
          <p:cNvGraphicFramePr>
            <a:graphicFrameLocks noChangeAspect="1"/>
          </p:cNvGraphicFramePr>
          <p:nvPr/>
        </p:nvGraphicFramePr>
        <p:xfrm>
          <a:off x="538858" y="3068861"/>
          <a:ext cx="7559675" cy="2376487"/>
        </p:xfrm>
        <a:graphic>
          <a:graphicData uri="http://schemas.openxmlformats.org/presentationml/2006/ole">
            <mc:AlternateContent xmlns:mc="http://schemas.openxmlformats.org/markup-compatibility/2006">
              <mc:Choice xmlns:v="urn:schemas-microsoft-com:vml" Requires="v">
                <p:oleObj spid="_x0000_s28675" name="Equation" r:id="rId5" imgW="104546400" imgH="34747200" progId="Equation.DSMT4">
                  <p:embed/>
                </p:oleObj>
              </mc:Choice>
              <mc:Fallback>
                <p:oleObj name="Equation" r:id="rId5" imgW="104546400" imgH="34747200" progId="Equation.DSMT4">
                  <p:embed/>
                  <p:pic>
                    <p:nvPicPr>
                      <p:cNvPr id="0" name="图片 28674"/>
                      <p:cNvPicPr>
                        <a:picLocks noChangeAspect="1"/>
                      </p:cNvPicPr>
                      <p:nvPr/>
                    </p:nvPicPr>
                    <p:blipFill>
                      <a:blip r:embed="rId6"/>
                      <a:stretch>
                        <a:fillRect/>
                      </a:stretch>
                    </p:blipFill>
                    <p:spPr>
                      <a:xfrm>
                        <a:off x="538858" y="3068861"/>
                        <a:ext cx="7559675" cy="2376487"/>
                      </a:xfrm>
                      <a:prstGeom prst="rect">
                        <a:avLst/>
                      </a:prstGeom>
                      <a:noFill/>
                      <a:ln w="9525">
                        <a:noFill/>
                      </a:ln>
                    </p:spPr>
                  </p:pic>
                </p:oleObj>
              </mc:Fallback>
            </mc:AlternateContent>
          </a:graphicData>
        </a:graphic>
      </p:graphicFrame>
      <p:sp>
        <p:nvSpPr>
          <p:cNvPr id="14" name="Text Box 2"/>
          <p:cNvSpPr txBox="1">
            <a:spLocks noChangeArrowheads="1"/>
          </p:cNvSpPr>
          <p:nvPr/>
        </p:nvSpPr>
        <p:spPr bwMode="auto">
          <a:xfrm>
            <a:off x="3275708" y="3213323"/>
            <a:ext cx="19446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1800" b="1">
                <a:effectLst/>
                <a:ea typeface="楷体_GB2312" pitchFamily="49" charset="-122"/>
              </a:rPr>
              <a:t>第二行乘以２</a:t>
            </a:r>
            <a:r>
              <a:rPr lang="en-US" altLang="zh-CN" sz="1800" b="1">
                <a:effectLst/>
                <a:ea typeface="楷体_GB2312" pitchFamily="49" charset="-122"/>
              </a:rPr>
              <a:t>/</a:t>
            </a:r>
            <a:r>
              <a:rPr lang="zh-CN" altLang="en-US" sz="1800" b="1">
                <a:effectLst/>
                <a:ea typeface="楷体_GB2312" pitchFamily="49" charset="-122"/>
              </a:rPr>
              <a:t>５</a:t>
            </a:r>
            <a:endParaRPr lang="zh-CN" altLang="en-US" sz="1800" b="1">
              <a:effectLst/>
              <a:ea typeface="楷体_GB2312" pitchFamily="49" charset="-122"/>
            </a:endParaRPr>
          </a:p>
        </p:txBody>
      </p:sp>
      <p:sp>
        <p:nvSpPr>
          <p:cNvPr id="15" name="Text Box 3"/>
          <p:cNvSpPr txBox="1">
            <a:spLocks noChangeArrowheads="1"/>
          </p:cNvSpPr>
          <p:nvPr/>
        </p:nvSpPr>
        <p:spPr bwMode="auto">
          <a:xfrm>
            <a:off x="2554983" y="4364261"/>
            <a:ext cx="3009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800" b="1">
                <a:effectLst/>
                <a:ea typeface="楷体_GB2312" pitchFamily="49" charset="-122"/>
              </a:rPr>
              <a:t>第一行减以第二行的１</a:t>
            </a:r>
            <a:r>
              <a:rPr lang="en-US" altLang="zh-CN" sz="1800" b="1">
                <a:effectLst/>
                <a:ea typeface="楷体_GB2312" pitchFamily="49" charset="-122"/>
              </a:rPr>
              <a:t>/</a:t>
            </a:r>
            <a:r>
              <a:rPr lang="zh-CN" altLang="en-US" sz="1800" b="1">
                <a:effectLst/>
                <a:ea typeface="楷体_GB2312" pitchFamily="49" charset="-122"/>
              </a:rPr>
              <a:t>２倍</a:t>
            </a:r>
            <a:endParaRPr lang="zh-CN" altLang="en-US" sz="1800" b="1">
              <a:effectLst/>
              <a:ea typeface="楷体_GB2312" pitchFamily="49" charset="-122"/>
            </a:endParaRPr>
          </a:p>
        </p:txBody>
      </p:sp>
      <p:sp>
        <p:nvSpPr>
          <p:cNvPr id="16" name="Rectangle 2"/>
          <p:cNvSpPr>
            <a:spLocks noChangeArrowheads="1"/>
          </p:cNvSpPr>
          <p:nvPr/>
        </p:nvSpPr>
        <p:spPr bwMode="auto">
          <a:xfrm>
            <a:off x="683320" y="3140298"/>
            <a:ext cx="358775" cy="1008063"/>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17" name="Rectangle 3"/>
          <p:cNvSpPr>
            <a:spLocks noChangeArrowheads="1"/>
          </p:cNvSpPr>
          <p:nvPr/>
        </p:nvSpPr>
        <p:spPr bwMode="auto">
          <a:xfrm>
            <a:off x="2196208" y="3140298"/>
            <a:ext cx="358775" cy="936625"/>
          </a:xfrm>
          <a:prstGeom prst="rect">
            <a:avLst/>
          </a:prstGeom>
          <a:noFill/>
          <a:ln w="952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en-US" altLang="zh-CN" dirty="0">
              <a:latin typeface="Times New Roman" panose="02020603050405020304" pitchFamily="18" charset="0"/>
              <a:cs typeface="Times New Roman" panose="02020603050405020304" pitchFamily="18" charset="0"/>
            </a:endParaRPr>
          </a:p>
        </p:txBody>
      </p:sp>
      <p:sp>
        <p:nvSpPr>
          <p:cNvPr id="8" name="Rectangle 4"/>
          <p:cNvSpPr>
            <a:spLocks noChangeArrowheads="1"/>
          </p:cNvSpPr>
          <p:nvPr/>
        </p:nvSpPr>
        <p:spPr bwMode="auto">
          <a:xfrm>
            <a:off x="395288" y="620688"/>
            <a:ext cx="8424862"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tabLst>
                <a:tab pos="457200" algn="l"/>
              </a:tabLst>
              <a:defRPr kumimoji="1" sz="2400">
                <a:solidFill>
                  <a:schemeClr val="tx1"/>
                </a:solidFill>
                <a:latin typeface="Times New Roman" panose="02020603050405020304" pitchFamily="18" charset="0"/>
                <a:ea typeface="宋体" panose="02010600030101010101" pitchFamily="2" charset="-122"/>
              </a:defRPr>
            </a:lvl1pPr>
            <a:lvl2pPr algn="l">
              <a:tabLst>
                <a:tab pos="457200" algn="l"/>
              </a:tabLst>
              <a:defRPr kumimoji="1" sz="2400">
                <a:solidFill>
                  <a:schemeClr val="tx1"/>
                </a:solidFill>
                <a:latin typeface="Times New Roman" panose="02020603050405020304" pitchFamily="18" charset="0"/>
                <a:ea typeface="宋体" panose="02010600030101010101" pitchFamily="2" charset="-122"/>
              </a:defRPr>
            </a:lvl2pPr>
            <a:lvl3pPr algn="l">
              <a:tabLst>
                <a:tab pos="457200" algn="l"/>
              </a:tabLst>
              <a:defRPr kumimoji="1" sz="2400">
                <a:solidFill>
                  <a:schemeClr val="tx1"/>
                </a:solidFill>
                <a:latin typeface="Times New Roman" panose="02020603050405020304" pitchFamily="18" charset="0"/>
                <a:ea typeface="宋体" panose="02010600030101010101" pitchFamily="2" charset="-122"/>
              </a:defRPr>
            </a:lvl3pPr>
            <a:lvl4pPr algn="l">
              <a:tabLst>
                <a:tab pos="457200" algn="l"/>
              </a:tabLst>
              <a:defRPr kumimoji="1" sz="2400">
                <a:solidFill>
                  <a:schemeClr val="tx1"/>
                </a:solidFill>
                <a:latin typeface="Times New Roman" panose="02020603050405020304" pitchFamily="18" charset="0"/>
                <a:ea typeface="宋体" panose="02010600030101010101" pitchFamily="2" charset="-122"/>
              </a:defRPr>
            </a:lvl4pPr>
            <a:lvl5pPr algn="l">
              <a:tabLst>
                <a:tab pos="4572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57200" algn="l"/>
              </a:tabLst>
              <a:defRPr kumimoji="1" sz="2400">
                <a:solidFill>
                  <a:schemeClr val="tx1"/>
                </a:solidFill>
                <a:latin typeface="Times New Roman" panose="02020603050405020304" pitchFamily="18" charset="0"/>
                <a:ea typeface="宋体" panose="02010600030101010101" pitchFamily="2" charset="-122"/>
              </a:defRPr>
            </a:lvl9pPr>
          </a:lstStyle>
          <a:p>
            <a:pPr algn="just"/>
            <a:endParaRPr lang="en-US" altLang="zh-CN" sz="2000" b="1" dirty="0">
              <a:effectLst/>
              <a:latin typeface="楷体_GB2312" pitchFamily="49" charset="-122"/>
              <a:ea typeface="楷体_GB2312" pitchFamily="49" charset="-122"/>
            </a:endParaRPr>
          </a:p>
          <a:p>
            <a:pPr algn="just"/>
            <a:r>
              <a:rPr lang="zh-CN" altLang="en-US" sz="2000" b="1" dirty="0">
                <a:effectLst/>
                <a:latin typeface="楷体_GB2312" pitchFamily="49" charset="-122"/>
                <a:ea typeface="楷体_GB2312" pitchFamily="49" charset="-122"/>
              </a:rPr>
              <a:t>可得改进的基本可行解。</a:t>
            </a:r>
            <a:r>
              <a:rPr lang="zh-CN" altLang="en-US" sz="2000" b="1" dirty="0">
                <a:effectLst/>
                <a:latin typeface="楷体_GB2312" pitchFamily="49" charset="-122"/>
                <a:ea typeface="楷体_GB2312" pitchFamily="49" charset="-122"/>
                <a:cs typeface="Arial" panose="020B0604020202020204" pitchFamily="34" charset="0"/>
              </a:rPr>
              <a:t>        </a:t>
            </a:r>
            <a:endParaRPr lang="zh-CN" altLang="en-US" sz="2000" b="1" dirty="0">
              <a:effectLst/>
              <a:latin typeface="楷体_GB2312" pitchFamily="49" charset="-122"/>
              <a:ea typeface="楷体_GB2312" pitchFamily="49" charset="-122"/>
            </a:endParaRPr>
          </a:p>
          <a:p>
            <a:pPr algn="just" eaLnBrk="0" hangingPunct="0"/>
            <a:endParaRPr lang="zh-CN" altLang="en-US" sz="2000" b="1" dirty="0">
              <a:effectLst/>
              <a:latin typeface="楷体_GB2312" pitchFamily="49" charset="-122"/>
              <a:ea typeface="楷体_GB2312" pitchFamily="49" charset="-122"/>
            </a:endParaRPr>
          </a:p>
          <a:p>
            <a:pPr algn="just" eaLnBrk="0" hangingPunct="0"/>
            <a:r>
              <a:rPr lang="zh-CN" altLang="en-US" sz="2000" b="1" dirty="0">
                <a:effectLst/>
                <a:latin typeface="楷体_GB2312" pitchFamily="49" charset="-122"/>
                <a:ea typeface="楷体_GB2312" pitchFamily="49" charset="-122"/>
              </a:rPr>
              <a:t>　　　　　　　　　，基变量　　　</a:t>
            </a:r>
            <a:r>
              <a:rPr lang="zh-CN" altLang="en-US" sz="2000" b="1" baseline="-30000" dirty="0">
                <a:effectLst/>
                <a:latin typeface="楷体_GB2312" pitchFamily="49" charset="-122"/>
                <a:ea typeface="楷体_GB2312" pitchFamily="49" charset="-122"/>
              </a:rPr>
              <a:t>，</a:t>
            </a:r>
            <a:r>
              <a:rPr lang="zh-CN" altLang="en-US" sz="2000" b="1" dirty="0">
                <a:effectLst/>
                <a:latin typeface="楷体_GB2312" pitchFamily="49" charset="-122"/>
                <a:ea typeface="楷体_GB2312" pitchFamily="49" charset="-122"/>
              </a:rPr>
              <a:t>非基变量</a:t>
            </a:r>
            <a:endParaRPr lang="zh-CN" altLang="en-US" sz="2000" b="1" dirty="0">
              <a:effectLst/>
              <a:latin typeface="楷体_GB2312" pitchFamily="49" charset="-122"/>
              <a:ea typeface="楷体_GB2312" pitchFamily="49" charset="-122"/>
            </a:endParaRPr>
          </a:p>
          <a:p>
            <a:pPr algn="just" eaLnBrk="0" hangingPunct="0"/>
            <a:endParaRPr lang="zh-CN" altLang="en-US" sz="2000" b="1" dirty="0">
              <a:effectLst/>
              <a:latin typeface="楷体_GB2312" pitchFamily="49" charset="-122"/>
              <a:ea typeface="楷体_GB2312" pitchFamily="49" charset="-122"/>
            </a:endParaRPr>
          </a:p>
          <a:p>
            <a:pPr algn="just" eaLnBrk="0" hangingPunct="0"/>
            <a:endParaRPr lang="zh-CN" altLang="en-US" sz="2000" b="1" dirty="0">
              <a:effectLst/>
              <a:latin typeface="楷体_GB2312" pitchFamily="49" charset="-122"/>
              <a:ea typeface="楷体_GB2312" pitchFamily="49" charset="-122"/>
            </a:endParaRPr>
          </a:p>
          <a:p>
            <a:pPr algn="just" eaLnBrk="0" hangingPunct="0"/>
            <a:endParaRPr lang="zh-CN" altLang="en-US" sz="2000" b="1" dirty="0">
              <a:effectLst/>
              <a:cs typeface="Arial" panose="020B0604020202020204" pitchFamily="34" charset="0"/>
            </a:endParaRPr>
          </a:p>
          <a:p>
            <a:pPr algn="just" eaLnBrk="0" hangingPunct="0"/>
            <a:endParaRPr lang="zh-CN" altLang="en-US" sz="2000" b="1" dirty="0">
              <a:effectLst/>
              <a:latin typeface="楷体_GB2312" pitchFamily="49" charset="-122"/>
              <a:ea typeface="楷体_GB2312" pitchFamily="49" charset="-122"/>
            </a:endParaRPr>
          </a:p>
          <a:p>
            <a:pPr algn="just" eaLnBrk="0" hangingPunct="0"/>
            <a:endParaRPr lang="zh-CN" altLang="en-US" sz="2000" b="1" dirty="0">
              <a:effectLst/>
              <a:latin typeface="楷体_GB2312" pitchFamily="49" charset="-122"/>
              <a:ea typeface="楷体_GB2312" pitchFamily="49" charset="-122"/>
            </a:endParaRPr>
          </a:p>
          <a:p>
            <a:pPr algn="just" eaLnBrk="0" hangingPunct="0"/>
            <a:r>
              <a:rPr lang="zh-CN" altLang="en-US" sz="2000" b="1" dirty="0">
                <a:effectLst/>
                <a:latin typeface="楷体_GB2312" pitchFamily="49" charset="-122"/>
                <a:ea typeface="楷体_GB2312" pitchFamily="49" charset="-122"/>
              </a:rPr>
              <a:t>　　　　　　　　　　　　</a:t>
            </a:r>
            <a:endParaRPr lang="zh-CN" altLang="en-US" sz="2000" b="1" dirty="0">
              <a:effectLst/>
              <a:latin typeface="楷体_GB2312" pitchFamily="49" charset="-122"/>
              <a:ea typeface="楷体_GB2312" pitchFamily="49" charset="-122"/>
            </a:endParaRPr>
          </a:p>
          <a:p>
            <a:pPr algn="just" eaLnBrk="0" hangingPunct="0"/>
            <a:r>
              <a:rPr lang="zh-CN" altLang="en-US" sz="2000" b="1" dirty="0">
                <a:effectLst/>
                <a:latin typeface="楷体_GB2312" pitchFamily="49" charset="-122"/>
                <a:ea typeface="楷体_GB2312" pitchFamily="49" charset="-122"/>
              </a:rPr>
              <a:t>　　　　　　　　　　　　　　基本可行解</a:t>
            </a:r>
            <a:endParaRPr lang="zh-CN" altLang="en-US" sz="2000" b="1" dirty="0">
              <a:effectLst/>
              <a:latin typeface="楷体_GB2312" pitchFamily="49" charset="-122"/>
              <a:ea typeface="楷体_GB2312" pitchFamily="49" charset="-122"/>
            </a:endParaRPr>
          </a:p>
          <a:p>
            <a:pPr algn="just" eaLnBrk="0" hangingPunct="0"/>
            <a:r>
              <a:rPr lang="zh-CN" altLang="en-US" sz="2000" b="1" dirty="0">
                <a:effectLst/>
                <a:latin typeface="楷体_GB2312" pitchFamily="49" charset="-122"/>
                <a:ea typeface="楷体_GB2312" pitchFamily="49" charset="-122"/>
              </a:rPr>
              <a:t>　　　　　　</a:t>
            </a:r>
            <a:endParaRPr lang="zh-CN" altLang="en-US" sz="2000" b="1" dirty="0">
              <a:effectLst/>
              <a:latin typeface="楷体_GB2312" pitchFamily="49" charset="-122"/>
              <a:ea typeface="楷体_GB2312" pitchFamily="49" charset="-122"/>
            </a:endParaRPr>
          </a:p>
          <a:p>
            <a:endParaRPr lang="zh-CN" altLang="en-US" sz="2000" b="1" dirty="0">
              <a:effectLst/>
              <a:latin typeface="楷体_GB2312" pitchFamily="49" charset="-122"/>
              <a:ea typeface="楷体_GB2312" pitchFamily="49" charset="-122"/>
            </a:endParaRPr>
          </a:p>
          <a:p>
            <a:endParaRPr lang="en-US" altLang="zh-CN" sz="2000" b="1" dirty="0">
              <a:effectLst/>
              <a:latin typeface="楷体_GB2312" pitchFamily="49" charset="-122"/>
              <a:ea typeface="楷体_GB2312" pitchFamily="49" charset="-122"/>
            </a:endParaRPr>
          </a:p>
          <a:p>
            <a:r>
              <a:rPr lang="zh-CN" altLang="en-US" sz="2000" b="1" dirty="0">
                <a:effectLst/>
                <a:latin typeface="楷体_GB2312" pitchFamily="49" charset="-122"/>
                <a:ea typeface="楷体_GB2312" pitchFamily="49" charset="-122"/>
              </a:rPr>
              <a:t>目标函数值                                                 比</a:t>
            </a:r>
            <a:r>
              <a:rPr lang="zh-CN" altLang="en-US" sz="2000" b="1" dirty="0">
                <a:effectLst/>
                <a:ea typeface="楷体_GB2312" pitchFamily="49" charset="-122"/>
              </a:rPr>
              <a:t>ｚ</a:t>
            </a:r>
            <a:r>
              <a:rPr lang="en-US" altLang="zh-CN" sz="2000" b="1" dirty="0">
                <a:effectLst/>
                <a:latin typeface="楷体_GB2312" pitchFamily="49" charset="-122"/>
                <a:ea typeface="楷体_GB2312" pitchFamily="49" charset="-122"/>
              </a:rPr>
              <a:t>=</a:t>
            </a:r>
            <a:r>
              <a:rPr lang="zh-CN" altLang="en-US" sz="2000" b="1" dirty="0">
                <a:effectLst/>
                <a:latin typeface="楷体_GB2312" pitchFamily="49" charset="-122"/>
                <a:ea typeface="楷体_GB2312" pitchFamily="49" charset="-122"/>
              </a:rPr>
              <a:t>－</a:t>
            </a:r>
            <a:r>
              <a:rPr lang="en-US" altLang="zh-CN" sz="2000" b="1" dirty="0">
                <a:effectLst/>
                <a:latin typeface="楷体_GB2312" pitchFamily="49" charset="-122"/>
                <a:ea typeface="楷体_GB2312" pitchFamily="49" charset="-122"/>
              </a:rPr>
              <a:t>15</a:t>
            </a:r>
            <a:r>
              <a:rPr lang="zh-CN" altLang="en-US" sz="2000" b="1" dirty="0">
                <a:effectLst/>
                <a:latin typeface="楷体_GB2312" pitchFamily="49" charset="-122"/>
                <a:ea typeface="楷体_GB2312" pitchFamily="49" charset="-122"/>
              </a:rPr>
              <a:t>减小了，再转向步骤</a:t>
            </a:r>
            <a:r>
              <a:rPr lang="en-US" altLang="zh-CN" sz="2000" b="1" dirty="0">
                <a:effectLst/>
                <a:latin typeface="楷体_GB2312" pitchFamily="49" charset="-122"/>
                <a:ea typeface="楷体_GB2312" pitchFamily="49" charset="-122"/>
              </a:rPr>
              <a:t>(2)</a:t>
            </a:r>
            <a:endParaRPr lang="en-US" altLang="zh-CN" dirty="0">
              <a:effectLst/>
              <a:latin typeface="楷体_GB2312" pitchFamily="49" charset="-122"/>
              <a:ea typeface="楷体_GB2312" pitchFamily="49" charset="-122"/>
            </a:endParaRPr>
          </a:p>
          <a:p>
            <a:pPr eaLnBrk="0" hangingPunct="0"/>
            <a:endParaRPr lang="en-US" altLang="zh-CN" dirty="0">
              <a:effectLst/>
              <a:latin typeface="楷体_GB2312" pitchFamily="49" charset="-122"/>
              <a:ea typeface="楷体_GB2312" pitchFamily="49" charset="-122"/>
            </a:endParaRPr>
          </a:p>
        </p:txBody>
      </p:sp>
      <p:graphicFrame>
        <p:nvGraphicFramePr>
          <p:cNvPr id="9" name="Object 5"/>
          <p:cNvGraphicFramePr>
            <a:graphicFrameLocks noChangeAspect="1"/>
          </p:cNvGraphicFramePr>
          <p:nvPr/>
        </p:nvGraphicFramePr>
        <p:xfrm>
          <a:off x="827088" y="1412850"/>
          <a:ext cx="2276475" cy="830263"/>
        </p:xfrm>
        <a:graphic>
          <a:graphicData uri="http://schemas.openxmlformats.org/presentationml/2006/ole">
            <mc:AlternateContent xmlns:mc="http://schemas.openxmlformats.org/markup-compatibility/2006">
              <mc:Choice xmlns:v="urn:schemas-microsoft-com:vml" Requires="v">
                <p:oleObj spid="_x0000_s29697" name="Equation" r:id="rId1" imgW="26822400" imgH="10972800" progId="Equation.DSMT4">
                  <p:embed/>
                </p:oleObj>
              </mc:Choice>
              <mc:Fallback>
                <p:oleObj name="Equation" r:id="rId1" imgW="26822400" imgH="10972800" progId="Equation.DSMT4">
                  <p:embed/>
                  <p:pic>
                    <p:nvPicPr>
                      <p:cNvPr id="0" name="图片 29696"/>
                      <p:cNvPicPr>
                        <a:picLocks noChangeAspect="1"/>
                      </p:cNvPicPr>
                      <p:nvPr/>
                    </p:nvPicPr>
                    <p:blipFill>
                      <a:blip r:embed="rId2"/>
                      <a:stretch>
                        <a:fillRect/>
                      </a:stretch>
                    </p:blipFill>
                    <p:spPr>
                      <a:xfrm>
                        <a:off x="827088" y="1412850"/>
                        <a:ext cx="2276475" cy="830263"/>
                      </a:xfrm>
                      <a:prstGeom prst="rect">
                        <a:avLst/>
                      </a:prstGeom>
                      <a:noFill/>
                      <a:ln w="9525">
                        <a:noFill/>
                      </a:ln>
                    </p:spPr>
                  </p:pic>
                </p:oleObj>
              </mc:Fallback>
            </mc:AlternateContent>
          </a:graphicData>
        </a:graphic>
      </p:graphicFrame>
      <p:graphicFrame>
        <p:nvGraphicFramePr>
          <p:cNvPr id="10" name="Object 6"/>
          <p:cNvGraphicFramePr>
            <a:graphicFrameLocks noChangeAspect="1"/>
          </p:cNvGraphicFramePr>
          <p:nvPr/>
        </p:nvGraphicFramePr>
        <p:xfrm>
          <a:off x="508000" y="2131988"/>
          <a:ext cx="7704138" cy="1460500"/>
        </p:xfrm>
        <a:graphic>
          <a:graphicData uri="http://schemas.openxmlformats.org/presentationml/2006/ole">
            <mc:AlternateContent xmlns:mc="http://schemas.openxmlformats.org/markup-compatibility/2006">
              <mc:Choice xmlns:v="urn:schemas-microsoft-com:vml" Requires="v">
                <p:oleObj spid="_x0000_s29698" name="Equation" r:id="rId3" imgW="107594400" imgH="20116800" progId="Equation.DSMT4">
                  <p:embed/>
                </p:oleObj>
              </mc:Choice>
              <mc:Fallback>
                <p:oleObj name="Equation" r:id="rId3" imgW="107594400" imgH="20116800" progId="Equation.DSMT4">
                  <p:embed/>
                  <p:pic>
                    <p:nvPicPr>
                      <p:cNvPr id="0" name="图片 29697"/>
                      <p:cNvPicPr>
                        <a:picLocks noChangeAspect="1"/>
                      </p:cNvPicPr>
                      <p:nvPr/>
                    </p:nvPicPr>
                    <p:blipFill>
                      <a:blip r:embed="rId4"/>
                      <a:stretch>
                        <a:fillRect/>
                      </a:stretch>
                    </p:blipFill>
                    <p:spPr>
                      <a:xfrm>
                        <a:off x="508000" y="2131988"/>
                        <a:ext cx="7704138" cy="1460500"/>
                      </a:xfrm>
                      <a:prstGeom prst="rect">
                        <a:avLst/>
                      </a:prstGeom>
                      <a:noFill/>
                      <a:ln w="9525">
                        <a:noFill/>
                      </a:ln>
                    </p:spPr>
                  </p:pic>
                </p:oleObj>
              </mc:Fallback>
            </mc:AlternateContent>
          </a:graphicData>
        </a:graphic>
      </p:graphicFrame>
      <p:graphicFrame>
        <p:nvGraphicFramePr>
          <p:cNvPr id="11" name="Object 7"/>
          <p:cNvGraphicFramePr>
            <a:graphicFrameLocks noChangeAspect="1"/>
          </p:cNvGraphicFramePr>
          <p:nvPr/>
        </p:nvGraphicFramePr>
        <p:xfrm>
          <a:off x="755650" y="3284513"/>
          <a:ext cx="3311525" cy="1404937"/>
        </p:xfrm>
        <a:graphic>
          <a:graphicData uri="http://schemas.openxmlformats.org/presentationml/2006/ole">
            <mc:AlternateContent xmlns:mc="http://schemas.openxmlformats.org/markup-compatibility/2006">
              <mc:Choice xmlns:v="urn:schemas-microsoft-com:vml" Requires="v">
                <p:oleObj spid="_x0000_s29699" name="Equation" r:id="rId5" imgW="42976800" imgH="20116800" progId="Equation.DSMT4">
                  <p:embed/>
                </p:oleObj>
              </mc:Choice>
              <mc:Fallback>
                <p:oleObj name="Equation" r:id="rId5" imgW="42976800" imgH="20116800" progId="Equation.DSMT4">
                  <p:embed/>
                  <p:pic>
                    <p:nvPicPr>
                      <p:cNvPr id="0" name="图片 29698"/>
                      <p:cNvPicPr>
                        <a:picLocks noChangeAspect="1"/>
                      </p:cNvPicPr>
                      <p:nvPr/>
                    </p:nvPicPr>
                    <p:blipFill>
                      <a:blip r:embed="rId6"/>
                      <a:stretch>
                        <a:fillRect/>
                      </a:stretch>
                    </p:blipFill>
                    <p:spPr>
                      <a:xfrm>
                        <a:off x="755650" y="3284513"/>
                        <a:ext cx="3311525" cy="1404937"/>
                      </a:xfrm>
                      <a:prstGeom prst="rect">
                        <a:avLst/>
                      </a:prstGeom>
                      <a:noFill/>
                      <a:ln w="9525">
                        <a:noFill/>
                      </a:ln>
                    </p:spPr>
                  </p:pic>
                </p:oleObj>
              </mc:Fallback>
            </mc:AlternateContent>
          </a:graphicData>
        </a:graphic>
      </p:graphicFrame>
      <p:graphicFrame>
        <p:nvGraphicFramePr>
          <p:cNvPr id="12" name="Object 8"/>
          <p:cNvGraphicFramePr>
            <a:graphicFrameLocks noChangeAspect="1"/>
          </p:cNvGraphicFramePr>
          <p:nvPr/>
        </p:nvGraphicFramePr>
        <p:xfrm>
          <a:off x="5867400" y="3571850"/>
          <a:ext cx="2201863" cy="687388"/>
        </p:xfrm>
        <a:graphic>
          <a:graphicData uri="http://schemas.openxmlformats.org/presentationml/2006/ole">
            <mc:AlternateContent xmlns:mc="http://schemas.openxmlformats.org/markup-compatibility/2006">
              <mc:Choice xmlns:v="urn:schemas-microsoft-com:vml" Requires="v">
                <p:oleObj spid="_x0000_s29700" name="Equation" r:id="rId7" imgW="28346400" imgH="9448800" progId="Equation.DSMT4">
                  <p:embed/>
                </p:oleObj>
              </mc:Choice>
              <mc:Fallback>
                <p:oleObj name="Equation" r:id="rId7" imgW="28346400" imgH="9448800" progId="Equation.DSMT4">
                  <p:embed/>
                  <p:pic>
                    <p:nvPicPr>
                      <p:cNvPr id="0" name="图片 29699"/>
                      <p:cNvPicPr>
                        <a:picLocks noChangeAspect="1"/>
                      </p:cNvPicPr>
                      <p:nvPr/>
                    </p:nvPicPr>
                    <p:blipFill>
                      <a:blip r:embed="rId8"/>
                      <a:stretch>
                        <a:fillRect/>
                      </a:stretch>
                    </p:blipFill>
                    <p:spPr>
                      <a:xfrm>
                        <a:off x="5867400" y="3571850"/>
                        <a:ext cx="2201863" cy="687388"/>
                      </a:xfrm>
                      <a:prstGeom prst="rect">
                        <a:avLst/>
                      </a:prstGeom>
                      <a:noFill/>
                      <a:ln w="9525">
                        <a:noFill/>
                      </a:ln>
                    </p:spPr>
                  </p:pic>
                </p:oleObj>
              </mc:Fallback>
            </mc:AlternateContent>
          </a:graphicData>
        </a:graphic>
      </p:graphicFrame>
      <p:graphicFrame>
        <p:nvGraphicFramePr>
          <p:cNvPr id="13" name="Object 9"/>
          <p:cNvGraphicFramePr>
            <a:graphicFrameLocks noChangeAspect="1"/>
          </p:cNvGraphicFramePr>
          <p:nvPr/>
        </p:nvGraphicFramePr>
        <p:xfrm>
          <a:off x="2123728" y="4395009"/>
          <a:ext cx="3581400" cy="1387475"/>
        </p:xfrm>
        <a:graphic>
          <a:graphicData uri="http://schemas.openxmlformats.org/presentationml/2006/ole">
            <mc:AlternateContent xmlns:mc="http://schemas.openxmlformats.org/markup-compatibility/2006">
              <mc:Choice xmlns:v="urn:schemas-microsoft-com:vml" Requires="v">
                <p:oleObj spid="_x0000_s29701" name="Equation" r:id="rId9" imgW="44805600" imgH="20116800" progId="Equation.DSMT4">
                  <p:embed/>
                </p:oleObj>
              </mc:Choice>
              <mc:Fallback>
                <p:oleObj name="Equation" r:id="rId9" imgW="44805600" imgH="20116800" progId="Equation.DSMT4">
                  <p:embed/>
                  <p:pic>
                    <p:nvPicPr>
                      <p:cNvPr id="0" name="图片 29700"/>
                      <p:cNvPicPr>
                        <a:picLocks noChangeAspect="1"/>
                      </p:cNvPicPr>
                      <p:nvPr/>
                    </p:nvPicPr>
                    <p:blipFill>
                      <a:blip r:embed="rId10"/>
                      <a:stretch>
                        <a:fillRect/>
                      </a:stretch>
                    </p:blipFill>
                    <p:spPr>
                      <a:xfrm>
                        <a:off x="2123728" y="4395009"/>
                        <a:ext cx="3581400" cy="1387475"/>
                      </a:xfrm>
                      <a:prstGeom prst="rect">
                        <a:avLst/>
                      </a:prstGeom>
                      <a:noFill/>
                      <a:ln w="9525">
                        <a:noFill/>
                      </a:ln>
                    </p:spPr>
                  </p:pic>
                </p:oleObj>
              </mc:Fallback>
            </mc:AlternateContent>
          </a:graphicData>
        </a:graphic>
      </p:graphicFrame>
      <p:graphicFrame>
        <p:nvGraphicFramePr>
          <p:cNvPr id="16" name="Object 16"/>
          <p:cNvGraphicFramePr>
            <a:graphicFrameLocks noChangeAspect="1"/>
          </p:cNvGraphicFramePr>
          <p:nvPr/>
        </p:nvGraphicFramePr>
        <p:xfrm>
          <a:off x="4081463" y="1555725"/>
          <a:ext cx="763587" cy="469900"/>
        </p:xfrm>
        <a:graphic>
          <a:graphicData uri="http://schemas.openxmlformats.org/presentationml/2006/ole">
            <mc:AlternateContent xmlns:mc="http://schemas.openxmlformats.org/markup-compatibility/2006">
              <mc:Choice xmlns:v="urn:schemas-microsoft-com:vml" Requires="v">
                <p:oleObj spid="_x0000_s29702" name="Equation" r:id="rId11" imgW="7924800" imgH="5486400" progId="Equation.DSMT4">
                  <p:embed/>
                </p:oleObj>
              </mc:Choice>
              <mc:Fallback>
                <p:oleObj name="Equation" r:id="rId11" imgW="7924800" imgH="5486400" progId="Equation.DSMT4">
                  <p:embed/>
                  <p:pic>
                    <p:nvPicPr>
                      <p:cNvPr id="0" name="图片 29701"/>
                      <p:cNvPicPr>
                        <a:picLocks noChangeAspect="1"/>
                      </p:cNvPicPr>
                      <p:nvPr/>
                    </p:nvPicPr>
                    <p:blipFill>
                      <a:blip r:embed="rId12"/>
                      <a:stretch>
                        <a:fillRect/>
                      </a:stretch>
                    </p:blipFill>
                    <p:spPr>
                      <a:xfrm>
                        <a:off x="4081463" y="1555725"/>
                        <a:ext cx="763587" cy="469900"/>
                      </a:xfrm>
                      <a:prstGeom prst="rect">
                        <a:avLst/>
                      </a:prstGeom>
                      <a:noFill/>
                      <a:ln w="9525">
                        <a:noFill/>
                      </a:ln>
                    </p:spPr>
                  </p:pic>
                </p:oleObj>
              </mc:Fallback>
            </mc:AlternateContent>
          </a:graphicData>
        </a:graphic>
      </p:graphicFrame>
      <p:graphicFrame>
        <p:nvGraphicFramePr>
          <p:cNvPr id="17" name="Object 17"/>
          <p:cNvGraphicFramePr>
            <a:graphicFrameLocks noChangeAspect="1"/>
          </p:cNvGraphicFramePr>
          <p:nvPr/>
        </p:nvGraphicFramePr>
        <p:xfrm>
          <a:off x="6183313" y="1555725"/>
          <a:ext cx="1168400" cy="436563"/>
        </p:xfrm>
        <a:graphic>
          <a:graphicData uri="http://schemas.openxmlformats.org/presentationml/2006/ole">
            <mc:AlternateContent xmlns:mc="http://schemas.openxmlformats.org/markup-compatibility/2006">
              <mc:Choice xmlns:v="urn:schemas-microsoft-com:vml" Requires="v">
                <p:oleObj spid="_x0000_s29703" name="Equation" r:id="rId13" imgW="13106400" imgH="5486400" progId="Equation.DSMT4">
                  <p:embed/>
                </p:oleObj>
              </mc:Choice>
              <mc:Fallback>
                <p:oleObj name="Equation" r:id="rId13" imgW="13106400" imgH="5486400" progId="Equation.DSMT4">
                  <p:embed/>
                  <p:pic>
                    <p:nvPicPr>
                      <p:cNvPr id="0" name="图片 29702"/>
                      <p:cNvPicPr>
                        <a:picLocks noChangeAspect="1"/>
                      </p:cNvPicPr>
                      <p:nvPr/>
                    </p:nvPicPr>
                    <p:blipFill>
                      <a:blip r:embed="rId14"/>
                      <a:stretch>
                        <a:fillRect/>
                      </a:stretch>
                    </p:blipFill>
                    <p:spPr>
                      <a:xfrm>
                        <a:off x="6183313" y="1555725"/>
                        <a:ext cx="1168400" cy="436563"/>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en-US" altLang="zh-CN" dirty="0">
              <a:latin typeface="Times New Roman" panose="02020603050405020304" pitchFamily="18" charset="0"/>
              <a:cs typeface="Times New Roman" panose="02020603050405020304" pitchFamily="18" charset="0"/>
            </a:endParaRPr>
          </a:p>
        </p:txBody>
      </p:sp>
      <p:sp>
        <p:nvSpPr>
          <p:cNvPr id="7" name="Text Box 4"/>
          <p:cNvSpPr txBox="1">
            <a:spLocks noChangeArrowheads="1"/>
          </p:cNvSpPr>
          <p:nvPr/>
        </p:nvSpPr>
        <p:spPr bwMode="auto">
          <a:xfrm>
            <a:off x="464343" y="1124744"/>
            <a:ext cx="8215313" cy="1128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a:solidFill>
                  <a:schemeClr val="accent2"/>
                </a:solidFill>
                <a:effectLst/>
              </a:rPr>
              <a:t>（</a:t>
            </a:r>
            <a:r>
              <a:rPr lang="en-US" altLang="zh-CN" sz="2000" b="1">
                <a:solidFill>
                  <a:schemeClr val="accent2"/>
                </a:solidFill>
                <a:effectLst/>
                <a:cs typeface="Arial" panose="020B0604020202020204" pitchFamily="34" charset="0"/>
              </a:rPr>
              <a:t>2</a:t>
            </a:r>
            <a:r>
              <a:rPr lang="zh-CN" altLang="en-US" sz="2000" b="1">
                <a:solidFill>
                  <a:schemeClr val="accent2"/>
                </a:solidFill>
                <a:effectLst/>
              </a:rPr>
              <a:t>）</a:t>
            </a:r>
            <a:r>
              <a:rPr lang="zh-CN" altLang="en-US" sz="2000" b="1">
                <a:solidFill>
                  <a:schemeClr val="accent2"/>
                </a:solidFill>
                <a:effectLst/>
                <a:latin typeface="楷体_GB2312" pitchFamily="49" charset="-122"/>
                <a:ea typeface="楷体_GB2312" pitchFamily="49" charset="-122"/>
              </a:rPr>
              <a:t>检验　　　　　　　　　　</a:t>
            </a:r>
            <a:r>
              <a:rPr lang="zh-CN" altLang="en-US" sz="2000" b="1">
                <a:solidFill>
                  <a:schemeClr val="accent2"/>
                </a:solidFill>
                <a:effectLst/>
                <a:latin typeface="楷体_GB2312" pitchFamily="49" charset="-122"/>
                <a:ea typeface="楷体_GB2312" pitchFamily="49" charset="-122"/>
                <a:cs typeface="Arial" panose="020B0604020202020204" pitchFamily="34" charset="0"/>
              </a:rPr>
              <a:t> </a:t>
            </a:r>
            <a:r>
              <a:rPr lang="zh-CN" altLang="en-US" sz="2000" b="1">
                <a:solidFill>
                  <a:schemeClr val="accent2"/>
                </a:solidFill>
                <a:effectLst/>
                <a:latin typeface="楷体_GB2312" pitchFamily="49" charset="-122"/>
                <a:ea typeface="楷体_GB2312" pitchFamily="49" charset="-122"/>
              </a:rPr>
              <a:t>是否最优。</a:t>
            </a:r>
            <a:endParaRPr lang="zh-CN" altLang="en-US" sz="2000" b="1">
              <a:solidFill>
                <a:schemeClr val="accent2"/>
              </a:solidFill>
              <a:effectLst/>
              <a:latin typeface="楷体_GB2312" pitchFamily="49" charset="-122"/>
              <a:ea typeface="楷体_GB2312" pitchFamily="49" charset="-122"/>
            </a:endParaRPr>
          </a:p>
          <a:p>
            <a:pPr algn="l"/>
            <a:endParaRPr lang="zh-CN" altLang="en-US" sz="2000" b="1">
              <a:effectLst/>
              <a:latin typeface="楷体_GB2312" pitchFamily="49" charset="-122"/>
              <a:ea typeface="楷体_GB2312" pitchFamily="49" charset="-122"/>
            </a:endParaRPr>
          </a:p>
          <a:p>
            <a:pPr algn="l"/>
            <a:r>
              <a:rPr lang="zh-CN" altLang="en-US" sz="2000" b="1">
                <a:effectLst/>
                <a:latin typeface="楷体_GB2312" pitchFamily="49" charset="-122"/>
                <a:ea typeface="楷体_GB2312" pitchFamily="49" charset="-122"/>
              </a:rPr>
              <a:t>检验向量</a:t>
            </a:r>
            <a:endParaRPr lang="zh-CN" altLang="en-US" sz="2000" b="1">
              <a:effectLst/>
              <a:latin typeface="楷体_GB2312" pitchFamily="49" charset="-122"/>
              <a:ea typeface="楷体_GB2312" pitchFamily="49" charset="-122"/>
            </a:endParaRPr>
          </a:p>
        </p:txBody>
      </p:sp>
      <p:graphicFrame>
        <p:nvGraphicFramePr>
          <p:cNvPr id="8" name="Object 7"/>
          <p:cNvGraphicFramePr>
            <a:graphicFrameLocks noChangeAspect="1"/>
          </p:cNvGraphicFramePr>
          <p:nvPr/>
        </p:nvGraphicFramePr>
        <p:xfrm>
          <a:off x="1766093" y="1413669"/>
          <a:ext cx="6265863" cy="2130425"/>
        </p:xfrm>
        <a:graphic>
          <a:graphicData uri="http://schemas.openxmlformats.org/presentationml/2006/ole">
            <mc:AlternateContent xmlns:mc="http://schemas.openxmlformats.org/markup-compatibility/2006">
              <mc:Choice xmlns:v="urn:schemas-microsoft-com:vml" Requires="v">
                <p:oleObj spid="_x0000_s30721" name="Equation" r:id="rId1" imgW="79857600" imgH="29870400" progId="Equation.DSMT4">
                  <p:embed/>
                </p:oleObj>
              </mc:Choice>
              <mc:Fallback>
                <p:oleObj name="Equation" r:id="rId1" imgW="79857600" imgH="29870400" progId="Equation.DSMT4">
                  <p:embed/>
                  <p:pic>
                    <p:nvPicPr>
                      <p:cNvPr id="0" name="图片 30720"/>
                      <p:cNvPicPr>
                        <a:picLocks noChangeAspect="1"/>
                      </p:cNvPicPr>
                      <p:nvPr/>
                    </p:nvPicPr>
                    <p:blipFill>
                      <a:blip r:embed="rId2"/>
                      <a:stretch>
                        <a:fillRect/>
                      </a:stretch>
                    </p:blipFill>
                    <p:spPr>
                      <a:xfrm>
                        <a:off x="1766093" y="1413669"/>
                        <a:ext cx="6265863" cy="2130425"/>
                      </a:xfrm>
                      <a:prstGeom prst="rect">
                        <a:avLst/>
                      </a:prstGeom>
                      <a:noFill/>
                      <a:ln w="9525">
                        <a:noFill/>
                      </a:ln>
                    </p:spPr>
                  </p:pic>
                </p:oleObj>
              </mc:Fallback>
            </mc:AlternateContent>
          </a:graphicData>
        </a:graphic>
      </p:graphicFrame>
      <p:graphicFrame>
        <p:nvGraphicFramePr>
          <p:cNvPr id="9" name="Object 11"/>
          <p:cNvGraphicFramePr>
            <a:graphicFrameLocks noChangeAspect="1"/>
          </p:cNvGraphicFramePr>
          <p:nvPr/>
        </p:nvGraphicFramePr>
        <p:xfrm>
          <a:off x="1910556" y="1124744"/>
          <a:ext cx="2503487" cy="757238"/>
        </p:xfrm>
        <a:graphic>
          <a:graphicData uri="http://schemas.openxmlformats.org/presentationml/2006/ole">
            <mc:AlternateContent xmlns:mc="http://schemas.openxmlformats.org/markup-compatibility/2006">
              <mc:Choice xmlns:v="urn:schemas-microsoft-com:vml" Requires="v">
                <p:oleObj spid="_x0000_s30722" name="Equation" r:id="rId3" imgW="29260800" imgH="9448800" progId="Equation.DSMT4">
                  <p:embed/>
                </p:oleObj>
              </mc:Choice>
              <mc:Fallback>
                <p:oleObj name="Equation" r:id="rId3" imgW="29260800" imgH="9448800" progId="Equation.DSMT4">
                  <p:embed/>
                  <p:pic>
                    <p:nvPicPr>
                      <p:cNvPr id="0" name="图片 30721"/>
                      <p:cNvPicPr>
                        <a:picLocks noChangeAspect="1"/>
                      </p:cNvPicPr>
                      <p:nvPr/>
                    </p:nvPicPr>
                    <p:blipFill>
                      <a:blip r:embed="rId4"/>
                      <a:stretch>
                        <a:fillRect/>
                      </a:stretch>
                    </p:blipFill>
                    <p:spPr>
                      <a:xfrm>
                        <a:off x="1910556" y="1124744"/>
                        <a:ext cx="2503487" cy="757238"/>
                      </a:xfrm>
                      <a:prstGeom prst="rect">
                        <a:avLst/>
                      </a:prstGeom>
                      <a:noFill/>
                      <a:ln w="9525">
                        <a:noFill/>
                      </a:ln>
                    </p:spPr>
                  </p:pic>
                </p:oleObj>
              </mc:Fallback>
            </mc:AlternateContent>
          </a:graphicData>
        </a:graphic>
      </p:graphicFrame>
      <p:graphicFrame>
        <p:nvGraphicFramePr>
          <p:cNvPr id="10" name="Object 14"/>
          <p:cNvGraphicFramePr>
            <a:graphicFrameLocks noChangeAspect="1"/>
          </p:cNvGraphicFramePr>
          <p:nvPr/>
        </p:nvGraphicFramePr>
        <p:xfrm>
          <a:off x="1334293" y="4437857"/>
          <a:ext cx="3198813" cy="803275"/>
        </p:xfrm>
        <a:graphic>
          <a:graphicData uri="http://schemas.openxmlformats.org/presentationml/2006/ole">
            <mc:AlternateContent xmlns:mc="http://schemas.openxmlformats.org/markup-compatibility/2006">
              <mc:Choice xmlns:v="urn:schemas-microsoft-com:vml" Requires="v">
                <p:oleObj spid="_x0000_s30723" name="Equation" r:id="rId5" imgW="35356800" imgH="9448800" progId="Equation.DSMT4">
                  <p:embed/>
                </p:oleObj>
              </mc:Choice>
              <mc:Fallback>
                <p:oleObj name="Equation" r:id="rId5" imgW="35356800" imgH="9448800" progId="Equation.DSMT4">
                  <p:embed/>
                  <p:pic>
                    <p:nvPicPr>
                      <p:cNvPr id="0" name="图片 30722"/>
                      <p:cNvPicPr>
                        <a:picLocks noChangeAspect="1"/>
                      </p:cNvPicPr>
                      <p:nvPr/>
                    </p:nvPicPr>
                    <p:blipFill>
                      <a:blip r:embed="rId6"/>
                      <a:stretch>
                        <a:fillRect/>
                      </a:stretch>
                    </p:blipFill>
                    <p:spPr>
                      <a:xfrm>
                        <a:off x="1334293" y="4437857"/>
                        <a:ext cx="3198813" cy="803275"/>
                      </a:xfrm>
                      <a:prstGeom prst="rect">
                        <a:avLst/>
                      </a:prstGeom>
                      <a:noFill/>
                      <a:ln w="9525">
                        <a:noFill/>
                      </a:ln>
                    </p:spPr>
                  </p:pic>
                </p:oleObj>
              </mc:Fallback>
            </mc:AlternateContent>
          </a:graphicData>
        </a:graphic>
      </p:graphicFrame>
      <p:graphicFrame>
        <p:nvGraphicFramePr>
          <p:cNvPr id="11" name="Object 15"/>
          <p:cNvGraphicFramePr>
            <a:graphicFrameLocks noChangeAspect="1"/>
          </p:cNvGraphicFramePr>
          <p:nvPr/>
        </p:nvGraphicFramePr>
        <p:xfrm>
          <a:off x="5852318" y="4437857"/>
          <a:ext cx="1325563" cy="804862"/>
        </p:xfrm>
        <a:graphic>
          <a:graphicData uri="http://schemas.openxmlformats.org/presentationml/2006/ole">
            <mc:AlternateContent xmlns:mc="http://schemas.openxmlformats.org/markup-compatibility/2006">
              <mc:Choice xmlns:v="urn:schemas-microsoft-com:vml" Requires="v">
                <p:oleObj spid="_x0000_s30724" name="Equation" r:id="rId7" imgW="13411200" imgH="9448800" progId="Equation.DSMT4">
                  <p:embed/>
                </p:oleObj>
              </mc:Choice>
              <mc:Fallback>
                <p:oleObj name="Equation" r:id="rId7" imgW="13411200" imgH="9448800" progId="Equation.DSMT4">
                  <p:embed/>
                  <p:pic>
                    <p:nvPicPr>
                      <p:cNvPr id="0" name="图片 30723"/>
                      <p:cNvPicPr>
                        <a:picLocks noChangeAspect="1"/>
                      </p:cNvPicPr>
                      <p:nvPr/>
                    </p:nvPicPr>
                    <p:blipFill>
                      <a:blip r:embed="rId8"/>
                      <a:stretch>
                        <a:fillRect/>
                      </a:stretch>
                    </p:blipFill>
                    <p:spPr>
                      <a:xfrm>
                        <a:off x="5852318" y="4437857"/>
                        <a:ext cx="1325563" cy="804862"/>
                      </a:xfrm>
                      <a:prstGeom prst="rect">
                        <a:avLst/>
                      </a:prstGeom>
                      <a:noFill/>
                      <a:ln w="9525">
                        <a:noFill/>
                      </a:ln>
                    </p:spPr>
                  </p:pic>
                </p:oleObj>
              </mc:Fallback>
            </mc:AlternateContent>
          </a:graphicData>
        </a:graphic>
      </p:graphicFrame>
      <p:graphicFrame>
        <p:nvGraphicFramePr>
          <p:cNvPr id="13" name="Object 3"/>
          <p:cNvGraphicFramePr>
            <a:graphicFrameLocks noChangeAspect="1"/>
          </p:cNvGraphicFramePr>
          <p:nvPr/>
        </p:nvGraphicFramePr>
        <p:xfrm>
          <a:off x="5511006" y="3645694"/>
          <a:ext cx="936625" cy="592138"/>
        </p:xfrm>
        <a:graphic>
          <a:graphicData uri="http://schemas.openxmlformats.org/presentationml/2006/ole">
            <mc:AlternateContent xmlns:mc="http://schemas.openxmlformats.org/markup-compatibility/2006">
              <mc:Choice xmlns:v="urn:schemas-microsoft-com:vml" Requires="v">
                <p:oleObj spid="_x0000_s30725" name="Equation" r:id="rId9" imgW="17373600" imgH="10972800" progId="Equation.DSMT4">
                  <p:embed/>
                </p:oleObj>
              </mc:Choice>
              <mc:Fallback>
                <p:oleObj name="Equation" r:id="rId9" imgW="17373600" imgH="10972800" progId="Equation.DSMT4">
                  <p:embed/>
                  <p:pic>
                    <p:nvPicPr>
                      <p:cNvPr id="0" name="图片 30724"/>
                      <p:cNvPicPr>
                        <a:picLocks noChangeAspect="1"/>
                      </p:cNvPicPr>
                      <p:nvPr/>
                    </p:nvPicPr>
                    <p:blipFill>
                      <a:blip r:embed="rId10"/>
                      <a:stretch>
                        <a:fillRect/>
                      </a:stretch>
                    </p:blipFill>
                    <p:spPr>
                      <a:xfrm>
                        <a:off x="5511006" y="3645694"/>
                        <a:ext cx="936625" cy="592138"/>
                      </a:xfrm>
                      <a:prstGeom prst="rect">
                        <a:avLst/>
                      </a:prstGeom>
                      <a:noFill/>
                      <a:ln w="9525">
                        <a:noFill/>
                      </a:ln>
                    </p:spPr>
                  </p:pic>
                </p:oleObj>
              </mc:Fallback>
            </mc:AlternateContent>
          </a:graphicData>
        </a:graphic>
      </p:graphicFrame>
      <p:sp>
        <p:nvSpPr>
          <p:cNvPr id="14" name="Text Box 4"/>
          <p:cNvSpPr txBox="1">
            <a:spLocks noChangeArrowheads="1"/>
          </p:cNvSpPr>
          <p:nvPr/>
        </p:nvSpPr>
        <p:spPr bwMode="auto">
          <a:xfrm>
            <a:off x="326231" y="4007644"/>
            <a:ext cx="821531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a:effectLst/>
                <a:latin typeface="楷体_GB2312" pitchFamily="49" charset="-122"/>
                <a:ea typeface="楷体_GB2312" pitchFamily="49" charset="-122"/>
              </a:rPr>
              <a:t>　　　因为所有检验数均大于零，</a:t>
            </a:r>
            <a:endParaRPr lang="zh-CN" altLang="en-US" sz="2000" b="1">
              <a:effectLst/>
              <a:latin typeface="楷体_GB2312" pitchFamily="49" charset="-122"/>
              <a:ea typeface="楷体_GB2312" pitchFamily="49" charset="-122"/>
            </a:endParaRPr>
          </a:p>
          <a:p>
            <a:pPr algn="l"/>
            <a:endParaRPr lang="zh-CN" altLang="en-US" sz="2000" b="1">
              <a:effectLst/>
              <a:latin typeface="楷体_GB2312" pitchFamily="49" charset="-122"/>
              <a:ea typeface="楷体_GB2312" pitchFamily="49" charset="-122"/>
            </a:endParaRPr>
          </a:p>
          <a:p>
            <a:pPr algn="l"/>
            <a:r>
              <a:rPr lang="zh-CN" altLang="en-US" sz="2000" b="1">
                <a:effectLst/>
                <a:latin typeface="楷体_GB2312" pitchFamily="49" charset="-122"/>
                <a:ea typeface="楷体_GB2312" pitchFamily="49" charset="-122"/>
              </a:rPr>
              <a:t>　所以　　　　　　　　　　　　　是最优解，</a:t>
            </a:r>
            <a:endParaRPr lang="zh-CN" altLang="en-US" sz="2000" b="1">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28927" y="38094"/>
            <a:ext cx="6072230" cy="582594"/>
          </a:xfrm>
        </p:spPr>
        <p:txBody>
          <a:bodyPr/>
          <a:lstStyle/>
          <a:p>
            <a:r>
              <a:rPr kumimoji="1" lang="zh-CN" altLang="x-none" dirty="0">
                <a:latin typeface="Times New Roman" panose="02020603050405020304" pitchFamily="18" charset="0"/>
                <a:cs typeface="Times New Roman" panose="02020603050405020304" pitchFamily="18" charset="0"/>
              </a:rPr>
              <a:t>单纯形表</a:t>
            </a:r>
            <a:endParaRPr kumimoji="1" lang="zh-CN" altLang="en-US" dirty="0">
              <a:latin typeface="Times New Roman" panose="02020603050405020304" pitchFamily="18" charset="0"/>
              <a:cs typeface="Times New Roman" panose="02020603050405020304" pitchFamily="18" charset="0"/>
            </a:endParaRPr>
          </a:p>
        </p:txBody>
      </p:sp>
      <p:graphicFrame>
        <p:nvGraphicFramePr>
          <p:cNvPr id="84" name="Object 2"/>
          <p:cNvGraphicFramePr>
            <a:graphicFrameLocks noChangeAspect="1"/>
          </p:cNvGraphicFramePr>
          <p:nvPr/>
        </p:nvGraphicFramePr>
        <p:xfrm>
          <a:off x="2286000" y="1087462"/>
          <a:ext cx="1519238" cy="438150"/>
        </p:xfrm>
        <a:graphic>
          <a:graphicData uri="http://schemas.openxmlformats.org/presentationml/2006/ole">
            <mc:AlternateContent xmlns:mc="http://schemas.openxmlformats.org/markup-compatibility/2006">
              <mc:Choice xmlns:v="urn:schemas-microsoft-com:vml" Requires="v">
                <p:oleObj spid="_x0000_s31745" name="Equation" r:id="rId1" imgW="18288000" imgH="5181600" progId="Equation.3">
                  <p:embed/>
                </p:oleObj>
              </mc:Choice>
              <mc:Fallback>
                <p:oleObj name="Equation" r:id="rId1" imgW="18288000" imgH="5181600" progId="Equation.3">
                  <p:embed/>
                  <p:pic>
                    <p:nvPicPr>
                      <p:cNvPr id="0" name="图片 31744"/>
                      <p:cNvPicPr>
                        <a:picLocks noChangeAspect="1"/>
                      </p:cNvPicPr>
                      <p:nvPr/>
                    </p:nvPicPr>
                    <p:blipFill>
                      <a:blip r:embed="rId2"/>
                      <a:stretch>
                        <a:fillRect/>
                      </a:stretch>
                    </p:blipFill>
                    <p:spPr>
                      <a:xfrm>
                        <a:off x="2286000" y="1087462"/>
                        <a:ext cx="1519238" cy="438150"/>
                      </a:xfrm>
                      <a:prstGeom prst="rect">
                        <a:avLst/>
                      </a:prstGeom>
                      <a:noFill/>
                      <a:ln w="9525">
                        <a:noFill/>
                      </a:ln>
                    </p:spPr>
                  </p:pic>
                </p:oleObj>
              </mc:Fallback>
            </mc:AlternateContent>
          </a:graphicData>
        </a:graphic>
      </p:graphicFrame>
      <p:graphicFrame>
        <p:nvGraphicFramePr>
          <p:cNvPr id="85" name="Object 3"/>
          <p:cNvGraphicFramePr>
            <a:graphicFrameLocks noChangeAspect="1"/>
          </p:cNvGraphicFramePr>
          <p:nvPr/>
        </p:nvGraphicFramePr>
        <p:xfrm>
          <a:off x="4800600" y="803299"/>
          <a:ext cx="1389063" cy="969963"/>
        </p:xfrm>
        <a:graphic>
          <a:graphicData uri="http://schemas.openxmlformats.org/presentationml/2006/ole">
            <mc:AlternateContent xmlns:mc="http://schemas.openxmlformats.org/markup-compatibility/2006">
              <mc:Choice xmlns:v="urn:schemas-microsoft-com:vml" Requires="v">
                <p:oleObj spid="_x0000_s31746" name="" r:id="rId3" imgW="16764000" imgH="11582400" progId="Equation.3">
                  <p:embed/>
                </p:oleObj>
              </mc:Choice>
              <mc:Fallback>
                <p:oleObj name="" r:id="rId3" imgW="16764000" imgH="11582400" progId="Equation.3">
                  <p:embed/>
                  <p:pic>
                    <p:nvPicPr>
                      <p:cNvPr id="0" name="图片 31745"/>
                      <p:cNvPicPr>
                        <a:picLocks noChangeAspect="1"/>
                      </p:cNvPicPr>
                      <p:nvPr/>
                    </p:nvPicPr>
                    <p:blipFill>
                      <a:blip r:embed="rId4"/>
                      <a:stretch>
                        <a:fillRect/>
                      </a:stretch>
                    </p:blipFill>
                    <p:spPr>
                      <a:xfrm>
                        <a:off x="4800600" y="803299"/>
                        <a:ext cx="1389063" cy="969963"/>
                      </a:xfrm>
                      <a:prstGeom prst="rect">
                        <a:avLst/>
                      </a:prstGeom>
                      <a:noFill/>
                      <a:ln w="9525">
                        <a:noFill/>
                      </a:ln>
                    </p:spPr>
                  </p:pic>
                </p:oleObj>
              </mc:Fallback>
            </mc:AlternateContent>
          </a:graphicData>
        </a:graphic>
      </p:graphicFrame>
      <p:graphicFrame>
        <p:nvGraphicFramePr>
          <p:cNvPr id="86" name="Object 4"/>
          <p:cNvGraphicFramePr>
            <a:graphicFrameLocks noChangeAspect="1"/>
          </p:cNvGraphicFramePr>
          <p:nvPr/>
        </p:nvGraphicFramePr>
        <p:xfrm>
          <a:off x="762000" y="1951062"/>
          <a:ext cx="1184275" cy="355600"/>
        </p:xfrm>
        <a:graphic>
          <a:graphicData uri="http://schemas.openxmlformats.org/presentationml/2006/ole">
            <mc:AlternateContent xmlns:mc="http://schemas.openxmlformats.org/markup-compatibility/2006">
              <mc:Choice xmlns:v="urn:schemas-microsoft-com:vml" Requires="v">
                <p:oleObj spid="_x0000_s31747" name="Equation" r:id="rId5" imgW="11887200" imgH="4267200" progId="Equation.3">
                  <p:embed/>
                </p:oleObj>
              </mc:Choice>
              <mc:Fallback>
                <p:oleObj name="Equation" r:id="rId5" imgW="11887200" imgH="4267200" progId="Equation.3">
                  <p:embed/>
                  <p:pic>
                    <p:nvPicPr>
                      <p:cNvPr id="0" name="图片 31746"/>
                      <p:cNvPicPr>
                        <a:picLocks noChangeAspect="1"/>
                      </p:cNvPicPr>
                      <p:nvPr/>
                    </p:nvPicPr>
                    <p:blipFill>
                      <a:blip r:embed="rId6"/>
                      <a:stretch>
                        <a:fillRect/>
                      </a:stretch>
                    </p:blipFill>
                    <p:spPr>
                      <a:xfrm>
                        <a:off x="762000" y="1951062"/>
                        <a:ext cx="1184275" cy="355600"/>
                      </a:xfrm>
                      <a:prstGeom prst="rect">
                        <a:avLst/>
                      </a:prstGeom>
                      <a:noFill/>
                      <a:ln w="9525">
                        <a:noFill/>
                      </a:ln>
                    </p:spPr>
                  </p:pic>
                </p:oleObj>
              </mc:Fallback>
            </mc:AlternateContent>
          </a:graphicData>
        </a:graphic>
      </p:graphicFrame>
      <p:sp>
        <p:nvSpPr>
          <p:cNvPr id="87" name="AutoShape 5"/>
          <p:cNvSpPr>
            <a:spLocks noChangeArrowheads="1"/>
          </p:cNvSpPr>
          <p:nvPr/>
        </p:nvSpPr>
        <p:spPr bwMode="auto">
          <a:xfrm>
            <a:off x="2057400" y="2078062"/>
            <a:ext cx="762000" cy="152400"/>
          </a:xfrm>
          <a:prstGeom prst="rightArrow">
            <a:avLst>
              <a:gd name="adj1" fmla="val 50000"/>
              <a:gd name="adj2" fmla="val 125000"/>
            </a:avLst>
          </a:prstGeom>
          <a:noFill/>
          <a:ln w="19050">
            <a:solidFill>
              <a:schemeClr val="tx1"/>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graphicFrame>
        <p:nvGraphicFramePr>
          <p:cNvPr id="88" name="Object 6"/>
          <p:cNvGraphicFramePr>
            <a:graphicFrameLocks noChangeAspect="1"/>
          </p:cNvGraphicFramePr>
          <p:nvPr/>
        </p:nvGraphicFramePr>
        <p:xfrm>
          <a:off x="2971800" y="1697062"/>
          <a:ext cx="2209800" cy="971550"/>
        </p:xfrm>
        <a:graphic>
          <a:graphicData uri="http://schemas.openxmlformats.org/presentationml/2006/ole">
            <mc:AlternateContent xmlns:mc="http://schemas.openxmlformats.org/markup-compatibility/2006">
              <mc:Choice xmlns:v="urn:schemas-microsoft-com:vml" Requires="v">
                <p:oleObj spid="_x0000_s31748" name="" r:id="rId7" imgW="26517600" imgH="11582400" progId="Equation.3">
                  <p:embed/>
                </p:oleObj>
              </mc:Choice>
              <mc:Fallback>
                <p:oleObj name="" r:id="rId7" imgW="26517600" imgH="11582400" progId="Equation.3">
                  <p:embed/>
                  <p:pic>
                    <p:nvPicPr>
                      <p:cNvPr id="0" name="图片 31747"/>
                      <p:cNvPicPr>
                        <a:picLocks noChangeAspect="1"/>
                      </p:cNvPicPr>
                      <p:nvPr/>
                    </p:nvPicPr>
                    <p:blipFill>
                      <a:blip r:embed="rId8"/>
                      <a:stretch>
                        <a:fillRect/>
                      </a:stretch>
                    </p:blipFill>
                    <p:spPr>
                      <a:xfrm>
                        <a:off x="2971800" y="1697062"/>
                        <a:ext cx="2209800" cy="971550"/>
                      </a:xfrm>
                      <a:prstGeom prst="rect">
                        <a:avLst/>
                      </a:prstGeom>
                      <a:noFill/>
                      <a:ln w="9525">
                        <a:noFill/>
                      </a:ln>
                    </p:spPr>
                  </p:pic>
                </p:oleObj>
              </mc:Fallback>
            </mc:AlternateContent>
          </a:graphicData>
        </a:graphic>
      </p:graphicFrame>
      <p:graphicFrame>
        <p:nvGraphicFramePr>
          <p:cNvPr id="89" name="Object 7"/>
          <p:cNvGraphicFramePr>
            <a:graphicFrameLocks noChangeAspect="1"/>
          </p:cNvGraphicFramePr>
          <p:nvPr/>
        </p:nvGraphicFramePr>
        <p:xfrm>
          <a:off x="6156325" y="1925662"/>
          <a:ext cx="2073275" cy="457200"/>
        </p:xfrm>
        <a:graphic>
          <a:graphicData uri="http://schemas.openxmlformats.org/presentationml/2006/ole">
            <mc:AlternateContent xmlns:mc="http://schemas.openxmlformats.org/markup-compatibility/2006">
              <mc:Choice xmlns:v="urn:schemas-microsoft-com:vml" Requires="v">
                <p:oleObj spid="_x0000_s31749" name="" r:id="rId9" imgW="24993600" imgH="5486400" progId="Equation.3">
                  <p:embed/>
                </p:oleObj>
              </mc:Choice>
              <mc:Fallback>
                <p:oleObj name="" r:id="rId9" imgW="24993600" imgH="5486400" progId="Equation.3">
                  <p:embed/>
                  <p:pic>
                    <p:nvPicPr>
                      <p:cNvPr id="0" name="图片 31748"/>
                      <p:cNvPicPr>
                        <a:picLocks noChangeAspect="1"/>
                      </p:cNvPicPr>
                      <p:nvPr/>
                    </p:nvPicPr>
                    <p:blipFill>
                      <a:blip r:embed="rId10"/>
                      <a:stretch>
                        <a:fillRect/>
                      </a:stretch>
                    </p:blipFill>
                    <p:spPr>
                      <a:xfrm>
                        <a:off x="6156325" y="1925662"/>
                        <a:ext cx="2073275" cy="457200"/>
                      </a:xfrm>
                      <a:prstGeom prst="rect">
                        <a:avLst/>
                      </a:prstGeom>
                      <a:noFill/>
                      <a:ln w="9525">
                        <a:noFill/>
                      </a:ln>
                    </p:spPr>
                  </p:pic>
                </p:oleObj>
              </mc:Fallback>
            </mc:AlternateContent>
          </a:graphicData>
        </a:graphic>
      </p:graphicFrame>
      <p:sp>
        <p:nvSpPr>
          <p:cNvPr id="90" name="AutoShape 8"/>
          <p:cNvSpPr>
            <a:spLocks noChangeArrowheads="1"/>
          </p:cNvSpPr>
          <p:nvPr/>
        </p:nvSpPr>
        <p:spPr bwMode="auto">
          <a:xfrm>
            <a:off x="5257800" y="2078062"/>
            <a:ext cx="762000" cy="152400"/>
          </a:xfrm>
          <a:prstGeom prst="rightArrow">
            <a:avLst>
              <a:gd name="adj1" fmla="val 50000"/>
              <a:gd name="adj2" fmla="val 125000"/>
            </a:avLst>
          </a:prstGeom>
          <a:noFill/>
          <a:ln w="19050">
            <a:solidFill>
              <a:schemeClr val="tx1"/>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graphicFrame>
        <p:nvGraphicFramePr>
          <p:cNvPr id="91" name="Object 9"/>
          <p:cNvGraphicFramePr>
            <a:graphicFrameLocks noChangeAspect="1"/>
          </p:cNvGraphicFramePr>
          <p:nvPr/>
        </p:nvGraphicFramePr>
        <p:xfrm>
          <a:off x="1751013" y="2763862"/>
          <a:ext cx="2058987" cy="457200"/>
        </p:xfrm>
        <a:graphic>
          <a:graphicData uri="http://schemas.openxmlformats.org/presentationml/2006/ole">
            <mc:AlternateContent xmlns:mc="http://schemas.openxmlformats.org/markup-compatibility/2006">
              <mc:Choice xmlns:v="urn:schemas-microsoft-com:vml" Requires="v">
                <p:oleObj spid="_x0000_s31750" name="" r:id="rId11" imgW="24688800" imgH="5486400" progId="Equation.3">
                  <p:embed/>
                </p:oleObj>
              </mc:Choice>
              <mc:Fallback>
                <p:oleObj name="" r:id="rId11" imgW="24688800" imgH="5486400" progId="Equation.3">
                  <p:embed/>
                  <p:pic>
                    <p:nvPicPr>
                      <p:cNvPr id="0" name="图片 31749"/>
                      <p:cNvPicPr>
                        <a:picLocks noChangeAspect="1"/>
                      </p:cNvPicPr>
                      <p:nvPr/>
                    </p:nvPicPr>
                    <p:blipFill>
                      <a:blip r:embed="rId12"/>
                      <a:stretch>
                        <a:fillRect/>
                      </a:stretch>
                    </p:blipFill>
                    <p:spPr>
                      <a:xfrm>
                        <a:off x="1751013" y="2763862"/>
                        <a:ext cx="2058987" cy="457200"/>
                      </a:xfrm>
                      <a:prstGeom prst="rect">
                        <a:avLst/>
                      </a:prstGeom>
                      <a:noFill/>
                      <a:ln w="9525">
                        <a:noFill/>
                      </a:ln>
                    </p:spPr>
                  </p:pic>
                </p:oleObj>
              </mc:Fallback>
            </mc:AlternateContent>
          </a:graphicData>
        </a:graphic>
      </p:graphicFrame>
      <p:graphicFrame>
        <p:nvGraphicFramePr>
          <p:cNvPr id="92" name="Object 10"/>
          <p:cNvGraphicFramePr>
            <a:graphicFrameLocks noChangeAspect="1"/>
          </p:cNvGraphicFramePr>
          <p:nvPr/>
        </p:nvGraphicFramePr>
        <p:xfrm>
          <a:off x="5003800" y="2763862"/>
          <a:ext cx="2619375" cy="476250"/>
        </p:xfrm>
        <a:graphic>
          <a:graphicData uri="http://schemas.openxmlformats.org/presentationml/2006/ole">
            <mc:AlternateContent xmlns:mc="http://schemas.openxmlformats.org/markup-compatibility/2006">
              <mc:Choice xmlns:v="urn:schemas-microsoft-com:vml" Requires="v">
                <p:oleObj spid="_x0000_s31751" name="Equation" r:id="rId13" imgW="31394400" imgH="5791200" progId="Equation.3">
                  <p:embed/>
                </p:oleObj>
              </mc:Choice>
              <mc:Fallback>
                <p:oleObj name="Equation" r:id="rId13" imgW="31394400" imgH="5791200" progId="Equation.3">
                  <p:embed/>
                  <p:pic>
                    <p:nvPicPr>
                      <p:cNvPr id="0" name="图片 31750"/>
                      <p:cNvPicPr>
                        <a:picLocks noChangeAspect="1"/>
                      </p:cNvPicPr>
                      <p:nvPr/>
                    </p:nvPicPr>
                    <p:blipFill>
                      <a:blip r:embed="rId14"/>
                      <a:stretch>
                        <a:fillRect/>
                      </a:stretch>
                    </p:blipFill>
                    <p:spPr>
                      <a:xfrm>
                        <a:off x="5003800" y="2763862"/>
                        <a:ext cx="2619375" cy="476250"/>
                      </a:xfrm>
                      <a:prstGeom prst="rect">
                        <a:avLst/>
                      </a:prstGeom>
                      <a:noFill/>
                      <a:ln w="9525">
                        <a:noFill/>
                      </a:ln>
                    </p:spPr>
                  </p:pic>
                </p:oleObj>
              </mc:Fallback>
            </mc:AlternateContent>
          </a:graphicData>
        </a:graphic>
      </p:graphicFrame>
      <p:sp>
        <p:nvSpPr>
          <p:cNvPr id="93" name="AutoShape 11"/>
          <p:cNvSpPr>
            <a:spLocks noChangeArrowheads="1"/>
          </p:cNvSpPr>
          <p:nvPr/>
        </p:nvSpPr>
        <p:spPr bwMode="auto">
          <a:xfrm>
            <a:off x="3962400" y="2916262"/>
            <a:ext cx="762000" cy="152400"/>
          </a:xfrm>
          <a:prstGeom prst="rightArrow">
            <a:avLst>
              <a:gd name="adj1" fmla="val 50000"/>
              <a:gd name="adj2" fmla="val 125000"/>
            </a:avLst>
          </a:prstGeom>
          <a:noFill/>
          <a:ln w="19050">
            <a:solidFill>
              <a:schemeClr val="tx1"/>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graphicFrame>
        <p:nvGraphicFramePr>
          <p:cNvPr id="94" name="Object 12"/>
          <p:cNvGraphicFramePr>
            <a:graphicFrameLocks noChangeAspect="1"/>
          </p:cNvGraphicFramePr>
          <p:nvPr/>
        </p:nvGraphicFramePr>
        <p:xfrm>
          <a:off x="2268538" y="3373462"/>
          <a:ext cx="1389062" cy="969962"/>
        </p:xfrm>
        <a:graphic>
          <a:graphicData uri="http://schemas.openxmlformats.org/presentationml/2006/ole">
            <mc:AlternateContent xmlns:mc="http://schemas.openxmlformats.org/markup-compatibility/2006">
              <mc:Choice xmlns:v="urn:schemas-microsoft-com:vml" Requires="v">
                <p:oleObj spid="_x0000_s31752" name="" r:id="rId15" imgW="16764000" imgH="11582400" progId="Equation.3">
                  <p:embed/>
                </p:oleObj>
              </mc:Choice>
              <mc:Fallback>
                <p:oleObj name="" r:id="rId15" imgW="16764000" imgH="11582400" progId="Equation.3">
                  <p:embed/>
                  <p:pic>
                    <p:nvPicPr>
                      <p:cNvPr id="0" name="图片 31751"/>
                      <p:cNvPicPr>
                        <a:picLocks noChangeAspect="1"/>
                      </p:cNvPicPr>
                      <p:nvPr/>
                    </p:nvPicPr>
                    <p:blipFill>
                      <a:blip r:embed="rId4"/>
                      <a:stretch>
                        <a:fillRect/>
                      </a:stretch>
                    </p:blipFill>
                    <p:spPr>
                      <a:xfrm>
                        <a:off x="2268538" y="3373462"/>
                        <a:ext cx="1389062" cy="969962"/>
                      </a:xfrm>
                      <a:prstGeom prst="rect">
                        <a:avLst/>
                      </a:prstGeom>
                      <a:noFill/>
                      <a:ln w="9525">
                        <a:noFill/>
                      </a:ln>
                    </p:spPr>
                  </p:pic>
                </p:oleObj>
              </mc:Fallback>
            </mc:AlternateContent>
          </a:graphicData>
        </a:graphic>
      </p:graphicFrame>
      <p:sp>
        <p:nvSpPr>
          <p:cNvPr id="95" name="AutoShape 13"/>
          <p:cNvSpPr>
            <a:spLocks noChangeArrowheads="1"/>
          </p:cNvSpPr>
          <p:nvPr/>
        </p:nvSpPr>
        <p:spPr bwMode="auto">
          <a:xfrm>
            <a:off x="3962400" y="3754462"/>
            <a:ext cx="762000" cy="152400"/>
          </a:xfrm>
          <a:prstGeom prst="rightArrow">
            <a:avLst>
              <a:gd name="adj1" fmla="val 50000"/>
              <a:gd name="adj2" fmla="val 125000"/>
            </a:avLst>
          </a:prstGeom>
          <a:noFill/>
          <a:ln w="19050">
            <a:solidFill>
              <a:schemeClr val="tx1"/>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graphicFrame>
        <p:nvGraphicFramePr>
          <p:cNvPr id="96" name="Object 14"/>
          <p:cNvGraphicFramePr>
            <a:graphicFrameLocks noChangeAspect="1"/>
          </p:cNvGraphicFramePr>
          <p:nvPr/>
        </p:nvGraphicFramePr>
        <p:xfrm>
          <a:off x="4918075" y="3394099"/>
          <a:ext cx="2778125" cy="969963"/>
        </p:xfrm>
        <a:graphic>
          <a:graphicData uri="http://schemas.openxmlformats.org/presentationml/2006/ole">
            <mc:AlternateContent xmlns:mc="http://schemas.openxmlformats.org/markup-compatibility/2006">
              <mc:Choice xmlns:v="urn:schemas-microsoft-com:vml" Requires="v">
                <p:oleObj spid="_x0000_s31753" name="Equation" r:id="rId16" imgW="33528000" imgH="11582400" progId="Equation.3">
                  <p:embed/>
                </p:oleObj>
              </mc:Choice>
              <mc:Fallback>
                <p:oleObj name="Equation" r:id="rId16" imgW="33528000" imgH="11582400" progId="Equation.3">
                  <p:embed/>
                  <p:pic>
                    <p:nvPicPr>
                      <p:cNvPr id="0" name="图片 31752"/>
                      <p:cNvPicPr>
                        <a:picLocks noChangeAspect="1"/>
                      </p:cNvPicPr>
                      <p:nvPr/>
                    </p:nvPicPr>
                    <p:blipFill>
                      <a:blip r:embed="rId17"/>
                      <a:stretch>
                        <a:fillRect/>
                      </a:stretch>
                    </p:blipFill>
                    <p:spPr>
                      <a:xfrm>
                        <a:off x="4918075" y="3394099"/>
                        <a:ext cx="2778125" cy="969963"/>
                      </a:xfrm>
                      <a:prstGeom prst="rect">
                        <a:avLst/>
                      </a:prstGeom>
                      <a:noFill/>
                      <a:ln w="9525">
                        <a:noFill/>
                      </a:ln>
                    </p:spPr>
                  </p:pic>
                </p:oleObj>
              </mc:Fallback>
            </mc:AlternateContent>
          </a:graphicData>
        </a:graphic>
      </p:graphicFrame>
      <p:sp>
        <p:nvSpPr>
          <p:cNvPr id="97" name="Text Box 15"/>
          <p:cNvSpPr txBox="1">
            <a:spLocks noChangeArrowheads="1"/>
          </p:cNvSpPr>
          <p:nvPr/>
        </p:nvSpPr>
        <p:spPr bwMode="auto">
          <a:xfrm>
            <a:off x="990600" y="4592662"/>
            <a:ext cx="685800" cy="420687"/>
          </a:xfrm>
          <a:prstGeom prst="rect">
            <a:avLst/>
          </a:prstGeom>
          <a:noFill/>
          <a:ln>
            <a:noFill/>
          </a:ln>
          <a:effectLst/>
          <a:extLst>
            <a:ext uri="{909E8E84-426E-40DD-AFC4-6F175D3DCCD1}">
              <a14:hiddenFill xmlns:a14="http://schemas.microsoft.com/office/drawing/2010/main">
                <a:solidFill>
                  <a:srgbClr val="FF0066"/>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chemeClr val="accent2"/>
              </a:buClr>
              <a:buSzPct val="80000"/>
              <a:buFont typeface="Wingdings" panose="05000000000000000000" pitchFamily="2" charset="2"/>
              <a:buNone/>
            </a:pPr>
            <a:r>
              <a:rPr kumimoji="1" lang="zh-CN" altLang="en-US">
                <a:latin typeface="Times New Roman" panose="02020603050405020304" pitchFamily="18" charset="0"/>
                <a:ea typeface="楷体_GB2312" pitchFamily="49" charset="-122"/>
              </a:rPr>
              <a:t>令</a:t>
            </a:r>
            <a:endParaRPr kumimoji="1" lang="zh-CN" altLang="en-US">
              <a:latin typeface="Times New Roman" panose="02020603050405020304" pitchFamily="18" charset="0"/>
              <a:ea typeface="楷体_GB2312" pitchFamily="49" charset="-122"/>
            </a:endParaRPr>
          </a:p>
        </p:txBody>
      </p:sp>
      <p:graphicFrame>
        <p:nvGraphicFramePr>
          <p:cNvPr id="98" name="Object 16"/>
          <p:cNvGraphicFramePr>
            <a:graphicFrameLocks noChangeAspect="1"/>
          </p:cNvGraphicFramePr>
          <p:nvPr/>
        </p:nvGraphicFramePr>
        <p:xfrm>
          <a:off x="1658938" y="4592662"/>
          <a:ext cx="1008062" cy="457200"/>
        </p:xfrm>
        <a:graphic>
          <a:graphicData uri="http://schemas.openxmlformats.org/presentationml/2006/ole">
            <mc:AlternateContent xmlns:mc="http://schemas.openxmlformats.org/markup-compatibility/2006">
              <mc:Choice xmlns:v="urn:schemas-microsoft-com:vml" Requires="v">
                <p:oleObj spid="_x0000_s31754" name="" r:id="rId18" imgW="12192000" imgH="5486400" progId="Equation.3">
                  <p:embed/>
                </p:oleObj>
              </mc:Choice>
              <mc:Fallback>
                <p:oleObj name="" r:id="rId18" imgW="12192000" imgH="5486400" progId="Equation.3">
                  <p:embed/>
                  <p:pic>
                    <p:nvPicPr>
                      <p:cNvPr id="0" name="图片 31753"/>
                      <p:cNvPicPr>
                        <a:picLocks noChangeAspect="1"/>
                      </p:cNvPicPr>
                      <p:nvPr/>
                    </p:nvPicPr>
                    <p:blipFill>
                      <a:blip r:embed="rId19"/>
                      <a:stretch>
                        <a:fillRect/>
                      </a:stretch>
                    </p:blipFill>
                    <p:spPr>
                      <a:xfrm>
                        <a:off x="1658938" y="4592662"/>
                        <a:ext cx="1008062" cy="457200"/>
                      </a:xfrm>
                      <a:prstGeom prst="rect">
                        <a:avLst/>
                      </a:prstGeom>
                      <a:noFill/>
                      <a:ln w="9525">
                        <a:noFill/>
                      </a:ln>
                    </p:spPr>
                  </p:pic>
                </p:oleObj>
              </mc:Fallback>
            </mc:AlternateContent>
          </a:graphicData>
        </a:graphic>
      </p:graphicFrame>
      <p:sp>
        <p:nvSpPr>
          <p:cNvPr id="99" name="Text Box 17"/>
          <p:cNvSpPr txBox="1">
            <a:spLocks noChangeArrowheads="1"/>
          </p:cNvSpPr>
          <p:nvPr/>
        </p:nvSpPr>
        <p:spPr bwMode="auto">
          <a:xfrm>
            <a:off x="990600" y="5354662"/>
            <a:ext cx="533400" cy="420687"/>
          </a:xfrm>
          <a:prstGeom prst="rect">
            <a:avLst/>
          </a:prstGeom>
          <a:noFill/>
          <a:ln>
            <a:noFill/>
          </a:ln>
          <a:effectLst/>
          <a:extLst>
            <a:ext uri="{909E8E84-426E-40DD-AFC4-6F175D3DCCD1}">
              <a14:hiddenFill xmlns:a14="http://schemas.microsoft.com/office/drawing/2010/main">
                <a:solidFill>
                  <a:srgbClr val="FF0066"/>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chemeClr val="accent2"/>
              </a:buClr>
              <a:buSzPct val="80000"/>
              <a:buFont typeface="Wingdings" panose="05000000000000000000" pitchFamily="2" charset="2"/>
              <a:buNone/>
            </a:pPr>
            <a:r>
              <a:rPr kumimoji="1" lang="zh-CN" altLang="en-US">
                <a:latin typeface="Times New Roman" panose="02020603050405020304" pitchFamily="18" charset="0"/>
                <a:ea typeface="楷体_GB2312" pitchFamily="49" charset="-122"/>
              </a:rPr>
              <a:t>则</a:t>
            </a:r>
            <a:endParaRPr kumimoji="1" lang="zh-CN" altLang="en-US">
              <a:latin typeface="Times New Roman" panose="02020603050405020304" pitchFamily="18" charset="0"/>
              <a:ea typeface="楷体_GB2312" pitchFamily="49" charset="-122"/>
            </a:endParaRPr>
          </a:p>
        </p:txBody>
      </p:sp>
      <p:graphicFrame>
        <p:nvGraphicFramePr>
          <p:cNvPr id="100" name="Object 18"/>
          <p:cNvGraphicFramePr>
            <a:graphicFrameLocks noChangeAspect="1"/>
          </p:cNvGraphicFramePr>
          <p:nvPr/>
        </p:nvGraphicFramePr>
        <p:xfrm>
          <a:off x="1633538" y="5126062"/>
          <a:ext cx="1490662" cy="969962"/>
        </p:xfrm>
        <a:graphic>
          <a:graphicData uri="http://schemas.openxmlformats.org/presentationml/2006/ole">
            <mc:AlternateContent xmlns:mc="http://schemas.openxmlformats.org/markup-compatibility/2006">
              <mc:Choice xmlns:v="urn:schemas-microsoft-com:vml" Requires="v">
                <p:oleObj spid="_x0000_s31755" name="Equation" r:id="rId20" imgW="17983200" imgH="11582400" progId="Equation.3">
                  <p:embed/>
                </p:oleObj>
              </mc:Choice>
              <mc:Fallback>
                <p:oleObj name="Equation" r:id="rId20" imgW="17983200" imgH="11582400" progId="Equation.3">
                  <p:embed/>
                  <p:pic>
                    <p:nvPicPr>
                      <p:cNvPr id="0" name="图片 31754"/>
                      <p:cNvPicPr>
                        <a:picLocks noChangeAspect="1"/>
                      </p:cNvPicPr>
                      <p:nvPr/>
                    </p:nvPicPr>
                    <p:blipFill>
                      <a:blip r:embed="rId21"/>
                      <a:stretch>
                        <a:fillRect/>
                      </a:stretch>
                    </p:blipFill>
                    <p:spPr>
                      <a:xfrm>
                        <a:off x="1633538" y="5126062"/>
                        <a:ext cx="1490662" cy="969962"/>
                      </a:xfrm>
                      <a:prstGeom prst="rect">
                        <a:avLst/>
                      </a:prstGeom>
                      <a:noFill/>
                      <a:ln w="9525">
                        <a:noFill/>
                      </a:ln>
                    </p:spPr>
                  </p:pic>
                </p:oleObj>
              </mc:Fallback>
            </mc:AlternateContent>
          </a:graphicData>
        </a:graphic>
      </p:graphicFrame>
      <p:sp>
        <p:nvSpPr>
          <p:cNvPr id="101" name="Text Box 19"/>
          <p:cNvSpPr txBox="1">
            <a:spLocks noChangeArrowheads="1"/>
          </p:cNvSpPr>
          <p:nvPr/>
        </p:nvSpPr>
        <p:spPr bwMode="auto">
          <a:xfrm>
            <a:off x="3505200" y="4792687"/>
            <a:ext cx="4800600" cy="840230"/>
          </a:xfrm>
          <a:prstGeom prst="rect">
            <a:avLst/>
          </a:prstGeom>
          <a:noFill/>
          <a:ln w="38100">
            <a:solidFill>
              <a:schemeClr val="accent2"/>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chemeClr val="accent2"/>
              </a:buClr>
              <a:buSzPct val="80000"/>
              <a:buFont typeface="Wingdings" panose="05000000000000000000" pitchFamily="2" charset="2"/>
              <a:buNone/>
            </a:pPr>
            <a:r>
              <a:rPr kumimoji="1" lang="zh-CN" altLang="en-US" dirty="0">
                <a:latin typeface="Times New Roman" panose="02020603050405020304" pitchFamily="18" charset="0"/>
                <a:ea typeface="楷体_GB2312" pitchFamily="49" charset="-122"/>
              </a:rPr>
              <a:t> 在约束方程组中，对于一个选定的基</a:t>
            </a:r>
            <a:r>
              <a:rPr kumimoji="1" lang="en-US" altLang="zh-CN" dirty="0">
                <a:latin typeface="Times New Roman" panose="02020603050405020304" pitchFamily="18" charset="0"/>
                <a:ea typeface="楷体_GB2312" pitchFamily="49" charset="-122"/>
              </a:rPr>
              <a:t>B</a:t>
            </a:r>
            <a:r>
              <a:rPr kumimoji="1" lang="zh-CN" altLang="en-US" dirty="0">
                <a:latin typeface="Times New Roman" panose="02020603050405020304" pitchFamily="18" charset="0"/>
                <a:ea typeface="楷体_GB2312" pitchFamily="49" charset="-122"/>
              </a:rPr>
              <a:t>，令所有的非基变量为零得到的解，称为相应于基</a:t>
            </a:r>
            <a:r>
              <a:rPr kumimoji="1" lang="en-US" altLang="zh-CN" dirty="0">
                <a:latin typeface="Times New Roman" panose="02020603050405020304" pitchFamily="18" charset="0"/>
                <a:ea typeface="楷体_GB2312" pitchFamily="49" charset="-122"/>
              </a:rPr>
              <a:t>B</a:t>
            </a:r>
            <a:r>
              <a:rPr kumimoji="1" lang="zh-CN" altLang="en-US" dirty="0">
                <a:latin typeface="Times New Roman" panose="02020603050405020304" pitchFamily="18" charset="0"/>
                <a:ea typeface="楷体_GB2312" pitchFamily="49" charset="-122"/>
              </a:rPr>
              <a:t>的基本解。</a:t>
            </a:r>
            <a:endParaRPr kumimoji="1" lang="zh-CN" altLang="en-US"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28927" y="38094"/>
            <a:ext cx="6072230" cy="582594"/>
          </a:xfrm>
        </p:spPr>
        <p:txBody>
          <a:bodyPr/>
          <a:lstStyle/>
          <a:p>
            <a:r>
              <a:rPr kumimoji="1" lang="zh-CN" altLang="x-none" dirty="0">
                <a:latin typeface="Times New Roman" panose="02020603050405020304" pitchFamily="18" charset="0"/>
                <a:cs typeface="Times New Roman" panose="02020603050405020304" pitchFamily="18" charset="0"/>
              </a:rPr>
              <a:t>单纯形表</a:t>
            </a:r>
            <a:endParaRPr kumimoji="1" lang="zh-CN" altLang="en-US" dirty="0">
              <a:latin typeface="Times New Roman" panose="02020603050405020304" pitchFamily="18" charset="0"/>
              <a:cs typeface="Times New Roman" panose="02020603050405020304" pitchFamily="18" charset="0"/>
            </a:endParaRPr>
          </a:p>
        </p:txBody>
      </p:sp>
      <p:graphicFrame>
        <p:nvGraphicFramePr>
          <p:cNvPr id="21" name="Object 2"/>
          <p:cNvGraphicFramePr>
            <a:graphicFrameLocks noChangeAspect="1"/>
          </p:cNvGraphicFramePr>
          <p:nvPr/>
        </p:nvGraphicFramePr>
        <p:xfrm>
          <a:off x="1371600" y="908720"/>
          <a:ext cx="4195763" cy="2806700"/>
        </p:xfrm>
        <a:graphic>
          <a:graphicData uri="http://schemas.openxmlformats.org/presentationml/2006/ole">
            <mc:AlternateContent xmlns:mc="http://schemas.openxmlformats.org/markup-compatibility/2006">
              <mc:Choice xmlns:v="urn:schemas-microsoft-com:vml" Requires="v">
                <p:oleObj spid="_x0000_s32769" name="Equation" r:id="rId1" imgW="50292000" imgH="34137600" progId="Equation.3">
                  <p:embed/>
                </p:oleObj>
              </mc:Choice>
              <mc:Fallback>
                <p:oleObj name="Equation" r:id="rId1" imgW="50292000" imgH="34137600" progId="Equation.3">
                  <p:embed/>
                  <p:pic>
                    <p:nvPicPr>
                      <p:cNvPr id="0" name="图片 32768"/>
                      <p:cNvPicPr>
                        <a:picLocks noChangeAspect="1"/>
                      </p:cNvPicPr>
                      <p:nvPr/>
                    </p:nvPicPr>
                    <p:blipFill>
                      <a:blip r:embed="rId2"/>
                      <a:stretch>
                        <a:fillRect/>
                      </a:stretch>
                    </p:blipFill>
                    <p:spPr>
                      <a:xfrm>
                        <a:off x="1371600" y="908720"/>
                        <a:ext cx="4195763" cy="2806700"/>
                      </a:xfrm>
                      <a:prstGeom prst="rect">
                        <a:avLst/>
                      </a:prstGeom>
                      <a:noFill/>
                      <a:ln w="9525">
                        <a:noFill/>
                      </a:ln>
                    </p:spPr>
                  </p:pic>
                </p:oleObj>
              </mc:Fallback>
            </mc:AlternateContent>
          </a:graphicData>
        </a:graphic>
      </p:graphicFrame>
      <p:graphicFrame>
        <p:nvGraphicFramePr>
          <p:cNvPr id="22" name="Object 3"/>
          <p:cNvGraphicFramePr>
            <a:graphicFrameLocks noChangeAspect="1"/>
          </p:cNvGraphicFramePr>
          <p:nvPr/>
        </p:nvGraphicFramePr>
        <p:xfrm>
          <a:off x="1600200" y="4267200"/>
          <a:ext cx="2357438" cy="571500"/>
        </p:xfrm>
        <a:graphic>
          <a:graphicData uri="http://schemas.openxmlformats.org/presentationml/2006/ole">
            <mc:AlternateContent xmlns:mc="http://schemas.openxmlformats.org/markup-compatibility/2006">
              <mc:Choice xmlns:v="urn:schemas-microsoft-com:vml" Requires="v">
                <p:oleObj spid="_x0000_s32770" name="" r:id="rId3" imgW="22555200" imgH="5486400" progId="Equation.3">
                  <p:embed/>
                </p:oleObj>
              </mc:Choice>
              <mc:Fallback>
                <p:oleObj name="" r:id="rId3" imgW="22555200" imgH="5486400" progId="Equation.3">
                  <p:embed/>
                  <p:pic>
                    <p:nvPicPr>
                      <p:cNvPr id="0" name="图片 32769"/>
                      <p:cNvPicPr>
                        <a:picLocks noChangeAspect="1"/>
                      </p:cNvPicPr>
                      <p:nvPr/>
                    </p:nvPicPr>
                    <p:blipFill>
                      <a:blip r:embed="rId4"/>
                      <a:stretch>
                        <a:fillRect/>
                      </a:stretch>
                    </p:blipFill>
                    <p:spPr>
                      <a:xfrm>
                        <a:off x="1600200" y="4267200"/>
                        <a:ext cx="2357438" cy="571500"/>
                      </a:xfrm>
                      <a:prstGeom prst="rect">
                        <a:avLst/>
                      </a:prstGeom>
                      <a:noFill/>
                      <a:ln w="9525">
                        <a:noFill/>
                      </a:ln>
                    </p:spPr>
                  </p:pic>
                </p:oleObj>
              </mc:Fallback>
            </mc:AlternateContent>
          </a:graphicData>
        </a:graphic>
      </p:graphicFrame>
      <p:graphicFrame>
        <p:nvGraphicFramePr>
          <p:cNvPr id="24" name="Object 5"/>
          <p:cNvGraphicFramePr>
            <a:graphicFrameLocks noChangeAspect="1"/>
          </p:cNvGraphicFramePr>
          <p:nvPr/>
        </p:nvGraphicFramePr>
        <p:xfrm>
          <a:off x="1295400" y="3657600"/>
          <a:ext cx="573088" cy="539750"/>
        </p:xfrm>
        <a:graphic>
          <a:graphicData uri="http://schemas.openxmlformats.org/presentationml/2006/ole">
            <mc:AlternateContent xmlns:mc="http://schemas.openxmlformats.org/markup-compatibility/2006">
              <mc:Choice xmlns:v="urn:schemas-microsoft-com:vml" Requires="v">
                <p:oleObj spid="_x0000_s32771" name="Equation" r:id="rId5" imgW="5486400" imgH="5181600" progId="Equation.3">
                  <p:embed/>
                </p:oleObj>
              </mc:Choice>
              <mc:Fallback>
                <p:oleObj name="Equation" r:id="rId5" imgW="5486400" imgH="5181600" progId="Equation.3">
                  <p:embed/>
                  <p:pic>
                    <p:nvPicPr>
                      <p:cNvPr id="0" name="图片 32770"/>
                      <p:cNvPicPr>
                        <a:picLocks noChangeAspect="1"/>
                      </p:cNvPicPr>
                      <p:nvPr/>
                    </p:nvPicPr>
                    <p:blipFill>
                      <a:blip r:embed="rId6"/>
                      <a:stretch>
                        <a:fillRect/>
                      </a:stretch>
                    </p:blipFill>
                    <p:spPr>
                      <a:xfrm>
                        <a:off x="1295400" y="3657600"/>
                        <a:ext cx="573088" cy="539750"/>
                      </a:xfrm>
                      <a:prstGeom prst="rect">
                        <a:avLst/>
                      </a:prstGeom>
                      <a:noFill/>
                      <a:ln w="9525">
                        <a:noFill/>
                      </a:ln>
                    </p:spPr>
                  </p:pic>
                </p:oleObj>
              </mc:Fallback>
            </mc:AlternateContent>
          </a:graphicData>
        </a:graphic>
      </p:graphicFrame>
      <p:sp>
        <p:nvSpPr>
          <p:cNvPr id="25" name="Text Box 6"/>
          <p:cNvSpPr txBox="1">
            <a:spLocks noChangeArrowheads="1"/>
          </p:cNvSpPr>
          <p:nvPr/>
        </p:nvSpPr>
        <p:spPr bwMode="auto">
          <a:xfrm>
            <a:off x="982565" y="3678113"/>
            <a:ext cx="5950145" cy="2462213"/>
          </a:xfrm>
          <a:prstGeom prst="rect">
            <a:avLst/>
          </a:prstGeom>
          <a:noFill/>
          <a:ln w="38100">
            <a:solidFill>
              <a:schemeClr val="accent2"/>
            </a:solidFill>
            <a:miter lim="800000"/>
          </a:ln>
          <a:effectLst/>
          <a:extLst>
            <a:ext uri="{909E8E84-426E-40DD-AFC4-6F175D3DCCD1}">
              <a14:hiddenFill xmlns:a14="http://schemas.microsoft.com/office/drawing/2010/main">
                <a:solidFill>
                  <a:srgbClr val="FF00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latin typeface="Times New Roman" panose="02020603050405020304" pitchFamily="18" charset="0"/>
                <a:ea typeface="楷体_GB2312" pitchFamily="49" charset="-122"/>
              </a:rPr>
              <a:t>           称为</a:t>
            </a:r>
            <a:r>
              <a:rPr kumimoji="1" lang="zh-CN" altLang="en-US" sz="2800" i="1" u="sng" dirty="0">
                <a:solidFill>
                  <a:srgbClr val="FF3300"/>
                </a:solidFill>
                <a:latin typeface="Times New Roman" panose="02020603050405020304" pitchFamily="18" charset="0"/>
                <a:ea typeface="楷体_GB2312" pitchFamily="49" charset="-122"/>
              </a:rPr>
              <a:t>最优解</a:t>
            </a:r>
            <a:endParaRPr kumimoji="1" lang="zh-CN" altLang="en-US" sz="2800" i="1" u="sng" dirty="0">
              <a:solidFill>
                <a:srgbClr val="FF3300"/>
              </a:solidFill>
              <a:latin typeface="Times New Roman" panose="02020603050405020304" pitchFamily="18" charset="0"/>
              <a:ea typeface="楷体_GB2312" pitchFamily="49" charset="-122"/>
            </a:endParaRPr>
          </a:p>
          <a:p>
            <a:pPr>
              <a:spcBef>
                <a:spcPct val="50000"/>
              </a:spcBef>
            </a:pPr>
            <a:endParaRPr kumimoji="1" lang="zh-CN" altLang="en-US" sz="2800" i="1" u="sng" dirty="0">
              <a:solidFill>
                <a:srgbClr val="FF3300"/>
              </a:solidFill>
              <a:latin typeface="Times New Roman" panose="02020603050405020304" pitchFamily="18" charset="0"/>
              <a:ea typeface="楷体_GB2312" pitchFamily="49" charset="-122"/>
            </a:endParaRPr>
          </a:p>
          <a:p>
            <a:pPr>
              <a:spcBef>
                <a:spcPct val="50000"/>
              </a:spcBef>
            </a:pPr>
            <a:endParaRPr kumimoji="1" lang="zh-CN" altLang="en-US" sz="2800" i="1" u="sng" dirty="0">
              <a:solidFill>
                <a:srgbClr val="FF3300"/>
              </a:solidFill>
              <a:latin typeface="Times New Roman" panose="02020603050405020304" pitchFamily="18" charset="0"/>
              <a:ea typeface="楷体_GB2312" pitchFamily="49" charset="-122"/>
            </a:endParaRPr>
          </a:p>
          <a:p>
            <a:pPr>
              <a:spcBef>
                <a:spcPct val="50000"/>
              </a:spcBef>
            </a:pPr>
            <a:endParaRPr kumimoji="1" lang="zh-CN" altLang="en-US" sz="2800" dirty="0">
              <a:latin typeface="Times New Roman" panose="02020603050405020304" pitchFamily="18" charset="0"/>
              <a:ea typeface="楷体_GB2312" pitchFamily="49" charset="-122"/>
            </a:endParaRPr>
          </a:p>
        </p:txBody>
      </p:sp>
      <p:graphicFrame>
        <p:nvGraphicFramePr>
          <p:cNvPr id="26" name="Object 25"/>
          <p:cNvGraphicFramePr>
            <a:graphicFrameLocks noChangeAspect="1"/>
          </p:cNvGraphicFramePr>
          <p:nvPr/>
        </p:nvGraphicFramePr>
        <p:xfrm>
          <a:off x="1612755" y="4909220"/>
          <a:ext cx="3529713" cy="571500"/>
        </p:xfrm>
        <a:graphic>
          <a:graphicData uri="http://schemas.openxmlformats.org/presentationml/2006/ole">
            <mc:AlternateContent xmlns:mc="http://schemas.openxmlformats.org/markup-compatibility/2006">
              <mc:Choice xmlns:v="urn:schemas-microsoft-com:vml" Requires="v">
                <p:oleObj spid="_x0000_s32772" name="公式" r:id="rId7" imgW="35966400" imgH="5791200" progId="Equation.3">
                  <p:embed/>
                </p:oleObj>
              </mc:Choice>
              <mc:Fallback>
                <p:oleObj name="公式" r:id="rId7" imgW="35966400" imgH="5791200" progId="Equation.3">
                  <p:embed/>
                  <p:pic>
                    <p:nvPicPr>
                      <p:cNvPr id="0" name="图片 32771"/>
                      <p:cNvPicPr>
                        <a:picLocks noChangeAspect="1"/>
                      </p:cNvPicPr>
                      <p:nvPr/>
                    </p:nvPicPr>
                    <p:blipFill>
                      <a:blip r:embed="rId8"/>
                      <a:stretch>
                        <a:fillRect/>
                      </a:stretch>
                    </p:blipFill>
                    <p:spPr>
                      <a:xfrm>
                        <a:off x="1612755" y="4909220"/>
                        <a:ext cx="3529713" cy="5715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cs typeface="Times New Roman" panose="02020603050405020304" pitchFamily="18" charset="0"/>
              </a:rPr>
              <a:t>单纯形法</a:t>
            </a:r>
            <a:endParaRPr kumimoji="1" lang="en-US" altLang="zh-CN" dirty="0">
              <a:latin typeface="Times New Roman" panose="02020603050405020304" pitchFamily="18" charset="0"/>
              <a:cs typeface="Times New Roman" panose="02020603050405020304" pitchFamily="18" charset="0"/>
            </a:endParaRPr>
          </a:p>
        </p:txBody>
      </p:sp>
      <p:sp>
        <p:nvSpPr>
          <p:cNvPr id="8" name="Rectangle 3"/>
          <p:cNvSpPr>
            <a:spLocks noChangeArrowheads="1"/>
          </p:cNvSpPr>
          <p:nvPr/>
        </p:nvSpPr>
        <p:spPr bwMode="auto">
          <a:xfrm>
            <a:off x="533400" y="1143000"/>
            <a:ext cx="8077200" cy="4134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lang="zh-CN" altLang="en-US" sz="2000" dirty="0">
                <a:effectLst/>
                <a:latin typeface="楷体_GB2312" pitchFamily="49" charset="-122"/>
                <a:ea typeface="楷体_GB2312" pitchFamily="49" charset="-122"/>
              </a:rPr>
              <a:t>在单纯形法的求解过程中，有下列重要指标：</a:t>
            </a:r>
            <a:endParaRPr lang="zh-CN" altLang="en-US" sz="2000" dirty="0">
              <a:effectLst/>
              <a:latin typeface="楷体_GB2312" pitchFamily="49" charset="-122"/>
              <a:ea typeface="楷体_GB2312" pitchFamily="49" charset="-122"/>
            </a:endParaRPr>
          </a:p>
          <a:p>
            <a:pPr algn="just">
              <a:lnSpc>
                <a:spcPct val="130000"/>
              </a:lnSpc>
              <a:buClr>
                <a:srgbClr val="CC0000"/>
              </a:buClr>
              <a:buSzPct val="70000"/>
              <a:buFont typeface="Wingdings" panose="05000000000000000000" pitchFamily="2" charset="2"/>
              <a:buChar char="p"/>
            </a:pPr>
            <a:r>
              <a:rPr lang="zh-CN" altLang="en-US" sz="2000" dirty="0">
                <a:effectLst/>
                <a:latin typeface="楷体_GB2312" pitchFamily="49" charset="-122"/>
                <a:ea typeface="楷体_GB2312" pitchFamily="49" charset="-122"/>
              </a:rPr>
              <a:t>每一个基本可行解的</a:t>
            </a:r>
            <a:r>
              <a:rPr lang="zh-CN" altLang="en-US" sz="2000" dirty="0">
                <a:solidFill>
                  <a:schemeClr val="accent2"/>
                </a:solidFill>
                <a:effectLst/>
                <a:latin typeface="楷体_GB2312" pitchFamily="49" charset="-122"/>
                <a:ea typeface="楷体_GB2312" pitchFamily="49" charset="-122"/>
              </a:rPr>
              <a:t>检验向量</a:t>
            </a:r>
            <a:endParaRPr lang="zh-CN" altLang="en-US" sz="2000" dirty="0">
              <a:solidFill>
                <a:schemeClr val="accent2"/>
              </a:solidFill>
              <a:effectLst/>
              <a:latin typeface="楷体_GB2312" pitchFamily="49" charset="-122"/>
              <a:ea typeface="楷体_GB2312" pitchFamily="49" charset="-122"/>
            </a:endParaRPr>
          </a:p>
          <a:p>
            <a:pPr algn="just">
              <a:lnSpc>
                <a:spcPct val="130000"/>
              </a:lnSpc>
              <a:buClr>
                <a:srgbClr val="CC0000"/>
              </a:buClr>
              <a:buSzPct val="70000"/>
              <a:buFont typeface="Wingdings" panose="05000000000000000000" pitchFamily="2" charset="2"/>
              <a:buNone/>
            </a:pPr>
            <a:r>
              <a:rPr lang="zh-CN" altLang="en-US" sz="2000" dirty="0">
                <a:effectLst/>
                <a:latin typeface="楷体_GB2312" pitchFamily="49" charset="-122"/>
                <a:ea typeface="楷体_GB2312" pitchFamily="49" charset="-122"/>
              </a:rPr>
              <a:t>根据检验向量可以确定所求得的基本可行解是否为最优解。如果不是最优又可以通过检验向量确定合适的换入变量。</a:t>
            </a:r>
            <a:endParaRPr lang="zh-CN" altLang="en-US" sz="2000" dirty="0">
              <a:effectLst/>
              <a:latin typeface="楷体_GB2312" pitchFamily="49" charset="-122"/>
              <a:ea typeface="楷体_GB2312" pitchFamily="49" charset="-122"/>
            </a:endParaRPr>
          </a:p>
          <a:p>
            <a:pPr algn="just">
              <a:lnSpc>
                <a:spcPct val="130000"/>
              </a:lnSpc>
              <a:buClr>
                <a:srgbClr val="CC0000"/>
              </a:buClr>
              <a:buSzPct val="70000"/>
              <a:buFont typeface="Wingdings" panose="05000000000000000000" pitchFamily="2" charset="2"/>
              <a:buChar char="p"/>
            </a:pPr>
            <a:r>
              <a:rPr lang="zh-CN" altLang="en-US" sz="2000" dirty="0">
                <a:effectLst/>
                <a:latin typeface="楷体_GB2312" pitchFamily="49" charset="-122"/>
                <a:ea typeface="楷体_GB2312" pitchFamily="49" charset="-122"/>
              </a:rPr>
              <a:t>每一个基本可行解所对应的</a:t>
            </a:r>
            <a:r>
              <a:rPr lang="zh-CN" altLang="en-US" sz="2000" dirty="0">
                <a:solidFill>
                  <a:schemeClr val="accent2"/>
                </a:solidFill>
                <a:effectLst/>
                <a:latin typeface="楷体_GB2312" pitchFamily="49" charset="-122"/>
                <a:ea typeface="楷体_GB2312" pitchFamily="49" charset="-122"/>
              </a:rPr>
              <a:t>目标函数值</a:t>
            </a:r>
            <a:endParaRPr lang="zh-CN" altLang="en-US" sz="2000" dirty="0">
              <a:solidFill>
                <a:schemeClr val="accent2"/>
              </a:solidFill>
              <a:effectLst/>
              <a:latin typeface="楷体_GB2312" pitchFamily="49" charset="-122"/>
              <a:ea typeface="楷体_GB2312" pitchFamily="49" charset="-122"/>
              <a:cs typeface="Arial" panose="020B0604020202020204" pitchFamily="34" charset="0"/>
            </a:endParaRPr>
          </a:p>
          <a:p>
            <a:pPr algn="just">
              <a:lnSpc>
                <a:spcPct val="130000"/>
              </a:lnSpc>
              <a:buClr>
                <a:srgbClr val="CC0000"/>
              </a:buClr>
              <a:buSzPct val="70000"/>
              <a:buFont typeface="Wingdings" panose="05000000000000000000" pitchFamily="2" charset="2"/>
              <a:buNone/>
            </a:pPr>
            <a:r>
              <a:rPr lang="zh-CN" altLang="en-US" sz="2000" dirty="0">
                <a:effectLst/>
                <a:latin typeface="楷体_GB2312" pitchFamily="49" charset="-122"/>
                <a:ea typeface="楷体_GB2312" pitchFamily="49" charset="-122"/>
              </a:rPr>
              <a:t>通过目标函数值可以观察单纯形法的每次迭代是否能使目标函数值有效地减小，直至求得最优目标函数为止。   </a:t>
            </a:r>
            <a:endParaRPr lang="zh-CN" altLang="en-US" sz="2000" dirty="0">
              <a:effectLst/>
              <a:latin typeface="楷体_GB2312" pitchFamily="49" charset="-122"/>
              <a:ea typeface="楷体_GB2312" pitchFamily="49" charset="-122"/>
            </a:endParaRPr>
          </a:p>
          <a:p>
            <a:pPr algn="just" eaLnBrk="0" hangingPunct="0">
              <a:lnSpc>
                <a:spcPct val="130000"/>
              </a:lnSpc>
              <a:buClr>
                <a:srgbClr val="CC0000"/>
              </a:buClr>
              <a:buSzPct val="70000"/>
              <a:buFont typeface="Wingdings" panose="05000000000000000000" pitchFamily="2" charset="2"/>
              <a:buChar char="p"/>
            </a:pPr>
            <a:r>
              <a:rPr lang="zh-CN" altLang="en-US" sz="2000" dirty="0">
                <a:effectLst/>
                <a:latin typeface="楷体_GB2312" pitchFamily="49" charset="-122"/>
                <a:ea typeface="楷体_GB2312" pitchFamily="49" charset="-122"/>
              </a:rPr>
              <a:t>在单纯形法求解过程中，每一个基本可行解</a:t>
            </a:r>
            <a:r>
              <a:rPr lang="zh-CN" altLang="en-US" sz="2000" i="1" dirty="0">
                <a:effectLst/>
                <a:latin typeface="楷体_GB2312" pitchFamily="49" charset="-122"/>
                <a:ea typeface="楷体_GB2312" pitchFamily="49" charset="-122"/>
              </a:rPr>
              <a:t>Ｘ</a:t>
            </a:r>
            <a:r>
              <a:rPr lang="zh-CN" altLang="en-US" sz="2000" dirty="0">
                <a:effectLst/>
                <a:latin typeface="楷体_GB2312" pitchFamily="49" charset="-122"/>
                <a:ea typeface="楷体_GB2312" pitchFamily="49" charset="-122"/>
              </a:rPr>
              <a:t>都以</a:t>
            </a:r>
            <a:r>
              <a:rPr lang="zh-CN" altLang="en-US" sz="2000" dirty="0">
                <a:effectLst/>
                <a:ea typeface="楷体_GB2312" pitchFamily="49" charset="-122"/>
              </a:rPr>
              <a:t>某个经过初等行变换的</a:t>
            </a:r>
            <a:r>
              <a:rPr lang="zh-CN" altLang="en-US" sz="2000" dirty="0">
                <a:effectLst/>
                <a:latin typeface="楷体_GB2312" pitchFamily="49" charset="-122"/>
                <a:ea typeface="楷体_GB2312" pitchFamily="49" charset="-122"/>
              </a:rPr>
              <a:t>约束方程组中的单位矩阵</a:t>
            </a:r>
            <a:r>
              <a:rPr lang="el-GR" altLang="zh-CN" sz="2000" i="1" dirty="0">
                <a:solidFill>
                  <a:schemeClr val="accent2"/>
                </a:solidFill>
                <a:effectLst/>
                <a:latin typeface="楷体_GB2312" pitchFamily="49" charset="-122"/>
                <a:ea typeface="楷体_GB2312" pitchFamily="49" charset="-122"/>
              </a:rPr>
              <a:t>Ι</a:t>
            </a:r>
            <a:r>
              <a:rPr lang="zh-CN" altLang="en-US" sz="2000" i="1" dirty="0">
                <a:solidFill>
                  <a:schemeClr val="accent2"/>
                </a:solidFill>
                <a:effectLst/>
                <a:latin typeface="楷体_GB2312" pitchFamily="49" charset="-122"/>
                <a:ea typeface="楷体_GB2312" pitchFamily="49" charset="-122"/>
              </a:rPr>
              <a:t> </a:t>
            </a:r>
            <a:r>
              <a:rPr lang="zh-CN" altLang="en-US" sz="2000" dirty="0">
                <a:effectLst/>
                <a:latin typeface="楷体_GB2312" pitchFamily="49" charset="-122"/>
                <a:ea typeface="楷体_GB2312" pitchFamily="49" charset="-122"/>
              </a:rPr>
              <a:t>为可行基。</a:t>
            </a:r>
            <a:endParaRPr lang="zh-CN" altLang="en-US" sz="2000" dirty="0">
              <a:effectLst/>
              <a:latin typeface="楷体_GB2312" pitchFamily="49" charset="-122"/>
              <a:ea typeface="楷体_GB2312" pitchFamily="49" charset="-122"/>
            </a:endParaRPr>
          </a:p>
          <a:p>
            <a:pPr algn="just" eaLnBrk="0" hangingPunct="0">
              <a:lnSpc>
                <a:spcPct val="130000"/>
              </a:lnSpc>
              <a:buFont typeface="Wingdings" panose="05000000000000000000" pitchFamily="2" charset="2"/>
              <a:buNone/>
            </a:pPr>
            <a:r>
              <a:rPr lang="zh-CN" altLang="en-US" sz="2000" dirty="0">
                <a:effectLst/>
                <a:latin typeface="楷体_GB2312" pitchFamily="49" charset="-122"/>
                <a:ea typeface="楷体_GB2312" pitchFamily="49" charset="-122"/>
              </a:rPr>
              <a:t>当</a:t>
            </a:r>
            <a:r>
              <a:rPr lang="zh-CN" altLang="en-US" sz="2000" i="1" dirty="0">
                <a:effectLst/>
                <a:latin typeface="楷体_GB2312" pitchFamily="49" charset="-122"/>
                <a:ea typeface="楷体_GB2312" pitchFamily="49" charset="-122"/>
              </a:rPr>
              <a:t>Ｂ</a:t>
            </a:r>
            <a:r>
              <a:rPr lang="en-US" altLang="zh-CN" sz="2000" dirty="0">
                <a:effectLst/>
                <a:latin typeface="楷体_GB2312" pitchFamily="49" charset="-122"/>
                <a:ea typeface="楷体_GB2312" pitchFamily="49" charset="-122"/>
              </a:rPr>
              <a:t>=</a:t>
            </a:r>
            <a:r>
              <a:rPr lang="zh-CN" altLang="en-US" sz="2000" i="1" dirty="0">
                <a:effectLst/>
                <a:latin typeface="楷体_GB2312" pitchFamily="49" charset="-122"/>
                <a:ea typeface="楷体_GB2312" pitchFamily="49" charset="-122"/>
              </a:rPr>
              <a:t>Ｉ</a:t>
            </a:r>
            <a:r>
              <a:rPr lang="zh-CN" altLang="en-US" sz="2000" dirty="0">
                <a:effectLst/>
                <a:latin typeface="楷体_GB2312" pitchFamily="49" charset="-122"/>
                <a:ea typeface="楷体_GB2312" pitchFamily="49" charset="-122"/>
              </a:rPr>
              <a:t>时，</a:t>
            </a:r>
            <a:r>
              <a:rPr lang="zh-CN" altLang="en-US" sz="2000" i="1" dirty="0">
                <a:effectLst/>
                <a:latin typeface="楷体_GB2312" pitchFamily="49" charset="-122"/>
                <a:ea typeface="楷体_GB2312" pitchFamily="49" charset="-122"/>
              </a:rPr>
              <a:t>Ｂ</a:t>
            </a:r>
            <a:r>
              <a:rPr lang="en-US" altLang="zh-CN" sz="2000" i="1" baseline="30000" dirty="0">
                <a:effectLst/>
                <a:latin typeface="楷体_GB2312" pitchFamily="49" charset="-122"/>
                <a:ea typeface="楷体_GB2312" pitchFamily="49" charset="-122"/>
              </a:rPr>
              <a:t>-1</a:t>
            </a:r>
            <a:r>
              <a:rPr lang="en-US" altLang="zh-CN" sz="2000" dirty="0">
                <a:effectLst/>
                <a:latin typeface="楷体_GB2312" pitchFamily="49" charset="-122"/>
                <a:ea typeface="楷体_GB2312" pitchFamily="49" charset="-122"/>
              </a:rPr>
              <a:t>=</a:t>
            </a:r>
            <a:r>
              <a:rPr lang="zh-CN" altLang="en-US" sz="2000" i="1" dirty="0">
                <a:effectLst/>
                <a:latin typeface="楷体_GB2312" pitchFamily="49" charset="-122"/>
                <a:ea typeface="楷体_GB2312" pitchFamily="49" charset="-122"/>
              </a:rPr>
              <a:t>Ｉ</a:t>
            </a:r>
            <a:r>
              <a:rPr lang="zh-CN" altLang="en-US" sz="2000" dirty="0">
                <a:effectLst/>
                <a:latin typeface="楷体_GB2312" pitchFamily="49" charset="-122"/>
                <a:ea typeface="楷体_GB2312" pitchFamily="49" charset="-122"/>
              </a:rPr>
              <a:t>，易知：</a:t>
            </a:r>
            <a:endParaRPr lang="zh-CN" altLang="en-US" sz="2000" dirty="0">
              <a:effectLst/>
            </a:endParaRPr>
          </a:p>
        </p:txBody>
      </p:sp>
      <p:graphicFrame>
        <p:nvGraphicFramePr>
          <p:cNvPr id="9" name="Object 2"/>
          <p:cNvGraphicFramePr>
            <a:graphicFrameLocks noChangeAspect="1"/>
          </p:cNvGraphicFramePr>
          <p:nvPr/>
        </p:nvGraphicFramePr>
        <p:xfrm>
          <a:off x="4572000" y="1580727"/>
          <a:ext cx="2522538" cy="412750"/>
        </p:xfrm>
        <a:graphic>
          <a:graphicData uri="http://schemas.openxmlformats.org/presentationml/2006/ole">
            <mc:AlternateContent xmlns:mc="http://schemas.openxmlformats.org/markup-compatibility/2006">
              <mc:Choice xmlns:v="urn:schemas-microsoft-com:vml" Requires="v">
                <p:oleObj spid="_x0000_s33793" name="公式" r:id="rId1" imgW="68884800" imgH="11277600" progId="Equation.3">
                  <p:embed/>
                </p:oleObj>
              </mc:Choice>
              <mc:Fallback>
                <p:oleObj name="公式" r:id="rId1" imgW="68884800" imgH="11277600" progId="Equation.3">
                  <p:embed/>
                  <p:pic>
                    <p:nvPicPr>
                      <p:cNvPr id="0" name="图片 33792"/>
                      <p:cNvPicPr>
                        <a:picLocks noChangeAspect="1"/>
                      </p:cNvPicPr>
                      <p:nvPr/>
                    </p:nvPicPr>
                    <p:blipFill>
                      <a:blip r:embed="rId2"/>
                      <a:stretch>
                        <a:fillRect/>
                      </a:stretch>
                    </p:blipFill>
                    <p:spPr>
                      <a:xfrm>
                        <a:off x="4572000" y="1580727"/>
                        <a:ext cx="2522538" cy="412750"/>
                      </a:xfrm>
                      <a:prstGeom prst="rect">
                        <a:avLst/>
                      </a:prstGeom>
                      <a:noFill/>
                      <a:ln w="9525">
                        <a:noFill/>
                      </a:ln>
                    </p:spPr>
                  </p:pic>
                </p:oleObj>
              </mc:Fallback>
            </mc:AlternateContent>
          </a:graphicData>
        </a:graphic>
      </p:graphicFrame>
      <p:graphicFrame>
        <p:nvGraphicFramePr>
          <p:cNvPr id="10" name="Object 3"/>
          <p:cNvGraphicFramePr>
            <a:graphicFrameLocks noChangeAspect="1"/>
          </p:cNvGraphicFramePr>
          <p:nvPr/>
        </p:nvGraphicFramePr>
        <p:xfrm>
          <a:off x="5364088" y="2728218"/>
          <a:ext cx="1439863" cy="412750"/>
        </p:xfrm>
        <a:graphic>
          <a:graphicData uri="http://schemas.openxmlformats.org/presentationml/2006/ole">
            <mc:AlternateContent xmlns:mc="http://schemas.openxmlformats.org/markup-compatibility/2006">
              <mc:Choice xmlns:v="urn:schemas-microsoft-com:vml" Requires="v">
                <p:oleObj spid="_x0000_s33794" name="公式" r:id="rId3" imgW="39319200" imgH="11277600" progId="Equation.3">
                  <p:embed/>
                </p:oleObj>
              </mc:Choice>
              <mc:Fallback>
                <p:oleObj name="公式" r:id="rId3" imgW="39319200" imgH="11277600" progId="Equation.3">
                  <p:embed/>
                  <p:pic>
                    <p:nvPicPr>
                      <p:cNvPr id="0" name="图片 33793"/>
                      <p:cNvPicPr>
                        <a:picLocks noChangeAspect="1"/>
                      </p:cNvPicPr>
                      <p:nvPr/>
                    </p:nvPicPr>
                    <p:blipFill>
                      <a:blip r:embed="rId4"/>
                      <a:stretch>
                        <a:fillRect/>
                      </a:stretch>
                    </p:blipFill>
                    <p:spPr>
                      <a:xfrm>
                        <a:off x="5364088" y="2728218"/>
                        <a:ext cx="1439863" cy="412750"/>
                      </a:xfrm>
                      <a:prstGeom prst="rect">
                        <a:avLst/>
                      </a:prstGeom>
                      <a:noFill/>
                      <a:ln w="9525">
                        <a:noFill/>
                      </a:ln>
                    </p:spPr>
                  </p:pic>
                </p:oleObj>
              </mc:Fallback>
            </mc:AlternateContent>
          </a:graphicData>
        </a:graphic>
      </p:graphicFrame>
      <p:graphicFrame>
        <p:nvGraphicFramePr>
          <p:cNvPr id="11" name="Object 4"/>
          <p:cNvGraphicFramePr>
            <a:graphicFrameLocks noChangeAspect="1"/>
          </p:cNvGraphicFramePr>
          <p:nvPr/>
        </p:nvGraphicFramePr>
        <p:xfrm>
          <a:off x="4318804" y="4726186"/>
          <a:ext cx="3292475" cy="368300"/>
        </p:xfrm>
        <a:graphic>
          <a:graphicData uri="http://schemas.openxmlformats.org/presentationml/2006/ole">
            <mc:AlternateContent xmlns:mc="http://schemas.openxmlformats.org/markup-compatibility/2006">
              <mc:Choice xmlns:v="urn:schemas-microsoft-com:vml" Requires="v">
                <p:oleObj spid="_x0000_s33795" name="公式" r:id="rId5" imgW="89916000" imgH="10058400" progId="Equation.3">
                  <p:embed/>
                </p:oleObj>
              </mc:Choice>
              <mc:Fallback>
                <p:oleObj name="公式" r:id="rId5" imgW="89916000" imgH="10058400" progId="Equation.3">
                  <p:embed/>
                  <p:pic>
                    <p:nvPicPr>
                      <p:cNvPr id="0" name="图片 33794"/>
                      <p:cNvPicPr>
                        <a:picLocks noChangeAspect="1"/>
                      </p:cNvPicPr>
                      <p:nvPr/>
                    </p:nvPicPr>
                    <p:blipFill>
                      <a:blip r:embed="rId6"/>
                      <a:stretch>
                        <a:fillRect/>
                      </a:stretch>
                    </p:blipFill>
                    <p:spPr>
                      <a:xfrm>
                        <a:off x="4318804" y="4726186"/>
                        <a:ext cx="3292475" cy="3683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par>
                                <p:cTn id="8" presetID="18" presetClass="entr" presetSubtype="1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trips(downLeft)">
                                      <p:cBhvr>
                                        <p:cTn id="10" dur="500"/>
                                        <p:tgtEl>
                                          <p:spTgt spid="10"/>
                                        </p:tgtEl>
                                      </p:cBhvr>
                                    </p:animEffect>
                                  </p:childTnLst>
                                </p:cTn>
                              </p:par>
                              <p:par>
                                <p:cTn id="11" presetID="18" presetClass="entr" presetSubtype="12"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strips(downLeft)">
                                      <p:cBhvr>
                                        <p:cTn id="13" dur="500"/>
                                        <p:tgtEl>
                                          <p:spTgt spid="11"/>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ox(in)">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Times New Roman" panose="02020603050405020304" pitchFamily="18" charset="0"/>
                <a:cs typeface="Times New Roman" panose="02020603050405020304" pitchFamily="18" charset="0"/>
              </a:rPr>
              <a:t>第六节 单纯形法和对偶问题</a:t>
            </a:r>
            <a:endParaRPr lang="zh-CN" altLang="en-US" sz="3600" dirty="0">
              <a:latin typeface="Times New Roman" panose="02020603050405020304" pitchFamily="18" charset="0"/>
              <a:cs typeface="Times New Roman" panose="02020603050405020304" pitchFamily="18" charset="0"/>
            </a:endParaRPr>
          </a:p>
        </p:txBody>
      </p:sp>
      <p:cxnSp>
        <p:nvCxnSpPr>
          <p:cNvPr id="101" name="直接连接符 13"/>
          <p:cNvCxnSpPr>
            <a:cxnSpLocks noChangeShapeType="1"/>
          </p:cNvCxnSpPr>
          <p:nvPr/>
        </p:nvCxnSpPr>
        <p:spPr bwMode="auto">
          <a:xfrm>
            <a:off x="2674912" y="785794"/>
            <a:ext cx="0" cy="5157787"/>
          </a:xfrm>
          <a:prstGeom prst="line">
            <a:avLst/>
          </a:prstGeom>
          <a:noFill/>
          <a:ln w="6350" cmpd="sng">
            <a:solidFill>
              <a:schemeClr val="accent1"/>
            </a:solidFill>
            <a:round/>
          </a:ln>
        </p:spPr>
      </p:cxnSp>
      <p:grpSp>
        <p:nvGrpSpPr>
          <p:cNvPr id="3" name="组 2"/>
          <p:cNvGrpSpPr/>
          <p:nvPr/>
        </p:nvGrpSpPr>
        <p:grpSpPr>
          <a:xfrm>
            <a:off x="1643042" y="1849955"/>
            <a:ext cx="6169292" cy="642941"/>
            <a:chOff x="1643042" y="1268760"/>
            <a:chExt cx="6169292" cy="642941"/>
          </a:xfrm>
        </p:grpSpPr>
        <p:sp>
          <p:nvSpPr>
            <p:cNvPr id="102" name="椭圆 14"/>
            <p:cNvSpPr>
              <a:spLocks noChangeArrowheads="1"/>
            </p:cNvSpPr>
            <p:nvPr/>
          </p:nvSpPr>
          <p:spPr bwMode="auto">
            <a:xfrm>
              <a:off x="2606650" y="1497362"/>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4" name="组合 5"/>
            <p:cNvGrpSpPr/>
            <p:nvPr/>
          </p:nvGrpSpPr>
          <p:grpSpPr bwMode="auto">
            <a:xfrm>
              <a:off x="1643042" y="1268760"/>
              <a:ext cx="714380" cy="642941"/>
              <a:chOff x="0" y="0"/>
              <a:chExt cx="1275488" cy="1275488"/>
            </a:xfrm>
            <a:solidFill>
              <a:srgbClr val="004182"/>
            </a:solidFill>
          </p:grpSpPr>
          <p:sp>
            <p:nvSpPr>
              <p:cNvPr id="106"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07" name="文本框 17"/>
              <p:cNvSpPr txBox="1">
                <a:spLocks noChangeArrowheads="1"/>
              </p:cNvSpPr>
              <p:nvPr/>
            </p:nvSpPr>
            <p:spPr bwMode="auto">
              <a:xfrm>
                <a:off x="399726" y="231905"/>
                <a:ext cx="875762" cy="749344"/>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14" name="矩形 20"/>
            <p:cNvSpPr>
              <a:spLocks noChangeArrowheads="1"/>
            </p:cNvSpPr>
            <p:nvPr/>
          </p:nvSpPr>
          <p:spPr bwMode="auto">
            <a:xfrm>
              <a:off x="3062261" y="1321150"/>
              <a:ext cx="4750073" cy="526172"/>
            </a:xfrm>
            <a:prstGeom prst="rect">
              <a:avLst/>
            </a:prstGeom>
            <a:solidFill>
              <a:srgbClr val="004182"/>
            </a:solidFill>
            <a:ln w="9525">
              <a:noFill/>
              <a:miter lim="800000"/>
            </a:ln>
          </p:spPr>
          <p:txBody>
            <a:bodyPr anchor="ctr"/>
            <a:lstStyle/>
            <a:p>
              <a:pPr algn="ctr"/>
              <a:r>
                <a:rPr lang="zh-CN" altLang="x-none" sz="2400" b="1" dirty="0">
                  <a:solidFill>
                    <a:srgbClr val="005AA5"/>
                  </a:solidFill>
                  <a:latin typeface="Times New Roman" panose="02020603050405020304" pitchFamily="18" charset="0"/>
                  <a:ea typeface="微软雅黑" panose="020B0503020204020204" pitchFamily="34" charset="-122"/>
                  <a:cs typeface="Times New Roman" panose="02020603050405020304" pitchFamily="18" charset="0"/>
                </a:rPr>
                <a:t>单纯形法</a:t>
              </a:r>
              <a:r>
                <a:rPr lang="zh-CN" altLang="en-US" sz="2400" b="1" dirty="0">
                  <a:solidFill>
                    <a:srgbClr val="005AA5"/>
                  </a:solidFill>
                  <a:latin typeface="Times New Roman" panose="02020603050405020304" pitchFamily="18" charset="0"/>
                  <a:ea typeface="微软雅黑" panose="020B0503020204020204" pitchFamily="34" charset="-122"/>
                  <a:cs typeface="Times New Roman" panose="02020603050405020304" pitchFamily="18" charset="0"/>
                </a:rPr>
                <a:t>一般原理</a:t>
              </a:r>
              <a:endParaRPr lang="en-US" altLang="zh-CN" sz="2400" b="1" dirty="0">
                <a:solidFill>
                  <a:srgbClr val="005AA5"/>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5" name="组 3"/>
          <p:cNvGrpSpPr/>
          <p:nvPr/>
        </p:nvGrpSpPr>
        <p:grpSpPr>
          <a:xfrm>
            <a:off x="1643042" y="3938187"/>
            <a:ext cx="6169300" cy="642941"/>
            <a:chOff x="1643042" y="2439698"/>
            <a:chExt cx="6169300" cy="642941"/>
          </a:xfrm>
        </p:grpSpPr>
        <p:sp>
          <p:nvSpPr>
            <p:cNvPr id="120"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6" name="组合 5"/>
            <p:cNvGrpSpPr/>
            <p:nvPr/>
          </p:nvGrpSpPr>
          <p:grpSpPr bwMode="auto">
            <a:xfrm>
              <a:off x="1643042" y="2439698"/>
              <a:ext cx="714380" cy="642941"/>
              <a:chOff x="0" y="0"/>
              <a:chExt cx="1275488" cy="1275488"/>
            </a:xfrm>
            <a:solidFill>
              <a:srgbClr val="004182"/>
            </a:solidFill>
          </p:grpSpPr>
          <p:sp>
            <p:nvSpPr>
              <p:cNvPr id="12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2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24" name="矩形 20"/>
            <p:cNvSpPr>
              <a:spLocks noChangeArrowheads="1"/>
            </p:cNvSpPr>
            <p:nvPr/>
          </p:nvSpPr>
          <p:spPr bwMode="auto">
            <a:xfrm>
              <a:off x="3062261" y="2492088"/>
              <a:ext cx="4750081" cy="526172"/>
            </a:xfrm>
            <a:prstGeom prst="rect">
              <a:avLst/>
            </a:prstGeom>
            <a:solidFill>
              <a:srgbClr val="004182"/>
            </a:solidFill>
            <a:ln w="9525">
              <a:noFill/>
              <a:miter lim="800000"/>
            </a:ln>
          </p:spPr>
          <p:txBody>
            <a:bodyPr anchor="ctr"/>
            <a:lstStyle/>
            <a:p>
              <a:pPr algn="ctr"/>
              <a:r>
                <a:rPr lang="zh-CN" altLang="en-US"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表格</a:t>
              </a:r>
              <a:r>
                <a:rPr lang="zh-CN" altLang="x-none"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单纯形法</a:t>
              </a:r>
              <a:endParaRPr lang="en-US" altLang="zh-CN"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1" name="TextBox 10"/>
          <p:cNvSpPr txBox="1"/>
          <p:nvPr/>
        </p:nvSpPr>
        <p:spPr>
          <a:xfrm>
            <a:off x="685800" y="2409995"/>
            <a:ext cx="184731" cy="369332"/>
          </a:xfrm>
          <a:prstGeom prst="rect">
            <a:avLst/>
          </a:prstGeom>
          <a:noFill/>
        </p:spPr>
        <p:txBody>
          <a:bodyPr wrap="none" rtlCol="0">
            <a:spAutoFit/>
          </a:bodyPr>
          <a:lstStyle/>
          <a:p>
            <a:endParaRPr lang="x-none"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sz="3600" dirty="0">
                <a:latin typeface="Times New Roman" panose="02020603050405020304" pitchFamily="18" charset="0"/>
                <a:cs typeface="Times New Roman" panose="02020603050405020304" pitchFamily="18" charset="0"/>
              </a:rPr>
              <a:t>单纯形法</a:t>
            </a:r>
            <a:endParaRPr kumimoji="1" lang="zh-CN" altLang="en-US" sz="3600" dirty="0">
              <a:latin typeface="Times New Roman" panose="02020603050405020304" pitchFamily="18" charset="0"/>
              <a:cs typeface="Times New Roman" panose="02020603050405020304" pitchFamily="18" charset="0"/>
            </a:endParaRPr>
          </a:p>
        </p:txBody>
      </p:sp>
      <p:graphicFrame>
        <p:nvGraphicFramePr>
          <p:cNvPr id="12" name="Object 2"/>
          <p:cNvGraphicFramePr>
            <a:graphicFrameLocks noChangeAspect="1"/>
          </p:cNvGraphicFramePr>
          <p:nvPr/>
        </p:nvGraphicFramePr>
        <p:xfrm>
          <a:off x="611560" y="1110878"/>
          <a:ext cx="2041525" cy="1670050"/>
        </p:xfrm>
        <a:graphic>
          <a:graphicData uri="http://schemas.openxmlformats.org/presentationml/2006/ole">
            <mc:AlternateContent xmlns:mc="http://schemas.openxmlformats.org/markup-compatibility/2006">
              <mc:Choice xmlns:v="urn:schemas-microsoft-com:vml" Requires="v">
                <p:oleObj spid="_x0000_s34817" name="Equation" r:id="rId1" imgW="23469600" imgH="19202400" progId="Equation.DSMT4">
                  <p:embed/>
                </p:oleObj>
              </mc:Choice>
              <mc:Fallback>
                <p:oleObj name="Equation" r:id="rId1" imgW="23469600" imgH="19202400" progId="Equation.DSMT4">
                  <p:embed/>
                  <p:pic>
                    <p:nvPicPr>
                      <p:cNvPr id="0" name="图片 34816"/>
                      <p:cNvPicPr>
                        <a:picLocks noChangeAspect="1"/>
                      </p:cNvPicPr>
                      <p:nvPr/>
                    </p:nvPicPr>
                    <p:blipFill>
                      <a:blip r:embed="rId2"/>
                      <a:stretch>
                        <a:fillRect/>
                      </a:stretch>
                    </p:blipFill>
                    <p:spPr>
                      <a:xfrm>
                        <a:off x="611560" y="1110878"/>
                        <a:ext cx="2041525" cy="1670050"/>
                      </a:xfrm>
                      <a:prstGeom prst="rect">
                        <a:avLst/>
                      </a:prstGeom>
                      <a:noFill/>
                      <a:ln w="9525">
                        <a:noFill/>
                      </a:ln>
                    </p:spPr>
                  </p:pic>
                </p:oleObj>
              </mc:Fallback>
            </mc:AlternateContent>
          </a:graphicData>
        </a:graphic>
      </p:graphicFrame>
      <p:graphicFrame>
        <p:nvGraphicFramePr>
          <p:cNvPr id="15" name="Object 3"/>
          <p:cNvGraphicFramePr>
            <a:graphicFrameLocks noChangeAspect="1"/>
          </p:cNvGraphicFramePr>
          <p:nvPr/>
        </p:nvGraphicFramePr>
        <p:xfrm>
          <a:off x="690438" y="2619995"/>
          <a:ext cx="3665538" cy="1889125"/>
        </p:xfrm>
        <a:graphic>
          <a:graphicData uri="http://schemas.openxmlformats.org/presentationml/2006/ole">
            <mc:AlternateContent xmlns:mc="http://schemas.openxmlformats.org/markup-compatibility/2006">
              <mc:Choice xmlns:v="urn:schemas-microsoft-com:vml" Requires="v">
                <p:oleObj spid="_x0000_s34818" name="Equation" r:id="rId3" imgW="40233600" imgH="20726400" progId="Equation.DSMT4">
                  <p:embed/>
                </p:oleObj>
              </mc:Choice>
              <mc:Fallback>
                <p:oleObj name="Equation" r:id="rId3" imgW="40233600" imgH="20726400" progId="Equation.DSMT4">
                  <p:embed/>
                  <p:pic>
                    <p:nvPicPr>
                      <p:cNvPr id="0" name="图片 34817"/>
                      <p:cNvPicPr>
                        <a:picLocks noChangeAspect="1"/>
                      </p:cNvPicPr>
                      <p:nvPr/>
                    </p:nvPicPr>
                    <p:blipFill>
                      <a:blip r:embed="rId4"/>
                      <a:stretch>
                        <a:fillRect/>
                      </a:stretch>
                    </p:blipFill>
                    <p:spPr>
                      <a:xfrm>
                        <a:off x="690438" y="2619995"/>
                        <a:ext cx="3665538" cy="1889125"/>
                      </a:xfrm>
                      <a:prstGeom prst="rect">
                        <a:avLst/>
                      </a:prstGeom>
                      <a:noFill/>
                      <a:ln w="9525">
                        <a:noFill/>
                      </a:ln>
                    </p:spPr>
                  </p:pic>
                </p:oleObj>
              </mc:Fallback>
            </mc:AlternateContent>
          </a:graphicData>
        </a:graphic>
      </p:graphicFrame>
      <p:graphicFrame>
        <p:nvGraphicFramePr>
          <p:cNvPr id="16" name="Object 4"/>
          <p:cNvGraphicFramePr>
            <a:graphicFrameLocks noChangeAspect="1"/>
          </p:cNvGraphicFramePr>
          <p:nvPr/>
        </p:nvGraphicFramePr>
        <p:xfrm>
          <a:off x="660847" y="4349775"/>
          <a:ext cx="3767137" cy="1887537"/>
        </p:xfrm>
        <a:graphic>
          <a:graphicData uri="http://schemas.openxmlformats.org/presentationml/2006/ole">
            <mc:AlternateContent xmlns:mc="http://schemas.openxmlformats.org/markup-compatibility/2006">
              <mc:Choice xmlns:v="urn:schemas-microsoft-com:vml" Requires="v">
                <p:oleObj spid="_x0000_s34819" name="Equation" r:id="rId5" imgW="43891200" imgH="20726400" progId="Equation.DSMT4">
                  <p:embed/>
                </p:oleObj>
              </mc:Choice>
              <mc:Fallback>
                <p:oleObj name="Equation" r:id="rId5" imgW="43891200" imgH="20726400" progId="Equation.DSMT4">
                  <p:embed/>
                  <p:pic>
                    <p:nvPicPr>
                      <p:cNvPr id="0" name="图片 34818"/>
                      <p:cNvPicPr>
                        <a:picLocks noChangeAspect="1"/>
                      </p:cNvPicPr>
                      <p:nvPr/>
                    </p:nvPicPr>
                    <p:blipFill>
                      <a:blip r:embed="rId6"/>
                      <a:stretch>
                        <a:fillRect/>
                      </a:stretch>
                    </p:blipFill>
                    <p:spPr>
                      <a:xfrm>
                        <a:off x="660847" y="4349775"/>
                        <a:ext cx="3767137" cy="1887537"/>
                      </a:xfrm>
                      <a:prstGeom prst="rect">
                        <a:avLst/>
                      </a:prstGeom>
                      <a:noFill/>
                      <a:ln w="9525">
                        <a:noFill/>
                      </a:ln>
                    </p:spPr>
                  </p:pic>
                </p:oleObj>
              </mc:Fallback>
            </mc:AlternateContent>
          </a:graphicData>
        </a:graphic>
      </p:graphicFrame>
      <p:sp>
        <p:nvSpPr>
          <p:cNvPr id="17" name="Rectangle 5"/>
          <p:cNvSpPr>
            <a:spLocks noChangeArrowheads="1"/>
          </p:cNvSpPr>
          <p:nvPr/>
        </p:nvSpPr>
        <p:spPr bwMode="auto">
          <a:xfrm>
            <a:off x="137269" y="547485"/>
            <a:ext cx="7772400" cy="8382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400">
                <a:solidFill>
                  <a:schemeClr val="tx2"/>
                </a:solidFill>
                <a:latin typeface="Times New Roman" panose="02020603050405020304" pitchFamily="18" charset="0"/>
                <a:ea typeface="宋体" panose="02010600030101010101" pitchFamily="2" charset="-122"/>
              </a:defRPr>
            </a:lvl1pPr>
            <a:lvl2pPr>
              <a:defRPr kumimoji="1" sz="4400">
                <a:solidFill>
                  <a:schemeClr val="tx2"/>
                </a:solidFill>
                <a:latin typeface="Times New Roman" panose="02020603050405020304" pitchFamily="18" charset="0"/>
                <a:ea typeface="宋体" panose="02010600030101010101" pitchFamily="2" charset="-122"/>
              </a:defRPr>
            </a:lvl2pPr>
            <a:lvl3pPr>
              <a:defRPr kumimoji="1" sz="4400">
                <a:solidFill>
                  <a:schemeClr val="tx2"/>
                </a:solidFill>
                <a:latin typeface="Times New Roman" panose="02020603050405020304" pitchFamily="18" charset="0"/>
                <a:ea typeface="宋体" panose="02010600030101010101" pitchFamily="2" charset="-122"/>
              </a:defRPr>
            </a:lvl3pPr>
            <a:lvl4pPr>
              <a:defRPr kumimoji="1" sz="4400">
                <a:solidFill>
                  <a:schemeClr val="tx2"/>
                </a:solidFill>
                <a:latin typeface="Times New Roman" panose="02020603050405020304" pitchFamily="18" charset="0"/>
                <a:ea typeface="宋体" panose="02010600030101010101" pitchFamily="2" charset="-122"/>
              </a:defRPr>
            </a:lvl4pPr>
            <a:lvl5pP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zh-CN" altLang="en-US" sz="2800" b="1" dirty="0">
                <a:solidFill>
                  <a:schemeClr val="tx1"/>
                </a:solidFill>
                <a:effectLst/>
                <a:ea typeface="楷体_GB2312" pitchFamily="49" charset="-122"/>
              </a:rPr>
              <a:t>线性规划问题基变换的表格表示</a:t>
            </a:r>
            <a:endParaRPr lang="zh-CN" altLang="en-US" sz="2800" b="1" dirty="0">
              <a:solidFill>
                <a:schemeClr val="tx1"/>
              </a:solidFill>
              <a:effectLst/>
              <a:ea typeface="楷体_GB2312" pitchFamily="49" charset="-122"/>
            </a:endParaRPr>
          </a:p>
        </p:txBody>
      </p:sp>
      <p:graphicFrame>
        <p:nvGraphicFramePr>
          <p:cNvPr id="18" name="Group 6"/>
          <p:cNvGraphicFramePr>
            <a:graphicFrameLocks noGrp="1"/>
          </p:cNvGraphicFramePr>
          <p:nvPr/>
        </p:nvGraphicFramePr>
        <p:xfrm>
          <a:off x="4670762" y="1220405"/>
          <a:ext cx="4116387" cy="1139826"/>
        </p:xfrm>
        <a:graphic>
          <a:graphicData uri="http://schemas.openxmlformats.org/drawingml/2006/table">
            <a:tbl>
              <a:tblPr/>
              <a:tblGrid>
                <a:gridCol w="3313112"/>
                <a:gridCol w="803275"/>
              </a:tblGrid>
              <a:tr h="458788">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rPr>
                        <a:t>C</a:t>
                      </a:r>
                      <a:endPar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5400" cap="flat" cmpd="sng" algn="ctr">
                      <a:solidFill>
                        <a:srgbClr val="00FFFF"/>
                      </a:solidFill>
                      <a:prstDash val="solid"/>
                      <a:round/>
                      <a:headEnd type="none" w="med" len="med"/>
                      <a:tailEnd type="none" w="med" len="med"/>
                    </a:lnL>
                    <a:lnR w="12700" cap="flat" cmpd="sng" algn="ctr">
                      <a:solidFill>
                        <a:srgbClr val="FF3300"/>
                      </a:solidFill>
                      <a:prstDash val="solid"/>
                      <a:round/>
                      <a:headEnd type="none" w="med" len="med"/>
                      <a:tailEnd type="none" w="med" len="med"/>
                    </a:lnR>
                    <a:lnT cap="flat">
                      <a:noFill/>
                    </a:lnT>
                    <a:lnB w="25400" cap="flat" cmpd="sng" algn="ctr">
                      <a:solidFill>
                        <a:srgbClr val="00FFFF"/>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rPr>
                        <a:t>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FF3300"/>
                      </a:solidFill>
                      <a:prstDash val="solid"/>
                      <a:round/>
                      <a:headEnd type="none" w="med" len="med"/>
                      <a:tailEnd type="none" w="med" len="med"/>
                    </a:lnL>
                    <a:lnR w="25400" cap="flat" cmpd="sng" algn="ctr">
                      <a:solidFill>
                        <a:srgbClr val="00FFFF"/>
                      </a:solidFill>
                      <a:prstDash val="solid"/>
                      <a:round/>
                      <a:headEnd type="none" w="med" len="med"/>
                      <a:tailEnd type="none" w="med" len="med"/>
                    </a:lnR>
                    <a:lnT cap="flat">
                      <a:noFill/>
                    </a:lnT>
                    <a:lnB w="25400" cap="flat" cmpd="sng" algn="ctr">
                      <a:solidFill>
                        <a:srgbClr val="00FFFF"/>
                      </a:solidFill>
                      <a:prstDash val="solid"/>
                      <a:round/>
                      <a:headEnd type="none" w="med" len="med"/>
                      <a:tailEnd type="none" w="med" len="med"/>
                    </a:lnB>
                    <a:lnTlToBr>
                      <a:noFill/>
                    </a:lnTlToBr>
                    <a:lnBlToTr>
                      <a:noFill/>
                    </a:lnBlToTr>
                    <a:solidFill>
                      <a:srgbClr val="008000"/>
                    </a:solidFill>
                  </a:tcPr>
                </a:tc>
              </a:tr>
              <a:tr h="681038">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dirty="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25400" cap="flat" cmpd="sng" algn="ctr">
                      <a:solidFill>
                        <a:srgbClr val="00FFFF"/>
                      </a:solidFill>
                      <a:prstDash val="solid"/>
                      <a:round/>
                      <a:headEnd type="none" w="med" len="med"/>
                      <a:tailEnd type="none" w="med" len="med"/>
                    </a:lnL>
                    <a:lnR w="12700" cap="flat" cmpd="sng" algn="ctr">
                      <a:solidFill>
                        <a:srgbClr val="FF3300"/>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0080"/>
                    </a:solid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dirty="0">
                          <a:ln>
                            <a:noFill/>
                          </a:ln>
                          <a:solidFill>
                            <a:srgbClr val="FFFFFF"/>
                          </a:solidFill>
                          <a:effectLst/>
                          <a:latin typeface="Times New Roman" panose="02020603050405020304" pitchFamily="18" charset="0"/>
                          <a:ea typeface="宋体" panose="02010600030101010101" pitchFamily="2" charset="-122"/>
                        </a:rPr>
                        <a:t>b</a:t>
                      </a:r>
                      <a:endParaRPr kumimoji="1"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FF3300"/>
                      </a:solidFill>
                      <a:prstDash val="solid"/>
                      <a:round/>
                      <a:headEnd type="none" w="med" len="med"/>
                      <a:tailEnd type="none" w="med" len="med"/>
                    </a:lnL>
                    <a:lnR w="25400" cap="flat" cmpd="sng" algn="ctr">
                      <a:solidFill>
                        <a:srgbClr val="00FFFF"/>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0080"/>
                    </a:solidFill>
                  </a:tcPr>
                </a:tc>
              </a:tr>
            </a:tbl>
          </a:graphicData>
        </a:graphic>
      </p:graphicFrame>
      <p:graphicFrame>
        <p:nvGraphicFramePr>
          <p:cNvPr id="19" name="Group 17"/>
          <p:cNvGraphicFramePr>
            <a:graphicFrameLocks noGrp="1"/>
          </p:cNvGraphicFramePr>
          <p:nvPr/>
        </p:nvGraphicFramePr>
        <p:xfrm>
          <a:off x="4679950" y="2781300"/>
          <a:ext cx="4140200" cy="1162050"/>
        </p:xfrm>
        <a:graphic>
          <a:graphicData uri="http://schemas.openxmlformats.org/drawingml/2006/table">
            <a:tbl>
              <a:tblPr/>
              <a:tblGrid>
                <a:gridCol w="1103313"/>
                <a:gridCol w="2105025"/>
                <a:gridCol w="931862"/>
              </a:tblGrid>
              <a:tr h="241300">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rPr>
                        <a:t>C</a:t>
                      </a:r>
                      <a:r>
                        <a:rPr kumimoji="1" lang="en-US" altLang="zh-CN" sz="2400" b="1" i="1" u="none" strike="noStrike" cap="none" normalizeH="0" baseline="-30000">
                          <a:ln>
                            <a:noFill/>
                          </a:ln>
                          <a:solidFill>
                            <a:srgbClr val="FFFFFF"/>
                          </a:solidFill>
                          <a:effectLst/>
                          <a:latin typeface="Times New Roman" panose="02020603050405020304" pitchFamily="18" charset="0"/>
                          <a:ea typeface="宋体" panose="02010600030101010101" pitchFamily="2" charset="-122"/>
                        </a:rPr>
                        <a:t>B</a:t>
                      </a:r>
                      <a:endPar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5400" cap="flat" cmpd="sng" algn="ctr">
                      <a:solidFill>
                        <a:srgbClr val="00FFFF"/>
                      </a:solidFill>
                      <a:prstDash val="solid"/>
                      <a:round/>
                      <a:headEnd type="none" w="med" len="med"/>
                      <a:tailEnd type="none" w="med" len="med"/>
                    </a:lnL>
                    <a:lnR w="25400" cap="flat" cmpd="sng" algn="ctr">
                      <a:solidFill>
                        <a:srgbClr val="00FFFF"/>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rPr>
                        <a:t>C</a:t>
                      </a:r>
                      <a:r>
                        <a:rPr kumimoji="1" lang="en-US" altLang="zh-CN" sz="2400" b="1" i="1" u="none" strike="noStrike" cap="none" normalizeH="0" baseline="-30000">
                          <a:ln>
                            <a:noFill/>
                          </a:ln>
                          <a:solidFill>
                            <a:srgbClr val="FFFFFF"/>
                          </a:solidFill>
                          <a:effectLst/>
                          <a:latin typeface="Times New Roman" panose="02020603050405020304" pitchFamily="18" charset="0"/>
                          <a:ea typeface="宋体" panose="02010600030101010101" pitchFamily="2" charset="-122"/>
                        </a:rPr>
                        <a:t>N</a:t>
                      </a:r>
                      <a:endPar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5400" cap="flat" cmpd="sng" algn="ctr">
                      <a:solidFill>
                        <a:srgbClr val="00FFFF"/>
                      </a:solidFill>
                      <a:prstDash val="solid"/>
                      <a:round/>
                      <a:headEnd type="none" w="med" len="med"/>
                      <a:tailEnd type="none" w="med" len="med"/>
                    </a:lnL>
                    <a:lnR w="12700" cap="flat" cmpd="sng" algn="ctr">
                      <a:solidFill>
                        <a:srgbClr val="FF6600"/>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rPr>
                        <a:t>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FF6600"/>
                      </a:solidFill>
                      <a:prstDash val="solid"/>
                      <a:round/>
                      <a:headEnd type="none" w="med" len="med"/>
                      <a:tailEnd type="none" w="med" len="med"/>
                    </a:lnL>
                    <a:lnR w="25400" cap="flat" cmpd="sng" algn="ctr">
                      <a:solidFill>
                        <a:srgbClr val="00FFFF"/>
                      </a:solidFill>
                      <a:prstDash val="solid"/>
                      <a:round/>
                      <a:headEnd type="none" w="med" len="med"/>
                      <a:tailEnd type="none" w="med" len="med"/>
                    </a:lnR>
                    <a:lnT cap="flat">
                      <a:noFill/>
                    </a:lnT>
                    <a:lnB w="25400" cap="flat" cmpd="sng" algn="ctr">
                      <a:solidFill>
                        <a:srgbClr val="00FFFF"/>
                      </a:solidFill>
                      <a:prstDash val="solid"/>
                      <a:round/>
                      <a:headEnd type="none" w="med" len="med"/>
                      <a:tailEnd type="none" w="med" len="med"/>
                    </a:lnB>
                    <a:lnTlToBr>
                      <a:noFill/>
                    </a:lnTlToBr>
                    <a:lnBlToTr>
                      <a:noFill/>
                    </a:lnBlToTr>
                    <a:solidFill>
                      <a:srgbClr val="008000"/>
                    </a:solidFill>
                  </a:tcPr>
                </a:tc>
              </a:tr>
              <a:tr h="704850">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24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25400" cap="flat" cmpd="sng" algn="ctr">
                      <a:solidFill>
                        <a:srgbClr val="00FFFF"/>
                      </a:solidFill>
                      <a:prstDash val="solid"/>
                      <a:round/>
                      <a:headEnd type="none" w="med" len="med"/>
                      <a:tailEnd type="none" w="med" len="med"/>
                    </a:lnL>
                    <a:lnR w="25400" cap="flat" cmpd="sng" algn="ctr">
                      <a:solidFill>
                        <a:srgbClr val="00FFFF"/>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0080"/>
                    </a:solid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1" lang="en-US" altLang="zh-CN" sz="24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25400" cap="flat" cmpd="sng" algn="ctr">
                      <a:solidFill>
                        <a:srgbClr val="00FFFF"/>
                      </a:solidFill>
                      <a:prstDash val="solid"/>
                      <a:round/>
                      <a:headEnd type="none" w="med" len="med"/>
                      <a:tailEnd type="none" w="med" len="med"/>
                    </a:lnL>
                    <a:lnR w="12700" cap="flat" cmpd="sng" algn="ctr">
                      <a:solidFill>
                        <a:srgbClr val="FF6600"/>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0080"/>
                    </a:solid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rPr>
                        <a:t>b</a:t>
                      </a:r>
                      <a:endPar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FF6600"/>
                      </a:solidFill>
                      <a:prstDash val="solid"/>
                      <a:round/>
                      <a:headEnd type="none" w="med" len="med"/>
                      <a:tailEnd type="none" w="med" len="med"/>
                    </a:lnL>
                    <a:lnR w="25400" cap="flat" cmpd="sng" algn="ctr">
                      <a:solidFill>
                        <a:srgbClr val="00FFFF"/>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0080"/>
                    </a:solidFill>
                  </a:tcPr>
                </a:tc>
              </a:tr>
            </a:tbl>
          </a:graphicData>
        </a:graphic>
      </p:graphicFrame>
      <p:graphicFrame>
        <p:nvGraphicFramePr>
          <p:cNvPr id="20" name="Group 32"/>
          <p:cNvGraphicFramePr>
            <a:graphicFrameLocks noGrp="1"/>
          </p:cNvGraphicFramePr>
          <p:nvPr/>
        </p:nvGraphicFramePr>
        <p:xfrm>
          <a:off x="4679950" y="4724400"/>
          <a:ext cx="4140200" cy="1182688"/>
        </p:xfrm>
        <a:graphic>
          <a:graphicData uri="http://schemas.openxmlformats.org/drawingml/2006/table">
            <a:tbl>
              <a:tblPr/>
              <a:tblGrid>
                <a:gridCol w="1103313"/>
                <a:gridCol w="2105025"/>
                <a:gridCol w="931862"/>
              </a:tblGrid>
              <a:tr h="241300">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rPr>
                        <a:t>C</a:t>
                      </a:r>
                      <a:r>
                        <a:rPr kumimoji="1" lang="en-US" altLang="zh-CN" sz="2400" b="1" i="1" u="none" strike="noStrike" cap="none" normalizeH="0" baseline="-30000">
                          <a:ln>
                            <a:noFill/>
                          </a:ln>
                          <a:solidFill>
                            <a:srgbClr val="FFFFFF"/>
                          </a:solidFill>
                          <a:effectLst/>
                          <a:latin typeface="Times New Roman" panose="02020603050405020304" pitchFamily="18" charset="0"/>
                          <a:ea typeface="宋体" panose="02010600030101010101" pitchFamily="2" charset="-122"/>
                        </a:rPr>
                        <a:t>B</a:t>
                      </a:r>
                      <a:endPar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5400" cap="flat" cmpd="sng" algn="ctr">
                      <a:solidFill>
                        <a:srgbClr val="00FFFF"/>
                      </a:solidFill>
                      <a:prstDash val="solid"/>
                      <a:round/>
                      <a:headEnd type="none" w="med" len="med"/>
                      <a:tailEnd type="none" w="med" len="med"/>
                    </a:lnL>
                    <a:lnR w="25400" cap="flat" cmpd="sng" algn="ctr">
                      <a:solidFill>
                        <a:srgbClr val="00FFFF"/>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rPr>
                        <a:t>C</a:t>
                      </a:r>
                      <a:r>
                        <a:rPr kumimoji="1" lang="en-US" altLang="zh-CN" sz="2400" b="1" i="1" u="none" strike="noStrike" cap="none" normalizeH="0" baseline="-30000">
                          <a:ln>
                            <a:noFill/>
                          </a:ln>
                          <a:solidFill>
                            <a:srgbClr val="FFFFFF"/>
                          </a:solidFill>
                          <a:effectLst/>
                          <a:latin typeface="Times New Roman" panose="02020603050405020304" pitchFamily="18" charset="0"/>
                          <a:ea typeface="宋体" panose="02010600030101010101" pitchFamily="2" charset="-122"/>
                        </a:rPr>
                        <a:t>N</a:t>
                      </a:r>
                      <a:endPar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5400" cap="flat" cmpd="sng" algn="ctr">
                      <a:solidFill>
                        <a:srgbClr val="00FFFF"/>
                      </a:solidFill>
                      <a:prstDash val="solid"/>
                      <a:round/>
                      <a:headEnd type="none" w="med" len="med"/>
                      <a:tailEnd type="none" w="med" len="med"/>
                    </a:lnL>
                    <a:lnR w="12700" cap="flat" cmpd="sng" algn="ctr">
                      <a:solidFill>
                        <a:srgbClr val="FF6600"/>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rPr>
                        <a:t>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FF6600"/>
                      </a:solidFill>
                      <a:prstDash val="solid"/>
                      <a:round/>
                      <a:headEnd type="none" w="med" len="med"/>
                      <a:tailEnd type="none" w="med" len="med"/>
                    </a:lnL>
                    <a:lnR w="25400" cap="flat" cmpd="sng" algn="ctr">
                      <a:solidFill>
                        <a:srgbClr val="00FFFF"/>
                      </a:solidFill>
                      <a:prstDash val="solid"/>
                      <a:round/>
                      <a:headEnd type="none" w="med" len="med"/>
                      <a:tailEnd type="none" w="med" len="med"/>
                    </a:lnR>
                    <a:lnT cap="flat">
                      <a:noFill/>
                    </a:lnT>
                    <a:lnB w="25400" cap="flat" cmpd="sng" algn="ctr">
                      <a:solidFill>
                        <a:srgbClr val="00FFFF"/>
                      </a:solidFill>
                      <a:prstDash val="solid"/>
                      <a:round/>
                      <a:headEnd type="none" w="med" len="med"/>
                      <a:tailEnd type="none" w="med" len="med"/>
                    </a:lnB>
                    <a:lnTlToBr>
                      <a:noFill/>
                    </a:lnTlToBr>
                    <a:lnBlToTr>
                      <a:noFill/>
                    </a:lnBlToTr>
                    <a:solidFill>
                      <a:srgbClr val="008000"/>
                    </a:solidFill>
                  </a:tcPr>
                </a:tc>
              </a:tr>
              <a:tr h="725488">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I</a:t>
                      </a:r>
                      <a:endParaRPr kumimoji="1" lang="en-US" altLang="zh-CN" sz="24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25400" cap="flat" cmpd="sng" algn="ctr">
                      <a:solidFill>
                        <a:srgbClr val="00FFFF"/>
                      </a:solidFill>
                      <a:prstDash val="solid"/>
                      <a:round/>
                      <a:headEnd type="none" w="med" len="med"/>
                      <a:tailEnd type="none" w="med" len="med"/>
                    </a:lnL>
                    <a:lnR w="25400" cap="flat" cmpd="sng" algn="ctr">
                      <a:solidFill>
                        <a:srgbClr val="00FFFF"/>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0080"/>
                    </a:solid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1" lang="en-US" altLang="zh-CN" sz="2400" b="1" i="0" u="none" strike="noStrike" cap="none" normalizeH="0" baseline="3000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1" lang="en-US" altLang="zh-CN" sz="24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25400" cap="flat" cmpd="sng" algn="ctr">
                      <a:solidFill>
                        <a:srgbClr val="00FFFF"/>
                      </a:solidFill>
                      <a:prstDash val="solid"/>
                      <a:round/>
                      <a:headEnd type="none" w="med" len="med"/>
                      <a:tailEnd type="none" w="med" len="med"/>
                    </a:lnL>
                    <a:lnR w="12700" cap="flat" cmpd="sng" algn="ctr">
                      <a:solidFill>
                        <a:srgbClr val="FF6600"/>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0080"/>
                    </a:solid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1" i="1"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1" lang="en-US" altLang="zh-CN" sz="2400" b="1" i="0" u="none" strike="noStrike" cap="none" normalizeH="0" baseline="3000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4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rPr>
                        <a:t>b</a:t>
                      </a:r>
                      <a:endParaRPr kumimoji="1" lang="en-US" altLang="zh-CN" sz="2400" b="1" i="0" u="none" strike="noStrike" cap="none" normalizeH="0" baseline="0">
                        <a:ln>
                          <a:noFill/>
                        </a:ln>
                        <a:solidFill>
                          <a:srgbClr val="FFFF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FF6600"/>
                      </a:solidFill>
                      <a:prstDash val="solid"/>
                      <a:round/>
                      <a:headEnd type="none" w="med" len="med"/>
                      <a:tailEnd type="none" w="med" len="med"/>
                    </a:lnL>
                    <a:lnR w="25400" cap="flat" cmpd="sng" algn="ctr">
                      <a:solidFill>
                        <a:srgbClr val="00FFFF"/>
                      </a:solidFill>
                      <a:prstDash val="solid"/>
                      <a:round/>
                      <a:headEnd type="none" w="med" len="med"/>
                      <a:tailEnd type="none" w="med" len="med"/>
                    </a:lnR>
                    <a:lnT w="25400" cap="flat" cmpd="sng" algn="ctr">
                      <a:solidFill>
                        <a:srgbClr val="00FFFF"/>
                      </a:solidFill>
                      <a:prstDash val="solid"/>
                      <a:round/>
                      <a:headEnd type="none" w="med" len="med"/>
                      <a:tailEnd type="none" w="med" len="med"/>
                    </a:lnT>
                    <a:lnB w="25400" cap="flat" cmpd="sng" algn="ctr">
                      <a:solidFill>
                        <a:srgbClr val="00FFFF"/>
                      </a:solidFill>
                      <a:prstDash val="solid"/>
                      <a:round/>
                      <a:headEnd type="none" w="med" len="med"/>
                      <a:tailEnd type="none" w="med" len="med"/>
                    </a:lnB>
                    <a:lnTlToBr>
                      <a:noFill/>
                    </a:lnTlToBr>
                    <a:lnBlToTr>
                      <a:noFill/>
                    </a:lnBlToTr>
                    <a:solidFill>
                      <a:srgbClr val="000080"/>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x-none" dirty="0">
                <a:latin typeface="Times New Roman" panose="02020603050405020304" pitchFamily="18" charset="0"/>
                <a:cs typeface="Times New Roman" panose="02020603050405020304" pitchFamily="18" charset="0"/>
              </a:rPr>
              <a:t>单纯形表</a:t>
            </a:r>
            <a:endParaRPr kumimoji="1" lang="en-US" altLang="zh-CN" dirty="0">
              <a:latin typeface="Times New Roman" panose="02020603050405020304" pitchFamily="18" charset="0"/>
              <a:cs typeface="Times New Roman" panose="02020603050405020304" pitchFamily="18" charset="0"/>
            </a:endParaRPr>
          </a:p>
        </p:txBody>
      </p:sp>
      <p:sp>
        <p:nvSpPr>
          <p:cNvPr id="7" name="Rectangle 2"/>
          <p:cNvSpPr>
            <a:spLocks noChangeArrowheads="1"/>
          </p:cNvSpPr>
          <p:nvPr/>
        </p:nvSpPr>
        <p:spPr bwMode="auto">
          <a:xfrm>
            <a:off x="533400" y="1052736"/>
            <a:ext cx="80772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dirty="0">
                <a:effectLst/>
                <a:latin typeface="宋体" panose="02010600030101010101" pitchFamily="2" charset="-122"/>
              </a:rPr>
              <a:t>  </a:t>
            </a:r>
            <a:r>
              <a:rPr lang="zh-CN" altLang="en-US" sz="2000" b="1" dirty="0">
                <a:effectLst/>
                <a:latin typeface="宋体" panose="02010600030101010101" pitchFamily="2" charset="-122"/>
                <a:ea typeface="楷体_GB2312" pitchFamily="49" charset="-122"/>
              </a:rPr>
              <a:t>可将这些重要结论的计算设计成如下一个简单的表格，</a:t>
            </a:r>
            <a:endParaRPr lang="zh-CN" altLang="en-US" sz="2000" b="1" dirty="0">
              <a:effectLst/>
              <a:latin typeface="宋体" panose="02010600030101010101" pitchFamily="2" charset="-122"/>
              <a:ea typeface="楷体_GB2312" pitchFamily="49" charset="-122"/>
            </a:endParaRPr>
          </a:p>
          <a:p>
            <a:pPr algn="just"/>
            <a:r>
              <a:rPr lang="zh-CN" altLang="en-US" sz="2000" b="1" dirty="0">
                <a:effectLst/>
                <a:latin typeface="宋体" panose="02010600030101010101" pitchFamily="2" charset="-122"/>
                <a:ea typeface="楷体_GB2312" pitchFamily="49" charset="-122"/>
              </a:rPr>
              <a:t>即</a:t>
            </a:r>
            <a:r>
              <a:rPr lang="zh-CN" altLang="en-US" sz="2000" b="1" dirty="0">
                <a:solidFill>
                  <a:srgbClr val="FF0000"/>
                </a:solidFill>
                <a:effectLst/>
                <a:latin typeface="宋体" panose="02010600030101010101" pitchFamily="2" charset="-122"/>
                <a:ea typeface="楷体_GB2312" pitchFamily="49" charset="-122"/>
              </a:rPr>
              <a:t>单纯形表</a:t>
            </a:r>
            <a:r>
              <a:rPr lang="zh-CN" altLang="en-US" sz="2000" b="1" dirty="0">
                <a:effectLst/>
                <a:latin typeface="宋体" panose="02010600030101010101" pitchFamily="2" charset="-122"/>
                <a:ea typeface="楷体_GB2312" pitchFamily="49" charset="-122"/>
              </a:rPr>
              <a:t>来完成：</a:t>
            </a:r>
            <a:endParaRPr lang="zh-CN" altLang="en-US" sz="2000" b="1" dirty="0">
              <a:effectLst/>
              <a:ea typeface="楷体_GB2312" pitchFamily="49" charset="-122"/>
            </a:endParaRPr>
          </a:p>
        </p:txBody>
      </p:sp>
      <p:graphicFrame>
        <p:nvGraphicFramePr>
          <p:cNvPr id="8" name="Group 5"/>
          <p:cNvGraphicFramePr>
            <a:graphicFrameLocks noGrp="1"/>
          </p:cNvGraphicFramePr>
          <p:nvPr/>
        </p:nvGraphicFramePr>
        <p:xfrm>
          <a:off x="604838" y="1949800"/>
          <a:ext cx="7777162" cy="3711448"/>
        </p:xfrm>
        <a:graphic>
          <a:graphicData uri="http://schemas.openxmlformats.org/drawingml/2006/table">
            <a:tbl>
              <a:tblPr/>
              <a:tblGrid>
                <a:gridCol w="703262"/>
                <a:gridCol w="703263"/>
                <a:gridCol w="738187"/>
                <a:gridCol w="2344738"/>
                <a:gridCol w="2611437"/>
                <a:gridCol w="676275"/>
              </a:tblGrid>
              <a:tr h="504825">
                <a:tc gridSpan="3">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r>
                        <a:rPr kumimoji="1" lang="en-US" altLang="zh-CN" sz="24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endParaRPr kumimoji="1" lang="en-US" altLang="zh-CN" sz="24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θ</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6575">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X</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x</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1</a:t>
                      </a: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x</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2</a:t>
                      </a: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a:t>
                      </a: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x</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x</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m+1 </a:t>
                      </a: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x</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m+2  </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a:t>
                      </a: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x</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935038">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2</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x</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x</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2</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x</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2</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4000" b="1" i="1" u="none" strike="noStrike" cap="none" normalizeH="0" baseline="0">
                          <a:ln>
                            <a:noFill/>
                          </a:ln>
                          <a:solidFill>
                            <a:schemeClr val="tx1"/>
                          </a:solidFill>
                          <a:effectLst/>
                          <a:latin typeface="宋体" panose="02010600030101010101" pitchFamily="2" charset="-122"/>
                          <a:ea typeface="宋体" panose="02010600030101010101" pitchFamily="2" charset="-122"/>
                        </a:rPr>
                        <a:t>I</a:t>
                      </a:r>
                      <a:r>
                        <a:rPr kumimoji="1" lang="en-US" altLang="zh-CN" sz="4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4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4000" b="1" i="1"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a:t>
                      </a:r>
                      <a:r>
                        <a:rPr kumimoji="1" lang="en-US" altLang="zh-CN" sz="4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4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θ</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θ</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2</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θ</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913">
                <a:tc gridSpan="2">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Z</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0</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a:t>
                      </a:r>
                      <a:r>
                        <a:rPr kumimoji="1" lang="en-US" altLang="zh-CN" sz="2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C</a:t>
                      </a:r>
                      <a:r>
                        <a:rPr kumimoji="1" lang="en-US" altLang="zh-CN" sz="2400" b="1" i="0" u="none" strike="noStrike" cap="none" normalizeH="0" baseline="-3000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B</a:t>
                      </a:r>
                      <a:r>
                        <a:rPr kumimoji="1"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x-none" altLang="x-none"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x-none" dirty="0">
                <a:latin typeface="Times New Roman" panose="02020603050405020304" pitchFamily="18" charset="0"/>
                <a:cs typeface="Times New Roman" panose="02020603050405020304" pitchFamily="18" charset="0"/>
              </a:rPr>
              <a:t>单纯形表</a:t>
            </a:r>
            <a:endParaRPr kumimoji="1" lang="en-US" altLang="zh-CN" dirty="0">
              <a:latin typeface="Times New Roman" panose="02020603050405020304" pitchFamily="18" charset="0"/>
              <a:cs typeface="Times New Roman" panose="02020603050405020304" pitchFamily="18" charset="0"/>
            </a:endParaRPr>
          </a:p>
        </p:txBody>
      </p:sp>
      <p:sp>
        <p:nvSpPr>
          <p:cNvPr id="7" name="Rectangle 2"/>
          <p:cNvSpPr>
            <a:spLocks noChangeArrowheads="1"/>
          </p:cNvSpPr>
          <p:nvPr/>
        </p:nvSpPr>
        <p:spPr bwMode="auto">
          <a:xfrm>
            <a:off x="506680" y="1132627"/>
            <a:ext cx="8001000"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000" b="1" dirty="0">
                <a:effectLst/>
                <a:latin typeface="楷体_GB2312" pitchFamily="49" charset="-122"/>
                <a:ea typeface="楷体_GB2312" pitchFamily="49" charset="-122"/>
              </a:rPr>
              <a:t>　</a:t>
            </a:r>
            <a:r>
              <a:rPr lang="zh-CN" altLang="en-US" sz="2400" b="1" dirty="0">
                <a:solidFill>
                  <a:srgbClr val="7030A0"/>
                </a:solidFill>
                <a:effectLst/>
                <a:latin typeface="楷体_GB2312" pitchFamily="49" charset="-122"/>
                <a:ea typeface="楷体_GB2312" pitchFamily="49" charset="-122"/>
              </a:rPr>
              <a:t>例</a:t>
            </a:r>
            <a:r>
              <a:rPr lang="en-US" altLang="zh-CN" sz="2400" b="1" dirty="0">
                <a:solidFill>
                  <a:srgbClr val="7030A0"/>
                </a:solidFill>
                <a:effectLst/>
                <a:latin typeface="楷体_GB2312" pitchFamily="49" charset="-122"/>
                <a:ea typeface="楷体_GB2312" pitchFamily="49" charset="-122"/>
                <a:cs typeface="Arial" panose="020B0604020202020204" pitchFamily="34" charset="0"/>
              </a:rPr>
              <a:t>2</a:t>
            </a:r>
            <a:r>
              <a:rPr lang="zh-CN" altLang="en-US" sz="2000" b="1" dirty="0">
                <a:effectLst/>
                <a:latin typeface="楷体_GB2312" pitchFamily="49" charset="-122"/>
                <a:ea typeface="楷体_GB2312" pitchFamily="49" charset="-122"/>
              </a:rPr>
              <a:t>、试利用单纯形表求例</a:t>
            </a:r>
            <a:r>
              <a:rPr lang="en-US" altLang="zh-CN" sz="2000" b="1" dirty="0">
                <a:effectLst/>
                <a:latin typeface="楷体_GB2312" pitchFamily="49" charset="-122"/>
                <a:ea typeface="楷体_GB2312" pitchFamily="49" charset="-122"/>
              </a:rPr>
              <a:t>1</a:t>
            </a:r>
            <a:r>
              <a:rPr lang="zh-CN" altLang="en-US" sz="2000" b="1" dirty="0">
                <a:effectLst/>
                <a:latin typeface="楷体_GB2312" pitchFamily="49" charset="-122"/>
                <a:ea typeface="楷体_GB2312" pitchFamily="49" charset="-122"/>
              </a:rPr>
              <a:t>中的最优解解：</a:t>
            </a:r>
            <a:endParaRPr lang="zh-CN" altLang="en-US" sz="2000" b="1" dirty="0">
              <a:effectLst/>
              <a:latin typeface="楷体_GB2312" pitchFamily="49" charset="-122"/>
              <a:ea typeface="楷体_GB2312" pitchFamily="49" charset="-122"/>
            </a:endParaRPr>
          </a:p>
          <a:p>
            <a:pPr algn="just" eaLnBrk="0" hangingPunct="0"/>
            <a:endParaRPr lang="zh-CN" altLang="en-US" sz="2000" b="1" dirty="0">
              <a:effectLst/>
              <a:latin typeface="楷体_GB2312" pitchFamily="49" charset="-122"/>
              <a:ea typeface="楷体_GB2312" pitchFamily="49" charset="-122"/>
            </a:endParaRPr>
          </a:p>
          <a:p>
            <a:pPr algn="just" eaLnBrk="0" hangingPunct="0"/>
            <a:endParaRPr lang="zh-CN" altLang="en-US" sz="2000" b="1" dirty="0">
              <a:effectLst/>
              <a:latin typeface="楷体_GB2312" pitchFamily="49" charset="-122"/>
              <a:ea typeface="楷体_GB2312" pitchFamily="49" charset="-122"/>
            </a:endParaRPr>
          </a:p>
          <a:p>
            <a:pPr algn="just" eaLnBrk="0" hangingPunct="0"/>
            <a:endParaRPr lang="zh-CN" altLang="en-US" sz="2000" b="1" dirty="0">
              <a:effectLst/>
              <a:latin typeface="楷体_GB2312" pitchFamily="49" charset="-122"/>
              <a:ea typeface="楷体_GB2312" pitchFamily="49" charset="-122"/>
            </a:endParaRPr>
          </a:p>
          <a:p>
            <a:pPr algn="just" eaLnBrk="0" hangingPunct="0"/>
            <a:endParaRPr lang="zh-CN" altLang="en-US" sz="2000" b="1" dirty="0">
              <a:effectLst/>
              <a:latin typeface="楷体_GB2312" pitchFamily="49" charset="-122"/>
              <a:ea typeface="楷体_GB2312" pitchFamily="49" charset="-122"/>
            </a:endParaRPr>
          </a:p>
          <a:p>
            <a:pPr algn="just" eaLnBrk="0" hangingPunct="0"/>
            <a:r>
              <a:rPr lang="zh-CN" altLang="en-US" sz="2000" b="1" dirty="0">
                <a:effectLst/>
                <a:latin typeface="楷体_GB2312" pitchFamily="49" charset="-122"/>
                <a:ea typeface="楷体_GB2312" pitchFamily="49" charset="-122"/>
              </a:rPr>
              <a:t>　　</a:t>
            </a:r>
            <a:endParaRPr lang="zh-CN" altLang="en-US" sz="2000" b="1" dirty="0">
              <a:effectLst/>
              <a:latin typeface="楷体_GB2312" pitchFamily="49" charset="-122"/>
              <a:ea typeface="楷体_GB2312" pitchFamily="49" charset="-122"/>
            </a:endParaRPr>
          </a:p>
        </p:txBody>
      </p:sp>
      <p:graphicFrame>
        <p:nvGraphicFramePr>
          <p:cNvPr id="8" name="Object 31"/>
          <p:cNvGraphicFramePr>
            <a:graphicFrameLocks noChangeAspect="1"/>
          </p:cNvGraphicFramePr>
          <p:nvPr/>
        </p:nvGraphicFramePr>
        <p:xfrm>
          <a:off x="1427985" y="4345357"/>
          <a:ext cx="2919412" cy="355600"/>
        </p:xfrm>
        <a:graphic>
          <a:graphicData uri="http://schemas.openxmlformats.org/presentationml/2006/ole">
            <mc:AlternateContent xmlns:mc="http://schemas.openxmlformats.org/markup-compatibility/2006">
              <mc:Choice xmlns:v="urn:schemas-microsoft-com:vml" Requires="v">
                <p:oleObj spid="_x0000_s35841" name="Equation" r:id="rId1" imgW="32004000" imgH="4876800" progId="Equation.DSMT4">
                  <p:embed/>
                </p:oleObj>
              </mc:Choice>
              <mc:Fallback>
                <p:oleObj name="Equation" r:id="rId1" imgW="32004000" imgH="4876800" progId="Equation.DSMT4">
                  <p:embed/>
                  <p:pic>
                    <p:nvPicPr>
                      <p:cNvPr id="0" name="图片 35840"/>
                      <p:cNvPicPr>
                        <a:picLocks noChangeAspect="1"/>
                      </p:cNvPicPr>
                      <p:nvPr/>
                    </p:nvPicPr>
                    <p:blipFill>
                      <a:blip r:embed="rId2"/>
                      <a:stretch>
                        <a:fillRect/>
                      </a:stretch>
                    </p:blipFill>
                    <p:spPr>
                      <a:xfrm>
                        <a:off x="1427985" y="4345357"/>
                        <a:ext cx="2919412" cy="355600"/>
                      </a:xfrm>
                      <a:prstGeom prst="rect">
                        <a:avLst/>
                      </a:prstGeom>
                      <a:noFill/>
                      <a:ln w="9525">
                        <a:noFill/>
                      </a:ln>
                    </p:spPr>
                  </p:pic>
                </p:oleObj>
              </mc:Fallback>
            </mc:AlternateContent>
          </a:graphicData>
        </a:graphic>
      </p:graphicFrame>
      <p:graphicFrame>
        <p:nvGraphicFramePr>
          <p:cNvPr id="9" name="Object 32"/>
          <p:cNvGraphicFramePr>
            <a:graphicFrameLocks noChangeAspect="1"/>
          </p:cNvGraphicFramePr>
          <p:nvPr/>
        </p:nvGraphicFramePr>
        <p:xfrm>
          <a:off x="4858419" y="4090564"/>
          <a:ext cx="3240088" cy="865187"/>
        </p:xfrm>
        <a:graphic>
          <a:graphicData uri="http://schemas.openxmlformats.org/presentationml/2006/ole">
            <mc:AlternateContent xmlns:mc="http://schemas.openxmlformats.org/markup-compatibility/2006">
              <mc:Choice xmlns:v="urn:schemas-microsoft-com:vml" Requires="v">
                <p:oleObj spid="_x0000_s35842" name="Equation" r:id="rId3" imgW="41148000" imgH="10972800" progId="Equation.DSMT4">
                  <p:embed/>
                </p:oleObj>
              </mc:Choice>
              <mc:Fallback>
                <p:oleObj name="Equation" r:id="rId3" imgW="41148000" imgH="10972800" progId="Equation.DSMT4">
                  <p:embed/>
                  <p:pic>
                    <p:nvPicPr>
                      <p:cNvPr id="0" name="图片 35841"/>
                      <p:cNvPicPr>
                        <a:picLocks noChangeAspect="1"/>
                      </p:cNvPicPr>
                      <p:nvPr/>
                    </p:nvPicPr>
                    <p:blipFill>
                      <a:blip r:embed="rId4"/>
                      <a:stretch>
                        <a:fillRect/>
                      </a:stretch>
                    </p:blipFill>
                    <p:spPr>
                      <a:xfrm>
                        <a:off x="4858419" y="4090564"/>
                        <a:ext cx="3240088" cy="865187"/>
                      </a:xfrm>
                      <a:prstGeom prst="rect">
                        <a:avLst/>
                      </a:prstGeom>
                      <a:noFill/>
                      <a:ln w="9525">
                        <a:noFill/>
                      </a:ln>
                    </p:spPr>
                  </p:pic>
                </p:oleObj>
              </mc:Fallback>
            </mc:AlternateContent>
          </a:graphicData>
        </a:graphic>
      </p:graphicFrame>
      <p:graphicFrame>
        <p:nvGraphicFramePr>
          <p:cNvPr id="10" name="Object 33"/>
          <p:cNvGraphicFramePr>
            <a:graphicFrameLocks noChangeAspect="1"/>
          </p:cNvGraphicFramePr>
          <p:nvPr/>
        </p:nvGraphicFramePr>
        <p:xfrm>
          <a:off x="1980542" y="1682363"/>
          <a:ext cx="3984500" cy="1802110"/>
        </p:xfrm>
        <a:graphic>
          <a:graphicData uri="http://schemas.openxmlformats.org/presentationml/2006/ole">
            <mc:AlternateContent xmlns:mc="http://schemas.openxmlformats.org/markup-compatibility/2006">
              <mc:Choice xmlns:v="urn:schemas-microsoft-com:vml" Requires="v">
                <p:oleObj spid="_x0000_s35843" name="Equation" r:id="rId5" imgW="49987200" imgH="22555200" progId="Equation.DSMT4">
                  <p:embed/>
                </p:oleObj>
              </mc:Choice>
              <mc:Fallback>
                <p:oleObj name="Equation" r:id="rId5" imgW="49987200" imgH="22555200" progId="Equation.DSMT4">
                  <p:embed/>
                  <p:pic>
                    <p:nvPicPr>
                      <p:cNvPr id="0" name="图片 35842"/>
                      <p:cNvPicPr>
                        <a:picLocks noChangeAspect="1"/>
                      </p:cNvPicPr>
                      <p:nvPr/>
                    </p:nvPicPr>
                    <p:blipFill>
                      <a:blip r:embed="rId6"/>
                      <a:stretch>
                        <a:fillRect/>
                      </a:stretch>
                    </p:blipFill>
                    <p:spPr>
                      <a:xfrm>
                        <a:off x="1980542" y="1682363"/>
                        <a:ext cx="3984500" cy="1802110"/>
                      </a:xfrm>
                      <a:prstGeom prst="rect">
                        <a:avLst/>
                      </a:prstGeom>
                      <a:noFill/>
                      <a:ln w="9525">
                        <a:noFill/>
                      </a:ln>
                    </p:spPr>
                  </p:pic>
                </p:oleObj>
              </mc:Fallback>
            </mc:AlternateContent>
          </a:graphicData>
        </a:graphic>
      </p:graphicFrame>
      <p:sp>
        <p:nvSpPr>
          <p:cNvPr id="49" name="Rectangle 1"/>
          <p:cNvSpPr>
            <a:spLocks noChangeArrowheads="1"/>
          </p:cNvSpPr>
          <p:nvPr/>
        </p:nvSpPr>
        <p:spPr bwMode="auto">
          <a:xfrm>
            <a:off x="1255541" y="3780920"/>
            <a:ext cx="69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b="1" dirty="0">
                <a:solidFill>
                  <a:schemeClr val="accent2"/>
                </a:solidFill>
                <a:effectLst/>
                <a:ea typeface="楷体_GB2312" pitchFamily="49" charset="-122"/>
              </a:rPr>
              <a:t>解：</a:t>
            </a:r>
            <a:endParaRPr lang="zh-CN" altLang="en-US" sz="2000" b="1" dirty="0">
              <a:solidFill>
                <a:schemeClr val="accent2"/>
              </a:solidFill>
              <a:effectLst/>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blinds(horizontal)">
                                      <p:cBhvr>
                                        <p:cTn id="2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x-none" dirty="0">
                <a:latin typeface="Times New Roman" panose="02020603050405020304" pitchFamily="18" charset="0"/>
                <a:cs typeface="Times New Roman" panose="02020603050405020304" pitchFamily="18" charset="0"/>
              </a:rPr>
              <a:t>单纯形表</a:t>
            </a:r>
            <a:endParaRPr kumimoji="1" lang="zh-CN" altLang="en-US" dirty="0">
              <a:latin typeface="Times New Roman" panose="02020603050405020304" pitchFamily="18" charset="0"/>
              <a:cs typeface="Times New Roman" panose="02020603050405020304" pitchFamily="18" charset="0"/>
            </a:endParaRPr>
          </a:p>
        </p:txBody>
      </p:sp>
      <p:sp>
        <p:nvSpPr>
          <p:cNvPr id="9" name="Rectangle 41"/>
          <p:cNvSpPr>
            <a:spLocks noChangeArrowheads="1"/>
          </p:cNvSpPr>
          <p:nvPr/>
        </p:nvSpPr>
        <p:spPr bwMode="auto">
          <a:xfrm>
            <a:off x="250825" y="4870723"/>
            <a:ext cx="800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2000" b="1">
                <a:effectLst/>
                <a:latin typeface="楷体_GB2312" pitchFamily="49" charset="-122"/>
                <a:ea typeface="楷体_GB2312" pitchFamily="49" charset="-122"/>
              </a:rPr>
              <a:t>　初始基本可行解　　　　　　　　　　，</a:t>
            </a:r>
            <a:r>
              <a:rPr lang="en-US" altLang="zh-CN" sz="2000" b="1">
                <a:effectLst/>
                <a:latin typeface="楷体_GB2312" pitchFamily="49" charset="-122"/>
                <a:ea typeface="楷体_GB2312" pitchFamily="49" charset="-122"/>
                <a:cs typeface="Arial" panose="020B0604020202020204" pitchFamily="34" charset="0"/>
              </a:rPr>
              <a:t>Z= </a:t>
            </a:r>
            <a:r>
              <a:rPr lang="en-US" altLang="zh-CN" sz="2000" b="1">
                <a:effectLst/>
                <a:latin typeface="楷体_GB2312" pitchFamily="49" charset="-122"/>
                <a:ea typeface="楷体_GB2312" pitchFamily="49" charset="-122"/>
              </a:rPr>
              <a:t>1</a:t>
            </a:r>
            <a:r>
              <a:rPr lang="zh-CN" altLang="en-US" sz="2000" b="1">
                <a:effectLst/>
                <a:latin typeface="楷体_GB2312" pitchFamily="49" charset="-122"/>
                <a:ea typeface="楷体_GB2312" pitchFamily="49" charset="-122"/>
              </a:rPr>
              <a:t>，</a:t>
            </a:r>
            <a:endParaRPr lang="zh-CN" altLang="en-US" sz="2000" b="1">
              <a:effectLst/>
              <a:latin typeface="楷体_GB2312" pitchFamily="49" charset="-122"/>
              <a:ea typeface="楷体_GB2312" pitchFamily="49" charset="-122"/>
            </a:endParaRPr>
          </a:p>
        </p:txBody>
      </p:sp>
      <p:graphicFrame>
        <p:nvGraphicFramePr>
          <p:cNvPr id="12" name="Object 42"/>
          <p:cNvGraphicFramePr>
            <a:graphicFrameLocks noChangeAspect="1"/>
          </p:cNvGraphicFramePr>
          <p:nvPr/>
        </p:nvGraphicFramePr>
        <p:xfrm>
          <a:off x="2771775" y="4870723"/>
          <a:ext cx="2519363" cy="441325"/>
        </p:xfrm>
        <a:graphic>
          <a:graphicData uri="http://schemas.openxmlformats.org/presentationml/2006/ole">
            <mc:AlternateContent xmlns:mc="http://schemas.openxmlformats.org/markup-compatibility/2006">
              <mc:Choice xmlns:v="urn:schemas-microsoft-com:vml" Requires="v">
                <p:oleObj spid="_x0000_s36865" name="Equation" r:id="rId1" imgW="23164800" imgH="5486400" progId="Equation.DSMT4">
                  <p:embed/>
                </p:oleObj>
              </mc:Choice>
              <mc:Fallback>
                <p:oleObj name="Equation" r:id="rId1" imgW="23164800" imgH="5486400" progId="Equation.DSMT4">
                  <p:embed/>
                  <p:pic>
                    <p:nvPicPr>
                      <p:cNvPr id="0" name="图片 36864"/>
                      <p:cNvPicPr>
                        <a:picLocks noChangeAspect="1"/>
                      </p:cNvPicPr>
                      <p:nvPr/>
                    </p:nvPicPr>
                    <p:blipFill>
                      <a:blip r:embed="rId2"/>
                      <a:stretch>
                        <a:fillRect/>
                      </a:stretch>
                    </p:blipFill>
                    <p:spPr>
                      <a:xfrm>
                        <a:off x="2771775" y="4870723"/>
                        <a:ext cx="2519363" cy="441325"/>
                      </a:xfrm>
                      <a:prstGeom prst="rect">
                        <a:avLst/>
                      </a:prstGeom>
                      <a:noFill/>
                      <a:ln w="9525">
                        <a:noFill/>
                      </a:ln>
                    </p:spPr>
                  </p:pic>
                </p:oleObj>
              </mc:Fallback>
            </mc:AlternateContent>
          </a:graphicData>
        </a:graphic>
      </p:graphicFrame>
      <p:sp>
        <p:nvSpPr>
          <p:cNvPr id="13" name="Rectangle 2"/>
          <p:cNvSpPr>
            <a:spLocks noChangeArrowheads="1"/>
          </p:cNvSpPr>
          <p:nvPr/>
        </p:nvSpPr>
        <p:spPr bwMode="auto">
          <a:xfrm>
            <a:off x="7596188" y="3049861"/>
            <a:ext cx="792162"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endParaRPr lang="x-none" altLang="x-none" sz="2000" b="1">
              <a:effectLst/>
              <a:latin typeface="Arial" panose="020B0604020202020204" pitchFamily="34" charset="0"/>
              <a:cs typeface="Times New Roman" panose="02020603050405020304" pitchFamily="18" charset="0"/>
            </a:endParaRPr>
          </a:p>
        </p:txBody>
      </p:sp>
      <p:sp>
        <p:nvSpPr>
          <p:cNvPr id="14" name="Rectangle 3"/>
          <p:cNvSpPr>
            <a:spLocks noChangeArrowheads="1"/>
          </p:cNvSpPr>
          <p:nvPr/>
        </p:nvSpPr>
        <p:spPr bwMode="auto">
          <a:xfrm>
            <a:off x="3132138" y="3049861"/>
            <a:ext cx="44640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1          2          2          1         0</a:t>
            </a:r>
            <a:endParaRPr lang="en-US" altLang="zh-CN" sz="2000" b="1">
              <a:effectLst/>
              <a:latin typeface="Arial" panose="020B0604020202020204" pitchFamily="34" charset="0"/>
            </a:endParaRPr>
          </a:p>
        </p:txBody>
      </p:sp>
      <p:sp>
        <p:nvSpPr>
          <p:cNvPr id="15" name="Rectangle 4"/>
          <p:cNvSpPr>
            <a:spLocks noChangeArrowheads="1"/>
          </p:cNvSpPr>
          <p:nvPr/>
        </p:nvSpPr>
        <p:spPr bwMode="auto">
          <a:xfrm>
            <a:off x="2268538" y="3049861"/>
            <a:ext cx="86360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8</a:t>
            </a:r>
            <a:endParaRPr lang="en-US" altLang="zh-CN" sz="2000" b="1">
              <a:effectLst/>
              <a:latin typeface="Arial" panose="020B0604020202020204" pitchFamily="34" charset="0"/>
            </a:endParaRPr>
          </a:p>
        </p:txBody>
      </p:sp>
      <p:sp>
        <p:nvSpPr>
          <p:cNvPr id="16" name="Rectangle 5"/>
          <p:cNvSpPr>
            <a:spLocks noChangeArrowheads="1"/>
          </p:cNvSpPr>
          <p:nvPr/>
        </p:nvSpPr>
        <p:spPr bwMode="auto">
          <a:xfrm>
            <a:off x="1476375" y="3049861"/>
            <a:ext cx="792163"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4</a:t>
            </a:r>
            <a:endParaRPr lang="en-US" altLang="zh-CN" sz="2000" b="1">
              <a:effectLst/>
              <a:latin typeface="Arial" panose="020B0604020202020204" pitchFamily="34" charset="0"/>
            </a:endParaRPr>
          </a:p>
        </p:txBody>
      </p:sp>
      <p:sp>
        <p:nvSpPr>
          <p:cNvPr id="17" name="Rectangle 6"/>
          <p:cNvSpPr>
            <a:spLocks noChangeArrowheads="1"/>
          </p:cNvSpPr>
          <p:nvPr/>
        </p:nvSpPr>
        <p:spPr bwMode="auto">
          <a:xfrm>
            <a:off x="684213" y="3049861"/>
            <a:ext cx="792162"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endParaRPr>
          </a:p>
        </p:txBody>
      </p:sp>
      <p:sp>
        <p:nvSpPr>
          <p:cNvPr id="18" name="Rectangle 7"/>
          <p:cNvSpPr>
            <a:spLocks noChangeArrowheads="1"/>
          </p:cNvSpPr>
          <p:nvPr/>
        </p:nvSpPr>
        <p:spPr bwMode="auto">
          <a:xfrm>
            <a:off x="7596188" y="3972198"/>
            <a:ext cx="7921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latin typeface="Arial" panose="020B0604020202020204" pitchFamily="34" charset="0"/>
            </a:endParaRPr>
          </a:p>
        </p:txBody>
      </p:sp>
      <p:sp>
        <p:nvSpPr>
          <p:cNvPr id="19" name="Rectangle 8"/>
          <p:cNvSpPr>
            <a:spLocks noChangeArrowheads="1"/>
          </p:cNvSpPr>
          <p:nvPr/>
        </p:nvSpPr>
        <p:spPr bwMode="auto">
          <a:xfrm>
            <a:off x="3132138" y="3972198"/>
            <a:ext cx="446405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3         0        </a:t>
            </a:r>
            <a:r>
              <a:rPr lang="zh-CN" altLang="en-US" sz="2000" b="1">
                <a:effectLst/>
                <a:latin typeface="Arial" panose="020B0604020202020204" pitchFamily="34" charset="0"/>
                <a:cs typeface="Arial" panose="020B0604020202020204" pitchFamily="34" charset="0"/>
              </a:rPr>
              <a:t>－ </a:t>
            </a:r>
            <a:r>
              <a:rPr lang="en-US" altLang="zh-CN" sz="2000" b="1">
                <a:effectLst/>
                <a:latin typeface="Arial" panose="020B0604020202020204" pitchFamily="34" charset="0"/>
                <a:cs typeface="Arial" panose="020B0604020202020204" pitchFamily="34" charset="0"/>
              </a:rPr>
              <a:t>4        0        0</a:t>
            </a:r>
            <a:endParaRPr lang="en-US" altLang="zh-CN" sz="2000" b="1">
              <a:effectLst/>
              <a:latin typeface="Arial" panose="020B0604020202020204" pitchFamily="34" charset="0"/>
              <a:cs typeface="Arial" panose="020B0604020202020204" pitchFamily="34" charset="0"/>
            </a:endParaRPr>
          </a:p>
        </p:txBody>
      </p:sp>
      <p:sp>
        <p:nvSpPr>
          <p:cNvPr id="20" name="Rectangle 9"/>
          <p:cNvSpPr>
            <a:spLocks noChangeArrowheads="1"/>
          </p:cNvSpPr>
          <p:nvPr/>
        </p:nvSpPr>
        <p:spPr bwMode="auto">
          <a:xfrm>
            <a:off x="2268538" y="3972198"/>
            <a:ext cx="8636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endParaRPr>
          </a:p>
        </p:txBody>
      </p:sp>
      <p:sp>
        <p:nvSpPr>
          <p:cNvPr id="21" name="Rectangle 10"/>
          <p:cNvSpPr>
            <a:spLocks noChangeArrowheads="1"/>
          </p:cNvSpPr>
          <p:nvPr/>
        </p:nvSpPr>
        <p:spPr bwMode="auto">
          <a:xfrm>
            <a:off x="684213" y="3972198"/>
            <a:ext cx="15843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Z</a:t>
            </a:r>
            <a:endParaRPr lang="en-US" altLang="zh-CN" sz="2000" b="1">
              <a:effectLst/>
              <a:latin typeface="Arial" panose="020B0604020202020204" pitchFamily="34" charset="0"/>
            </a:endParaRPr>
          </a:p>
        </p:txBody>
      </p:sp>
      <p:sp>
        <p:nvSpPr>
          <p:cNvPr id="22" name="Rectangle 11"/>
          <p:cNvSpPr>
            <a:spLocks noChangeArrowheads="1"/>
          </p:cNvSpPr>
          <p:nvPr/>
        </p:nvSpPr>
        <p:spPr bwMode="auto">
          <a:xfrm>
            <a:off x="7596188" y="3546748"/>
            <a:ext cx="792162"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endParaRPr lang="x-none" altLang="x-none" sz="2000" b="1">
              <a:effectLst/>
              <a:latin typeface="Arial" panose="020B0604020202020204" pitchFamily="34" charset="0"/>
            </a:endParaRPr>
          </a:p>
        </p:txBody>
      </p:sp>
      <p:sp>
        <p:nvSpPr>
          <p:cNvPr id="23" name="Rectangle 12"/>
          <p:cNvSpPr>
            <a:spLocks noChangeArrowheads="1"/>
          </p:cNvSpPr>
          <p:nvPr/>
        </p:nvSpPr>
        <p:spPr bwMode="auto">
          <a:xfrm>
            <a:off x="3132138" y="3546748"/>
            <a:ext cx="446405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2000" b="1">
                <a:effectLst/>
                <a:latin typeface="Arial" panose="020B0604020202020204" pitchFamily="34" charset="0"/>
                <a:cs typeface="Arial" panose="020B0604020202020204" pitchFamily="34" charset="0"/>
              </a:rPr>
              <a:t>      3          4          1           0        1</a:t>
            </a:r>
            <a:endParaRPr lang="en-US" altLang="zh-CN" sz="2000" b="1">
              <a:effectLst/>
              <a:latin typeface="Arial" panose="020B0604020202020204" pitchFamily="34" charset="0"/>
            </a:endParaRPr>
          </a:p>
        </p:txBody>
      </p:sp>
      <p:sp>
        <p:nvSpPr>
          <p:cNvPr id="24" name="Rectangle 13"/>
          <p:cNvSpPr>
            <a:spLocks noChangeArrowheads="1"/>
          </p:cNvSpPr>
          <p:nvPr/>
        </p:nvSpPr>
        <p:spPr bwMode="auto">
          <a:xfrm>
            <a:off x="2268538" y="3546748"/>
            <a:ext cx="8636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7</a:t>
            </a:r>
            <a:endParaRPr lang="en-US" altLang="zh-CN" sz="2000" b="1">
              <a:effectLst/>
              <a:latin typeface="Arial" panose="020B0604020202020204" pitchFamily="34" charset="0"/>
            </a:endParaRPr>
          </a:p>
        </p:txBody>
      </p:sp>
      <p:sp>
        <p:nvSpPr>
          <p:cNvPr id="25" name="Rectangle 14"/>
          <p:cNvSpPr>
            <a:spLocks noChangeArrowheads="1"/>
          </p:cNvSpPr>
          <p:nvPr/>
        </p:nvSpPr>
        <p:spPr bwMode="auto">
          <a:xfrm>
            <a:off x="1476375" y="3546748"/>
            <a:ext cx="792163"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5</a:t>
            </a:r>
            <a:endParaRPr lang="en-US" altLang="zh-CN" sz="2000" b="1">
              <a:effectLst/>
              <a:latin typeface="Arial" panose="020B0604020202020204" pitchFamily="34" charset="0"/>
            </a:endParaRPr>
          </a:p>
        </p:txBody>
      </p:sp>
      <p:sp>
        <p:nvSpPr>
          <p:cNvPr id="26" name="Rectangle 15"/>
          <p:cNvSpPr>
            <a:spLocks noChangeArrowheads="1"/>
          </p:cNvSpPr>
          <p:nvPr/>
        </p:nvSpPr>
        <p:spPr bwMode="auto">
          <a:xfrm>
            <a:off x="684213" y="3546748"/>
            <a:ext cx="792162"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cs typeface="Arial" panose="020B0604020202020204" pitchFamily="34" charset="0"/>
            </a:endParaRPr>
          </a:p>
        </p:txBody>
      </p:sp>
      <p:sp>
        <p:nvSpPr>
          <p:cNvPr id="27" name="Rectangle 16"/>
          <p:cNvSpPr>
            <a:spLocks noChangeArrowheads="1"/>
          </p:cNvSpPr>
          <p:nvPr/>
        </p:nvSpPr>
        <p:spPr bwMode="auto">
          <a:xfrm>
            <a:off x="3132138" y="2557736"/>
            <a:ext cx="446405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1</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2</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3</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4</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5</a:t>
            </a:r>
            <a:endParaRPr lang="en-US" altLang="zh-CN" sz="2000" b="1">
              <a:effectLst/>
              <a:latin typeface="Arial" panose="020B0604020202020204" pitchFamily="34" charset="0"/>
            </a:endParaRPr>
          </a:p>
        </p:txBody>
      </p:sp>
      <p:sp>
        <p:nvSpPr>
          <p:cNvPr id="28" name="Rectangle 17"/>
          <p:cNvSpPr>
            <a:spLocks noChangeArrowheads="1"/>
          </p:cNvSpPr>
          <p:nvPr/>
        </p:nvSpPr>
        <p:spPr bwMode="auto">
          <a:xfrm>
            <a:off x="2268538" y="2557736"/>
            <a:ext cx="86360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b</a:t>
            </a:r>
            <a:endParaRPr lang="en-US" altLang="zh-CN" sz="2000" b="1">
              <a:effectLst/>
              <a:latin typeface="Arial" panose="020B0604020202020204" pitchFamily="34" charset="0"/>
            </a:endParaRPr>
          </a:p>
        </p:txBody>
      </p:sp>
      <p:sp>
        <p:nvSpPr>
          <p:cNvPr id="29" name="Rectangle 18"/>
          <p:cNvSpPr>
            <a:spLocks noChangeArrowheads="1"/>
          </p:cNvSpPr>
          <p:nvPr/>
        </p:nvSpPr>
        <p:spPr bwMode="auto">
          <a:xfrm>
            <a:off x="1476375" y="2557736"/>
            <a:ext cx="79216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B</a:t>
            </a:r>
            <a:endParaRPr lang="en-US" altLang="zh-CN" sz="2000" b="1">
              <a:effectLst/>
              <a:latin typeface="Arial" panose="020B0604020202020204" pitchFamily="34" charset="0"/>
            </a:endParaRPr>
          </a:p>
        </p:txBody>
      </p:sp>
      <p:sp>
        <p:nvSpPr>
          <p:cNvPr id="30" name="Rectangle 19"/>
          <p:cNvSpPr>
            <a:spLocks noChangeArrowheads="1"/>
          </p:cNvSpPr>
          <p:nvPr/>
        </p:nvSpPr>
        <p:spPr bwMode="auto">
          <a:xfrm>
            <a:off x="684213" y="2557736"/>
            <a:ext cx="79216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C</a:t>
            </a:r>
            <a:r>
              <a:rPr lang="en-US" altLang="zh-CN" sz="2000" b="1" baseline="-30000">
                <a:effectLst/>
                <a:latin typeface="Arial" panose="020B0604020202020204" pitchFamily="34" charset="0"/>
                <a:cs typeface="Arial" panose="020B0604020202020204" pitchFamily="34" charset="0"/>
              </a:rPr>
              <a:t>B</a:t>
            </a:r>
            <a:endParaRPr lang="en-US" altLang="zh-CN" sz="2000" b="1">
              <a:effectLst/>
              <a:latin typeface="Arial" panose="020B0604020202020204" pitchFamily="34" charset="0"/>
            </a:endParaRPr>
          </a:p>
        </p:txBody>
      </p:sp>
      <p:sp>
        <p:nvSpPr>
          <p:cNvPr id="32" name="Rectangle 20"/>
          <p:cNvSpPr>
            <a:spLocks noChangeArrowheads="1"/>
          </p:cNvSpPr>
          <p:nvPr/>
        </p:nvSpPr>
        <p:spPr bwMode="auto">
          <a:xfrm>
            <a:off x="7596188" y="2060848"/>
            <a:ext cx="792162" cy="98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l-GR" altLang="zh-CN" sz="2000" b="1" i="1">
                <a:effectLst/>
                <a:latin typeface="Arial" panose="020B0604020202020204" pitchFamily="34" charset="0"/>
                <a:cs typeface="Arial" panose="020B0604020202020204" pitchFamily="34" charset="0"/>
              </a:rPr>
              <a:t>θ</a:t>
            </a:r>
            <a:endParaRPr lang="el-GR" altLang="zh-CN" sz="2000" b="1" i="1">
              <a:effectLst/>
              <a:latin typeface="Arial" panose="020B0604020202020204" pitchFamily="34" charset="0"/>
              <a:cs typeface="Arial" panose="020B0604020202020204" pitchFamily="34" charset="0"/>
            </a:endParaRPr>
          </a:p>
        </p:txBody>
      </p:sp>
      <p:sp>
        <p:nvSpPr>
          <p:cNvPr id="33" name="Rectangle 21"/>
          <p:cNvSpPr>
            <a:spLocks noChangeArrowheads="1"/>
          </p:cNvSpPr>
          <p:nvPr/>
        </p:nvSpPr>
        <p:spPr bwMode="auto">
          <a:xfrm>
            <a:off x="3132138" y="2060848"/>
            <a:ext cx="44640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5     </a:t>
            </a:r>
            <a:r>
              <a:rPr lang="zh-CN" altLang="en-US" sz="2000" b="1">
                <a:effectLst/>
                <a:latin typeface="Arial" panose="020B0604020202020204" pitchFamily="34" charset="0"/>
                <a:cs typeface="Arial" panose="020B0604020202020204" pitchFamily="34" charset="0"/>
              </a:rPr>
              <a:t>－ </a:t>
            </a:r>
            <a:r>
              <a:rPr lang="en-US" altLang="zh-CN" sz="2000" b="1">
                <a:effectLst/>
                <a:latin typeface="Arial" panose="020B0604020202020204" pitchFamily="34" charset="0"/>
                <a:cs typeface="Arial" panose="020B0604020202020204" pitchFamily="34" charset="0"/>
              </a:rPr>
              <a:t>2      </a:t>
            </a:r>
            <a:r>
              <a:rPr lang="zh-CN" altLang="en-US" sz="2000" b="1">
                <a:effectLst/>
                <a:latin typeface="Arial" panose="020B0604020202020204" pitchFamily="34" charset="0"/>
                <a:cs typeface="Arial" panose="020B0604020202020204" pitchFamily="34" charset="0"/>
              </a:rPr>
              <a:t>－ </a:t>
            </a:r>
            <a:r>
              <a:rPr lang="en-US" altLang="zh-CN" sz="2000" b="1">
                <a:effectLst/>
                <a:latin typeface="Arial" panose="020B0604020202020204" pitchFamily="34" charset="0"/>
                <a:cs typeface="Arial" panose="020B0604020202020204" pitchFamily="34" charset="0"/>
              </a:rPr>
              <a:t>3        1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cs typeface="Arial" panose="020B0604020202020204" pitchFamily="34" charset="0"/>
            </a:endParaRPr>
          </a:p>
        </p:txBody>
      </p:sp>
      <p:sp>
        <p:nvSpPr>
          <p:cNvPr id="34" name="Rectangle 22"/>
          <p:cNvSpPr>
            <a:spLocks noChangeArrowheads="1"/>
          </p:cNvSpPr>
          <p:nvPr/>
        </p:nvSpPr>
        <p:spPr bwMode="auto">
          <a:xfrm>
            <a:off x="684213" y="2060848"/>
            <a:ext cx="244792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C</a:t>
            </a:r>
            <a:endParaRPr lang="en-US" altLang="zh-CN" sz="2000" b="1">
              <a:effectLst/>
              <a:latin typeface="Arial" panose="020B0604020202020204" pitchFamily="34" charset="0"/>
            </a:endParaRPr>
          </a:p>
        </p:txBody>
      </p:sp>
      <p:sp>
        <p:nvSpPr>
          <p:cNvPr id="35" name="Line 23"/>
          <p:cNvSpPr>
            <a:spLocks noChangeShapeType="1"/>
          </p:cNvSpPr>
          <p:nvPr/>
        </p:nvSpPr>
        <p:spPr bwMode="auto">
          <a:xfrm>
            <a:off x="684213" y="2557736"/>
            <a:ext cx="69119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6" name="Line 24"/>
          <p:cNvSpPr>
            <a:spLocks noChangeShapeType="1"/>
          </p:cNvSpPr>
          <p:nvPr/>
        </p:nvSpPr>
        <p:spPr bwMode="auto">
          <a:xfrm>
            <a:off x="3132138" y="2060848"/>
            <a:ext cx="0" cy="230505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7" name="Line 25"/>
          <p:cNvSpPr>
            <a:spLocks noChangeShapeType="1"/>
          </p:cNvSpPr>
          <p:nvPr/>
        </p:nvSpPr>
        <p:spPr bwMode="auto">
          <a:xfrm>
            <a:off x="7596188" y="2060848"/>
            <a:ext cx="0" cy="230505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8" name="Line 26"/>
          <p:cNvSpPr>
            <a:spLocks noChangeShapeType="1"/>
          </p:cNvSpPr>
          <p:nvPr/>
        </p:nvSpPr>
        <p:spPr bwMode="auto">
          <a:xfrm>
            <a:off x="684213" y="3054623"/>
            <a:ext cx="770413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9" name="Line 27"/>
          <p:cNvSpPr>
            <a:spLocks noChangeShapeType="1"/>
          </p:cNvSpPr>
          <p:nvPr/>
        </p:nvSpPr>
        <p:spPr bwMode="auto">
          <a:xfrm>
            <a:off x="1476375" y="2557736"/>
            <a:ext cx="0" cy="141446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0" name="Line 28"/>
          <p:cNvSpPr>
            <a:spLocks noChangeShapeType="1"/>
          </p:cNvSpPr>
          <p:nvPr/>
        </p:nvSpPr>
        <p:spPr bwMode="auto">
          <a:xfrm>
            <a:off x="2268538" y="2557736"/>
            <a:ext cx="0" cy="180816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1" name="Line 29"/>
          <p:cNvSpPr>
            <a:spLocks noChangeShapeType="1"/>
          </p:cNvSpPr>
          <p:nvPr/>
        </p:nvSpPr>
        <p:spPr bwMode="auto">
          <a:xfrm>
            <a:off x="684213" y="3972198"/>
            <a:ext cx="770413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2" name="Line 30"/>
          <p:cNvSpPr>
            <a:spLocks noChangeShapeType="1"/>
          </p:cNvSpPr>
          <p:nvPr/>
        </p:nvSpPr>
        <p:spPr bwMode="auto">
          <a:xfrm>
            <a:off x="684213" y="3546748"/>
            <a:ext cx="770413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3" name="Line 31"/>
          <p:cNvSpPr>
            <a:spLocks noChangeShapeType="1"/>
          </p:cNvSpPr>
          <p:nvPr/>
        </p:nvSpPr>
        <p:spPr bwMode="auto">
          <a:xfrm>
            <a:off x="684213" y="2060848"/>
            <a:ext cx="7704137"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4" name="Line 32"/>
          <p:cNvSpPr>
            <a:spLocks noChangeShapeType="1"/>
          </p:cNvSpPr>
          <p:nvPr/>
        </p:nvSpPr>
        <p:spPr bwMode="auto">
          <a:xfrm>
            <a:off x="684213" y="2060848"/>
            <a:ext cx="0" cy="230505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5" name="Line 33"/>
          <p:cNvSpPr>
            <a:spLocks noChangeShapeType="1"/>
          </p:cNvSpPr>
          <p:nvPr/>
        </p:nvSpPr>
        <p:spPr bwMode="auto">
          <a:xfrm>
            <a:off x="8388350" y="2060848"/>
            <a:ext cx="0" cy="230505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6" name="Line 34"/>
          <p:cNvSpPr>
            <a:spLocks noChangeShapeType="1"/>
          </p:cNvSpPr>
          <p:nvPr/>
        </p:nvSpPr>
        <p:spPr bwMode="auto">
          <a:xfrm>
            <a:off x="684213" y="4365898"/>
            <a:ext cx="7704137"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graphicFrame>
        <p:nvGraphicFramePr>
          <p:cNvPr id="47" name="Object 2"/>
          <p:cNvGraphicFramePr>
            <a:graphicFrameLocks noChangeAspect="1"/>
          </p:cNvGraphicFramePr>
          <p:nvPr/>
        </p:nvGraphicFramePr>
        <p:xfrm>
          <a:off x="2339975" y="4437336"/>
          <a:ext cx="3527425" cy="368300"/>
        </p:xfrm>
        <a:graphic>
          <a:graphicData uri="http://schemas.openxmlformats.org/presentationml/2006/ole">
            <mc:AlternateContent xmlns:mc="http://schemas.openxmlformats.org/markup-compatibility/2006">
              <mc:Choice xmlns:v="urn:schemas-microsoft-com:vml" Requires="v">
                <p:oleObj spid="_x0000_s36866" name="公式" r:id="rId3" imgW="96316800" imgH="10058400" progId="Equation.3">
                  <p:embed/>
                </p:oleObj>
              </mc:Choice>
              <mc:Fallback>
                <p:oleObj name="公式" r:id="rId3" imgW="96316800" imgH="10058400" progId="Equation.3">
                  <p:embed/>
                  <p:pic>
                    <p:nvPicPr>
                      <p:cNvPr id="0" name="图片 36865"/>
                      <p:cNvPicPr>
                        <a:picLocks noChangeAspect="1"/>
                      </p:cNvPicPr>
                      <p:nvPr/>
                    </p:nvPicPr>
                    <p:blipFill>
                      <a:blip r:embed="rId4"/>
                      <a:stretch>
                        <a:fillRect/>
                      </a:stretch>
                    </p:blipFill>
                    <p:spPr>
                      <a:xfrm>
                        <a:off x="2339975" y="4437336"/>
                        <a:ext cx="3527425" cy="368300"/>
                      </a:xfrm>
                      <a:prstGeom prst="rect">
                        <a:avLst/>
                      </a:prstGeom>
                      <a:noFill/>
                      <a:ln w="9525">
                        <a:noFill/>
                      </a:ln>
                    </p:spPr>
                  </p:pic>
                </p:oleObj>
              </mc:Fallback>
            </mc:AlternateContent>
          </a:graphicData>
        </a:graphic>
      </p:graphicFrame>
      <p:sp>
        <p:nvSpPr>
          <p:cNvPr id="48" name="Rectangle 2"/>
          <p:cNvSpPr>
            <a:spLocks noChangeArrowheads="1"/>
          </p:cNvSpPr>
          <p:nvPr/>
        </p:nvSpPr>
        <p:spPr bwMode="auto">
          <a:xfrm>
            <a:off x="684213" y="1367572"/>
            <a:ext cx="800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2000" b="1" dirty="0">
                <a:effectLst/>
                <a:latin typeface="楷体_GB2312" pitchFamily="49" charset="-122"/>
                <a:ea typeface="楷体_GB2312" pitchFamily="49" charset="-122"/>
              </a:rPr>
              <a:t>得初始的单纯形表：</a:t>
            </a:r>
            <a:endParaRPr lang="zh-CN" altLang="en-US" sz="2000" b="1" dirty="0">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linds(horizontal)">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blinds(horizontal)">
                                      <p:cBhvr>
                                        <p:cTn id="20" dur="500"/>
                                        <p:tgtEl>
                                          <p:spTgt spid="24"/>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linds(horizontal)">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linds(horizontal)">
                                      <p:cBhvr>
                                        <p:cTn id="28" dur="500"/>
                                        <p:tgtEl>
                                          <p:spTgt spid="16"/>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blinds(horizontal)">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blinds(horizontal)">
                                      <p:cBhvr>
                                        <p:cTn id="36" dur="500"/>
                                        <p:tgtEl>
                                          <p:spTgt spid="17"/>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blinds(horizontal)">
                                      <p:cBhvr>
                                        <p:cTn id="39" dur="500"/>
                                        <p:tgtEl>
                                          <p:spTgt spid="26"/>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blinds(horizontal)">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blinds(horizontal)">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blinds(horizontal)">
                                      <p:cBhvr>
                                        <p:cTn id="54" dur="500"/>
                                        <p:tgtEl>
                                          <p:spTgt spid="12"/>
                                        </p:tgtEl>
                                      </p:cBhvr>
                                    </p:animEffect>
                                  </p:childTnLst>
                                </p:cTn>
                              </p:par>
                              <p:par>
                                <p:cTn id="55" presetID="3" presetClass="entr" presetSubtype="10" fill="hold" nodeType="withEffect">
                                  <p:stCondLst>
                                    <p:cond delay="0"/>
                                  </p:stCondLst>
                                  <p:childTnLst>
                                    <p:set>
                                      <p:cBhvr>
                                        <p:cTn id="56" dur="1" fill="hold">
                                          <p:stCondLst>
                                            <p:cond delay="0"/>
                                          </p:stCondLst>
                                        </p:cTn>
                                        <p:tgtEl>
                                          <p:spTgt spid="9">
                                            <p:txEl>
                                              <p:pRg st="0" end="0"/>
                                            </p:txEl>
                                          </p:spTgt>
                                        </p:tgtEl>
                                        <p:attrNameLst>
                                          <p:attrName>style.visibility</p:attrName>
                                        </p:attrNameLst>
                                      </p:cBhvr>
                                      <p:to>
                                        <p:strVal val="visible"/>
                                      </p:to>
                                    </p:set>
                                    <p:animEffect transition="in" filter="blinds(horizontal)">
                                      <p:cBhvr>
                                        <p:cTn id="57" dur="500"/>
                                        <p:tgtEl>
                                          <p:spTgt spid="9">
                                            <p:txEl>
                                              <p:pRg st="0" end="0"/>
                                            </p:txEl>
                                          </p:spTgt>
                                        </p:tgtEl>
                                      </p:cBhvr>
                                    </p:animEffect>
                                  </p:childTnLst>
                                </p:cTn>
                              </p:par>
                              <p:par>
                                <p:cTn id="58" presetID="18" presetClass="entr" presetSubtype="12" fill="hold" nodeType="withEffect">
                                  <p:stCondLst>
                                    <p:cond delay="0"/>
                                  </p:stCondLst>
                                  <p:childTnLst>
                                    <p:set>
                                      <p:cBhvr>
                                        <p:cTn id="59" dur="1" fill="hold">
                                          <p:stCondLst>
                                            <p:cond delay="0"/>
                                          </p:stCondLst>
                                        </p:cTn>
                                        <p:tgtEl>
                                          <p:spTgt spid="47"/>
                                        </p:tgtEl>
                                        <p:attrNameLst>
                                          <p:attrName>style.visibility</p:attrName>
                                        </p:attrNameLst>
                                      </p:cBhvr>
                                      <p:to>
                                        <p:strVal val="visible"/>
                                      </p:to>
                                    </p:set>
                                    <p:animEffect transition="in" filter="strips(downLeft)">
                                      <p:cBhvr>
                                        <p:cTn id="6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9" grpId="0"/>
      <p:bldP spid="20" grpId="0"/>
      <p:bldP spid="23" grpId="0"/>
      <p:bldP spid="24" grpId="0"/>
      <p:bldP spid="25" grpId="0"/>
      <p:bldP spid="26" grpId="0"/>
      <p:bldP spid="3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x-none" dirty="0">
                <a:latin typeface="Times New Roman" panose="02020603050405020304" pitchFamily="18" charset="0"/>
                <a:cs typeface="Times New Roman" panose="02020603050405020304" pitchFamily="18" charset="0"/>
              </a:rPr>
              <a:t>单纯形表</a:t>
            </a:r>
            <a:endParaRPr kumimoji="1" lang="zh-CN" altLang="en-US" dirty="0">
              <a:latin typeface="Times New Roman" panose="02020603050405020304" pitchFamily="18" charset="0"/>
              <a:cs typeface="Times New Roman" panose="02020603050405020304" pitchFamily="18" charset="0"/>
            </a:endParaRPr>
          </a:p>
        </p:txBody>
      </p:sp>
      <p:sp>
        <p:nvSpPr>
          <p:cNvPr id="11" name="Rectangle 5"/>
          <p:cNvSpPr>
            <a:spLocks noChangeArrowheads="1"/>
          </p:cNvSpPr>
          <p:nvPr/>
        </p:nvSpPr>
        <p:spPr bwMode="auto">
          <a:xfrm>
            <a:off x="539750" y="3141663"/>
            <a:ext cx="800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b="1" i="1">
                <a:effectLst/>
              </a:rPr>
              <a:t>x</a:t>
            </a:r>
            <a:r>
              <a:rPr lang="en-US" altLang="zh-CN" sz="2000" b="1" baseline="-25000">
                <a:effectLst/>
              </a:rPr>
              <a:t>3</a:t>
            </a:r>
            <a:r>
              <a:rPr lang="zh-CN" altLang="en-US" sz="2000" b="1">
                <a:effectLst/>
                <a:ea typeface="楷体_GB2312" pitchFamily="49" charset="-122"/>
              </a:rPr>
              <a:t>换入变量，</a:t>
            </a:r>
            <a:r>
              <a:rPr lang="en-US" altLang="zh-CN" sz="2000" b="1" i="1">
                <a:effectLst/>
              </a:rPr>
              <a:t>x</a:t>
            </a:r>
            <a:r>
              <a:rPr lang="en-US" altLang="zh-CN" sz="2000" b="1" baseline="-25000">
                <a:effectLst/>
              </a:rPr>
              <a:t>4</a:t>
            </a:r>
            <a:r>
              <a:rPr lang="zh-CN" altLang="en-US" sz="2000" b="1">
                <a:effectLst/>
                <a:ea typeface="楷体_GB2312" pitchFamily="49" charset="-122"/>
              </a:rPr>
              <a:t>换出变量，２为主元进行</a:t>
            </a:r>
            <a:r>
              <a:rPr lang="zh-CN" altLang="en-US" sz="2000" b="1">
                <a:solidFill>
                  <a:schemeClr val="accent2"/>
                </a:solidFill>
                <a:effectLst/>
                <a:ea typeface="楷体_GB2312" pitchFamily="49" charset="-122"/>
              </a:rPr>
              <a:t>旋转变换</a:t>
            </a:r>
            <a:endParaRPr lang="zh-CN" altLang="en-US" sz="2000" b="1">
              <a:solidFill>
                <a:schemeClr val="accent2"/>
              </a:solidFill>
              <a:effectLst/>
              <a:ea typeface="楷体_GB2312" pitchFamily="49" charset="-122"/>
            </a:endParaRPr>
          </a:p>
        </p:txBody>
      </p:sp>
      <p:sp>
        <p:nvSpPr>
          <p:cNvPr id="12" name="Rectangle 33"/>
          <p:cNvSpPr>
            <a:spLocks noChangeArrowheads="1"/>
          </p:cNvSpPr>
          <p:nvPr/>
        </p:nvSpPr>
        <p:spPr bwMode="auto">
          <a:xfrm>
            <a:off x="539750" y="5865589"/>
            <a:ext cx="18716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2000" b="1" dirty="0">
                <a:effectLst/>
                <a:latin typeface="楷体_GB2312" pitchFamily="49" charset="-122"/>
                <a:ea typeface="楷体_GB2312" pitchFamily="49" charset="-122"/>
              </a:rPr>
              <a:t>基本可行解　　　　　　　　　</a:t>
            </a:r>
            <a:endParaRPr lang="zh-CN" altLang="en-US" sz="2000" b="1" dirty="0">
              <a:effectLst/>
              <a:latin typeface="楷体_GB2312" pitchFamily="49" charset="-122"/>
              <a:ea typeface="楷体_GB2312" pitchFamily="49" charset="-122"/>
            </a:endParaRPr>
          </a:p>
        </p:txBody>
      </p:sp>
      <p:sp>
        <p:nvSpPr>
          <p:cNvPr id="13" name="Rectangle 3"/>
          <p:cNvSpPr>
            <a:spLocks noChangeArrowheads="1"/>
          </p:cNvSpPr>
          <p:nvPr/>
        </p:nvSpPr>
        <p:spPr bwMode="auto">
          <a:xfrm>
            <a:off x="7596188" y="4581525"/>
            <a:ext cx="79216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endParaRPr lang="x-none" altLang="x-none" sz="1200" b="1">
              <a:effectLst/>
              <a:latin typeface="Arial" panose="020B0604020202020204" pitchFamily="34" charset="0"/>
              <a:ea typeface="楷体_GB2312" pitchFamily="49" charset="-122"/>
            </a:endParaRPr>
          </a:p>
        </p:txBody>
      </p:sp>
      <p:sp>
        <p:nvSpPr>
          <p:cNvPr id="14" name="Rectangle 4"/>
          <p:cNvSpPr>
            <a:spLocks noChangeArrowheads="1"/>
          </p:cNvSpPr>
          <p:nvPr/>
        </p:nvSpPr>
        <p:spPr bwMode="auto">
          <a:xfrm>
            <a:off x="3132138" y="4581525"/>
            <a:ext cx="44640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333375"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ea typeface="楷体_GB2312" pitchFamily="49" charset="-122"/>
              </a:rPr>
              <a:t>1/2    </a:t>
            </a:r>
            <a:r>
              <a:rPr lang="zh-CN" altLang="en-US" sz="2000" b="1">
                <a:effectLst/>
                <a:latin typeface="Arial" panose="020B0604020202020204" pitchFamily="34" charset="0"/>
                <a:ea typeface="楷体_GB2312" pitchFamily="49" charset="-122"/>
              </a:rPr>
              <a:t>　  </a:t>
            </a:r>
            <a:r>
              <a:rPr lang="en-US" altLang="zh-CN" sz="2000" b="1">
                <a:effectLst/>
                <a:latin typeface="Arial" panose="020B0604020202020204" pitchFamily="34" charset="0"/>
                <a:ea typeface="楷体_GB2312" pitchFamily="49" charset="-122"/>
              </a:rPr>
              <a:t>1     </a:t>
            </a:r>
            <a:r>
              <a:rPr lang="zh-CN" altLang="en-US" sz="2000" b="1">
                <a:effectLst/>
                <a:latin typeface="Arial" panose="020B0604020202020204" pitchFamily="34" charset="0"/>
                <a:ea typeface="楷体_GB2312" pitchFamily="49" charset="-122"/>
              </a:rPr>
              <a:t>　  </a:t>
            </a:r>
            <a:r>
              <a:rPr lang="en-US" altLang="zh-CN" sz="2000" b="1">
                <a:effectLst/>
                <a:latin typeface="Arial" panose="020B0604020202020204" pitchFamily="34" charset="0"/>
                <a:ea typeface="楷体_GB2312" pitchFamily="49" charset="-122"/>
              </a:rPr>
              <a:t>1    </a:t>
            </a:r>
            <a:r>
              <a:rPr lang="zh-CN" altLang="en-US" sz="2000" b="1">
                <a:effectLst/>
                <a:latin typeface="Arial" panose="020B0604020202020204" pitchFamily="34" charset="0"/>
                <a:ea typeface="楷体_GB2312" pitchFamily="49" charset="-122"/>
              </a:rPr>
              <a:t>　 </a:t>
            </a:r>
            <a:r>
              <a:rPr lang="en-US" altLang="zh-CN" sz="2000" b="1">
                <a:effectLst/>
                <a:latin typeface="Arial" panose="020B0604020202020204" pitchFamily="34" charset="0"/>
                <a:ea typeface="楷体_GB2312" pitchFamily="49" charset="-122"/>
              </a:rPr>
              <a:t>1/2    </a:t>
            </a:r>
            <a:r>
              <a:rPr lang="zh-CN" altLang="en-US" sz="2000" b="1">
                <a:effectLst/>
                <a:latin typeface="Arial" panose="020B0604020202020204" pitchFamily="34" charset="0"/>
                <a:ea typeface="楷体_GB2312" pitchFamily="49" charset="-122"/>
              </a:rPr>
              <a:t>　 </a:t>
            </a:r>
            <a:r>
              <a:rPr lang="en-US" altLang="zh-CN" sz="2000" b="1">
                <a:effectLst/>
                <a:latin typeface="Arial" panose="020B0604020202020204" pitchFamily="34" charset="0"/>
                <a:ea typeface="楷体_GB2312" pitchFamily="49" charset="-122"/>
              </a:rPr>
              <a:t>0</a:t>
            </a:r>
            <a:endParaRPr lang="en-US" altLang="zh-CN" sz="2000" b="1">
              <a:effectLst/>
              <a:latin typeface="Arial" panose="020B0604020202020204" pitchFamily="34" charset="0"/>
              <a:ea typeface="楷体_GB2312" pitchFamily="49" charset="-122"/>
            </a:endParaRPr>
          </a:p>
        </p:txBody>
      </p:sp>
      <p:sp>
        <p:nvSpPr>
          <p:cNvPr id="15" name="Rectangle 5"/>
          <p:cNvSpPr>
            <a:spLocks noChangeArrowheads="1"/>
          </p:cNvSpPr>
          <p:nvPr/>
        </p:nvSpPr>
        <p:spPr bwMode="auto">
          <a:xfrm>
            <a:off x="2268538" y="4581525"/>
            <a:ext cx="863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rPr>
              <a:t>4</a:t>
            </a:r>
            <a:endParaRPr lang="en-US" altLang="zh-CN" sz="2000" b="1">
              <a:effectLst/>
              <a:latin typeface="Arial" panose="020B0604020202020204" pitchFamily="34" charset="0"/>
              <a:ea typeface="楷体_GB2312" pitchFamily="49" charset="-122"/>
            </a:endParaRPr>
          </a:p>
        </p:txBody>
      </p:sp>
      <p:sp>
        <p:nvSpPr>
          <p:cNvPr id="16" name="Rectangle 6"/>
          <p:cNvSpPr>
            <a:spLocks noChangeArrowheads="1"/>
          </p:cNvSpPr>
          <p:nvPr/>
        </p:nvSpPr>
        <p:spPr bwMode="auto">
          <a:xfrm>
            <a:off x="1476375" y="4581525"/>
            <a:ext cx="7921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rPr>
              <a:t>x</a:t>
            </a:r>
            <a:r>
              <a:rPr lang="en-US" altLang="zh-CN" sz="1200" b="1">
                <a:effectLst/>
                <a:latin typeface="Arial" panose="020B0604020202020204" pitchFamily="34" charset="0"/>
                <a:ea typeface="楷体_GB2312" pitchFamily="49" charset="-122"/>
              </a:rPr>
              <a:t>3</a:t>
            </a:r>
            <a:endParaRPr lang="en-US" altLang="zh-CN" sz="2000" b="1">
              <a:effectLst/>
              <a:latin typeface="Arial" panose="020B0604020202020204" pitchFamily="34" charset="0"/>
              <a:ea typeface="楷体_GB2312" pitchFamily="49" charset="-122"/>
            </a:endParaRPr>
          </a:p>
        </p:txBody>
      </p:sp>
      <p:sp>
        <p:nvSpPr>
          <p:cNvPr id="17" name="Rectangle 7"/>
          <p:cNvSpPr>
            <a:spLocks noChangeArrowheads="1"/>
          </p:cNvSpPr>
          <p:nvPr/>
        </p:nvSpPr>
        <p:spPr bwMode="auto">
          <a:xfrm>
            <a:off x="755650" y="4581525"/>
            <a:ext cx="7207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ea typeface="楷体_GB2312" pitchFamily="49" charset="-122"/>
              </a:rPr>
              <a:t>3</a:t>
            </a:r>
            <a:endParaRPr lang="en-US" altLang="zh-CN" sz="2000" b="1">
              <a:effectLst/>
              <a:latin typeface="Arial" panose="020B0604020202020204" pitchFamily="34" charset="0"/>
              <a:ea typeface="楷体_GB2312" pitchFamily="49" charset="-122"/>
            </a:endParaRPr>
          </a:p>
        </p:txBody>
      </p:sp>
      <p:sp>
        <p:nvSpPr>
          <p:cNvPr id="18" name="Rectangle 8"/>
          <p:cNvSpPr>
            <a:spLocks noChangeArrowheads="1"/>
          </p:cNvSpPr>
          <p:nvPr/>
        </p:nvSpPr>
        <p:spPr bwMode="auto">
          <a:xfrm>
            <a:off x="7596188" y="5408613"/>
            <a:ext cx="792162"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latin typeface="Arial" panose="020B0604020202020204" pitchFamily="34" charset="0"/>
              <a:ea typeface="楷体_GB2312" pitchFamily="49" charset="-122"/>
            </a:endParaRPr>
          </a:p>
        </p:txBody>
      </p:sp>
      <p:sp>
        <p:nvSpPr>
          <p:cNvPr id="19" name="Rectangle 9"/>
          <p:cNvSpPr>
            <a:spLocks noChangeArrowheads="1"/>
          </p:cNvSpPr>
          <p:nvPr/>
        </p:nvSpPr>
        <p:spPr bwMode="auto">
          <a:xfrm>
            <a:off x="3132138" y="5408613"/>
            <a:ext cx="446405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    </a:t>
            </a:r>
            <a:r>
              <a:rPr lang="zh-CN" altLang="en-US" sz="2000" b="1">
                <a:effectLst/>
                <a:latin typeface="Arial" panose="020B0604020202020204" pitchFamily="34" charset="0"/>
                <a:ea typeface="楷体_GB2312" pitchFamily="49" charset="-122"/>
                <a:cs typeface="Arial" panose="020B0604020202020204" pitchFamily="34" charset="0"/>
              </a:rPr>
              <a:t>－</a:t>
            </a:r>
            <a:r>
              <a:rPr lang="en-US" altLang="zh-CN" sz="2000" b="1">
                <a:effectLst/>
                <a:latin typeface="Arial" panose="020B0604020202020204" pitchFamily="34" charset="0"/>
                <a:ea typeface="楷体_GB2312" pitchFamily="49" charset="-122"/>
                <a:cs typeface="Arial" panose="020B0604020202020204" pitchFamily="34" charset="0"/>
              </a:rPr>
              <a:t>1          4           0          2          0</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0" name="Rectangle 10"/>
          <p:cNvSpPr>
            <a:spLocks noChangeArrowheads="1"/>
          </p:cNvSpPr>
          <p:nvPr/>
        </p:nvSpPr>
        <p:spPr bwMode="auto">
          <a:xfrm>
            <a:off x="2268538" y="5408613"/>
            <a:ext cx="8636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ea typeface="楷体_GB2312" pitchFamily="49" charset="-122"/>
                <a:cs typeface="Arial" panose="020B0604020202020204" pitchFamily="34" charset="0"/>
              </a:rPr>
              <a:t>15</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1" name="Rectangle 11"/>
          <p:cNvSpPr>
            <a:spLocks noChangeArrowheads="1"/>
          </p:cNvSpPr>
          <p:nvPr/>
        </p:nvSpPr>
        <p:spPr bwMode="auto">
          <a:xfrm>
            <a:off x="755650" y="5408613"/>
            <a:ext cx="1512888"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Z</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2" name="Rectangle 12"/>
          <p:cNvSpPr>
            <a:spLocks noChangeArrowheads="1"/>
          </p:cNvSpPr>
          <p:nvPr/>
        </p:nvSpPr>
        <p:spPr bwMode="auto">
          <a:xfrm>
            <a:off x="7596188" y="5013325"/>
            <a:ext cx="792162"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endParaRPr lang="x-none" altLang="x-none" sz="2000" b="1">
              <a:effectLst/>
              <a:latin typeface="Arial" panose="020B0604020202020204" pitchFamily="34" charset="0"/>
              <a:ea typeface="楷体_GB2312" pitchFamily="49" charset="-122"/>
            </a:endParaRPr>
          </a:p>
        </p:txBody>
      </p:sp>
      <p:sp>
        <p:nvSpPr>
          <p:cNvPr id="23" name="Rectangle 13"/>
          <p:cNvSpPr>
            <a:spLocks noChangeArrowheads="1"/>
          </p:cNvSpPr>
          <p:nvPr/>
        </p:nvSpPr>
        <p:spPr bwMode="auto">
          <a:xfrm>
            <a:off x="3132138" y="5013325"/>
            <a:ext cx="44640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333375"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5/2         3           0        -1/2        1</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4" name="Rectangle 14"/>
          <p:cNvSpPr>
            <a:spLocks noChangeArrowheads="1"/>
          </p:cNvSpPr>
          <p:nvPr/>
        </p:nvSpPr>
        <p:spPr bwMode="auto">
          <a:xfrm>
            <a:off x="2268538" y="5013325"/>
            <a:ext cx="86360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3</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5" name="Rectangle 15"/>
          <p:cNvSpPr>
            <a:spLocks noChangeArrowheads="1"/>
          </p:cNvSpPr>
          <p:nvPr/>
        </p:nvSpPr>
        <p:spPr bwMode="auto">
          <a:xfrm>
            <a:off x="1476375" y="5013325"/>
            <a:ext cx="792163"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5</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6" name="Rectangle 16"/>
          <p:cNvSpPr>
            <a:spLocks noChangeArrowheads="1"/>
          </p:cNvSpPr>
          <p:nvPr/>
        </p:nvSpPr>
        <p:spPr bwMode="auto">
          <a:xfrm>
            <a:off x="755650" y="5013325"/>
            <a:ext cx="72072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ea typeface="楷体_GB2312" pitchFamily="49" charset="-122"/>
                <a:cs typeface="Arial" panose="020B0604020202020204" pitchFamily="34" charset="0"/>
              </a:rPr>
              <a:t>1</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7" name="Rectangle 17"/>
          <p:cNvSpPr>
            <a:spLocks noChangeArrowheads="1"/>
          </p:cNvSpPr>
          <p:nvPr/>
        </p:nvSpPr>
        <p:spPr bwMode="auto">
          <a:xfrm>
            <a:off x="3132138" y="4149725"/>
            <a:ext cx="44640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b="1">
                <a:effectLst/>
                <a:latin typeface="Arial" panose="020B0604020202020204" pitchFamily="34" charset="0"/>
                <a:ea typeface="楷体_GB2312" pitchFamily="49" charset="-122"/>
                <a:cs typeface="Arial" panose="020B0604020202020204" pitchFamily="34" charset="0"/>
              </a:rPr>
              <a:t>　  </a:t>
            </a: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1</a:t>
            </a:r>
            <a:r>
              <a:rPr lang="en-US" altLang="zh-CN" sz="2000" b="1">
                <a:effectLst/>
                <a:latin typeface="Arial" panose="020B0604020202020204" pitchFamily="34" charset="0"/>
                <a:ea typeface="楷体_GB2312" pitchFamily="49" charset="-122"/>
                <a:cs typeface="Arial" panose="020B0604020202020204" pitchFamily="34" charset="0"/>
              </a:rPr>
              <a:t>   </a:t>
            </a:r>
            <a:r>
              <a:rPr lang="zh-CN" altLang="en-US" sz="2000" b="1">
                <a:effectLst/>
                <a:latin typeface="Arial" panose="020B0604020202020204" pitchFamily="34" charset="0"/>
                <a:ea typeface="楷体_GB2312" pitchFamily="49" charset="-122"/>
                <a:cs typeface="Arial" panose="020B0604020202020204" pitchFamily="34" charset="0"/>
              </a:rPr>
              <a:t>　  </a:t>
            </a: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2</a:t>
            </a:r>
            <a:r>
              <a:rPr lang="en-US" altLang="zh-CN" sz="2000" b="1">
                <a:effectLst/>
                <a:latin typeface="Arial" panose="020B0604020202020204" pitchFamily="34" charset="0"/>
                <a:ea typeface="楷体_GB2312" pitchFamily="49" charset="-122"/>
                <a:cs typeface="Arial" panose="020B0604020202020204" pitchFamily="34" charset="0"/>
              </a:rPr>
              <a:t>  </a:t>
            </a:r>
            <a:r>
              <a:rPr lang="zh-CN" altLang="en-US" sz="2000" b="1">
                <a:effectLst/>
                <a:latin typeface="Arial" panose="020B0604020202020204" pitchFamily="34" charset="0"/>
                <a:ea typeface="楷体_GB2312" pitchFamily="49" charset="-122"/>
                <a:cs typeface="Arial" panose="020B0604020202020204" pitchFamily="34" charset="0"/>
              </a:rPr>
              <a:t>　    </a:t>
            </a: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3</a:t>
            </a:r>
            <a:r>
              <a:rPr lang="en-US" altLang="zh-CN" sz="2000" b="1">
                <a:effectLst/>
                <a:latin typeface="Arial" panose="020B0604020202020204" pitchFamily="34" charset="0"/>
                <a:ea typeface="楷体_GB2312" pitchFamily="49" charset="-122"/>
                <a:cs typeface="Arial" panose="020B0604020202020204" pitchFamily="34" charset="0"/>
              </a:rPr>
              <a:t>    </a:t>
            </a:r>
            <a:r>
              <a:rPr lang="zh-CN" altLang="en-US" sz="2000" b="1">
                <a:effectLst/>
                <a:latin typeface="Arial" panose="020B0604020202020204" pitchFamily="34" charset="0"/>
                <a:ea typeface="楷体_GB2312" pitchFamily="49" charset="-122"/>
                <a:cs typeface="Arial" panose="020B0604020202020204" pitchFamily="34" charset="0"/>
              </a:rPr>
              <a:t>　 </a:t>
            </a: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4</a:t>
            </a:r>
            <a:r>
              <a:rPr lang="en-US" altLang="zh-CN" sz="2000" b="1">
                <a:effectLst/>
                <a:latin typeface="Arial" panose="020B0604020202020204" pitchFamily="34" charset="0"/>
                <a:ea typeface="楷体_GB2312" pitchFamily="49" charset="-122"/>
                <a:cs typeface="Arial" panose="020B0604020202020204" pitchFamily="34" charset="0"/>
              </a:rPr>
              <a:t> </a:t>
            </a:r>
            <a:r>
              <a:rPr lang="zh-CN" altLang="en-US" sz="2000" b="1">
                <a:effectLst/>
                <a:latin typeface="Arial" panose="020B0604020202020204" pitchFamily="34" charset="0"/>
                <a:ea typeface="楷体_GB2312" pitchFamily="49" charset="-122"/>
                <a:cs typeface="Arial" panose="020B0604020202020204" pitchFamily="34" charset="0"/>
              </a:rPr>
              <a:t>　    </a:t>
            </a: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5</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8" name="Rectangle 18"/>
          <p:cNvSpPr>
            <a:spLocks noChangeArrowheads="1"/>
          </p:cNvSpPr>
          <p:nvPr/>
        </p:nvSpPr>
        <p:spPr bwMode="auto">
          <a:xfrm>
            <a:off x="2268538" y="4149725"/>
            <a:ext cx="863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b</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9" name="Rectangle 19"/>
          <p:cNvSpPr>
            <a:spLocks noChangeArrowheads="1"/>
          </p:cNvSpPr>
          <p:nvPr/>
        </p:nvSpPr>
        <p:spPr bwMode="auto">
          <a:xfrm>
            <a:off x="1476375" y="4149725"/>
            <a:ext cx="7921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B</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30" name="Rectangle 20"/>
          <p:cNvSpPr>
            <a:spLocks noChangeArrowheads="1"/>
          </p:cNvSpPr>
          <p:nvPr/>
        </p:nvSpPr>
        <p:spPr bwMode="auto">
          <a:xfrm>
            <a:off x="755650" y="4149725"/>
            <a:ext cx="7207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C</a:t>
            </a:r>
            <a:r>
              <a:rPr lang="en-US" altLang="zh-CN" sz="2000" b="1" baseline="-30000">
                <a:effectLst/>
                <a:latin typeface="Arial" panose="020B0604020202020204" pitchFamily="34" charset="0"/>
                <a:ea typeface="楷体_GB2312" pitchFamily="49" charset="-122"/>
                <a:cs typeface="Arial" panose="020B0604020202020204" pitchFamily="34" charset="0"/>
              </a:rPr>
              <a:t>B</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32" name="Rectangle 21"/>
          <p:cNvSpPr>
            <a:spLocks noChangeArrowheads="1"/>
          </p:cNvSpPr>
          <p:nvPr/>
        </p:nvSpPr>
        <p:spPr bwMode="auto">
          <a:xfrm>
            <a:off x="7596188" y="3644900"/>
            <a:ext cx="792162"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l-GR" altLang="zh-CN" sz="2000" b="1" i="1">
                <a:effectLst/>
                <a:latin typeface="Arial" panose="020B0604020202020204" pitchFamily="34" charset="0"/>
                <a:cs typeface="Arial" panose="020B0604020202020204" pitchFamily="34" charset="0"/>
              </a:rPr>
              <a:t>θ</a:t>
            </a:r>
            <a:endParaRPr lang="el-GR" altLang="zh-CN" sz="2000" b="1" i="1">
              <a:effectLst/>
              <a:latin typeface="Arial" panose="020B0604020202020204" pitchFamily="34" charset="0"/>
              <a:cs typeface="Arial" panose="020B0604020202020204" pitchFamily="34" charset="0"/>
            </a:endParaRPr>
          </a:p>
        </p:txBody>
      </p:sp>
      <p:sp>
        <p:nvSpPr>
          <p:cNvPr id="33" name="Rectangle 23"/>
          <p:cNvSpPr>
            <a:spLocks noChangeArrowheads="1"/>
          </p:cNvSpPr>
          <p:nvPr/>
        </p:nvSpPr>
        <p:spPr bwMode="auto">
          <a:xfrm>
            <a:off x="755650" y="3644900"/>
            <a:ext cx="2376488"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C</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34" name="Line 24"/>
          <p:cNvSpPr>
            <a:spLocks noChangeShapeType="1"/>
          </p:cNvSpPr>
          <p:nvPr/>
        </p:nvSpPr>
        <p:spPr bwMode="auto">
          <a:xfrm>
            <a:off x="755650" y="4149725"/>
            <a:ext cx="68405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5" name="Line 25"/>
          <p:cNvSpPr>
            <a:spLocks noChangeShapeType="1"/>
          </p:cNvSpPr>
          <p:nvPr/>
        </p:nvSpPr>
        <p:spPr bwMode="auto">
          <a:xfrm>
            <a:off x="3132138" y="3644900"/>
            <a:ext cx="0" cy="223361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6" name="Line 26"/>
          <p:cNvSpPr>
            <a:spLocks noChangeShapeType="1"/>
          </p:cNvSpPr>
          <p:nvPr/>
        </p:nvSpPr>
        <p:spPr bwMode="auto">
          <a:xfrm>
            <a:off x="7596188" y="3644900"/>
            <a:ext cx="0" cy="223361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7" name="Line 27"/>
          <p:cNvSpPr>
            <a:spLocks noChangeShapeType="1"/>
          </p:cNvSpPr>
          <p:nvPr/>
        </p:nvSpPr>
        <p:spPr bwMode="auto">
          <a:xfrm>
            <a:off x="755650" y="4581525"/>
            <a:ext cx="76327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8" name="Line 28"/>
          <p:cNvSpPr>
            <a:spLocks noChangeShapeType="1"/>
          </p:cNvSpPr>
          <p:nvPr/>
        </p:nvSpPr>
        <p:spPr bwMode="auto">
          <a:xfrm>
            <a:off x="1476375" y="4149725"/>
            <a:ext cx="0" cy="125888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9" name="Line 29"/>
          <p:cNvSpPr>
            <a:spLocks noChangeShapeType="1"/>
          </p:cNvSpPr>
          <p:nvPr/>
        </p:nvSpPr>
        <p:spPr bwMode="auto">
          <a:xfrm>
            <a:off x="2268538" y="4149725"/>
            <a:ext cx="0" cy="172878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0" name="Line 30"/>
          <p:cNvSpPr>
            <a:spLocks noChangeShapeType="1"/>
          </p:cNvSpPr>
          <p:nvPr/>
        </p:nvSpPr>
        <p:spPr bwMode="auto">
          <a:xfrm>
            <a:off x="755650" y="5408613"/>
            <a:ext cx="76327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1" name="Line 31"/>
          <p:cNvSpPr>
            <a:spLocks noChangeShapeType="1"/>
          </p:cNvSpPr>
          <p:nvPr/>
        </p:nvSpPr>
        <p:spPr bwMode="auto">
          <a:xfrm>
            <a:off x="755650" y="3644900"/>
            <a:ext cx="76327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2" name="Line 32"/>
          <p:cNvSpPr>
            <a:spLocks noChangeShapeType="1"/>
          </p:cNvSpPr>
          <p:nvPr/>
        </p:nvSpPr>
        <p:spPr bwMode="auto">
          <a:xfrm>
            <a:off x="755650" y="3644900"/>
            <a:ext cx="0" cy="2233613"/>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3" name="Line 33"/>
          <p:cNvSpPr>
            <a:spLocks noChangeShapeType="1"/>
          </p:cNvSpPr>
          <p:nvPr/>
        </p:nvSpPr>
        <p:spPr bwMode="auto">
          <a:xfrm>
            <a:off x="8388350" y="3644900"/>
            <a:ext cx="0" cy="2233613"/>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4" name="Line 34"/>
          <p:cNvSpPr>
            <a:spLocks noChangeShapeType="1"/>
          </p:cNvSpPr>
          <p:nvPr/>
        </p:nvSpPr>
        <p:spPr bwMode="auto">
          <a:xfrm>
            <a:off x="755650" y="5878513"/>
            <a:ext cx="76327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5" name="Line 35"/>
          <p:cNvSpPr>
            <a:spLocks noChangeShapeType="1"/>
          </p:cNvSpPr>
          <p:nvPr/>
        </p:nvSpPr>
        <p:spPr bwMode="auto">
          <a:xfrm>
            <a:off x="755650" y="5013325"/>
            <a:ext cx="76327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6" name="Rectangle 38"/>
          <p:cNvSpPr>
            <a:spLocks noChangeArrowheads="1"/>
          </p:cNvSpPr>
          <p:nvPr/>
        </p:nvSpPr>
        <p:spPr bwMode="auto">
          <a:xfrm>
            <a:off x="3132138" y="1768475"/>
            <a:ext cx="44640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1          2          2         1         0</a:t>
            </a:r>
            <a:endParaRPr lang="en-US" altLang="zh-CN" sz="2000" b="1">
              <a:effectLst/>
              <a:latin typeface="Arial" panose="020B0604020202020204" pitchFamily="34" charset="0"/>
            </a:endParaRPr>
          </a:p>
        </p:txBody>
      </p:sp>
      <p:sp>
        <p:nvSpPr>
          <p:cNvPr id="47" name="Rectangle 39"/>
          <p:cNvSpPr>
            <a:spLocks noChangeArrowheads="1"/>
          </p:cNvSpPr>
          <p:nvPr/>
        </p:nvSpPr>
        <p:spPr bwMode="auto">
          <a:xfrm>
            <a:off x="2268538" y="1768475"/>
            <a:ext cx="8636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8</a:t>
            </a:r>
            <a:endParaRPr lang="en-US" altLang="zh-CN" sz="2000" b="1">
              <a:effectLst/>
              <a:latin typeface="Arial" panose="020B0604020202020204" pitchFamily="34" charset="0"/>
            </a:endParaRPr>
          </a:p>
        </p:txBody>
      </p:sp>
      <p:sp>
        <p:nvSpPr>
          <p:cNvPr id="48" name="Rectangle 40"/>
          <p:cNvSpPr>
            <a:spLocks noChangeArrowheads="1"/>
          </p:cNvSpPr>
          <p:nvPr/>
        </p:nvSpPr>
        <p:spPr bwMode="auto">
          <a:xfrm>
            <a:off x="1476375" y="1768475"/>
            <a:ext cx="792163"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4</a:t>
            </a:r>
            <a:endParaRPr lang="en-US" altLang="zh-CN" sz="2000" b="1">
              <a:effectLst/>
              <a:latin typeface="Arial" panose="020B0604020202020204" pitchFamily="34" charset="0"/>
            </a:endParaRPr>
          </a:p>
        </p:txBody>
      </p:sp>
      <p:sp>
        <p:nvSpPr>
          <p:cNvPr id="49" name="Rectangle 41"/>
          <p:cNvSpPr>
            <a:spLocks noChangeArrowheads="1"/>
          </p:cNvSpPr>
          <p:nvPr/>
        </p:nvSpPr>
        <p:spPr bwMode="auto">
          <a:xfrm>
            <a:off x="684213" y="1768475"/>
            <a:ext cx="792162"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endParaRPr>
          </a:p>
        </p:txBody>
      </p:sp>
      <p:sp>
        <p:nvSpPr>
          <p:cNvPr id="50" name="Rectangle 42"/>
          <p:cNvSpPr>
            <a:spLocks noChangeArrowheads="1"/>
          </p:cNvSpPr>
          <p:nvPr/>
        </p:nvSpPr>
        <p:spPr bwMode="auto">
          <a:xfrm>
            <a:off x="7596188" y="2705100"/>
            <a:ext cx="7921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latin typeface="Arial" panose="020B0604020202020204" pitchFamily="34" charset="0"/>
            </a:endParaRPr>
          </a:p>
        </p:txBody>
      </p:sp>
      <p:sp>
        <p:nvSpPr>
          <p:cNvPr id="51" name="Rectangle 43"/>
          <p:cNvSpPr>
            <a:spLocks noChangeArrowheads="1"/>
          </p:cNvSpPr>
          <p:nvPr/>
        </p:nvSpPr>
        <p:spPr bwMode="auto">
          <a:xfrm>
            <a:off x="3132138" y="2705100"/>
            <a:ext cx="44640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3          0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4          0        0</a:t>
            </a:r>
            <a:endParaRPr lang="en-US" altLang="zh-CN" sz="2000" b="1">
              <a:effectLst/>
              <a:latin typeface="Arial" panose="020B0604020202020204" pitchFamily="34" charset="0"/>
              <a:cs typeface="Arial" panose="020B0604020202020204" pitchFamily="34" charset="0"/>
            </a:endParaRPr>
          </a:p>
        </p:txBody>
      </p:sp>
      <p:sp>
        <p:nvSpPr>
          <p:cNvPr id="52" name="Rectangle 44"/>
          <p:cNvSpPr>
            <a:spLocks noChangeArrowheads="1"/>
          </p:cNvSpPr>
          <p:nvPr/>
        </p:nvSpPr>
        <p:spPr bwMode="auto">
          <a:xfrm>
            <a:off x="2268538" y="2705100"/>
            <a:ext cx="863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endParaRPr>
          </a:p>
        </p:txBody>
      </p:sp>
      <p:sp>
        <p:nvSpPr>
          <p:cNvPr id="53" name="Rectangle 45"/>
          <p:cNvSpPr>
            <a:spLocks noChangeArrowheads="1"/>
          </p:cNvSpPr>
          <p:nvPr/>
        </p:nvSpPr>
        <p:spPr bwMode="auto">
          <a:xfrm>
            <a:off x="684213" y="2705100"/>
            <a:ext cx="15843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Z</a:t>
            </a:r>
            <a:endParaRPr lang="en-US" altLang="zh-CN" sz="2000" b="1">
              <a:effectLst/>
              <a:latin typeface="Arial" panose="020B0604020202020204" pitchFamily="34" charset="0"/>
            </a:endParaRPr>
          </a:p>
        </p:txBody>
      </p:sp>
      <p:sp>
        <p:nvSpPr>
          <p:cNvPr id="54" name="Rectangle 47"/>
          <p:cNvSpPr>
            <a:spLocks noChangeArrowheads="1"/>
          </p:cNvSpPr>
          <p:nvPr/>
        </p:nvSpPr>
        <p:spPr bwMode="auto">
          <a:xfrm>
            <a:off x="3132138" y="2273300"/>
            <a:ext cx="44640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2000" b="1">
                <a:effectLst/>
                <a:latin typeface="Arial" panose="020B0604020202020204" pitchFamily="34" charset="0"/>
                <a:cs typeface="Arial" panose="020B0604020202020204" pitchFamily="34" charset="0"/>
              </a:rPr>
              <a:t>      3          4          1          0        1</a:t>
            </a:r>
            <a:endParaRPr lang="en-US" altLang="zh-CN" sz="2000" b="1">
              <a:effectLst/>
              <a:latin typeface="Arial" panose="020B0604020202020204" pitchFamily="34" charset="0"/>
            </a:endParaRPr>
          </a:p>
        </p:txBody>
      </p:sp>
      <p:sp>
        <p:nvSpPr>
          <p:cNvPr id="55" name="Rectangle 48"/>
          <p:cNvSpPr>
            <a:spLocks noChangeArrowheads="1"/>
          </p:cNvSpPr>
          <p:nvPr/>
        </p:nvSpPr>
        <p:spPr bwMode="auto">
          <a:xfrm>
            <a:off x="2268538" y="2273300"/>
            <a:ext cx="863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7</a:t>
            </a:r>
            <a:endParaRPr lang="en-US" altLang="zh-CN" sz="2000" b="1">
              <a:effectLst/>
              <a:latin typeface="Arial" panose="020B0604020202020204" pitchFamily="34" charset="0"/>
            </a:endParaRPr>
          </a:p>
        </p:txBody>
      </p:sp>
      <p:sp>
        <p:nvSpPr>
          <p:cNvPr id="56" name="Rectangle 49"/>
          <p:cNvSpPr>
            <a:spLocks noChangeArrowheads="1"/>
          </p:cNvSpPr>
          <p:nvPr/>
        </p:nvSpPr>
        <p:spPr bwMode="auto">
          <a:xfrm>
            <a:off x="1476375" y="2273300"/>
            <a:ext cx="7921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5</a:t>
            </a:r>
            <a:endParaRPr lang="en-US" altLang="zh-CN" sz="2000" b="1">
              <a:effectLst/>
              <a:latin typeface="Arial" panose="020B0604020202020204" pitchFamily="34" charset="0"/>
            </a:endParaRPr>
          </a:p>
        </p:txBody>
      </p:sp>
      <p:sp>
        <p:nvSpPr>
          <p:cNvPr id="57" name="Rectangle 50"/>
          <p:cNvSpPr>
            <a:spLocks noChangeArrowheads="1"/>
          </p:cNvSpPr>
          <p:nvPr/>
        </p:nvSpPr>
        <p:spPr bwMode="auto">
          <a:xfrm>
            <a:off x="684213" y="2273300"/>
            <a:ext cx="79216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cs typeface="Arial" panose="020B0604020202020204" pitchFamily="34" charset="0"/>
            </a:endParaRPr>
          </a:p>
        </p:txBody>
      </p:sp>
      <p:sp>
        <p:nvSpPr>
          <p:cNvPr id="58" name="Rectangle 51"/>
          <p:cNvSpPr>
            <a:spLocks noChangeArrowheads="1"/>
          </p:cNvSpPr>
          <p:nvPr/>
        </p:nvSpPr>
        <p:spPr bwMode="auto">
          <a:xfrm>
            <a:off x="3132138" y="1270000"/>
            <a:ext cx="44640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1</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2</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3</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4</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5</a:t>
            </a:r>
            <a:endParaRPr lang="en-US" altLang="zh-CN" sz="2000" b="1">
              <a:effectLst/>
              <a:latin typeface="Arial" panose="020B0604020202020204" pitchFamily="34" charset="0"/>
            </a:endParaRPr>
          </a:p>
        </p:txBody>
      </p:sp>
      <p:sp>
        <p:nvSpPr>
          <p:cNvPr id="59" name="Rectangle 52"/>
          <p:cNvSpPr>
            <a:spLocks noChangeArrowheads="1"/>
          </p:cNvSpPr>
          <p:nvPr/>
        </p:nvSpPr>
        <p:spPr bwMode="auto">
          <a:xfrm>
            <a:off x="2268538" y="1270000"/>
            <a:ext cx="8636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b</a:t>
            </a:r>
            <a:endParaRPr lang="en-US" altLang="zh-CN" sz="2000" b="1">
              <a:effectLst/>
              <a:latin typeface="Arial" panose="020B0604020202020204" pitchFamily="34" charset="0"/>
            </a:endParaRPr>
          </a:p>
        </p:txBody>
      </p:sp>
      <p:sp>
        <p:nvSpPr>
          <p:cNvPr id="60" name="Rectangle 53"/>
          <p:cNvSpPr>
            <a:spLocks noChangeArrowheads="1"/>
          </p:cNvSpPr>
          <p:nvPr/>
        </p:nvSpPr>
        <p:spPr bwMode="auto">
          <a:xfrm>
            <a:off x="1476375" y="1270000"/>
            <a:ext cx="792163"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B</a:t>
            </a:r>
            <a:endParaRPr lang="en-US" altLang="zh-CN" sz="2000" b="1">
              <a:effectLst/>
              <a:latin typeface="Arial" panose="020B0604020202020204" pitchFamily="34" charset="0"/>
            </a:endParaRPr>
          </a:p>
        </p:txBody>
      </p:sp>
      <p:sp>
        <p:nvSpPr>
          <p:cNvPr id="61" name="Rectangle 54"/>
          <p:cNvSpPr>
            <a:spLocks noChangeArrowheads="1"/>
          </p:cNvSpPr>
          <p:nvPr/>
        </p:nvSpPr>
        <p:spPr bwMode="auto">
          <a:xfrm>
            <a:off x="684213" y="1270000"/>
            <a:ext cx="792162"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C</a:t>
            </a:r>
            <a:r>
              <a:rPr lang="en-US" altLang="zh-CN" sz="2000" b="1" baseline="-30000">
                <a:effectLst/>
                <a:latin typeface="Arial" panose="020B0604020202020204" pitchFamily="34" charset="0"/>
                <a:cs typeface="Arial" panose="020B0604020202020204" pitchFamily="34" charset="0"/>
              </a:rPr>
              <a:t>B</a:t>
            </a:r>
            <a:endParaRPr lang="en-US" altLang="zh-CN" sz="2000" b="1">
              <a:effectLst/>
              <a:latin typeface="Arial" panose="020B0604020202020204" pitchFamily="34" charset="0"/>
            </a:endParaRPr>
          </a:p>
        </p:txBody>
      </p:sp>
      <p:sp>
        <p:nvSpPr>
          <p:cNvPr id="62" name="Rectangle 55"/>
          <p:cNvSpPr>
            <a:spLocks noChangeArrowheads="1"/>
          </p:cNvSpPr>
          <p:nvPr/>
        </p:nvSpPr>
        <p:spPr bwMode="auto">
          <a:xfrm>
            <a:off x="7596188" y="765175"/>
            <a:ext cx="792162"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l-GR" altLang="zh-CN" sz="2000" b="1" i="1">
                <a:effectLst/>
                <a:latin typeface="Arial" panose="020B0604020202020204" pitchFamily="34" charset="0"/>
                <a:cs typeface="Arial" panose="020B0604020202020204" pitchFamily="34" charset="0"/>
              </a:rPr>
              <a:t>θ</a:t>
            </a:r>
            <a:endParaRPr lang="el-GR" altLang="zh-CN" sz="2000" b="1" i="1">
              <a:effectLst/>
              <a:latin typeface="Arial" panose="020B0604020202020204" pitchFamily="34" charset="0"/>
              <a:cs typeface="Arial" panose="020B0604020202020204" pitchFamily="34" charset="0"/>
            </a:endParaRPr>
          </a:p>
          <a:p>
            <a:pPr algn="ctr">
              <a:spcBef>
                <a:spcPct val="0"/>
              </a:spcBef>
              <a:buFontTx/>
              <a:buNone/>
            </a:pPr>
            <a:endParaRPr lang="en-US" altLang="zh-CN" sz="2000" b="1">
              <a:effectLst/>
              <a:latin typeface="Arial" panose="020B0604020202020204" pitchFamily="34" charset="0"/>
            </a:endParaRPr>
          </a:p>
        </p:txBody>
      </p:sp>
      <p:sp>
        <p:nvSpPr>
          <p:cNvPr id="63" name="Rectangle 57"/>
          <p:cNvSpPr>
            <a:spLocks noChangeArrowheads="1"/>
          </p:cNvSpPr>
          <p:nvPr/>
        </p:nvSpPr>
        <p:spPr bwMode="auto">
          <a:xfrm>
            <a:off x="684213" y="765175"/>
            <a:ext cx="244792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C</a:t>
            </a:r>
            <a:endParaRPr lang="en-US" altLang="zh-CN" sz="2000" b="1">
              <a:effectLst/>
              <a:latin typeface="Arial" panose="020B0604020202020204" pitchFamily="34" charset="0"/>
            </a:endParaRPr>
          </a:p>
        </p:txBody>
      </p:sp>
      <p:sp>
        <p:nvSpPr>
          <p:cNvPr id="64" name="Line 62"/>
          <p:cNvSpPr>
            <a:spLocks noChangeShapeType="1"/>
          </p:cNvSpPr>
          <p:nvPr/>
        </p:nvSpPr>
        <p:spPr bwMode="auto">
          <a:xfrm>
            <a:off x="684213" y="1270000"/>
            <a:ext cx="69119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65" name="Line 63"/>
          <p:cNvSpPr>
            <a:spLocks noChangeShapeType="1"/>
          </p:cNvSpPr>
          <p:nvPr/>
        </p:nvSpPr>
        <p:spPr bwMode="auto">
          <a:xfrm>
            <a:off x="3132138" y="765175"/>
            <a:ext cx="0" cy="233997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66" name="Line 64"/>
          <p:cNvSpPr>
            <a:spLocks noChangeShapeType="1"/>
          </p:cNvSpPr>
          <p:nvPr/>
        </p:nvSpPr>
        <p:spPr bwMode="auto">
          <a:xfrm>
            <a:off x="7596188" y="765175"/>
            <a:ext cx="0" cy="233997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67" name="Line 65"/>
          <p:cNvSpPr>
            <a:spLocks noChangeShapeType="1"/>
          </p:cNvSpPr>
          <p:nvPr/>
        </p:nvSpPr>
        <p:spPr bwMode="auto">
          <a:xfrm>
            <a:off x="684213" y="1773238"/>
            <a:ext cx="770413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68" name="Line 66"/>
          <p:cNvSpPr>
            <a:spLocks noChangeShapeType="1"/>
          </p:cNvSpPr>
          <p:nvPr/>
        </p:nvSpPr>
        <p:spPr bwMode="auto">
          <a:xfrm>
            <a:off x="1476375" y="1270000"/>
            <a:ext cx="0" cy="14351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69" name="Line 67"/>
          <p:cNvSpPr>
            <a:spLocks noChangeShapeType="1"/>
          </p:cNvSpPr>
          <p:nvPr/>
        </p:nvSpPr>
        <p:spPr bwMode="auto">
          <a:xfrm>
            <a:off x="2268538" y="1270000"/>
            <a:ext cx="0" cy="183515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0" name="Line 68"/>
          <p:cNvSpPr>
            <a:spLocks noChangeShapeType="1"/>
          </p:cNvSpPr>
          <p:nvPr/>
        </p:nvSpPr>
        <p:spPr bwMode="auto">
          <a:xfrm>
            <a:off x="684213" y="2705100"/>
            <a:ext cx="770413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1" name="Line 69"/>
          <p:cNvSpPr>
            <a:spLocks noChangeShapeType="1"/>
          </p:cNvSpPr>
          <p:nvPr/>
        </p:nvSpPr>
        <p:spPr bwMode="auto">
          <a:xfrm>
            <a:off x="684213" y="2273300"/>
            <a:ext cx="770413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2" name="Line 58"/>
          <p:cNvSpPr>
            <a:spLocks noChangeShapeType="1"/>
          </p:cNvSpPr>
          <p:nvPr/>
        </p:nvSpPr>
        <p:spPr bwMode="auto">
          <a:xfrm>
            <a:off x="684213" y="765175"/>
            <a:ext cx="7704137"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3" name="Line 60"/>
          <p:cNvSpPr>
            <a:spLocks noChangeShapeType="1"/>
          </p:cNvSpPr>
          <p:nvPr/>
        </p:nvSpPr>
        <p:spPr bwMode="auto">
          <a:xfrm>
            <a:off x="684213" y="765175"/>
            <a:ext cx="0" cy="233997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4" name="Line 61"/>
          <p:cNvSpPr>
            <a:spLocks noChangeShapeType="1"/>
          </p:cNvSpPr>
          <p:nvPr/>
        </p:nvSpPr>
        <p:spPr bwMode="auto">
          <a:xfrm>
            <a:off x="8388350" y="765175"/>
            <a:ext cx="0" cy="233997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5" name="Line 59"/>
          <p:cNvSpPr>
            <a:spLocks noChangeShapeType="1"/>
          </p:cNvSpPr>
          <p:nvPr/>
        </p:nvSpPr>
        <p:spPr bwMode="auto">
          <a:xfrm>
            <a:off x="684213" y="3105150"/>
            <a:ext cx="7704137"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6" name="Oval 118"/>
          <p:cNvSpPr>
            <a:spLocks noChangeArrowheads="1"/>
          </p:cNvSpPr>
          <p:nvPr/>
        </p:nvSpPr>
        <p:spPr bwMode="auto">
          <a:xfrm flipV="1">
            <a:off x="5507038" y="1916113"/>
            <a:ext cx="73025" cy="71437"/>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77" name="Rectangle 1"/>
          <p:cNvSpPr>
            <a:spLocks noChangeArrowheads="1"/>
          </p:cNvSpPr>
          <p:nvPr/>
        </p:nvSpPr>
        <p:spPr bwMode="auto">
          <a:xfrm>
            <a:off x="7596188" y="1773238"/>
            <a:ext cx="792162"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8/2</a:t>
            </a:r>
            <a:endParaRPr lang="en-US" altLang="zh-CN" sz="2000" b="1">
              <a:effectLst/>
              <a:latin typeface="Arial" panose="020B0604020202020204" pitchFamily="34" charset="0"/>
              <a:cs typeface="Times New Roman" panose="02020603050405020304" pitchFamily="18" charset="0"/>
            </a:endParaRPr>
          </a:p>
        </p:txBody>
      </p:sp>
      <p:sp>
        <p:nvSpPr>
          <p:cNvPr id="78" name="Rectangle 2"/>
          <p:cNvSpPr>
            <a:spLocks noChangeArrowheads="1"/>
          </p:cNvSpPr>
          <p:nvPr/>
        </p:nvSpPr>
        <p:spPr bwMode="auto">
          <a:xfrm>
            <a:off x="7596188" y="2205038"/>
            <a:ext cx="79375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7/1</a:t>
            </a:r>
            <a:endParaRPr lang="en-US" altLang="zh-CN" sz="2000" b="1">
              <a:effectLst/>
              <a:latin typeface="Arial" panose="020B0604020202020204" pitchFamily="34" charset="0"/>
            </a:endParaRPr>
          </a:p>
        </p:txBody>
      </p:sp>
      <p:sp>
        <p:nvSpPr>
          <p:cNvPr id="79" name="Rectangle 4"/>
          <p:cNvSpPr>
            <a:spLocks noChangeArrowheads="1"/>
          </p:cNvSpPr>
          <p:nvPr/>
        </p:nvSpPr>
        <p:spPr bwMode="auto">
          <a:xfrm>
            <a:off x="3132138" y="765175"/>
            <a:ext cx="44640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5     </a:t>
            </a:r>
            <a:r>
              <a:rPr lang="zh-CN" altLang="en-US" sz="2000" b="1">
                <a:effectLst/>
                <a:latin typeface="Arial" panose="020B0604020202020204" pitchFamily="34" charset="0"/>
                <a:cs typeface="Arial" panose="020B0604020202020204" pitchFamily="34" charset="0"/>
              </a:rPr>
              <a:t>－ </a:t>
            </a:r>
            <a:r>
              <a:rPr lang="en-US" altLang="zh-CN" sz="2000" b="1">
                <a:effectLst/>
                <a:latin typeface="Arial" panose="020B0604020202020204" pitchFamily="34" charset="0"/>
                <a:cs typeface="Arial" panose="020B0604020202020204" pitchFamily="34" charset="0"/>
              </a:rPr>
              <a:t>2      </a:t>
            </a:r>
            <a:r>
              <a:rPr lang="zh-CN" altLang="en-US" sz="2000" b="1">
                <a:effectLst/>
                <a:latin typeface="Arial" panose="020B0604020202020204" pitchFamily="34" charset="0"/>
                <a:cs typeface="Arial" panose="020B0604020202020204" pitchFamily="34" charset="0"/>
              </a:rPr>
              <a:t>－ </a:t>
            </a:r>
            <a:r>
              <a:rPr lang="en-US" altLang="zh-CN" sz="2000" b="1">
                <a:effectLst/>
                <a:latin typeface="Arial" panose="020B0604020202020204" pitchFamily="34" charset="0"/>
                <a:cs typeface="Arial" panose="020B0604020202020204" pitchFamily="34" charset="0"/>
              </a:rPr>
              <a:t>3        1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cs typeface="Arial" panose="020B0604020202020204" pitchFamily="34" charset="0"/>
            </a:endParaRPr>
          </a:p>
        </p:txBody>
      </p:sp>
      <p:sp>
        <p:nvSpPr>
          <p:cNvPr id="80" name="Rectangle 5"/>
          <p:cNvSpPr>
            <a:spLocks noChangeArrowheads="1"/>
          </p:cNvSpPr>
          <p:nvPr/>
        </p:nvSpPr>
        <p:spPr bwMode="auto">
          <a:xfrm>
            <a:off x="3132138" y="3645024"/>
            <a:ext cx="44640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5     </a:t>
            </a:r>
            <a:r>
              <a:rPr lang="zh-CN" altLang="en-US" sz="2000" b="1">
                <a:effectLst/>
                <a:latin typeface="Arial" panose="020B0604020202020204" pitchFamily="34" charset="0"/>
                <a:cs typeface="Arial" panose="020B0604020202020204" pitchFamily="34" charset="0"/>
              </a:rPr>
              <a:t>－ </a:t>
            </a:r>
            <a:r>
              <a:rPr lang="en-US" altLang="zh-CN" sz="2000" b="1">
                <a:effectLst/>
                <a:latin typeface="Arial" panose="020B0604020202020204" pitchFamily="34" charset="0"/>
                <a:cs typeface="Arial" panose="020B0604020202020204" pitchFamily="34" charset="0"/>
              </a:rPr>
              <a:t>2      </a:t>
            </a:r>
            <a:r>
              <a:rPr lang="zh-CN" altLang="en-US" sz="2000" b="1">
                <a:effectLst/>
                <a:latin typeface="Arial" panose="020B0604020202020204" pitchFamily="34" charset="0"/>
                <a:cs typeface="Arial" panose="020B0604020202020204" pitchFamily="34" charset="0"/>
              </a:rPr>
              <a:t>－ </a:t>
            </a:r>
            <a:r>
              <a:rPr lang="en-US" altLang="zh-CN" sz="2000" b="1">
                <a:effectLst/>
                <a:latin typeface="Arial" panose="020B0604020202020204" pitchFamily="34" charset="0"/>
                <a:cs typeface="Arial" panose="020B0604020202020204" pitchFamily="34" charset="0"/>
              </a:rPr>
              <a:t>3        1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cs typeface="Arial" panose="020B0604020202020204" pitchFamily="34" charset="0"/>
            </a:endParaRPr>
          </a:p>
        </p:txBody>
      </p:sp>
      <p:sp>
        <p:nvSpPr>
          <p:cNvPr id="81" name="Line 6"/>
          <p:cNvSpPr>
            <a:spLocks noChangeShapeType="1"/>
          </p:cNvSpPr>
          <p:nvPr/>
        </p:nvSpPr>
        <p:spPr bwMode="auto">
          <a:xfrm flipV="1">
            <a:off x="5535613" y="1773238"/>
            <a:ext cx="0" cy="1150937"/>
          </a:xfrm>
          <a:prstGeom prst="line">
            <a:avLst/>
          </a:prstGeom>
          <a:noFill/>
          <a:ln w="349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82" name="Line 7"/>
          <p:cNvSpPr>
            <a:spLocks noChangeShapeType="1"/>
          </p:cNvSpPr>
          <p:nvPr/>
        </p:nvSpPr>
        <p:spPr bwMode="auto">
          <a:xfrm>
            <a:off x="5076825" y="1944688"/>
            <a:ext cx="2879725" cy="0"/>
          </a:xfrm>
          <a:prstGeom prst="line">
            <a:avLst/>
          </a:prstGeom>
          <a:noFill/>
          <a:ln w="349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graphicFrame>
        <p:nvGraphicFramePr>
          <p:cNvPr id="83" name="Object 10"/>
          <p:cNvGraphicFramePr>
            <a:graphicFrameLocks noChangeAspect="1"/>
          </p:cNvGraphicFramePr>
          <p:nvPr/>
        </p:nvGraphicFramePr>
        <p:xfrm>
          <a:off x="2233613" y="5805264"/>
          <a:ext cx="4152900" cy="457200"/>
        </p:xfrm>
        <a:graphic>
          <a:graphicData uri="http://schemas.openxmlformats.org/presentationml/2006/ole">
            <mc:AlternateContent xmlns:mc="http://schemas.openxmlformats.org/markup-compatibility/2006">
              <mc:Choice xmlns:v="urn:schemas-microsoft-com:vml" Requires="v">
                <p:oleObj spid="_x0000_s37889" name="Equation" r:id="rId1" imgW="99669600" imgH="10972800" progId="Equation.3">
                  <p:embed/>
                </p:oleObj>
              </mc:Choice>
              <mc:Fallback>
                <p:oleObj name="Equation" r:id="rId1" imgW="99669600" imgH="10972800" progId="Equation.3">
                  <p:embed/>
                  <p:pic>
                    <p:nvPicPr>
                      <p:cNvPr id="0" name="图片 37888"/>
                      <p:cNvPicPr>
                        <a:picLocks noChangeAspect="1"/>
                      </p:cNvPicPr>
                      <p:nvPr/>
                    </p:nvPicPr>
                    <p:blipFill>
                      <a:blip r:embed="rId2"/>
                      <a:stretch>
                        <a:fillRect/>
                      </a:stretch>
                    </p:blipFill>
                    <p:spPr>
                      <a:xfrm>
                        <a:off x="2233613" y="5805264"/>
                        <a:ext cx="4152900" cy="4572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down)">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blinds(horizontal)">
                                      <p:cBhvr>
                                        <p:cTn id="12" dur="500"/>
                                        <p:tgtEl>
                                          <p:spTgt spid="7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8"/>
                                        </p:tgtEl>
                                        <p:attrNameLst>
                                          <p:attrName>style.visibility</p:attrName>
                                        </p:attrNameLst>
                                      </p:cBhvr>
                                      <p:to>
                                        <p:strVal val="visible"/>
                                      </p:to>
                                    </p:set>
                                    <p:animEffect transition="in" filter="blinds(horizontal)">
                                      <p:cBhvr>
                                        <p:cTn id="15" dur="500"/>
                                        <p:tgtEl>
                                          <p:spTgt spid="7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82"/>
                                        </p:tgtEl>
                                        <p:attrNameLst>
                                          <p:attrName>style.visibility</p:attrName>
                                        </p:attrNameLst>
                                      </p:cBhvr>
                                      <p:to>
                                        <p:strVal val="visible"/>
                                      </p:to>
                                    </p:set>
                                    <p:animEffect transition="in" filter="wipe(right)">
                                      <p:cBhvr>
                                        <p:cTn id="20" dur="500"/>
                                        <p:tgtEl>
                                          <p:spTgt spid="8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76"/>
                                        </p:tgtEl>
                                        <p:attrNameLst>
                                          <p:attrName>style.visibility</p:attrName>
                                        </p:attrNameLst>
                                      </p:cBhvr>
                                      <p:to>
                                        <p:strVal val="visible"/>
                                      </p:to>
                                    </p:set>
                                    <p:animEffect transition="in" filter="blinds(horizontal)">
                                      <p:cBhvr>
                                        <p:cTn id="25" dur="500"/>
                                        <p:tgtEl>
                                          <p:spTgt spid="7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1">
                                            <p:txEl>
                                              <p:pRg st="0" end="0"/>
                                            </p:txEl>
                                          </p:spTgt>
                                        </p:tgtEl>
                                        <p:attrNameLst>
                                          <p:attrName>style.visibility</p:attrName>
                                        </p:attrNameLst>
                                      </p:cBhvr>
                                      <p:to>
                                        <p:strVal val="visible"/>
                                      </p:to>
                                    </p:set>
                                    <p:animEffect transition="in" filter="blinds(horizontal)">
                                      <p:cBhvr>
                                        <p:cTn id="30" dur="500"/>
                                        <p:tgtEl>
                                          <p:spTgt spid="11">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6"/>
                                        </p:tgtEl>
                                        <p:attrNameLst>
                                          <p:attrName>style.visibility</p:attrName>
                                        </p:attrNameLst>
                                      </p:cBhvr>
                                      <p:to>
                                        <p:strVal val="visible"/>
                                      </p:to>
                                    </p:set>
                                    <p:animEffect transition="in" filter="blinds(horizontal)">
                                      <p:cBhvr>
                                        <p:cTn id="35" dur="500"/>
                                        <p:tgtEl>
                                          <p:spTgt spid="76"/>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blinds(horizontal)">
                                      <p:cBhvr>
                                        <p:cTn id="38" dur="500"/>
                                        <p:tgtEl>
                                          <p:spTgt spid="16"/>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blinds(horizontal)">
                                      <p:cBhvr>
                                        <p:cTn id="41" dur="500"/>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blinds(horizontal)">
                                      <p:cBhvr>
                                        <p:cTn id="46" dur="500"/>
                                        <p:tgtEl>
                                          <p:spTgt spid="17"/>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blinds(horizontal)">
                                      <p:cBhvr>
                                        <p:cTn id="49" dur="50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blinds(horizontal)">
                                      <p:cBhvr>
                                        <p:cTn id="54" dur="500"/>
                                        <p:tgtEl>
                                          <p:spTgt spid="15"/>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blinds(horizontal)">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blinds(horizontal)">
                                      <p:cBhvr>
                                        <p:cTn id="62" dur="500"/>
                                        <p:tgtEl>
                                          <p:spTgt spid="24"/>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blinds(horizontal)">
                                      <p:cBhvr>
                                        <p:cTn id="65" dur="500"/>
                                        <p:tgtEl>
                                          <p:spTgt spid="23"/>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blinds(horizontal)">
                                      <p:cBhvr>
                                        <p:cTn id="70" dur="500"/>
                                        <p:tgtEl>
                                          <p:spTgt spid="20"/>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blinds(horizontal)">
                                      <p:cBhvr>
                                        <p:cTn id="75" dur="500"/>
                                        <p:tgtEl>
                                          <p:spTgt spid="19"/>
                                        </p:tgtEl>
                                      </p:cBhvr>
                                    </p:animEffect>
                                  </p:childTnLst>
                                </p:cTn>
                              </p:par>
                              <p:par>
                                <p:cTn id="76" presetID="3" presetClass="entr" presetSubtype="10" fill="hold" nodeType="withEffect">
                                  <p:stCondLst>
                                    <p:cond delay="0"/>
                                  </p:stCondLst>
                                  <p:childTnLst>
                                    <p:set>
                                      <p:cBhvr>
                                        <p:cTn id="77" dur="1" fill="hold">
                                          <p:stCondLst>
                                            <p:cond delay="0"/>
                                          </p:stCondLst>
                                        </p:cTn>
                                        <p:tgtEl>
                                          <p:spTgt spid="12">
                                            <p:txEl>
                                              <p:pRg st="0" end="0"/>
                                            </p:txEl>
                                          </p:spTgt>
                                        </p:tgtEl>
                                        <p:attrNameLst>
                                          <p:attrName>style.visibility</p:attrName>
                                        </p:attrNameLst>
                                      </p:cBhvr>
                                      <p:to>
                                        <p:strVal val="visible"/>
                                      </p:to>
                                    </p:set>
                                    <p:animEffect transition="in" filter="blinds(horizontal)">
                                      <p:cBhvr>
                                        <p:cTn id="78"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9" grpId="0"/>
      <p:bldP spid="20" grpId="0"/>
      <p:bldP spid="23" grpId="0"/>
      <p:bldP spid="24" grpId="0"/>
      <p:bldP spid="25" grpId="0"/>
      <p:bldP spid="26" grpId="0"/>
      <p:bldP spid="77" grpId="0"/>
      <p:bldP spid="7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28927" y="38094"/>
            <a:ext cx="6072230" cy="582594"/>
          </a:xfrm>
        </p:spPr>
        <p:txBody>
          <a:bodyPr/>
          <a:lstStyle/>
          <a:p>
            <a:r>
              <a:rPr kumimoji="1" lang="zh-CN" altLang="x-none" dirty="0">
                <a:latin typeface="Times New Roman" panose="02020603050405020304" pitchFamily="18" charset="0"/>
                <a:cs typeface="Times New Roman" panose="02020603050405020304" pitchFamily="18" charset="0"/>
              </a:rPr>
              <a:t>单纯形表</a:t>
            </a:r>
            <a:endParaRPr kumimoji="1" lang="zh-CN" altLang="en-US" dirty="0">
              <a:latin typeface="Times New Roman" panose="02020603050405020304" pitchFamily="18" charset="0"/>
              <a:cs typeface="Times New Roman" panose="02020603050405020304" pitchFamily="18" charset="0"/>
            </a:endParaRPr>
          </a:p>
        </p:txBody>
      </p:sp>
      <p:sp>
        <p:nvSpPr>
          <p:cNvPr id="10" name="Rectangle 3"/>
          <p:cNvSpPr>
            <a:spLocks noChangeArrowheads="1"/>
          </p:cNvSpPr>
          <p:nvPr/>
        </p:nvSpPr>
        <p:spPr bwMode="auto">
          <a:xfrm>
            <a:off x="533400" y="507951"/>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b="1">
                <a:effectLst/>
                <a:latin typeface="宋体" panose="02010600030101010101" pitchFamily="2" charset="-122"/>
              </a:rPr>
              <a:t>  </a:t>
            </a:r>
            <a:endParaRPr lang="en-US" altLang="zh-CN" b="1">
              <a:effectLst/>
            </a:endParaRPr>
          </a:p>
        </p:txBody>
      </p:sp>
      <p:sp>
        <p:nvSpPr>
          <p:cNvPr id="11" name="Rectangle 40"/>
          <p:cNvSpPr>
            <a:spLocks noChangeArrowheads="1"/>
          </p:cNvSpPr>
          <p:nvPr/>
        </p:nvSpPr>
        <p:spPr bwMode="auto">
          <a:xfrm>
            <a:off x="533400" y="5042793"/>
            <a:ext cx="815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sz="2800" b="1">
                <a:effectLst/>
                <a:latin typeface="宋体" panose="02010600030101010101" pitchFamily="2" charset="-122"/>
              </a:rPr>
              <a:t>  </a:t>
            </a:r>
            <a:endParaRPr lang="en-US" altLang="zh-CN" sz="2800" b="1">
              <a:effectLst/>
            </a:endParaRPr>
          </a:p>
        </p:txBody>
      </p:sp>
      <p:sp>
        <p:nvSpPr>
          <p:cNvPr id="12" name="Rectangle 154"/>
          <p:cNvSpPr>
            <a:spLocks noChangeArrowheads="1"/>
          </p:cNvSpPr>
          <p:nvPr/>
        </p:nvSpPr>
        <p:spPr bwMode="auto">
          <a:xfrm>
            <a:off x="539750" y="2831679"/>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b="1" i="1" dirty="0">
                <a:effectLst/>
              </a:rPr>
              <a:t>x</a:t>
            </a:r>
            <a:r>
              <a:rPr lang="en-US" altLang="zh-CN" b="1" baseline="-25000" dirty="0">
                <a:effectLst/>
              </a:rPr>
              <a:t>1</a:t>
            </a:r>
            <a:r>
              <a:rPr lang="zh-CN" altLang="en-US" sz="2000" b="1" dirty="0">
                <a:effectLst/>
                <a:ea typeface="楷体_GB2312" pitchFamily="49" charset="-122"/>
              </a:rPr>
              <a:t>换入变量，</a:t>
            </a:r>
            <a:r>
              <a:rPr lang="en-US" altLang="zh-CN" b="1" i="1" dirty="0">
                <a:effectLst/>
              </a:rPr>
              <a:t>x</a:t>
            </a:r>
            <a:r>
              <a:rPr lang="en-US" altLang="zh-CN" b="1" baseline="-25000" dirty="0">
                <a:effectLst/>
              </a:rPr>
              <a:t>5</a:t>
            </a:r>
            <a:r>
              <a:rPr lang="zh-CN" altLang="en-US" sz="2000" b="1" dirty="0">
                <a:effectLst/>
                <a:ea typeface="楷体_GB2312" pitchFamily="49" charset="-122"/>
              </a:rPr>
              <a:t>换出变量，５</a:t>
            </a:r>
            <a:r>
              <a:rPr lang="en-US" altLang="zh-CN" sz="2000" b="1" dirty="0">
                <a:effectLst/>
                <a:ea typeface="楷体_GB2312" pitchFamily="49" charset="-122"/>
              </a:rPr>
              <a:t>/</a:t>
            </a:r>
            <a:r>
              <a:rPr lang="zh-CN" altLang="en-US" sz="2000" b="1" dirty="0">
                <a:effectLst/>
                <a:ea typeface="楷体_GB2312" pitchFamily="49" charset="-122"/>
              </a:rPr>
              <a:t>２为主元进行旋转变换</a:t>
            </a:r>
            <a:endParaRPr lang="zh-CN" altLang="en-US" sz="2000" b="1" dirty="0">
              <a:effectLst/>
              <a:ea typeface="楷体_GB2312" pitchFamily="49" charset="-122"/>
            </a:endParaRPr>
          </a:p>
        </p:txBody>
      </p:sp>
      <p:sp>
        <p:nvSpPr>
          <p:cNvPr id="13" name="Rectangle 3"/>
          <p:cNvSpPr>
            <a:spLocks noChangeArrowheads="1"/>
          </p:cNvSpPr>
          <p:nvPr/>
        </p:nvSpPr>
        <p:spPr bwMode="auto">
          <a:xfrm>
            <a:off x="7596188" y="1608089"/>
            <a:ext cx="79216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rPr>
              <a:t>4/</a:t>
            </a:r>
            <a:r>
              <a:rPr lang="en-US" altLang="zh-CN" sz="1200" b="1">
                <a:effectLst/>
                <a:latin typeface="Arial" panose="020B0604020202020204" pitchFamily="34" charset="0"/>
                <a:ea typeface="楷体_GB2312" pitchFamily="49" charset="-122"/>
              </a:rPr>
              <a:t>1/2</a:t>
            </a:r>
            <a:endParaRPr lang="en-US" altLang="zh-CN" sz="1200" b="1">
              <a:effectLst/>
              <a:latin typeface="Arial" panose="020B0604020202020204" pitchFamily="34" charset="0"/>
              <a:ea typeface="楷体_GB2312" pitchFamily="49" charset="-122"/>
            </a:endParaRPr>
          </a:p>
        </p:txBody>
      </p:sp>
      <p:sp>
        <p:nvSpPr>
          <p:cNvPr id="14" name="Rectangle 4"/>
          <p:cNvSpPr>
            <a:spLocks noChangeArrowheads="1"/>
          </p:cNvSpPr>
          <p:nvPr/>
        </p:nvSpPr>
        <p:spPr bwMode="auto">
          <a:xfrm>
            <a:off x="3132138" y="1608089"/>
            <a:ext cx="44640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333375"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ea typeface="楷体_GB2312" pitchFamily="49" charset="-122"/>
              </a:rPr>
              <a:t>1/2    </a:t>
            </a:r>
            <a:r>
              <a:rPr lang="zh-CN" altLang="en-US" sz="2000" b="1">
                <a:effectLst/>
                <a:latin typeface="Arial" panose="020B0604020202020204" pitchFamily="34" charset="0"/>
                <a:ea typeface="楷体_GB2312" pitchFamily="49" charset="-122"/>
              </a:rPr>
              <a:t>　  </a:t>
            </a:r>
            <a:r>
              <a:rPr lang="en-US" altLang="zh-CN" sz="2000" b="1">
                <a:effectLst/>
                <a:latin typeface="Arial" panose="020B0604020202020204" pitchFamily="34" charset="0"/>
                <a:ea typeface="楷体_GB2312" pitchFamily="49" charset="-122"/>
              </a:rPr>
              <a:t>1     </a:t>
            </a:r>
            <a:r>
              <a:rPr lang="zh-CN" altLang="en-US" sz="2000" b="1">
                <a:effectLst/>
                <a:latin typeface="Arial" panose="020B0604020202020204" pitchFamily="34" charset="0"/>
                <a:ea typeface="楷体_GB2312" pitchFamily="49" charset="-122"/>
              </a:rPr>
              <a:t>　  </a:t>
            </a:r>
            <a:r>
              <a:rPr lang="en-US" altLang="zh-CN" sz="2000" b="1">
                <a:effectLst/>
                <a:latin typeface="Arial" panose="020B0604020202020204" pitchFamily="34" charset="0"/>
                <a:ea typeface="楷体_GB2312" pitchFamily="49" charset="-122"/>
              </a:rPr>
              <a:t>1    </a:t>
            </a:r>
            <a:r>
              <a:rPr lang="zh-CN" altLang="en-US" sz="2000" b="1">
                <a:effectLst/>
                <a:latin typeface="Arial" panose="020B0604020202020204" pitchFamily="34" charset="0"/>
                <a:ea typeface="楷体_GB2312" pitchFamily="49" charset="-122"/>
              </a:rPr>
              <a:t>　 </a:t>
            </a:r>
            <a:r>
              <a:rPr lang="en-US" altLang="zh-CN" sz="2000" b="1">
                <a:effectLst/>
                <a:latin typeface="Arial" panose="020B0604020202020204" pitchFamily="34" charset="0"/>
                <a:ea typeface="楷体_GB2312" pitchFamily="49" charset="-122"/>
              </a:rPr>
              <a:t>1/2    </a:t>
            </a:r>
            <a:r>
              <a:rPr lang="zh-CN" altLang="en-US" sz="2000" b="1">
                <a:effectLst/>
                <a:latin typeface="Arial" panose="020B0604020202020204" pitchFamily="34" charset="0"/>
                <a:ea typeface="楷体_GB2312" pitchFamily="49" charset="-122"/>
              </a:rPr>
              <a:t>　 </a:t>
            </a:r>
            <a:r>
              <a:rPr lang="en-US" altLang="zh-CN" sz="2000" b="1">
                <a:effectLst/>
                <a:latin typeface="Arial" panose="020B0604020202020204" pitchFamily="34" charset="0"/>
                <a:ea typeface="楷体_GB2312" pitchFamily="49" charset="-122"/>
              </a:rPr>
              <a:t>0</a:t>
            </a:r>
            <a:endParaRPr lang="en-US" altLang="zh-CN" sz="2000" b="1">
              <a:effectLst/>
              <a:latin typeface="Arial" panose="020B0604020202020204" pitchFamily="34" charset="0"/>
              <a:ea typeface="楷体_GB2312" pitchFamily="49" charset="-122"/>
            </a:endParaRPr>
          </a:p>
        </p:txBody>
      </p:sp>
      <p:sp>
        <p:nvSpPr>
          <p:cNvPr id="15" name="Rectangle 5"/>
          <p:cNvSpPr>
            <a:spLocks noChangeArrowheads="1"/>
          </p:cNvSpPr>
          <p:nvPr/>
        </p:nvSpPr>
        <p:spPr bwMode="auto">
          <a:xfrm>
            <a:off x="2268538" y="1608089"/>
            <a:ext cx="863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rPr>
              <a:t>4</a:t>
            </a:r>
            <a:endParaRPr lang="en-US" altLang="zh-CN" sz="2000" b="1">
              <a:effectLst/>
              <a:latin typeface="Arial" panose="020B0604020202020204" pitchFamily="34" charset="0"/>
              <a:ea typeface="楷体_GB2312" pitchFamily="49" charset="-122"/>
            </a:endParaRPr>
          </a:p>
        </p:txBody>
      </p:sp>
      <p:sp>
        <p:nvSpPr>
          <p:cNvPr id="16" name="Rectangle 6"/>
          <p:cNvSpPr>
            <a:spLocks noChangeArrowheads="1"/>
          </p:cNvSpPr>
          <p:nvPr/>
        </p:nvSpPr>
        <p:spPr bwMode="auto">
          <a:xfrm>
            <a:off x="1476375" y="1608089"/>
            <a:ext cx="7921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rPr>
              <a:t>x</a:t>
            </a:r>
            <a:r>
              <a:rPr lang="en-US" altLang="zh-CN" sz="1200" b="1">
                <a:effectLst/>
                <a:latin typeface="Arial" panose="020B0604020202020204" pitchFamily="34" charset="0"/>
                <a:ea typeface="楷体_GB2312" pitchFamily="49" charset="-122"/>
              </a:rPr>
              <a:t>3</a:t>
            </a:r>
            <a:endParaRPr lang="en-US" altLang="zh-CN" sz="2000" b="1">
              <a:effectLst/>
              <a:latin typeface="Arial" panose="020B0604020202020204" pitchFamily="34" charset="0"/>
              <a:ea typeface="楷体_GB2312" pitchFamily="49" charset="-122"/>
            </a:endParaRPr>
          </a:p>
        </p:txBody>
      </p:sp>
      <p:sp>
        <p:nvSpPr>
          <p:cNvPr id="17" name="Rectangle 7"/>
          <p:cNvSpPr>
            <a:spLocks noChangeArrowheads="1"/>
          </p:cNvSpPr>
          <p:nvPr/>
        </p:nvSpPr>
        <p:spPr bwMode="auto">
          <a:xfrm>
            <a:off x="755650" y="1608089"/>
            <a:ext cx="7207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rPr>
              <a:t> 3</a:t>
            </a:r>
            <a:endParaRPr lang="en-US" altLang="zh-CN" sz="2000" b="1">
              <a:effectLst/>
              <a:latin typeface="Arial" panose="020B0604020202020204" pitchFamily="34" charset="0"/>
              <a:ea typeface="楷体_GB2312" pitchFamily="49" charset="-122"/>
            </a:endParaRPr>
          </a:p>
        </p:txBody>
      </p:sp>
      <p:sp>
        <p:nvSpPr>
          <p:cNvPr id="18" name="Rectangle 8"/>
          <p:cNvSpPr>
            <a:spLocks noChangeArrowheads="1"/>
          </p:cNvSpPr>
          <p:nvPr/>
        </p:nvSpPr>
        <p:spPr bwMode="auto">
          <a:xfrm>
            <a:off x="7596188" y="2435176"/>
            <a:ext cx="792162"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latin typeface="Arial" panose="020B0604020202020204" pitchFamily="34" charset="0"/>
              <a:ea typeface="楷体_GB2312" pitchFamily="49" charset="-122"/>
            </a:endParaRPr>
          </a:p>
        </p:txBody>
      </p:sp>
      <p:sp>
        <p:nvSpPr>
          <p:cNvPr id="19" name="Rectangle 9"/>
          <p:cNvSpPr>
            <a:spLocks noChangeArrowheads="1"/>
          </p:cNvSpPr>
          <p:nvPr/>
        </p:nvSpPr>
        <p:spPr bwMode="auto">
          <a:xfrm>
            <a:off x="3132138" y="2435176"/>
            <a:ext cx="446405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    </a:t>
            </a:r>
            <a:r>
              <a:rPr lang="zh-CN" altLang="en-US" sz="2000" b="1">
                <a:effectLst/>
                <a:latin typeface="Arial" panose="020B0604020202020204" pitchFamily="34" charset="0"/>
                <a:ea typeface="楷体_GB2312" pitchFamily="49" charset="-122"/>
                <a:cs typeface="Arial" panose="020B0604020202020204" pitchFamily="34" charset="0"/>
              </a:rPr>
              <a:t>－</a:t>
            </a:r>
            <a:r>
              <a:rPr lang="en-US" altLang="zh-CN" sz="2000" b="1">
                <a:effectLst/>
                <a:latin typeface="Arial" panose="020B0604020202020204" pitchFamily="34" charset="0"/>
                <a:ea typeface="楷体_GB2312" pitchFamily="49" charset="-122"/>
                <a:cs typeface="Arial" panose="020B0604020202020204" pitchFamily="34" charset="0"/>
              </a:rPr>
              <a:t>1         4           0           2          0</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0" name="Rectangle 10"/>
          <p:cNvSpPr>
            <a:spLocks noChangeArrowheads="1"/>
          </p:cNvSpPr>
          <p:nvPr/>
        </p:nvSpPr>
        <p:spPr bwMode="auto">
          <a:xfrm>
            <a:off x="2268538" y="2435176"/>
            <a:ext cx="8636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ea typeface="楷体_GB2312" pitchFamily="49" charset="-122"/>
                <a:cs typeface="Arial" panose="020B0604020202020204" pitchFamily="34" charset="0"/>
              </a:rPr>
              <a:t>15</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1" name="Rectangle 11"/>
          <p:cNvSpPr>
            <a:spLocks noChangeArrowheads="1"/>
          </p:cNvSpPr>
          <p:nvPr/>
        </p:nvSpPr>
        <p:spPr bwMode="auto">
          <a:xfrm>
            <a:off x="755650" y="2435176"/>
            <a:ext cx="1512888"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Z</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2" name="Rectangle 12"/>
          <p:cNvSpPr>
            <a:spLocks noChangeArrowheads="1"/>
          </p:cNvSpPr>
          <p:nvPr/>
        </p:nvSpPr>
        <p:spPr bwMode="auto">
          <a:xfrm>
            <a:off x="7596188" y="2039889"/>
            <a:ext cx="79216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3/</a:t>
            </a:r>
            <a:r>
              <a:rPr lang="en-US" altLang="zh-CN" sz="2000" b="1" baseline="-30000">
                <a:effectLst/>
                <a:latin typeface="Arial" panose="020B0604020202020204" pitchFamily="34" charset="0"/>
                <a:ea typeface="楷体_GB2312" pitchFamily="49" charset="-122"/>
                <a:cs typeface="Arial" panose="020B0604020202020204" pitchFamily="34" charset="0"/>
              </a:rPr>
              <a:t>5/2</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3" name="Rectangle 13"/>
          <p:cNvSpPr>
            <a:spLocks noChangeArrowheads="1"/>
          </p:cNvSpPr>
          <p:nvPr/>
        </p:nvSpPr>
        <p:spPr bwMode="auto">
          <a:xfrm>
            <a:off x="3132138" y="2039889"/>
            <a:ext cx="446405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333375"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5/2         3           0        -1/2        1</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4" name="Rectangle 14"/>
          <p:cNvSpPr>
            <a:spLocks noChangeArrowheads="1"/>
          </p:cNvSpPr>
          <p:nvPr/>
        </p:nvSpPr>
        <p:spPr bwMode="auto">
          <a:xfrm>
            <a:off x="2268538" y="2039889"/>
            <a:ext cx="86360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3</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5" name="Rectangle 15"/>
          <p:cNvSpPr>
            <a:spLocks noChangeArrowheads="1"/>
          </p:cNvSpPr>
          <p:nvPr/>
        </p:nvSpPr>
        <p:spPr bwMode="auto">
          <a:xfrm>
            <a:off x="1476375" y="2039889"/>
            <a:ext cx="792163"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solidFill>
                  <a:srgbClr val="FF3300"/>
                </a:solidFill>
                <a:effectLst/>
                <a:latin typeface="Arial" panose="020B0604020202020204" pitchFamily="34" charset="0"/>
                <a:ea typeface="楷体_GB2312" pitchFamily="49" charset="-122"/>
                <a:cs typeface="Arial" panose="020B0604020202020204" pitchFamily="34" charset="0"/>
              </a:rPr>
              <a:t>x</a:t>
            </a:r>
            <a:r>
              <a:rPr lang="en-US" altLang="zh-CN" sz="2000" b="1" baseline="-30000">
                <a:solidFill>
                  <a:srgbClr val="FF3300"/>
                </a:solidFill>
                <a:effectLst/>
                <a:latin typeface="Arial" panose="020B0604020202020204" pitchFamily="34" charset="0"/>
                <a:ea typeface="楷体_GB2312" pitchFamily="49" charset="-122"/>
                <a:cs typeface="Arial" panose="020B0604020202020204" pitchFamily="34" charset="0"/>
              </a:rPr>
              <a:t>5</a:t>
            </a:r>
            <a:endParaRPr lang="en-US" altLang="zh-CN" sz="2000" b="1">
              <a:solidFill>
                <a:srgbClr val="FF3300"/>
              </a:solidFill>
              <a:effectLst/>
              <a:latin typeface="Arial" panose="020B0604020202020204" pitchFamily="34" charset="0"/>
              <a:ea typeface="楷体_GB2312" pitchFamily="49" charset="-122"/>
              <a:cs typeface="Arial" panose="020B0604020202020204" pitchFamily="34" charset="0"/>
            </a:endParaRPr>
          </a:p>
        </p:txBody>
      </p:sp>
      <p:sp>
        <p:nvSpPr>
          <p:cNvPr id="26" name="Rectangle 16"/>
          <p:cNvSpPr>
            <a:spLocks noChangeArrowheads="1"/>
          </p:cNvSpPr>
          <p:nvPr/>
        </p:nvSpPr>
        <p:spPr bwMode="auto">
          <a:xfrm>
            <a:off x="755650" y="2039889"/>
            <a:ext cx="720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ea typeface="楷体_GB2312" pitchFamily="49" charset="-122"/>
                <a:cs typeface="Arial" panose="020B0604020202020204" pitchFamily="34" charset="0"/>
              </a:rPr>
              <a:t>1</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7" name="Rectangle 17"/>
          <p:cNvSpPr>
            <a:spLocks noChangeArrowheads="1"/>
          </p:cNvSpPr>
          <p:nvPr/>
        </p:nvSpPr>
        <p:spPr bwMode="auto">
          <a:xfrm>
            <a:off x="3132138" y="1103264"/>
            <a:ext cx="44640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b="1">
                <a:effectLst/>
                <a:latin typeface="Arial" panose="020B0604020202020204" pitchFamily="34" charset="0"/>
                <a:ea typeface="楷体_GB2312" pitchFamily="49" charset="-122"/>
                <a:cs typeface="Arial" panose="020B0604020202020204" pitchFamily="34" charset="0"/>
              </a:rPr>
              <a:t>　　</a:t>
            </a: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1</a:t>
            </a:r>
            <a:r>
              <a:rPr lang="en-US" altLang="zh-CN" sz="2000" b="1">
                <a:effectLst/>
                <a:latin typeface="Arial" panose="020B0604020202020204" pitchFamily="34" charset="0"/>
                <a:ea typeface="楷体_GB2312" pitchFamily="49" charset="-122"/>
                <a:cs typeface="Arial" panose="020B0604020202020204" pitchFamily="34" charset="0"/>
              </a:rPr>
              <a:t>   </a:t>
            </a:r>
            <a:r>
              <a:rPr lang="zh-CN" altLang="en-US" sz="2000" b="1">
                <a:effectLst/>
                <a:latin typeface="Arial" panose="020B0604020202020204" pitchFamily="34" charset="0"/>
                <a:ea typeface="楷体_GB2312" pitchFamily="49" charset="-122"/>
                <a:cs typeface="Arial" panose="020B0604020202020204" pitchFamily="34" charset="0"/>
              </a:rPr>
              <a:t>　  </a:t>
            </a: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2</a:t>
            </a:r>
            <a:r>
              <a:rPr lang="en-US" altLang="zh-CN" sz="2000" b="1">
                <a:effectLst/>
                <a:latin typeface="Arial" panose="020B0604020202020204" pitchFamily="34" charset="0"/>
                <a:ea typeface="楷体_GB2312" pitchFamily="49" charset="-122"/>
                <a:cs typeface="Arial" panose="020B0604020202020204" pitchFamily="34" charset="0"/>
              </a:rPr>
              <a:t>  </a:t>
            </a:r>
            <a:r>
              <a:rPr lang="zh-CN" altLang="en-US" sz="2000" b="1">
                <a:effectLst/>
                <a:latin typeface="Arial" panose="020B0604020202020204" pitchFamily="34" charset="0"/>
                <a:ea typeface="楷体_GB2312" pitchFamily="49" charset="-122"/>
                <a:cs typeface="Arial" panose="020B0604020202020204" pitchFamily="34" charset="0"/>
              </a:rPr>
              <a:t>　    </a:t>
            </a: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3</a:t>
            </a:r>
            <a:r>
              <a:rPr lang="en-US" altLang="zh-CN" sz="2000" b="1">
                <a:effectLst/>
                <a:latin typeface="Arial" panose="020B0604020202020204" pitchFamily="34" charset="0"/>
                <a:ea typeface="楷体_GB2312" pitchFamily="49" charset="-122"/>
                <a:cs typeface="Arial" panose="020B0604020202020204" pitchFamily="34" charset="0"/>
              </a:rPr>
              <a:t>    </a:t>
            </a:r>
            <a:r>
              <a:rPr lang="zh-CN" altLang="en-US" sz="2000" b="1">
                <a:effectLst/>
                <a:latin typeface="Arial" panose="020B0604020202020204" pitchFamily="34" charset="0"/>
                <a:ea typeface="楷体_GB2312" pitchFamily="49" charset="-122"/>
                <a:cs typeface="Arial" panose="020B0604020202020204" pitchFamily="34" charset="0"/>
              </a:rPr>
              <a:t>　 </a:t>
            </a: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4</a:t>
            </a:r>
            <a:r>
              <a:rPr lang="en-US" altLang="zh-CN" sz="2000" b="1">
                <a:effectLst/>
                <a:latin typeface="Arial" panose="020B0604020202020204" pitchFamily="34" charset="0"/>
                <a:ea typeface="楷体_GB2312" pitchFamily="49" charset="-122"/>
                <a:cs typeface="Arial" panose="020B0604020202020204" pitchFamily="34" charset="0"/>
              </a:rPr>
              <a:t> </a:t>
            </a:r>
            <a:r>
              <a:rPr lang="zh-CN" altLang="en-US" sz="2000" b="1">
                <a:effectLst/>
                <a:latin typeface="Arial" panose="020B0604020202020204" pitchFamily="34" charset="0"/>
                <a:ea typeface="楷体_GB2312" pitchFamily="49" charset="-122"/>
                <a:cs typeface="Arial" panose="020B0604020202020204" pitchFamily="34" charset="0"/>
              </a:rPr>
              <a:t>　    </a:t>
            </a: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5</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8" name="Rectangle 18"/>
          <p:cNvSpPr>
            <a:spLocks noChangeArrowheads="1"/>
          </p:cNvSpPr>
          <p:nvPr/>
        </p:nvSpPr>
        <p:spPr bwMode="auto">
          <a:xfrm>
            <a:off x="2268538" y="1176289"/>
            <a:ext cx="863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b</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29" name="Rectangle 19"/>
          <p:cNvSpPr>
            <a:spLocks noChangeArrowheads="1"/>
          </p:cNvSpPr>
          <p:nvPr/>
        </p:nvSpPr>
        <p:spPr bwMode="auto">
          <a:xfrm>
            <a:off x="1476375" y="1176289"/>
            <a:ext cx="7921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X</a:t>
            </a:r>
            <a:r>
              <a:rPr lang="en-US" altLang="zh-CN" sz="2000" b="1" baseline="-30000">
                <a:effectLst/>
                <a:latin typeface="Arial" panose="020B0604020202020204" pitchFamily="34" charset="0"/>
                <a:ea typeface="楷体_GB2312" pitchFamily="49" charset="-122"/>
                <a:cs typeface="Arial" panose="020B0604020202020204" pitchFamily="34" charset="0"/>
              </a:rPr>
              <a:t>B</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30" name="Rectangle 20"/>
          <p:cNvSpPr>
            <a:spLocks noChangeArrowheads="1"/>
          </p:cNvSpPr>
          <p:nvPr/>
        </p:nvSpPr>
        <p:spPr bwMode="auto">
          <a:xfrm>
            <a:off x="755650" y="1176289"/>
            <a:ext cx="7207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C</a:t>
            </a:r>
            <a:r>
              <a:rPr lang="en-US" altLang="zh-CN" sz="2000" b="1" baseline="-30000">
                <a:effectLst/>
                <a:latin typeface="Arial" panose="020B0604020202020204" pitchFamily="34" charset="0"/>
                <a:ea typeface="楷体_GB2312" pitchFamily="49" charset="-122"/>
                <a:cs typeface="Arial" panose="020B0604020202020204" pitchFamily="34" charset="0"/>
              </a:rPr>
              <a:t>B</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32" name="Rectangle 21"/>
          <p:cNvSpPr>
            <a:spLocks noChangeArrowheads="1"/>
          </p:cNvSpPr>
          <p:nvPr/>
        </p:nvSpPr>
        <p:spPr bwMode="auto">
          <a:xfrm>
            <a:off x="7596188" y="671464"/>
            <a:ext cx="792162"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l-GR" altLang="zh-CN" sz="2000" b="1" i="1">
                <a:effectLst/>
                <a:latin typeface="Arial" panose="020B0604020202020204" pitchFamily="34" charset="0"/>
                <a:cs typeface="Arial" panose="020B0604020202020204" pitchFamily="34" charset="0"/>
              </a:rPr>
              <a:t>θ</a:t>
            </a:r>
            <a:endParaRPr lang="en-US" altLang="zh-CN" sz="2000" b="1" i="1">
              <a:effectLst/>
              <a:latin typeface="Arial" panose="020B0604020202020204" pitchFamily="34" charset="0"/>
              <a:cs typeface="Arial" panose="020B0604020202020204" pitchFamily="34" charset="0"/>
            </a:endParaRPr>
          </a:p>
        </p:txBody>
      </p:sp>
      <p:sp>
        <p:nvSpPr>
          <p:cNvPr id="33" name="Rectangle 23"/>
          <p:cNvSpPr>
            <a:spLocks noChangeArrowheads="1"/>
          </p:cNvSpPr>
          <p:nvPr/>
        </p:nvSpPr>
        <p:spPr bwMode="auto">
          <a:xfrm>
            <a:off x="755650" y="671464"/>
            <a:ext cx="2376488"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ea typeface="楷体_GB2312" pitchFamily="49" charset="-122"/>
                <a:cs typeface="Arial" panose="020B0604020202020204" pitchFamily="34" charset="0"/>
              </a:rPr>
              <a:t>C</a:t>
            </a:r>
            <a:endParaRPr lang="en-US" altLang="zh-CN" sz="2000" b="1">
              <a:effectLst/>
              <a:latin typeface="Arial" panose="020B0604020202020204" pitchFamily="34" charset="0"/>
              <a:ea typeface="楷体_GB2312" pitchFamily="49" charset="-122"/>
              <a:cs typeface="Arial" panose="020B0604020202020204" pitchFamily="34" charset="0"/>
            </a:endParaRPr>
          </a:p>
        </p:txBody>
      </p:sp>
      <p:sp>
        <p:nvSpPr>
          <p:cNvPr id="34" name="Line 24"/>
          <p:cNvSpPr>
            <a:spLocks noChangeShapeType="1"/>
          </p:cNvSpPr>
          <p:nvPr/>
        </p:nvSpPr>
        <p:spPr bwMode="auto">
          <a:xfrm>
            <a:off x="755650" y="1176289"/>
            <a:ext cx="68405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5" name="Line 25"/>
          <p:cNvSpPr>
            <a:spLocks noChangeShapeType="1"/>
          </p:cNvSpPr>
          <p:nvPr/>
        </p:nvSpPr>
        <p:spPr bwMode="auto">
          <a:xfrm>
            <a:off x="3132138" y="671464"/>
            <a:ext cx="0" cy="223361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6" name="Line 26"/>
          <p:cNvSpPr>
            <a:spLocks noChangeShapeType="1"/>
          </p:cNvSpPr>
          <p:nvPr/>
        </p:nvSpPr>
        <p:spPr bwMode="auto">
          <a:xfrm>
            <a:off x="7596188" y="671464"/>
            <a:ext cx="0" cy="223361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7" name="Line 27"/>
          <p:cNvSpPr>
            <a:spLocks noChangeShapeType="1"/>
          </p:cNvSpPr>
          <p:nvPr/>
        </p:nvSpPr>
        <p:spPr bwMode="auto">
          <a:xfrm>
            <a:off x="755650" y="1608089"/>
            <a:ext cx="76327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8" name="Line 28"/>
          <p:cNvSpPr>
            <a:spLocks noChangeShapeType="1"/>
          </p:cNvSpPr>
          <p:nvPr/>
        </p:nvSpPr>
        <p:spPr bwMode="auto">
          <a:xfrm>
            <a:off x="1476375" y="1176289"/>
            <a:ext cx="0" cy="125888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39" name="Line 29"/>
          <p:cNvSpPr>
            <a:spLocks noChangeShapeType="1"/>
          </p:cNvSpPr>
          <p:nvPr/>
        </p:nvSpPr>
        <p:spPr bwMode="auto">
          <a:xfrm>
            <a:off x="2268538" y="1176289"/>
            <a:ext cx="0" cy="172878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0" name="Line 30"/>
          <p:cNvSpPr>
            <a:spLocks noChangeShapeType="1"/>
          </p:cNvSpPr>
          <p:nvPr/>
        </p:nvSpPr>
        <p:spPr bwMode="auto">
          <a:xfrm>
            <a:off x="755650" y="2435176"/>
            <a:ext cx="76327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1" name="Line 31"/>
          <p:cNvSpPr>
            <a:spLocks noChangeShapeType="1"/>
          </p:cNvSpPr>
          <p:nvPr/>
        </p:nvSpPr>
        <p:spPr bwMode="auto">
          <a:xfrm>
            <a:off x="755650" y="671464"/>
            <a:ext cx="76327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2" name="Line 32"/>
          <p:cNvSpPr>
            <a:spLocks noChangeShapeType="1"/>
          </p:cNvSpPr>
          <p:nvPr/>
        </p:nvSpPr>
        <p:spPr bwMode="auto">
          <a:xfrm>
            <a:off x="755650" y="671464"/>
            <a:ext cx="0" cy="2233612"/>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3" name="Line 33"/>
          <p:cNvSpPr>
            <a:spLocks noChangeShapeType="1"/>
          </p:cNvSpPr>
          <p:nvPr/>
        </p:nvSpPr>
        <p:spPr bwMode="auto">
          <a:xfrm>
            <a:off x="8388350" y="671464"/>
            <a:ext cx="0" cy="2233612"/>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4" name="Line 34"/>
          <p:cNvSpPr>
            <a:spLocks noChangeShapeType="1"/>
          </p:cNvSpPr>
          <p:nvPr/>
        </p:nvSpPr>
        <p:spPr bwMode="auto">
          <a:xfrm>
            <a:off x="755650" y="2905076"/>
            <a:ext cx="76327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5" name="Line 35"/>
          <p:cNvSpPr>
            <a:spLocks noChangeShapeType="1"/>
          </p:cNvSpPr>
          <p:nvPr/>
        </p:nvSpPr>
        <p:spPr bwMode="auto">
          <a:xfrm>
            <a:off x="755650" y="2039889"/>
            <a:ext cx="76327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6" name="Oval 36"/>
          <p:cNvSpPr>
            <a:spLocks noChangeArrowheads="1"/>
          </p:cNvSpPr>
          <p:nvPr/>
        </p:nvSpPr>
        <p:spPr bwMode="auto">
          <a:xfrm flipV="1">
            <a:off x="3779838" y="2111326"/>
            <a:ext cx="73025" cy="71438"/>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47" name="Rectangle 38"/>
          <p:cNvSpPr>
            <a:spLocks noChangeArrowheads="1"/>
          </p:cNvSpPr>
          <p:nvPr/>
        </p:nvSpPr>
        <p:spPr bwMode="auto">
          <a:xfrm>
            <a:off x="7596188" y="4053732"/>
            <a:ext cx="792162"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endParaRPr>
          </a:p>
        </p:txBody>
      </p:sp>
      <p:sp>
        <p:nvSpPr>
          <p:cNvPr id="48" name="Rectangle 39"/>
          <p:cNvSpPr>
            <a:spLocks noChangeArrowheads="1"/>
          </p:cNvSpPr>
          <p:nvPr/>
        </p:nvSpPr>
        <p:spPr bwMode="auto">
          <a:xfrm>
            <a:off x="3132138" y="4053732"/>
            <a:ext cx="44640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333375"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rPr>
              <a:t>  0         2/5        1        3/5     -1/5</a:t>
            </a:r>
            <a:endParaRPr lang="en-US" altLang="zh-CN" sz="2000" b="1">
              <a:effectLst/>
            </a:endParaRPr>
          </a:p>
        </p:txBody>
      </p:sp>
      <p:sp>
        <p:nvSpPr>
          <p:cNvPr id="49" name="Rectangle 40"/>
          <p:cNvSpPr>
            <a:spLocks noChangeArrowheads="1"/>
          </p:cNvSpPr>
          <p:nvPr/>
        </p:nvSpPr>
        <p:spPr bwMode="auto">
          <a:xfrm>
            <a:off x="2268538" y="4053732"/>
            <a:ext cx="8636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rPr>
              <a:t>17/5</a:t>
            </a:r>
            <a:endParaRPr lang="en-US" altLang="zh-CN" sz="2000" b="1">
              <a:effectLst/>
            </a:endParaRPr>
          </a:p>
        </p:txBody>
      </p:sp>
      <p:sp>
        <p:nvSpPr>
          <p:cNvPr id="50" name="Rectangle 41"/>
          <p:cNvSpPr>
            <a:spLocks noChangeArrowheads="1"/>
          </p:cNvSpPr>
          <p:nvPr/>
        </p:nvSpPr>
        <p:spPr bwMode="auto">
          <a:xfrm>
            <a:off x="1476375" y="4053732"/>
            <a:ext cx="792163"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rPr>
              <a:t>x</a:t>
            </a:r>
            <a:r>
              <a:rPr lang="en-US" altLang="zh-CN" sz="1200" b="1">
                <a:effectLst/>
                <a:latin typeface="Arial" panose="020B0604020202020204" pitchFamily="34" charset="0"/>
              </a:rPr>
              <a:t>3</a:t>
            </a:r>
            <a:endParaRPr lang="en-US" altLang="zh-CN" sz="1200" b="1">
              <a:effectLst/>
            </a:endParaRPr>
          </a:p>
        </p:txBody>
      </p:sp>
      <p:sp>
        <p:nvSpPr>
          <p:cNvPr id="51" name="Rectangle 42"/>
          <p:cNvSpPr>
            <a:spLocks noChangeArrowheads="1"/>
          </p:cNvSpPr>
          <p:nvPr/>
        </p:nvSpPr>
        <p:spPr bwMode="auto">
          <a:xfrm>
            <a:off x="755650" y="4053732"/>
            <a:ext cx="72072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rPr>
              <a:t>3</a:t>
            </a:r>
            <a:endParaRPr lang="en-US" altLang="zh-CN" sz="2000" b="1">
              <a:effectLst/>
              <a:latin typeface="Arial" panose="020B0604020202020204" pitchFamily="34" charset="0"/>
            </a:endParaRPr>
          </a:p>
        </p:txBody>
      </p:sp>
      <p:sp>
        <p:nvSpPr>
          <p:cNvPr id="52" name="Rectangle 43"/>
          <p:cNvSpPr>
            <a:spLocks noChangeArrowheads="1"/>
          </p:cNvSpPr>
          <p:nvPr/>
        </p:nvSpPr>
        <p:spPr bwMode="auto">
          <a:xfrm>
            <a:off x="7596188" y="5022107"/>
            <a:ext cx="792162"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endParaRPr>
          </a:p>
        </p:txBody>
      </p:sp>
      <p:sp>
        <p:nvSpPr>
          <p:cNvPr id="53" name="Rectangle 44"/>
          <p:cNvSpPr>
            <a:spLocks noChangeArrowheads="1"/>
          </p:cNvSpPr>
          <p:nvPr/>
        </p:nvSpPr>
        <p:spPr bwMode="auto">
          <a:xfrm>
            <a:off x="3132138" y="5022107"/>
            <a:ext cx="446405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0        26/5        0        9/5     2/5</a:t>
            </a:r>
            <a:endParaRPr lang="en-US" altLang="zh-CN" sz="2000" b="1">
              <a:effectLst/>
            </a:endParaRPr>
          </a:p>
        </p:txBody>
      </p:sp>
      <p:sp>
        <p:nvSpPr>
          <p:cNvPr id="54" name="Rectangle 45"/>
          <p:cNvSpPr>
            <a:spLocks noChangeArrowheads="1"/>
          </p:cNvSpPr>
          <p:nvPr/>
        </p:nvSpPr>
        <p:spPr bwMode="auto">
          <a:xfrm>
            <a:off x="2195513" y="5022107"/>
            <a:ext cx="935037"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81/5</a:t>
            </a:r>
            <a:endParaRPr lang="en-US" altLang="zh-CN" sz="2000" b="1">
              <a:effectLst/>
              <a:latin typeface="Arial" panose="020B0604020202020204" pitchFamily="34" charset="0"/>
              <a:cs typeface="Arial" panose="020B0604020202020204" pitchFamily="34" charset="0"/>
            </a:endParaRPr>
          </a:p>
        </p:txBody>
      </p:sp>
      <p:sp>
        <p:nvSpPr>
          <p:cNvPr id="55" name="Rectangle 46"/>
          <p:cNvSpPr>
            <a:spLocks noChangeArrowheads="1"/>
          </p:cNvSpPr>
          <p:nvPr/>
        </p:nvSpPr>
        <p:spPr bwMode="auto">
          <a:xfrm>
            <a:off x="755650" y="5022107"/>
            <a:ext cx="1512888"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Z</a:t>
            </a:r>
            <a:endParaRPr lang="en-US" altLang="zh-CN" sz="2000" b="1">
              <a:effectLst/>
            </a:endParaRPr>
          </a:p>
        </p:txBody>
      </p:sp>
      <p:sp>
        <p:nvSpPr>
          <p:cNvPr id="56" name="Rectangle 47"/>
          <p:cNvSpPr>
            <a:spLocks noChangeArrowheads="1"/>
          </p:cNvSpPr>
          <p:nvPr/>
        </p:nvSpPr>
        <p:spPr bwMode="auto">
          <a:xfrm>
            <a:off x="7596188" y="4558557"/>
            <a:ext cx="7921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endParaRPr>
          </a:p>
        </p:txBody>
      </p:sp>
      <p:sp>
        <p:nvSpPr>
          <p:cNvPr id="57" name="Rectangle 48"/>
          <p:cNvSpPr>
            <a:spLocks noChangeArrowheads="1"/>
          </p:cNvSpPr>
          <p:nvPr/>
        </p:nvSpPr>
        <p:spPr bwMode="auto">
          <a:xfrm>
            <a:off x="3132138" y="4558557"/>
            <a:ext cx="446405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333375"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1         6/5        0       -1/5      2/5</a:t>
            </a:r>
            <a:endParaRPr lang="en-US" altLang="zh-CN" sz="2000" b="1">
              <a:effectLst/>
            </a:endParaRPr>
          </a:p>
        </p:txBody>
      </p:sp>
      <p:sp>
        <p:nvSpPr>
          <p:cNvPr id="58" name="Rectangle 49"/>
          <p:cNvSpPr>
            <a:spLocks noChangeArrowheads="1"/>
          </p:cNvSpPr>
          <p:nvPr/>
        </p:nvSpPr>
        <p:spPr bwMode="auto">
          <a:xfrm>
            <a:off x="2268538" y="4558557"/>
            <a:ext cx="8636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6/5</a:t>
            </a:r>
            <a:endParaRPr lang="en-US" altLang="zh-CN" sz="2000" b="1">
              <a:effectLst/>
            </a:endParaRPr>
          </a:p>
        </p:txBody>
      </p:sp>
      <p:sp>
        <p:nvSpPr>
          <p:cNvPr id="59" name="Rectangle 50"/>
          <p:cNvSpPr>
            <a:spLocks noChangeArrowheads="1"/>
          </p:cNvSpPr>
          <p:nvPr/>
        </p:nvSpPr>
        <p:spPr bwMode="auto">
          <a:xfrm>
            <a:off x="1476375" y="4558557"/>
            <a:ext cx="7921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solidFill>
                  <a:srgbClr val="FF3300"/>
                </a:solidFill>
                <a:effectLst/>
                <a:latin typeface="Arial" panose="020B0604020202020204" pitchFamily="34" charset="0"/>
                <a:cs typeface="Arial" panose="020B0604020202020204" pitchFamily="34" charset="0"/>
              </a:rPr>
              <a:t>x</a:t>
            </a:r>
            <a:r>
              <a:rPr lang="en-US" altLang="zh-CN" sz="2000" b="1" baseline="-30000">
                <a:solidFill>
                  <a:srgbClr val="FF3300"/>
                </a:solidFill>
                <a:effectLst/>
                <a:latin typeface="Arial" panose="020B0604020202020204" pitchFamily="34" charset="0"/>
                <a:cs typeface="Arial" panose="020B0604020202020204" pitchFamily="34" charset="0"/>
              </a:rPr>
              <a:t>1</a:t>
            </a:r>
            <a:endParaRPr lang="en-US" altLang="zh-CN" sz="2000" b="1">
              <a:solidFill>
                <a:srgbClr val="FF3300"/>
              </a:solidFill>
              <a:effectLst/>
            </a:endParaRPr>
          </a:p>
        </p:txBody>
      </p:sp>
      <p:sp>
        <p:nvSpPr>
          <p:cNvPr id="60" name="Rectangle 51"/>
          <p:cNvSpPr>
            <a:spLocks noChangeArrowheads="1"/>
          </p:cNvSpPr>
          <p:nvPr/>
        </p:nvSpPr>
        <p:spPr bwMode="auto">
          <a:xfrm>
            <a:off x="755650" y="4558557"/>
            <a:ext cx="7207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5</a:t>
            </a:r>
            <a:endParaRPr lang="en-US" altLang="zh-CN" sz="2000" b="1">
              <a:effectLst/>
              <a:latin typeface="Arial" panose="020B0604020202020204" pitchFamily="34" charset="0"/>
              <a:cs typeface="Arial" panose="020B0604020202020204" pitchFamily="34" charset="0"/>
            </a:endParaRPr>
          </a:p>
        </p:txBody>
      </p:sp>
      <p:sp>
        <p:nvSpPr>
          <p:cNvPr id="61" name="Rectangle 52"/>
          <p:cNvSpPr>
            <a:spLocks noChangeArrowheads="1"/>
          </p:cNvSpPr>
          <p:nvPr/>
        </p:nvSpPr>
        <p:spPr bwMode="auto">
          <a:xfrm>
            <a:off x="3132138" y="3658444"/>
            <a:ext cx="44640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dirty="0">
                <a:effectLst/>
                <a:latin typeface="Arial" panose="020B0604020202020204" pitchFamily="34" charset="0"/>
                <a:cs typeface="Arial" panose="020B0604020202020204" pitchFamily="34" charset="0"/>
              </a:rPr>
              <a:t>       x</a:t>
            </a:r>
            <a:r>
              <a:rPr lang="en-US" altLang="zh-CN" sz="2000" b="1" baseline="-30000" dirty="0">
                <a:effectLst/>
                <a:latin typeface="Arial" panose="020B0604020202020204" pitchFamily="34" charset="0"/>
                <a:cs typeface="Arial" panose="020B0604020202020204" pitchFamily="34" charset="0"/>
              </a:rPr>
              <a:t>1</a:t>
            </a:r>
            <a:r>
              <a:rPr lang="en-US" altLang="zh-CN" sz="2000" b="1" dirty="0">
                <a:effectLst/>
                <a:latin typeface="Arial" panose="020B0604020202020204" pitchFamily="34" charset="0"/>
                <a:cs typeface="Arial" panose="020B0604020202020204" pitchFamily="34" charset="0"/>
              </a:rPr>
              <a:t>         x</a:t>
            </a:r>
            <a:r>
              <a:rPr lang="en-US" altLang="zh-CN" sz="2000" b="1" baseline="-30000" dirty="0">
                <a:effectLst/>
                <a:latin typeface="Arial" panose="020B0604020202020204" pitchFamily="34" charset="0"/>
                <a:cs typeface="Arial" panose="020B0604020202020204" pitchFamily="34" charset="0"/>
              </a:rPr>
              <a:t>2</a:t>
            </a:r>
            <a:r>
              <a:rPr lang="en-US" altLang="zh-CN" sz="2000" b="1" dirty="0">
                <a:effectLst/>
                <a:latin typeface="Arial" panose="020B0604020202020204" pitchFamily="34" charset="0"/>
                <a:cs typeface="Arial" panose="020B0604020202020204" pitchFamily="34" charset="0"/>
              </a:rPr>
              <a:t>         x</a:t>
            </a:r>
            <a:r>
              <a:rPr lang="en-US" altLang="zh-CN" sz="2000" b="1" baseline="-30000" dirty="0">
                <a:effectLst/>
                <a:latin typeface="Arial" panose="020B0604020202020204" pitchFamily="34" charset="0"/>
                <a:cs typeface="Arial" panose="020B0604020202020204" pitchFamily="34" charset="0"/>
              </a:rPr>
              <a:t>3</a:t>
            </a:r>
            <a:r>
              <a:rPr lang="en-US" altLang="zh-CN" sz="2000" b="1" dirty="0">
                <a:effectLst/>
                <a:latin typeface="Arial" panose="020B0604020202020204" pitchFamily="34" charset="0"/>
                <a:cs typeface="Arial" panose="020B0604020202020204" pitchFamily="34" charset="0"/>
              </a:rPr>
              <a:t>         x</a:t>
            </a:r>
            <a:r>
              <a:rPr lang="en-US" altLang="zh-CN" sz="2000" b="1" baseline="-30000" dirty="0">
                <a:effectLst/>
                <a:latin typeface="Arial" panose="020B0604020202020204" pitchFamily="34" charset="0"/>
                <a:cs typeface="Arial" panose="020B0604020202020204" pitchFamily="34" charset="0"/>
              </a:rPr>
              <a:t>4</a:t>
            </a:r>
            <a:r>
              <a:rPr lang="en-US" altLang="zh-CN" sz="2000" b="1" dirty="0">
                <a:effectLst/>
                <a:latin typeface="Arial" panose="020B0604020202020204" pitchFamily="34" charset="0"/>
                <a:cs typeface="Arial" panose="020B0604020202020204" pitchFamily="34" charset="0"/>
              </a:rPr>
              <a:t>        x</a:t>
            </a:r>
            <a:r>
              <a:rPr lang="en-US" altLang="zh-CN" sz="2000" b="1" baseline="-30000" dirty="0">
                <a:effectLst/>
                <a:latin typeface="Arial" panose="020B0604020202020204" pitchFamily="34" charset="0"/>
                <a:cs typeface="Arial" panose="020B0604020202020204" pitchFamily="34" charset="0"/>
              </a:rPr>
              <a:t>5</a:t>
            </a:r>
            <a:endParaRPr lang="en-US" altLang="zh-CN" sz="2000" b="1" dirty="0">
              <a:effectLst/>
            </a:endParaRPr>
          </a:p>
        </p:txBody>
      </p:sp>
      <p:sp>
        <p:nvSpPr>
          <p:cNvPr id="62" name="Rectangle 53"/>
          <p:cNvSpPr>
            <a:spLocks noChangeArrowheads="1"/>
          </p:cNvSpPr>
          <p:nvPr/>
        </p:nvSpPr>
        <p:spPr bwMode="auto">
          <a:xfrm>
            <a:off x="2268538" y="3658444"/>
            <a:ext cx="86360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b</a:t>
            </a:r>
            <a:endParaRPr lang="en-US" altLang="zh-CN" sz="2000" b="1">
              <a:effectLst/>
            </a:endParaRPr>
          </a:p>
        </p:txBody>
      </p:sp>
      <p:sp>
        <p:nvSpPr>
          <p:cNvPr id="63" name="Rectangle 54"/>
          <p:cNvSpPr>
            <a:spLocks noChangeArrowheads="1"/>
          </p:cNvSpPr>
          <p:nvPr/>
        </p:nvSpPr>
        <p:spPr bwMode="auto">
          <a:xfrm>
            <a:off x="1476375" y="3658444"/>
            <a:ext cx="792163"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B</a:t>
            </a:r>
            <a:endParaRPr lang="en-US" altLang="zh-CN" sz="2000" b="1">
              <a:effectLst/>
            </a:endParaRPr>
          </a:p>
        </p:txBody>
      </p:sp>
      <p:sp>
        <p:nvSpPr>
          <p:cNvPr id="64" name="Rectangle 55"/>
          <p:cNvSpPr>
            <a:spLocks noChangeArrowheads="1"/>
          </p:cNvSpPr>
          <p:nvPr/>
        </p:nvSpPr>
        <p:spPr bwMode="auto">
          <a:xfrm>
            <a:off x="755650" y="3658444"/>
            <a:ext cx="72072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C</a:t>
            </a:r>
            <a:r>
              <a:rPr lang="en-US" altLang="zh-CN" sz="2000" b="1" baseline="-30000">
                <a:effectLst/>
                <a:latin typeface="Arial" panose="020B0604020202020204" pitchFamily="34" charset="0"/>
                <a:cs typeface="Arial" panose="020B0604020202020204" pitchFamily="34" charset="0"/>
              </a:rPr>
              <a:t>B</a:t>
            </a:r>
            <a:endParaRPr lang="en-US" altLang="zh-CN" sz="2000" b="1">
              <a:effectLst/>
            </a:endParaRPr>
          </a:p>
        </p:txBody>
      </p:sp>
      <p:sp>
        <p:nvSpPr>
          <p:cNvPr id="65" name="Rectangle 56"/>
          <p:cNvSpPr>
            <a:spLocks noChangeArrowheads="1"/>
          </p:cNvSpPr>
          <p:nvPr/>
        </p:nvSpPr>
        <p:spPr bwMode="auto">
          <a:xfrm>
            <a:off x="7596188" y="3263157"/>
            <a:ext cx="792162"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l-GR" altLang="zh-CN" sz="2000" b="1" i="1">
                <a:effectLst/>
                <a:latin typeface="Arial" panose="020B0604020202020204" pitchFamily="34" charset="0"/>
                <a:cs typeface="Arial" panose="020B0604020202020204" pitchFamily="34" charset="0"/>
              </a:rPr>
              <a:t>θ</a:t>
            </a:r>
            <a:endParaRPr lang="en-US" altLang="zh-CN" sz="2000" b="1" i="1">
              <a:effectLst/>
              <a:latin typeface="Arial" panose="020B0604020202020204" pitchFamily="34" charset="0"/>
              <a:cs typeface="Arial" panose="020B0604020202020204" pitchFamily="34" charset="0"/>
            </a:endParaRPr>
          </a:p>
        </p:txBody>
      </p:sp>
      <p:sp>
        <p:nvSpPr>
          <p:cNvPr id="66" name="Rectangle 58"/>
          <p:cNvSpPr>
            <a:spLocks noChangeArrowheads="1"/>
          </p:cNvSpPr>
          <p:nvPr/>
        </p:nvSpPr>
        <p:spPr bwMode="auto">
          <a:xfrm>
            <a:off x="755650" y="3263157"/>
            <a:ext cx="2376488"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C</a:t>
            </a:r>
            <a:endParaRPr lang="en-US" altLang="zh-CN" sz="2000" b="1">
              <a:effectLst/>
            </a:endParaRPr>
          </a:p>
        </p:txBody>
      </p:sp>
      <p:sp>
        <p:nvSpPr>
          <p:cNvPr id="67" name="Line 63"/>
          <p:cNvSpPr>
            <a:spLocks noChangeShapeType="1"/>
          </p:cNvSpPr>
          <p:nvPr/>
        </p:nvSpPr>
        <p:spPr bwMode="auto">
          <a:xfrm>
            <a:off x="755650" y="3658444"/>
            <a:ext cx="68405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68" name="Line 64"/>
          <p:cNvSpPr>
            <a:spLocks noChangeShapeType="1"/>
          </p:cNvSpPr>
          <p:nvPr/>
        </p:nvSpPr>
        <p:spPr bwMode="auto">
          <a:xfrm>
            <a:off x="3132138" y="3263157"/>
            <a:ext cx="0" cy="215423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69" name="Line 65"/>
          <p:cNvSpPr>
            <a:spLocks noChangeShapeType="1"/>
          </p:cNvSpPr>
          <p:nvPr/>
        </p:nvSpPr>
        <p:spPr bwMode="auto">
          <a:xfrm>
            <a:off x="7596188" y="3263157"/>
            <a:ext cx="0" cy="215423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0" name="Line 66"/>
          <p:cNvSpPr>
            <a:spLocks noChangeShapeType="1"/>
          </p:cNvSpPr>
          <p:nvPr/>
        </p:nvSpPr>
        <p:spPr bwMode="auto">
          <a:xfrm>
            <a:off x="755650" y="4053732"/>
            <a:ext cx="76327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1" name="Line 67"/>
          <p:cNvSpPr>
            <a:spLocks noChangeShapeType="1"/>
          </p:cNvSpPr>
          <p:nvPr/>
        </p:nvSpPr>
        <p:spPr bwMode="auto">
          <a:xfrm>
            <a:off x="1476375" y="3658444"/>
            <a:ext cx="0" cy="136366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2" name="Line 68"/>
          <p:cNvSpPr>
            <a:spLocks noChangeShapeType="1"/>
          </p:cNvSpPr>
          <p:nvPr/>
        </p:nvSpPr>
        <p:spPr bwMode="auto">
          <a:xfrm>
            <a:off x="2268538" y="3658444"/>
            <a:ext cx="0" cy="175895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3" name="Line 69"/>
          <p:cNvSpPr>
            <a:spLocks noChangeShapeType="1"/>
          </p:cNvSpPr>
          <p:nvPr/>
        </p:nvSpPr>
        <p:spPr bwMode="auto">
          <a:xfrm>
            <a:off x="755650" y="5022107"/>
            <a:ext cx="76327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4" name="Line 70"/>
          <p:cNvSpPr>
            <a:spLocks noChangeShapeType="1"/>
          </p:cNvSpPr>
          <p:nvPr/>
        </p:nvSpPr>
        <p:spPr bwMode="auto">
          <a:xfrm>
            <a:off x="755650" y="4558557"/>
            <a:ext cx="76327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5" name="Line 59"/>
          <p:cNvSpPr>
            <a:spLocks noChangeShapeType="1"/>
          </p:cNvSpPr>
          <p:nvPr/>
        </p:nvSpPr>
        <p:spPr bwMode="auto">
          <a:xfrm>
            <a:off x="755650" y="3263157"/>
            <a:ext cx="76327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6" name="Line 61"/>
          <p:cNvSpPr>
            <a:spLocks noChangeShapeType="1"/>
          </p:cNvSpPr>
          <p:nvPr/>
        </p:nvSpPr>
        <p:spPr bwMode="auto">
          <a:xfrm>
            <a:off x="755650" y="3263157"/>
            <a:ext cx="0" cy="215423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7" name="Line 62"/>
          <p:cNvSpPr>
            <a:spLocks noChangeShapeType="1"/>
          </p:cNvSpPr>
          <p:nvPr/>
        </p:nvSpPr>
        <p:spPr bwMode="auto">
          <a:xfrm>
            <a:off x="8388350" y="3263157"/>
            <a:ext cx="0" cy="215423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8" name="Line 60"/>
          <p:cNvSpPr>
            <a:spLocks noChangeShapeType="1"/>
          </p:cNvSpPr>
          <p:nvPr/>
        </p:nvSpPr>
        <p:spPr bwMode="auto">
          <a:xfrm>
            <a:off x="756022" y="5445224"/>
            <a:ext cx="76327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9" name="Rectangle 2"/>
          <p:cNvSpPr>
            <a:spLocks noChangeArrowheads="1"/>
          </p:cNvSpPr>
          <p:nvPr/>
        </p:nvSpPr>
        <p:spPr bwMode="auto">
          <a:xfrm>
            <a:off x="3132138" y="679401"/>
            <a:ext cx="44640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5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2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3        1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cs typeface="Arial" panose="020B0604020202020204" pitchFamily="34" charset="0"/>
            </a:endParaRPr>
          </a:p>
        </p:txBody>
      </p:sp>
      <p:sp>
        <p:nvSpPr>
          <p:cNvPr id="80" name="Rectangle 3"/>
          <p:cNvSpPr>
            <a:spLocks noChangeArrowheads="1"/>
          </p:cNvSpPr>
          <p:nvPr/>
        </p:nvSpPr>
        <p:spPr bwMode="auto">
          <a:xfrm>
            <a:off x="3132138" y="3191719"/>
            <a:ext cx="44640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5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2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3        1       </a:t>
            </a:r>
            <a:r>
              <a:rPr lang="zh-CN" altLang="en-US" sz="2000" b="1">
                <a:effectLst/>
                <a:latin typeface="Arial" panose="020B0604020202020204" pitchFamily="34" charset="0"/>
                <a:cs typeface="Arial" panose="020B0604020202020204" pitchFamily="34" charset="0"/>
              </a:rPr>
              <a:t>－</a:t>
            </a: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cs typeface="Arial" panose="020B0604020202020204" pitchFamily="34" charset="0"/>
            </a:endParaRPr>
          </a:p>
        </p:txBody>
      </p:sp>
      <p:graphicFrame>
        <p:nvGraphicFramePr>
          <p:cNvPr id="81" name="Object 4"/>
          <p:cNvGraphicFramePr>
            <a:graphicFrameLocks noChangeAspect="1"/>
          </p:cNvGraphicFramePr>
          <p:nvPr/>
        </p:nvGraphicFramePr>
        <p:xfrm>
          <a:off x="1019076" y="5690145"/>
          <a:ext cx="2089150" cy="360362"/>
        </p:xfrm>
        <a:graphic>
          <a:graphicData uri="http://schemas.openxmlformats.org/presentationml/2006/ole">
            <mc:AlternateContent xmlns:mc="http://schemas.openxmlformats.org/markup-compatibility/2006">
              <mc:Choice xmlns:v="urn:schemas-microsoft-com:vml" Requires="v">
                <p:oleObj spid="_x0000_s38913" name="Equation" r:id="rId1" imgW="69189600" imgH="10363200" progId="Equation.3">
                  <p:embed/>
                </p:oleObj>
              </mc:Choice>
              <mc:Fallback>
                <p:oleObj name="Equation" r:id="rId1" imgW="69189600" imgH="10363200" progId="Equation.3">
                  <p:embed/>
                  <p:pic>
                    <p:nvPicPr>
                      <p:cNvPr id="0" name="图片 38912"/>
                      <p:cNvPicPr>
                        <a:picLocks noChangeAspect="1"/>
                      </p:cNvPicPr>
                      <p:nvPr/>
                    </p:nvPicPr>
                    <p:blipFill>
                      <a:blip r:embed="rId2"/>
                      <a:stretch>
                        <a:fillRect/>
                      </a:stretch>
                    </p:blipFill>
                    <p:spPr>
                      <a:xfrm>
                        <a:off x="1019076" y="5690145"/>
                        <a:ext cx="2089150" cy="360362"/>
                      </a:xfrm>
                      <a:prstGeom prst="rect">
                        <a:avLst/>
                      </a:prstGeom>
                      <a:noFill/>
                      <a:ln w="9525">
                        <a:noFill/>
                      </a:ln>
                    </p:spPr>
                  </p:pic>
                </p:oleObj>
              </mc:Fallback>
            </mc:AlternateContent>
          </a:graphicData>
        </a:graphic>
      </p:graphicFrame>
      <p:graphicFrame>
        <p:nvGraphicFramePr>
          <p:cNvPr id="82" name="Object 5"/>
          <p:cNvGraphicFramePr>
            <a:graphicFrameLocks noChangeAspect="1"/>
          </p:cNvGraphicFramePr>
          <p:nvPr/>
        </p:nvGraphicFramePr>
        <p:xfrm>
          <a:off x="3825378" y="5545162"/>
          <a:ext cx="2520950" cy="692150"/>
        </p:xfrm>
        <a:graphic>
          <a:graphicData uri="http://schemas.openxmlformats.org/presentationml/2006/ole">
            <mc:AlternateContent xmlns:mc="http://schemas.openxmlformats.org/markup-compatibility/2006">
              <mc:Choice xmlns:v="urn:schemas-microsoft-com:vml" Requires="v">
                <p:oleObj spid="_x0000_s38914" name="Equation" r:id="rId3" imgW="70408800" imgH="23469600" progId="Equation.3">
                  <p:embed/>
                </p:oleObj>
              </mc:Choice>
              <mc:Fallback>
                <p:oleObj name="Equation" r:id="rId3" imgW="70408800" imgH="23469600" progId="Equation.3">
                  <p:embed/>
                  <p:pic>
                    <p:nvPicPr>
                      <p:cNvPr id="0" name="图片 38913"/>
                      <p:cNvPicPr>
                        <a:picLocks noChangeAspect="1"/>
                      </p:cNvPicPr>
                      <p:nvPr/>
                    </p:nvPicPr>
                    <p:blipFill>
                      <a:blip r:embed="rId4"/>
                      <a:stretch>
                        <a:fillRect/>
                      </a:stretch>
                    </p:blipFill>
                    <p:spPr>
                      <a:xfrm>
                        <a:off x="3825378" y="5545162"/>
                        <a:ext cx="2520950" cy="692150"/>
                      </a:xfrm>
                      <a:prstGeom prst="rect">
                        <a:avLst/>
                      </a:prstGeom>
                      <a:noFill/>
                      <a:ln w="9525">
                        <a:noFill/>
                      </a:ln>
                    </p:spPr>
                  </p:pic>
                </p:oleObj>
              </mc:Fallback>
            </mc:AlternateContent>
          </a:graphicData>
        </a:graphic>
      </p:graphicFrame>
      <p:graphicFrame>
        <p:nvGraphicFramePr>
          <p:cNvPr id="83" name="Object 6"/>
          <p:cNvGraphicFramePr>
            <a:graphicFrameLocks noChangeAspect="1"/>
          </p:cNvGraphicFramePr>
          <p:nvPr/>
        </p:nvGraphicFramePr>
        <p:xfrm>
          <a:off x="7081936" y="5470029"/>
          <a:ext cx="1042988" cy="647700"/>
        </p:xfrm>
        <a:graphic>
          <a:graphicData uri="http://schemas.openxmlformats.org/presentationml/2006/ole">
            <mc:AlternateContent xmlns:mc="http://schemas.openxmlformats.org/markup-compatibility/2006">
              <mc:Choice xmlns:v="urn:schemas-microsoft-com:vml" Requires="v">
                <p:oleObj spid="_x0000_s38915" name="Equation" r:id="rId5" imgW="31394400" imgH="20116800" progId="Equation.3">
                  <p:embed/>
                </p:oleObj>
              </mc:Choice>
              <mc:Fallback>
                <p:oleObj name="Equation" r:id="rId5" imgW="31394400" imgH="20116800" progId="Equation.3">
                  <p:embed/>
                  <p:pic>
                    <p:nvPicPr>
                      <p:cNvPr id="0" name="图片 38914"/>
                      <p:cNvPicPr>
                        <a:picLocks noChangeAspect="1"/>
                      </p:cNvPicPr>
                      <p:nvPr/>
                    </p:nvPicPr>
                    <p:blipFill>
                      <a:blip r:embed="rId6"/>
                      <a:stretch>
                        <a:fillRect/>
                      </a:stretch>
                    </p:blipFill>
                    <p:spPr>
                      <a:xfrm>
                        <a:off x="7081936" y="5470029"/>
                        <a:ext cx="1042988" cy="647700"/>
                      </a:xfrm>
                      <a:prstGeom prst="rect">
                        <a:avLst/>
                      </a:prstGeom>
                      <a:noFill/>
                      <a:ln w="9525">
                        <a:noFill/>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blinds(horizontal)">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blinds(horizontal)">
                                      <p:cBhvr>
                                        <p:cTn id="15" dur="500"/>
                                        <p:tgtEl>
                                          <p:spTgt spid="46"/>
                                        </p:tgtEl>
                                      </p:cBhvr>
                                    </p:animEffect>
                                  </p:childTnLst>
                                </p:cTn>
                              </p:par>
                              <p:par>
                                <p:cTn id="16" presetID="3" presetClass="entr" presetSubtype="10" fill="hold" nodeType="with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blinds(horizontal)">
                                      <p:cBhvr>
                                        <p:cTn id="18" dur="50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blinds(horizontal)">
                                      <p:cBhvr>
                                        <p:cTn id="23" dur="500"/>
                                        <p:tgtEl>
                                          <p:spTgt spid="50"/>
                                        </p:tgtEl>
                                      </p:cBhvr>
                                    </p:animEffect>
                                  </p:childTnLst>
                                </p:cTn>
                              </p:par>
                              <p:par>
                                <p:cTn id="24" presetID="3" presetClass="entr" presetSubtype="10" fill="hold" nodeType="with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blinds(horizontal)">
                                      <p:cBhvr>
                                        <p:cTn id="26" dur="500"/>
                                        <p:tgtEl>
                                          <p:spTgt spid="59"/>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blinds(horizontal)">
                                      <p:cBhvr>
                                        <p:cTn id="31" dur="500"/>
                                        <p:tgtEl>
                                          <p:spTgt spid="51"/>
                                        </p:tgtEl>
                                      </p:cBhvr>
                                    </p:animEffect>
                                  </p:childTnLst>
                                </p:cTn>
                              </p:par>
                              <p:par>
                                <p:cTn id="32" presetID="3" presetClass="entr" presetSubtype="10" fill="hold"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blinds(horizontal)">
                                      <p:cBhvr>
                                        <p:cTn id="34" dur="500"/>
                                        <p:tgtEl>
                                          <p:spTgt spid="60"/>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blinds(horizontal)">
                                      <p:cBhvr>
                                        <p:cTn id="39" dur="500"/>
                                        <p:tgtEl>
                                          <p:spTgt spid="58"/>
                                        </p:tgtEl>
                                      </p:cBhvr>
                                    </p:animEffect>
                                  </p:childTnLst>
                                </p:cTn>
                              </p:par>
                              <p:par>
                                <p:cTn id="40" presetID="3" presetClass="entr" presetSubtype="10" fill="hold" nodeType="with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blinds(horizontal)">
                                      <p:cBhvr>
                                        <p:cTn id="42" dur="500"/>
                                        <p:tgtEl>
                                          <p:spTgt spid="5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blinds(horizontal)">
                                      <p:cBhvr>
                                        <p:cTn id="47" dur="500"/>
                                        <p:tgtEl>
                                          <p:spTgt spid="49"/>
                                        </p:tgtEl>
                                      </p:cBhvr>
                                    </p:animEffect>
                                  </p:childTnLst>
                                </p:cTn>
                              </p:par>
                              <p:par>
                                <p:cTn id="48" presetID="3" presetClass="entr" presetSubtype="10" fill="hold"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blinds(horizontal)">
                                      <p:cBhvr>
                                        <p:cTn id="50" dur="500"/>
                                        <p:tgtEl>
                                          <p:spTgt spid="48"/>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blinds(horizontal)">
                                      <p:cBhvr>
                                        <p:cTn id="55" dur="500"/>
                                        <p:tgtEl>
                                          <p:spTgt spid="54"/>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blinds(horizontal)">
                                      <p:cBhvr>
                                        <p:cTn id="6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作业</a:t>
            </a:r>
            <a:endParaRPr kumimoji="1" lang="en-GB" altLang="zh-CN" dirty="0">
              <a:latin typeface="Times New Roman" panose="02020603050405020304" pitchFamily="18" charset="0"/>
              <a:cs typeface="Times New Roman" panose="02020603050405020304" pitchFamily="18" charset="0"/>
            </a:endParaRPr>
          </a:p>
        </p:txBody>
      </p:sp>
      <p:sp>
        <p:nvSpPr>
          <p:cNvPr id="9" name="Rectangle 4"/>
          <p:cNvSpPr>
            <a:spLocks noChangeArrowheads="1"/>
          </p:cNvSpPr>
          <p:nvPr/>
        </p:nvSpPr>
        <p:spPr bwMode="auto">
          <a:xfrm>
            <a:off x="1115616" y="1052736"/>
            <a:ext cx="720090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4000" b="1" dirty="0">
                <a:solidFill>
                  <a:srgbClr val="FF0000"/>
                </a:solidFill>
                <a:latin typeface="Times New Roman" panose="02020603050405020304" pitchFamily="18" charset="0"/>
                <a:ea typeface="华文宋体" panose="02010600040101010101" pitchFamily="2" charset="-122"/>
                <a:cs typeface="Times New Roman" panose="02020603050405020304" pitchFamily="18" charset="0"/>
              </a:rPr>
              <a:t>作业</a:t>
            </a:r>
            <a:r>
              <a:rPr kumimoji="1" lang="zh-CN" altLang="en-US" sz="4000" b="1" dirty="0">
                <a:latin typeface="Times New Roman" panose="02020603050405020304" pitchFamily="18" charset="0"/>
                <a:ea typeface="华文宋体" panose="02010600040101010101" pitchFamily="2" charset="-122"/>
                <a:cs typeface="Times New Roman" panose="02020603050405020304" pitchFamily="18" charset="0"/>
              </a:rPr>
              <a:t>：</a:t>
            </a:r>
            <a:endParaRPr kumimoji="1" lang="en-US" altLang="zh-CN" sz="4000" b="1" dirty="0">
              <a:latin typeface="Times New Roman" panose="02020603050405020304" pitchFamily="18" charset="0"/>
              <a:ea typeface="华文宋体" panose="02010600040101010101" pitchFamily="2" charset="-122"/>
              <a:cs typeface="Times New Roman" panose="02020603050405020304" pitchFamily="18" charset="0"/>
            </a:endParaRPr>
          </a:p>
          <a:p>
            <a:pPr eaLnBrk="1" hangingPunct="1"/>
            <a:endParaRPr kumimoji="1" lang="en-US" altLang="zh-CN" sz="2800" b="1" dirty="0">
              <a:latin typeface="Times New Roman" panose="02020603050405020304" pitchFamily="18" charset="0"/>
              <a:ea typeface="华文宋体" panose="02010600040101010101" pitchFamily="2" charset="-122"/>
              <a:cs typeface="Times New Roman" panose="02020603050405020304" pitchFamily="18" charset="0"/>
            </a:endParaRPr>
          </a:p>
          <a:p>
            <a:pPr eaLnBrk="1" hangingPunct="1"/>
            <a:endParaRPr kumimoji="1" lang="en-US" altLang="zh-CN" sz="2800" dirty="0">
              <a:latin typeface="Times New Roman" panose="02020603050405020304" pitchFamily="18" charset="0"/>
              <a:ea typeface="华文宋体" panose="02010600040101010101" pitchFamily="2" charset="-122"/>
              <a:cs typeface="Times New Roman" panose="02020603050405020304" pitchFamily="18" charset="0"/>
            </a:endParaRPr>
          </a:p>
          <a:p>
            <a:pPr eaLnBrk="1" hangingPunct="1"/>
            <a:r>
              <a:rPr kumimoji="1" lang="zh-CN" altLang="en-US" sz="2800" dirty="0">
                <a:latin typeface="Times New Roman" panose="02020603050405020304" pitchFamily="18" charset="0"/>
                <a:ea typeface="华文宋体" panose="02010600040101010101" pitchFamily="2" charset="-122"/>
                <a:cs typeface="Times New Roman" panose="02020603050405020304" pitchFamily="18" charset="0"/>
              </a:rPr>
              <a:t>习题三（</a:t>
            </a:r>
            <a:r>
              <a:rPr kumimoji="1" lang="en-US" altLang="zh-CN" sz="2800" dirty="0">
                <a:latin typeface="Times New Roman" panose="02020603050405020304" pitchFamily="18" charset="0"/>
                <a:ea typeface="华文宋体" panose="02010600040101010101" pitchFamily="2" charset="-122"/>
                <a:cs typeface="Times New Roman" panose="02020603050405020304" pitchFamily="18" charset="0"/>
              </a:rPr>
              <a:t>page</a:t>
            </a:r>
            <a:r>
              <a:rPr kumimoji="1" lang="zh-CN" altLang="en-US" sz="2800" dirty="0">
                <a:latin typeface="Times New Roman" panose="02020603050405020304" pitchFamily="18" charset="0"/>
                <a:ea typeface="华文宋体" panose="02010600040101010101" pitchFamily="2" charset="-122"/>
                <a:cs typeface="Times New Roman" panose="02020603050405020304" pitchFamily="18" charset="0"/>
              </a:rPr>
              <a:t> </a:t>
            </a:r>
            <a:r>
              <a:rPr kumimoji="1" lang="en-US" altLang="zh-CN" sz="2800" dirty="0">
                <a:latin typeface="Times New Roman" panose="02020603050405020304" pitchFamily="18" charset="0"/>
                <a:ea typeface="华文宋体" panose="02010600040101010101" pitchFamily="2" charset="-122"/>
                <a:cs typeface="Times New Roman" panose="02020603050405020304" pitchFamily="18" charset="0"/>
              </a:rPr>
              <a:t>68</a:t>
            </a:r>
            <a:r>
              <a:rPr kumimoji="1" lang="zh-CN" altLang="en-US" sz="2800" dirty="0">
                <a:latin typeface="Times New Roman" panose="02020603050405020304" pitchFamily="18" charset="0"/>
                <a:ea typeface="华文宋体" panose="02010600040101010101" pitchFamily="2" charset="-122"/>
                <a:cs typeface="Times New Roman" panose="02020603050405020304" pitchFamily="18" charset="0"/>
              </a:rPr>
              <a:t>）</a:t>
            </a:r>
            <a:endParaRPr kumimoji="1" lang="en-US" altLang="zh-CN" sz="2800" dirty="0">
              <a:latin typeface="Times New Roman" panose="02020603050405020304" pitchFamily="18" charset="0"/>
              <a:ea typeface="华文宋体" panose="02010600040101010101" pitchFamily="2" charset="-122"/>
              <a:cs typeface="Times New Roman" panose="02020603050405020304" pitchFamily="18" charset="0"/>
            </a:endParaRPr>
          </a:p>
          <a:p>
            <a:pPr eaLnBrk="1" hangingPunct="1"/>
            <a:r>
              <a:rPr kumimoji="1" lang="zh-CN" altLang="en-US" sz="2800" dirty="0" smtClean="0">
                <a:latin typeface="Times New Roman" panose="02020603050405020304" pitchFamily="18" charset="0"/>
                <a:ea typeface="华文宋体" panose="02010600040101010101" pitchFamily="2" charset="-122"/>
                <a:cs typeface="Times New Roman" panose="02020603050405020304" pitchFamily="18" charset="0"/>
              </a:rPr>
              <a:t>第</a:t>
            </a:r>
            <a:r>
              <a:rPr kumimoji="1" lang="en-US" altLang="zh-CN" sz="2800" dirty="0" smtClean="0">
                <a:latin typeface="Times New Roman" panose="02020603050405020304" pitchFamily="18" charset="0"/>
                <a:ea typeface="华文宋体" panose="02010600040101010101" pitchFamily="2" charset="-122"/>
                <a:cs typeface="Times New Roman" panose="02020603050405020304" pitchFamily="18" charset="0"/>
              </a:rPr>
              <a:t>2</a:t>
            </a:r>
            <a:r>
              <a:rPr kumimoji="1" lang="zh-CN" altLang="en-US" sz="2800" dirty="0" smtClean="0">
                <a:latin typeface="Times New Roman" panose="02020603050405020304" pitchFamily="18" charset="0"/>
                <a:ea typeface="华文宋体" panose="02010600040101010101" pitchFamily="2" charset="-122"/>
                <a:cs typeface="Times New Roman" panose="02020603050405020304" pitchFamily="18" charset="0"/>
              </a:rPr>
              <a:t>题</a:t>
            </a:r>
            <a:endParaRPr kumimoji="1" lang="zh-CN" altLang="en-US" sz="2800" dirty="0">
              <a:latin typeface="Times New Roman" panose="02020603050405020304" pitchFamily="18" charset="0"/>
              <a:ea typeface="华文宋体" panose="0201060004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a:spLocks noChangeArrowheads="1"/>
          </p:cNvSpPr>
          <p:nvPr/>
        </p:nvSpPr>
        <p:spPr bwMode="auto">
          <a:xfrm>
            <a:off x="0" y="2060848"/>
            <a:ext cx="9144000" cy="1434560"/>
          </a:xfrm>
          <a:prstGeom prst="rect">
            <a:avLst/>
          </a:prstGeom>
          <a:no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ts val="5600"/>
              </a:lnSpc>
            </a:pPr>
            <a:r>
              <a:rPr lang="en-US" altLang="zh-CN"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Key Laboratory of Intelligent Perception and Image Understanding of Ministry of Education</a:t>
            </a:r>
            <a:endParaRPr lang="en-US" altLang="zh-CN"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2172170" y="1821558"/>
            <a:ext cx="184666" cy="369332"/>
          </a:xfrm>
          <a:prstGeom prst="rect">
            <a:avLst/>
          </a:prstGeom>
          <a:noFill/>
        </p:spPr>
        <p:txBody>
          <a:bodyPr wrap="none" rtlCol="0">
            <a:spAutoFit/>
          </a:bodyPr>
          <a:lstStyle/>
          <a:p>
            <a:endParaRPr kumimoji="1" lang="zh-CN" altLang="en-US"/>
          </a:p>
        </p:txBody>
      </p:sp>
      <p:sp>
        <p:nvSpPr>
          <p:cNvPr id="4" name="矩形 6"/>
          <p:cNvSpPr/>
          <p:nvPr/>
        </p:nvSpPr>
        <p:spPr>
          <a:xfrm>
            <a:off x="971600" y="4077072"/>
            <a:ext cx="7429552" cy="2431435"/>
          </a:xfrm>
          <a:prstGeom prst="rect">
            <a:avLst/>
          </a:prstGeom>
        </p:spPr>
        <p:txBody>
          <a:bodyPr wrap="square">
            <a:spAutoFit/>
          </a:bodyPr>
          <a:lstStyle/>
          <a:p>
            <a:pPr algn="ctr"/>
            <a:r>
              <a:rPr lang="en-US" altLang="zh-CN" sz="7200" b="1" i="1"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t>THE END</a:t>
            </a:r>
            <a:br>
              <a:rPr lang="en-US" altLang="zh-CN"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br>
            <a:br>
              <a:rPr lang="en-US" altLang="zh-CN"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br>
            <a:br>
              <a:rPr lang="en-US" altLang="zh-CN"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br>
            <a:r>
              <a:rPr lang="en-US" altLang="zh-CN" sz="4400"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t>Thanks for your participation!</a:t>
            </a:r>
            <a:endParaRPr lang="zh-CN" altLang="en-US" sz="4400"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ransition advTm="1100"/>
  <p:timing>
    <p:tnLst>
      <p:par>
        <p:cTn id="1" dur="indefinite" restart="never" nodeType="tmRoot"/>
      </p:par>
    </p:tnLst>
  </p:timing>
</p:sld>
</file>

<file path=ppt/tags/tag1.xml><?xml version="1.0" encoding="utf-8"?>
<p:tagLst xmlns:p="http://schemas.openxmlformats.org/presentationml/2006/main">
  <p:tag name="commondata" val="eyJoZGlkIjoiOGIzMzg3NWQzMGYxMWZiNTkxYjYzMDJkODQ3YzI4ZT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5982</Words>
  <Application>WPS 演示</Application>
  <PresentationFormat>全屏显示(4:3)</PresentationFormat>
  <Paragraphs>772</Paragraphs>
  <Slides>48</Slides>
  <Notes>12</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148</vt:i4>
      </vt:variant>
      <vt:variant>
        <vt:lpstr>幻灯片标题</vt:lpstr>
      </vt:variant>
      <vt:variant>
        <vt:i4>48</vt:i4>
      </vt:variant>
    </vt:vector>
  </HeadingPairs>
  <TitlesOfParts>
    <vt:vector size="218" baseType="lpstr">
      <vt:lpstr>Arial</vt:lpstr>
      <vt:lpstr>宋体</vt:lpstr>
      <vt:lpstr>Wingdings</vt:lpstr>
      <vt:lpstr>黑体</vt:lpstr>
      <vt:lpstr>Times New Roman</vt:lpstr>
      <vt:lpstr>微软雅黑</vt:lpstr>
      <vt:lpstr>华文楷体</vt:lpstr>
      <vt:lpstr>楷体_GB2312</vt:lpstr>
      <vt:lpstr>新宋体</vt:lpstr>
      <vt:lpstr>Tahoma</vt:lpstr>
      <vt:lpstr>MS PGothic</vt:lpstr>
      <vt:lpstr>仿宋_GB2312</vt:lpstr>
      <vt:lpstr>仿宋</vt:lpstr>
      <vt:lpstr>隶书</vt:lpstr>
      <vt:lpstr>楷体_GB2312</vt:lpstr>
      <vt:lpstr>Monotype Sorts</vt:lpstr>
      <vt:lpstr>Wingdings</vt:lpstr>
      <vt:lpstr>Calibri</vt:lpstr>
      <vt:lpstr>Arial Unicode MS</vt:lpstr>
      <vt:lpstr>华文中宋</vt:lpstr>
      <vt:lpstr>华文宋体</vt:lpstr>
      <vt:lpstr>Office 主题</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Equation.DSMT4</vt:lpstr>
      <vt:lpstr>Equation.DSMT4</vt:lpstr>
      <vt:lpstr>Equation.DSMT4</vt:lpstr>
      <vt:lpstr>Equation.DSMT4</vt:lpstr>
      <vt:lpstr>Equation.3</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第六节 单纯形法和对偶问题</vt:lpstr>
      <vt:lpstr>第六节 单纯形法和对偶问题</vt:lpstr>
      <vt:lpstr>单纯形法</vt:lpstr>
      <vt:lpstr>单纯形法</vt:lpstr>
      <vt:lpstr>单纯形法</vt:lpstr>
      <vt:lpstr>单纯形法</vt:lpstr>
      <vt:lpstr>单纯形法</vt:lpstr>
      <vt:lpstr>整体回顾</vt:lpstr>
      <vt:lpstr>整体回顾</vt:lpstr>
      <vt:lpstr>整体回顾</vt:lpstr>
      <vt:lpstr>整体回顾</vt:lpstr>
      <vt:lpstr>单纯形法</vt:lpstr>
      <vt:lpstr>单纯形法</vt:lpstr>
      <vt:lpstr>单纯形法</vt:lpstr>
      <vt:lpstr>单纯形法</vt:lpstr>
      <vt:lpstr>单纯形法</vt:lpstr>
      <vt:lpstr>单纯形法</vt:lpstr>
      <vt:lpstr>单纯形法</vt:lpstr>
      <vt:lpstr>单纯形法</vt:lpstr>
      <vt:lpstr>单纯形法</vt:lpstr>
      <vt:lpstr>单纯形法</vt:lpstr>
      <vt:lpstr>单纯形法</vt:lpstr>
      <vt:lpstr>优化过程 (单纯形法Routine)</vt:lpstr>
      <vt:lpstr>单纯形法</vt:lpstr>
      <vt:lpstr>单纯形法</vt:lpstr>
      <vt:lpstr>单纯形法</vt:lpstr>
      <vt:lpstr>单纯形法</vt:lpstr>
      <vt:lpstr>单纯形法</vt:lpstr>
      <vt:lpstr>单纯形法</vt:lpstr>
      <vt:lpstr>单纯形法</vt:lpstr>
      <vt:lpstr>单纯形法</vt:lpstr>
      <vt:lpstr>单纯形法</vt:lpstr>
      <vt:lpstr>单纯形法</vt:lpstr>
      <vt:lpstr>单纯形法</vt:lpstr>
      <vt:lpstr>单纯形法</vt:lpstr>
      <vt:lpstr>单纯形表</vt:lpstr>
      <vt:lpstr>单纯形表</vt:lpstr>
      <vt:lpstr>单纯形法</vt:lpstr>
      <vt:lpstr>第六节 单纯形法和对偶问题</vt:lpstr>
      <vt:lpstr>单纯形法</vt:lpstr>
      <vt:lpstr>单纯形表</vt:lpstr>
      <vt:lpstr>单纯形表</vt:lpstr>
      <vt:lpstr>单纯形表</vt:lpstr>
      <vt:lpstr>单纯形表</vt:lpstr>
      <vt:lpstr>单纯形表</vt:lpstr>
      <vt:lpstr>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Lingling Li</cp:lastModifiedBy>
  <cp:revision>547</cp:revision>
  <dcterms:created xsi:type="dcterms:W3CDTF">2017-03-11T07:00:00Z</dcterms:created>
  <dcterms:modified xsi:type="dcterms:W3CDTF">2024-03-20T12:42:23Z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37791EF050A347BCA4C95859D1C6AC7C_12</vt:lpwstr>
  </property>
  <property fmtid="{D5CDD505-2E9C-101B-9397-08002B2CF9AE}" pid="3" name="KSOProductBuildVer">
    <vt:lpwstr>2052-12.1.0.16388</vt:lpwstr>
  </property>
</Properties>
</file>
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9"/>
  </p:notesMasterIdLst>
  <p:handoutMasterIdLst>
    <p:handoutMasterId r:id="rId62"/>
  </p:handoutMasterIdLst>
  <p:sldIdLst>
    <p:sldId id="256" r:id="rId3"/>
    <p:sldId id="636" r:id="rId4"/>
    <p:sldId id="634" r:id="rId5"/>
    <p:sldId id="573" r:id="rId6"/>
    <p:sldId id="579" r:id="rId7"/>
    <p:sldId id="580" r:id="rId8"/>
    <p:sldId id="581" r:id="rId10"/>
    <p:sldId id="710" r:id="rId11"/>
    <p:sldId id="582" r:id="rId12"/>
    <p:sldId id="591" r:id="rId13"/>
    <p:sldId id="533" r:id="rId14"/>
    <p:sldId id="592" r:id="rId15"/>
    <p:sldId id="635" r:id="rId16"/>
    <p:sldId id="593" r:id="rId17"/>
    <p:sldId id="594" r:id="rId18"/>
    <p:sldId id="602" r:id="rId19"/>
    <p:sldId id="595" r:id="rId20"/>
    <p:sldId id="596" r:id="rId21"/>
    <p:sldId id="597" r:id="rId22"/>
    <p:sldId id="633" r:id="rId23"/>
    <p:sldId id="576" r:id="rId24"/>
    <p:sldId id="577" r:id="rId25"/>
    <p:sldId id="578" r:id="rId26"/>
    <p:sldId id="604" r:id="rId27"/>
    <p:sldId id="711" r:id="rId28"/>
    <p:sldId id="605" r:id="rId29"/>
    <p:sldId id="630" r:id="rId30"/>
    <p:sldId id="631" r:id="rId31"/>
    <p:sldId id="606" r:id="rId32"/>
    <p:sldId id="640" r:id="rId33"/>
    <p:sldId id="637" r:id="rId34"/>
    <p:sldId id="638" r:id="rId35"/>
    <p:sldId id="712" r:id="rId36"/>
    <p:sldId id="713" r:id="rId37"/>
    <p:sldId id="607" r:id="rId38"/>
    <p:sldId id="641" r:id="rId39"/>
    <p:sldId id="608" r:id="rId40"/>
    <p:sldId id="639" r:id="rId41"/>
    <p:sldId id="714" r:id="rId42"/>
    <p:sldId id="609" r:id="rId43"/>
    <p:sldId id="709" r:id="rId44"/>
    <p:sldId id="611" r:id="rId45"/>
    <p:sldId id="612" r:id="rId46"/>
    <p:sldId id="613" r:id="rId47"/>
    <p:sldId id="648" r:id="rId48"/>
    <p:sldId id="715" r:id="rId49"/>
    <p:sldId id="716" r:id="rId50"/>
    <p:sldId id="717" r:id="rId51"/>
    <p:sldId id="632" r:id="rId52"/>
    <p:sldId id="642" r:id="rId53"/>
    <p:sldId id="643" r:id="rId54"/>
    <p:sldId id="644" r:id="rId55"/>
    <p:sldId id="645" r:id="rId56"/>
    <p:sldId id="646" r:id="rId57"/>
    <p:sldId id="647" r:id="rId58"/>
    <p:sldId id="649" r:id="rId59"/>
    <p:sldId id="708" r:id="rId60"/>
    <p:sldId id="362" r:id="rId61"/>
  </p:sldIdLst>
  <p:sldSz cx="9144000" cy="6858000" type="screen4x3"/>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0" userDrawn="1">
          <p15:clr>
            <a:srgbClr val="A4A3A4"/>
          </p15:clr>
        </p15:guide>
        <p15:guide id="2" pos="294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5AA5"/>
    <a:srgbClr val="005A9E"/>
    <a:srgbClr val="99E307"/>
    <a:srgbClr val="004182"/>
    <a:srgbClr val="99F70C"/>
    <a:srgbClr val="99F707"/>
    <a:srgbClr val="0042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9164" autoAdjust="0"/>
    <p:restoredTop sz="88435" autoAdjust="0"/>
  </p:normalViewPr>
  <p:slideViewPr>
    <p:cSldViewPr showGuides="1">
      <p:cViewPr varScale="1">
        <p:scale>
          <a:sx n="100" d="100"/>
          <a:sy n="100" d="100"/>
        </p:scale>
        <p:origin x="-1944" y="-96"/>
      </p:cViewPr>
      <p:guideLst>
        <p:guide orient="horz" pos="2200"/>
        <p:guide pos="2943"/>
      </p:guideLst>
    </p:cSldViewPr>
  </p:slideViewPr>
  <p:notesTextViewPr>
    <p:cViewPr>
      <p:scale>
        <a:sx n="100" d="100"/>
        <a:sy n="100" d="100"/>
      </p:scale>
      <p:origin x="0" y="0"/>
    </p:cViewPr>
  </p:notesTextViewPr>
  <p:notesViewPr>
    <p:cSldViewPr>
      <p:cViewPr varScale="1">
        <p:scale>
          <a:sx n="87" d="100"/>
          <a:sy n="87" d="100"/>
        </p:scale>
        <p:origin x="-3738" y="-84"/>
      </p:cViewPr>
      <p:guideLst>
        <p:guide orient="horz" pos="2933"/>
        <p:guide pos="2166"/>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6" Type="http://schemas.openxmlformats.org/officeDocument/2006/relationships/tags" Target="tags/tag16.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handoutMaster" Target="handoutMasters/handoutMaster1.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45.wmf"/><Relationship Id="rId4" Type="http://schemas.openxmlformats.org/officeDocument/2006/relationships/image" Target="../media/image44.wmf"/><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s>
</file>

<file path=ppt/drawings/_rels/vmlDrawing20.vml.rels><?xml version="1.0" encoding="UTF-8" standalone="yes"?>
<Relationships xmlns="http://schemas.openxmlformats.org/package/2006/relationships"><Relationship Id="rId9" Type="http://schemas.openxmlformats.org/officeDocument/2006/relationships/image" Target="../media/image54.wmf"/><Relationship Id="rId8" Type="http://schemas.openxmlformats.org/officeDocument/2006/relationships/image" Target="../media/image53.wmf"/><Relationship Id="rId7" Type="http://schemas.openxmlformats.org/officeDocument/2006/relationships/image" Target="../media/image52.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47.wmf"/><Relationship Id="rId11" Type="http://schemas.openxmlformats.org/officeDocument/2006/relationships/image" Target="../media/image56.wmf"/><Relationship Id="rId10" Type="http://schemas.openxmlformats.org/officeDocument/2006/relationships/image" Target="../media/image55.wmf"/><Relationship Id="rId1" Type="http://schemas.openxmlformats.org/officeDocument/2006/relationships/image" Target="../media/image46.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66.wmf"/><Relationship Id="rId8" Type="http://schemas.openxmlformats.org/officeDocument/2006/relationships/image" Target="../media/image65.wmf"/><Relationship Id="rId7" Type="http://schemas.openxmlformats.org/officeDocument/2006/relationships/image" Target="../media/image64.wmf"/><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0" Type="http://schemas.openxmlformats.org/officeDocument/2006/relationships/image" Target="../media/image67.wmf"/><Relationship Id="rId1" Type="http://schemas.openxmlformats.org/officeDocument/2006/relationships/image" Target="../media/image58.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68.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image" Target="../media/image76.w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86.wmf"/><Relationship Id="rId8" Type="http://schemas.openxmlformats.org/officeDocument/2006/relationships/image" Target="../media/image85.wmf"/><Relationship Id="rId7" Type="http://schemas.openxmlformats.org/officeDocument/2006/relationships/image" Target="../media/image84.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 Id="rId3" Type="http://schemas.openxmlformats.org/officeDocument/2006/relationships/image" Target="../media/image80.wmf"/><Relationship Id="rId22" Type="http://schemas.openxmlformats.org/officeDocument/2006/relationships/image" Target="../media/image99.wmf"/><Relationship Id="rId21" Type="http://schemas.openxmlformats.org/officeDocument/2006/relationships/image" Target="../media/image98.wmf"/><Relationship Id="rId20" Type="http://schemas.openxmlformats.org/officeDocument/2006/relationships/image" Target="../media/image97.wmf"/><Relationship Id="rId2" Type="http://schemas.openxmlformats.org/officeDocument/2006/relationships/image" Target="../media/image79.wmf"/><Relationship Id="rId19" Type="http://schemas.openxmlformats.org/officeDocument/2006/relationships/image" Target="../media/image96.wmf"/><Relationship Id="rId18" Type="http://schemas.openxmlformats.org/officeDocument/2006/relationships/image" Target="../media/image95.wmf"/><Relationship Id="rId17" Type="http://schemas.openxmlformats.org/officeDocument/2006/relationships/image" Target="../media/image94.wmf"/><Relationship Id="rId16" Type="http://schemas.openxmlformats.org/officeDocument/2006/relationships/image" Target="../media/image93.wmf"/><Relationship Id="rId15" Type="http://schemas.openxmlformats.org/officeDocument/2006/relationships/image" Target="../media/image92.wmf"/><Relationship Id="rId14" Type="http://schemas.openxmlformats.org/officeDocument/2006/relationships/image" Target="../media/image91.wmf"/><Relationship Id="rId13" Type="http://schemas.openxmlformats.org/officeDocument/2006/relationships/image" Target="../media/image90.wmf"/><Relationship Id="rId12" Type="http://schemas.openxmlformats.org/officeDocument/2006/relationships/image" Target="../media/image89.wmf"/><Relationship Id="rId11" Type="http://schemas.openxmlformats.org/officeDocument/2006/relationships/image" Target="../media/image88.wmf"/><Relationship Id="rId10" Type="http://schemas.openxmlformats.org/officeDocument/2006/relationships/image" Target="../media/image87.wmf"/><Relationship Id="rId1" Type="http://schemas.openxmlformats.org/officeDocument/2006/relationships/image" Target="../media/image78.w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105.wmf"/><Relationship Id="rId8" Type="http://schemas.openxmlformats.org/officeDocument/2006/relationships/image" Target="../media/image84.wmf"/><Relationship Id="rId7" Type="http://schemas.openxmlformats.org/officeDocument/2006/relationships/image" Target="../media/image83.wmf"/><Relationship Id="rId6" Type="http://schemas.openxmlformats.org/officeDocument/2006/relationships/image" Target="../media/image82.wmf"/><Relationship Id="rId5" Type="http://schemas.openxmlformats.org/officeDocument/2006/relationships/image" Target="../media/image104.wmf"/><Relationship Id="rId4" Type="http://schemas.openxmlformats.org/officeDocument/2006/relationships/image" Target="../media/image103.wmf"/><Relationship Id="rId3" Type="http://schemas.openxmlformats.org/officeDocument/2006/relationships/image" Target="../media/image102.wmf"/><Relationship Id="rId24" Type="http://schemas.openxmlformats.org/officeDocument/2006/relationships/image" Target="../media/image119.wmf"/><Relationship Id="rId23" Type="http://schemas.openxmlformats.org/officeDocument/2006/relationships/image" Target="../media/image118.wmf"/><Relationship Id="rId22" Type="http://schemas.openxmlformats.org/officeDocument/2006/relationships/image" Target="../media/image117.wmf"/><Relationship Id="rId21" Type="http://schemas.openxmlformats.org/officeDocument/2006/relationships/image" Target="../media/image116.wmf"/><Relationship Id="rId20" Type="http://schemas.openxmlformats.org/officeDocument/2006/relationships/image" Target="../media/image115.wmf"/><Relationship Id="rId2" Type="http://schemas.openxmlformats.org/officeDocument/2006/relationships/image" Target="../media/image101.wmf"/><Relationship Id="rId19" Type="http://schemas.openxmlformats.org/officeDocument/2006/relationships/image" Target="../media/image114.wmf"/><Relationship Id="rId18" Type="http://schemas.openxmlformats.org/officeDocument/2006/relationships/image" Target="../media/image113.wmf"/><Relationship Id="rId17" Type="http://schemas.openxmlformats.org/officeDocument/2006/relationships/image" Target="../media/image112.wmf"/><Relationship Id="rId16" Type="http://schemas.openxmlformats.org/officeDocument/2006/relationships/image" Target="../media/image111.wmf"/><Relationship Id="rId15" Type="http://schemas.openxmlformats.org/officeDocument/2006/relationships/image" Target="../media/image110.wmf"/><Relationship Id="rId14" Type="http://schemas.openxmlformats.org/officeDocument/2006/relationships/image" Target="../media/image109.wmf"/><Relationship Id="rId13" Type="http://schemas.openxmlformats.org/officeDocument/2006/relationships/image" Target="../media/image108.wmf"/><Relationship Id="rId12" Type="http://schemas.openxmlformats.org/officeDocument/2006/relationships/image" Target="../media/image80.wmf"/><Relationship Id="rId11" Type="http://schemas.openxmlformats.org/officeDocument/2006/relationships/image" Target="../media/image107.wmf"/><Relationship Id="rId10" Type="http://schemas.openxmlformats.org/officeDocument/2006/relationships/image" Target="../media/image106.wmf"/><Relationship Id="rId1" Type="http://schemas.openxmlformats.org/officeDocument/2006/relationships/image" Target="../media/image100.wmf"/></Relationships>
</file>

<file path=ppt/drawings/_rels/vmlDrawing28.vml.rels><?xml version="1.0" encoding="UTF-8" standalone="yes"?>
<Relationships xmlns="http://schemas.openxmlformats.org/package/2006/relationships"><Relationship Id="rId4" Type="http://schemas.openxmlformats.org/officeDocument/2006/relationships/image" Target="../media/image123.wmf"/><Relationship Id="rId3" Type="http://schemas.openxmlformats.org/officeDocument/2006/relationships/image" Target="../media/image122.wmf"/><Relationship Id="rId2" Type="http://schemas.openxmlformats.org/officeDocument/2006/relationships/image" Target="../media/image121.wmf"/><Relationship Id="rId1" Type="http://schemas.openxmlformats.org/officeDocument/2006/relationships/image" Target="../media/image12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FF3516-2E2E-447A-BF37-AC90274693A0}"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85B465-D402-4F10-99EF-849226EBFBEE}"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AE49ED2-BFCB-4791-914F-B6D7F5D86BB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4535DC-6042-4CAB-8461-B1E0B81ED9B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x-none" dirty="0"/>
          </a:p>
        </p:txBody>
      </p:sp>
      <p:sp>
        <p:nvSpPr>
          <p:cNvPr id="4" name="Slide Number Placeholder 3"/>
          <p:cNvSpPr>
            <a:spLocks noGrp="1"/>
          </p:cNvSpPr>
          <p:nvPr>
            <p:ph type="sldNum" sz="quarter" idx="5"/>
          </p:nvPr>
        </p:nvSpPr>
        <p:spPr/>
        <p:txBody>
          <a:bodyPr/>
          <a:lstStyle/>
          <a:p>
            <a:fld id="{6C4535DC-6042-4CAB-8461-B1E0B81ED9B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descr="a3.jpg"/>
          <p:cNvPicPr>
            <a:picLocks noChangeAspect="1"/>
          </p:cNvPicPr>
          <p:nvPr userDrawn="1"/>
        </p:nvPicPr>
        <p:blipFill>
          <a:blip r:embed="rId2"/>
          <a:stretch>
            <a:fillRect/>
          </a:stretch>
        </p:blipFill>
        <p:spPr>
          <a:xfrm>
            <a:off x="0" y="560"/>
            <a:ext cx="9144000" cy="6856883"/>
          </a:xfrm>
          <a:prstGeom prst="rect">
            <a:avLst/>
          </a:prstGeom>
          <a:ln>
            <a:noFill/>
          </a:ln>
        </p:spPr>
      </p:pic>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4248168"/>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a:xfrm>
            <a:off x="5786446" y="6356352"/>
            <a:ext cx="2895600" cy="365125"/>
          </a:xfrm>
        </p:spPr>
        <p:txBody>
          <a:bodyPr/>
          <a:lstStyle/>
          <a:p>
            <a:endParaRPr lang="zh-CN" altLang="en-US" dirty="0"/>
          </a:p>
        </p:txBody>
      </p:sp>
      <p:sp>
        <p:nvSpPr>
          <p:cNvPr id="6" name="灯片编号占位符 5"/>
          <p:cNvSpPr>
            <a:spLocks noGrp="1"/>
          </p:cNvSpPr>
          <p:nvPr>
            <p:ph type="sldNum" sz="quarter" idx="12"/>
          </p:nvPr>
        </p:nvSpPr>
        <p:spPr>
          <a:xfrm>
            <a:off x="2786050" y="6357960"/>
            <a:ext cx="2786082" cy="365125"/>
          </a:xfrm>
        </p:spPr>
        <p:txBody>
          <a:bodyPr/>
          <a:lstStyle>
            <a:lvl1pPr>
              <a:defRPr b="1">
                <a:solidFill>
                  <a:srgbClr val="004182"/>
                </a:solidFill>
              </a:defRPr>
            </a:lvl1pPr>
          </a:lstStyle>
          <a:p>
            <a:r>
              <a:rPr lang="zh-CN" altLang="en-US" dirty="0"/>
              <a:t>智能感知与图像理解教育部重点实验室</a:t>
            </a:r>
            <a:endParaRPr lang="zh-CN" altLang="en-US" dirty="0"/>
          </a:p>
        </p:txBody>
      </p:sp>
      <p:sp>
        <p:nvSpPr>
          <p:cNvPr id="8" name="矩形 1"/>
          <p:cNvSpPr>
            <a:spLocks noChangeArrowheads="1"/>
          </p:cNvSpPr>
          <p:nvPr userDrawn="1"/>
        </p:nvSpPr>
        <p:spPr bwMode="auto">
          <a:xfrm>
            <a:off x="0" y="1989137"/>
            <a:ext cx="9144000" cy="1727200"/>
          </a:xfrm>
          <a:prstGeom prst="rect">
            <a:avLst/>
          </a:prstGeom>
          <a:solidFill>
            <a:srgbClr val="004182"/>
          </a:solidFill>
          <a:ln w="25400">
            <a:noFill/>
            <a:miter lim="800000"/>
          </a:ln>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endParaRPr lang="zh-CN" altLang="zh-CN" dirty="0">
              <a:solidFill>
                <a:srgbClr val="005A9E"/>
              </a:solidFill>
            </a:endParaRPr>
          </a:p>
        </p:txBody>
      </p:sp>
      <p:sp>
        <p:nvSpPr>
          <p:cNvPr id="9" name="直接连接符 3"/>
          <p:cNvSpPr>
            <a:spLocks noChangeShapeType="1"/>
          </p:cNvSpPr>
          <p:nvPr userDrawn="1"/>
        </p:nvSpPr>
        <p:spPr bwMode="auto">
          <a:xfrm>
            <a:off x="0" y="3876675"/>
            <a:ext cx="9144000" cy="1588"/>
          </a:xfrm>
          <a:prstGeom prst="line">
            <a:avLst/>
          </a:prstGeom>
          <a:noFill/>
          <a:ln w="76200">
            <a:solidFill>
              <a:srgbClr val="004182"/>
            </a:solidFill>
            <a:round/>
          </a:ln>
        </p:spPr>
        <p:txBody>
          <a:bodyPr/>
          <a:lstStyle/>
          <a:p>
            <a:endParaRPr lang="zh-CN" altLang="en-US"/>
          </a:p>
        </p:txBody>
      </p:sp>
      <p:pic>
        <p:nvPicPr>
          <p:cNvPr id="10" name="图片 9" descr="横版logo.png"/>
          <p:cNvPicPr>
            <a:picLocks noChangeAspect="1"/>
          </p:cNvPicPr>
          <p:nvPr userDrawn="1"/>
        </p:nvPicPr>
        <p:blipFill>
          <a:blip r:embed="rId3" cstate="print"/>
          <a:stretch>
            <a:fillRect/>
          </a:stretch>
        </p:blipFill>
        <p:spPr>
          <a:xfrm>
            <a:off x="5572132" y="425307"/>
            <a:ext cx="2786082" cy="93199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9" name="图片 8" descr="a4.jpg"/>
          <p:cNvPicPr>
            <a:picLocks noChangeAspect="1"/>
          </p:cNvPicPr>
          <p:nvPr userDrawn="1"/>
        </p:nvPicPr>
        <p:blipFill>
          <a:blip r:embed="rId2"/>
          <a:stretch>
            <a:fillRect/>
          </a:stretch>
        </p:blipFill>
        <p:spPr>
          <a:xfrm>
            <a:off x="0" y="560"/>
            <a:ext cx="9144000" cy="6856883"/>
          </a:xfrm>
          <a:prstGeom prst="rect">
            <a:avLst/>
          </a:prstGeom>
        </p:spPr>
      </p:pic>
      <p:sp>
        <p:nvSpPr>
          <p:cNvPr id="2" name="标题 1"/>
          <p:cNvSpPr>
            <a:spLocks noGrp="1"/>
          </p:cNvSpPr>
          <p:nvPr>
            <p:ph type="title"/>
          </p:nvPr>
        </p:nvSpPr>
        <p:spPr>
          <a:xfrm>
            <a:off x="2928927" y="142852"/>
            <a:ext cx="6072230" cy="582594"/>
          </a:xfrm>
        </p:spPr>
        <p:txBody>
          <a:bodyPr>
            <a:noAutofit/>
          </a:bodyPr>
          <a:lstStyle>
            <a:lvl1pPr>
              <a:defRPr sz="3200" b="1">
                <a:solidFill>
                  <a:schemeClr val="bg1"/>
                </a:solidFill>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dirty="0"/>
          </a:p>
        </p:txBody>
      </p:sp>
      <p:sp>
        <p:nvSpPr>
          <p:cNvPr id="5" name="页脚占位符 4"/>
          <p:cNvSpPr>
            <a:spLocks noGrp="1"/>
          </p:cNvSpPr>
          <p:nvPr>
            <p:ph type="ftr" sz="quarter" idx="11"/>
          </p:nvPr>
        </p:nvSpPr>
        <p:spPr>
          <a:xfrm>
            <a:off x="5786447" y="6357960"/>
            <a:ext cx="2876560" cy="365125"/>
          </a:xfrm>
        </p:spPr>
        <p:txBody>
          <a:bodyPr/>
          <a:lstStyle/>
          <a:p>
            <a:endParaRPr lang="zh-CN" altLang="en-US" dirty="0"/>
          </a:p>
        </p:txBody>
      </p:sp>
      <p:sp>
        <p:nvSpPr>
          <p:cNvPr id="6" name="灯片编号占位符 5"/>
          <p:cNvSpPr>
            <a:spLocks noGrp="1"/>
          </p:cNvSpPr>
          <p:nvPr>
            <p:ph type="sldNum" sz="quarter" idx="12"/>
          </p:nvPr>
        </p:nvSpPr>
        <p:spPr>
          <a:xfrm>
            <a:off x="2786050" y="6356352"/>
            <a:ext cx="2828916" cy="365125"/>
          </a:xfrm>
        </p:spPr>
        <p:txBody>
          <a:bodyPr/>
          <a:lstStyle>
            <a:lvl1pPr marL="0" algn="r" defTabSz="914400" rtl="0" eaLnBrk="1" latinLnBrk="0" hangingPunct="1">
              <a:defRPr lang="zh-CN" altLang="en-US" sz="1200" b="1" kern="1200" smtClean="0">
                <a:solidFill>
                  <a:srgbClr val="004182"/>
                </a:solidFill>
                <a:latin typeface="+mn-lt"/>
                <a:ea typeface="+mn-ea"/>
                <a:cs typeface="+mn-cs"/>
              </a:defRPr>
            </a:lvl1pPr>
          </a:lstStyle>
          <a:p>
            <a:r>
              <a:rPr lang="zh-CN" altLang="en-US" dirty="0"/>
              <a:t>智能感知与图像理解教育部重点实验室</a:t>
            </a:r>
            <a:endParaRPr lang="zh-CN" altLang="en-US" dirty="0"/>
          </a:p>
        </p:txBody>
      </p:sp>
      <p:cxnSp>
        <p:nvCxnSpPr>
          <p:cNvPr id="10" name="直接连接符 9"/>
          <p:cNvCxnSpPr/>
          <p:nvPr userDrawn="1"/>
        </p:nvCxnSpPr>
        <p:spPr>
          <a:xfrm>
            <a:off x="-12192" y="6232551"/>
            <a:ext cx="4857750" cy="4763"/>
          </a:xfrm>
          <a:prstGeom prst="line">
            <a:avLst/>
          </a:prstGeom>
          <a:ln w="104775">
            <a:solidFill>
              <a:srgbClr val="004182"/>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9910" y="6163328"/>
            <a:ext cx="4857750" cy="4763"/>
          </a:xfrm>
          <a:prstGeom prst="line">
            <a:avLst/>
          </a:prstGeom>
          <a:ln w="635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图片 11" descr="_MG_3655副本.jpg"/>
          <p:cNvPicPr>
            <a:picLocks noChangeAspect="1"/>
          </p:cNvPicPr>
          <p:nvPr userDrawn="1"/>
        </p:nvPicPr>
        <p:blipFill>
          <a:blip r:embed="rId3" cstate="print"/>
          <a:stretch>
            <a:fillRect/>
          </a:stretch>
        </p:blipFill>
        <p:spPr>
          <a:xfrm>
            <a:off x="5206480" y="5860744"/>
            <a:ext cx="1080000" cy="719999"/>
          </a:xfrm>
          <a:prstGeom prst="rect">
            <a:avLst/>
          </a:prstGeom>
          <a:ln>
            <a:noFill/>
          </a:ln>
          <a:effectLst>
            <a:softEdge rad="112500"/>
          </a:effectLst>
        </p:spPr>
      </p:pic>
      <p:pic>
        <p:nvPicPr>
          <p:cNvPr id="13" name="图片 12" descr="_MG_3751副本.jpg"/>
          <p:cNvPicPr>
            <a:picLocks noChangeAspect="1"/>
          </p:cNvPicPr>
          <p:nvPr userDrawn="1"/>
        </p:nvPicPr>
        <p:blipFill>
          <a:blip r:embed="rId4" cstate="print"/>
          <a:stretch>
            <a:fillRect/>
          </a:stretch>
        </p:blipFill>
        <p:spPr>
          <a:xfrm>
            <a:off x="6402535" y="5900715"/>
            <a:ext cx="960000" cy="640054"/>
          </a:xfrm>
          <a:prstGeom prst="rect">
            <a:avLst/>
          </a:prstGeom>
          <a:ln>
            <a:noFill/>
          </a:ln>
          <a:effectLst>
            <a:softEdge rad="112500"/>
          </a:effectLst>
        </p:spPr>
      </p:pic>
      <p:pic>
        <p:nvPicPr>
          <p:cNvPr id="14" name="图片 13" descr="_MG_2253_2_1_0_tonemapped副本.jpg"/>
          <p:cNvPicPr>
            <a:picLocks noChangeAspect="1"/>
          </p:cNvPicPr>
          <p:nvPr userDrawn="1"/>
        </p:nvPicPr>
        <p:blipFill>
          <a:blip r:embed="rId5" cstate="print"/>
          <a:stretch>
            <a:fillRect/>
          </a:stretch>
        </p:blipFill>
        <p:spPr>
          <a:xfrm>
            <a:off x="7511125" y="5858311"/>
            <a:ext cx="1078651" cy="719162"/>
          </a:xfrm>
          <a:prstGeom prst="rect">
            <a:avLst/>
          </a:prstGeom>
          <a:ln>
            <a:noFill/>
          </a:ln>
          <a:effectLst>
            <a:softEdge rad="112500"/>
          </a:effectLst>
        </p:spPr>
      </p:pic>
      <p:pic>
        <p:nvPicPr>
          <p:cNvPr id="21" name="图片 20" descr="QQ截图20170908113630.jpg"/>
          <p:cNvPicPr>
            <a:picLocks noChangeAspect="1"/>
          </p:cNvPicPr>
          <p:nvPr userDrawn="1"/>
        </p:nvPicPr>
        <p:blipFill>
          <a:blip r:embed="rId6"/>
          <a:stretch>
            <a:fillRect/>
          </a:stretch>
        </p:blipFill>
        <p:spPr>
          <a:xfrm>
            <a:off x="142844" y="6298957"/>
            <a:ext cx="3214710" cy="55964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descr="新建 Microsoft Office PowerPoint 演示文稿.jpg"/>
          <p:cNvPicPr>
            <a:picLocks noChangeAspect="1"/>
          </p:cNvPicPr>
          <p:nvPr userDrawn="1"/>
        </p:nvPicPr>
        <p:blipFill>
          <a:blip r:embed="rId2"/>
          <a:stretch>
            <a:fillRect/>
          </a:stretch>
        </p:blipFill>
        <p:spPr>
          <a:xfrm>
            <a:off x="0" y="0"/>
            <a:ext cx="9144000" cy="6858000"/>
          </a:xfrm>
          <a:prstGeom prst="rect">
            <a:avLst/>
          </a:prstGeom>
        </p:spPr>
      </p:pic>
      <p:sp>
        <p:nvSpPr>
          <p:cNvPr id="2" name="标题 1"/>
          <p:cNvSpPr>
            <a:spLocks noGrp="1"/>
          </p:cNvSpPr>
          <p:nvPr>
            <p:ph type="title"/>
          </p:nvPr>
        </p:nvSpPr>
        <p:spPr>
          <a:xfrm>
            <a:off x="722313" y="4406902"/>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图片 7" descr="a4.jpg"/>
          <p:cNvPicPr>
            <a:picLocks noChangeAspect="1"/>
          </p:cNvPicPr>
          <p:nvPr userDrawn="1"/>
        </p:nvPicPr>
        <p:blipFill>
          <a:blip r:embed="rId2"/>
          <a:stretch>
            <a:fillRect/>
          </a:stretch>
        </p:blipFill>
        <p:spPr>
          <a:xfrm>
            <a:off x="0" y="560"/>
            <a:ext cx="9144000" cy="6856883"/>
          </a:xfrm>
          <a:prstGeom prst="rect">
            <a:avLst/>
          </a:prstGeom>
        </p:spPr>
      </p:pic>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0" name="图片 9" descr="a4.jpg"/>
          <p:cNvPicPr>
            <a:picLocks noChangeAspect="1"/>
          </p:cNvPicPr>
          <p:nvPr userDrawn="1"/>
        </p:nvPicPr>
        <p:blipFill>
          <a:blip r:embed="rId2"/>
          <a:stretch>
            <a:fillRect/>
          </a:stretch>
        </p:blipFill>
        <p:spPr>
          <a:xfrm>
            <a:off x="0" y="560"/>
            <a:ext cx="9144000" cy="6856883"/>
          </a:xfrm>
          <a:prstGeom prst="rect">
            <a:avLst/>
          </a:prstGeom>
        </p:spPr>
      </p:pic>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vmlDrawing" Target="../drawings/vmlDrawing1.vml"/><Relationship Id="rId7"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oleObject" Target="../embeddings/oleObject3.bin"/><Relationship Id="rId4" Type="http://schemas.openxmlformats.org/officeDocument/2006/relationships/image" Target="../media/image10.wmf"/><Relationship Id="rId3" Type="http://schemas.openxmlformats.org/officeDocument/2006/relationships/oleObject" Target="../embeddings/oleObject2.bin"/><Relationship Id="rId2" Type="http://schemas.openxmlformats.org/officeDocument/2006/relationships/image" Target="../media/image9.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13.wmf"/><Relationship Id="rId3" Type="http://schemas.openxmlformats.org/officeDocument/2006/relationships/oleObject" Target="../embeddings/oleObject5.bin"/><Relationship Id="rId2" Type="http://schemas.openxmlformats.org/officeDocument/2006/relationships/image" Target="../media/image12.wmf"/><Relationship Id="rId1"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15.wmf"/><Relationship Id="rId3" Type="http://schemas.openxmlformats.org/officeDocument/2006/relationships/oleObject" Target="../embeddings/oleObject7.bin"/><Relationship Id="rId2" Type="http://schemas.openxmlformats.org/officeDocument/2006/relationships/image" Target="../media/image14.wmf"/><Relationship Id="rId1"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18.wmf"/><Relationship Id="rId3" Type="http://schemas.openxmlformats.org/officeDocument/2006/relationships/oleObject" Target="../embeddings/oleObject10.bin"/><Relationship Id="rId2" Type="http://schemas.openxmlformats.org/officeDocument/2006/relationships/image" Target="../media/image17.wmf"/><Relationship Id="rId1" Type="http://schemas.openxmlformats.org/officeDocument/2006/relationships/oleObject" Target="../embeddings/oleObject9.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21.wmf"/><Relationship Id="rId3" Type="http://schemas.openxmlformats.org/officeDocument/2006/relationships/oleObject" Target="../embeddings/oleObject13.bin"/><Relationship Id="rId2" Type="http://schemas.openxmlformats.org/officeDocument/2006/relationships/image" Target="../media/image20.wmf"/><Relationship Id="rId1" Type="http://schemas.openxmlformats.org/officeDocument/2006/relationships/oleObject" Target="../embeddings/oleObject12.bin"/></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23.wmf"/><Relationship Id="rId3" Type="http://schemas.openxmlformats.org/officeDocument/2006/relationships/oleObject" Target="../embeddings/oleObject15.bin"/><Relationship Id="rId2" Type="http://schemas.openxmlformats.org/officeDocument/2006/relationships/image" Target="../media/image22.wmf"/><Relationship Id="rId1" Type="http://schemas.openxmlformats.org/officeDocument/2006/relationships/oleObject" Target="../embeddings/oleObject14.bin"/></Relationships>
</file>

<file path=ppt/slides/_rels/slide17.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18.bin"/><Relationship Id="rId4" Type="http://schemas.openxmlformats.org/officeDocument/2006/relationships/image" Target="../media/image25.wmf"/><Relationship Id="rId3" Type="http://schemas.openxmlformats.org/officeDocument/2006/relationships/oleObject" Target="../embeddings/oleObject17.bin"/><Relationship Id="rId2" Type="http://schemas.openxmlformats.org/officeDocument/2006/relationships/image" Target="../media/image24.wmf"/><Relationship Id="rId1" Type="http://schemas.openxmlformats.org/officeDocument/2006/relationships/oleObject" Target="../embeddings/oleObject16.bin"/></Relationships>
</file>

<file path=ppt/slides/_rels/slide18.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28.wmf"/><Relationship Id="rId3" Type="http://schemas.openxmlformats.org/officeDocument/2006/relationships/oleObject" Target="../embeddings/oleObject20.bin"/><Relationship Id="rId2" Type="http://schemas.openxmlformats.org/officeDocument/2006/relationships/image" Target="../media/image27.wmf"/><Relationship Id="rId1"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21.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6" Type="http://schemas.openxmlformats.org/officeDocument/2006/relationships/vmlDrawing" Target="../drawings/vmlDrawing12.vml"/><Relationship Id="rId5" Type="http://schemas.openxmlformats.org/officeDocument/2006/relationships/slideLayout" Target="../slideLayouts/slideLayout2.xml"/><Relationship Id="rId4" Type="http://schemas.openxmlformats.org/officeDocument/2006/relationships/image" Target="../media/image31.wmf"/><Relationship Id="rId3" Type="http://schemas.openxmlformats.org/officeDocument/2006/relationships/oleObject" Target="../embeddings/oleObject23.bin"/><Relationship Id="rId2" Type="http://schemas.openxmlformats.org/officeDocument/2006/relationships/image" Target="../media/image30.wmf"/><Relationship Id="rId1" Type="http://schemas.openxmlformats.org/officeDocument/2006/relationships/oleObject" Target="../embeddings/oleObject22.bin"/></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tif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34.wmf"/><Relationship Id="rId3" Type="http://schemas.openxmlformats.org/officeDocument/2006/relationships/oleObject" Target="../embeddings/oleObject25.bin"/><Relationship Id="rId2" Type="http://schemas.openxmlformats.org/officeDocument/2006/relationships/image" Target="../media/image33.wmf"/><Relationship Id="rId1" Type="http://schemas.openxmlformats.org/officeDocument/2006/relationships/oleObject" Target="../embeddings/oleObject24.bin"/></Relationships>
</file>

<file path=ppt/slides/_rels/slide29.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6" Type="http://schemas.openxmlformats.org/officeDocument/2006/relationships/slideLayout" Target="../slideLayouts/slideLayout2.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35.wmf"/><Relationship Id="rId1" Type="http://schemas.openxmlformats.org/officeDocument/2006/relationships/oleObject" Target="../embeddings/oleObject26.bin"/></Relationships>
</file>

<file path=ppt/slides/_rels/slide32.xml.rels><?xml version="1.0" encoding="UTF-8" standalone="yes"?>
<Relationships xmlns="http://schemas.openxmlformats.org/package/2006/relationships"><Relationship Id="rId7" Type="http://schemas.openxmlformats.org/officeDocument/2006/relationships/vmlDrawing" Target="../drawings/vmlDrawing15.vml"/><Relationship Id="rId6"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5.wmf"/><Relationship Id="rId3" Type="http://schemas.openxmlformats.org/officeDocument/2006/relationships/oleObject" Target="../embeddings/oleObject28.bin"/><Relationship Id="rId2" Type="http://schemas.openxmlformats.org/officeDocument/2006/relationships/image" Target="../media/image36.wmf"/><Relationship Id="rId1" Type="http://schemas.openxmlformats.org/officeDocument/2006/relationships/oleObject" Target="../embeddings/oleObject27.bin"/></Relationships>
</file>

<file path=ppt/slides/_rels/slide33.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38.wmf"/><Relationship Id="rId1" Type="http://schemas.openxmlformats.org/officeDocument/2006/relationships/oleObject" Target="../embeddings/oleObject29.bin"/></Relationships>
</file>

<file path=ppt/slides/_rels/slide34.xml.rels><?xml version="1.0" encoding="UTF-8" standalone="yes"?>
<Relationships xmlns="http://schemas.openxmlformats.org/package/2006/relationships"><Relationship Id="rId7" Type="http://schemas.openxmlformats.org/officeDocument/2006/relationships/vmlDrawing" Target="../drawings/vmlDrawing17.vml"/><Relationship Id="rId6"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8.wmf"/><Relationship Id="rId3" Type="http://schemas.openxmlformats.org/officeDocument/2006/relationships/oleObject" Target="../embeddings/oleObject31.bin"/><Relationship Id="rId2" Type="http://schemas.openxmlformats.org/officeDocument/2006/relationships/image" Target="../media/image39.wmf"/><Relationship Id="rId1" Type="http://schemas.openxmlformats.org/officeDocument/2006/relationships/oleObject" Target="../embeddings/oleObject30.bin"/></Relationships>
</file>

<file path=ppt/slides/_rels/slide35.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40.wmf"/><Relationship Id="rId1" Type="http://schemas.openxmlformats.org/officeDocument/2006/relationships/oleObject" Target="../embeddings/oleObject32.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37.bin"/><Relationship Id="rId8" Type="http://schemas.openxmlformats.org/officeDocument/2006/relationships/image" Target="../media/image44.wmf"/><Relationship Id="rId7" Type="http://schemas.openxmlformats.org/officeDocument/2006/relationships/oleObject" Target="../embeddings/oleObject36.bin"/><Relationship Id="rId6" Type="http://schemas.openxmlformats.org/officeDocument/2006/relationships/image" Target="../media/image43.wmf"/><Relationship Id="rId5" Type="http://schemas.openxmlformats.org/officeDocument/2006/relationships/oleObject" Target="../embeddings/oleObject35.bin"/><Relationship Id="rId4" Type="http://schemas.openxmlformats.org/officeDocument/2006/relationships/image" Target="../media/image42.wmf"/><Relationship Id="rId3" Type="http://schemas.openxmlformats.org/officeDocument/2006/relationships/oleObject" Target="../embeddings/oleObject34.bin"/><Relationship Id="rId2" Type="http://schemas.openxmlformats.org/officeDocument/2006/relationships/image" Target="../media/image41.wmf"/><Relationship Id="rId12" Type="http://schemas.openxmlformats.org/officeDocument/2006/relationships/vmlDrawing" Target="../drawings/vmlDrawing19.vml"/><Relationship Id="rId11" Type="http://schemas.openxmlformats.org/officeDocument/2006/relationships/slideLayout" Target="../slideLayouts/slideLayout2.xml"/><Relationship Id="rId10" Type="http://schemas.openxmlformats.org/officeDocument/2006/relationships/image" Target="../media/image45.wmf"/><Relationship Id="rId1" Type="http://schemas.openxmlformats.org/officeDocument/2006/relationships/oleObject" Target="../embeddings/oleObject33.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42.bin"/><Relationship Id="rId8" Type="http://schemas.openxmlformats.org/officeDocument/2006/relationships/image" Target="../media/image49.wmf"/><Relationship Id="rId7" Type="http://schemas.openxmlformats.org/officeDocument/2006/relationships/oleObject" Target="../embeddings/oleObject41.bin"/><Relationship Id="rId6" Type="http://schemas.openxmlformats.org/officeDocument/2006/relationships/image" Target="../media/image48.wmf"/><Relationship Id="rId5" Type="http://schemas.openxmlformats.org/officeDocument/2006/relationships/oleObject" Target="../embeddings/oleObject40.bin"/><Relationship Id="rId4" Type="http://schemas.openxmlformats.org/officeDocument/2006/relationships/image" Target="../media/image47.wmf"/><Relationship Id="rId3" Type="http://schemas.openxmlformats.org/officeDocument/2006/relationships/oleObject" Target="../embeddings/oleObject39.bin"/><Relationship Id="rId24" Type="http://schemas.openxmlformats.org/officeDocument/2006/relationships/vmlDrawing" Target="../drawings/vmlDrawing20.vml"/><Relationship Id="rId23" Type="http://schemas.openxmlformats.org/officeDocument/2006/relationships/slideLayout" Target="../slideLayouts/slideLayout2.xml"/><Relationship Id="rId22" Type="http://schemas.openxmlformats.org/officeDocument/2006/relationships/image" Target="../media/image56.wmf"/><Relationship Id="rId21" Type="http://schemas.openxmlformats.org/officeDocument/2006/relationships/oleObject" Target="../embeddings/oleObject48.bin"/><Relationship Id="rId20" Type="http://schemas.openxmlformats.org/officeDocument/2006/relationships/image" Target="../media/image55.wmf"/><Relationship Id="rId2" Type="http://schemas.openxmlformats.org/officeDocument/2006/relationships/image" Target="../media/image46.wmf"/><Relationship Id="rId19" Type="http://schemas.openxmlformats.org/officeDocument/2006/relationships/oleObject" Target="../embeddings/oleObject47.bin"/><Relationship Id="rId18" Type="http://schemas.openxmlformats.org/officeDocument/2006/relationships/image" Target="../media/image54.wmf"/><Relationship Id="rId17" Type="http://schemas.openxmlformats.org/officeDocument/2006/relationships/oleObject" Target="../embeddings/oleObject46.bin"/><Relationship Id="rId16" Type="http://schemas.openxmlformats.org/officeDocument/2006/relationships/image" Target="../media/image53.wmf"/><Relationship Id="rId15" Type="http://schemas.openxmlformats.org/officeDocument/2006/relationships/oleObject" Target="../embeddings/oleObject45.bin"/><Relationship Id="rId14" Type="http://schemas.openxmlformats.org/officeDocument/2006/relationships/image" Target="../media/image52.wmf"/><Relationship Id="rId13" Type="http://schemas.openxmlformats.org/officeDocument/2006/relationships/oleObject" Target="../embeddings/oleObject44.bin"/><Relationship Id="rId12" Type="http://schemas.openxmlformats.org/officeDocument/2006/relationships/image" Target="../media/image51.wmf"/><Relationship Id="rId11" Type="http://schemas.openxmlformats.org/officeDocument/2006/relationships/oleObject" Target="../embeddings/oleObject43.bin"/><Relationship Id="rId10" Type="http://schemas.openxmlformats.org/officeDocument/2006/relationships/image" Target="../media/image50.wmf"/><Relationship Id="rId1" Type="http://schemas.openxmlformats.org/officeDocument/2006/relationships/oleObject" Target="../embeddings/oleObject38.bin"/></Relationships>
</file>

<file path=ppt/slides/_rels/slide39.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57.wmf"/><Relationship Id="rId1" Type="http://schemas.openxmlformats.org/officeDocument/2006/relationships/oleObject" Target="../embeddings/oleObject49.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61.wmf"/><Relationship Id="rId7" Type="http://schemas.openxmlformats.org/officeDocument/2006/relationships/oleObject" Target="../embeddings/oleObject53.bin"/><Relationship Id="rId6" Type="http://schemas.openxmlformats.org/officeDocument/2006/relationships/image" Target="../media/image60.wmf"/><Relationship Id="rId5" Type="http://schemas.openxmlformats.org/officeDocument/2006/relationships/oleObject" Target="../embeddings/oleObject52.bin"/><Relationship Id="rId4" Type="http://schemas.openxmlformats.org/officeDocument/2006/relationships/image" Target="../media/image59.wmf"/><Relationship Id="rId3" Type="http://schemas.openxmlformats.org/officeDocument/2006/relationships/oleObject" Target="../embeddings/oleObject51.bin"/><Relationship Id="rId22" Type="http://schemas.openxmlformats.org/officeDocument/2006/relationships/vmlDrawing" Target="../drawings/vmlDrawing22.vml"/><Relationship Id="rId21" Type="http://schemas.openxmlformats.org/officeDocument/2006/relationships/slideLayout" Target="../slideLayouts/slideLayout2.xml"/><Relationship Id="rId20" Type="http://schemas.openxmlformats.org/officeDocument/2006/relationships/image" Target="../media/image67.wmf"/><Relationship Id="rId2" Type="http://schemas.openxmlformats.org/officeDocument/2006/relationships/image" Target="../media/image58.wmf"/><Relationship Id="rId19" Type="http://schemas.openxmlformats.org/officeDocument/2006/relationships/oleObject" Target="../embeddings/oleObject59.bin"/><Relationship Id="rId18" Type="http://schemas.openxmlformats.org/officeDocument/2006/relationships/image" Target="../media/image66.wmf"/><Relationship Id="rId17" Type="http://schemas.openxmlformats.org/officeDocument/2006/relationships/oleObject" Target="../embeddings/oleObject58.bin"/><Relationship Id="rId16" Type="http://schemas.openxmlformats.org/officeDocument/2006/relationships/image" Target="../media/image65.wmf"/><Relationship Id="rId15" Type="http://schemas.openxmlformats.org/officeDocument/2006/relationships/oleObject" Target="../embeddings/oleObject57.bin"/><Relationship Id="rId14" Type="http://schemas.openxmlformats.org/officeDocument/2006/relationships/image" Target="../media/image64.wmf"/><Relationship Id="rId13" Type="http://schemas.openxmlformats.org/officeDocument/2006/relationships/oleObject" Target="../embeddings/oleObject56.bin"/><Relationship Id="rId12" Type="http://schemas.openxmlformats.org/officeDocument/2006/relationships/image" Target="../media/image63.wmf"/><Relationship Id="rId11" Type="http://schemas.openxmlformats.org/officeDocument/2006/relationships/oleObject" Target="../embeddings/oleObject55.bin"/><Relationship Id="rId10" Type="http://schemas.openxmlformats.org/officeDocument/2006/relationships/image" Target="../media/image62.wmf"/><Relationship Id="rId1" Type="http://schemas.openxmlformats.org/officeDocument/2006/relationships/oleObject" Target="../embeddings/oleObject50.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68.wmf"/><Relationship Id="rId1" Type="http://schemas.openxmlformats.org/officeDocument/2006/relationships/oleObject" Target="../embeddings/oleObject60.bin"/></Relationships>
</file>

<file path=ppt/slides/_rels/slide43.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2.xml"/><Relationship Id="rId6" Type="http://schemas.openxmlformats.org/officeDocument/2006/relationships/image" Target="../media/image71.wmf"/><Relationship Id="rId5" Type="http://schemas.openxmlformats.org/officeDocument/2006/relationships/oleObject" Target="../embeddings/oleObject63.bin"/><Relationship Id="rId4" Type="http://schemas.openxmlformats.org/officeDocument/2006/relationships/image" Target="../media/image70.wmf"/><Relationship Id="rId3" Type="http://schemas.openxmlformats.org/officeDocument/2006/relationships/oleObject" Target="../embeddings/oleObject62.bin"/><Relationship Id="rId2" Type="http://schemas.openxmlformats.org/officeDocument/2006/relationships/image" Target="../media/image69.wmf"/><Relationship Id="rId1" Type="http://schemas.openxmlformats.org/officeDocument/2006/relationships/oleObject" Target="../embeddings/oleObject61.bin"/></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5.wmf"/><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2.xml"/><Relationship Id="rId4" Type="http://schemas.openxmlformats.org/officeDocument/2006/relationships/image" Target="../media/image77.wmf"/><Relationship Id="rId3" Type="http://schemas.openxmlformats.org/officeDocument/2006/relationships/oleObject" Target="../embeddings/oleObject65.bin"/><Relationship Id="rId2" Type="http://schemas.openxmlformats.org/officeDocument/2006/relationships/image" Target="../media/image76.wmf"/><Relationship Id="rId1" Type="http://schemas.openxmlformats.org/officeDocument/2006/relationships/oleObject" Target="../embeddings/oleObject64.bin"/></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70.bin"/><Relationship Id="rId8" Type="http://schemas.openxmlformats.org/officeDocument/2006/relationships/image" Target="../media/image81.wmf"/><Relationship Id="rId7" Type="http://schemas.openxmlformats.org/officeDocument/2006/relationships/oleObject" Target="../embeddings/oleObject69.bin"/><Relationship Id="rId6" Type="http://schemas.openxmlformats.org/officeDocument/2006/relationships/image" Target="../media/image80.wmf"/><Relationship Id="rId50" Type="http://schemas.openxmlformats.org/officeDocument/2006/relationships/vmlDrawing" Target="../drawings/vmlDrawing26.vml"/><Relationship Id="rId5" Type="http://schemas.openxmlformats.org/officeDocument/2006/relationships/oleObject" Target="../embeddings/oleObject68.bin"/><Relationship Id="rId49" Type="http://schemas.openxmlformats.org/officeDocument/2006/relationships/slideLayout" Target="../slideLayouts/slideLayout2.xml"/><Relationship Id="rId48" Type="http://schemas.openxmlformats.org/officeDocument/2006/relationships/image" Target="../media/image99.wmf"/><Relationship Id="rId47" Type="http://schemas.openxmlformats.org/officeDocument/2006/relationships/oleObject" Target="../embeddings/oleObject91.bin"/><Relationship Id="rId46" Type="http://schemas.openxmlformats.org/officeDocument/2006/relationships/image" Target="../media/image98.wmf"/><Relationship Id="rId45" Type="http://schemas.openxmlformats.org/officeDocument/2006/relationships/oleObject" Target="../embeddings/oleObject90.bin"/><Relationship Id="rId44" Type="http://schemas.openxmlformats.org/officeDocument/2006/relationships/image" Target="../media/image97.wmf"/><Relationship Id="rId43" Type="http://schemas.openxmlformats.org/officeDocument/2006/relationships/oleObject" Target="../embeddings/oleObject89.bin"/><Relationship Id="rId42" Type="http://schemas.openxmlformats.org/officeDocument/2006/relationships/image" Target="../media/image96.wmf"/><Relationship Id="rId41" Type="http://schemas.openxmlformats.org/officeDocument/2006/relationships/oleObject" Target="../embeddings/oleObject88.bin"/><Relationship Id="rId40" Type="http://schemas.openxmlformats.org/officeDocument/2006/relationships/image" Target="../media/image95.wmf"/><Relationship Id="rId4" Type="http://schemas.openxmlformats.org/officeDocument/2006/relationships/image" Target="../media/image79.wmf"/><Relationship Id="rId39" Type="http://schemas.openxmlformats.org/officeDocument/2006/relationships/oleObject" Target="../embeddings/oleObject87.bin"/><Relationship Id="rId38" Type="http://schemas.openxmlformats.org/officeDocument/2006/relationships/image" Target="../media/image94.wmf"/><Relationship Id="rId37" Type="http://schemas.openxmlformats.org/officeDocument/2006/relationships/oleObject" Target="../embeddings/oleObject86.bin"/><Relationship Id="rId36" Type="http://schemas.openxmlformats.org/officeDocument/2006/relationships/image" Target="../media/image93.wmf"/><Relationship Id="rId35" Type="http://schemas.openxmlformats.org/officeDocument/2006/relationships/oleObject" Target="../embeddings/oleObject85.bin"/><Relationship Id="rId34" Type="http://schemas.openxmlformats.org/officeDocument/2006/relationships/oleObject" Target="../embeddings/oleObject84.bin"/><Relationship Id="rId33" Type="http://schemas.openxmlformats.org/officeDocument/2006/relationships/image" Target="../media/image92.wmf"/><Relationship Id="rId32" Type="http://schemas.openxmlformats.org/officeDocument/2006/relationships/oleObject" Target="../embeddings/oleObject83.bin"/><Relationship Id="rId31" Type="http://schemas.openxmlformats.org/officeDocument/2006/relationships/image" Target="../media/image91.wmf"/><Relationship Id="rId30" Type="http://schemas.openxmlformats.org/officeDocument/2006/relationships/oleObject" Target="../embeddings/oleObject82.bin"/><Relationship Id="rId3" Type="http://schemas.openxmlformats.org/officeDocument/2006/relationships/oleObject" Target="../embeddings/oleObject67.bin"/><Relationship Id="rId29" Type="http://schemas.openxmlformats.org/officeDocument/2006/relationships/oleObject" Target="../embeddings/oleObject81.bin"/><Relationship Id="rId28" Type="http://schemas.openxmlformats.org/officeDocument/2006/relationships/oleObject" Target="../embeddings/oleObject80.bin"/><Relationship Id="rId27" Type="http://schemas.openxmlformats.org/officeDocument/2006/relationships/oleObject" Target="../embeddings/oleObject79.bin"/><Relationship Id="rId26" Type="http://schemas.openxmlformats.org/officeDocument/2006/relationships/image" Target="../media/image90.wmf"/><Relationship Id="rId25" Type="http://schemas.openxmlformats.org/officeDocument/2006/relationships/oleObject" Target="../embeddings/oleObject78.bin"/><Relationship Id="rId24" Type="http://schemas.openxmlformats.org/officeDocument/2006/relationships/image" Target="../media/image89.wmf"/><Relationship Id="rId23" Type="http://schemas.openxmlformats.org/officeDocument/2006/relationships/oleObject" Target="../embeddings/oleObject77.bin"/><Relationship Id="rId22" Type="http://schemas.openxmlformats.org/officeDocument/2006/relationships/image" Target="../media/image88.wmf"/><Relationship Id="rId21" Type="http://schemas.openxmlformats.org/officeDocument/2006/relationships/oleObject" Target="../embeddings/oleObject76.bin"/><Relationship Id="rId20" Type="http://schemas.openxmlformats.org/officeDocument/2006/relationships/image" Target="../media/image87.wmf"/><Relationship Id="rId2" Type="http://schemas.openxmlformats.org/officeDocument/2006/relationships/image" Target="../media/image78.wmf"/><Relationship Id="rId19" Type="http://schemas.openxmlformats.org/officeDocument/2006/relationships/oleObject" Target="../embeddings/oleObject75.bin"/><Relationship Id="rId18" Type="http://schemas.openxmlformats.org/officeDocument/2006/relationships/image" Target="../media/image86.wmf"/><Relationship Id="rId17" Type="http://schemas.openxmlformats.org/officeDocument/2006/relationships/oleObject" Target="../embeddings/oleObject74.bin"/><Relationship Id="rId16" Type="http://schemas.openxmlformats.org/officeDocument/2006/relationships/image" Target="../media/image85.wmf"/><Relationship Id="rId15" Type="http://schemas.openxmlformats.org/officeDocument/2006/relationships/oleObject" Target="../embeddings/oleObject73.bin"/><Relationship Id="rId14" Type="http://schemas.openxmlformats.org/officeDocument/2006/relationships/image" Target="../media/image84.wmf"/><Relationship Id="rId13" Type="http://schemas.openxmlformats.org/officeDocument/2006/relationships/oleObject" Target="../embeddings/oleObject72.bin"/><Relationship Id="rId12" Type="http://schemas.openxmlformats.org/officeDocument/2006/relationships/image" Target="../media/image83.wmf"/><Relationship Id="rId11" Type="http://schemas.openxmlformats.org/officeDocument/2006/relationships/oleObject" Target="../embeddings/oleObject71.bin"/><Relationship Id="rId10" Type="http://schemas.openxmlformats.org/officeDocument/2006/relationships/image" Target="../media/image82.wmf"/><Relationship Id="rId1" Type="http://schemas.openxmlformats.org/officeDocument/2006/relationships/oleObject" Target="../embeddings/oleObject66.bin"/></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96.bin"/><Relationship Id="rId8" Type="http://schemas.openxmlformats.org/officeDocument/2006/relationships/image" Target="../media/image103.wmf"/><Relationship Id="rId7" Type="http://schemas.openxmlformats.org/officeDocument/2006/relationships/oleObject" Target="../embeddings/oleObject95.bin"/><Relationship Id="rId6" Type="http://schemas.openxmlformats.org/officeDocument/2006/relationships/image" Target="../media/image102.wmf"/><Relationship Id="rId53" Type="http://schemas.openxmlformats.org/officeDocument/2006/relationships/vmlDrawing" Target="../drawings/vmlDrawing27.vml"/><Relationship Id="rId52" Type="http://schemas.openxmlformats.org/officeDocument/2006/relationships/slideLayout" Target="../slideLayouts/slideLayout2.xml"/><Relationship Id="rId51" Type="http://schemas.openxmlformats.org/officeDocument/2006/relationships/image" Target="../media/image119.wmf"/><Relationship Id="rId50" Type="http://schemas.openxmlformats.org/officeDocument/2006/relationships/oleObject" Target="../embeddings/oleObject118.bin"/><Relationship Id="rId5" Type="http://schemas.openxmlformats.org/officeDocument/2006/relationships/oleObject" Target="../embeddings/oleObject94.bin"/><Relationship Id="rId49" Type="http://schemas.openxmlformats.org/officeDocument/2006/relationships/image" Target="../media/image118.wmf"/><Relationship Id="rId48" Type="http://schemas.openxmlformats.org/officeDocument/2006/relationships/oleObject" Target="../embeddings/oleObject117.bin"/><Relationship Id="rId47" Type="http://schemas.openxmlformats.org/officeDocument/2006/relationships/image" Target="../media/image117.wmf"/><Relationship Id="rId46" Type="http://schemas.openxmlformats.org/officeDocument/2006/relationships/oleObject" Target="../embeddings/oleObject116.bin"/><Relationship Id="rId45" Type="http://schemas.openxmlformats.org/officeDocument/2006/relationships/image" Target="../media/image116.wmf"/><Relationship Id="rId44" Type="http://schemas.openxmlformats.org/officeDocument/2006/relationships/oleObject" Target="../embeddings/oleObject115.bin"/><Relationship Id="rId43" Type="http://schemas.openxmlformats.org/officeDocument/2006/relationships/image" Target="../media/image115.wmf"/><Relationship Id="rId42" Type="http://schemas.openxmlformats.org/officeDocument/2006/relationships/oleObject" Target="../embeddings/oleObject114.bin"/><Relationship Id="rId41" Type="http://schemas.openxmlformats.org/officeDocument/2006/relationships/oleObject" Target="../embeddings/oleObject113.bin"/><Relationship Id="rId40" Type="http://schemas.openxmlformats.org/officeDocument/2006/relationships/oleObject" Target="../embeddings/oleObject112.bin"/><Relationship Id="rId4" Type="http://schemas.openxmlformats.org/officeDocument/2006/relationships/image" Target="../media/image101.wmf"/><Relationship Id="rId39" Type="http://schemas.openxmlformats.org/officeDocument/2006/relationships/image" Target="../media/image114.wmf"/><Relationship Id="rId38" Type="http://schemas.openxmlformats.org/officeDocument/2006/relationships/oleObject" Target="../embeddings/oleObject111.bin"/><Relationship Id="rId37" Type="http://schemas.openxmlformats.org/officeDocument/2006/relationships/image" Target="../media/image113.wmf"/><Relationship Id="rId36" Type="http://schemas.openxmlformats.org/officeDocument/2006/relationships/oleObject" Target="../embeddings/oleObject110.bin"/><Relationship Id="rId35" Type="http://schemas.openxmlformats.org/officeDocument/2006/relationships/oleObject" Target="../embeddings/oleObject109.bin"/><Relationship Id="rId34" Type="http://schemas.openxmlformats.org/officeDocument/2006/relationships/image" Target="../media/image112.wmf"/><Relationship Id="rId33" Type="http://schemas.openxmlformats.org/officeDocument/2006/relationships/oleObject" Target="../embeddings/oleObject108.bin"/><Relationship Id="rId32" Type="http://schemas.openxmlformats.org/officeDocument/2006/relationships/image" Target="../media/image111.wmf"/><Relationship Id="rId31" Type="http://schemas.openxmlformats.org/officeDocument/2006/relationships/oleObject" Target="../embeddings/oleObject107.bin"/><Relationship Id="rId30" Type="http://schemas.openxmlformats.org/officeDocument/2006/relationships/image" Target="../media/image110.wmf"/><Relationship Id="rId3" Type="http://schemas.openxmlformats.org/officeDocument/2006/relationships/oleObject" Target="../embeddings/oleObject93.bin"/><Relationship Id="rId29" Type="http://schemas.openxmlformats.org/officeDocument/2006/relationships/oleObject" Target="../embeddings/oleObject106.bin"/><Relationship Id="rId28" Type="http://schemas.openxmlformats.org/officeDocument/2006/relationships/image" Target="../media/image109.wmf"/><Relationship Id="rId27" Type="http://schemas.openxmlformats.org/officeDocument/2006/relationships/oleObject" Target="../embeddings/oleObject105.bin"/><Relationship Id="rId26" Type="http://schemas.openxmlformats.org/officeDocument/2006/relationships/image" Target="../media/image108.wmf"/><Relationship Id="rId25" Type="http://schemas.openxmlformats.org/officeDocument/2006/relationships/oleObject" Target="../embeddings/oleObject104.bin"/><Relationship Id="rId24" Type="http://schemas.openxmlformats.org/officeDocument/2006/relationships/image" Target="../media/image80.wmf"/><Relationship Id="rId23" Type="http://schemas.openxmlformats.org/officeDocument/2006/relationships/oleObject" Target="../embeddings/oleObject103.bin"/><Relationship Id="rId22" Type="http://schemas.openxmlformats.org/officeDocument/2006/relationships/image" Target="../media/image107.wmf"/><Relationship Id="rId21" Type="http://schemas.openxmlformats.org/officeDocument/2006/relationships/oleObject" Target="../embeddings/oleObject102.bin"/><Relationship Id="rId20" Type="http://schemas.openxmlformats.org/officeDocument/2006/relationships/image" Target="../media/image106.wmf"/><Relationship Id="rId2" Type="http://schemas.openxmlformats.org/officeDocument/2006/relationships/image" Target="../media/image100.wmf"/><Relationship Id="rId19" Type="http://schemas.openxmlformats.org/officeDocument/2006/relationships/oleObject" Target="../embeddings/oleObject101.bin"/><Relationship Id="rId18" Type="http://schemas.openxmlformats.org/officeDocument/2006/relationships/image" Target="../media/image105.wmf"/><Relationship Id="rId17" Type="http://schemas.openxmlformats.org/officeDocument/2006/relationships/oleObject" Target="../embeddings/oleObject100.bin"/><Relationship Id="rId16" Type="http://schemas.openxmlformats.org/officeDocument/2006/relationships/image" Target="../media/image84.wmf"/><Relationship Id="rId15" Type="http://schemas.openxmlformats.org/officeDocument/2006/relationships/oleObject" Target="../embeddings/oleObject99.bin"/><Relationship Id="rId14" Type="http://schemas.openxmlformats.org/officeDocument/2006/relationships/image" Target="../media/image83.wmf"/><Relationship Id="rId13" Type="http://schemas.openxmlformats.org/officeDocument/2006/relationships/oleObject" Target="../embeddings/oleObject98.bin"/><Relationship Id="rId12" Type="http://schemas.openxmlformats.org/officeDocument/2006/relationships/image" Target="../media/image82.wmf"/><Relationship Id="rId11" Type="http://schemas.openxmlformats.org/officeDocument/2006/relationships/oleObject" Target="../embeddings/oleObject97.bin"/><Relationship Id="rId10" Type="http://schemas.openxmlformats.org/officeDocument/2006/relationships/image" Target="../media/image104.wmf"/><Relationship Id="rId1" Type="http://schemas.openxmlformats.org/officeDocument/2006/relationships/oleObject" Target="../embeddings/oleObject92.bin"/></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23.wmf"/><Relationship Id="rId7" Type="http://schemas.openxmlformats.org/officeDocument/2006/relationships/oleObject" Target="../embeddings/oleObject122.bin"/><Relationship Id="rId6" Type="http://schemas.openxmlformats.org/officeDocument/2006/relationships/image" Target="../media/image122.wmf"/><Relationship Id="rId5" Type="http://schemas.openxmlformats.org/officeDocument/2006/relationships/oleObject" Target="../embeddings/oleObject121.bin"/><Relationship Id="rId4" Type="http://schemas.openxmlformats.org/officeDocument/2006/relationships/image" Target="../media/image121.wmf"/><Relationship Id="rId3" Type="http://schemas.openxmlformats.org/officeDocument/2006/relationships/oleObject" Target="../embeddings/oleObject120.bin"/><Relationship Id="rId2" Type="http://schemas.openxmlformats.org/officeDocument/2006/relationships/image" Target="../media/image120.wmf"/><Relationship Id="rId10" Type="http://schemas.openxmlformats.org/officeDocument/2006/relationships/vmlDrawing" Target="../drawings/vmlDrawing28.vml"/><Relationship Id="rId1" Type="http://schemas.openxmlformats.org/officeDocument/2006/relationships/oleObject" Target="../embeddings/oleObject119.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4"/>
          <p:cNvSpPr>
            <a:spLocks noChangeArrowheads="1"/>
          </p:cNvSpPr>
          <p:nvPr/>
        </p:nvSpPr>
        <p:spPr bwMode="auto">
          <a:xfrm>
            <a:off x="395536" y="2060848"/>
            <a:ext cx="8460432" cy="1528624"/>
          </a:xfrm>
          <a:prstGeom prst="rect">
            <a:avLst/>
          </a:prstGeom>
          <a:no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ts val="5600"/>
              </a:lnSpc>
            </a:pPr>
            <a:r>
              <a:rPr lang="zh-CN" altLang="en-US" sz="4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sym typeface="微软雅黑" panose="020B0503020204020204" pitchFamily="34" charset="-122"/>
              </a:rPr>
              <a:t>最优化理论</a:t>
            </a:r>
            <a:endParaRPr lang="en-US" altLang="zh-CN" sz="4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sym typeface="微软雅黑" panose="020B0503020204020204" pitchFamily="34" charset="-122"/>
            </a:endParaRPr>
          </a:p>
          <a:p>
            <a:pPr algn="ctr">
              <a:lnSpc>
                <a:spcPts val="5600"/>
              </a:lnSpc>
            </a:pPr>
            <a:r>
              <a:rPr lang="zh-CN" altLang="en-US" sz="4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sym typeface="微软雅黑" panose="020B0503020204020204" pitchFamily="34" charset="-122"/>
              </a:rPr>
              <a:t>第三章：线性规划</a:t>
            </a:r>
            <a:endParaRPr lang="zh-CN" altLang="en-US" sz="4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sym typeface="微软雅黑" panose="020B0503020204020204" pitchFamily="34" charset="-122"/>
            </a:endParaRPr>
          </a:p>
        </p:txBody>
      </p:sp>
      <p:sp>
        <p:nvSpPr>
          <p:cNvPr id="5" name="Text Box 4"/>
          <p:cNvSpPr txBox="1">
            <a:spLocks noChangeArrowheads="1"/>
          </p:cNvSpPr>
          <p:nvPr/>
        </p:nvSpPr>
        <p:spPr bwMode="auto">
          <a:xfrm>
            <a:off x="0" y="4941888"/>
            <a:ext cx="9144000" cy="1077218"/>
          </a:xfrm>
          <a:prstGeom prst="rect">
            <a:avLst/>
          </a:prstGeom>
          <a:noFill/>
          <a:ln>
            <a:noFill/>
          </a:ln>
        </p:spPr>
        <p:txBody>
          <a:bodyPr>
            <a:spAutoFit/>
          </a:bodyPr>
          <a:lstStyle>
            <a:lvl1pPr>
              <a:defRPr kumimoji="1" sz="24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Arial" panose="020B0604020202020204" pitchFamily="34" charset="0"/>
                <a:ea typeface="宋体" panose="02010600030101010101" pitchFamily="2" charset="-122"/>
              </a:defRPr>
            </a:lvl9pPr>
          </a:lstStyle>
          <a:p>
            <a:pPr algn="ctr"/>
            <a:r>
              <a:rPr kumimoji="0" lang="zh-CN" altLang="x-none" sz="3200" b="1" dirty="0">
                <a:latin typeface="华文楷体" panose="02010600040101010101" charset="-122"/>
                <a:ea typeface="华文楷体" panose="02010600040101010101" charset="-122"/>
                <a:cs typeface="华文楷体" panose="02010600040101010101" charset="-122"/>
              </a:rPr>
              <a:t>人工</a:t>
            </a:r>
            <a:r>
              <a:rPr kumimoji="0" lang="zh-CN" altLang="en-US" sz="3200" b="1" dirty="0">
                <a:latin typeface="华文楷体" panose="02010600040101010101" charset="-122"/>
                <a:ea typeface="华文楷体" panose="02010600040101010101" charset="-122"/>
                <a:cs typeface="华文楷体" panose="02010600040101010101" charset="-122"/>
              </a:rPr>
              <a:t>智能学院</a:t>
            </a:r>
            <a:endParaRPr kumimoji="0" lang="en-US" altLang="zh-CN" sz="3200" b="1" dirty="0">
              <a:latin typeface="华文楷体" panose="02010600040101010101" charset="-122"/>
              <a:ea typeface="华文楷体" panose="02010600040101010101" charset="-122"/>
              <a:cs typeface="华文楷体" panose="02010600040101010101" charset="-122"/>
            </a:endParaRPr>
          </a:p>
          <a:p>
            <a:pPr algn="ctr"/>
            <a:r>
              <a:rPr kumimoji="0" lang="zh-CN" altLang="x-none" sz="3200" b="1" dirty="0">
                <a:latin typeface="华文楷体" panose="02010600040101010101" charset="-122"/>
                <a:ea typeface="华文楷体" panose="02010600040101010101" charset="-122"/>
                <a:cs typeface="楷体_GB2312" charset="0"/>
              </a:rPr>
              <a:t>智能感知与图像理解</a:t>
            </a:r>
            <a:r>
              <a:rPr kumimoji="0" lang="zh-CN" altLang="en-US" sz="3200" b="1" dirty="0">
                <a:latin typeface="华文楷体" panose="02010600040101010101" charset="-122"/>
                <a:ea typeface="华文楷体" panose="02010600040101010101" charset="-122"/>
                <a:cs typeface="楷体_GB2312" charset="0"/>
              </a:rPr>
              <a:t>实验室</a:t>
            </a:r>
            <a:endParaRPr lang="zh-CN" altLang="en-US" sz="3200" dirty="0">
              <a:latin typeface="楷体_GB2312" charset="0"/>
              <a:ea typeface="楷体_GB2312" charset="0"/>
              <a:cs typeface="楷体_GB2312"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第</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七节 单纯形法和对偶问题</a:t>
            </a:r>
            <a:endParaRPr lang="zh-CN" altLang="en-US" sz="3600" dirty="0">
              <a:latin typeface="华文中宋" panose="02010600040101010101" pitchFamily="2" charset="-122"/>
              <a:ea typeface="华文中宋" panose="02010600040101010101" pitchFamily="2" charset="-122"/>
              <a:cs typeface="Times New Roman" panose="02020603050405020304" pitchFamily="18" charset="0"/>
            </a:endParaRPr>
          </a:p>
        </p:txBody>
      </p:sp>
      <p:cxnSp>
        <p:nvCxnSpPr>
          <p:cNvPr id="101" name="直接连接符 13"/>
          <p:cNvCxnSpPr>
            <a:cxnSpLocks noChangeShapeType="1"/>
          </p:cNvCxnSpPr>
          <p:nvPr/>
        </p:nvCxnSpPr>
        <p:spPr bwMode="auto">
          <a:xfrm>
            <a:off x="2674912" y="785794"/>
            <a:ext cx="0" cy="5157787"/>
          </a:xfrm>
          <a:prstGeom prst="line">
            <a:avLst/>
          </a:prstGeom>
          <a:noFill/>
          <a:ln w="6350" cmpd="sng">
            <a:solidFill>
              <a:schemeClr val="accent1"/>
            </a:solidFill>
            <a:round/>
          </a:ln>
        </p:spPr>
      </p:cxnSp>
      <p:grpSp>
        <p:nvGrpSpPr>
          <p:cNvPr id="3" name="组 2"/>
          <p:cNvGrpSpPr/>
          <p:nvPr/>
        </p:nvGrpSpPr>
        <p:grpSpPr>
          <a:xfrm>
            <a:off x="1643042" y="1268760"/>
            <a:ext cx="6169292" cy="642941"/>
            <a:chOff x="1643042" y="1268760"/>
            <a:chExt cx="6169292" cy="642941"/>
          </a:xfrm>
        </p:grpSpPr>
        <p:sp>
          <p:nvSpPr>
            <p:cNvPr id="102" name="椭圆 14"/>
            <p:cNvSpPr>
              <a:spLocks noChangeArrowheads="1"/>
            </p:cNvSpPr>
            <p:nvPr/>
          </p:nvSpPr>
          <p:spPr bwMode="auto">
            <a:xfrm>
              <a:off x="2606650" y="1497362"/>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4" name="组合 5"/>
            <p:cNvGrpSpPr/>
            <p:nvPr/>
          </p:nvGrpSpPr>
          <p:grpSpPr bwMode="auto">
            <a:xfrm>
              <a:off x="1643042" y="1268760"/>
              <a:ext cx="714380" cy="642941"/>
              <a:chOff x="0" y="0"/>
              <a:chExt cx="1275488" cy="1275488"/>
            </a:xfrm>
            <a:solidFill>
              <a:srgbClr val="004182"/>
            </a:solidFill>
          </p:grpSpPr>
          <p:sp>
            <p:nvSpPr>
              <p:cNvPr id="106"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07" name="文本框 17"/>
              <p:cNvSpPr txBox="1">
                <a:spLocks noChangeArrowheads="1"/>
              </p:cNvSpPr>
              <p:nvPr/>
            </p:nvSpPr>
            <p:spPr bwMode="auto">
              <a:xfrm>
                <a:off x="399726" y="231905"/>
                <a:ext cx="875762" cy="749344"/>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14" name="矩形 20"/>
            <p:cNvSpPr>
              <a:spLocks noChangeArrowheads="1"/>
            </p:cNvSpPr>
            <p:nvPr/>
          </p:nvSpPr>
          <p:spPr bwMode="auto">
            <a:xfrm>
              <a:off x="3062261" y="1321150"/>
              <a:ext cx="4750073" cy="526172"/>
            </a:xfrm>
            <a:prstGeom prst="rect">
              <a:avLst/>
            </a:prstGeom>
            <a:solidFill>
              <a:srgbClr val="004182"/>
            </a:solidFill>
            <a:ln w="9525">
              <a:noFill/>
              <a:miter lim="800000"/>
            </a:ln>
          </p:spPr>
          <p:txBody>
            <a:bodyPr anchor="ctr"/>
            <a:lstStyle/>
            <a:p>
              <a:pPr algn="ctr"/>
              <a:r>
                <a:rPr lang="zh-CN" altLang="en-US"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大</a:t>
              </a:r>
              <a:r>
                <a:rPr lang="en-US" altLang="zh-CN"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M</a:t>
              </a:r>
              <a:r>
                <a:rPr lang="zh-CN" altLang="en-US"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法</a:t>
              </a:r>
              <a:endParaRPr lang="en-US" altLang="zh-CN"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 name="组 3"/>
          <p:cNvGrpSpPr/>
          <p:nvPr/>
        </p:nvGrpSpPr>
        <p:grpSpPr>
          <a:xfrm>
            <a:off x="1643042" y="2422598"/>
            <a:ext cx="6169300" cy="642941"/>
            <a:chOff x="1643042" y="2439698"/>
            <a:chExt cx="6169300" cy="642941"/>
          </a:xfrm>
        </p:grpSpPr>
        <p:sp>
          <p:nvSpPr>
            <p:cNvPr id="120"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6" name="组合 5"/>
            <p:cNvGrpSpPr/>
            <p:nvPr/>
          </p:nvGrpSpPr>
          <p:grpSpPr bwMode="auto">
            <a:xfrm>
              <a:off x="1643042" y="2439698"/>
              <a:ext cx="714380" cy="642941"/>
              <a:chOff x="0" y="0"/>
              <a:chExt cx="1275488" cy="1275488"/>
            </a:xfrm>
            <a:solidFill>
              <a:srgbClr val="004182"/>
            </a:solidFill>
          </p:grpSpPr>
          <p:sp>
            <p:nvSpPr>
              <p:cNvPr id="12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2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24" name="矩形 20"/>
            <p:cNvSpPr>
              <a:spLocks noChangeArrowheads="1"/>
            </p:cNvSpPr>
            <p:nvPr/>
          </p:nvSpPr>
          <p:spPr bwMode="auto">
            <a:xfrm>
              <a:off x="3062261" y="2492088"/>
              <a:ext cx="4750081" cy="526172"/>
            </a:xfrm>
            <a:prstGeom prst="rect">
              <a:avLst/>
            </a:prstGeom>
            <a:solidFill>
              <a:srgbClr val="004182"/>
            </a:solidFill>
            <a:ln w="9525">
              <a:noFill/>
              <a:miter lim="800000"/>
            </a:ln>
          </p:spPr>
          <p:txBody>
            <a:bodyPr anchor="ctr"/>
            <a:lstStyle/>
            <a:p>
              <a:pPr algn="ctr"/>
              <a:r>
                <a:rPr lang="zh-CN" altLang="en-US"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两阶段法</a:t>
              </a:r>
              <a:endParaRPr lang="en-US" altLang="zh-CN"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7" name="组 5"/>
          <p:cNvGrpSpPr/>
          <p:nvPr/>
        </p:nvGrpSpPr>
        <p:grpSpPr>
          <a:xfrm>
            <a:off x="1643042" y="4730275"/>
            <a:ext cx="6169274" cy="642941"/>
            <a:chOff x="1643042" y="4730275"/>
            <a:chExt cx="6169274" cy="642941"/>
          </a:xfrm>
        </p:grpSpPr>
        <p:sp>
          <p:nvSpPr>
            <p:cNvPr id="130" name="椭圆 14"/>
            <p:cNvSpPr>
              <a:spLocks noChangeArrowheads="1"/>
            </p:cNvSpPr>
            <p:nvPr/>
          </p:nvSpPr>
          <p:spPr bwMode="auto">
            <a:xfrm>
              <a:off x="2606650" y="4958877"/>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8" name="组合 5"/>
            <p:cNvGrpSpPr/>
            <p:nvPr/>
          </p:nvGrpSpPr>
          <p:grpSpPr bwMode="auto">
            <a:xfrm>
              <a:off x="1643042" y="4730275"/>
              <a:ext cx="714380" cy="642941"/>
              <a:chOff x="0" y="0"/>
              <a:chExt cx="1275488" cy="1275488"/>
            </a:xfrm>
            <a:solidFill>
              <a:srgbClr val="004182"/>
            </a:solidFill>
          </p:grpSpPr>
          <p:sp>
            <p:nvSpPr>
              <p:cNvPr id="13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3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zh-CN" altLang="zh-CN" sz="2400" b="1" dirty="0">
                    <a:solidFill>
                      <a:schemeClr val="bg1"/>
                    </a:solidFill>
                    <a:latin typeface="微软雅黑" panose="020B0503020204020204" pitchFamily="34" charset="-122"/>
                    <a:ea typeface="微软雅黑" panose="020B0503020204020204" pitchFamily="34" charset="-122"/>
                  </a:rPr>
                  <a:t>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34" name="矩形 20"/>
            <p:cNvSpPr>
              <a:spLocks noChangeArrowheads="1"/>
            </p:cNvSpPr>
            <p:nvPr/>
          </p:nvSpPr>
          <p:spPr bwMode="auto">
            <a:xfrm>
              <a:off x="3062261" y="4782665"/>
              <a:ext cx="4750055" cy="526172"/>
            </a:xfrm>
            <a:prstGeom prst="rect">
              <a:avLst/>
            </a:prstGeom>
            <a:solidFill>
              <a:srgbClr val="004182"/>
            </a:solidFill>
            <a:ln w="9525">
              <a:noFill/>
              <a:miter lim="800000"/>
            </a:ln>
          </p:spPr>
          <p:txBody>
            <a:bodyPr anchor="ctr"/>
            <a:lstStyle/>
            <a:p>
              <a:pPr algn="ctr"/>
              <a:r>
                <a:rPr lang="zh-CN" altLang="x-none"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9" name="组 27"/>
          <p:cNvGrpSpPr/>
          <p:nvPr/>
        </p:nvGrpSpPr>
        <p:grpSpPr>
          <a:xfrm>
            <a:off x="1643042" y="3576436"/>
            <a:ext cx="6169288" cy="642941"/>
            <a:chOff x="1643042" y="2439698"/>
            <a:chExt cx="6169288" cy="642941"/>
          </a:xfrm>
        </p:grpSpPr>
        <p:sp>
          <p:nvSpPr>
            <p:cNvPr id="29"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10" name="组合 5"/>
            <p:cNvGrpSpPr/>
            <p:nvPr/>
          </p:nvGrpSpPr>
          <p:grpSpPr bwMode="auto">
            <a:xfrm>
              <a:off x="1643042" y="2439698"/>
              <a:ext cx="714380" cy="642941"/>
              <a:chOff x="0" y="0"/>
              <a:chExt cx="1275488" cy="1275488"/>
            </a:xfrm>
            <a:solidFill>
              <a:srgbClr val="004182"/>
            </a:solidFill>
          </p:grpSpPr>
          <p:sp>
            <p:nvSpPr>
              <p:cNvPr id="3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3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zh-CN" altLang="zh-CN" sz="2400" b="1" dirty="0">
                    <a:solidFill>
                      <a:schemeClr val="bg1"/>
                    </a:solidFill>
                    <a:latin typeface="微软雅黑" panose="020B0503020204020204" pitchFamily="34" charset="-122"/>
                    <a:ea typeface="微软雅黑" panose="020B0503020204020204" pitchFamily="34" charset="-122"/>
                  </a:rPr>
                  <a:t>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1" name="矩形 20"/>
            <p:cNvSpPr>
              <a:spLocks noChangeArrowheads="1"/>
            </p:cNvSpPr>
            <p:nvPr/>
          </p:nvSpPr>
          <p:spPr bwMode="auto">
            <a:xfrm>
              <a:off x="3062261" y="2492088"/>
              <a:ext cx="4750069" cy="526172"/>
            </a:xfrm>
            <a:prstGeom prst="rect">
              <a:avLst/>
            </a:prstGeom>
            <a:solidFill>
              <a:srgbClr val="004182"/>
            </a:solidFill>
            <a:ln w="9525">
              <a:noFill/>
              <a:miter lim="800000"/>
            </a:ln>
          </p:spPr>
          <p:txBody>
            <a:bodyPr anchor="ctr"/>
            <a:lstStyle/>
            <a:p>
              <a:pPr algn="ctr"/>
              <a:r>
                <a:rPr lang="zh-CN" altLang="en-US"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第</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七节 单纯形法和对偶问题</a:t>
            </a:r>
            <a:endParaRPr lang="zh-CN" altLang="en-US" sz="3600" dirty="0">
              <a:latin typeface="华文中宋" panose="02010600040101010101" pitchFamily="2" charset="-122"/>
              <a:ea typeface="华文中宋" panose="02010600040101010101" pitchFamily="2" charset="-122"/>
              <a:cs typeface="Times New Roman" panose="02020603050405020304" pitchFamily="18" charset="0"/>
            </a:endParaRPr>
          </a:p>
        </p:txBody>
      </p:sp>
      <p:cxnSp>
        <p:nvCxnSpPr>
          <p:cNvPr id="101" name="直接连接符 13"/>
          <p:cNvCxnSpPr>
            <a:cxnSpLocks noChangeShapeType="1"/>
          </p:cNvCxnSpPr>
          <p:nvPr/>
        </p:nvCxnSpPr>
        <p:spPr bwMode="auto">
          <a:xfrm>
            <a:off x="2674912" y="785794"/>
            <a:ext cx="0" cy="5157787"/>
          </a:xfrm>
          <a:prstGeom prst="line">
            <a:avLst/>
          </a:prstGeom>
          <a:noFill/>
          <a:ln w="6350" cmpd="sng">
            <a:solidFill>
              <a:schemeClr val="accent1"/>
            </a:solidFill>
            <a:round/>
          </a:ln>
        </p:spPr>
      </p:cxnSp>
      <p:grpSp>
        <p:nvGrpSpPr>
          <p:cNvPr id="3" name="组 2"/>
          <p:cNvGrpSpPr/>
          <p:nvPr/>
        </p:nvGrpSpPr>
        <p:grpSpPr>
          <a:xfrm>
            <a:off x="1643042" y="1268760"/>
            <a:ext cx="6169292" cy="642941"/>
            <a:chOff x="1643042" y="1268760"/>
            <a:chExt cx="6169292" cy="642941"/>
          </a:xfrm>
        </p:grpSpPr>
        <p:sp>
          <p:nvSpPr>
            <p:cNvPr id="102" name="椭圆 14"/>
            <p:cNvSpPr>
              <a:spLocks noChangeArrowheads="1"/>
            </p:cNvSpPr>
            <p:nvPr/>
          </p:nvSpPr>
          <p:spPr bwMode="auto">
            <a:xfrm>
              <a:off x="2606650" y="1497362"/>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4" name="组合 5"/>
            <p:cNvGrpSpPr/>
            <p:nvPr/>
          </p:nvGrpSpPr>
          <p:grpSpPr bwMode="auto">
            <a:xfrm>
              <a:off x="1643042" y="1268760"/>
              <a:ext cx="714380" cy="642941"/>
              <a:chOff x="0" y="0"/>
              <a:chExt cx="1275488" cy="1275488"/>
            </a:xfrm>
            <a:solidFill>
              <a:srgbClr val="004182"/>
            </a:solidFill>
          </p:grpSpPr>
          <p:sp>
            <p:nvSpPr>
              <p:cNvPr id="106"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07" name="文本框 17"/>
              <p:cNvSpPr txBox="1">
                <a:spLocks noChangeArrowheads="1"/>
              </p:cNvSpPr>
              <p:nvPr/>
            </p:nvSpPr>
            <p:spPr bwMode="auto">
              <a:xfrm>
                <a:off x="399726" y="231905"/>
                <a:ext cx="875762" cy="749344"/>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14" name="矩形 20"/>
            <p:cNvSpPr>
              <a:spLocks noChangeArrowheads="1"/>
            </p:cNvSpPr>
            <p:nvPr/>
          </p:nvSpPr>
          <p:spPr bwMode="auto">
            <a:xfrm>
              <a:off x="3062261" y="1321150"/>
              <a:ext cx="4750073" cy="526172"/>
            </a:xfrm>
            <a:prstGeom prst="rect">
              <a:avLst/>
            </a:prstGeom>
            <a:solidFill>
              <a:srgbClr val="004182"/>
            </a:solidFill>
            <a:ln w="9525">
              <a:noFill/>
              <a:miter lim="800000"/>
            </a:ln>
          </p:spPr>
          <p:txBody>
            <a:bodyPr anchor="ctr"/>
            <a:lstStyle/>
            <a:p>
              <a:pPr algn="ctr"/>
              <a:r>
                <a:rPr lang="zh-CN" altLang="en-US"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大</a:t>
              </a:r>
              <a:r>
                <a:rPr lang="en-US" altLang="zh-CN"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M</a:t>
              </a:r>
              <a:r>
                <a:rPr lang="zh-CN" altLang="en-US"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法</a:t>
              </a:r>
              <a:endParaRPr lang="en-US" altLang="zh-CN"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 name="组 3"/>
          <p:cNvGrpSpPr/>
          <p:nvPr/>
        </p:nvGrpSpPr>
        <p:grpSpPr>
          <a:xfrm>
            <a:off x="1643042" y="2422598"/>
            <a:ext cx="6169300" cy="642941"/>
            <a:chOff x="1643042" y="2439698"/>
            <a:chExt cx="6169300" cy="642941"/>
          </a:xfrm>
        </p:grpSpPr>
        <p:sp>
          <p:nvSpPr>
            <p:cNvPr id="120"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6" name="组合 5"/>
            <p:cNvGrpSpPr/>
            <p:nvPr/>
          </p:nvGrpSpPr>
          <p:grpSpPr bwMode="auto">
            <a:xfrm>
              <a:off x="1643042" y="2439698"/>
              <a:ext cx="714380" cy="642941"/>
              <a:chOff x="0" y="0"/>
              <a:chExt cx="1275488" cy="1275488"/>
            </a:xfrm>
            <a:solidFill>
              <a:srgbClr val="004182"/>
            </a:solidFill>
          </p:grpSpPr>
          <p:sp>
            <p:nvSpPr>
              <p:cNvPr id="12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2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24" name="矩形 20"/>
            <p:cNvSpPr>
              <a:spLocks noChangeArrowheads="1"/>
            </p:cNvSpPr>
            <p:nvPr/>
          </p:nvSpPr>
          <p:spPr bwMode="auto">
            <a:xfrm>
              <a:off x="3062261" y="2492088"/>
              <a:ext cx="4750081" cy="526172"/>
            </a:xfrm>
            <a:prstGeom prst="rect">
              <a:avLst/>
            </a:prstGeom>
            <a:solidFill>
              <a:srgbClr val="004182"/>
            </a:solidFill>
            <a:ln w="9525">
              <a:noFill/>
              <a:miter lim="800000"/>
            </a:ln>
          </p:spPr>
          <p:txBody>
            <a:bodyPr anchor="ctr"/>
            <a:lstStyle/>
            <a:p>
              <a:pPr algn="ctr"/>
              <a:r>
                <a:rPr lang="zh-CN" altLang="en-US"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两阶段法</a:t>
              </a:r>
              <a:endParaRPr lang="en-US" altLang="zh-CN"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7" name="组 5"/>
          <p:cNvGrpSpPr/>
          <p:nvPr/>
        </p:nvGrpSpPr>
        <p:grpSpPr>
          <a:xfrm>
            <a:off x="1643042" y="4730275"/>
            <a:ext cx="6169274" cy="642941"/>
            <a:chOff x="1643042" y="4730275"/>
            <a:chExt cx="6169274" cy="642941"/>
          </a:xfrm>
        </p:grpSpPr>
        <p:sp>
          <p:nvSpPr>
            <p:cNvPr id="130" name="椭圆 14"/>
            <p:cNvSpPr>
              <a:spLocks noChangeArrowheads="1"/>
            </p:cNvSpPr>
            <p:nvPr/>
          </p:nvSpPr>
          <p:spPr bwMode="auto">
            <a:xfrm>
              <a:off x="2606650" y="4958877"/>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8" name="组合 5"/>
            <p:cNvGrpSpPr/>
            <p:nvPr/>
          </p:nvGrpSpPr>
          <p:grpSpPr bwMode="auto">
            <a:xfrm>
              <a:off x="1643042" y="4730275"/>
              <a:ext cx="714380" cy="642941"/>
              <a:chOff x="0" y="0"/>
              <a:chExt cx="1275488" cy="1275488"/>
            </a:xfrm>
            <a:solidFill>
              <a:srgbClr val="004182"/>
            </a:solidFill>
          </p:grpSpPr>
          <p:sp>
            <p:nvSpPr>
              <p:cNvPr id="13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3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zh-CN" altLang="zh-CN" sz="2400" b="1" dirty="0">
                    <a:solidFill>
                      <a:schemeClr val="bg1"/>
                    </a:solidFill>
                    <a:latin typeface="微软雅黑" panose="020B0503020204020204" pitchFamily="34" charset="-122"/>
                    <a:ea typeface="微软雅黑" panose="020B0503020204020204" pitchFamily="34" charset="-122"/>
                  </a:rPr>
                  <a:t>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34" name="矩形 20"/>
            <p:cNvSpPr>
              <a:spLocks noChangeArrowheads="1"/>
            </p:cNvSpPr>
            <p:nvPr/>
          </p:nvSpPr>
          <p:spPr bwMode="auto">
            <a:xfrm>
              <a:off x="3062261" y="4782665"/>
              <a:ext cx="4750055" cy="526172"/>
            </a:xfrm>
            <a:prstGeom prst="rect">
              <a:avLst/>
            </a:prstGeom>
            <a:solidFill>
              <a:srgbClr val="004182"/>
            </a:solidFill>
            <a:ln w="9525">
              <a:noFill/>
              <a:miter lim="800000"/>
            </a:ln>
          </p:spPr>
          <p:txBody>
            <a:bodyPr anchor="ctr"/>
            <a:lstStyle/>
            <a:p>
              <a:pPr algn="ctr"/>
              <a:r>
                <a:rPr lang="zh-CN" altLang="x-none"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9" name="组 27"/>
          <p:cNvGrpSpPr/>
          <p:nvPr/>
        </p:nvGrpSpPr>
        <p:grpSpPr>
          <a:xfrm>
            <a:off x="1643042" y="3576436"/>
            <a:ext cx="6169288" cy="642941"/>
            <a:chOff x="1643042" y="2439698"/>
            <a:chExt cx="6169288" cy="642941"/>
          </a:xfrm>
        </p:grpSpPr>
        <p:sp>
          <p:nvSpPr>
            <p:cNvPr id="29"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10" name="组合 5"/>
            <p:cNvGrpSpPr/>
            <p:nvPr/>
          </p:nvGrpSpPr>
          <p:grpSpPr bwMode="auto">
            <a:xfrm>
              <a:off x="1643042" y="2439698"/>
              <a:ext cx="714380" cy="642941"/>
              <a:chOff x="0" y="0"/>
              <a:chExt cx="1275488" cy="1275488"/>
            </a:xfrm>
            <a:solidFill>
              <a:srgbClr val="004182"/>
            </a:solidFill>
          </p:grpSpPr>
          <p:sp>
            <p:nvSpPr>
              <p:cNvPr id="3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3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zh-CN" altLang="zh-CN" sz="2400" b="1" dirty="0">
                    <a:solidFill>
                      <a:schemeClr val="bg1"/>
                    </a:solidFill>
                    <a:latin typeface="微软雅黑" panose="020B0503020204020204" pitchFamily="34" charset="-122"/>
                    <a:ea typeface="微软雅黑" panose="020B0503020204020204" pitchFamily="34" charset="-122"/>
                  </a:rPr>
                  <a:t>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1" name="矩形 20"/>
            <p:cNvSpPr>
              <a:spLocks noChangeArrowheads="1"/>
            </p:cNvSpPr>
            <p:nvPr/>
          </p:nvSpPr>
          <p:spPr bwMode="auto">
            <a:xfrm>
              <a:off x="3062261" y="2492088"/>
              <a:ext cx="4750069" cy="526172"/>
            </a:xfrm>
            <a:prstGeom prst="rect">
              <a:avLst/>
            </a:prstGeom>
            <a:solidFill>
              <a:srgbClr val="004182"/>
            </a:solidFill>
            <a:ln w="9525">
              <a:noFill/>
              <a:miter lim="800000"/>
            </a:ln>
          </p:spPr>
          <p:txBody>
            <a:bodyPr anchor="ctr"/>
            <a:lstStyle/>
            <a:p>
              <a:pPr algn="ctr"/>
              <a:r>
                <a:rPr lang="zh-CN" altLang="en-US"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rPr>
              <a:t>借助人工变量</a:t>
            </a:r>
            <a:endParaRPr kumimoji="1" lang="zh-CN" altLang="en-US"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16" name="Rectangle 3"/>
          <p:cNvSpPr txBox="1">
            <a:spLocks noChangeArrowheads="1"/>
          </p:cNvSpPr>
          <p:nvPr/>
        </p:nvSpPr>
        <p:spPr>
          <a:xfrm>
            <a:off x="540543" y="1219200"/>
            <a:ext cx="8062913" cy="4419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rgbClr val="CC0000"/>
              </a:buClr>
              <a:buSzPct val="70000"/>
              <a:buFont typeface="Wingdings" panose="05000000000000000000" pitchFamily="2" charset="2"/>
              <a:buChar char="p"/>
            </a:pPr>
            <a:r>
              <a:rPr lang="zh-CN" altLang="en-US" sz="2400">
                <a:ea typeface="楷体_GB2312" pitchFamily="49" charset="-122"/>
              </a:rPr>
              <a:t>由于所添加的剩余变量的技术系数为</a:t>
            </a:r>
            <a:r>
              <a:rPr lang="zh-CN" altLang="en-US" sz="2400">
                <a:ea typeface="楷体_GB2312" pitchFamily="49" charset="-122"/>
                <a:sym typeface="Symbol" panose="05050102010706020507" pitchFamily="2" charset="2"/>
              </a:rPr>
              <a:t></a:t>
            </a:r>
            <a:r>
              <a:rPr lang="en-US" altLang="zh-CN" sz="2400">
                <a:ea typeface="楷体_GB2312" pitchFamily="49" charset="-122"/>
                <a:sym typeface="Symbol" panose="05050102010706020507" pitchFamily="2" charset="2"/>
              </a:rPr>
              <a:t>1</a:t>
            </a:r>
            <a:r>
              <a:rPr lang="zh-CN" altLang="en-US" sz="2400">
                <a:ea typeface="楷体_GB2312" pitchFamily="49" charset="-122"/>
                <a:sym typeface="Symbol" panose="05050102010706020507" pitchFamily="2" charset="2"/>
              </a:rPr>
              <a:t>，不能作为初始可行基变量，为此引入一个人为的变量，以便取得初始基变量，故称为人工变量。</a:t>
            </a:r>
            <a:endParaRPr lang="zh-CN" altLang="en-US" sz="2400">
              <a:ea typeface="楷体_GB2312" pitchFamily="49" charset="-122"/>
              <a:sym typeface="Symbol" panose="05050102010706020507" pitchFamily="2" charset="2"/>
            </a:endParaRPr>
          </a:p>
          <a:p>
            <a:pPr>
              <a:buClr>
                <a:srgbClr val="CC0000"/>
              </a:buClr>
              <a:buSzPct val="70000"/>
              <a:buFont typeface="Wingdings" panose="05000000000000000000" pitchFamily="2" charset="2"/>
              <a:buChar char="p"/>
            </a:pPr>
            <a:endParaRPr lang="zh-CN" altLang="en-US" sz="2400">
              <a:ea typeface="楷体_GB2312" pitchFamily="49" charset="-122"/>
              <a:sym typeface="Symbol" panose="05050102010706020507" pitchFamily="2" charset="2"/>
            </a:endParaRPr>
          </a:p>
          <a:p>
            <a:pPr>
              <a:buClr>
                <a:srgbClr val="CC0000"/>
              </a:buClr>
              <a:buSzPct val="70000"/>
              <a:buFont typeface="Wingdings" panose="05000000000000000000" pitchFamily="2" charset="2"/>
              <a:buChar char="p"/>
            </a:pPr>
            <a:r>
              <a:rPr lang="zh-CN" altLang="en-US" sz="2400">
                <a:ea typeface="楷体_GB2312" pitchFamily="49" charset="-122"/>
                <a:sym typeface="Symbol" panose="05050102010706020507" pitchFamily="2" charset="2"/>
              </a:rPr>
              <a:t>由于人工变量在原问题的解中是不能存在的，应尽快被迭代出去，因此人工变量在目标函数中对应的价值系数应具有惩罚性，称为罚系数。罚系数的取值视解法而定。</a:t>
            </a:r>
            <a:endParaRPr lang="zh-CN" altLang="en-US" sz="2400">
              <a:ea typeface="楷体_GB2312" pitchFamily="49" charset="-122"/>
              <a:sym typeface="Symbol" panose="05050102010706020507" pitchFamily="2" charset="2"/>
            </a:endParaRPr>
          </a:p>
          <a:p>
            <a:pPr>
              <a:buClr>
                <a:srgbClr val="CC0000"/>
              </a:buClr>
              <a:buSzPct val="70000"/>
              <a:buFont typeface="Wingdings" panose="05000000000000000000" pitchFamily="2" charset="2"/>
              <a:buChar char="p"/>
            </a:pPr>
            <a:endParaRPr lang="zh-CN" altLang="en-US" sz="2400">
              <a:ea typeface="楷体_GB2312" pitchFamily="49" charset="-122"/>
              <a:sym typeface="Symbol" panose="05050102010706020507" pitchFamily="2" charset="2"/>
            </a:endParaRPr>
          </a:p>
          <a:p>
            <a:pPr>
              <a:buClr>
                <a:srgbClr val="CC0000"/>
              </a:buClr>
              <a:buSzPct val="70000"/>
              <a:buFont typeface="Wingdings" panose="05000000000000000000" pitchFamily="2" charset="2"/>
              <a:buChar char="p"/>
            </a:pPr>
            <a:r>
              <a:rPr lang="zh-CN" altLang="en-US" sz="2400">
                <a:ea typeface="楷体_GB2312" pitchFamily="49" charset="-122"/>
                <a:sym typeface="Symbol" panose="05050102010706020507" pitchFamily="2" charset="2"/>
              </a:rPr>
              <a:t>两种方法</a:t>
            </a:r>
            <a:r>
              <a:rPr lang="en-US" altLang="zh-CN" sz="2400">
                <a:ea typeface="楷体_GB2312" pitchFamily="49" charset="-122"/>
                <a:sym typeface="Symbol" panose="05050102010706020507" pitchFamily="2" charset="2"/>
              </a:rPr>
              <a:t>---</a:t>
            </a:r>
            <a:r>
              <a:rPr lang="zh-CN" altLang="en-US" sz="2400">
                <a:latin typeface="楷体_GB2312" pitchFamily="49" charset="-122"/>
                <a:ea typeface="楷体_GB2312" pitchFamily="49" charset="-122"/>
              </a:rPr>
              <a:t>大</a:t>
            </a:r>
            <a:r>
              <a:rPr lang="en-US" altLang="zh-CN" sz="2400">
                <a:latin typeface="楷体_GB2312" pitchFamily="49" charset="-122"/>
                <a:ea typeface="楷体_GB2312" pitchFamily="49" charset="-122"/>
              </a:rPr>
              <a:t>M</a:t>
            </a:r>
            <a:r>
              <a:rPr lang="zh-CN" altLang="en-US" sz="2400">
                <a:latin typeface="楷体_GB2312" pitchFamily="49" charset="-122"/>
                <a:ea typeface="楷体_GB2312" pitchFamily="49" charset="-122"/>
              </a:rPr>
              <a:t>法 </a:t>
            </a:r>
            <a:r>
              <a:rPr lang="en-US" altLang="zh-CN" sz="2400">
                <a:latin typeface="楷体_GB2312" pitchFamily="49" charset="-122"/>
                <a:ea typeface="楷体_GB2312" pitchFamily="49" charset="-122"/>
              </a:rPr>
              <a:t>&amp; </a:t>
            </a:r>
            <a:r>
              <a:rPr lang="zh-CN" altLang="en-US" sz="2400">
                <a:latin typeface="楷体_GB2312" pitchFamily="49" charset="-122"/>
                <a:ea typeface="楷体_GB2312" pitchFamily="49" charset="-122"/>
              </a:rPr>
              <a:t>二阶段法</a:t>
            </a:r>
            <a:endParaRPr lang="zh-CN" altLang="en-US" sz="2400" dirty="0">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大</a:t>
            </a:r>
            <a:r>
              <a:rPr kumimoji="1" lang="en-US" altLang="zh-CN" dirty="0">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法</a:t>
            </a:r>
            <a:endParaRPr kumimoji="1" lang="zh-CN" altLang="en-US"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 name="Rectangle 54"/>
          <p:cNvSpPr>
            <a:spLocks noChangeArrowheads="1"/>
          </p:cNvSpPr>
          <p:nvPr/>
        </p:nvSpPr>
        <p:spPr bwMode="auto">
          <a:xfrm>
            <a:off x="644525" y="1168223"/>
            <a:ext cx="7854950" cy="449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lang="en-US" altLang="zh-CN" sz="2000" dirty="0">
                <a:effectLst/>
                <a:latin typeface="Arial" panose="020B0604020202020204" pitchFamily="34" charset="0"/>
                <a:cs typeface="Arial" panose="020B0604020202020204" pitchFamily="34" charset="0"/>
              </a:rPr>
              <a:t>       </a:t>
            </a:r>
            <a:r>
              <a:rPr lang="zh-CN" altLang="en-US" sz="2000" dirty="0">
                <a:effectLst/>
                <a:latin typeface="楷体_GB2312" pitchFamily="49" charset="-122"/>
                <a:ea typeface="楷体_GB2312" pitchFamily="49" charset="-122"/>
              </a:rPr>
              <a:t>大</a:t>
            </a:r>
            <a:r>
              <a:rPr lang="en-US" altLang="zh-CN" sz="2000" dirty="0">
                <a:effectLst/>
                <a:latin typeface="楷体_GB2312" pitchFamily="49" charset="-122"/>
                <a:ea typeface="楷体_GB2312" pitchFamily="49" charset="-122"/>
                <a:cs typeface="Arial" panose="020B0604020202020204" pitchFamily="34" charset="0"/>
              </a:rPr>
              <a:t>M</a:t>
            </a:r>
            <a:r>
              <a:rPr lang="zh-CN" altLang="en-US" sz="2000" dirty="0">
                <a:effectLst/>
                <a:latin typeface="楷体_GB2312" pitchFamily="49" charset="-122"/>
                <a:ea typeface="楷体_GB2312" pitchFamily="49" charset="-122"/>
              </a:rPr>
              <a:t>法首先将线性规划问题化为标准型。如果约束方程组中包含有一个单位矩阵</a:t>
            </a:r>
            <a:r>
              <a:rPr lang="en-US" altLang="zh-CN" sz="2000" dirty="0">
                <a:effectLst/>
                <a:latin typeface="楷体_GB2312" pitchFamily="49" charset="-122"/>
                <a:ea typeface="楷体_GB2312" pitchFamily="49" charset="-122"/>
              </a:rPr>
              <a:t>I</a:t>
            </a:r>
            <a:r>
              <a:rPr lang="zh-CN" altLang="en-US" sz="2000" dirty="0">
                <a:effectLst/>
                <a:latin typeface="楷体_GB2312" pitchFamily="49" charset="-122"/>
                <a:ea typeface="楷体_GB2312" pitchFamily="49" charset="-122"/>
              </a:rPr>
              <a:t>，那么已经得到了一个初始可行基。否则在约束方程组的左边加上若干个非负的人工变量，使人工变量对应的系数列向量与其它变量的系数列向量共同构成一个单位矩阵。以单位矩阵为初始基，即可求得一个初始的基本可行解。</a:t>
            </a:r>
            <a:endParaRPr lang="zh-CN" altLang="en-US" sz="2000" dirty="0">
              <a:effectLst/>
              <a:latin typeface="楷体_GB2312" pitchFamily="49" charset="-122"/>
              <a:ea typeface="楷体_GB2312" pitchFamily="49" charset="-122"/>
            </a:endParaRPr>
          </a:p>
          <a:p>
            <a:pPr algn="just" eaLnBrk="0" hangingPunct="0">
              <a:lnSpc>
                <a:spcPct val="120000"/>
              </a:lnSpc>
            </a:pPr>
            <a:r>
              <a:rPr lang="zh-CN" altLang="en-US" sz="2000" dirty="0">
                <a:effectLst/>
                <a:latin typeface="楷体_GB2312" pitchFamily="49" charset="-122"/>
                <a:ea typeface="楷体_GB2312" pitchFamily="49" charset="-122"/>
              </a:rPr>
              <a:t>  　</a:t>
            </a:r>
            <a:endParaRPr lang="en-US" altLang="zh-CN" sz="2000" dirty="0">
              <a:effectLst/>
              <a:latin typeface="楷体_GB2312" pitchFamily="49" charset="-122"/>
              <a:ea typeface="楷体_GB2312" pitchFamily="49" charset="-122"/>
            </a:endParaRPr>
          </a:p>
          <a:p>
            <a:pPr algn="just" eaLnBrk="0" hangingPunct="0">
              <a:lnSpc>
                <a:spcPct val="120000"/>
              </a:lnSpc>
            </a:pPr>
            <a:endParaRPr lang="en-US" altLang="zh-CN" sz="2000" dirty="0">
              <a:latin typeface="楷体_GB2312" pitchFamily="49" charset="-122"/>
              <a:ea typeface="楷体_GB2312" pitchFamily="49" charset="-122"/>
            </a:endParaRPr>
          </a:p>
          <a:p>
            <a:pPr algn="just" eaLnBrk="0" hangingPunct="0">
              <a:lnSpc>
                <a:spcPct val="120000"/>
              </a:lnSpc>
            </a:pPr>
            <a:r>
              <a:rPr lang="zh-CN" altLang="en-US" sz="2000" dirty="0">
                <a:effectLst/>
                <a:latin typeface="楷体_GB2312" pitchFamily="49" charset="-122"/>
                <a:ea typeface="楷体_GB2312" pitchFamily="49" charset="-122"/>
              </a:rPr>
              <a:t>为了求得原问题的初始基本可行解，必须尽快通过迭代过程把人工变量从基变量中替换出来成为非基变量。为此可以在目标函数中赋予人工变量一个绝对值很大的</a:t>
            </a:r>
            <a:r>
              <a:rPr lang="zh-CN" altLang="en-US" sz="2000" dirty="0">
                <a:solidFill>
                  <a:schemeClr val="accent2"/>
                </a:solidFill>
                <a:effectLst/>
                <a:latin typeface="楷体_GB2312" pitchFamily="49" charset="-122"/>
                <a:ea typeface="楷体_GB2312" pitchFamily="49" charset="-122"/>
              </a:rPr>
              <a:t>正系数Ｍ</a:t>
            </a:r>
            <a:r>
              <a:rPr lang="zh-CN" altLang="en-US" sz="2000" dirty="0">
                <a:effectLst/>
                <a:latin typeface="楷体_GB2312" pitchFamily="49" charset="-122"/>
                <a:ea typeface="楷体_GB2312" pitchFamily="49" charset="-122"/>
              </a:rPr>
              <a:t>。这样只要基变量中还存在人工变量，目标函数就不可能实现极小化。 以后的计算与单纯形表解法相同，Ｍ只需认定是一个很大的正数即可。</a:t>
            </a:r>
            <a:endParaRPr lang="zh-CN" altLang="en-US" sz="2000" dirty="0">
              <a:effectLst/>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大</a:t>
            </a:r>
            <a:r>
              <a:rPr kumimoji="1" lang="en-US" altLang="zh-CN" dirty="0">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法</a:t>
            </a:r>
            <a:endParaRPr kumimoji="1" lang="zh-CN" altLang="en-US" dirty="0">
              <a:latin typeface="Times New Roman" panose="02020603050405020304" pitchFamily="18" charset="0"/>
              <a:cs typeface="Times New Roman" panose="02020603050405020304" pitchFamily="18" charset="0"/>
            </a:endParaRPr>
          </a:p>
        </p:txBody>
      </p:sp>
      <p:graphicFrame>
        <p:nvGraphicFramePr>
          <p:cNvPr id="5" name="Object 7"/>
          <p:cNvGraphicFramePr>
            <a:graphicFrameLocks noChangeAspect="1"/>
          </p:cNvGraphicFramePr>
          <p:nvPr/>
        </p:nvGraphicFramePr>
        <p:xfrm>
          <a:off x="467544" y="1231226"/>
          <a:ext cx="3024336" cy="1921959"/>
        </p:xfrm>
        <a:graphic>
          <a:graphicData uri="http://schemas.openxmlformats.org/presentationml/2006/ole">
            <mc:AlternateContent xmlns:mc="http://schemas.openxmlformats.org/markup-compatibility/2006">
              <mc:Choice xmlns:v="urn:schemas-microsoft-com:vml" Requires="v">
                <p:oleObj spid="_x0000_s1025" name="公式" r:id="rId1" imgW="39319200" imgH="24993600" progId="Equation.3">
                  <p:embed/>
                </p:oleObj>
              </mc:Choice>
              <mc:Fallback>
                <p:oleObj name="公式" r:id="rId1" imgW="39319200" imgH="24993600" progId="Equation.3">
                  <p:embed/>
                  <p:pic>
                    <p:nvPicPr>
                      <p:cNvPr id="0" name="图片 1024"/>
                      <p:cNvPicPr>
                        <a:picLocks noChangeAspect="1"/>
                      </p:cNvPicPr>
                      <p:nvPr/>
                    </p:nvPicPr>
                    <p:blipFill>
                      <a:blip r:embed="rId2"/>
                      <a:stretch>
                        <a:fillRect/>
                      </a:stretch>
                    </p:blipFill>
                    <p:spPr>
                      <a:xfrm>
                        <a:off x="467544" y="1231226"/>
                        <a:ext cx="3024336" cy="1921959"/>
                      </a:xfrm>
                      <a:prstGeom prst="rect">
                        <a:avLst/>
                      </a:prstGeom>
                      <a:noFill/>
                      <a:ln w="9525">
                        <a:noFill/>
                      </a:ln>
                    </p:spPr>
                  </p:pic>
                </p:oleObj>
              </mc:Fallback>
            </mc:AlternateContent>
          </a:graphicData>
        </a:graphic>
      </p:graphicFrame>
      <p:graphicFrame>
        <p:nvGraphicFramePr>
          <p:cNvPr id="7" name="Object 9"/>
          <p:cNvGraphicFramePr>
            <a:graphicFrameLocks noChangeAspect="1"/>
          </p:cNvGraphicFramePr>
          <p:nvPr/>
        </p:nvGraphicFramePr>
        <p:xfrm>
          <a:off x="1367631" y="3186112"/>
          <a:ext cx="6408738" cy="2400300"/>
        </p:xfrm>
        <a:graphic>
          <a:graphicData uri="http://schemas.openxmlformats.org/presentationml/2006/ole">
            <mc:AlternateContent xmlns:mc="http://schemas.openxmlformats.org/markup-compatibility/2006">
              <mc:Choice xmlns:v="urn:schemas-microsoft-com:vml" Requires="v">
                <p:oleObj spid="_x0000_s1026" name="公式" r:id="rId3" imgW="66751200" imgH="24993600" progId="Equation.3">
                  <p:embed/>
                </p:oleObj>
              </mc:Choice>
              <mc:Fallback>
                <p:oleObj name="公式" r:id="rId3" imgW="66751200" imgH="24993600" progId="Equation.3">
                  <p:embed/>
                  <p:pic>
                    <p:nvPicPr>
                      <p:cNvPr id="0" name="图片 1025"/>
                      <p:cNvPicPr>
                        <a:picLocks noChangeAspect="1"/>
                      </p:cNvPicPr>
                      <p:nvPr/>
                    </p:nvPicPr>
                    <p:blipFill>
                      <a:blip r:embed="rId4"/>
                      <a:stretch>
                        <a:fillRect/>
                      </a:stretch>
                    </p:blipFill>
                    <p:spPr>
                      <a:xfrm>
                        <a:off x="1367631" y="3186112"/>
                        <a:ext cx="6408738" cy="2400300"/>
                      </a:xfrm>
                      <a:prstGeom prst="rect">
                        <a:avLst/>
                      </a:prstGeom>
                      <a:noFill/>
                      <a:ln w="9525">
                        <a:noFill/>
                      </a:ln>
                    </p:spPr>
                  </p:pic>
                </p:oleObj>
              </mc:Fallback>
            </mc:AlternateContent>
          </a:graphicData>
        </a:graphic>
      </p:graphicFrame>
      <p:graphicFrame>
        <p:nvGraphicFramePr>
          <p:cNvPr id="8" name="Object 12"/>
          <p:cNvGraphicFramePr>
            <a:graphicFrameLocks noChangeAspect="1"/>
          </p:cNvGraphicFramePr>
          <p:nvPr/>
        </p:nvGraphicFramePr>
        <p:xfrm>
          <a:off x="4723044" y="1271589"/>
          <a:ext cx="3881900" cy="1851266"/>
        </p:xfrm>
        <a:graphic>
          <a:graphicData uri="http://schemas.openxmlformats.org/presentationml/2006/ole">
            <mc:AlternateContent xmlns:mc="http://schemas.openxmlformats.org/markup-compatibility/2006">
              <mc:Choice xmlns:v="urn:schemas-microsoft-com:vml" Requires="v">
                <p:oleObj spid="_x0000_s1027" name="公式" r:id="rId5" imgW="52425600" imgH="24993600" progId="Equation.3">
                  <p:embed/>
                </p:oleObj>
              </mc:Choice>
              <mc:Fallback>
                <p:oleObj name="公式" r:id="rId5" imgW="52425600" imgH="24993600" progId="Equation.3">
                  <p:embed/>
                  <p:pic>
                    <p:nvPicPr>
                      <p:cNvPr id="0" name="图片 1026"/>
                      <p:cNvPicPr>
                        <a:picLocks noChangeAspect="1"/>
                      </p:cNvPicPr>
                      <p:nvPr/>
                    </p:nvPicPr>
                    <p:blipFill>
                      <a:blip r:embed="rId6"/>
                      <a:stretch>
                        <a:fillRect/>
                      </a:stretch>
                    </p:blipFill>
                    <p:spPr>
                      <a:xfrm>
                        <a:off x="4723044" y="1271589"/>
                        <a:ext cx="3881900" cy="1851266"/>
                      </a:xfrm>
                      <a:prstGeom prst="rect">
                        <a:avLst/>
                      </a:prstGeom>
                      <a:noFill/>
                      <a:ln w="9525">
                        <a:noFill/>
                      </a:ln>
                    </p:spPr>
                  </p:pic>
                </p:oleObj>
              </mc:Fallback>
            </mc:AlternateContent>
          </a:graphicData>
        </a:graphic>
      </p:graphicFrame>
      <p:sp>
        <p:nvSpPr>
          <p:cNvPr id="9" name="AutoShape 11"/>
          <p:cNvSpPr>
            <a:spLocks noChangeArrowheads="1"/>
          </p:cNvSpPr>
          <p:nvPr/>
        </p:nvSpPr>
        <p:spPr bwMode="auto">
          <a:xfrm>
            <a:off x="3589437" y="2149797"/>
            <a:ext cx="1079946" cy="286693"/>
          </a:xfrm>
          <a:prstGeom prst="rightArrow">
            <a:avLst>
              <a:gd name="adj1" fmla="val 50000"/>
              <a:gd name="adj2" fmla="val 37569"/>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大</a:t>
            </a:r>
            <a:r>
              <a:rPr kumimoji="1" lang="en-US" altLang="zh-CN" dirty="0">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法</a:t>
            </a:r>
            <a:endParaRPr kumimoji="1" lang="zh-CN" altLang="en-US"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 name="Rectangle 2"/>
          <p:cNvSpPr>
            <a:spLocks noChangeArrowheads="1"/>
          </p:cNvSpPr>
          <p:nvPr/>
        </p:nvSpPr>
        <p:spPr bwMode="auto">
          <a:xfrm>
            <a:off x="7740650" y="4770784"/>
            <a:ext cx="1008063"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x-none" altLang="x-none" sz="1800" b="1">
              <a:effectLst/>
            </a:endParaRPr>
          </a:p>
        </p:txBody>
      </p:sp>
      <p:sp>
        <p:nvSpPr>
          <p:cNvPr id="8" name="Rectangle 3"/>
          <p:cNvSpPr>
            <a:spLocks noChangeArrowheads="1"/>
          </p:cNvSpPr>
          <p:nvPr/>
        </p:nvSpPr>
        <p:spPr bwMode="auto">
          <a:xfrm>
            <a:off x="2967038" y="4770784"/>
            <a:ext cx="4773612"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effectLst/>
              </a:rPr>
              <a:t>      0            1            2         1          -2         -1</a:t>
            </a:r>
            <a:endParaRPr lang="en-US" altLang="zh-CN" sz="1800" b="1">
              <a:effectLst/>
            </a:endParaRPr>
          </a:p>
        </p:txBody>
      </p:sp>
      <p:sp>
        <p:nvSpPr>
          <p:cNvPr id="9" name="Rectangle 4"/>
          <p:cNvSpPr>
            <a:spLocks noChangeArrowheads="1"/>
          </p:cNvSpPr>
          <p:nvPr/>
        </p:nvSpPr>
        <p:spPr bwMode="auto">
          <a:xfrm>
            <a:off x="2132013" y="4770784"/>
            <a:ext cx="83502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2</a:t>
            </a:r>
            <a:endParaRPr lang="en-US" altLang="zh-CN" sz="1800" b="1">
              <a:effectLst/>
            </a:endParaRPr>
          </a:p>
        </p:txBody>
      </p:sp>
      <p:sp>
        <p:nvSpPr>
          <p:cNvPr id="10" name="Rectangle 5"/>
          <p:cNvSpPr>
            <a:spLocks noChangeArrowheads="1"/>
          </p:cNvSpPr>
          <p:nvPr/>
        </p:nvSpPr>
        <p:spPr bwMode="auto">
          <a:xfrm>
            <a:off x="1216025" y="4770784"/>
            <a:ext cx="915988"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x</a:t>
            </a:r>
            <a:r>
              <a:rPr lang="en-US" altLang="zh-CN" sz="1200" b="1" baseline="-25000">
                <a:effectLst/>
              </a:rPr>
              <a:t>2</a:t>
            </a:r>
            <a:endParaRPr lang="en-US" altLang="zh-CN" sz="1200" b="1" baseline="-25000">
              <a:effectLst/>
            </a:endParaRPr>
          </a:p>
        </p:txBody>
      </p:sp>
      <p:sp>
        <p:nvSpPr>
          <p:cNvPr id="11" name="Rectangle 6"/>
          <p:cNvSpPr>
            <a:spLocks noChangeArrowheads="1"/>
          </p:cNvSpPr>
          <p:nvPr/>
        </p:nvSpPr>
        <p:spPr bwMode="auto">
          <a:xfrm>
            <a:off x="468313" y="4770784"/>
            <a:ext cx="747712"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2000" b="1">
                <a:effectLst/>
              </a:rPr>
              <a:t>8</a:t>
            </a:r>
            <a:endParaRPr lang="en-US" altLang="zh-CN" sz="1800" b="1">
              <a:effectLst/>
            </a:endParaRPr>
          </a:p>
        </p:txBody>
      </p:sp>
      <p:sp>
        <p:nvSpPr>
          <p:cNvPr id="13" name="Rectangle 7"/>
          <p:cNvSpPr>
            <a:spLocks noChangeArrowheads="1"/>
          </p:cNvSpPr>
          <p:nvPr/>
        </p:nvSpPr>
        <p:spPr bwMode="auto">
          <a:xfrm>
            <a:off x="7740650" y="4405659"/>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x-none" altLang="x-none" sz="1600" b="1">
              <a:effectLst/>
            </a:endParaRPr>
          </a:p>
        </p:txBody>
      </p:sp>
      <p:sp>
        <p:nvSpPr>
          <p:cNvPr id="14" name="Rectangle 8"/>
          <p:cNvSpPr>
            <a:spLocks noChangeArrowheads="1"/>
          </p:cNvSpPr>
          <p:nvPr/>
        </p:nvSpPr>
        <p:spPr bwMode="auto">
          <a:xfrm>
            <a:off x="2967038" y="4405659"/>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000" b="1">
                <a:effectLst/>
              </a:rPr>
              <a:t>      </a:t>
            </a:r>
            <a:r>
              <a:rPr lang="en-US" altLang="zh-CN" sz="1800" b="1">
                <a:effectLst/>
              </a:rPr>
              <a:t>1           0           </a:t>
            </a:r>
            <a:r>
              <a:rPr lang="en-US" altLang="zh-CN" sz="2000" b="1">
                <a:effectLst/>
              </a:rPr>
              <a:t>-</a:t>
            </a:r>
            <a:r>
              <a:rPr lang="en-US" altLang="zh-CN" sz="1800" b="1">
                <a:effectLst/>
              </a:rPr>
              <a:t>1        -1          1          1</a:t>
            </a:r>
            <a:endParaRPr lang="en-US" altLang="zh-CN" sz="1800" b="1">
              <a:effectLst/>
            </a:endParaRPr>
          </a:p>
        </p:txBody>
      </p:sp>
      <p:sp>
        <p:nvSpPr>
          <p:cNvPr id="15" name="Rectangle 9"/>
          <p:cNvSpPr>
            <a:spLocks noChangeArrowheads="1"/>
          </p:cNvSpPr>
          <p:nvPr/>
        </p:nvSpPr>
        <p:spPr bwMode="auto">
          <a:xfrm>
            <a:off x="2132013" y="4405659"/>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2</a:t>
            </a:r>
            <a:endParaRPr lang="en-US" altLang="zh-CN" sz="1800" b="1">
              <a:effectLst/>
            </a:endParaRPr>
          </a:p>
        </p:txBody>
      </p:sp>
      <p:sp>
        <p:nvSpPr>
          <p:cNvPr id="16" name="Rectangle 10"/>
          <p:cNvSpPr>
            <a:spLocks noChangeArrowheads="1"/>
          </p:cNvSpPr>
          <p:nvPr/>
        </p:nvSpPr>
        <p:spPr bwMode="auto">
          <a:xfrm>
            <a:off x="1216025" y="4405659"/>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x</a:t>
            </a:r>
            <a:r>
              <a:rPr lang="en-US" altLang="zh-CN" sz="1200" b="1" baseline="-25000">
                <a:effectLst/>
              </a:rPr>
              <a:t>1</a:t>
            </a:r>
            <a:endParaRPr lang="en-US" altLang="zh-CN" sz="1200" b="1" baseline="-25000">
              <a:effectLst/>
            </a:endParaRPr>
          </a:p>
        </p:txBody>
      </p:sp>
      <p:sp>
        <p:nvSpPr>
          <p:cNvPr id="17" name="Rectangle 11"/>
          <p:cNvSpPr>
            <a:spLocks noChangeArrowheads="1"/>
          </p:cNvSpPr>
          <p:nvPr/>
        </p:nvSpPr>
        <p:spPr bwMode="auto">
          <a:xfrm>
            <a:off x="468313" y="4405659"/>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10</a:t>
            </a:r>
            <a:endParaRPr lang="en-US" altLang="zh-CN" sz="1800" b="1">
              <a:effectLst/>
            </a:endParaRPr>
          </a:p>
        </p:txBody>
      </p:sp>
      <p:sp>
        <p:nvSpPr>
          <p:cNvPr id="18" name="Rectangle 13"/>
          <p:cNvSpPr>
            <a:spLocks noChangeArrowheads="1"/>
          </p:cNvSpPr>
          <p:nvPr/>
        </p:nvSpPr>
        <p:spPr bwMode="auto">
          <a:xfrm>
            <a:off x="2967038" y="3310284"/>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effectLst/>
              </a:rPr>
              <a:t>      0           1/2          1          1/2       -1      -1/2</a:t>
            </a:r>
            <a:endParaRPr lang="en-US" altLang="zh-CN" sz="1800" b="1">
              <a:effectLst/>
            </a:endParaRPr>
          </a:p>
        </p:txBody>
      </p:sp>
      <p:sp>
        <p:nvSpPr>
          <p:cNvPr id="19" name="Rectangle 14"/>
          <p:cNvSpPr>
            <a:spLocks noChangeArrowheads="1"/>
          </p:cNvSpPr>
          <p:nvPr/>
        </p:nvSpPr>
        <p:spPr bwMode="auto">
          <a:xfrm>
            <a:off x="2132013" y="3310284"/>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1</a:t>
            </a:r>
            <a:endParaRPr lang="en-US" altLang="zh-CN" sz="1800" b="1">
              <a:effectLst/>
            </a:endParaRPr>
          </a:p>
        </p:txBody>
      </p:sp>
      <p:sp>
        <p:nvSpPr>
          <p:cNvPr id="20" name="Rectangle 15"/>
          <p:cNvSpPr>
            <a:spLocks noChangeArrowheads="1"/>
          </p:cNvSpPr>
          <p:nvPr/>
        </p:nvSpPr>
        <p:spPr bwMode="auto">
          <a:xfrm>
            <a:off x="1216025" y="3310284"/>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x</a:t>
            </a:r>
            <a:r>
              <a:rPr lang="en-US" altLang="zh-CN" sz="1200" b="1" baseline="-25000">
                <a:effectLst/>
              </a:rPr>
              <a:t>3</a:t>
            </a:r>
            <a:endParaRPr lang="en-US" altLang="zh-CN" sz="1200" b="1" baseline="-25000">
              <a:effectLst/>
            </a:endParaRPr>
          </a:p>
        </p:txBody>
      </p:sp>
      <p:sp>
        <p:nvSpPr>
          <p:cNvPr id="21" name="Rectangle 16"/>
          <p:cNvSpPr>
            <a:spLocks noChangeArrowheads="1"/>
          </p:cNvSpPr>
          <p:nvPr/>
        </p:nvSpPr>
        <p:spPr bwMode="auto">
          <a:xfrm>
            <a:off x="468313" y="3310284"/>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2000" b="1">
                <a:effectLst/>
              </a:rPr>
              <a:t>7</a:t>
            </a:r>
            <a:endParaRPr lang="en-US" altLang="zh-CN" sz="1800" b="1">
              <a:effectLst/>
            </a:endParaRPr>
          </a:p>
        </p:txBody>
      </p:sp>
      <p:sp>
        <p:nvSpPr>
          <p:cNvPr id="22" name="Rectangle 17"/>
          <p:cNvSpPr>
            <a:spLocks noChangeArrowheads="1"/>
          </p:cNvSpPr>
          <p:nvPr/>
        </p:nvSpPr>
        <p:spPr bwMode="auto">
          <a:xfrm>
            <a:off x="8028384" y="2945159"/>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dirty="0">
                <a:effectLst/>
              </a:rPr>
              <a:t>3/</a:t>
            </a:r>
            <a:r>
              <a:rPr lang="en-US" altLang="zh-CN" sz="1200" b="1" dirty="0">
                <a:effectLst/>
              </a:rPr>
              <a:t>1/2</a:t>
            </a:r>
            <a:endParaRPr lang="en-US" altLang="zh-CN" sz="1200" b="1" dirty="0">
              <a:effectLst/>
            </a:endParaRPr>
          </a:p>
        </p:txBody>
      </p:sp>
      <p:sp>
        <p:nvSpPr>
          <p:cNvPr id="23" name="Rectangle 18"/>
          <p:cNvSpPr>
            <a:spLocks noChangeArrowheads="1"/>
          </p:cNvSpPr>
          <p:nvPr/>
        </p:nvSpPr>
        <p:spPr bwMode="auto">
          <a:xfrm>
            <a:off x="2967038" y="2945159"/>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effectLst/>
              </a:rPr>
              <a:t> </a:t>
            </a:r>
            <a:r>
              <a:rPr lang="en-US" altLang="zh-CN" sz="2000" b="1">
                <a:effectLst/>
              </a:rPr>
              <a:t>    </a:t>
            </a:r>
            <a:r>
              <a:rPr lang="en-US" altLang="zh-CN" sz="1800" b="1">
                <a:effectLst/>
              </a:rPr>
              <a:t>1           1/2         0         -1/2    </a:t>
            </a:r>
            <a:r>
              <a:rPr lang="en-US" altLang="zh-CN" sz="2000" b="1">
                <a:effectLst/>
              </a:rPr>
              <a:t>   0</a:t>
            </a:r>
            <a:r>
              <a:rPr lang="en-US" altLang="zh-CN" sz="1800" b="1">
                <a:effectLst/>
              </a:rPr>
              <a:t>        1/2</a:t>
            </a:r>
            <a:endParaRPr lang="en-US" altLang="zh-CN" sz="1800" b="1">
              <a:effectLst/>
            </a:endParaRPr>
          </a:p>
        </p:txBody>
      </p:sp>
      <p:sp>
        <p:nvSpPr>
          <p:cNvPr id="24" name="Rectangle 19"/>
          <p:cNvSpPr>
            <a:spLocks noChangeArrowheads="1"/>
          </p:cNvSpPr>
          <p:nvPr/>
        </p:nvSpPr>
        <p:spPr bwMode="auto">
          <a:xfrm>
            <a:off x="2132013" y="2945159"/>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3</a:t>
            </a:r>
            <a:endParaRPr lang="en-US" altLang="zh-CN" sz="1800" b="1">
              <a:effectLst/>
            </a:endParaRPr>
          </a:p>
        </p:txBody>
      </p:sp>
      <p:sp>
        <p:nvSpPr>
          <p:cNvPr id="25" name="Rectangle 20"/>
          <p:cNvSpPr>
            <a:spLocks noChangeArrowheads="1"/>
          </p:cNvSpPr>
          <p:nvPr/>
        </p:nvSpPr>
        <p:spPr bwMode="auto">
          <a:xfrm>
            <a:off x="1216025" y="2945159"/>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x</a:t>
            </a:r>
            <a:r>
              <a:rPr lang="en-US" altLang="zh-CN" sz="1200" b="1" baseline="-25000">
                <a:effectLst/>
              </a:rPr>
              <a:t>1</a:t>
            </a:r>
            <a:endParaRPr lang="en-US" altLang="zh-CN" sz="1200" b="1" baseline="-25000">
              <a:effectLst/>
            </a:endParaRPr>
          </a:p>
        </p:txBody>
      </p:sp>
      <p:sp>
        <p:nvSpPr>
          <p:cNvPr id="26" name="Rectangle 21"/>
          <p:cNvSpPr>
            <a:spLocks noChangeArrowheads="1"/>
          </p:cNvSpPr>
          <p:nvPr/>
        </p:nvSpPr>
        <p:spPr bwMode="auto">
          <a:xfrm>
            <a:off x="468313" y="2945159"/>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10</a:t>
            </a:r>
            <a:endParaRPr lang="en-US" altLang="zh-CN" sz="1800" b="1">
              <a:effectLst/>
            </a:endParaRPr>
          </a:p>
        </p:txBody>
      </p:sp>
      <p:sp>
        <p:nvSpPr>
          <p:cNvPr id="27" name="Rectangle 22"/>
          <p:cNvSpPr>
            <a:spLocks noChangeArrowheads="1"/>
          </p:cNvSpPr>
          <p:nvPr/>
        </p:nvSpPr>
        <p:spPr bwMode="auto">
          <a:xfrm>
            <a:off x="8244457" y="1849784"/>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4</a:t>
            </a:r>
            <a:endParaRPr lang="en-US" altLang="zh-CN" sz="1800" b="1">
              <a:effectLst/>
            </a:endParaRPr>
          </a:p>
        </p:txBody>
      </p:sp>
      <p:sp>
        <p:nvSpPr>
          <p:cNvPr id="28" name="Rectangle 23"/>
          <p:cNvSpPr>
            <a:spLocks noChangeArrowheads="1"/>
          </p:cNvSpPr>
          <p:nvPr/>
        </p:nvSpPr>
        <p:spPr bwMode="auto">
          <a:xfrm>
            <a:off x="2967038" y="1849784"/>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effectLst/>
              </a:rPr>
              <a:t>     1            1           1           0         -1         0      </a:t>
            </a:r>
            <a:endParaRPr lang="en-US" altLang="zh-CN" sz="1800" b="1">
              <a:effectLst/>
            </a:endParaRPr>
          </a:p>
        </p:txBody>
      </p:sp>
      <p:sp>
        <p:nvSpPr>
          <p:cNvPr id="29" name="Rectangle 24"/>
          <p:cNvSpPr>
            <a:spLocks noChangeArrowheads="1"/>
          </p:cNvSpPr>
          <p:nvPr/>
        </p:nvSpPr>
        <p:spPr bwMode="auto">
          <a:xfrm>
            <a:off x="2132013" y="1849784"/>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4</a:t>
            </a:r>
            <a:endParaRPr lang="en-US" altLang="zh-CN" sz="1800" b="1">
              <a:effectLst/>
            </a:endParaRPr>
          </a:p>
        </p:txBody>
      </p:sp>
      <p:sp>
        <p:nvSpPr>
          <p:cNvPr id="30" name="Rectangle 25"/>
          <p:cNvSpPr>
            <a:spLocks noChangeArrowheads="1"/>
          </p:cNvSpPr>
          <p:nvPr/>
        </p:nvSpPr>
        <p:spPr bwMode="auto">
          <a:xfrm>
            <a:off x="1216025" y="1849784"/>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x</a:t>
            </a:r>
            <a:r>
              <a:rPr lang="en-US" altLang="zh-CN" sz="1200" b="1" baseline="-25000">
                <a:effectLst/>
              </a:rPr>
              <a:t>3</a:t>
            </a:r>
            <a:endParaRPr lang="en-US" altLang="zh-CN" sz="1200" b="1" baseline="-25000">
              <a:effectLst/>
            </a:endParaRPr>
          </a:p>
        </p:txBody>
      </p:sp>
      <p:sp>
        <p:nvSpPr>
          <p:cNvPr id="32" name="Rectangle 26"/>
          <p:cNvSpPr>
            <a:spLocks noChangeArrowheads="1"/>
          </p:cNvSpPr>
          <p:nvPr/>
        </p:nvSpPr>
        <p:spPr bwMode="auto">
          <a:xfrm>
            <a:off x="468313" y="1849784"/>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7</a:t>
            </a:r>
            <a:endParaRPr lang="en-US" altLang="zh-CN" sz="1800" b="1">
              <a:effectLst/>
            </a:endParaRPr>
          </a:p>
        </p:txBody>
      </p:sp>
      <p:sp>
        <p:nvSpPr>
          <p:cNvPr id="33" name="Rectangle 27"/>
          <p:cNvSpPr>
            <a:spLocks noChangeArrowheads="1"/>
          </p:cNvSpPr>
          <p:nvPr/>
        </p:nvSpPr>
        <p:spPr bwMode="auto">
          <a:xfrm>
            <a:off x="8244457" y="1484659"/>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3</a:t>
            </a:r>
            <a:endParaRPr lang="en-US" altLang="zh-CN" sz="1800" b="1">
              <a:effectLst/>
            </a:endParaRPr>
          </a:p>
        </p:txBody>
      </p:sp>
      <p:sp>
        <p:nvSpPr>
          <p:cNvPr id="34" name="Rectangle 28"/>
          <p:cNvSpPr>
            <a:spLocks noChangeArrowheads="1"/>
          </p:cNvSpPr>
          <p:nvPr/>
        </p:nvSpPr>
        <p:spPr bwMode="auto">
          <a:xfrm>
            <a:off x="2967038" y="1484659"/>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effectLst/>
              </a:rPr>
              <a:t>     2            1           0          -1         0          1      </a:t>
            </a:r>
            <a:endParaRPr lang="en-US" altLang="zh-CN" sz="1800" b="1">
              <a:effectLst/>
            </a:endParaRPr>
          </a:p>
        </p:txBody>
      </p:sp>
      <p:sp>
        <p:nvSpPr>
          <p:cNvPr id="35" name="Rectangle 29"/>
          <p:cNvSpPr>
            <a:spLocks noChangeArrowheads="1"/>
          </p:cNvSpPr>
          <p:nvPr/>
        </p:nvSpPr>
        <p:spPr bwMode="auto">
          <a:xfrm>
            <a:off x="2132013" y="1484659"/>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6</a:t>
            </a:r>
            <a:endParaRPr lang="en-US" altLang="zh-CN" sz="1800" b="1">
              <a:effectLst/>
            </a:endParaRPr>
          </a:p>
        </p:txBody>
      </p:sp>
      <p:sp>
        <p:nvSpPr>
          <p:cNvPr id="36" name="Rectangle 30"/>
          <p:cNvSpPr>
            <a:spLocks noChangeArrowheads="1"/>
          </p:cNvSpPr>
          <p:nvPr/>
        </p:nvSpPr>
        <p:spPr bwMode="auto">
          <a:xfrm>
            <a:off x="1216025" y="1484659"/>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x</a:t>
            </a:r>
            <a:r>
              <a:rPr lang="en-US" altLang="zh-CN" sz="1200" b="1" baseline="-25000">
                <a:effectLst/>
              </a:rPr>
              <a:t>6</a:t>
            </a:r>
            <a:endParaRPr lang="en-US" altLang="zh-CN" sz="1200" b="1" baseline="-25000">
              <a:effectLst/>
            </a:endParaRPr>
          </a:p>
        </p:txBody>
      </p:sp>
      <p:sp>
        <p:nvSpPr>
          <p:cNvPr id="37" name="Rectangle 31"/>
          <p:cNvSpPr>
            <a:spLocks noChangeArrowheads="1"/>
          </p:cNvSpPr>
          <p:nvPr/>
        </p:nvSpPr>
        <p:spPr bwMode="auto">
          <a:xfrm>
            <a:off x="468313" y="1484659"/>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M</a:t>
            </a:r>
            <a:endParaRPr lang="en-US" altLang="zh-CN" sz="1800" b="1">
              <a:effectLst/>
            </a:endParaRPr>
          </a:p>
        </p:txBody>
      </p:sp>
      <p:sp>
        <p:nvSpPr>
          <p:cNvPr id="38" name="Rectangle 32"/>
          <p:cNvSpPr>
            <a:spLocks noChangeArrowheads="1"/>
          </p:cNvSpPr>
          <p:nvPr/>
        </p:nvSpPr>
        <p:spPr bwMode="auto">
          <a:xfrm>
            <a:off x="7740650" y="5512147"/>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39" name="Rectangle 33"/>
          <p:cNvSpPr>
            <a:spLocks noChangeArrowheads="1"/>
          </p:cNvSpPr>
          <p:nvPr/>
        </p:nvSpPr>
        <p:spPr bwMode="auto">
          <a:xfrm>
            <a:off x="2967038" y="5512147"/>
            <a:ext cx="4918075"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800" b="1">
                <a:effectLst/>
                <a:cs typeface="Arial" panose="020B0604020202020204" pitchFamily="34" charset="0"/>
              </a:rPr>
              <a:t>         0           0            1          2          6        M-2</a:t>
            </a:r>
            <a:endParaRPr lang="en-US" altLang="zh-CN" sz="1800" b="1">
              <a:effectLst/>
            </a:endParaRPr>
          </a:p>
        </p:txBody>
      </p:sp>
      <p:sp>
        <p:nvSpPr>
          <p:cNvPr id="40" name="Rectangle 34"/>
          <p:cNvSpPr>
            <a:spLocks noChangeArrowheads="1"/>
          </p:cNvSpPr>
          <p:nvPr/>
        </p:nvSpPr>
        <p:spPr bwMode="auto">
          <a:xfrm>
            <a:off x="2132013" y="5512147"/>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36</a:t>
            </a:r>
            <a:endParaRPr lang="en-US" altLang="zh-CN" sz="1800" b="1">
              <a:effectLst/>
            </a:endParaRPr>
          </a:p>
        </p:txBody>
      </p:sp>
      <p:sp>
        <p:nvSpPr>
          <p:cNvPr id="41" name="Rectangle 35"/>
          <p:cNvSpPr>
            <a:spLocks noChangeArrowheads="1"/>
          </p:cNvSpPr>
          <p:nvPr/>
        </p:nvSpPr>
        <p:spPr bwMode="auto">
          <a:xfrm>
            <a:off x="468313" y="5512147"/>
            <a:ext cx="1663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Z</a:t>
            </a:r>
            <a:endParaRPr lang="en-US" altLang="zh-CN" sz="1800" b="1">
              <a:effectLst/>
            </a:endParaRPr>
          </a:p>
        </p:txBody>
      </p:sp>
      <p:sp>
        <p:nvSpPr>
          <p:cNvPr id="42" name="Rectangle 36"/>
          <p:cNvSpPr>
            <a:spLocks noChangeArrowheads="1"/>
          </p:cNvSpPr>
          <p:nvPr/>
        </p:nvSpPr>
        <p:spPr bwMode="auto">
          <a:xfrm>
            <a:off x="7740650" y="5147022"/>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x-none" altLang="x-none" sz="1600" b="1">
              <a:effectLst/>
            </a:endParaRPr>
          </a:p>
        </p:txBody>
      </p:sp>
      <p:sp>
        <p:nvSpPr>
          <p:cNvPr id="43" name="Rectangle 37"/>
          <p:cNvSpPr>
            <a:spLocks noChangeArrowheads="1"/>
          </p:cNvSpPr>
          <p:nvPr/>
        </p:nvSpPr>
        <p:spPr bwMode="auto">
          <a:xfrm>
            <a:off x="2967038" y="5147022"/>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effectLst/>
                <a:cs typeface="Arial" panose="020B0604020202020204" pitchFamily="34" charset="0"/>
              </a:rPr>
              <a:t>   </a:t>
            </a:r>
            <a:endParaRPr lang="en-US" altLang="zh-CN" sz="1800" b="1">
              <a:effectLst/>
            </a:endParaRPr>
          </a:p>
        </p:txBody>
      </p:sp>
      <p:sp>
        <p:nvSpPr>
          <p:cNvPr id="44" name="Rectangle 38"/>
          <p:cNvSpPr>
            <a:spLocks noChangeArrowheads="1"/>
          </p:cNvSpPr>
          <p:nvPr/>
        </p:nvSpPr>
        <p:spPr bwMode="auto">
          <a:xfrm>
            <a:off x="2132013" y="5147022"/>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x-none" altLang="x-none" sz="1800" b="1">
              <a:effectLst/>
            </a:endParaRPr>
          </a:p>
        </p:txBody>
      </p:sp>
      <p:sp>
        <p:nvSpPr>
          <p:cNvPr id="45" name="Rectangle 39"/>
          <p:cNvSpPr>
            <a:spLocks noChangeArrowheads="1"/>
          </p:cNvSpPr>
          <p:nvPr/>
        </p:nvSpPr>
        <p:spPr bwMode="auto">
          <a:xfrm>
            <a:off x="1216025" y="5147022"/>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x-none" altLang="x-none" sz="1800" b="1">
              <a:effectLst/>
            </a:endParaRPr>
          </a:p>
        </p:txBody>
      </p:sp>
      <p:sp>
        <p:nvSpPr>
          <p:cNvPr id="46" name="Rectangle 40"/>
          <p:cNvSpPr>
            <a:spLocks noChangeArrowheads="1"/>
          </p:cNvSpPr>
          <p:nvPr/>
        </p:nvSpPr>
        <p:spPr bwMode="auto">
          <a:xfrm>
            <a:off x="468313" y="5147022"/>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x-none" altLang="x-none" sz="1800" b="1">
              <a:effectLst/>
            </a:endParaRPr>
          </a:p>
        </p:txBody>
      </p:sp>
      <p:sp>
        <p:nvSpPr>
          <p:cNvPr id="47" name="Rectangle 41"/>
          <p:cNvSpPr>
            <a:spLocks noChangeArrowheads="1"/>
          </p:cNvSpPr>
          <p:nvPr/>
        </p:nvSpPr>
        <p:spPr bwMode="auto">
          <a:xfrm>
            <a:off x="7740650" y="4040534"/>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48" name="Rectangle 42"/>
          <p:cNvSpPr>
            <a:spLocks noChangeArrowheads="1"/>
          </p:cNvSpPr>
          <p:nvPr/>
        </p:nvSpPr>
        <p:spPr bwMode="auto">
          <a:xfrm>
            <a:off x="2967038" y="4040534"/>
            <a:ext cx="5060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800" b="1">
                <a:effectLst/>
                <a:cs typeface="Arial" panose="020B0604020202020204" pitchFamily="34" charset="0"/>
              </a:rPr>
              <a:t>         0         -1/2         0          3/2       7     M-3/2</a:t>
            </a:r>
            <a:endParaRPr lang="en-US" altLang="zh-CN" sz="1800" b="1">
              <a:effectLst/>
              <a:cs typeface="Arial" panose="020B0604020202020204" pitchFamily="34" charset="0"/>
            </a:endParaRPr>
          </a:p>
        </p:txBody>
      </p:sp>
      <p:sp>
        <p:nvSpPr>
          <p:cNvPr id="49" name="Rectangle 43"/>
          <p:cNvSpPr>
            <a:spLocks noChangeArrowheads="1"/>
          </p:cNvSpPr>
          <p:nvPr/>
        </p:nvSpPr>
        <p:spPr bwMode="auto">
          <a:xfrm>
            <a:off x="2132013" y="4040534"/>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37</a:t>
            </a:r>
            <a:endParaRPr lang="en-US" altLang="zh-CN" sz="1800" b="1">
              <a:effectLst/>
            </a:endParaRPr>
          </a:p>
        </p:txBody>
      </p:sp>
      <p:sp>
        <p:nvSpPr>
          <p:cNvPr id="50" name="Rectangle 44"/>
          <p:cNvSpPr>
            <a:spLocks noChangeArrowheads="1"/>
          </p:cNvSpPr>
          <p:nvPr/>
        </p:nvSpPr>
        <p:spPr bwMode="auto">
          <a:xfrm>
            <a:off x="468313" y="4040534"/>
            <a:ext cx="1663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Z</a:t>
            </a:r>
            <a:endParaRPr lang="en-US" altLang="zh-CN" sz="1800" b="1">
              <a:effectLst/>
            </a:endParaRPr>
          </a:p>
        </p:txBody>
      </p:sp>
      <p:sp>
        <p:nvSpPr>
          <p:cNvPr id="51" name="Rectangle 45"/>
          <p:cNvSpPr>
            <a:spLocks noChangeArrowheads="1"/>
          </p:cNvSpPr>
          <p:nvPr/>
        </p:nvSpPr>
        <p:spPr bwMode="auto">
          <a:xfrm>
            <a:off x="8028161" y="3275359"/>
            <a:ext cx="10080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cs typeface="Arial" panose="020B0604020202020204" pitchFamily="34" charset="0"/>
              </a:rPr>
              <a:t>1/</a:t>
            </a:r>
            <a:r>
              <a:rPr lang="en-US" altLang="zh-CN" sz="1200" b="1">
                <a:effectLst/>
                <a:cs typeface="Arial" panose="020B0604020202020204" pitchFamily="34" charset="0"/>
              </a:rPr>
              <a:t>1/2</a:t>
            </a:r>
            <a:endParaRPr lang="en-US" altLang="zh-CN" sz="1200" b="1">
              <a:effectLst/>
            </a:endParaRPr>
          </a:p>
        </p:txBody>
      </p:sp>
      <p:sp>
        <p:nvSpPr>
          <p:cNvPr id="52" name="Rectangle 46"/>
          <p:cNvSpPr>
            <a:spLocks noChangeArrowheads="1"/>
          </p:cNvSpPr>
          <p:nvPr/>
        </p:nvSpPr>
        <p:spPr bwMode="auto">
          <a:xfrm>
            <a:off x="2967038" y="3675409"/>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effectLst/>
                <a:cs typeface="Arial" panose="020B0604020202020204" pitchFamily="34" charset="0"/>
              </a:rPr>
              <a:t>     </a:t>
            </a:r>
            <a:endParaRPr lang="en-US" altLang="zh-CN" sz="1800" b="1">
              <a:effectLst/>
            </a:endParaRPr>
          </a:p>
        </p:txBody>
      </p:sp>
      <p:sp>
        <p:nvSpPr>
          <p:cNvPr id="53" name="Rectangle 47"/>
          <p:cNvSpPr>
            <a:spLocks noChangeArrowheads="1"/>
          </p:cNvSpPr>
          <p:nvPr/>
        </p:nvSpPr>
        <p:spPr bwMode="auto">
          <a:xfrm>
            <a:off x="2132013" y="3675409"/>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x-none" altLang="x-none" sz="1800" b="1">
              <a:effectLst/>
            </a:endParaRPr>
          </a:p>
        </p:txBody>
      </p:sp>
      <p:sp>
        <p:nvSpPr>
          <p:cNvPr id="54" name="Rectangle 48"/>
          <p:cNvSpPr>
            <a:spLocks noChangeArrowheads="1"/>
          </p:cNvSpPr>
          <p:nvPr/>
        </p:nvSpPr>
        <p:spPr bwMode="auto">
          <a:xfrm>
            <a:off x="1216025" y="3675409"/>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x-none" altLang="x-none" sz="1800" b="1">
              <a:effectLst/>
            </a:endParaRPr>
          </a:p>
        </p:txBody>
      </p:sp>
      <p:sp>
        <p:nvSpPr>
          <p:cNvPr id="55" name="Rectangle 49"/>
          <p:cNvSpPr>
            <a:spLocks noChangeArrowheads="1"/>
          </p:cNvSpPr>
          <p:nvPr/>
        </p:nvSpPr>
        <p:spPr bwMode="auto">
          <a:xfrm>
            <a:off x="468313" y="3675409"/>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x-none" altLang="x-none" sz="1800" b="1">
              <a:effectLst/>
            </a:endParaRPr>
          </a:p>
        </p:txBody>
      </p:sp>
      <p:sp>
        <p:nvSpPr>
          <p:cNvPr id="56" name="Rectangle 50"/>
          <p:cNvSpPr>
            <a:spLocks noChangeArrowheads="1"/>
          </p:cNvSpPr>
          <p:nvPr/>
        </p:nvSpPr>
        <p:spPr bwMode="auto">
          <a:xfrm>
            <a:off x="7740650" y="2580034"/>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57" name="Rectangle 51"/>
          <p:cNvSpPr>
            <a:spLocks noChangeArrowheads="1"/>
          </p:cNvSpPr>
          <p:nvPr/>
        </p:nvSpPr>
        <p:spPr bwMode="auto">
          <a:xfrm>
            <a:off x="2987675" y="2554634"/>
            <a:ext cx="477361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800" b="1" dirty="0">
                <a:effectLst/>
                <a:cs typeface="Arial" panose="020B0604020202020204" pitchFamily="34" charset="0"/>
              </a:rPr>
              <a:t>       3-2M    </a:t>
            </a:r>
            <a:r>
              <a:rPr lang="en-US" altLang="zh-CN" sz="1800" b="1" dirty="0">
                <a:effectLst/>
              </a:rPr>
              <a:t>1-</a:t>
            </a:r>
            <a:r>
              <a:rPr lang="en-US" altLang="zh-CN" sz="1800" b="1" dirty="0">
                <a:effectLst/>
                <a:cs typeface="Arial" panose="020B0604020202020204" pitchFamily="34" charset="0"/>
              </a:rPr>
              <a:t>M       0              M          7         0     </a:t>
            </a:r>
            <a:endParaRPr lang="en-US" altLang="zh-CN" sz="1800" b="1" dirty="0">
              <a:effectLst/>
              <a:cs typeface="Arial" panose="020B0604020202020204" pitchFamily="34" charset="0"/>
            </a:endParaRPr>
          </a:p>
        </p:txBody>
      </p:sp>
      <p:sp>
        <p:nvSpPr>
          <p:cNvPr id="58" name="Rectangle 52"/>
          <p:cNvSpPr>
            <a:spLocks noChangeArrowheads="1"/>
          </p:cNvSpPr>
          <p:nvPr/>
        </p:nvSpPr>
        <p:spPr bwMode="auto">
          <a:xfrm>
            <a:off x="2124075" y="2554634"/>
            <a:ext cx="9271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6M+28</a:t>
            </a:r>
            <a:endParaRPr lang="en-US" altLang="zh-CN" sz="1800" b="1">
              <a:effectLst/>
            </a:endParaRPr>
          </a:p>
        </p:txBody>
      </p:sp>
      <p:sp>
        <p:nvSpPr>
          <p:cNvPr id="59" name="Rectangle 53"/>
          <p:cNvSpPr>
            <a:spLocks noChangeArrowheads="1"/>
          </p:cNvSpPr>
          <p:nvPr/>
        </p:nvSpPr>
        <p:spPr bwMode="auto">
          <a:xfrm>
            <a:off x="468313" y="2580034"/>
            <a:ext cx="1663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Z</a:t>
            </a:r>
            <a:endParaRPr lang="en-US" altLang="zh-CN" sz="1800" b="1">
              <a:effectLst/>
            </a:endParaRPr>
          </a:p>
        </p:txBody>
      </p:sp>
      <p:sp>
        <p:nvSpPr>
          <p:cNvPr id="60" name="Rectangle 54"/>
          <p:cNvSpPr>
            <a:spLocks noChangeArrowheads="1"/>
          </p:cNvSpPr>
          <p:nvPr/>
        </p:nvSpPr>
        <p:spPr bwMode="auto">
          <a:xfrm>
            <a:off x="7740650" y="2214909"/>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x-none" altLang="x-none" sz="1800" b="1">
              <a:effectLst/>
            </a:endParaRPr>
          </a:p>
        </p:txBody>
      </p:sp>
      <p:sp>
        <p:nvSpPr>
          <p:cNvPr id="61" name="Rectangle 55"/>
          <p:cNvSpPr>
            <a:spLocks noChangeArrowheads="1"/>
          </p:cNvSpPr>
          <p:nvPr/>
        </p:nvSpPr>
        <p:spPr bwMode="auto">
          <a:xfrm>
            <a:off x="2967038" y="2214909"/>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endParaRPr lang="x-none" altLang="x-none" sz="1800" b="1">
              <a:effectLst/>
            </a:endParaRPr>
          </a:p>
        </p:txBody>
      </p:sp>
      <p:sp>
        <p:nvSpPr>
          <p:cNvPr id="62" name="Rectangle 56"/>
          <p:cNvSpPr>
            <a:spLocks noChangeArrowheads="1"/>
          </p:cNvSpPr>
          <p:nvPr/>
        </p:nvSpPr>
        <p:spPr bwMode="auto">
          <a:xfrm>
            <a:off x="2132013" y="2214909"/>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x-none" altLang="x-none" sz="1800" b="1">
              <a:effectLst/>
            </a:endParaRPr>
          </a:p>
        </p:txBody>
      </p:sp>
      <p:sp>
        <p:nvSpPr>
          <p:cNvPr id="63" name="Rectangle 57"/>
          <p:cNvSpPr>
            <a:spLocks noChangeArrowheads="1"/>
          </p:cNvSpPr>
          <p:nvPr/>
        </p:nvSpPr>
        <p:spPr bwMode="auto">
          <a:xfrm>
            <a:off x="1216025" y="2214909"/>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x-none" altLang="x-none" sz="1800" b="1">
              <a:effectLst/>
            </a:endParaRPr>
          </a:p>
        </p:txBody>
      </p:sp>
      <p:sp>
        <p:nvSpPr>
          <p:cNvPr id="64" name="Rectangle 59"/>
          <p:cNvSpPr>
            <a:spLocks noChangeArrowheads="1"/>
          </p:cNvSpPr>
          <p:nvPr/>
        </p:nvSpPr>
        <p:spPr bwMode="auto">
          <a:xfrm>
            <a:off x="2967038" y="1119534"/>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800" b="1">
                <a:effectLst/>
                <a:cs typeface="Arial" panose="020B0604020202020204" pitchFamily="34" charset="0"/>
              </a:rPr>
              <a:t>　   </a:t>
            </a:r>
            <a:r>
              <a:rPr lang="en-US" altLang="zh-CN" sz="1800" b="1">
                <a:effectLst/>
                <a:cs typeface="Arial" panose="020B0604020202020204" pitchFamily="34" charset="0"/>
              </a:rPr>
              <a:t>x</a:t>
            </a:r>
            <a:r>
              <a:rPr lang="en-US" altLang="zh-CN" sz="1800" b="1" baseline="-30000">
                <a:effectLst/>
                <a:cs typeface="Arial" panose="020B0604020202020204" pitchFamily="34" charset="0"/>
              </a:rPr>
              <a:t>1</a:t>
            </a:r>
            <a:r>
              <a:rPr lang="en-US" altLang="zh-CN" sz="1800" b="1">
                <a:effectLst/>
                <a:cs typeface="Arial" panose="020B0604020202020204" pitchFamily="34" charset="0"/>
              </a:rPr>
              <a:t>           x</a:t>
            </a:r>
            <a:r>
              <a:rPr lang="en-US" altLang="zh-CN" sz="1800" b="1" baseline="-30000">
                <a:effectLst/>
                <a:cs typeface="Arial" panose="020B0604020202020204" pitchFamily="34" charset="0"/>
              </a:rPr>
              <a:t>2</a:t>
            </a:r>
            <a:r>
              <a:rPr lang="en-US" altLang="zh-CN" sz="1800" b="1">
                <a:effectLst/>
                <a:cs typeface="Arial" panose="020B0604020202020204" pitchFamily="34" charset="0"/>
              </a:rPr>
              <a:t>         x</a:t>
            </a:r>
            <a:r>
              <a:rPr lang="en-US" altLang="zh-CN" sz="1800" b="1" baseline="-30000">
                <a:effectLst/>
                <a:cs typeface="Arial" panose="020B0604020202020204" pitchFamily="34" charset="0"/>
              </a:rPr>
              <a:t>3</a:t>
            </a:r>
            <a:r>
              <a:rPr lang="en-US" altLang="zh-CN" sz="1800" b="1">
                <a:effectLst/>
                <a:cs typeface="Arial" panose="020B0604020202020204" pitchFamily="34" charset="0"/>
              </a:rPr>
              <a:t>          x</a:t>
            </a:r>
            <a:r>
              <a:rPr lang="en-US" altLang="zh-CN" sz="1800" b="1" baseline="-30000">
                <a:effectLst/>
                <a:cs typeface="Arial" panose="020B0604020202020204" pitchFamily="34" charset="0"/>
              </a:rPr>
              <a:t>4</a:t>
            </a:r>
            <a:r>
              <a:rPr lang="en-US" altLang="zh-CN" sz="1800" b="1">
                <a:effectLst/>
                <a:cs typeface="Arial" panose="020B0604020202020204" pitchFamily="34" charset="0"/>
              </a:rPr>
              <a:t>        x</a:t>
            </a:r>
            <a:r>
              <a:rPr lang="en-US" altLang="zh-CN" sz="1800" b="1" baseline="-30000">
                <a:effectLst/>
                <a:cs typeface="Arial" panose="020B0604020202020204" pitchFamily="34" charset="0"/>
              </a:rPr>
              <a:t>5</a:t>
            </a:r>
            <a:r>
              <a:rPr lang="en-US" altLang="zh-CN" sz="1800" b="1">
                <a:effectLst/>
                <a:cs typeface="Arial" panose="020B0604020202020204" pitchFamily="34" charset="0"/>
              </a:rPr>
              <a:t>         x</a:t>
            </a:r>
            <a:r>
              <a:rPr lang="en-US" altLang="zh-CN" sz="1800" b="1" baseline="-30000">
                <a:effectLst/>
                <a:cs typeface="Arial" panose="020B0604020202020204" pitchFamily="34" charset="0"/>
              </a:rPr>
              <a:t>6</a:t>
            </a:r>
            <a:r>
              <a:rPr lang="en-US" altLang="zh-CN" sz="1800" b="1">
                <a:effectLst/>
                <a:cs typeface="Arial" panose="020B0604020202020204" pitchFamily="34" charset="0"/>
              </a:rPr>
              <a:t>      </a:t>
            </a:r>
            <a:endParaRPr lang="en-US" altLang="zh-CN" sz="1800" b="1">
              <a:effectLst/>
            </a:endParaRPr>
          </a:p>
        </p:txBody>
      </p:sp>
      <p:sp>
        <p:nvSpPr>
          <p:cNvPr id="65" name="Rectangle 60"/>
          <p:cNvSpPr>
            <a:spLocks noChangeArrowheads="1"/>
          </p:cNvSpPr>
          <p:nvPr/>
        </p:nvSpPr>
        <p:spPr bwMode="auto">
          <a:xfrm>
            <a:off x="2132013" y="1119534"/>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b</a:t>
            </a:r>
            <a:endParaRPr lang="en-US" altLang="zh-CN" sz="1800" b="1">
              <a:effectLst/>
            </a:endParaRPr>
          </a:p>
        </p:txBody>
      </p:sp>
      <p:sp>
        <p:nvSpPr>
          <p:cNvPr id="66" name="Rectangle 61"/>
          <p:cNvSpPr>
            <a:spLocks noChangeArrowheads="1"/>
          </p:cNvSpPr>
          <p:nvPr/>
        </p:nvSpPr>
        <p:spPr bwMode="auto">
          <a:xfrm>
            <a:off x="1216025" y="1119534"/>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X</a:t>
            </a:r>
            <a:r>
              <a:rPr lang="en-US" altLang="zh-CN" sz="1800" b="1" baseline="-30000">
                <a:effectLst/>
                <a:cs typeface="Arial" panose="020B0604020202020204" pitchFamily="34" charset="0"/>
              </a:rPr>
              <a:t>B</a:t>
            </a:r>
            <a:endParaRPr lang="en-US" altLang="zh-CN" sz="1800" b="1">
              <a:effectLst/>
            </a:endParaRPr>
          </a:p>
        </p:txBody>
      </p:sp>
      <p:sp>
        <p:nvSpPr>
          <p:cNvPr id="67" name="Rectangle 62"/>
          <p:cNvSpPr>
            <a:spLocks noChangeArrowheads="1"/>
          </p:cNvSpPr>
          <p:nvPr/>
        </p:nvSpPr>
        <p:spPr bwMode="auto">
          <a:xfrm>
            <a:off x="468313" y="1119534"/>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C</a:t>
            </a:r>
            <a:r>
              <a:rPr lang="en-US" altLang="zh-CN" sz="1800" b="1" baseline="-30000">
                <a:effectLst/>
                <a:cs typeface="Arial" panose="020B0604020202020204" pitchFamily="34" charset="0"/>
              </a:rPr>
              <a:t>B</a:t>
            </a:r>
            <a:endParaRPr lang="en-US" altLang="zh-CN" sz="1800" b="1">
              <a:effectLst/>
            </a:endParaRPr>
          </a:p>
        </p:txBody>
      </p:sp>
      <p:sp>
        <p:nvSpPr>
          <p:cNvPr id="68" name="Rectangle 63"/>
          <p:cNvSpPr>
            <a:spLocks noChangeArrowheads="1"/>
          </p:cNvSpPr>
          <p:nvPr/>
        </p:nvSpPr>
        <p:spPr bwMode="auto">
          <a:xfrm>
            <a:off x="8172449" y="754409"/>
            <a:ext cx="1008063"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θ</a:t>
            </a:r>
            <a:endParaRPr lang="en-US" altLang="zh-CN" sz="1800" b="1">
              <a:effectLst/>
            </a:endParaRPr>
          </a:p>
        </p:txBody>
      </p:sp>
      <p:sp>
        <p:nvSpPr>
          <p:cNvPr id="69" name="Rectangle 64"/>
          <p:cNvSpPr>
            <a:spLocks noChangeArrowheads="1"/>
          </p:cNvSpPr>
          <p:nvPr/>
        </p:nvSpPr>
        <p:spPr bwMode="auto">
          <a:xfrm>
            <a:off x="2967038" y="754409"/>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800" b="1">
                <a:solidFill>
                  <a:schemeClr val="accent2"/>
                </a:solidFill>
                <a:effectLst/>
                <a:cs typeface="Arial" panose="020B0604020202020204" pitchFamily="34" charset="0"/>
              </a:rPr>
              <a:t>　   </a:t>
            </a:r>
            <a:r>
              <a:rPr lang="en-US" altLang="zh-CN" sz="1800" b="1">
                <a:solidFill>
                  <a:schemeClr val="accent2"/>
                </a:solidFill>
                <a:effectLst/>
                <a:cs typeface="Arial" panose="020B0604020202020204" pitchFamily="34" charset="0"/>
              </a:rPr>
              <a:t>10          8          7           0          0          M     </a:t>
            </a:r>
            <a:endParaRPr lang="en-US" altLang="zh-CN" sz="1800" b="1">
              <a:solidFill>
                <a:schemeClr val="accent2"/>
              </a:solidFill>
              <a:effectLst/>
            </a:endParaRPr>
          </a:p>
        </p:txBody>
      </p:sp>
      <p:sp>
        <p:nvSpPr>
          <p:cNvPr id="70" name="Rectangle 65"/>
          <p:cNvSpPr>
            <a:spLocks noChangeArrowheads="1"/>
          </p:cNvSpPr>
          <p:nvPr/>
        </p:nvSpPr>
        <p:spPr bwMode="auto">
          <a:xfrm>
            <a:off x="468313" y="754409"/>
            <a:ext cx="24987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solidFill>
                  <a:schemeClr val="accent2"/>
                </a:solidFill>
                <a:effectLst/>
                <a:cs typeface="Arial" panose="020B0604020202020204" pitchFamily="34" charset="0"/>
              </a:rPr>
              <a:t>C</a:t>
            </a:r>
            <a:endParaRPr lang="en-US" altLang="zh-CN" sz="1800" b="1">
              <a:solidFill>
                <a:schemeClr val="accent2"/>
              </a:solidFill>
              <a:effectLst/>
            </a:endParaRPr>
          </a:p>
        </p:txBody>
      </p:sp>
      <p:sp>
        <p:nvSpPr>
          <p:cNvPr id="71" name="Line 66"/>
          <p:cNvSpPr>
            <a:spLocks noChangeShapeType="1"/>
          </p:cNvSpPr>
          <p:nvPr/>
        </p:nvSpPr>
        <p:spPr bwMode="auto">
          <a:xfrm>
            <a:off x="468313" y="1119534"/>
            <a:ext cx="727233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2" name="Line 67"/>
          <p:cNvSpPr>
            <a:spLocks noChangeShapeType="1"/>
          </p:cNvSpPr>
          <p:nvPr/>
        </p:nvSpPr>
        <p:spPr bwMode="auto">
          <a:xfrm>
            <a:off x="2967038" y="754409"/>
            <a:ext cx="0" cy="512286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3" name="Line 68"/>
          <p:cNvSpPr>
            <a:spLocks noChangeShapeType="1"/>
          </p:cNvSpPr>
          <p:nvPr/>
        </p:nvSpPr>
        <p:spPr bwMode="auto">
          <a:xfrm>
            <a:off x="7885113" y="754409"/>
            <a:ext cx="0" cy="512286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4" name="Line 69"/>
          <p:cNvSpPr>
            <a:spLocks noChangeShapeType="1"/>
          </p:cNvSpPr>
          <p:nvPr/>
        </p:nvSpPr>
        <p:spPr bwMode="auto">
          <a:xfrm>
            <a:off x="1216025" y="1119534"/>
            <a:ext cx="0" cy="14605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5" name="Line 70"/>
          <p:cNvSpPr>
            <a:spLocks noChangeShapeType="1"/>
          </p:cNvSpPr>
          <p:nvPr/>
        </p:nvSpPr>
        <p:spPr bwMode="auto">
          <a:xfrm>
            <a:off x="2132013" y="1119534"/>
            <a:ext cx="0" cy="475773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6" name="Line 71"/>
          <p:cNvSpPr>
            <a:spLocks noChangeShapeType="1"/>
          </p:cNvSpPr>
          <p:nvPr/>
        </p:nvSpPr>
        <p:spPr bwMode="auto">
          <a:xfrm>
            <a:off x="468313" y="2580034"/>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7" name="Line 72"/>
          <p:cNvSpPr>
            <a:spLocks noChangeShapeType="1"/>
          </p:cNvSpPr>
          <p:nvPr/>
        </p:nvSpPr>
        <p:spPr bwMode="auto">
          <a:xfrm>
            <a:off x="468313" y="4040534"/>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8" name="Line 73"/>
          <p:cNvSpPr>
            <a:spLocks noChangeShapeType="1"/>
          </p:cNvSpPr>
          <p:nvPr/>
        </p:nvSpPr>
        <p:spPr bwMode="auto">
          <a:xfrm>
            <a:off x="1216025" y="2945159"/>
            <a:ext cx="0" cy="109537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9" name="Line 74"/>
          <p:cNvSpPr>
            <a:spLocks noChangeShapeType="1"/>
          </p:cNvSpPr>
          <p:nvPr/>
        </p:nvSpPr>
        <p:spPr bwMode="auto">
          <a:xfrm>
            <a:off x="468313" y="5512147"/>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0" name="Line 75"/>
          <p:cNvSpPr>
            <a:spLocks noChangeShapeType="1"/>
          </p:cNvSpPr>
          <p:nvPr/>
        </p:nvSpPr>
        <p:spPr bwMode="auto">
          <a:xfrm>
            <a:off x="1216025" y="4405659"/>
            <a:ext cx="0" cy="110648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1" name="Line 76"/>
          <p:cNvSpPr>
            <a:spLocks noChangeShapeType="1"/>
          </p:cNvSpPr>
          <p:nvPr/>
        </p:nvSpPr>
        <p:spPr bwMode="auto">
          <a:xfrm>
            <a:off x="468313" y="1849784"/>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2" name="Line 77"/>
          <p:cNvSpPr>
            <a:spLocks noChangeShapeType="1"/>
          </p:cNvSpPr>
          <p:nvPr/>
        </p:nvSpPr>
        <p:spPr bwMode="auto">
          <a:xfrm>
            <a:off x="468313" y="2214909"/>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3" name="Line 78"/>
          <p:cNvSpPr>
            <a:spLocks noChangeShapeType="1"/>
          </p:cNvSpPr>
          <p:nvPr/>
        </p:nvSpPr>
        <p:spPr bwMode="auto">
          <a:xfrm>
            <a:off x="468313" y="3310284"/>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4" name="Line 79"/>
          <p:cNvSpPr>
            <a:spLocks noChangeShapeType="1"/>
          </p:cNvSpPr>
          <p:nvPr/>
        </p:nvSpPr>
        <p:spPr bwMode="auto">
          <a:xfrm>
            <a:off x="468313" y="3675409"/>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5" name="Line 80"/>
          <p:cNvSpPr>
            <a:spLocks noChangeShapeType="1"/>
          </p:cNvSpPr>
          <p:nvPr/>
        </p:nvSpPr>
        <p:spPr bwMode="auto">
          <a:xfrm>
            <a:off x="468313" y="4770784"/>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6" name="Line 81"/>
          <p:cNvSpPr>
            <a:spLocks noChangeShapeType="1"/>
          </p:cNvSpPr>
          <p:nvPr/>
        </p:nvSpPr>
        <p:spPr bwMode="auto">
          <a:xfrm>
            <a:off x="468313" y="5147022"/>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7" name="Line 82"/>
          <p:cNvSpPr>
            <a:spLocks noChangeShapeType="1"/>
          </p:cNvSpPr>
          <p:nvPr/>
        </p:nvSpPr>
        <p:spPr bwMode="auto">
          <a:xfrm>
            <a:off x="468313" y="754409"/>
            <a:ext cx="82804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8" name="Line 83"/>
          <p:cNvSpPr>
            <a:spLocks noChangeShapeType="1"/>
          </p:cNvSpPr>
          <p:nvPr/>
        </p:nvSpPr>
        <p:spPr bwMode="auto">
          <a:xfrm>
            <a:off x="468313" y="754409"/>
            <a:ext cx="0" cy="5122863"/>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9" name="Line 84"/>
          <p:cNvSpPr>
            <a:spLocks noChangeShapeType="1"/>
          </p:cNvSpPr>
          <p:nvPr/>
        </p:nvSpPr>
        <p:spPr bwMode="auto">
          <a:xfrm>
            <a:off x="8748713" y="754409"/>
            <a:ext cx="0" cy="5122863"/>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0" name="Line 85"/>
          <p:cNvSpPr>
            <a:spLocks noChangeShapeType="1"/>
          </p:cNvSpPr>
          <p:nvPr/>
        </p:nvSpPr>
        <p:spPr bwMode="auto">
          <a:xfrm>
            <a:off x="468313" y="5877272"/>
            <a:ext cx="82804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1" name="Line 86"/>
          <p:cNvSpPr>
            <a:spLocks noChangeShapeType="1"/>
          </p:cNvSpPr>
          <p:nvPr/>
        </p:nvSpPr>
        <p:spPr bwMode="auto">
          <a:xfrm>
            <a:off x="468313" y="1484659"/>
            <a:ext cx="82804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2" name="Line 87"/>
          <p:cNvSpPr>
            <a:spLocks noChangeShapeType="1"/>
          </p:cNvSpPr>
          <p:nvPr/>
        </p:nvSpPr>
        <p:spPr bwMode="auto">
          <a:xfrm>
            <a:off x="468313" y="2945159"/>
            <a:ext cx="82804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3" name="Line 88"/>
          <p:cNvSpPr>
            <a:spLocks noChangeShapeType="1"/>
          </p:cNvSpPr>
          <p:nvPr/>
        </p:nvSpPr>
        <p:spPr bwMode="auto">
          <a:xfrm>
            <a:off x="468313" y="4405659"/>
            <a:ext cx="82804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4" name="Oval 89"/>
          <p:cNvSpPr>
            <a:spLocks noChangeArrowheads="1"/>
          </p:cNvSpPr>
          <p:nvPr/>
        </p:nvSpPr>
        <p:spPr bwMode="auto">
          <a:xfrm flipV="1">
            <a:off x="3419475" y="1546572"/>
            <a:ext cx="73025" cy="71437"/>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95" name="Oval 90"/>
          <p:cNvSpPr>
            <a:spLocks noChangeArrowheads="1"/>
          </p:cNvSpPr>
          <p:nvPr/>
        </p:nvSpPr>
        <p:spPr bwMode="auto">
          <a:xfrm flipV="1">
            <a:off x="4211638" y="3419822"/>
            <a:ext cx="73025" cy="71437"/>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graphicFrame>
        <p:nvGraphicFramePr>
          <p:cNvPr id="96" name="Object 93"/>
          <p:cNvGraphicFramePr>
            <a:graphicFrameLocks noChangeAspect="1"/>
          </p:cNvGraphicFramePr>
          <p:nvPr/>
        </p:nvGraphicFramePr>
        <p:xfrm>
          <a:off x="2051050" y="5805463"/>
          <a:ext cx="2127250" cy="546100"/>
        </p:xfrm>
        <a:graphic>
          <a:graphicData uri="http://schemas.openxmlformats.org/presentationml/2006/ole">
            <mc:AlternateContent xmlns:mc="http://schemas.openxmlformats.org/markup-compatibility/2006">
              <mc:Choice xmlns:v="urn:schemas-microsoft-com:vml" Requires="v">
                <p:oleObj spid="_x0000_s2049" name="公式" r:id="rId1" imgW="21336000" imgH="5486400" progId="Equation.3">
                  <p:embed/>
                </p:oleObj>
              </mc:Choice>
              <mc:Fallback>
                <p:oleObj name="公式" r:id="rId1" imgW="21336000" imgH="5486400" progId="Equation.3">
                  <p:embed/>
                  <p:pic>
                    <p:nvPicPr>
                      <p:cNvPr id="0" name="图片 2048"/>
                      <p:cNvPicPr>
                        <a:picLocks noChangeAspect="1"/>
                      </p:cNvPicPr>
                      <p:nvPr/>
                    </p:nvPicPr>
                    <p:blipFill>
                      <a:blip r:embed="rId2"/>
                      <a:stretch>
                        <a:fillRect/>
                      </a:stretch>
                    </p:blipFill>
                    <p:spPr>
                      <a:xfrm>
                        <a:off x="2051050" y="5805463"/>
                        <a:ext cx="2127250" cy="546100"/>
                      </a:xfrm>
                      <a:prstGeom prst="rect">
                        <a:avLst/>
                      </a:prstGeom>
                      <a:noFill/>
                      <a:ln w="9525">
                        <a:noFill/>
                      </a:ln>
                    </p:spPr>
                  </p:pic>
                </p:oleObj>
              </mc:Fallback>
            </mc:AlternateContent>
          </a:graphicData>
        </a:graphic>
      </p:graphicFrame>
      <p:graphicFrame>
        <p:nvGraphicFramePr>
          <p:cNvPr id="97" name="Object 94"/>
          <p:cNvGraphicFramePr>
            <a:graphicFrameLocks noChangeAspect="1"/>
          </p:cNvGraphicFramePr>
          <p:nvPr/>
        </p:nvGraphicFramePr>
        <p:xfrm>
          <a:off x="4643438" y="5805463"/>
          <a:ext cx="1368425" cy="522288"/>
        </p:xfrm>
        <a:graphic>
          <a:graphicData uri="http://schemas.openxmlformats.org/presentationml/2006/ole">
            <mc:AlternateContent xmlns:mc="http://schemas.openxmlformats.org/markup-compatibility/2006">
              <mc:Choice xmlns:v="urn:schemas-microsoft-com:vml" Requires="v">
                <p:oleObj spid="_x0000_s2050" name="公式" r:id="rId3" imgW="12801600" imgH="4876800" progId="Equation.3">
                  <p:embed/>
                </p:oleObj>
              </mc:Choice>
              <mc:Fallback>
                <p:oleObj name="公式" r:id="rId3" imgW="12801600" imgH="4876800" progId="Equation.3">
                  <p:embed/>
                  <p:pic>
                    <p:nvPicPr>
                      <p:cNvPr id="0" name="图片 2049"/>
                      <p:cNvPicPr>
                        <a:picLocks noChangeAspect="1"/>
                      </p:cNvPicPr>
                      <p:nvPr/>
                    </p:nvPicPr>
                    <p:blipFill>
                      <a:blip r:embed="rId4"/>
                      <a:stretch>
                        <a:fillRect/>
                      </a:stretch>
                    </p:blipFill>
                    <p:spPr>
                      <a:xfrm>
                        <a:off x="4643438" y="5805463"/>
                        <a:ext cx="1368425" cy="52228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blinds(horizontal)">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blinds(horizontal)">
                                      <p:cBhvr>
                                        <p:cTn id="12" dur="500"/>
                                        <p:tgtEl>
                                          <p:spTgt spid="35"/>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blinds(horizontal)">
                                      <p:cBhvr>
                                        <p:cTn id="15" dur="500"/>
                                        <p:tgtEl>
                                          <p:spTgt spid="34"/>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blinds(horizontal)">
                                      <p:cBhvr>
                                        <p:cTn id="18" dur="500"/>
                                        <p:tgtEl>
                                          <p:spTgt spid="2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blinds(horizontal)">
                                      <p:cBhvr>
                                        <p:cTn id="21" dur="500"/>
                                        <p:tgtEl>
                                          <p:spTgt spid="29"/>
                                        </p:tgtEl>
                                      </p:cBhvr>
                                    </p:animEffect>
                                  </p:childTnLst>
                                </p:cTn>
                              </p:par>
                              <p:par>
                                <p:cTn id="22" presetID="3" presetClass="entr" presetSubtype="10" fill="hold" grpId="0" nodeType="withEffect" nodePh="1">
                                  <p:stCondLst>
                                    <p:cond delay="0"/>
                                  </p:stCondLst>
                                  <p:endCondLst>
                                    <p:cond evt="begin" delay="0">
                                      <p:tn val="22"/>
                                    </p:cond>
                                  </p:endCondLst>
                                  <p:childTnLst>
                                    <p:set>
                                      <p:cBhvr>
                                        <p:cTn id="23" dur="1" fill="hold">
                                          <p:stCondLst>
                                            <p:cond delay="0"/>
                                          </p:stCondLst>
                                        </p:cTn>
                                        <p:tgtEl>
                                          <p:spTgt spid="62"/>
                                        </p:tgtEl>
                                        <p:attrNameLst>
                                          <p:attrName>style.visibility</p:attrName>
                                        </p:attrNameLst>
                                      </p:cBhvr>
                                      <p:to>
                                        <p:strVal val="visible"/>
                                      </p:to>
                                    </p:set>
                                    <p:animEffect transition="in" filter="blinds(horizontal)">
                                      <p:cBhvr>
                                        <p:cTn id="24" dur="500"/>
                                        <p:tgtEl>
                                          <p:spTgt spid="62"/>
                                        </p:tgtEl>
                                      </p:cBhvr>
                                    </p:animEffect>
                                  </p:childTnLst>
                                </p:cTn>
                              </p:par>
                              <p:par>
                                <p:cTn id="25" presetID="3" presetClass="entr" presetSubtype="10" fill="hold" grpId="0" nodeType="withEffect" nodePh="1">
                                  <p:stCondLst>
                                    <p:cond delay="0"/>
                                  </p:stCondLst>
                                  <p:endCondLst>
                                    <p:cond evt="begin" delay="0">
                                      <p:tn val="25"/>
                                    </p:cond>
                                  </p:endCondLst>
                                  <p:childTnLst>
                                    <p:set>
                                      <p:cBhvr>
                                        <p:cTn id="26" dur="1" fill="hold">
                                          <p:stCondLst>
                                            <p:cond delay="0"/>
                                          </p:stCondLst>
                                        </p:cTn>
                                        <p:tgtEl>
                                          <p:spTgt spid="61"/>
                                        </p:tgtEl>
                                        <p:attrNameLst>
                                          <p:attrName>style.visibility</p:attrName>
                                        </p:attrNameLst>
                                      </p:cBhvr>
                                      <p:to>
                                        <p:strVal val="visible"/>
                                      </p:to>
                                    </p:set>
                                    <p:animEffect transition="in" filter="blinds(horizontal)">
                                      <p:cBhvr>
                                        <p:cTn id="27" dur="500"/>
                                        <p:tgtEl>
                                          <p:spTgt spid="6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blinds(horizontal)">
                                      <p:cBhvr>
                                        <p:cTn id="32" dur="500"/>
                                        <p:tgtEl>
                                          <p:spTgt spid="36"/>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blinds(horizontal)">
                                      <p:cBhvr>
                                        <p:cTn id="35" dur="500"/>
                                        <p:tgtEl>
                                          <p:spTgt spid="30"/>
                                        </p:tgtEl>
                                      </p:cBhvr>
                                    </p:animEffect>
                                  </p:childTnLst>
                                </p:cTn>
                              </p:par>
                              <p:par>
                                <p:cTn id="36" presetID="3" presetClass="entr" presetSubtype="10" fill="hold" grpId="0" nodeType="withEffect" nodePh="1">
                                  <p:stCondLst>
                                    <p:cond delay="0"/>
                                  </p:stCondLst>
                                  <p:endCondLst>
                                    <p:cond evt="begin" delay="0">
                                      <p:tn val="36"/>
                                    </p:cond>
                                  </p:endCondLst>
                                  <p:childTnLst>
                                    <p:set>
                                      <p:cBhvr>
                                        <p:cTn id="37" dur="1" fill="hold">
                                          <p:stCondLst>
                                            <p:cond delay="0"/>
                                          </p:stCondLst>
                                        </p:cTn>
                                        <p:tgtEl>
                                          <p:spTgt spid="63"/>
                                        </p:tgtEl>
                                        <p:attrNameLst>
                                          <p:attrName>style.visibility</p:attrName>
                                        </p:attrNameLst>
                                      </p:cBhvr>
                                      <p:to>
                                        <p:strVal val="visible"/>
                                      </p:to>
                                    </p:set>
                                    <p:animEffect transition="in" filter="blinds(horizontal)">
                                      <p:cBhvr>
                                        <p:cTn id="38" dur="500"/>
                                        <p:tgtEl>
                                          <p:spTgt spid="63"/>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blinds(horizontal)">
                                      <p:cBhvr>
                                        <p:cTn id="43" dur="500"/>
                                        <p:tgtEl>
                                          <p:spTgt spid="37"/>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blinds(horizontal)">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58"/>
                                        </p:tgtEl>
                                        <p:attrNameLst>
                                          <p:attrName>style.visibility</p:attrName>
                                        </p:attrNameLst>
                                      </p:cBhvr>
                                      <p:to>
                                        <p:strVal val="visible"/>
                                      </p:to>
                                    </p:set>
                                    <p:animEffect transition="in" filter="blinds(horizontal)">
                                      <p:cBhvr>
                                        <p:cTn id="51" dur="500"/>
                                        <p:tgtEl>
                                          <p:spTgt spid="58"/>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57"/>
                                        </p:tgtEl>
                                        <p:attrNameLst>
                                          <p:attrName>style.visibility</p:attrName>
                                        </p:attrNameLst>
                                      </p:cBhvr>
                                      <p:to>
                                        <p:strVal val="visible"/>
                                      </p:to>
                                    </p:set>
                                    <p:animEffect transition="in" filter="blinds(horizontal)">
                                      <p:cBhvr>
                                        <p:cTn id="56" dur="500"/>
                                        <p:tgtEl>
                                          <p:spTgt spid="57"/>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blinds(horizontal)">
                                      <p:cBhvr>
                                        <p:cTn id="61" dur="500"/>
                                        <p:tgtEl>
                                          <p:spTgt spid="33"/>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blinds(horizontal)">
                                      <p:cBhvr>
                                        <p:cTn id="64" dur="500"/>
                                        <p:tgtEl>
                                          <p:spTgt spid="27"/>
                                        </p:tgtEl>
                                      </p:cBhvr>
                                    </p:animEffect>
                                  </p:childTnLst>
                                </p:cTn>
                              </p:par>
                              <p:par>
                                <p:cTn id="65" presetID="3" presetClass="entr" presetSubtype="10" fill="hold" grpId="0" nodeType="withEffect" nodePh="1">
                                  <p:stCondLst>
                                    <p:cond delay="0"/>
                                  </p:stCondLst>
                                  <p:endCondLst>
                                    <p:cond evt="begin" delay="0">
                                      <p:tn val="65"/>
                                    </p:cond>
                                  </p:endCondLst>
                                  <p:childTnLst>
                                    <p:set>
                                      <p:cBhvr>
                                        <p:cTn id="66" dur="1" fill="hold">
                                          <p:stCondLst>
                                            <p:cond delay="0"/>
                                          </p:stCondLst>
                                        </p:cTn>
                                        <p:tgtEl>
                                          <p:spTgt spid="60"/>
                                        </p:tgtEl>
                                        <p:attrNameLst>
                                          <p:attrName>style.visibility</p:attrName>
                                        </p:attrNameLst>
                                      </p:cBhvr>
                                      <p:to>
                                        <p:strVal val="visible"/>
                                      </p:to>
                                    </p:set>
                                    <p:animEffect transition="in" filter="blinds(horizontal)">
                                      <p:cBhvr>
                                        <p:cTn id="67" dur="500"/>
                                        <p:tgtEl>
                                          <p:spTgt spid="60"/>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nodeType="clickEffect">
                                  <p:stCondLst>
                                    <p:cond delay="0"/>
                                  </p:stCondLst>
                                  <p:childTnLst>
                                    <p:set>
                                      <p:cBhvr>
                                        <p:cTn id="71" dur="1" fill="hold">
                                          <p:stCondLst>
                                            <p:cond delay="0"/>
                                          </p:stCondLst>
                                        </p:cTn>
                                        <p:tgtEl>
                                          <p:spTgt spid="94"/>
                                        </p:tgtEl>
                                        <p:attrNameLst>
                                          <p:attrName>style.visibility</p:attrName>
                                        </p:attrNameLst>
                                      </p:cBhvr>
                                      <p:to>
                                        <p:strVal val="visible"/>
                                      </p:to>
                                    </p:set>
                                    <p:animEffect transition="in" filter="blinds(horizontal)">
                                      <p:cBhvr>
                                        <p:cTn id="72" dur="500"/>
                                        <p:tgtEl>
                                          <p:spTgt spid="94"/>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blinds(horizontal)">
                                      <p:cBhvr>
                                        <p:cTn id="77" dur="500"/>
                                        <p:tgtEl>
                                          <p:spTgt spid="25"/>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20"/>
                                        </p:tgtEl>
                                        <p:attrNameLst>
                                          <p:attrName>style.visibility</p:attrName>
                                        </p:attrNameLst>
                                      </p:cBhvr>
                                      <p:to>
                                        <p:strVal val="visible"/>
                                      </p:to>
                                    </p:set>
                                    <p:animEffect transition="in" filter="blinds(horizontal)">
                                      <p:cBhvr>
                                        <p:cTn id="80" dur="500"/>
                                        <p:tgtEl>
                                          <p:spTgt spid="20"/>
                                        </p:tgtEl>
                                      </p:cBhvr>
                                    </p:animEffect>
                                  </p:childTnLst>
                                </p:cTn>
                              </p:par>
                              <p:par>
                                <p:cTn id="81" presetID="3" presetClass="entr" presetSubtype="10" fill="hold" grpId="0" nodeType="withEffect" nodePh="1">
                                  <p:stCondLst>
                                    <p:cond delay="0"/>
                                  </p:stCondLst>
                                  <p:endCondLst>
                                    <p:cond evt="begin" delay="0">
                                      <p:tn val="81"/>
                                    </p:cond>
                                  </p:endCondLst>
                                  <p:childTnLst>
                                    <p:set>
                                      <p:cBhvr>
                                        <p:cTn id="82" dur="1" fill="hold">
                                          <p:stCondLst>
                                            <p:cond delay="0"/>
                                          </p:stCondLst>
                                        </p:cTn>
                                        <p:tgtEl>
                                          <p:spTgt spid="54"/>
                                        </p:tgtEl>
                                        <p:attrNameLst>
                                          <p:attrName>style.visibility</p:attrName>
                                        </p:attrNameLst>
                                      </p:cBhvr>
                                      <p:to>
                                        <p:strVal val="visible"/>
                                      </p:to>
                                    </p:set>
                                    <p:animEffect transition="in" filter="blinds(horizontal)">
                                      <p:cBhvr>
                                        <p:cTn id="83" dur="500"/>
                                        <p:tgtEl>
                                          <p:spTgt spid="54"/>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blinds(horizontal)">
                                      <p:cBhvr>
                                        <p:cTn id="88" dur="500"/>
                                        <p:tgtEl>
                                          <p:spTgt spid="26"/>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blinds(horizontal)">
                                      <p:cBhvr>
                                        <p:cTn id="91" dur="500"/>
                                        <p:tgtEl>
                                          <p:spTgt spid="21"/>
                                        </p:tgtEl>
                                      </p:cBhvr>
                                    </p:animEffect>
                                  </p:childTnLst>
                                </p:cTn>
                              </p:par>
                              <p:par>
                                <p:cTn id="92" presetID="3" presetClass="entr" presetSubtype="10" fill="hold" grpId="0" nodeType="withEffect" nodePh="1">
                                  <p:stCondLst>
                                    <p:cond delay="0"/>
                                  </p:stCondLst>
                                  <p:endCondLst>
                                    <p:cond evt="begin" delay="0">
                                      <p:tn val="92"/>
                                    </p:cond>
                                  </p:endCondLst>
                                  <p:childTnLst>
                                    <p:set>
                                      <p:cBhvr>
                                        <p:cTn id="93" dur="1" fill="hold">
                                          <p:stCondLst>
                                            <p:cond delay="0"/>
                                          </p:stCondLst>
                                        </p:cTn>
                                        <p:tgtEl>
                                          <p:spTgt spid="55"/>
                                        </p:tgtEl>
                                        <p:attrNameLst>
                                          <p:attrName>style.visibility</p:attrName>
                                        </p:attrNameLst>
                                      </p:cBhvr>
                                      <p:to>
                                        <p:strVal val="visible"/>
                                      </p:to>
                                    </p:set>
                                    <p:animEffect transition="in" filter="blinds(horizontal)">
                                      <p:cBhvr>
                                        <p:cTn id="94" dur="500"/>
                                        <p:tgtEl>
                                          <p:spTgt spid="55"/>
                                        </p:tgtEl>
                                      </p:cBhvr>
                                    </p:animEffect>
                                  </p:childTnLst>
                                </p:cTn>
                              </p:par>
                            </p:childTnLst>
                          </p:cTn>
                        </p:par>
                      </p:childTnLst>
                    </p:cTn>
                  </p:par>
                  <p:par>
                    <p:cTn id="95" fill="hold">
                      <p:stCondLst>
                        <p:cond delay="indefinite"/>
                      </p:stCondLst>
                      <p:childTnLst>
                        <p:par>
                          <p:cTn id="96" fill="hold">
                            <p:stCondLst>
                              <p:cond delay="0"/>
                            </p:stCondLst>
                            <p:childTnLst>
                              <p:par>
                                <p:cTn id="97" presetID="3" presetClass="entr" presetSubtype="10" fill="hold" grpId="0" nodeType="clickEffect">
                                  <p:stCondLst>
                                    <p:cond delay="0"/>
                                  </p:stCondLst>
                                  <p:childTnLst>
                                    <p:set>
                                      <p:cBhvr>
                                        <p:cTn id="98" dur="1" fill="hold">
                                          <p:stCondLst>
                                            <p:cond delay="0"/>
                                          </p:stCondLst>
                                        </p:cTn>
                                        <p:tgtEl>
                                          <p:spTgt spid="19"/>
                                        </p:tgtEl>
                                        <p:attrNameLst>
                                          <p:attrName>style.visibility</p:attrName>
                                        </p:attrNameLst>
                                      </p:cBhvr>
                                      <p:to>
                                        <p:strVal val="visible"/>
                                      </p:to>
                                    </p:set>
                                    <p:animEffect transition="in" filter="blinds(horizontal)">
                                      <p:cBhvr>
                                        <p:cTn id="99" dur="500"/>
                                        <p:tgtEl>
                                          <p:spTgt spid="19"/>
                                        </p:tgtEl>
                                      </p:cBhvr>
                                    </p:animEffect>
                                  </p:childTnLst>
                                </p:cTn>
                              </p:par>
                              <p:par>
                                <p:cTn id="100" presetID="3" presetClass="entr" presetSubtype="10" fill="hold" grpId="0" nodeType="with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blinds(horizontal)">
                                      <p:cBhvr>
                                        <p:cTn id="102" dur="500"/>
                                        <p:tgtEl>
                                          <p:spTgt spid="18"/>
                                        </p:tgtEl>
                                      </p:cBhvr>
                                    </p:animEffect>
                                  </p:childTnLst>
                                </p:cTn>
                              </p:par>
                            </p:childTnLst>
                          </p:cTn>
                        </p:par>
                      </p:childTnLst>
                    </p:cTn>
                  </p:par>
                  <p:par>
                    <p:cTn id="103" fill="hold">
                      <p:stCondLst>
                        <p:cond delay="indefinite"/>
                      </p:stCondLst>
                      <p:childTnLst>
                        <p:par>
                          <p:cTn id="104" fill="hold">
                            <p:stCondLst>
                              <p:cond delay="0"/>
                            </p:stCondLst>
                            <p:childTnLst>
                              <p:par>
                                <p:cTn id="105" presetID="3" presetClass="entr" presetSubtype="10" fill="hold" grpId="0" nodeType="click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blinds(horizontal)">
                                      <p:cBhvr>
                                        <p:cTn id="107" dur="500"/>
                                        <p:tgtEl>
                                          <p:spTgt spid="24"/>
                                        </p:tgtEl>
                                      </p:cBhvr>
                                    </p:animEffect>
                                  </p:childTnLst>
                                </p:cTn>
                              </p:par>
                              <p:par>
                                <p:cTn id="108" presetID="3" presetClass="entr" presetSubtype="10" fill="hold" grpId="0" nodeType="withEffect">
                                  <p:stCondLst>
                                    <p:cond delay="0"/>
                                  </p:stCondLst>
                                  <p:childTnLst>
                                    <p:set>
                                      <p:cBhvr>
                                        <p:cTn id="109" dur="1" fill="hold">
                                          <p:stCondLst>
                                            <p:cond delay="0"/>
                                          </p:stCondLst>
                                        </p:cTn>
                                        <p:tgtEl>
                                          <p:spTgt spid="23"/>
                                        </p:tgtEl>
                                        <p:attrNameLst>
                                          <p:attrName>style.visibility</p:attrName>
                                        </p:attrNameLst>
                                      </p:cBhvr>
                                      <p:to>
                                        <p:strVal val="visible"/>
                                      </p:to>
                                    </p:set>
                                    <p:animEffect transition="in" filter="blinds(horizontal)">
                                      <p:cBhvr>
                                        <p:cTn id="110" dur="500"/>
                                        <p:tgtEl>
                                          <p:spTgt spid="23"/>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nodePh="1">
                                  <p:stCondLst>
                                    <p:cond delay="0"/>
                                  </p:stCondLst>
                                  <p:endCondLst>
                                    <p:cond evt="begin" delay="0">
                                      <p:tn val="113"/>
                                    </p:cond>
                                  </p:endCondLst>
                                  <p:childTnLst>
                                    <p:set>
                                      <p:cBhvr>
                                        <p:cTn id="114" dur="1" fill="hold">
                                          <p:stCondLst>
                                            <p:cond delay="0"/>
                                          </p:stCondLst>
                                        </p:cTn>
                                        <p:tgtEl>
                                          <p:spTgt spid="53"/>
                                        </p:tgtEl>
                                        <p:attrNameLst>
                                          <p:attrName>style.visibility</p:attrName>
                                        </p:attrNameLst>
                                      </p:cBhvr>
                                      <p:to>
                                        <p:strVal val="visible"/>
                                      </p:to>
                                    </p:set>
                                    <p:animEffect transition="in" filter="blinds(horizontal)">
                                      <p:cBhvr>
                                        <p:cTn id="115" dur="500"/>
                                        <p:tgtEl>
                                          <p:spTgt spid="53"/>
                                        </p:tgtEl>
                                      </p:cBhvr>
                                    </p:animEffect>
                                  </p:childTnLst>
                                </p:cTn>
                              </p:par>
                              <p:par>
                                <p:cTn id="116" presetID="3" presetClass="entr" presetSubtype="10" fill="hold" grpId="0" nodeType="withEffect">
                                  <p:stCondLst>
                                    <p:cond delay="0"/>
                                  </p:stCondLst>
                                  <p:childTnLst>
                                    <p:set>
                                      <p:cBhvr>
                                        <p:cTn id="117" dur="1" fill="hold">
                                          <p:stCondLst>
                                            <p:cond delay="0"/>
                                          </p:stCondLst>
                                        </p:cTn>
                                        <p:tgtEl>
                                          <p:spTgt spid="52"/>
                                        </p:tgtEl>
                                        <p:attrNameLst>
                                          <p:attrName>style.visibility</p:attrName>
                                        </p:attrNameLst>
                                      </p:cBhvr>
                                      <p:to>
                                        <p:strVal val="visible"/>
                                      </p:to>
                                    </p:set>
                                    <p:animEffect transition="in" filter="blinds(horizontal)">
                                      <p:cBhvr>
                                        <p:cTn id="118" dur="500"/>
                                        <p:tgtEl>
                                          <p:spTgt spid="52"/>
                                        </p:tgtEl>
                                      </p:cBhvr>
                                    </p:animEffect>
                                  </p:childTnLst>
                                </p:cTn>
                              </p:par>
                            </p:childTnLst>
                          </p:cTn>
                        </p:par>
                      </p:childTnLst>
                    </p:cTn>
                  </p:par>
                  <p:par>
                    <p:cTn id="119" fill="hold">
                      <p:stCondLst>
                        <p:cond delay="indefinite"/>
                      </p:stCondLst>
                      <p:childTnLst>
                        <p:par>
                          <p:cTn id="120" fill="hold">
                            <p:stCondLst>
                              <p:cond delay="0"/>
                            </p:stCondLst>
                            <p:childTnLst>
                              <p:par>
                                <p:cTn id="121" presetID="3" presetClass="entr" presetSubtype="10" fill="hold" grpId="0" nodeType="clickEffect">
                                  <p:stCondLst>
                                    <p:cond delay="0"/>
                                  </p:stCondLst>
                                  <p:childTnLst>
                                    <p:set>
                                      <p:cBhvr>
                                        <p:cTn id="122" dur="1" fill="hold">
                                          <p:stCondLst>
                                            <p:cond delay="0"/>
                                          </p:stCondLst>
                                        </p:cTn>
                                        <p:tgtEl>
                                          <p:spTgt spid="49"/>
                                        </p:tgtEl>
                                        <p:attrNameLst>
                                          <p:attrName>style.visibility</p:attrName>
                                        </p:attrNameLst>
                                      </p:cBhvr>
                                      <p:to>
                                        <p:strVal val="visible"/>
                                      </p:to>
                                    </p:set>
                                    <p:animEffect transition="in" filter="blinds(horizontal)">
                                      <p:cBhvr>
                                        <p:cTn id="123" dur="500"/>
                                        <p:tgtEl>
                                          <p:spTgt spid="49"/>
                                        </p:tgtEl>
                                      </p:cBhvr>
                                    </p:animEffect>
                                  </p:childTnLst>
                                </p:cTn>
                              </p:par>
                            </p:childTnLst>
                          </p:cTn>
                        </p:par>
                      </p:childTnLst>
                    </p:cTn>
                  </p:par>
                  <p:par>
                    <p:cTn id="124" fill="hold">
                      <p:stCondLst>
                        <p:cond delay="indefinite"/>
                      </p:stCondLst>
                      <p:childTnLst>
                        <p:par>
                          <p:cTn id="125" fill="hold">
                            <p:stCondLst>
                              <p:cond delay="0"/>
                            </p:stCondLst>
                            <p:childTnLst>
                              <p:par>
                                <p:cTn id="126" presetID="3" presetClass="entr" presetSubtype="10" fill="hold" grpId="0" nodeType="clickEffect">
                                  <p:stCondLst>
                                    <p:cond delay="0"/>
                                  </p:stCondLst>
                                  <p:childTnLst>
                                    <p:set>
                                      <p:cBhvr>
                                        <p:cTn id="127" dur="1" fill="hold">
                                          <p:stCondLst>
                                            <p:cond delay="0"/>
                                          </p:stCondLst>
                                        </p:cTn>
                                        <p:tgtEl>
                                          <p:spTgt spid="48"/>
                                        </p:tgtEl>
                                        <p:attrNameLst>
                                          <p:attrName>style.visibility</p:attrName>
                                        </p:attrNameLst>
                                      </p:cBhvr>
                                      <p:to>
                                        <p:strVal val="visible"/>
                                      </p:to>
                                    </p:set>
                                    <p:animEffect transition="in" filter="blinds(horizontal)">
                                      <p:cBhvr>
                                        <p:cTn id="128" dur="500"/>
                                        <p:tgtEl>
                                          <p:spTgt spid="48"/>
                                        </p:tgtEl>
                                      </p:cBhvr>
                                    </p:animEffect>
                                  </p:childTnLst>
                                </p:cTn>
                              </p:par>
                            </p:childTnLst>
                          </p:cTn>
                        </p:par>
                      </p:childTnLst>
                    </p:cTn>
                  </p:par>
                  <p:par>
                    <p:cTn id="129" fill="hold">
                      <p:stCondLst>
                        <p:cond delay="indefinite"/>
                      </p:stCondLst>
                      <p:childTnLst>
                        <p:par>
                          <p:cTn id="130" fill="hold">
                            <p:stCondLst>
                              <p:cond delay="0"/>
                            </p:stCondLst>
                            <p:childTnLst>
                              <p:par>
                                <p:cTn id="131" presetID="3" presetClass="entr" presetSubtype="10" fill="hold" grpId="0" nodeType="clickEffect">
                                  <p:stCondLst>
                                    <p:cond delay="0"/>
                                  </p:stCondLst>
                                  <p:childTnLst>
                                    <p:set>
                                      <p:cBhvr>
                                        <p:cTn id="132" dur="1" fill="hold">
                                          <p:stCondLst>
                                            <p:cond delay="0"/>
                                          </p:stCondLst>
                                        </p:cTn>
                                        <p:tgtEl>
                                          <p:spTgt spid="22"/>
                                        </p:tgtEl>
                                        <p:attrNameLst>
                                          <p:attrName>style.visibility</p:attrName>
                                        </p:attrNameLst>
                                      </p:cBhvr>
                                      <p:to>
                                        <p:strVal val="visible"/>
                                      </p:to>
                                    </p:set>
                                    <p:animEffect transition="in" filter="blinds(horizontal)">
                                      <p:cBhvr>
                                        <p:cTn id="133" dur="500"/>
                                        <p:tgtEl>
                                          <p:spTgt spid="22"/>
                                        </p:tgtEl>
                                      </p:cBhvr>
                                    </p:animEffect>
                                  </p:childTnLst>
                                </p:cTn>
                              </p:par>
                              <p:par>
                                <p:cTn id="134" presetID="3" presetClass="entr" presetSubtype="10" fill="hold" grpId="0" nodeType="withEffect">
                                  <p:stCondLst>
                                    <p:cond delay="0"/>
                                  </p:stCondLst>
                                  <p:childTnLst>
                                    <p:set>
                                      <p:cBhvr>
                                        <p:cTn id="135" dur="1" fill="hold">
                                          <p:stCondLst>
                                            <p:cond delay="0"/>
                                          </p:stCondLst>
                                        </p:cTn>
                                        <p:tgtEl>
                                          <p:spTgt spid="51"/>
                                        </p:tgtEl>
                                        <p:attrNameLst>
                                          <p:attrName>style.visibility</p:attrName>
                                        </p:attrNameLst>
                                      </p:cBhvr>
                                      <p:to>
                                        <p:strVal val="visible"/>
                                      </p:to>
                                    </p:set>
                                    <p:animEffect transition="in" filter="blinds(horizontal)">
                                      <p:cBhvr>
                                        <p:cTn id="136" dur="500"/>
                                        <p:tgtEl>
                                          <p:spTgt spid="51"/>
                                        </p:tgtEl>
                                      </p:cBhvr>
                                    </p:animEffect>
                                  </p:childTnLst>
                                </p:cTn>
                              </p:par>
                            </p:childTnLst>
                          </p:cTn>
                        </p:par>
                      </p:childTnLst>
                    </p:cTn>
                  </p:par>
                  <p:par>
                    <p:cTn id="137" fill="hold">
                      <p:stCondLst>
                        <p:cond delay="indefinite"/>
                      </p:stCondLst>
                      <p:childTnLst>
                        <p:par>
                          <p:cTn id="138" fill="hold">
                            <p:stCondLst>
                              <p:cond delay="0"/>
                            </p:stCondLst>
                            <p:childTnLst>
                              <p:par>
                                <p:cTn id="139" presetID="3" presetClass="entr" presetSubtype="10" fill="hold" nodeType="clickEffect">
                                  <p:stCondLst>
                                    <p:cond delay="0"/>
                                  </p:stCondLst>
                                  <p:childTnLst>
                                    <p:set>
                                      <p:cBhvr>
                                        <p:cTn id="140" dur="1" fill="hold">
                                          <p:stCondLst>
                                            <p:cond delay="0"/>
                                          </p:stCondLst>
                                        </p:cTn>
                                        <p:tgtEl>
                                          <p:spTgt spid="95"/>
                                        </p:tgtEl>
                                        <p:attrNameLst>
                                          <p:attrName>style.visibility</p:attrName>
                                        </p:attrNameLst>
                                      </p:cBhvr>
                                      <p:to>
                                        <p:strVal val="visible"/>
                                      </p:to>
                                    </p:set>
                                    <p:animEffect transition="in" filter="blinds(horizontal)">
                                      <p:cBhvr>
                                        <p:cTn id="141" dur="500"/>
                                        <p:tgtEl>
                                          <p:spTgt spid="95"/>
                                        </p:tgtEl>
                                      </p:cBhvr>
                                    </p:animEffect>
                                  </p:childTnLst>
                                </p:cTn>
                              </p:par>
                            </p:childTnLst>
                          </p:cTn>
                        </p:par>
                      </p:childTnLst>
                    </p:cTn>
                  </p:par>
                  <p:par>
                    <p:cTn id="142" fill="hold">
                      <p:stCondLst>
                        <p:cond delay="indefinite"/>
                      </p:stCondLst>
                      <p:childTnLst>
                        <p:par>
                          <p:cTn id="143" fill="hold">
                            <p:stCondLst>
                              <p:cond delay="0"/>
                            </p:stCondLst>
                            <p:childTnLst>
                              <p:par>
                                <p:cTn id="144" presetID="3" presetClass="entr" presetSubtype="10" fill="hold" grpId="0" nodeType="clickEffect">
                                  <p:stCondLst>
                                    <p:cond delay="0"/>
                                  </p:stCondLst>
                                  <p:childTnLst>
                                    <p:set>
                                      <p:cBhvr>
                                        <p:cTn id="145" dur="1" fill="hold">
                                          <p:stCondLst>
                                            <p:cond delay="0"/>
                                          </p:stCondLst>
                                        </p:cTn>
                                        <p:tgtEl>
                                          <p:spTgt spid="16"/>
                                        </p:tgtEl>
                                        <p:attrNameLst>
                                          <p:attrName>style.visibility</p:attrName>
                                        </p:attrNameLst>
                                      </p:cBhvr>
                                      <p:to>
                                        <p:strVal val="visible"/>
                                      </p:to>
                                    </p:set>
                                    <p:animEffect transition="in" filter="blinds(horizontal)">
                                      <p:cBhvr>
                                        <p:cTn id="146" dur="500"/>
                                        <p:tgtEl>
                                          <p:spTgt spid="16"/>
                                        </p:tgtEl>
                                      </p:cBhvr>
                                    </p:animEffect>
                                  </p:childTnLst>
                                </p:cTn>
                              </p:par>
                              <p:par>
                                <p:cTn id="147" presetID="3" presetClass="entr" presetSubtype="10" fill="hold" grpId="0" nodeType="withEffect">
                                  <p:stCondLst>
                                    <p:cond delay="0"/>
                                  </p:stCondLst>
                                  <p:childTnLst>
                                    <p:set>
                                      <p:cBhvr>
                                        <p:cTn id="148" dur="1" fill="hold">
                                          <p:stCondLst>
                                            <p:cond delay="0"/>
                                          </p:stCondLst>
                                        </p:cTn>
                                        <p:tgtEl>
                                          <p:spTgt spid="10"/>
                                        </p:tgtEl>
                                        <p:attrNameLst>
                                          <p:attrName>style.visibility</p:attrName>
                                        </p:attrNameLst>
                                      </p:cBhvr>
                                      <p:to>
                                        <p:strVal val="visible"/>
                                      </p:to>
                                    </p:set>
                                    <p:animEffect transition="in" filter="blinds(horizontal)">
                                      <p:cBhvr>
                                        <p:cTn id="149" dur="500"/>
                                        <p:tgtEl>
                                          <p:spTgt spid="10"/>
                                        </p:tgtEl>
                                      </p:cBhvr>
                                    </p:animEffect>
                                  </p:childTnLst>
                                </p:cTn>
                              </p:par>
                              <p:par>
                                <p:cTn id="150" presetID="3" presetClass="entr" presetSubtype="10" fill="hold" grpId="0" nodeType="withEffect" nodePh="1">
                                  <p:stCondLst>
                                    <p:cond delay="0"/>
                                  </p:stCondLst>
                                  <p:endCondLst>
                                    <p:cond evt="begin" delay="0">
                                      <p:tn val="150"/>
                                    </p:cond>
                                  </p:endCondLst>
                                  <p:childTnLst>
                                    <p:set>
                                      <p:cBhvr>
                                        <p:cTn id="151" dur="1" fill="hold">
                                          <p:stCondLst>
                                            <p:cond delay="0"/>
                                          </p:stCondLst>
                                        </p:cTn>
                                        <p:tgtEl>
                                          <p:spTgt spid="45"/>
                                        </p:tgtEl>
                                        <p:attrNameLst>
                                          <p:attrName>style.visibility</p:attrName>
                                        </p:attrNameLst>
                                      </p:cBhvr>
                                      <p:to>
                                        <p:strVal val="visible"/>
                                      </p:to>
                                    </p:set>
                                    <p:animEffect transition="in" filter="blinds(horizontal)">
                                      <p:cBhvr>
                                        <p:cTn id="152" dur="500"/>
                                        <p:tgtEl>
                                          <p:spTgt spid="45"/>
                                        </p:tgtEl>
                                      </p:cBhvr>
                                    </p:animEffect>
                                  </p:childTnLst>
                                </p:cTn>
                              </p:par>
                            </p:childTnLst>
                          </p:cTn>
                        </p:par>
                      </p:childTnLst>
                    </p:cTn>
                  </p:par>
                  <p:par>
                    <p:cTn id="153" fill="hold">
                      <p:stCondLst>
                        <p:cond delay="indefinite"/>
                      </p:stCondLst>
                      <p:childTnLst>
                        <p:par>
                          <p:cTn id="154" fill="hold">
                            <p:stCondLst>
                              <p:cond delay="0"/>
                            </p:stCondLst>
                            <p:childTnLst>
                              <p:par>
                                <p:cTn id="155" presetID="3" presetClass="entr" presetSubtype="10" fill="hold" grpId="0" nodeType="clickEffect">
                                  <p:stCondLst>
                                    <p:cond delay="0"/>
                                  </p:stCondLst>
                                  <p:childTnLst>
                                    <p:set>
                                      <p:cBhvr>
                                        <p:cTn id="156" dur="1" fill="hold">
                                          <p:stCondLst>
                                            <p:cond delay="0"/>
                                          </p:stCondLst>
                                        </p:cTn>
                                        <p:tgtEl>
                                          <p:spTgt spid="17"/>
                                        </p:tgtEl>
                                        <p:attrNameLst>
                                          <p:attrName>style.visibility</p:attrName>
                                        </p:attrNameLst>
                                      </p:cBhvr>
                                      <p:to>
                                        <p:strVal val="visible"/>
                                      </p:to>
                                    </p:set>
                                    <p:animEffect transition="in" filter="blinds(horizontal)">
                                      <p:cBhvr>
                                        <p:cTn id="157" dur="500"/>
                                        <p:tgtEl>
                                          <p:spTgt spid="17"/>
                                        </p:tgtEl>
                                      </p:cBhvr>
                                    </p:animEffect>
                                  </p:childTnLst>
                                </p:cTn>
                              </p:par>
                              <p:par>
                                <p:cTn id="158" presetID="3" presetClass="entr" presetSubtype="10" fill="hold" grpId="0" nodeType="withEffect">
                                  <p:stCondLst>
                                    <p:cond delay="0"/>
                                  </p:stCondLst>
                                  <p:childTnLst>
                                    <p:set>
                                      <p:cBhvr>
                                        <p:cTn id="159" dur="1" fill="hold">
                                          <p:stCondLst>
                                            <p:cond delay="0"/>
                                          </p:stCondLst>
                                        </p:cTn>
                                        <p:tgtEl>
                                          <p:spTgt spid="11"/>
                                        </p:tgtEl>
                                        <p:attrNameLst>
                                          <p:attrName>style.visibility</p:attrName>
                                        </p:attrNameLst>
                                      </p:cBhvr>
                                      <p:to>
                                        <p:strVal val="visible"/>
                                      </p:to>
                                    </p:set>
                                    <p:animEffect transition="in" filter="blinds(horizontal)">
                                      <p:cBhvr>
                                        <p:cTn id="160" dur="500"/>
                                        <p:tgtEl>
                                          <p:spTgt spid="11"/>
                                        </p:tgtEl>
                                      </p:cBhvr>
                                    </p:animEffect>
                                  </p:childTnLst>
                                </p:cTn>
                              </p:par>
                              <p:par>
                                <p:cTn id="161" presetID="3" presetClass="entr" presetSubtype="10" fill="hold" grpId="0" nodeType="withEffect" nodePh="1">
                                  <p:stCondLst>
                                    <p:cond delay="0"/>
                                  </p:stCondLst>
                                  <p:endCondLst>
                                    <p:cond evt="begin" delay="0">
                                      <p:tn val="161"/>
                                    </p:cond>
                                  </p:endCondLst>
                                  <p:childTnLst>
                                    <p:set>
                                      <p:cBhvr>
                                        <p:cTn id="162" dur="1" fill="hold">
                                          <p:stCondLst>
                                            <p:cond delay="0"/>
                                          </p:stCondLst>
                                        </p:cTn>
                                        <p:tgtEl>
                                          <p:spTgt spid="46"/>
                                        </p:tgtEl>
                                        <p:attrNameLst>
                                          <p:attrName>style.visibility</p:attrName>
                                        </p:attrNameLst>
                                      </p:cBhvr>
                                      <p:to>
                                        <p:strVal val="visible"/>
                                      </p:to>
                                    </p:set>
                                    <p:animEffect transition="in" filter="blinds(horizontal)">
                                      <p:cBhvr>
                                        <p:cTn id="163" dur="500"/>
                                        <p:tgtEl>
                                          <p:spTgt spid="46"/>
                                        </p:tgtEl>
                                      </p:cBhvr>
                                    </p:animEffect>
                                  </p:childTnLst>
                                </p:cTn>
                              </p:par>
                            </p:childTnLst>
                          </p:cTn>
                        </p:par>
                      </p:childTnLst>
                    </p:cTn>
                  </p:par>
                  <p:par>
                    <p:cTn id="164" fill="hold">
                      <p:stCondLst>
                        <p:cond delay="indefinite"/>
                      </p:stCondLst>
                      <p:childTnLst>
                        <p:par>
                          <p:cTn id="165" fill="hold">
                            <p:stCondLst>
                              <p:cond delay="0"/>
                            </p:stCondLst>
                            <p:childTnLst>
                              <p:par>
                                <p:cTn id="166" presetID="3" presetClass="entr" presetSubtype="10" fill="hold" grpId="0" nodeType="clickEffect">
                                  <p:stCondLst>
                                    <p:cond delay="0"/>
                                  </p:stCondLst>
                                  <p:childTnLst>
                                    <p:set>
                                      <p:cBhvr>
                                        <p:cTn id="167" dur="1" fill="hold">
                                          <p:stCondLst>
                                            <p:cond delay="0"/>
                                          </p:stCondLst>
                                        </p:cTn>
                                        <p:tgtEl>
                                          <p:spTgt spid="15"/>
                                        </p:tgtEl>
                                        <p:attrNameLst>
                                          <p:attrName>style.visibility</p:attrName>
                                        </p:attrNameLst>
                                      </p:cBhvr>
                                      <p:to>
                                        <p:strVal val="visible"/>
                                      </p:to>
                                    </p:set>
                                    <p:animEffect transition="in" filter="blinds(horizontal)">
                                      <p:cBhvr>
                                        <p:cTn id="168" dur="500"/>
                                        <p:tgtEl>
                                          <p:spTgt spid="15"/>
                                        </p:tgtEl>
                                      </p:cBhvr>
                                    </p:animEffect>
                                  </p:childTnLst>
                                </p:cTn>
                              </p:par>
                              <p:par>
                                <p:cTn id="169" presetID="3" presetClass="entr" presetSubtype="10" fill="hold" grpId="0" nodeType="withEffect">
                                  <p:stCondLst>
                                    <p:cond delay="0"/>
                                  </p:stCondLst>
                                  <p:childTnLst>
                                    <p:set>
                                      <p:cBhvr>
                                        <p:cTn id="170" dur="1" fill="hold">
                                          <p:stCondLst>
                                            <p:cond delay="0"/>
                                          </p:stCondLst>
                                        </p:cTn>
                                        <p:tgtEl>
                                          <p:spTgt spid="14"/>
                                        </p:tgtEl>
                                        <p:attrNameLst>
                                          <p:attrName>style.visibility</p:attrName>
                                        </p:attrNameLst>
                                      </p:cBhvr>
                                      <p:to>
                                        <p:strVal val="visible"/>
                                      </p:to>
                                    </p:set>
                                    <p:animEffect transition="in" filter="blinds(horizontal)">
                                      <p:cBhvr>
                                        <p:cTn id="171" dur="500"/>
                                        <p:tgtEl>
                                          <p:spTgt spid="14"/>
                                        </p:tgtEl>
                                      </p:cBhvr>
                                    </p:animEffect>
                                  </p:childTnLst>
                                </p:cTn>
                              </p:par>
                            </p:childTnLst>
                          </p:cTn>
                        </p:par>
                      </p:childTnLst>
                    </p:cTn>
                  </p:par>
                  <p:par>
                    <p:cTn id="172" fill="hold">
                      <p:stCondLst>
                        <p:cond delay="indefinite"/>
                      </p:stCondLst>
                      <p:childTnLst>
                        <p:par>
                          <p:cTn id="173" fill="hold">
                            <p:stCondLst>
                              <p:cond delay="0"/>
                            </p:stCondLst>
                            <p:childTnLst>
                              <p:par>
                                <p:cTn id="174" presetID="3" presetClass="entr" presetSubtype="10" fill="hold" grpId="0" nodeType="clickEffect">
                                  <p:stCondLst>
                                    <p:cond delay="0"/>
                                  </p:stCondLst>
                                  <p:childTnLst>
                                    <p:set>
                                      <p:cBhvr>
                                        <p:cTn id="175" dur="1" fill="hold">
                                          <p:stCondLst>
                                            <p:cond delay="0"/>
                                          </p:stCondLst>
                                        </p:cTn>
                                        <p:tgtEl>
                                          <p:spTgt spid="9"/>
                                        </p:tgtEl>
                                        <p:attrNameLst>
                                          <p:attrName>style.visibility</p:attrName>
                                        </p:attrNameLst>
                                      </p:cBhvr>
                                      <p:to>
                                        <p:strVal val="visible"/>
                                      </p:to>
                                    </p:set>
                                    <p:animEffect transition="in" filter="blinds(horizontal)">
                                      <p:cBhvr>
                                        <p:cTn id="176" dur="500"/>
                                        <p:tgtEl>
                                          <p:spTgt spid="9"/>
                                        </p:tgtEl>
                                      </p:cBhvr>
                                    </p:animEffect>
                                  </p:childTnLst>
                                </p:cTn>
                              </p:par>
                              <p:par>
                                <p:cTn id="177" presetID="3" presetClass="entr" presetSubtype="10" fill="hold" grpId="0" nodeType="withEffect">
                                  <p:stCondLst>
                                    <p:cond delay="0"/>
                                  </p:stCondLst>
                                  <p:childTnLst>
                                    <p:set>
                                      <p:cBhvr>
                                        <p:cTn id="178" dur="1" fill="hold">
                                          <p:stCondLst>
                                            <p:cond delay="0"/>
                                          </p:stCondLst>
                                        </p:cTn>
                                        <p:tgtEl>
                                          <p:spTgt spid="8"/>
                                        </p:tgtEl>
                                        <p:attrNameLst>
                                          <p:attrName>style.visibility</p:attrName>
                                        </p:attrNameLst>
                                      </p:cBhvr>
                                      <p:to>
                                        <p:strVal val="visible"/>
                                      </p:to>
                                    </p:set>
                                    <p:animEffect transition="in" filter="blinds(horizontal)">
                                      <p:cBhvr>
                                        <p:cTn id="179" dur="500"/>
                                        <p:tgtEl>
                                          <p:spTgt spid="8"/>
                                        </p:tgtEl>
                                      </p:cBhvr>
                                    </p:animEffect>
                                  </p:childTnLst>
                                </p:cTn>
                              </p:par>
                            </p:childTnLst>
                          </p:cTn>
                        </p:par>
                      </p:childTnLst>
                    </p:cTn>
                  </p:par>
                  <p:par>
                    <p:cTn id="180" fill="hold">
                      <p:stCondLst>
                        <p:cond delay="indefinite"/>
                      </p:stCondLst>
                      <p:childTnLst>
                        <p:par>
                          <p:cTn id="181" fill="hold">
                            <p:stCondLst>
                              <p:cond delay="0"/>
                            </p:stCondLst>
                            <p:childTnLst>
                              <p:par>
                                <p:cTn id="182" presetID="3" presetClass="entr" presetSubtype="10" fill="hold" grpId="0" nodeType="clickEffect" nodePh="1">
                                  <p:stCondLst>
                                    <p:cond delay="0"/>
                                  </p:stCondLst>
                                  <p:endCondLst>
                                    <p:cond evt="begin" delay="0">
                                      <p:tn val="182"/>
                                    </p:cond>
                                  </p:endCondLst>
                                  <p:childTnLst>
                                    <p:set>
                                      <p:cBhvr>
                                        <p:cTn id="183" dur="1" fill="hold">
                                          <p:stCondLst>
                                            <p:cond delay="0"/>
                                          </p:stCondLst>
                                        </p:cTn>
                                        <p:tgtEl>
                                          <p:spTgt spid="44"/>
                                        </p:tgtEl>
                                        <p:attrNameLst>
                                          <p:attrName>style.visibility</p:attrName>
                                        </p:attrNameLst>
                                      </p:cBhvr>
                                      <p:to>
                                        <p:strVal val="visible"/>
                                      </p:to>
                                    </p:set>
                                    <p:animEffect transition="in" filter="blinds(horizontal)">
                                      <p:cBhvr>
                                        <p:cTn id="184" dur="500"/>
                                        <p:tgtEl>
                                          <p:spTgt spid="44"/>
                                        </p:tgtEl>
                                      </p:cBhvr>
                                    </p:animEffect>
                                  </p:childTnLst>
                                </p:cTn>
                              </p:par>
                              <p:par>
                                <p:cTn id="185" presetID="3" presetClass="entr" presetSubtype="10" fill="hold" grpId="0" nodeType="withEffect">
                                  <p:stCondLst>
                                    <p:cond delay="0"/>
                                  </p:stCondLst>
                                  <p:childTnLst>
                                    <p:set>
                                      <p:cBhvr>
                                        <p:cTn id="186" dur="1" fill="hold">
                                          <p:stCondLst>
                                            <p:cond delay="0"/>
                                          </p:stCondLst>
                                        </p:cTn>
                                        <p:tgtEl>
                                          <p:spTgt spid="43"/>
                                        </p:tgtEl>
                                        <p:attrNameLst>
                                          <p:attrName>style.visibility</p:attrName>
                                        </p:attrNameLst>
                                      </p:cBhvr>
                                      <p:to>
                                        <p:strVal val="visible"/>
                                      </p:to>
                                    </p:set>
                                    <p:animEffect transition="in" filter="blinds(horizontal)">
                                      <p:cBhvr>
                                        <p:cTn id="187" dur="500"/>
                                        <p:tgtEl>
                                          <p:spTgt spid="43"/>
                                        </p:tgtEl>
                                      </p:cBhvr>
                                    </p:animEffect>
                                  </p:childTnLst>
                                </p:cTn>
                              </p:par>
                            </p:childTnLst>
                          </p:cTn>
                        </p:par>
                      </p:childTnLst>
                    </p:cTn>
                  </p:par>
                  <p:par>
                    <p:cTn id="188" fill="hold">
                      <p:stCondLst>
                        <p:cond delay="indefinite"/>
                      </p:stCondLst>
                      <p:childTnLst>
                        <p:par>
                          <p:cTn id="189" fill="hold">
                            <p:stCondLst>
                              <p:cond delay="0"/>
                            </p:stCondLst>
                            <p:childTnLst>
                              <p:par>
                                <p:cTn id="190" presetID="3" presetClass="entr" presetSubtype="10" fill="hold" grpId="0" nodeType="clickEffect">
                                  <p:stCondLst>
                                    <p:cond delay="0"/>
                                  </p:stCondLst>
                                  <p:childTnLst>
                                    <p:set>
                                      <p:cBhvr>
                                        <p:cTn id="191" dur="1" fill="hold">
                                          <p:stCondLst>
                                            <p:cond delay="0"/>
                                          </p:stCondLst>
                                        </p:cTn>
                                        <p:tgtEl>
                                          <p:spTgt spid="40"/>
                                        </p:tgtEl>
                                        <p:attrNameLst>
                                          <p:attrName>style.visibility</p:attrName>
                                        </p:attrNameLst>
                                      </p:cBhvr>
                                      <p:to>
                                        <p:strVal val="visible"/>
                                      </p:to>
                                    </p:set>
                                    <p:animEffect transition="in" filter="blinds(horizontal)">
                                      <p:cBhvr>
                                        <p:cTn id="192" dur="500"/>
                                        <p:tgtEl>
                                          <p:spTgt spid="40"/>
                                        </p:tgtEl>
                                      </p:cBhvr>
                                    </p:animEffect>
                                  </p:childTnLst>
                                </p:cTn>
                              </p:par>
                            </p:childTnLst>
                          </p:cTn>
                        </p:par>
                      </p:childTnLst>
                    </p:cTn>
                  </p:par>
                  <p:par>
                    <p:cTn id="193" fill="hold">
                      <p:stCondLst>
                        <p:cond delay="indefinite"/>
                      </p:stCondLst>
                      <p:childTnLst>
                        <p:par>
                          <p:cTn id="194" fill="hold">
                            <p:stCondLst>
                              <p:cond delay="0"/>
                            </p:stCondLst>
                            <p:childTnLst>
                              <p:par>
                                <p:cTn id="195" presetID="3" presetClass="entr" presetSubtype="10" fill="hold" grpId="0" nodeType="clickEffect">
                                  <p:stCondLst>
                                    <p:cond delay="0"/>
                                  </p:stCondLst>
                                  <p:childTnLst>
                                    <p:set>
                                      <p:cBhvr>
                                        <p:cTn id="196" dur="1" fill="hold">
                                          <p:stCondLst>
                                            <p:cond delay="0"/>
                                          </p:stCondLst>
                                        </p:cTn>
                                        <p:tgtEl>
                                          <p:spTgt spid="39"/>
                                        </p:tgtEl>
                                        <p:attrNameLst>
                                          <p:attrName>style.visibility</p:attrName>
                                        </p:attrNameLst>
                                      </p:cBhvr>
                                      <p:to>
                                        <p:strVal val="visible"/>
                                      </p:to>
                                    </p:set>
                                    <p:animEffect transition="in" filter="blinds(horizontal)">
                                      <p:cBhvr>
                                        <p:cTn id="19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2" grpId="0"/>
      <p:bldP spid="33" grpId="0"/>
      <p:bldP spid="34" grpId="0"/>
      <p:bldP spid="35" grpId="0"/>
      <p:bldP spid="36" grpId="0"/>
      <p:bldP spid="37" grpId="0"/>
      <p:bldP spid="39" grpId="0"/>
      <p:bldP spid="40" grpId="0"/>
      <p:bldP spid="43" grpId="0"/>
      <p:bldP spid="44" grpId="0"/>
      <p:bldP spid="45" grpId="0"/>
      <p:bldP spid="46" grpId="0"/>
      <p:bldP spid="48" grpId="0"/>
      <p:bldP spid="49" grpId="0"/>
      <p:bldP spid="51" grpId="0"/>
      <p:bldP spid="52" grpId="0"/>
      <p:bldP spid="53" grpId="0"/>
      <p:bldP spid="54" grpId="0"/>
      <p:bldP spid="55" grpId="0"/>
      <p:bldP spid="57" grpId="0"/>
      <p:bldP spid="58" grpId="0"/>
      <p:bldP spid="60" grpId="0"/>
      <p:bldP spid="61" grpId="0"/>
      <p:bldP spid="62" grpId="0"/>
      <p:bldP spid="63" grpId="0"/>
      <p:bldP spid="6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大</a:t>
            </a:r>
            <a:r>
              <a:rPr kumimoji="1" lang="en-US" altLang="zh-CN" dirty="0">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法</a:t>
            </a:r>
            <a:endParaRPr kumimoji="1" lang="zh-CN" altLang="en-US"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3" name="Rectangle 54"/>
          <p:cNvSpPr>
            <a:spLocks noChangeArrowheads="1"/>
          </p:cNvSpPr>
          <p:nvPr/>
        </p:nvSpPr>
        <p:spPr bwMode="auto">
          <a:xfrm>
            <a:off x="644525" y="1168223"/>
            <a:ext cx="7854950" cy="2633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20000"/>
              </a:lnSpc>
            </a:pPr>
            <a:r>
              <a:rPr lang="en-US" altLang="zh-CN" sz="3600" dirty="0">
                <a:solidFill>
                  <a:srgbClr val="FF0000"/>
                </a:solidFill>
                <a:effectLst/>
                <a:latin typeface="Arial" panose="020B0604020202020204" pitchFamily="34" charset="0"/>
                <a:cs typeface="Arial" panose="020B0604020202020204" pitchFamily="34" charset="0"/>
              </a:rPr>
              <a:t> </a:t>
            </a:r>
            <a:r>
              <a:rPr lang="zh-CN" altLang="x-none" sz="3600" dirty="0">
                <a:solidFill>
                  <a:srgbClr val="FF0000"/>
                </a:solidFill>
                <a:effectLst/>
                <a:latin typeface="楷体_GB2312" pitchFamily="49" charset="-122"/>
                <a:ea typeface="楷体_GB2312" pitchFamily="49" charset="-122"/>
              </a:rPr>
              <a:t>注意</a:t>
            </a:r>
            <a:r>
              <a:rPr lang="zh-CN" altLang="en-US" sz="3600" dirty="0">
                <a:solidFill>
                  <a:srgbClr val="FF0000"/>
                </a:solidFill>
                <a:effectLst/>
                <a:latin typeface="楷体_GB2312" pitchFamily="49" charset="-122"/>
                <a:ea typeface="楷体_GB2312" pitchFamily="49" charset="-122"/>
              </a:rPr>
              <a:t>：</a:t>
            </a:r>
            <a:endParaRPr lang="en-US" altLang="zh-CN" sz="3600" dirty="0">
              <a:solidFill>
                <a:srgbClr val="FF0000"/>
              </a:solidFill>
              <a:effectLst/>
              <a:latin typeface="楷体_GB2312" pitchFamily="49" charset="-122"/>
              <a:ea typeface="楷体_GB2312" pitchFamily="49" charset="-122"/>
            </a:endParaRPr>
          </a:p>
          <a:p>
            <a:pPr algn="just">
              <a:lnSpc>
                <a:spcPct val="120000"/>
              </a:lnSpc>
            </a:pPr>
            <a:endParaRPr lang="en-US" altLang="zh-CN" sz="2000" dirty="0">
              <a:effectLst/>
              <a:latin typeface="楷体_GB2312" pitchFamily="49" charset="-122"/>
              <a:ea typeface="楷体_GB2312" pitchFamily="49" charset="-122"/>
            </a:endParaRPr>
          </a:p>
          <a:p>
            <a:pPr algn="just">
              <a:lnSpc>
                <a:spcPct val="120000"/>
              </a:lnSpc>
            </a:pPr>
            <a:r>
              <a:rPr lang="zh-CN" altLang="en-US" sz="2800" dirty="0">
                <a:effectLst/>
                <a:latin typeface="楷体_GB2312" pitchFamily="49" charset="-122"/>
                <a:ea typeface="楷体_GB2312" pitchFamily="49" charset="-122"/>
              </a:rPr>
              <a:t>求解结果出现所有的的检验数大于零，若基变量中含非零的人工变量，则无可行解，否则，有最优解。</a:t>
            </a:r>
            <a:endParaRPr lang="zh-CN" altLang="en-US" sz="2800" dirty="0">
              <a:effectLst/>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大</a:t>
            </a:r>
            <a:r>
              <a:rPr kumimoji="1" lang="en-US" altLang="zh-CN" dirty="0">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法</a:t>
            </a:r>
            <a:endParaRPr kumimoji="1" lang="zh-CN" altLang="en-US" dirty="0">
              <a:latin typeface="Times New Roman" panose="02020603050405020304" pitchFamily="18" charset="0"/>
              <a:cs typeface="Times New Roman" panose="02020603050405020304" pitchFamily="18" charset="0"/>
            </a:endParaRPr>
          </a:p>
        </p:txBody>
      </p:sp>
      <p:sp>
        <p:nvSpPr>
          <p:cNvPr id="14" name="Rectangle 4"/>
          <p:cNvSpPr>
            <a:spLocks noChangeArrowheads="1"/>
          </p:cNvSpPr>
          <p:nvPr/>
        </p:nvSpPr>
        <p:spPr bwMode="auto">
          <a:xfrm>
            <a:off x="574060" y="1001439"/>
            <a:ext cx="4464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2000" b="1" dirty="0">
                <a:effectLst/>
                <a:latin typeface="隶书" panose="02010509060101010101" pitchFamily="49" charset="-122"/>
                <a:ea typeface="隶书" panose="02010509060101010101" pitchFamily="49" charset="-122"/>
              </a:rPr>
              <a:t>用大</a:t>
            </a:r>
            <a:r>
              <a:rPr lang="en-US" altLang="zh-CN" sz="2000" b="1" dirty="0">
                <a:effectLst/>
                <a:latin typeface="隶书" panose="02010509060101010101" pitchFamily="49" charset="-122"/>
                <a:ea typeface="隶书" panose="02010509060101010101" pitchFamily="49" charset="-122"/>
              </a:rPr>
              <a:t>M</a:t>
            </a:r>
            <a:r>
              <a:rPr lang="zh-CN" altLang="en-US" sz="2000" b="1" dirty="0">
                <a:effectLst/>
                <a:latin typeface="隶书" panose="02010509060101010101" pitchFamily="49" charset="-122"/>
                <a:ea typeface="隶书" panose="02010509060101010101" pitchFamily="49" charset="-122"/>
              </a:rPr>
              <a:t>法求解下面的线性规划问题</a:t>
            </a:r>
            <a:r>
              <a:rPr lang="en-US" altLang="zh-CN" sz="2000" b="1" dirty="0">
                <a:effectLst/>
                <a:latin typeface="隶书" panose="02010509060101010101" pitchFamily="49" charset="-122"/>
                <a:ea typeface="隶书" panose="02010509060101010101" pitchFamily="49" charset="-122"/>
              </a:rPr>
              <a:t>:</a:t>
            </a:r>
            <a:endParaRPr lang="en-US" altLang="zh-CN" sz="2000" dirty="0">
              <a:effectLst/>
              <a:latin typeface="隶书" panose="02010509060101010101" pitchFamily="49" charset="-122"/>
              <a:ea typeface="隶书" panose="02010509060101010101" pitchFamily="49" charset="-122"/>
            </a:endParaRPr>
          </a:p>
        </p:txBody>
      </p:sp>
      <p:graphicFrame>
        <p:nvGraphicFramePr>
          <p:cNvPr id="15" name="Object 3"/>
          <p:cNvGraphicFramePr>
            <a:graphicFrameLocks noChangeAspect="1"/>
          </p:cNvGraphicFramePr>
          <p:nvPr/>
        </p:nvGraphicFramePr>
        <p:xfrm>
          <a:off x="3561556" y="1322997"/>
          <a:ext cx="2020888" cy="2273300"/>
        </p:xfrm>
        <a:graphic>
          <a:graphicData uri="http://schemas.openxmlformats.org/presentationml/2006/ole">
            <mc:AlternateContent xmlns:mc="http://schemas.openxmlformats.org/markup-compatibility/2006">
              <mc:Choice xmlns:v="urn:schemas-microsoft-com:vml" Requires="v">
                <p:oleObj spid="_x0000_s3073" name="Equation" r:id="rId1" imgW="24993600" imgH="28041600" progId="Equation.DSMT4">
                  <p:embed/>
                </p:oleObj>
              </mc:Choice>
              <mc:Fallback>
                <p:oleObj name="Equation" r:id="rId1" imgW="24993600" imgH="28041600" progId="Equation.DSMT4">
                  <p:embed/>
                  <p:pic>
                    <p:nvPicPr>
                      <p:cNvPr id="0" name="图片 3072"/>
                      <p:cNvPicPr>
                        <a:picLocks noChangeAspect="1"/>
                      </p:cNvPicPr>
                      <p:nvPr/>
                    </p:nvPicPr>
                    <p:blipFill>
                      <a:blip r:embed="rId2"/>
                      <a:stretch>
                        <a:fillRect/>
                      </a:stretch>
                    </p:blipFill>
                    <p:spPr>
                      <a:xfrm>
                        <a:off x="3561556" y="1322997"/>
                        <a:ext cx="2020888" cy="2273300"/>
                      </a:xfrm>
                      <a:prstGeom prst="rect">
                        <a:avLst/>
                      </a:prstGeom>
                      <a:noFill/>
                      <a:ln w="9525">
                        <a:noFill/>
                      </a:ln>
                    </p:spPr>
                  </p:pic>
                </p:oleObj>
              </mc:Fallback>
            </mc:AlternateContent>
          </a:graphicData>
        </a:graphic>
      </p:graphicFrame>
      <p:graphicFrame>
        <p:nvGraphicFramePr>
          <p:cNvPr id="16" name="Object 2"/>
          <p:cNvGraphicFramePr>
            <a:graphicFrameLocks noChangeAspect="1"/>
          </p:cNvGraphicFramePr>
          <p:nvPr/>
        </p:nvGraphicFramePr>
        <p:xfrm>
          <a:off x="3236069" y="4149055"/>
          <a:ext cx="2632075" cy="1800225"/>
        </p:xfrm>
        <a:graphic>
          <a:graphicData uri="http://schemas.openxmlformats.org/presentationml/2006/ole">
            <mc:AlternateContent xmlns:mc="http://schemas.openxmlformats.org/markup-compatibility/2006">
              <mc:Choice xmlns:v="urn:schemas-microsoft-com:vml" Requires="v">
                <p:oleObj spid="_x0000_s3074" name="Equation" r:id="rId3" imgW="33832800" imgH="23164800" progId="Equation.DSMT4">
                  <p:embed/>
                </p:oleObj>
              </mc:Choice>
              <mc:Fallback>
                <p:oleObj name="Equation" r:id="rId3" imgW="33832800" imgH="23164800" progId="Equation.DSMT4">
                  <p:embed/>
                  <p:pic>
                    <p:nvPicPr>
                      <p:cNvPr id="0" name="图片 3073"/>
                      <p:cNvPicPr>
                        <a:picLocks noChangeAspect="1"/>
                      </p:cNvPicPr>
                      <p:nvPr/>
                    </p:nvPicPr>
                    <p:blipFill>
                      <a:blip r:embed="rId4"/>
                      <a:stretch>
                        <a:fillRect/>
                      </a:stretch>
                    </p:blipFill>
                    <p:spPr>
                      <a:xfrm>
                        <a:off x="3236069" y="4149055"/>
                        <a:ext cx="2632075" cy="1800225"/>
                      </a:xfrm>
                      <a:prstGeom prst="rect">
                        <a:avLst/>
                      </a:prstGeom>
                      <a:noFill/>
                      <a:ln w="9525">
                        <a:noFill/>
                      </a:ln>
                    </p:spPr>
                  </p:pic>
                </p:oleObj>
              </mc:Fallback>
            </mc:AlternateContent>
          </a:graphicData>
        </a:graphic>
      </p:graphicFrame>
      <p:sp>
        <p:nvSpPr>
          <p:cNvPr id="18" name="Rectangle 2"/>
          <p:cNvSpPr>
            <a:spLocks noChangeArrowheads="1"/>
          </p:cNvSpPr>
          <p:nvPr/>
        </p:nvSpPr>
        <p:spPr bwMode="auto">
          <a:xfrm>
            <a:off x="594668" y="3709499"/>
            <a:ext cx="807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2000" b="1" dirty="0">
                <a:solidFill>
                  <a:schemeClr val="accent2"/>
                </a:solidFill>
                <a:effectLst/>
                <a:latin typeface="楷体_GB2312" pitchFamily="49" charset="-122"/>
                <a:ea typeface="楷体_GB2312" pitchFamily="49" charset="-122"/>
              </a:rPr>
              <a:t>解</a:t>
            </a:r>
            <a:r>
              <a:rPr lang="zh-CN" altLang="en-US" sz="2000" b="1" dirty="0">
                <a:effectLst/>
                <a:latin typeface="楷体_GB2312" pitchFamily="49" charset="-122"/>
                <a:ea typeface="楷体_GB2312" pitchFamily="49" charset="-122"/>
              </a:rPr>
              <a:t>：首先将原问题化为标准型</a:t>
            </a:r>
            <a:endParaRPr lang="zh-CN" altLang="en-US" sz="2000" b="1" dirty="0">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大</a:t>
            </a:r>
            <a:r>
              <a:rPr kumimoji="1" lang="en-US" altLang="zh-CN" dirty="0">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法</a:t>
            </a:r>
            <a:endParaRPr kumimoji="1" lang="zh-CN" altLang="en-US" dirty="0">
              <a:latin typeface="Times New Roman" panose="02020603050405020304" pitchFamily="18" charset="0"/>
              <a:cs typeface="Times New Roman" panose="02020603050405020304" pitchFamily="18" charset="0"/>
            </a:endParaRPr>
          </a:p>
        </p:txBody>
      </p:sp>
      <p:graphicFrame>
        <p:nvGraphicFramePr>
          <p:cNvPr id="17" name="Object 2"/>
          <p:cNvGraphicFramePr>
            <a:graphicFrameLocks noChangeAspect="1"/>
          </p:cNvGraphicFramePr>
          <p:nvPr/>
        </p:nvGraphicFramePr>
        <p:xfrm>
          <a:off x="1691680" y="2508279"/>
          <a:ext cx="5032375" cy="2232025"/>
        </p:xfrm>
        <a:graphic>
          <a:graphicData uri="http://schemas.openxmlformats.org/presentationml/2006/ole">
            <mc:AlternateContent xmlns:mc="http://schemas.openxmlformats.org/markup-compatibility/2006">
              <mc:Choice xmlns:v="urn:schemas-microsoft-com:vml" Requires="v">
                <p:oleObj spid="_x0000_s4097" name="Equation" r:id="rId1" imgW="64312800" imgH="28651200" progId="Equation.DSMT4">
                  <p:embed/>
                </p:oleObj>
              </mc:Choice>
              <mc:Fallback>
                <p:oleObj name="Equation" r:id="rId1" imgW="64312800" imgH="28651200" progId="Equation.DSMT4">
                  <p:embed/>
                  <p:pic>
                    <p:nvPicPr>
                      <p:cNvPr id="0" name="图片 4096"/>
                      <p:cNvPicPr>
                        <a:picLocks noChangeAspect="1"/>
                      </p:cNvPicPr>
                      <p:nvPr/>
                    </p:nvPicPr>
                    <p:blipFill>
                      <a:blip r:embed="rId2"/>
                      <a:stretch>
                        <a:fillRect/>
                      </a:stretch>
                    </p:blipFill>
                    <p:spPr>
                      <a:xfrm>
                        <a:off x="1691680" y="2508279"/>
                        <a:ext cx="5032375" cy="2232025"/>
                      </a:xfrm>
                      <a:prstGeom prst="rect">
                        <a:avLst/>
                      </a:prstGeom>
                      <a:noFill/>
                      <a:ln w="9525">
                        <a:noFill/>
                      </a:ln>
                    </p:spPr>
                  </p:pic>
                </p:oleObj>
              </mc:Fallback>
            </mc:AlternateContent>
          </a:graphicData>
        </a:graphic>
      </p:graphicFrame>
      <p:sp>
        <p:nvSpPr>
          <p:cNvPr id="19" name="Rectangle 3"/>
          <p:cNvSpPr>
            <a:spLocks noChangeArrowheads="1"/>
          </p:cNvSpPr>
          <p:nvPr/>
        </p:nvSpPr>
        <p:spPr bwMode="auto">
          <a:xfrm>
            <a:off x="1187624" y="1628800"/>
            <a:ext cx="75612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2000" b="1" dirty="0">
                <a:effectLst/>
                <a:ea typeface="楷体_GB2312" pitchFamily="49" charset="-122"/>
              </a:rPr>
              <a:t>添加人工变量 </a:t>
            </a:r>
            <a:r>
              <a:rPr lang="en-US" altLang="zh-CN" sz="2000" b="1" dirty="0">
                <a:effectLst/>
                <a:ea typeface="楷体_GB2312" pitchFamily="49" charset="-122"/>
              </a:rPr>
              <a:t>x</a:t>
            </a:r>
            <a:r>
              <a:rPr lang="en-US" altLang="zh-CN" sz="2000" b="1" baseline="-25000" dirty="0">
                <a:effectLst/>
                <a:ea typeface="楷体_GB2312" pitchFamily="49" charset="-122"/>
              </a:rPr>
              <a:t>6</a:t>
            </a:r>
            <a:r>
              <a:rPr lang="zh-CN" altLang="en-US" sz="2000" b="1" dirty="0">
                <a:effectLst/>
                <a:ea typeface="楷体_GB2312" pitchFamily="49" charset="-122"/>
              </a:rPr>
              <a:t>，</a:t>
            </a:r>
            <a:r>
              <a:rPr lang="en-US" altLang="zh-CN" sz="2000" b="1" dirty="0">
                <a:effectLst/>
                <a:ea typeface="楷体_GB2312" pitchFamily="49" charset="-122"/>
              </a:rPr>
              <a:t>x</a:t>
            </a:r>
            <a:r>
              <a:rPr lang="en-US" altLang="zh-CN" sz="2000" b="1" baseline="-25000" dirty="0">
                <a:effectLst/>
                <a:ea typeface="楷体_GB2312" pitchFamily="49" charset="-122"/>
              </a:rPr>
              <a:t>7 </a:t>
            </a:r>
            <a:r>
              <a:rPr lang="zh-CN" altLang="en-US" sz="2000" b="1" dirty="0">
                <a:effectLst/>
                <a:ea typeface="楷体_GB2312" pitchFamily="49" charset="-122"/>
              </a:rPr>
              <a:t>，并在目标函数中分别赋予Ｍ</a:t>
            </a:r>
            <a:endParaRPr lang="zh-CN" altLang="en-US" sz="2000" b="1" dirty="0">
              <a:effectLst/>
              <a:ea typeface="楷体_GB2312" pitchFamily="49" charset="-122"/>
            </a:endParaRPr>
          </a:p>
        </p:txBody>
      </p:sp>
      <p:sp>
        <p:nvSpPr>
          <p:cNvPr id="20" name="Text Box 5"/>
          <p:cNvSpPr txBox="1">
            <a:spLocks noChangeArrowheads="1"/>
          </p:cNvSpPr>
          <p:nvPr/>
        </p:nvSpPr>
        <p:spPr bwMode="auto">
          <a:xfrm>
            <a:off x="5455642" y="2436841"/>
            <a:ext cx="1296988" cy="495300"/>
          </a:xfrm>
          <a:prstGeom prst="rect">
            <a:avLst/>
          </a:prstGeom>
          <a:noFill/>
          <a:ln w="38100" algn="ctr">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x-none" altLang="x-none">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大</a:t>
            </a:r>
            <a:r>
              <a:rPr kumimoji="1" lang="en-US" altLang="zh-CN" dirty="0">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法</a:t>
            </a:r>
            <a:endParaRPr kumimoji="1" lang="zh-CN" altLang="en-US" dirty="0">
              <a:latin typeface="Times New Roman" panose="02020603050405020304" pitchFamily="18" charset="0"/>
              <a:cs typeface="Times New Roman" panose="02020603050405020304" pitchFamily="18" charset="0"/>
            </a:endParaRPr>
          </a:p>
        </p:txBody>
      </p:sp>
      <p:sp>
        <p:nvSpPr>
          <p:cNvPr id="15" name="Rectangle 2"/>
          <p:cNvSpPr>
            <a:spLocks noChangeArrowheads="1"/>
          </p:cNvSpPr>
          <p:nvPr/>
        </p:nvSpPr>
        <p:spPr bwMode="auto">
          <a:xfrm>
            <a:off x="7812409" y="4842792"/>
            <a:ext cx="1008063"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a:t>
            </a:r>
            <a:endParaRPr lang="en-US" altLang="zh-CN" sz="1800" b="1">
              <a:effectLst/>
            </a:endParaRPr>
          </a:p>
        </p:txBody>
      </p:sp>
      <p:sp>
        <p:nvSpPr>
          <p:cNvPr id="16" name="Rectangle 3"/>
          <p:cNvSpPr>
            <a:spLocks noChangeArrowheads="1"/>
          </p:cNvSpPr>
          <p:nvPr/>
        </p:nvSpPr>
        <p:spPr bwMode="auto">
          <a:xfrm>
            <a:off x="3038797" y="4842792"/>
            <a:ext cx="4773612"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effectLst/>
              </a:rPr>
              <a:t>     0         1       -1/2      -1/2       0       1/2      1/2</a:t>
            </a:r>
            <a:endParaRPr lang="en-US" altLang="zh-CN" sz="1800" b="1">
              <a:effectLst/>
            </a:endParaRPr>
          </a:p>
        </p:txBody>
      </p:sp>
      <p:sp>
        <p:nvSpPr>
          <p:cNvPr id="17" name="Rectangle 4"/>
          <p:cNvSpPr>
            <a:spLocks noChangeArrowheads="1"/>
          </p:cNvSpPr>
          <p:nvPr/>
        </p:nvSpPr>
        <p:spPr bwMode="auto">
          <a:xfrm>
            <a:off x="2203772" y="4842792"/>
            <a:ext cx="835025"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3/2</a:t>
            </a:r>
            <a:endParaRPr lang="en-US" altLang="zh-CN" sz="1800" b="1">
              <a:effectLst/>
            </a:endParaRPr>
          </a:p>
        </p:txBody>
      </p:sp>
      <p:sp>
        <p:nvSpPr>
          <p:cNvPr id="18" name="Rectangle 5"/>
          <p:cNvSpPr>
            <a:spLocks noChangeArrowheads="1"/>
          </p:cNvSpPr>
          <p:nvPr/>
        </p:nvSpPr>
        <p:spPr bwMode="auto">
          <a:xfrm>
            <a:off x="1287784" y="4842792"/>
            <a:ext cx="915988"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x</a:t>
            </a:r>
            <a:r>
              <a:rPr lang="en-US" altLang="zh-CN" sz="1200" b="1" baseline="-25000">
                <a:effectLst/>
              </a:rPr>
              <a:t>2</a:t>
            </a:r>
            <a:endParaRPr lang="en-US" altLang="zh-CN" sz="1200" b="1" baseline="-25000">
              <a:effectLst/>
            </a:endParaRPr>
          </a:p>
        </p:txBody>
      </p:sp>
      <p:sp>
        <p:nvSpPr>
          <p:cNvPr id="19" name="Rectangle 6"/>
          <p:cNvSpPr>
            <a:spLocks noChangeArrowheads="1"/>
          </p:cNvSpPr>
          <p:nvPr/>
        </p:nvSpPr>
        <p:spPr bwMode="auto">
          <a:xfrm>
            <a:off x="540072" y="4842792"/>
            <a:ext cx="747712"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zh-CN" altLang="en-US" sz="2000" b="1">
                <a:effectLst/>
              </a:rPr>
              <a:t>－</a:t>
            </a:r>
            <a:r>
              <a:rPr lang="en-US" altLang="zh-CN" sz="1800" b="1">
                <a:effectLst/>
              </a:rPr>
              <a:t>2</a:t>
            </a:r>
            <a:endParaRPr lang="en-US" altLang="zh-CN" sz="1800" b="1">
              <a:effectLst/>
            </a:endParaRPr>
          </a:p>
        </p:txBody>
      </p:sp>
      <p:sp>
        <p:nvSpPr>
          <p:cNvPr id="20" name="Rectangle 8"/>
          <p:cNvSpPr>
            <a:spLocks noChangeArrowheads="1"/>
          </p:cNvSpPr>
          <p:nvPr/>
        </p:nvSpPr>
        <p:spPr bwMode="auto">
          <a:xfrm>
            <a:off x="3038797" y="4477667"/>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2000" b="1">
                <a:effectLst/>
              </a:rPr>
              <a:t>    </a:t>
            </a:r>
            <a:r>
              <a:rPr lang="en-US" altLang="zh-CN" sz="1800" b="1">
                <a:effectLst/>
              </a:rPr>
              <a:t>1          0        -1/2      1/2      0      1/2      -1/2</a:t>
            </a:r>
            <a:endParaRPr lang="en-US" altLang="zh-CN" sz="1800" b="1">
              <a:effectLst/>
            </a:endParaRPr>
          </a:p>
        </p:txBody>
      </p:sp>
      <p:sp>
        <p:nvSpPr>
          <p:cNvPr id="21" name="Rectangle 9"/>
          <p:cNvSpPr>
            <a:spLocks noChangeArrowheads="1"/>
          </p:cNvSpPr>
          <p:nvPr/>
        </p:nvSpPr>
        <p:spPr bwMode="auto">
          <a:xfrm>
            <a:off x="2203772" y="4477667"/>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1/2</a:t>
            </a:r>
            <a:endParaRPr lang="en-US" altLang="zh-CN" sz="1800" b="1">
              <a:effectLst/>
            </a:endParaRPr>
          </a:p>
        </p:txBody>
      </p:sp>
      <p:sp>
        <p:nvSpPr>
          <p:cNvPr id="22" name="Rectangle 10"/>
          <p:cNvSpPr>
            <a:spLocks noChangeArrowheads="1"/>
          </p:cNvSpPr>
          <p:nvPr/>
        </p:nvSpPr>
        <p:spPr bwMode="auto">
          <a:xfrm>
            <a:off x="1287784" y="4477667"/>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x</a:t>
            </a:r>
            <a:r>
              <a:rPr lang="en-US" altLang="zh-CN" sz="1200" b="1" baseline="-25000">
                <a:effectLst/>
              </a:rPr>
              <a:t>1</a:t>
            </a:r>
            <a:endParaRPr lang="en-US" altLang="zh-CN" sz="1200" b="1" baseline="-25000">
              <a:effectLst/>
            </a:endParaRPr>
          </a:p>
        </p:txBody>
      </p:sp>
      <p:sp>
        <p:nvSpPr>
          <p:cNvPr id="23" name="Rectangle 11"/>
          <p:cNvSpPr>
            <a:spLocks noChangeArrowheads="1"/>
          </p:cNvSpPr>
          <p:nvPr/>
        </p:nvSpPr>
        <p:spPr bwMode="auto">
          <a:xfrm>
            <a:off x="540072" y="4477667"/>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1</a:t>
            </a:r>
            <a:endParaRPr lang="en-US" altLang="zh-CN" sz="1800" b="1">
              <a:effectLst/>
            </a:endParaRPr>
          </a:p>
        </p:txBody>
      </p:sp>
      <p:sp>
        <p:nvSpPr>
          <p:cNvPr id="24" name="Rectangle 12"/>
          <p:cNvSpPr>
            <a:spLocks noChangeArrowheads="1"/>
          </p:cNvSpPr>
          <p:nvPr/>
        </p:nvSpPr>
        <p:spPr bwMode="auto">
          <a:xfrm>
            <a:off x="8172449" y="3382292"/>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a:t>
            </a:r>
            <a:endParaRPr lang="en-US" altLang="zh-CN" sz="1800" b="1">
              <a:effectLst/>
            </a:endParaRPr>
          </a:p>
        </p:txBody>
      </p:sp>
      <p:sp>
        <p:nvSpPr>
          <p:cNvPr id="25" name="Rectangle 13"/>
          <p:cNvSpPr>
            <a:spLocks noChangeArrowheads="1"/>
          </p:cNvSpPr>
          <p:nvPr/>
        </p:nvSpPr>
        <p:spPr bwMode="auto">
          <a:xfrm>
            <a:off x="3038797" y="3382292"/>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dirty="0">
                <a:effectLst/>
              </a:rPr>
              <a:t>    -1        1          0        -1         0        0        1</a:t>
            </a:r>
            <a:endParaRPr lang="en-US" altLang="zh-CN" sz="1800" b="1" dirty="0">
              <a:effectLst/>
            </a:endParaRPr>
          </a:p>
        </p:txBody>
      </p:sp>
      <p:sp>
        <p:nvSpPr>
          <p:cNvPr id="26" name="Rectangle 14"/>
          <p:cNvSpPr>
            <a:spLocks noChangeArrowheads="1"/>
          </p:cNvSpPr>
          <p:nvPr/>
        </p:nvSpPr>
        <p:spPr bwMode="auto">
          <a:xfrm>
            <a:off x="2203772" y="3382292"/>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1</a:t>
            </a:r>
            <a:endParaRPr lang="en-US" altLang="zh-CN" sz="1800" b="1">
              <a:effectLst/>
            </a:endParaRPr>
          </a:p>
        </p:txBody>
      </p:sp>
      <p:sp>
        <p:nvSpPr>
          <p:cNvPr id="27" name="Rectangle 15"/>
          <p:cNvSpPr>
            <a:spLocks noChangeArrowheads="1"/>
          </p:cNvSpPr>
          <p:nvPr/>
        </p:nvSpPr>
        <p:spPr bwMode="auto">
          <a:xfrm>
            <a:off x="1287784" y="3382292"/>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x</a:t>
            </a:r>
            <a:r>
              <a:rPr lang="en-US" altLang="zh-CN" sz="1200" b="1" baseline="-25000">
                <a:effectLst/>
              </a:rPr>
              <a:t>2</a:t>
            </a:r>
            <a:endParaRPr lang="en-US" altLang="zh-CN" sz="1200" b="1" baseline="-25000">
              <a:effectLst/>
            </a:endParaRPr>
          </a:p>
        </p:txBody>
      </p:sp>
      <p:sp>
        <p:nvSpPr>
          <p:cNvPr id="28" name="Rectangle 16"/>
          <p:cNvSpPr>
            <a:spLocks noChangeArrowheads="1"/>
          </p:cNvSpPr>
          <p:nvPr/>
        </p:nvSpPr>
        <p:spPr bwMode="auto">
          <a:xfrm>
            <a:off x="540072" y="3382292"/>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zh-CN" altLang="en-US" sz="2000" b="1">
                <a:effectLst/>
              </a:rPr>
              <a:t>－</a:t>
            </a:r>
            <a:r>
              <a:rPr lang="en-US" altLang="zh-CN" sz="1800" b="1">
                <a:effectLst/>
              </a:rPr>
              <a:t>2</a:t>
            </a:r>
            <a:endParaRPr lang="en-US" altLang="zh-CN" sz="1800" b="1">
              <a:effectLst/>
            </a:endParaRPr>
          </a:p>
        </p:txBody>
      </p:sp>
      <p:sp>
        <p:nvSpPr>
          <p:cNvPr id="29" name="Rectangle 17"/>
          <p:cNvSpPr>
            <a:spLocks noChangeArrowheads="1"/>
          </p:cNvSpPr>
          <p:nvPr/>
        </p:nvSpPr>
        <p:spPr bwMode="auto">
          <a:xfrm>
            <a:off x="8172449" y="3017167"/>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1/2</a:t>
            </a:r>
            <a:endParaRPr lang="en-US" altLang="zh-CN" sz="1800" b="1">
              <a:effectLst/>
            </a:endParaRPr>
          </a:p>
        </p:txBody>
      </p:sp>
      <p:sp>
        <p:nvSpPr>
          <p:cNvPr id="30" name="Rectangle 18"/>
          <p:cNvSpPr>
            <a:spLocks noChangeArrowheads="1"/>
          </p:cNvSpPr>
          <p:nvPr/>
        </p:nvSpPr>
        <p:spPr bwMode="auto">
          <a:xfrm>
            <a:off x="3038797" y="3017167"/>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dirty="0">
                <a:effectLst/>
              </a:rPr>
              <a:t> </a:t>
            </a:r>
            <a:r>
              <a:rPr lang="en-US" altLang="zh-CN" sz="2000" b="1" dirty="0">
                <a:effectLst/>
              </a:rPr>
              <a:t>   </a:t>
            </a:r>
            <a:r>
              <a:rPr lang="en-US" altLang="zh-CN" sz="1800" b="1" dirty="0">
                <a:effectLst/>
              </a:rPr>
              <a:t>2         0         -1       </a:t>
            </a:r>
            <a:r>
              <a:rPr lang="en-US" altLang="zh-CN" sz="2000" b="1" dirty="0">
                <a:effectLst/>
              </a:rPr>
              <a:t> </a:t>
            </a:r>
            <a:r>
              <a:rPr lang="en-US" altLang="zh-CN" sz="1800" b="1" dirty="0">
                <a:effectLst/>
              </a:rPr>
              <a:t>1         0      </a:t>
            </a:r>
            <a:r>
              <a:rPr lang="en-US" altLang="zh-CN" sz="2000" b="1" dirty="0">
                <a:effectLst/>
              </a:rPr>
              <a:t>  </a:t>
            </a:r>
            <a:r>
              <a:rPr lang="en-US" altLang="zh-CN" sz="1800" b="1" dirty="0">
                <a:effectLst/>
              </a:rPr>
              <a:t>1       -1</a:t>
            </a:r>
            <a:endParaRPr lang="en-US" altLang="zh-CN" sz="1800" b="1" dirty="0">
              <a:effectLst/>
            </a:endParaRPr>
          </a:p>
        </p:txBody>
      </p:sp>
      <p:sp>
        <p:nvSpPr>
          <p:cNvPr id="32" name="Rectangle 19"/>
          <p:cNvSpPr>
            <a:spLocks noChangeArrowheads="1"/>
          </p:cNvSpPr>
          <p:nvPr/>
        </p:nvSpPr>
        <p:spPr bwMode="auto">
          <a:xfrm>
            <a:off x="2203772" y="3017167"/>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1</a:t>
            </a:r>
            <a:endParaRPr lang="en-US" altLang="zh-CN" sz="1800" b="1">
              <a:effectLst/>
            </a:endParaRPr>
          </a:p>
        </p:txBody>
      </p:sp>
      <p:sp>
        <p:nvSpPr>
          <p:cNvPr id="33" name="Rectangle 20"/>
          <p:cNvSpPr>
            <a:spLocks noChangeArrowheads="1"/>
          </p:cNvSpPr>
          <p:nvPr/>
        </p:nvSpPr>
        <p:spPr bwMode="auto">
          <a:xfrm>
            <a:off x="1287784" y="3017167"/>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x</a:t>
            </a:r>
            <a:r>
              <a:rPr lang="en-US" altLang="zh-CN" sz="1200" b="1" baseline="-25000">
                <a:effectLst/>
              </a:rPr>
              <a:t>6</a:t>
            </a:r>
            <a:endParaRPr lang="en-US" altLang="zh-CN" sz="1200" b="1" baseline="-25000">
              <a:effectLst/>
            </a:endParaRPr>
          </a:p>
        </p:txBody>
      </p:sp>
      <p:sp>
        <p:nvSpPr>
          <p:cNvPr id="34" name="Rectangle 21"/>
          <p:cNvSpPr>
            <a:spLocks noChangeArrowheads="1"/>
          </p:cNvSpPr>
          <p:nvPr/>
        </p:nvSpPr>
        <p:spPr bwMode="auto">
          <a:xfrm>
            <a:off x="540072" y="3017167"/>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M</a:t>
            </a:r>
            <a:endParaRPr lang="en-US" altLang="zh-CN" sz="1800" b="1">
              <a:effectLst/>
            </a:endParaRPr>
          </a:p>
        </p:txBody>
      </p:sp>
      <p:sp>
        <p:nvSpPr>
          <p:cNvPr id="35" name="Rectangle 22"/>
          <p:cNvSpPr>
            <a:spLocks noChangeArrowheads="1"/>
          </p:cNvSpPr>
          <p:nvPr/>
        </p:nvSpPr>
        <p:spPr bwMode="auto">
          <a:xfrm>
            <a:off x="8172449" y="1921792"/>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1/1</a:t>
            </a:r>
            <a:endParaRPr lang="en-US" altLang="zh-CN" sz="1800" b="1">
              <a:effectLst/>
            </a:endParaRPr>
          </a:p>
        </p:txBody>
      </p:sp>
      <p:sp>
        <p:nvSpPr>
          <p:cNvPr id="36" name="Rectangle 23"/>
          <p:cNvSpPr>
            <a:spLocks noChangeArrowheads="1"/>
          </p:cNvSpPr>
          <p:nvPr/>
        </p:nvSpPr>
        <p:spPr bwMode="auto">
          <a:xfrm>
            <a:off x="3038797" y="1921792"/>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dirty="0">
                <a:effectLst/>
              </a:rPr>
              <a:t>    -1          1        0       -1        0        0         1</a:t>
            </a:r>
            <a:endParaRPr lang="en-US" altLang="zh-CN" sz="1800" b="1" dirty="0">
              <a:effectLst/>
            </a:endParaRPr>
          </a:p>
        </p:txBody>
      </p:sp>
      <p:sp>
        <p:nvSpPr>
          <p:cNvPr id="37" name="Rectangle 24"/>
          <p:cNvSpPr>
            <a:spLocks noChangeArrowheads="1"/>
          </p:cNvSpPr>
          <p:nvPr/>
        </p:nvSpPr>
        <p:spPr bwMode="auto">
          <a:xfrm>
            <a:off x="2203772" y="1921792"/>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1</a:t>
            </a:r>
            <a:endParaRPr lang="en-US" altLang="zh-CN" sz="1800" b="1">
              <a:effectLst/>
            </a:endParaRPr>
          </a:p>
        </p:txBody>
      </p:sp>
      <p:sp>
        <p:nvSpPr>
          <p:cNvPr id="38" name="Rectangle 25"/>
          <p:cNvSpPr>
            <a:spLocks noChangeArrowheads="1"/>
          </p:cNvSpPr>
          <p:nvPr/>
        </p:nvSpPr>
        <p:spPr bwMode="auto">
          <a:xfrm>
            <a:off x="1287784" y="1921792"/>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x</a:t>
            </a:r>
            <a:r>
              <a:rPr lang="en-US" altLang="zh-CN" sz="1200" b="1" baseline="-25000">
                <a:effectLst/>
              </a:rPr>
              <a:t>7</a:t>
            </a:r>
            <a:endParaRPr lang="en-US" altLang="zh-CN" sz="1200" b="1" baseline="-25000">
              <a:effectLst/>
            </a:endParaRPr>
          </a:p>
        </p:txBody>
      </p:sp>
      <p:sp>
        <p:nvSpPr>
          <p:cNvPr id="39" name="Rectangle 26"/>
          <p:cNvSpPr>
            <a:spLocks noChangeArrowheads="1"/>
          </p:cNvSpPr>
          <p:nvPr/>
        </p:nvSpPr>
        <p:spPr bwMode="auto">
          <a:xfrm>
            <a:off x="540072" y="1921792"/>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rPr>
              <a:t>M</a:t>
            </a:r>
            <a:endParaRPr lang="en-US" altLang="zh-CN" sz="1800" b="1">
              <a:effectLst/>
            </a:endParaRPr>
          </a:p>
        </p:txBody>
      </p:sp>
      <p:sp>
        <p:nvSpPr>
          <p:cNvPr id="40" name="Rectangle 27"/>
          <p:cNvSpPr>
            <a:spLocks noChangeArrowheads="1"/>
          </p:cNvSpPr>
          <p:nvPr/>
        </p:nvSpPr>
        <p:spPr bwMode="auto">
          <a:xfrm>
            <a:off x="8172449" y="1556667"/>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2/1</a:t>
            </a:r>
            <a:endParaRPr lang="en-US" altLang="zh-CN" sz="1800" b="1">
              <a:effectLst/>
            </a:endParaRPr>
          </a:p>
        </p:txBody>
      </p:sp>
      <p:sp>
        <p:nvSpPr>
          <p:cNvPr id="41" name="Rectangle 28"/>
          <p:cNvSpPr>
            <a:spLocks noChangeArrowheads="1"/>
          </p:cNvSpPr>
          <p:nvPr/>
        </p:nvSpPr>
        <p:spPr bwMode="auto">
          <a:xfrm>
            <a:off x="3038797" y="1556667"/>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800" b="1">
                <a:effectLst/>
              </a:rPr>
              <a:t>     1          1       -1        0        0        1         0</a:t>
            </a:r>
            <a:endParaRPr lang="en-US" altLang="zh-CN" sz="1800" b="1">
              <a:effectLst/>
            </a:endParaRPr>
          </a:p>
        </p:txBody>
      </p:sp>
      <p:sp>
        <p:nvSpPr>
          <p:cNvPr id="42" name="Rectangle 29"/>
          <p:cNvSpPr>
            <a:spLocks noChangeArrowheads="1"/>
          </p:cNvSpPr>
          <p:nvPr/>
        </p:nvSpPr>
        <p:spPr bwMode="auto">
          <a:xfrm>
            <a:off x="2203772" y="1556667"/>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2</a:t>
            </a:r>
            <a:endParaRPr lang="en-US" altLang="zh-CN" sz="1800" b="1">
              <a:effectLst/>
            </a:endParaRPr>
          </a:p>
        </p:txBody>
      </p:sp>
      <p:sp>
        <p:nvSpPr>
          <p:cNvPr id="43" name="Rectangle 30"/>
          <p:cNvSpPr>
            <a:spLocks noChangeArrowheads="1"/>
          </p:cNvSpPr>
          <p:nvPr/>
        </p:nvSpPr>
        <p:spPr bwMode="auto">
          <a:xfrm>
            <a:off x="1287784" y="1556667"/>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x</a:t>
            </a:r>
            <a:r>
              <a:rPr lang="en-US" altLang="zh-CN" sz="1200" b="1" baseline="-25000">
                <a:effectLst/>
              </a:rPr>
              <a:t>6</a:t>
            </a:r>
            <a:endParaRPr lang="en-US" altLang="zh-CN" sz="1200" b="1" baseline="-25000">
              <a:effectLst/>
            </a:endParaRPr>
          </a:p>
        </p:txBody>
      </p:sp>
      <p:sp>
        <p:nvSpPr>
          <p:cNvPr id="44" name="Rectangle 31"/>
          <p:cNvSpPr>
            <a:spLocks noChangeArrowheads="1"/>
          </p:cNvSpPr>
          <p:nvPr/>
        </p:nvSpPr>
        <p:spPr bwMode="auto">
          <a:xfrm>
            <a:off x="540072" y="1556667"/>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rPr>
              <a:t>M</a:t>
            </a:r>
            <a:endParaRPr lang="en-US" altLang="zh-CN" sz="1800" b="1">
              <a:effectLst/>
            </a:endParaRPr>
          </a:p>
        </p:txBody>
      </p:sp>
      <p:sp>
        <p:nvSpPr>
          <p:cNvPr id="45" name="Rectangle 32"/>
          <p:cNvSpPr>
            <a:spLocks noChangeArrowheads="1"/>
          </p:cNvSpPr>
          <p:nvPr/>
        </p:nvSpPr>
        <p:spPr bwMode="auto">
          <a:xfrm>
            <a:off x="7812409" y="5584155"/>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46" name="Rectangle 33"/>
          <p:cNvSpPr>
            <a:spLocks noChangeArrowheads="1"/>
          </p:cNvSpPr>
          <p:nvPr/>
        </p:nvSpPr>
        <p:spPr bwMode="auto">
          <a:xfrm>
            <a:off x="3038797" y="5584155"/>
            <a:ext cx="4918075"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800" b="1" dirty="0">
                <a:effectLst/>
                <a:cs typeface="Arial" panose="020B0604020202020204" pitchFamily="34" charset="0"/>
              </a:rPr>
              <a:t>       </a:t>
            </a:r>
            <a:r>
              <a:rPr lang="zh-CN" altLang="en-US" sz="1800" b="1" dirty="0">
                <a:effectLst/>
                <a:cs typeface="Arial" panose="020B0604020202020204" pitchFamily="34" charset="0"/>
              </a:rPr>
              <a:t> </a:t>
            </a:r>
            <a:r>
              <a:rPr lang="en-US" altLang="zh-CN" sz="1800" b="1" dirty="0">
                <a:effectLst/>
                <a:cs typeface="Arial" panose="020B0604020202020204" pitchFamily="34" charset="0"/>
              </a:rPr>
              <a:t>0         0       -1/2     - 3/2      0   1/2+M   3/2+M</a:t>
            </a:r>
            <a:endParaRPr lang="en-US" altLang="zh-CN" sz="1800" b="1" dirty="0">
              <a:effectLst/>
            </a:endParaRPr>
          </a:p>
        </p:txBody>
      </p:sp>
      <p:sp>
        <p:nvSpPr>
          <p:cNvPr id="47" name="Rectangle 34"/>
          <p:cNvSpPr>
            <a:spLocks noChangeArrowheads="1"/>
          </p:cNvSpPr>
          <p:nvPr/>
        </p:nvSpPr>
        <p:spPr bwMode="auto">
          <a:xfrm>
            <a:off x="2203772" y="5584155"/>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- 5/2</a:t>
            </a:r>
            <a:endParaRPr lang="en-US" altLang="zh-CN" sz="1800" b="1">
              <a:effectLst/>
            </a:endParaRPr>
          </a:p>
        </p:txBody>
      </p:sp>
      <p:sp>
        <p:nvSpPr>
          <p:cNvPr id="48" name="Rectangle 35"/>
          <p:cNvSpPr>
            <a:spLocks noChangeArrowheads="1"/>
          </p:cNvSpPr>
          <p:nvPr/>
        </p:nvSpPr>
        <p:spPr bwMode="auto">
          <a:xfrm>
            <a:off x="540072" y="5584155"/>
            <a:ext cx="1663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Z</a:t>
            </a:r>
            <a:endParaRPr lang="en-US" altLang="zh-CN" sz="1800" b="1">
              <a:effectLst/>
            </a:endParaRPr>
          </a:p>
        </p:txBody>
      </p:sp>
      <p:sp>
        <p:nvSpPr>
          <p:cNvPr id="49" name="Rectangle 36"/>
          <p:cNvSpPr>
            <a:spLocks noChangeArrowheads="1"/>
          </p:cNvSpPr>
          <p:nvPr/>
        </p:nvSpPr>
        <p:spPr bwMode="auto">
          <a:xfrm>
            <a:off x="7812409" y="5219030"/>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endParaRPr lang="x-none" altLang="x-none" sz="1600" b="1">
              <a:effectLst/>
            </a:endParaRPr>
          </a:p>
        </p:txBody>
      </p:sp>
      <p:sp>
        <p:nvSpPr>
          <p:cNvPr id="50" name="Rectangle 37"/>
          <p:cNvSpPr>
            <a:spLocks noChangeArrowheads="1"/>
          </p:cNvSpPr>
          <p:nvPr/>
        </p:nvSpPr>
        <p:spPr bwMode="auto">
          <a:xfrm>
            <a:off x="3038797" y="5219030"/>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effectLst/>
                <a:cs typeface="Arial" panose="020B0604020202020204" pitchFamily="34" charset="0"/>
              </a:rPr>
              <a:t>     0         0       1/2       1/2        1      -1/2     -1/2</a:t>
            </a:r>
            <a:endParaRPr lang="en-US" altLang="zh-CN" sz="1800" b="1">
              <a:effectLst/>
            </a:endParaRPr>
          </a:p>
        </p:txBody>
      </p:sp>
      <p:sp>
        <p:nvSpPr>
          <p:cNvPr id="51" name="Rectangle 38"/>
          <p:cNvSpPr>
            <a:spLocks noChangeArrowheads="1"/>
          </p:cNvSpPr>
          <p:nvPr/>
        </p:nvSpPr>
        <p:spPr bwMode="auto">
          <a:xfrm>
            <a:off x="2203772" y="5219030"/>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cs typeface="Arial" panose="020B0604020202020204" pitchFamily="34" charset="0"/>
              </a:rPr>
              <a:t>3/2</a:t>
            </a:r>
            <a:endParaRPr lang="en-US" altLang="zh-CN" sz="1800" b="1">
              <a:effectLst/>
            </a:endParaRPr>
          </a:p>
        </p:txBody>
      </p:sp>
      <p:sp>
        <p:nvSpPr>
          <p:cNvPr id="52" name="Rectangle 39"/>
          <p:cNvSpPr>
            <a:spLocks noChangeArrowheads="1"/>
          </p:cNvSpPr>
          <p:nvPr/>
        </p:nvSpPr>
        <p:spPr bwMode="auto">
          <a:xfrm>
            <a:off x="1287784" y="5219030"/>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cs typeface="Arial" panose="020B0604020202020204" pitchFamily="34" charset="0"/>
              </a:rPr>
              <a:t>x</a:t>
            </a:r>
            <a:r>
              <a:rPr lang="en-US" altLang="zh-CN" sz="1800" b="1" baseline="-30000">
                <a:effectLst/>
                <a:cs typeface="Arial" panose="020B0604020202020204" pitchFamily="34" charset="0"/>
              </a:rPr>
              <a:t>5</a:t>
            </a:r>
            <a:endParaRPr lang="en-US" altLang="zh-CN" sz="1800" b="1">
              <a:effectLst/>
            </a:endParaRPr>
          </a:p>
        </p:txBody>
      </p:sp>
      <p:sp>
        <p:nvSpPr>
          <p:cNvPr id="53" name="Rectangle 40"/>
          <p:cNvSpPr>
            <a:spLocks noChangeArrowheads="1"/>
          </p:cNvSpPr>
          <p:nvPr/>
        </p:nvSpPr>
        <p:spPr bwMode="auto">
          <a:xfrm>
            <a:off x="540072" y="5219030"/>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cs typeface="Arial" panose="020B0604020202020204" pitchFamily="34" charset="0"/>
              </a:rPr>
              <a:t>0</a:t>
            </a:r>
            <a:endParaRPr lang="en-US" altLang="zh-CN" sz="1800" b="1">
              <a:effectLst/>
            </a:endParaRPr>
          </a:p>
        </p:txBody>
      </p:sp>
      <p:sp>
        <p:nvSpPr>
          <p:cNvPr id="54" name="Rectangle 41"/>
          <p:cNvSpPr>
            <a:spLocks noChangeArrowheads="1"/>
          </p:cNvSpPr>
          <p:nvPr/>
        </p:nvSpPr>
        <p:spPr bwMode="auto">
          <a:xfrm>
            <a:off x="8172449" y="4112542"/>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55" name="Rectangle 42"/>
          <p:cNvSpPr>
            <a:spLocks noChangeArrowheads="1"/>
          </p:cNvSpPr>
          <p:nvPr/>
        </p:nvSpPr>
        <p:spPr bwMode="auto">
          <a:xfrm>
            <a:off x="3038797" y="4112542"/>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800" b="1" dirty="0">
                <a:effectLst/>
                <a:cs typeface="Arial" panose="020B0604020202020204" pitchFamily="34" charset="0"/>
              </a:rPr>
              <a:t>  -1</a:t>
            </a:r>
            <a:r>
              <a:rPr lang="en-US" altLang="zh-CN" sz="2000" b="1" dirty="0">
                <a:effectLst/>
              </a:rPr>
              <a:t>-</a:t>
            </a:r>
            <a:r>
              <a:rPr lang="en-US" altLang="zh-CN" sz="1800" b="1" dirty="0">
                <a:effectLst/>
                <a:cs typeface="Arial" panose="020B0604020202020204" pitchFamily="34" charset="0"/>
              </a:rPr>
              <a:t>2M      0      </a:t>
            </a:r>
            <a:r>
              <a:rPr lang="zh-CN" altLang="en-US" sz="1800" b="1" dirty="0">
                <a:effectLst/>
                <a:cs typeface="Arial" panose="020B0604020202020204" pitchFamily="34" charset="0"/>
              </a:rPr>
              <a:t>    </a:t>
            </a:r>
            <a:r>
              <a:rPr lang="en-US" altLang="zh-CN" sz="1800" b="1" dirty="0">
                <a:effectLst/>
                <a:cs typeface="Arial" panose="020B0604020202020204" pitchFamily="34" charset="0"/>
              </a:rPr>
              <a:t>M    </a:t>
            </a:r>
            <a:r>
              <a:rPr lang="zh-CN" altLang="en-US" sz="1800" b="1" dirty="0">
                <a:effectLst/>
                <a:cs typeface="Arial" panose="020B0604020202020204" pitchFamily="34" charset="0"/>
              </a:rPr>
              <a:t> </a:t>
            </a:r>
            <a:r>
              <a:rPr lang="en-US" altLang="zh-CN" sz="1800" b="1" dirty="0">
                <a:effectLst/>
                <a:cs typeface="Arial" panose="020B0604020202020204" pitchFamily="34" charset="0"/>
              </a:rPr>
              <a:t>-2</a:t>
            </a:r>
            <a:r>
              <a:rPr lang="en-US" altLang="zh-CN" sz="2000" b="1" dirty="0"/>
              <a:t>-</a:t>
            </a:r>
            <a:r>
              <a:rPr lang="en-US" altLang="zh-CN" sz="1800" b="1" dirty="0">
                <a:effectLst/>
                <a:cs typeface="Arial" panose="020B0604020202020204" pitchFamily="34" charset="0"/>
              </a:rPr>
              <a:t>M     0        0      2+2M</a:t>
            </a:r>
            <a:endParaRPr lang="en-US" altLang="zh-CN" sz="1800" b="1" dirty="0">
              <a:effectLst/>
              <a:cs typeface="Arial" panose="020B0604020202020204" pitchFamily="34" charset="0"/>
            </a:endParaRPr>
          </a:p>
        </p:txBody>
      </p:sp>
      <p:sp>
        <p:nvSpPr>
          <p:cNvPr id="56" name="Rectangle 43"/>
          <p:cNvSpPr>
            <a:spLocks noChangeArrowheads="1"/>
          </p:cNvSpPr>
          <p:nvPr/>
        </p:nvSpPr>
        <p:spPr bwMode="auto">
          <a:xfrm>
            <a:off x="2203772" y="4112542"/>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-2+M</a:t>
            </a:r>
            <a:endParaRPr lang="en-US" altLang="zh-CN" sz="1800" b="1">
              <a:effectLst/>
            </a:endParaRPr>
          </a:p>
        </p:txBody>
      </p:sp>
      <p:sp>
        <p:nvSpPr>
          <p:cNvPr id="57" name="Rectangle 44"/>
          <p:cNvSpPr>
            <a:spLocks noChangeArrowheads="1"/>
          </p:cNvSpPr>
          <p:nvPr/>
        </p:nvSpPr>
        <p:spPr bwMode="auto">
          <a:xfrm>
            <a:off x="540072" y="4112542"/>
            <a:ext cx="1663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Z</a:t>
            </a:r>
            <a:endParaRPr lang="en-US" altLang="zh-CN" sz="1800" b="1">
              <a:effectLst/>
            </a:endParaRPr>
          </a:p>
        </p:txBody>
      </p:sp>
      <p:sp>
        <p:nvSpPr>
          <p:cNvPr id="58" name="Rectangle 45"/>
          <p:cNvSpPr>
            <a:spLocks noChangeArrowheads="1"/>
          </p:cNvSpPr>
          <p:nvPr/>
        </p:nvSpPr>
        <p:spPr bwMode="auto">
          <a:xfrm>
            <a:off x="8172449" y="3747417"/>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cs typeface="Arial" panose="020B0604020202020204" pitchFamily="34" charset="0"/>
              </a:rPr>
              <a:t>2/1</a:t>
            </a:r>
            <a:endParaRPr lang="en-US" altLang="zh-CN" sz="1800" b="1">
              <a:effectLst/>
            </a:endParaRPr>
          </a:p>
        </p:txBody>
      </p:sp>
      <p:sp>
        <p:nvSpPr>
          <p:cNvPr id="59" name="Rectangle 46"/>
          <p:cNvSpPr>
            <a:spLocks noChangeArrowheads="1"/>
          </p:cNvSpPr>
          <p:nvPr/>
        </p:nvSpPr>
        <p:spPr bwMode="auto">
          <a:xfrm>
            <a:off x="3038797" y="3747417"/>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effectLst/>
                <a:cs typeface="Arial" panose="020B0604020202020204" pitchFamily="34" charset="0"/>
              </a:rPr>
              <a:t>     1         0          0         1         1        0       -1</a:t>
            </a:r>
            <a:endParaRPr lang="en-US" altLang="zh-CN" sz="1800" b="1">
              <a:effectLst/>
            </a:endParaRPr>
          </a:p>
        </p:txBody>
      </p:sp>
      <p:sp>
        <p:nvSpPr>
          <p:cNvPr id="60" name="Rectangle 47"/>
          <p:cNvSpPr>
            <a:spLocks noChangeArrowheads="1"/>
          </p:cNvSpPr>
          <p:nvPr/>
        </p:nvSpPr>
        <p:spPr bwMode="auto">
          <a:xfrm>
            <a:off x="2203772" y="3747417"/>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2</a:t>
            </a:r>
            <a:endParaRPr lang="en-US" altLang="zh-CN" sz="1800" b="1">
              <a:effectLst/>
            </a:endParaRPr>
          </a:p>
        </p:txBody>
      </p:sp>
      <p:sp>
        <p:nvSpPr>
          <p:cNvPr id="61" name="Rectangle 48"/>
          <p:cNvSpPr>
            <a:spLocks noChangeArrowheads="1"/>
          </p:cNvSpPr>
          <p:nvPr/>
        </p:nvSpPr>
        <p:spPr bwMode="auto">
          <a:xfrm>
            <a:off x="1287784" y="3747417"/>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cs typeface="Arial" panose="020B0604020202020204" pitchFamily="34" charset="0"/>
              </a:rPr>
              <a:t>x</a:t>
            </a:r>
            <a:r>
              <a:rPr lang="en-US" altLang="zh-CN" sz="1800" b="1" baseline="-30000">
                <a:effectLst/>
                <a:cs typeface="Arial" panose="020B0604020202020204" pitchFamily="34" charset="0"/>
              </a:rPr>
              <a:t>5</a:t>
            </a:r>
            <a:endParaRPr lang="en-US" altLang="zh-CN" sz="1800" b="1">
              <a:effectLst/>
            </a:endParaRPr>
          </a:p>
        </p:txBody>
      </p:sp>
      <p:sp>
        <p:nvSpPr>
          <p:cNvPr id="62" name="Rectangle 49"/>
          <p:cNvSpPr>
            <a:spLocks noChangeArrowheads="1"/>
          </p:cNvSpPr>
          <p:nvPr/>
        </p:nvSpPr>
        <p:spPr bwMode="auto">
          <a:xfrm>
            <a:off x="540072" y="3747417"/>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0</a:t>
            </a:r>
            <a:endParaRPr lang="en-US" altLang="zh-CN" sz="1800" b="1">
              <a:effectLst/>
            </a:endParaRPr>
          </a:p>
        </p:txBody>
      </p:sp>
      <p:sp>
        <p:nvSpPr>
          <p:cNvPr id="63" name="Rectangle 50"/>
          <p:cNvSpPr>
            <a:spLocks noChangeArrowheads="1"/>
          </p:cNvSpPr>
          <p:nvPr/>
        </p:nvSpPr>
        <p:spPr bwMode="auto">
          <a:xfrm>
            <a:off x="8172449" y="2652042"/>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64" name="Rectangle 51"/>
          <p:cNvSpPr>
            <a:spLocks noChangeArrowheads="1"/>
          </p:cNvSpPr>
          <p:nvPr/>
        </p:nvSpPr>
        <p:spPr bwMode="auto">
          <a:xfrm>
            <a:off x="3059434" y="2626642"/>
            <a:ext cx="477361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zh-CN" sz="1800" b="1" dirty="0">
                <a:effectLst/>
                <a:cs typeface="Arial" panose="020B0604020202020204" pitchFamily="34" charset="0"/>
              </a:rPr>
              <a:t>       1    </a:t>
            </a:r>
            <a:r>
              <a:rPr lang="en-US" altLang="zh-CN" sz="1800" b="1" dirty="0">
                <a:effectLst/>
              </a:rPr>
              <a:t>-</a:t>
            </a:r>
            <a:r>
              <a:rPr lang="en-US" altLang="zh-CN" sz="1800" b="1" dirty="0">
                <a:effectLst/>
                <a:cs typeface="Arial" panose="020B0604020202020204" pitchFamily="34" charset="0"/>
              </a:rPr>
              <a:t>2</a:t>
            </a:r>
            <a:r>
              <a:rPr lang="en-US" altLang="zh-CN" sz="1800" b="1" dirty="0">
                <a:effectLst/>
              </a:rPr>
              <a:t>-</a:t>
            </a:r>
            <a:r>
              <a:rPr lang="en-US" altLang="zh-CN" sz="1800" b="1" dirty="0">
                <a:effectLst/>
                <a:cs typeface="Arial" panose="020B0604020202020204" pitchFamily="34" charset="0"/>
              </a:rPr>
              <a:t>2M     </a:t>
            </a:r>
            <a:r>
              <a:rPr lang="zh-CN" altLang="en-US" sz="1800" b="1" dirty="0">
                <a:effectLst/>
                <a:cs typeface="Arial" panose="020B0604020202020204" pitchFamily="34" charset="0"/>
              </a:rPr>
              <a:t>  </a:t>
            </a:r>
            <a:r>
              <a:rPr lang="en-US" altLang="zh-CN" sz="1800" b="1" dirty="0">
                <a:effectLst/>
                <a:cs typeface="Arial" panose="020B0604020202020204" pitchFamily="34" charset="0"/>
              </a:rPr>
              <a:t>M      </a:t>
            </a:r>
            <a:r>
              <a:rPr lang="zh-CN" altLang="en-US" sz="1800" b="1" dirty="0">
                <a:effectLst/>
                <a:cs typeface="Arial" panose="020B0604020202020204" pitchFamily="34" charset="0"/>
              </a:rPr>
              <a:t> </a:t>
            </a:r>
            <a:r>
              <a:rPr lang="en-US" altLang="zh-CN" sz="1800" b="1" dirty="0">
                <a:effectLst/>
                <a:cs typeface="Arial" panose="020B0604020202020204" pitchFamily="34" charset="0"/>
              </a:rPr>
              <a:t>M        0        0         0</a:t>
            </a:r>
            <a:endParaRPr lang="en-US" altLang="zh-CN" sz="1800" b="1" dirty="0">
              <a:effectLst/>
              <a:cs typeface="Arial" panose="020B0604020202020204" pitchFamily="34" charset="0"/>
            </a:endParaRPr>
          </a:p>
        </p:txBody>
      </p:sp>
      <p:sp>
        <p:nvSpPr>
          <p:cNvPr id="65" name="Rectangle 52"/>
          <p:cNvSpPr>
            <a:spLocks noChangeArrowheads="1"/>
          </p:cNvSpPr>
          <p:nvPr/>
        </p:nvSpPr>
        <p:spPr bwMode="auto">
          <a:xfrm>
            <a:off x="2203772" y="2652042"/>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3M</a:t>
            </a:r>
            <a:endParaRPr lang="en-US" altLang="zh-CN" sz="1800" b="1">
              <a:effectLst/>
            </a:endParaRPr>
          </a:p>
        </p:txBody>
      </p:sp>
      <p:sp>
        <p:nvSpPr>
          <p:cNvPr id="66" name="Rectangle 53"/>
          <p:cNvSpPr>
            <a:spLocks noChangeArrowheads="1"/>
          </p:cNvSpPr>
          <p:nvPr/>
        </p:nvSpPr>
        <p:spPr bwMode="auto">
          <a:xfrm>
            <a:off x="540072" y="2652042"/>
            <a:ext cx="1663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Z</a:t>
            </a:r>
            <a:endParaRPr lang="en-US" altLang="zh-CN" sz="1800" b="1">
              <a:effectLst/>
            </a:endParaRPr>
          </a:p>
        </p:txBody>
      </p:sp>
      <p:sp>
        <p:nvSpPr>
          <p:cNvPr id="67" name="Rectangle 54"/>
          <p:cNvSpPr>
            <a:spLocks noChangeArrowheads="1"/>
          </p:cNvSpPr>
          <p:nvPr/>
        </p:nvSpPr>
        <p:spPr bwMode="auto">
          <a:xfrm>
            <a:off x="8172449" y="2286917"/>
            <a:ext cx="10080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cs typeface="Arial" panose="020B0604020202020204" pitchFamily="34" charset="0"/>
              </a:rPr>
              <a:t>3/1</a:t>
            </a:r>
            <a:endParaRPr lang="en-US" altLang="zh-CN" sz="1800" b="1">
              <a:effectLst/>
            </a:endParaRPr>
          </a:p>
        </p:txBody>
      </p:sp>
      <p:sp>
        <p:nvSpPr>
          <p:cNvPr id="68" name="Rectangle 55"/>
          <p:cNvSpPr>
            <a:spLocks noChangeArrowheads="1"/>
          </p:cNvSpPr>
          <p:nvPr/>
        </p:nvSpPr>
        <p:spPr bwMode="auto">
          <a:xfrm>
            <a:off x="3038797" y="2286917"/>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0" hangingPunct="0"/>
            <a:r>
              <a:rPr lang="en-US" altLang="zh-CN" sz="1800" b="1">
                <a:effectLst/>
                <a:cs typeface="Arial" panose="020B0604020202020204" pitchFamily="34" charset="0"/>
              </a:rPr>
              <a:t>     0          1        0        0         1        0         0</a:t>
            </a:r>
            <a:endParaRPr lang="en-US" altLang="zh-CN" sz="1800" b="1">
              <a:effectLst/>
            </a:endParaRPr>
          </a:p>
        </p:txBody>
      </p:sp>
      <p:sp>
        <p:nvSpPr>
          <p:cNvPr id="69" name="Rectangle 56"/>
          <p:cNvSpPr>
            <a:spLocks noChangeArrowheads="1"/>
          </p:cNvSpPr>
          <p:nvPr/>
        </p:nvSpPr>
        <p:spPr bwMode="auto">
          <a:xfrm>
            <a:off x="2203772" y="2286917"/>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cs typeface="Arial" panose="020B0604020202020204" pitchFamily="34" charset="0"/>
              </a:rPr>
              <a:t>3</a:t>
            </a:r>
            <a:endParaRPr lang="en-US" altLang="zh-CN" sz="1800" b="1">
              <a:effectLst/>
            </a:endParaRPr>
          </a:p>
        </p:txBody>
      </p:sp>
      <p:sp>
        <p:nvSpPr>
          <p:cNvPr id="70" name="Rectangle 57"/>
          <p:cNvSpPr>
            <a:spLocks noChangeArrowheads="1"/>
          </p:cNvSpPr>
          <p:nvPr/>
        </p:nvSpPr>
        <p:spPr bwMode="auto">
          <a:xfrm>
            <a:off x="1287784" y="2286917"/>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cs typeface="Arial" panose="020B0604020202020204" pitchFamily="34" charset="0"/>
              </a:rPr>
              <a:t>x</a:t>
            </a:r>
            <a:r>
              <a:rPr lang="en-US" altLang="zh-CN" sz="1800" b="1" baseline="-30000">
                <a:effectLst/>
                <a:cs typeface="Arial" panose="020B0604020202020204" pitchFamily="34" charset="0"/>
              </a:rPr>
              <a:t>5</a:t>
            </a:r>
            <a:endParaRPr lang="en-US" altLang="zh-CN" sz="1800" b="1">
              <a:effectLst/>
            </a:endParaRPr>
          </a:p>
        </p:txBody>
      </p:sp>
      <p:sp>
        <p:nvSpPr>
          <p:cNvPr id="71" name="Rectangle 58"/>
          <p:cNvSpPr>
            <a:spLocks noChangeArrowheads="1"/>
          </p:cNvSpPr>
          <p:nvPr/>
        </p:nvSpPr>
        <p:spPr bwMode="auto">
          <a:xfrm>
            <a:off x="540072" y="2286917"/>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zh-CN" sz="1800" b="1">
                <a:effectLst/>
                <a:cs typeface="Arial" panose="020B0604020202020204" pitchFamily="34" charset="0"/>
              </a:rPr>
              <a:t>0</a:t>
            </a:r>
            <a:endParaRPr lang="en-US" altLang="zh-CN" sz="1800" b="1">
              <a:effectLst/>
            </a:endParaRPr>
          </a:p>
        </p:txBody>
      </p:sp>
      <p:sp>
        <p:nvSpPr>
          <p:cNvPr id="72" name="Rectangle 59"/>
          <p:cNvSpPr>
            <a:spLocks noChangeArrowheads="1"/>
          </p:cNvSpPr>
          <p:nvPr/>
        </p:nvSpPr>
        <p:spPr bwMode="auto">
          <a:xfrm>
            <a:off x="3038797" y="1191542"/>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800" b="1">
                <a:effectLst/>
                <a:cs typeface="Arial" panose="020B0604020202020204" pitchFamily="34" charset="0"/>
              </a:rPr>
              <a:t>　  </a:t>
            </a:r>
            <a:r>
              <a:rPr lang="en-US" altLang="zh-CN" sz="1800" b="1">
                <a:effectLst/>
                <a:cs typeface="Arial" panose="020B0604020202020204" pitchFamily="34" charset="0"/>
              </a:rPr>
              <a:t>x</a:t>
            </a:r>
            <a:r>
              <a:rPr lang="en-US" altLang="zh-CN" sz="1800" b="1" baseline="-30000">
                <a:effectLst/>
                <a:cs typeface="Arial" panose="020B0604020202020204" pitchFamily="34" charset="0"/>
              </a:rPr>
              <a:t>1</a:t>
            </a:r>
            <a:r>
              <a:rPr lang="en-US" altLang="zh-CN" sz="1800" b="1">
                <a:effectLst/>
                <a:cs typeface="Arial" panose="020B0604020202020204" pitchFamily="34" charset="0"/>
              </a:rPr>
              <a:t>         x</a:t>
            </a:r>
            <a:r>
              <a:rPr lang="en-US" altLang="zh-CN" sz="1800" b="1" baseline="-30000">
                <a:effectLst/>
                <a:cs typeface="Arial" panose="020B0604020202020204" pitchFamily="34" charset="0"/>
              </a:rPr>
              <a:t>2</a:t>
            </a:r>
            <a:r>
              <a:rPr lang="en-US" altLang="zh-CN" sz="1800" b="1">
                <a:effectLst/>
                <a:cs typeface="Arial" panose="020B0604020202020204" pitchFamily="34" charset="0"/>
              </a:rPr>
              <a:t>       x</a:t>
            </a:r>
            <a:r>
              <a:rPr lang="en-US" altLang="zh-CN" sz="1800" b="1" baseline="-30000">
                <a:effectLst/>
                <a:cs typeface="Arial" panose="020B0604020202020204" pitchFamily="34" charset="0"/>
              </a:rPr>
              <a:t>3</a:t>
            </a:r>
            <a:r>
              <a:rPr lang="en-US" altLang="zh-CN" sz="1800" b="1">
                <a:effectLst/>
                <a:cs typeface="Arial" panose="020B0604020202020204" pitchFamily="34" charset="0"/>
              </a:rPr>
              <a:t>       x</a:t>
            </a:r>
            <a:r>
              <a:rPr lang="en-US" altLang="zh-CN" sz="1800" b="1" baseline="-30000">
                <a:effectLst/>
                <a:cs typeface="Arial" panose="020B0604020202020204" pitchFamily="34" charset="0"/>
              </a:rPr>
              <a:t>4</a:t>
            </a:r>
            <a:r>
              <a:rPr lang="en-US" altLang="zh-CN" sz="1800" b="1">
                <a:effectLst/>
                <a:cs typeface="Arial" panose="020B0604020202020204" pitchFamily="34" charset="0"/>
              </a:rPr>
              <a:t>       x</a:t>
            </a:r>
            <a:r>
              <a:rPr lang="en-US" altLang="zh-CN" sz="1800" b="1" baseline="-30000">
                <a:effectLst/>
                <a:cs typeface="Arial" panose="020B0604020202020204" pitchFamily="34" charset="0"/>
              </a:rPr>
              <a:t>5</a:t>
            </a:r>
            <a:r>
              <a:rPr lang="en-US" altLang="zh-CN" sz="1800" b="1">
                <a:effectLst/>
                <a:cs typeface="Arial" panose="020B0604020202020204" pitchFamily="34" charset="0"/>
              </a:rPr>
              <a:t>       x</a:t>
            </a:r>
            <a:r>
              <a:rPr lang="en-US" altLang="zh-CN" sz="1800" b="1" baseline="-30000">
                <a:effectLst/>
                <a:cs typeface="Arial" panose="020B0604020202020204" pitchFamily="34" charset="0"/>
              </a:rPr>
              <a:t>6</a:t>
            </a:r>
            <a:r>
              <a:rPr lang="en-US" altLang="zh-CN" sz="1800" b="1">
                <a:effectLst/>
                <a:cs typeface="Arial" panose="020B0604020202020204" pitchFamily="34" charset="0"/>
              </a:rPr>
              <a:t>       x</a:t>
            </a:r>
            <a:r>
              <a:rPr lang="en-US" altLang="zh-CN" sz="1800" b="1" baseline="-30000">
                <a:effectLst/>
                <a:cs typeface="Arial" panose="020B0604020202020204" pitchFamily="34" charset="0"/>
              </a:rPr>
              <a:t>7</a:t>
            </a:r>
            <a:endParaRPr lang="en-US" altLang="zh-CN" sz="1800" b="1">
              <a:effectLst/>
            </a:endParaRPr>
          </a:p>
        </p:txBody>
      </p:sp>
      <p:sp>
        <p:nvSpPr>
          <p:cNvPr id="73" name="Rectangle 60"/>
          <p:cNvSpPr>
            <a:spLocks noChangeArrowheads="1"/>
          </p:cNvSpPr>
          <p:nvPr/>
        </p:nvSpPr>
        <p:spPr bwMode="auto">
          <a:xfrm>
            <a:off x="2203772" y="1191542"/>
            <a:ext cx="8350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b</a:t>
            </a:r>
            <a:endParaRPr lang="en-US" altLang="zh-CN" sz="1800" b="1">
              <a:effectLst/>
            </a:endParaRPr>
          </a:p>
        </p:txBody>
      </p:sp>
      <p:sp>
        <p:nvSpPr>
          <p:cNvPr id="74" name="Rectangle 61"/>
          <p:cNvSpPr>
            <a:spLocks noChangeArrowheads="1"/>
          </p:cNvSpPr>
          <p:nvPr/>
        </p:nvSpPr>
        <p:spPr bwMode="auto">
          <a:xfrm>
            <a:off x="1287784" y="1191542"/>
            <a:ext cx="9159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X</a:t>
            </a:r>
            <a:r>
              <a:rPr lang="en-US" altLang="zh-CN" sz="1800" b="1" baseline="-30000">
                <a:effectLst/>
                <a:cs typeface="Arial" panose="020B0604020202020204" pitchFamily="34" charset="0"/>
              </a:rPr>
              <a:t>B</a:t>
            </a:r>
            <a:endParaRPr lang="en-US" altLang="zh-CN" sz="1800" b="1">
              <a:effectLst/>
            </a:endParaRPr>
          </a:p>
        </p:txBody>
      </p:sp>
      <p:sp>
        <p:nvSpPr>
          <p:cNvPr id="75" name="Rectangle 62"/>
          <p:cNvSpPr>
            <a:spLocks noChangeArrowheads="1"/>
          </p:cNvSpPr>
          <p:nvPr/>
        </p:nvSpPr>
        <p:spPr bwMode="auto">
          <a:xfrm>
            <a:off x="540072" y="1191542"/>
            <a:ext cx="7477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C</a:t>
            </a:r>
            <a:r>
              <a:rPr lang="en-US" altLang="zh-CN" sz="1800" b="1" baseline="-30000">
                <a:effectLst/>
                <a:cs typeface="Arial" panose="020B0604020202020204" pitchFamily="34" charset="0"/>
              </a:rPr>
              <a:t>B</a:t>
            </a:r>
            <a:endParaRPr lang="en-US" altLang="zh-CN" sz="1800" b="1">
              <a:effectLst/>
            </a:endParaRPr>
          </a:p>
        </p:txBody>
      </p:sp>
      <p:sp>
        <p:nvSpPr>
          <p:cNvPr id="76" name="Rectangle 63"/>
          <p:cNvSpPr>
            <a:spLocks noChangeArrowheads="1"/>
          </p:cNvSpPr>
          <p:nvPr/>
        </p:nvSpPr>
        <p:spPr bwMode="auto">
          <a:xfrm>
            <a:off x="8172449" y="826417"/>
            <a:ext cx="1008063"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effectLst/>
                <a:cs typeface="Arial" panose="020B0604020202020204" pitchFamily="34" charset="0"/>
              </a:rPr>
              <a:t>θ</a:t>
            </a:r>
            <a:endParaRPr lang="en-US" altLang="zh-CN" sz="1800" b="1">
              <a:effectLst/>
            </a:endParaRPr>
          </a:p>
        </p:txBody>
      </p:sp>
      <p:sp>
        <p:nvSpPr>
          <p:cNvPr id="77" name="Rectangle 64"/>
          <p:cNvSpPr>
            <a:spLocks noChangeArrowheads="1"/>
          </p:cNvSpPr>
          <p:nvPr/>
        </p:nvSpPr>
        <p:spPr bwMode="auto">
          <a:xfrm>
            <a:off x="3038797" y="826417"/>
            <a:ext cx="477361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800" b="1">
                <a:solidFill>
                  <a:schemeClr val="accent2"/>
                </a:solidFill>
                <a:effectLst/>
                <a:cs typeface="Arial" panose="020B0604020202020204" pitchFamily="34" charset="0"/>
              </a:rPr>
              <a:t>　   </a:t>
            </a:r>
            <a:r>
              <a:rPr lang="en-US" altLang="zh-CN" sz="1800" b="1">
                <a:solidFill>
                  <a:schemeClr val="accent2"/>
                </a:solidFill>
                <a:effectLst/>
                <a:cs typeface="Arial" panose="020B0604020202020204" pitchFamily="34" charset="0"/>
              </a:rPr>
              <a:t>1       </a:t>
            </a:r>
            <a:r>
              <a:rPr lang="zh-CN" altLang="en-US" sz="1800" b="1">
                <a:solidFill>
                  <a:schemeClr val="accent2"/>
                </a:solidFill>
                <a:effectLst/>
                <a:cs typeface="Arial" panose="020B0604020202020204" pitchFamily="34" charset="0"/>
              </a:rPr>
              <a:t>－</a:t>
            </a:r>
            <a:r>
              <a:rPr lang="en-US" altLang="zh-CN" sz="1800" b="1">
                <a:solidFill>
                  <a:schemeClr val="accent2"/>
                </a:solidFill>
                <a:effectLst/>
                <a:cs typeface="Arial" panose="020B0604020202020204" pitchFamily="34" charset="0"/>
              </a:rPr>
              <a:t>2       0        0        0        M       M</a:t>
            </a:r>
            <a:endParaRPr lang="en-US" altLang="zh-CN" sz="1800" b="1">
              <a:solidFill>
                <a:schemeClr val="accent2"/>
              </a:solidFill>
              <a:effectLst/>
            </a:endParaRPr>
          </a:p>
        </p:txBody>
      </p:sp>
      <p:sp>
        <p:nvSpPr>
          <p:cNvPr id="78" name="Rectangle 65"/>
          <p:cNvSpPr>
            <a:spLocks noChangeArrowheads="1"/>
          </p:cNvSpPr>
          <p:nvPr/>
        </p:nvSpPr>
        <p:spPr bwMode="auto">
          <a:xfrm>
            <a:off x="540072" y="826417"/>
            <a:ext cx="24987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solidFill>
                  <a:schemeClr val="accent2"/>
                </a:solidFill>
                <a:effectLst/>
                <a:cs typeface="Arial" panose="020B0604020202020204" pitchFamily="34" charset="0"/>
              </a:rPr>
              <a:t>C</a:t>
            </a:r>
            <a:endParaRPr lang="en-US" altLang="zh-CN" sz="1800" b="1">
              <a:solidFill>
                <a:schemeClr val="accent2"/>
              </a:solidFill>
              <a:effectLst/>
            </a:endParaRPr>
          </a:p>
        </p:txBody>
      </p:sp>
      <p:sp>
        <p:nvSpPr>
          <p:cNvPr id="79" name="Line 66"/>
          <p:cNvSpPr>
            <a:spLocks noChangeShapeType="1"/>
          </p:cNvSpPr>
          <p:nvPr/>
        </p:nvSpPr>
        <p:spPr bwMode="auto">
          <a:xfrm>
            <a:off x="540072" y="1191542"/>
            <a:ext cx="727233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0" name="Line 67"/>
          <p:cNvSpPr>
            <a:spLocks noChangeShapeType="1"/>
          </p:cNvSpPr>
          <p:nvPr/>
        </p:nvSpPr>
        <p:spPr bwMode="auto">
          <a:xfrm>
            <a:off x="3038797" y="826417"/>
            <a:ext cx="0" cy="512286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1" name="Line 68"/>
          <p:cNvSpPr>
            <a:spLocks noChangeShapeType="1"/>
          </p:cNvSpPr>
          <p:nvPr/>
        </p:nvSpPr>
        <p:spPr bwMode="auto">
          <a:xfrm>
            <a:off x="7956872" y="826417"/>
            <a:ext cx="0" cy="512286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2" name="Line 69"/>
          <p:cNvSpPr>
            <a:spLocks noChangeShapeType="1"/>
          </p:cNvSpPr>
          <p:nvPr/>
        </p:nvSpPr>
        <p:spPr bwMode="auto">
          <a:xfrm>
            <a:off x="1287784" y="1191542"/>
            <a:ext cx="0" cy="14605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3" name="Line 70"/>
          <p:cNvSpPr>
            <a:spLocks noChangeShapeType="1"/>
          </p:cNvSpPr>
          <p:nvPr/>
        </p:nvSpPr>
        <p:spPr bwMode="auto">
          <a:xfrm>
            <a:off x="2203772" y="1191542"/>
            <a:ext cx="0" cy="475773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4" name="Line 71"/>
          <p:cNvSpPr>
            <a:spLocks noChangeShapeType="1"/>
          </p:cNvSpPr>
          <p:nvPr/>
        </p:nvSpPr>
        <p:spPr bwMode="auto">
          <a:xfrm>
            <a:off x="540072" y="2652042"/>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5" name="Line 72"/>
          <p:cNvSpPr>
            <a:spLocks noChangeShapeType="1"/>
          </p:cNvSpPr>
          <p:nvPr/>
        </p:nvSpPr>
        <p:spPr bwMode="auto">
          <a:xfrm>
            <a:off x="540072" y="4112542"/>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6" name="Line 73"/>
          <p:cNvSpPr>
            <a:spLocks noChangeShapeType="1"/>
          </p:cNvSpPr>
          <p:nvPr/>
        </p:nvSpPr>
        <p:spPr bwMode="auto">
          <a:xfrm>
            <a:off x="1287784" y="3017167"/>
            <a:ext cx="0" cy="109537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7" name="Line 74"/>
          <p:cNvSpPr>
            <a:spLocks noChangeShapeType="1"/>
          </p:cNvSpPr>
          <p:nvPr/>
        </p:nvSpPr>
        <p:spPr bwMode="auto">
          <a:xfrm>
            <a:off x="540072" y="5584155"/>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8" name="Line 75"/>
          <p:cNvSpPr>
            <a:spLocks noChangeShapeType="1"/>
          </p:cNvSpPr>
          <p:nvPr/>
        </p:nvSpPr>
        <p:spPr bwMode="auto">
          <a:xfrm>
            <a:off x="1287784" y="4477667"/>
            <a:ext cx="0" cy="110648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9" name="Line 76"/>
          <p:cNvSpPr>
            <a:spLocks noChangeShapeType="1"/>
          </p:cNvSpPr>
          <p:nvPr/>
        </p:nvSpPr>
        <p:spPr bwMode="auto">
          <a:xfrm>
            <a:off x="540072" y="1921792"/>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0" name="Line 77"/>
          <p:cNvSpPr>
            <a:spLocks noChangeShapeType="1"/>
          </p:cNvSpPr>
          <p:nvPr/>
        </p:nvSpPr>
        <p:spPr bwMode="auto">
          <a:xfrm>
            <a:off x="540072" y="2286917"/>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1" name="Line 78"/>
          <p:cNvSpPr>
            <a:spLocks noChangeShapeType="1"/>
          </p:cNvSpPr>
          <p:nvPr/>
        </p:nvSpPr>
        <p:spPr bwMode="auto">
          <a:xfrm>
            <a:off x="540072" y="3382292"/>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2" name="Line 79"/>
          <p:cNvSpPr>
            <a:spLocks noChangeShapeType="1"/>
          </p:cNvSpPr>
          <p:nvPr/>
        </p:nvSpPr>
        <p:spPr bwMode="auto">
          <a:xfrm>
            <a:off x="540072" y="3747417"/>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3" name="Line 80"/>
          <p:cNvSpPr>
            <a:spLocks noChangeShapeType="1"/>
          </p:cNvSpPr>
          <p:nvPr/>
        </p:nvSpPr>
        <p:spPr bwMode="auto">
          <a:xfrm>
            <a:off x="540072" y="4842792"/>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4" name="Line 81"/>
          <p:cNvSpPr>
            <a:spLocks noChangeShapeType="1"/>
          </p:cNvSpPr>
          <p:nvPr/>
        </p:nvSpPr>
        <p:spPr bwMode="auto">
          <a:xfrm>
            <a:off x="540072" y="5219030"/>
            <a:ext cx="8280400"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5" name="Line 82"/>
          <p:cNvSpPr>
            <a:spLocks noChangeShapeType="1"/>
          </p:cNvSpPr>
          <p:nvPr/>
        </p:nvSpPr>
        <p:spPr bwMode="auto">
          <a:xfrm>
            <a:off x="540072" y="826417"/>
            <a:ext cx="82804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6" name="Line 83"/>
          <p:cNvSpPr>
            <a:spLocks noChangeShapeType="1"/>
          </p:cNvSpPr>
          <p:nvPr/>
        </p:nvSpPr>
        <p:spPr bwMode="auto">
          <a:xfrm>
            <a:off x="540072" y="826417"/>
            <a:ext cx="0" cy="5122863"/>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7" name="Line 84"/>
          <p:cNvSpPr>
            <a:spLocks noChangeShapeType="1"/>
          </p:cNvSpPr>
          <p:nvPr/>
        </p:nvSpPr>
        <p:spPr bwMode="auto">
          <a:xfrm>
            <a:off x="8820472" y="826417"/>
            <a:ext cx="0" cy="5122863"/>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8" name="Line 85"/>
          <p:cNvSpPr>
            <a:spLocks noChangeShapeType="1"/>
          </p:cNvSpPr>
          <p:nvPr/>
        </p:nvSpPr>
        <p:spPr bwMode="auto">
          <a:xfrm>
            <a:off x="540072" y="5949280"/>
            <a:ext cx="82804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9" name="Line 86"/>
          <p:cNvSpPr>
            <a:spLocks noChangeShapeType="1"/>
          </p:cNvSpPr>
          <p:nvPr/>
        </p:nvSpPr>
        <p:spPr bwMode="auto">
          <a:xfrm>
            <a:off x="540072" y="1556667"/>
            <a:ext cx="82804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100" name="Line 87"/>
          <p:cNvSpPr>
            <a:spLocks noChangeShapeType="1"/>
          </p:cNvSpPr>
          <p:nvPr/>
        </p:nvSpPr>
        <p:spPr bwMode="auto">
          <a:xfrm>
            <a:off x="540072" y="3017167"/>
            <a:ext cx="82804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101" name="Line 88"/>
          <p:cNvSpPr>
            <a:spLocks noChangeShapeType="1"/>
          </p:cNvSpPr>
          <p:nvPr/>
        </p:nvSpPr>
        <p:spPr bwMode="auto">
          <a:xfrm>
            <a:off x="540072" y="4477667"/>
            <a:ext cx="8280400"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102" name="Oval 89"/>
          <p:cNvSpPr>
            <a:spLocks noChangeArrowheads="1"/>
          </p:cNvSpPr>
          <p:nvPr/>
        </p:nvSpPr>
        <p:spPr bwMode="auto">
          <a:xfrm flipV="1">
            <a:off x="4211959" y="1978942"/>
            <a:ext cx="73025" cy="71438"/>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103" name="Oval 90"/>
          <p:cNvSpPr>
            <a:spLocks noChangeArrowheads="1"/>
          </p:cNvSpPr>
          <p:nvPr/>
        </p:nvSpPr>
        <p:spPr bwMode="auto">
          <a:xfrm flipV="1">
            <a:off x="3635697" y="3060030"/>
            <a:ext cx="73025" cy="71437"/>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blinds(horizontal)">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blinds(horizontal)">
                                      <p:cBhvr>
                                        <p:cTn id="12" dur="500"/>
                                        <p:tgtEl>
                                          <p:spTgt spid="42"/>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blinds(horizontal)">
                                      <p:cBhvr>
                                        <p:cTn id="15" dur="500"/>
                                        <p:tgtEl>
                                          <p:spTgt spid="41"/>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blinds(horizontal)">
                                      <p:cBhvr>
                                        <p:cTn id="18" dur="500"/>
                                        <p:tgtEl>
                                          <p:spTgt spid="36"/>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blinds(horizontal)">
                                      <p:cBhvr>
                                        <p:cTn id="21" dur="500"/>
                                        <p:tgtEl>
                                          <p:spTgt spid="3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9"/>
                                        </p:tgtEl>
                                        <p:attrNameLst>
                                          <p:attrName>style.visibility</p:attrName>
                                        </p:attrNameLst>
                                      </p:cBhvr>
                                      <p:to>
                                        <p:strVal val="visible"/>
                                      </p:to>
                                    </p:set>
                                    <p:animEffect transition="in" filter="blinds(horizontal)">
                                      <p:cBhvr>
                                        <p:cTn id="24" dur="500"/>
                                        <p:tgtEl>
                                          <p:spTgt spid="69"/>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blinds(horizontal)">
                                      <p:cBhvr>
                                        <p:cTn id="27" dur="5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blinds(horizontal)">
                                      <p:cBhvr>
                                        <p:cTn id="32" dur="500"/>
                                        <p:tgtEl>
                                          <p:spTgt spid="43"/>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blinds(horizontal)">
                                      <p:cBhvr>
                                        <p:cTn id="35" dur="500"/>
                                        <p:tgtEl>
                                          <p:spTgt spid="38"/>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blinds(horizontal)">
                                      <p:cBhvr>
                                        <p:cTn id="38" dur="500"/>
                                        <p:tgtEl>
                                          <p:spTgt spid="70"/>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blinds(horizontal)">
                                      <p:cBhvr>
                                        <p:cTn id="43" dur="500"/>
                                        <p:tgtEl>
                                          <p:spTgt spid="44"/>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blinds(horizontal)">
                                      <p:cBhvr>
                                        <p:cTn id="46" dur="500"/>
                                        <p:tgtEl>
                                          <p:spTgt spid="39"/>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71"/>
                                        </p:tgtEl>
                                        <p:attrNameLst>
                                          <p:attrName>style.visibility</p:attrName>
                                        </p:attrNameLst>
                                      </p:cBhvr>
                                      <p:to>
                                        <p:strVal val="visible"/>
                                      </p:to>
                                    </p:set>
                                    <p:animEffect transition="in" filter="blinds(horizontal)">
                                      <p:cBhvr>
                                        <p:cTn id="49" dur="500"/>
                                        <p:tgtEl>
                                          <p:spTgt spid="71"/>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65"/>
                                        </p:tgtEl>
                                        <p:attrNameLst>
                                          <p:attrName>style.visibility</p:attrName>
                                        </p:attrNameLst>
                                      </p:cBhvr>
                                      <p:to>
                                        <p:strVal val="visible"/>
                                      </p:to>
                                    </p:set>
                                    <p:animEffect transition="in" filter="blinds(horizontal)">
                                      <p:cBhvr>
                                        <p:cTn id="54" dur="500"/>
                                        <p:tgtEl>
                                          <p:spTgt spid="65"/>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64"/>
                                        </p:tgtEl>
                                        <p:attrNameLst>
                                          <p:attrName>style.visibility</p:attrName>
                                        </p:attrNameLst>
                                      </p:cBhvr>
                                      <p:to>
                                        <p:strVal val="visible"/>
                                      </p:to>
                                    </p:set>
                                    <p:animEffect transition="in" filter="blinds(horizontal)">
                                      <p:cBhvr>
                                        <p:cTn id="59" dur="500"/>
                                        <p:tgtEl>
                                          <p:spTgt spid="64"/>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40"/>
                                        </p:tgtEl>
                                        <p:attrNameLst>
                                          <p:attrName>style.visibility</p:attrName>
                                        </p:attrNameLst>
                                      </p:cBhvr>
                                      <p:to>
                                        <p:strVal val="visible"/>
                                      </p:to>
                                    </p:set>
                                    <p:animEffect transition="in" filter="blinds(horizontal)">
                                      <p:cBhvr>
                                        <p:cTn id="64" dur="500"/>
                                        <p:tgtEl>
                                          <p:spTgt spid="40"/>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blinds(horizontal)">
                                      <p:cBhvr>
                                        <p:cTn id="67" dur="500"/>
                                        <p:tgtEl>
                                          <p:spTgt spid="35"/>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67"/>
                                        </p:tgtEl>
                                        <p:attrNameLst>
                                          <p:attrName>style.visibility</p:attrName>
                                        </p:attrNameLst>
                                      </p:cBhvr>
                                      <p:to>
                                        <p:strVal val="visible"/>
                                      </p:to>
                                    </p:set>
                                    <p:animEffect transition="in" filter="blinds(horizontal)">
                                      <p:cBhvr>
                                        <p:cTn id="70" dur="500"/>
                                        <p:tgtEl>
                                          <p:spTgt spid="67"/>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102"/>
                                        </p:tgtEl>
                                        <p:attrNameLst>
                                          <p:attrName>style.visibility</p:attrName>
                                        </p:attrNameLst>
                                      </p:cBhvr>
                                      <p:to>
                                        <p:strVal val="visible"/>
                                      </p:to>
                                    </p:set>
                                    <p:animEffect transition="in" filter="blinds(horizontal)">
                                      <p:cBhvr>
                                        <p:cTn id="75" dur="500"/>
                                        <p:tgtEl>
                                          <p:spTgt spid="102"/>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blinds(horizontal)">
                                      <p:cBhvr>
                                        <p:cTn id="80" dur="500"/>
                                        <p:tgtEl>
                                          <p:spTgt spid="33"/>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blinds(horizontal)">
                                      <p:cBhvr>
                                        <p:cTn id="83" dur="500"/>
                                        <p:tgtEl>
                                          <p:spTgt spid="27"/>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61"/>
                                        </p:tgtEl>
                                        <p:attrNameLst>
                                          <p:attrName>style.visibility</p:attrName>
                                        </p:attrNameLst>
                                      </p:cBhvr>
                                      <p:to>
                                        <p:strVal val="visible"/>
                                      </p:to>
                                    </p:set>
                                    <p:animEffect transition="in" filter="blinds(horizontal)">
                                      <p:cBhvr>
                                        <p:cTn id="86" dur="500"/>
                                        <p:tgtEl>
                                          <p:spTgt spid="61"/>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blinds(horizontal)">
                                      <p:cBhvr>
                                        <p:cTn id="91" dur="500"/>
                                        <p:tgtEl>
                                          <p:spTgt spid="34"/>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blinds(horizontal)">
                                      <p:cBhvr>
                                        <p:cTn id="94" dur="500"/>
                                        <p:tgtEl>
                                          <p:spTgt spid="28"/>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62"/>
                                        </p:tgtEl>
                                        <p:attrNameLst>
                                          <p:attrName>style.visibility</p:attrName>
                                        </p:attrNameLst>
                                      </p:cBhvr>
                                      <p:to>
                                        <p:strVal val="visible"/>
                                      </p:to>
                                    </p:set>
                                    <p:animEffect transition="in" filter="blinds(horizontal)">
                                      <p:cBhvr>
                                        <p:cTn id="97" dur="500"/>
                                        <p:tgtEl>
                                          <p:spTgt spid="62"/>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26"/>
                                        </p:tgtEl>
                                        <p:attrNameLst>
                                          <p:attrName>style.visibility</p:attrName>
                                        </p:attrNameLst>
                                      </p:cBhvr>
                                      <p:to>
                                        <p:strVal val="visible"/>
                                      </p:to>
                                    </p:set>
                                    <p:animEffect transition="in" filter="blinds(horizontal)">
                                      <p:cBhvr>
                                        <p:cTn id="102" dur="500"/>
                                        <p:tgtEl>
                                          <p:spTgt spid="26"/>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25"/>
                                        </p:tgtEl>
                                        <p:attrNameLst>
                                          <p:attrName>style.visibility</p:attrName>
                                        </p:attrNameLst>
                                      </p:cBhvr>
                                      <p:to>
                                        <p:strVal val="visible"/>
                                      </p:to>
                                    </p:set>
                                    <p:animEffect transition="in" filter="blinds(horizontal)">
                                      <p:cBhvr>
                                        <p:cTn id="105" dur="500"/>
                                        <p:tgtEl>
                                          <p:spTgt spid="25"/>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32"/>
                                        </p:tgtEl>
                                        <p:attrNameLst>
                                          <p:attrName>style.visibility</p:attrName>
                                        </p:attrNameLst>
                                      </p:cBhvr>
                                      <p:to>
                                        <p:strVal val="visible"/>
                                      </p:to>
                                    </p:set>
                                    <p:animEffect transition="in" filter="blinds(horizontal)">
                                      <p:cBhvr>
                                        <p:cTn id="110" dur="500"/>
                                        <p:tgtEl>
                                          <p:spTgt spid="32"/>
                                        </p:tgtEl>
                                      </p:cBhvr>
                                    </p:animEffect>
                                  </p:childTnLst>
                                </p:cTn>
                              </p:par>
                              <p:par>
                                <p:cTn id="111" presetID="3" presetClass="entr" presetSubtype="10" fill="hold" grpId="0" nodeType="withEffect">
                                  <p:stCondLst>
                                    <p:cond delay="0"/>
                                  </p:stCondLst>
                                  <p:childTnLst>
                                    <p:set>
                                      <p:cBhvr>
                                        <p:cTn id="112" dur="1" fill="hold">
                                          <p:stCondLst>
                                            <p:cond delay="0"/>
                                          </p:stCondLst>
                                        </p:cTn>
                                        <p:tgtEl>
                                          <p:spTgt spid="30"/>
                                        </p:tgtEl>
                                        <p:attrNameLst>
                                          <p:attrName>style.visibility</p:attrName>
                                        </p:attrNameLst>
                                      </p:cBhvr>
                                      <p:to>
                                        <p:strVal val="visible"/>
                                      </p:to>
                                    </p:set>
                                    <p:animEffect transition="in" filter="blinds(horizontal)">
                                      <p:cBhvr>
                                        <p:cTn id="113" dur="500"/>
                                        <p:tgtEl>
                                          <p:spTgt spid="30"/>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60"/>
                                        </p:tgtEl>
                                        <p:attrNameLst>
                                          <p:attrName>style.visibility</p:attrName>
                                        </p:attrNameLst>
                                      </p:cBhvr>
                                      <p:to>
                                        <p:strVal val="visible"/>
                                      </p:to>
                                    </p:set>
                                    <p:animEffect transition="in" filter="blinds(horizontal)">
                                      <p:cBhvr>
                                        <p:cTn id="118" dur="500"/>
                                        <p:tgtEl>
                                          <p:spTgt spid="60"/>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59"/>
                                        </p:tgtEl>
                                        <p:attrNameLst>
                                          <p:attrName>style.visibility</p:attrName>
                                        </p:attrNameLst>
                                      </p:cBhvr>
                                      <p:to>
                                        <p:strVal val="visible"/>
                                      </p:to>
                                    </p:set>
                                    <p:animEffect transition="in" filter="blinds(horizontal)">
                                      <p:cBhvr>
                                        <p:cTn id="121" dur="500"/>
                                        <p:tgtEl>
                                          <p:spTgt spid="59"/>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56"/>
                                        </p:tgtEl>
                                        <p:attrNameLst>
                                          <p:attrName>style.visibility</p:attrName>
                                        </p:attrNameLst>
                                      </p:cBhvr>
                                      <p:to>
                                        <p:strVal val="visible"/>
                                      </p:to>
                                    </p:set>
                                    <p:animEffect transition="in" filter="blinds(horizontal)">
                                      <p:cBhvr>
                                        <p:cTn id="126" dur="500"/>
                                        <p:tgtEl>
                                          <p:spTgt spid="56"/>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55"/>
                                        </p:tgtEl>
                                        <p:attrNameLst>
                                          <p:attrName>style.visibility</p:attrName>
                                        </p:attrNameLst>
                                      </p:cBhvr>
                                      <p:to>
                                        <p:strVal val="visible"/>
                                      </p:to>
                                    </p:set>
                                    <p:animEffect transition="in" filter="blinds(horizontal)">
                                      <p:cBhvr>
                                        <p:cTn id="131" dur="500"/>
                                        <p:tgtEl>
                                          <p:spTgt spid="55"/>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29"/>
                                        </p:tgtEl>
                                        <p:attrNameLst>
                                          <p:attrName>style.visibility</p:attrName>
                                        </p:attrNameLst>
                                      </p:cBhvr>
                                      <p:to>
                                        <p:strVal val="visible"/>
                                      </p:to>
                                    </p:set>
                                    <p:animEffect transition="in" filter="blinds(horizontal)">
                                      <p:cBhvr>
                                        <p:cTn id="136" dur="500"/>
                                        <p:tgtEl>
                                          <p:spTgt spid="29"/>
                                        </p:tgtEl>
                                      </p:cBhvr>
                                    </p:animEffect>
                                  </p:childTnLst>
                                </p:cTn>
                              </p:par>
                              <p:par>
                                <p:cTn id="137" presetID="3" presetClass="entr" presetSubtype="10" fill="hold" grpId="0" nodeType="withEffect">
                                  <p:stCondLst>
                                    <p:cond delay="0"/>
                                  </p:stCondLst>
                                  <p:childTnLst>
                                    <p:set>
                                      <p:cBhvr>
                                        <p:cTn id="138" dur="1" fill="hold">
                                          <p:stCondLst>
                                            <p:cond delay="0"/>
                                          </p:stCondLst>
                                        </p:cTn>
                                        <p:tgtEl>
                                          <p:spTgt spid="24"/>
                                        </p:tgtEl>
                                        <p:attrNameLst>
                                          <p:attrName>style.visibility</p:attrName>
                                        </p:attrNameLst>
                                      </p:cBhvr>
                                      <p:to>
                                        <p:strVal val="visible"/>
                                      </p:to>
                                    </p:set>
                                    <p:animEffect transition="in" filter="blinds(horizontal)">
                                      <p:cBhvr>
                                        <p:cTn id="139" dur="500"/>
                                        <p:tgtEl>
                                          <p:spTgt spid="24"/>
                                        </p:tgtEl>
                                      </p:cBhvr>
                                    </p:animEffect>
                                  </p:childTnLst>
                                </p:cTn>
                              </p:par>
                              <p:par>
                                <p:cTn id="140" presetID="3" presetClass="entr" presetSubtype="10" fill="hold" grpId="0" nodeType="withEffect">
                                  <p:stCondLst>
                                    <p:cond delay="0"/>
                                  </p:stCondLst>
                                  <p:childTnLst>
                                    <p:set>
                                      <p:cBhvr>
                                        <p:cTn id="141" dur="1" fill="hold">
                                          <p:stCondLst>
                                            <p:cond delay="0"/>
                                          </p:stCondLst>
                                        </p:cTn>
                                        <p:tgtEl>
                                          <p:spTgt spid="58"/>
                                        </p:tgtEl>
                                        <p:attrNameLst>
                                          <p:attrName>style.visibility</p:attrName>
                                        </p:attrNameLst>
                                      </p:cBhvr>
                                      <p:to>
                                        <p:strVal val="visible"/>
                                      </p:to>
                                    </p:set>
                                    <p:animEffect transition="in" filter="blinds(horizontal)">
                                      <p:cBhvr>
                                        <p:cTn id="142" dur="500"/>
                                        <p:tgtEl>
                                          <p:spTgt spid="58"/>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nodeType="clickEffect">
                                  <p:stCondLst>
                                    <p:cond delay="0"/>
                                  </p:stCondLst>
                                  <p:childTnLst>
                                    <p:set>
                                      <p:cBhvr>
                                        <p:cTn id="146" dur="1" fill="hold">
                                          <p:stCondLst>
                                            <p:cond delay="0"/>
                                          </p:stCondLst>
                                        </p:cTn>
                                        <p:tgtEl>
                                          <p:spTgt spid="103"/>
                                        </p:tgtEl>
                                        <p:attrNameLst>
                                          <p:attrName>style.visibility</p:attrName>
                                        </p:attrNameLst>
                                      </p:cBhvr>
                                      <p:to>
                                        <p:strVal val="visible"/>
                                      </p:to>
                                    </p:set>
                                    <p:animEffect transition="in" filter="blinds(horizontal)">
                                      <p:cBhvr>
                                        <p:cTn id="147" dur="500"/>
                                        <p:tgtEl>
                                          <p:spTgt spid="103"/>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grpId="0" nodeType="clickEffect">
                                  <p:stCondLst>
                                    <p:cond delay="0"/>
                                  </p:stCondLst>
                                  <p:childTnLst>
                                    <p:set>
                                      <p:cBhvr>
                                        <p:cTn id="151" dur="1" fill="hold">
                                          <p:stCondLst>
                                            <p:cond delay="0"/>
                                          </p:stCondLst>
                                        </p:cTn>
                                        <p:tgtEl>
                                          <p:spTgt spid="22"/>
                                        </p:tgtEl>
                                        <p:attrNameLst>
                                          <p:attrName>style.visibility</p:attrName>
                                        </p:attrNameLst>
                                      </p:cBhvr>
                                      <p:to>
                                        <p:strVal val="visible"/>
                                      </p:to>
                                    </p:set>
                                    <p:animEffect transition="in" filter="blinds(horizontal)">
                                      <p:cBhvr>
                                        <p:cTn id="152" dur="500"/>
                                        <p:tgtEl>
                                          <p:spTgt spid="22"/>
                                        </p:tgtEl>
                                      </p:cBhvr>
                                    </p:animEffect>
                                  </p:childTnLst>
                                </p:cTn>
                              </p:par>
                              <p:par>
                                <p:cTn id="153" presetID="3" presetClass="entr" presetSubtype="10" fill="hold" grpId="0" nodeType="withEffect">
                                  <p:stCondLst>
                                    <p:cond delay="0"/>
                                  </p:stCondLst>
                                  <p:childTnLst>
                                    <p:set>
                                      <p:cBhvr>
                                        <p:cTn id="154" dur="1" fill="hold">
                                          <p:stCondLst>
                                            <p:cond delay="0"/>
                                          </p:stCondLst>
                                        </p:cTn>
                                        <p:tgtEl>
                                          <p:spTgt spid="18"/>
                                        </p:tgtEl>
                                        <p:attrNameLst>
                                          <p:attrName>style.visibility</p:attrName>
                                        </p:attrNameLst>
                                      </p:cBhvr>
                                      <p:to>
                                        <p:strVal val="visible"/>
                                      </p:to>
                                    </p:set>
                                    <p:animEffect transition="in" filter="blinds(horizontal)">
                                      <p:cBhvr>
                                        <p:cTn id="155" dur="500"/>
                                        <p:tgtEl>
                                          <p:spTgt spid="18"/>
                                        </p:tgtEl>
                                      </p:cBhvr>
                                    </p:animEffect>
                                  </p:childTnLst>
                                </p:cTn>
                              </p:par>
                              <p:par>
                                <p:cTn id="156" presetID="3" presetClass="entr" presetSubtype="10" fill="hold" grpId="0" nodeType="withEffect">
                                  <p:stCondLst>
                                    <p:cond delay="0"/>
                                  </p:stCondLst>
                                  <p:childTnLst>
                                    <p:set>
                                      <p:cBhvr>
                                        <p:cTn id="157" dur="1" fill="hold">
                                          <p:stCondLst>
                                            <p:cond delay="0"/>
                                          </p:stCondLst>
                                        </p:cTn>
                                        <p:tgtEl>
                                          <p:spTgt spid="52"/>
                                        </p:tgtEl>
                                        <p:attrNameLst>
                                          <p:attrName>style.visibility</p:attrName>
                                        </p:attrNameLst>
                                      </p:cBhvr>
                                      <p:to>
                                        <p:strVal val="visible"/>
                                      </p:to>
                                    </p:set>
                                    <p:animEffect transition="in" filter="blinds(horizontal)">
                                      <p:cBhvr>
                                        <p:cTn id="158" dur="500"/>
                                        <p:tgtEl>
                                          <p:spTgt spid="52"/>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grpId="0" nodeType="clickEffect">
                                  <p:stCondLst>
                                    <p:cond delay="0"/>
                                  </p:stCondLst>
                                  <p:childTnLst>
                                    <p:set>
                                      <p:cBhvr>
                                        <p:cTn id="162" dur="1" fill="hold">
                                          <p:stCondLst>
                                            <p:cond delay="0"/>
                                          </p:stCondLst>
                                        </p:cTn>
                                        <p:tgtEl>
                                          <p:spTgt spid="23"/>
                                        </p:tgtEl>
                                        <p:attrNameLst>
                                          <p:attrName>style.visibility</p:attrName>
                                        </p:attrNameLst>
                                      </p:cBhvr>
                                      <p:to>
                                        <p:strVal val="visible"/>
                                      </p:to>
                                    </p:set>
                                    <p:animEffect transition="in" filter="blinds(horizontal)">
                                      <p:cBhvr>
                                        <p:cTn id="163" dur="500"/>
                                        <p:tgtEl>
                                          <p:spTgt spid="23"/>
                                        </p:tgtEl>
                                      </p:cBhvr>
                                    </p:animEffect>
                                  </p:childTnLst>
                                </p:cTn>
                              </p:par>
                              <p:par>
                                <p:cTn id="164" presetID="3" presetClass="entr" presetSubtype="10" fill="hold" grpId="0" nodeType="withEffect">
                                  <p:stCondLst>
                                    <p:cond delay="0"/>
                                  </p:stCondLst>
                                  <p:childTnLst>
                                    <p:set>
                                      <p:cBhvr>
                                        <p:cTn id="165" dur="1" fill="hold">
                                          <p:stCondLst>
                                            <p:cond delay="0"/>
                                          </p:stCondLst>
                                        </p:cTn>
                                        <p:tgtEl>
                                          <p:spTgt spid="19"/>
                                        </p:tgtEl>
                                        <p:attrNameLst>
                                          <p:attrName>style.visibility</p:attrName>
                                        </p:attrNameLst>
                                      </p:cBhvr>
                                      <p:to>
                                        <p:strVal val="visible"/>
                                      </p:to>
                                    </p:set>
                                    <p:animEffect transition="in" filter="blinds(horizontal)">
                                      <p:cBhvr>
                                        <p:cTn id="166" dur="500"/>
                                        <p:tgtEl>
                                          <p:spTgt spid="19"/>
                                        </p:tgtEl>
                                      </p:cBhvr>
                                    </p:animEffect>
                                  </p:childTnLst>
                                </p:cTn>
                              </p:par>
                              <p:par>
                                <p:cTn id="167" presetID="3" presetClass="entr" presetSubtype="10" fill="hold" grpId="0" nodeType="withEffect">
                                  <p:stCondLst>
                                    <p:cond delay="0"/>
                                  </p:stCondLst>
                                  <p:childTnLst>
                                    <p:set>
                                      <p:cBhvr>
                                        <p:cTn id="168" dur="1" fill="hold">
                                          <p:stCondLst>
                                            <p:cond delay="0"/>
                                          </p:stCondLst>
                                        </p:cTn>
                                        <p:tgtEl>
                                          <p:spTgt spid="53"/>
                                        </p:tgtEl>
                                        <p:attrNameLst>
                                          <p:attrName>style.visibility</p:attrName>
                                        </p:attrNameLst>
                                      </p:cBhvr>
                                      <p:to>
                                        <p:strVal val="visible"/>
                                      </p:to>
                                    </p:set>
                                    <p:animEffect transition="in" filter="blinds(horizontal)">
                                      <p:cBhvr>
                                        <p:cTn id="169" dur="500"/>
                                        <p:tgtEl>
                                          <p:spTgt spid="53"/>
                                        </p:tgtEl>
                                      </p:cBhvr>
                                    </p:animEffect>
                                  </p:childTnLst>
                                </p:cTn>
                              </p:par>
                            </p:childTnLst>
                          </p:cTn>
                        </p:par>
                      </p:childTnLst>
                    </p:cTn>
                  </p:par>
                  <p:par>
                    <p:cTn id="170" fill="hold">
                      <p:stCondLst>
                        <p:cond delay="indefinite"/>
                      </p:stCondLst>
                      <p:childTnLst>
                        <p:par>
                          <p:cTn id="171" fill="hold">
                            <p:stCondLst>
                              <p:cond delay="0"/>
                            </p:stCondLst>
                            <p:childTnLst>
                              <p:par>
                                <p:cTn id="172" presetID="3" presetClass="entr" presetSubtype="10" fill="hold" grpId="0" nodeType="clickEffect">
                                  <p:stCondLst>
                                    <p:cond delay="0"/>
                                  </p:stCondLst>
                                  <p:childTnLst>
                                    <p:set>
                                      <p:cBhvr>
                                        <p:cTn id="173" dur="1" fill="hold">
                                          <p:stCondLst>
                                            <p:cond delay="0"/>
                                          </p:stCondLst>
                                        </p:cTn>
                                        <p:tgtEl>
                                          <p:spTgt spid="21"/>
                                        </p:tgtEl>
                                        <p:attrNameLst>
                                          <p:attrName>style.visibility</p:attrName>
                                        </p:attrNameLst>
                                      </p:cBhvr>
                                      <p:to>
                                        <p:strVal val="visible"/>
                                      </p:to>
                                    </p:set>
                                    <p:animEffect transition="in" filter="blinds(horizontal)">
                                      <p:cBhvr>
                                        <p:cTn id="174" dur="500"/>
                                        <p:tgtEl>
                                          <p:spTgt spid="21"/>
                                        </p:tgtEl>
                                      </p:cBhvr>
                                    </p:animEffect>
                                  </p:childTnLst>
                                </p:cTn>
                              </p:par>
                              <p:par>
                                <p:cTn id="175" presetID="3" presetClass="entr" presetSubtype="10" fill="hold" grpId="0" nodeType="withEffect">
                                  <p:stCondLst>
                                    <p:cond delay="0"/>
                                  </p:stCondLst>
                                  <p:childTnLst>
                                    <p:set>
                                      <p:cBhvr>
                                        <p:cTn id="176" dur="1" fill="hold">
                                          <p:stCondLst>
                                            <p:cond delay="0"/>
                                          </p:stCondLst>
                                        </p:cTn>
                                        <p:tgtEl>
                                          <p:spTgt spid="20"/>
                                        </p:tgtEl>
                                        <p:attrNameLst>
                                          <p:attrName>style.visibility</p:attrName>
                                        </p:attrNameLst>
                                      </p:cBhvr>
                                      <p:to>
                                        <p:strVal val="visible"/>
                                      </p:to>
                                    </p:set>
                                    <p:animEffect transition="in" filter="blinds(horizontal)">
                                      <p:cBhvr>
                                        <p:cTn id="177" dur="500"/>
                                        <p:tgtEl>
                                          <p:spTgt spid="20"/>
                                        </p:tgtEl>
                                      </p:cBhvr>
                                    </p:animEffect>
                                  </p:childTnLst>
                                </p:cTn>
                              </p:par>
                            </p:childTnLst>
                          </p:cTn>
                        </p:par>
                      </p:childTnLst>
                    </p:cTn>
                  </p:par>
                  <p:par>
                    <p:cTn id="178" fill="hold">
                      <p:stCondLst>
                        <p:cond delay="indefinite"/>
                      </p:stCondLst>
                      <p:childTnLst>
                        <p:par>
                          <p:cTn id="179" fill="hold">
                            <p:stCondLst>
                              <p:cond delay="0"/>
                            </p:stCondLst>
                            <p:childTnLst>
                              <p:par>
                                <p:cTn id="180" presetID="3" presetClass="entr" presetSubtype="10" fill="hold" grpId="0" nodeType="clickEffect">
                                  <p:stCondLst>
                                    <p:cond delay="0"/>
                                  </p:stCondLst>
                                  <p:childTnLst>
                                    <p:set>
                                      <p:cBhvr>
                                        <p:cTn id="181" dur="1" fill="hold">
                                          <p:stCondLst>
                                            <p:cond delay="0"/>
                                          </p:stCondLst>
                                        </p:cTn>
                                        <p:tgtEl>
                                          <p:spTgt spid="17"/>
                                        </p:tgtEl>
                                        <p:attrNameLst>
                                          <p:attrName>style.visibility</p:attrName>
                                        </p:attrNameLst>
                                      </p:cBhvr>
                                      <p:to>
                                        <p:strVal val="visible"/>
                                      </p:to>
                                    </p:set>
                                    <p:animEffect transition="in" filter="blinds(horizontal)">
                                      <p:cBhvr>
                                        <p:cTn id="182" dur="500"/>
                                        <p:tgtEl>
                                          <p:spTgt spid="17"/>
                                        </p:tgtEl>
                                      </p:cBhvr>
                                    </p:animEffect>
                                  </p:childTnLst>
                                </p:cTn>
                              </p:par>
                              <p:par>
                                <p:cTn id="183" presetID="3" presetClass="entr" presetSubtype="10" fill="hold" grpId="0" nodeType="withEffect">
                                  <p:stCondLst>
                                    <p:cond delay="0"/>
                                  </p:stCondLst>
                                  <p:childTnLst>
                                    <p:set>
                                      <p:cBhvr>
                                        <p:cTn id="184" dur="1" fill="hold">
                                          <p:stCondLst>
                                            <p:cond delay="0"/>
                                          </p:stCondLst>
                                        </p:cTn>
                                        <p:tgtEl>
                                          <p:spTgt spid="16"/>
                                        </p:tgtEl>
                                        <p:attrNameLst>
                                          <p:attrName>style.visibility</p:attrName>
                                        </p:attrNameLst>
                                      </p:cBhvr>
                                      <p:to>
                                        <p:strVal val="visible"/>
                                      </p:to>
                                    </p:set>
                                    <p:animEffect transition="in" filter="blinds(horizontal)">
                                      <p:cBhvr>
                                        <p:cTn id="185" dur="500"/>
                                        <p:tgtEl>
                                          <p:spTgt spid="16"/>
                                        </p:tgtEl>
                                      </p:cBhvr>
                                    </p:animEffect>
                                  </p:childTnLst>
                                </p:cTn>
                              </p:par>
                            </p:childTnLst>
                          </p:cTn>
                        </p:par>
                      </p:childTnLst>
                    </p:cTn>
                  </p:par>
                  <p:par>
                    <p:cTn id="186" fill="hold">
                      <p:stCondLst>
                        <p:cond delay="indefinite"/>
                      </p:stCondLst>
                      <p:childTnLst>
                        <p:par>
                          <p:cTn id="187" fill="hold">
                            <p:stCondLst>
                              <p:cond delay="0"/>
                            </p:stCondLst>
                            <p:childTnLst>
                              <p:par>
                                <p:cTn id="188" presetID="3" presetClass="entr" presetSubtype="10" fill="hold" grpId="0" nodeType="clickEffect">
                                  <p:stCondLst>
                                    <p:cond delay="0"/>
                                  </p:stCondLst>
                                  <p:childTnLst>
                                    <p:set>
                                      <p:cBhvr>
                                        <p:cTn id="189" dur="1" fill="hold">
                                          <p:stCondLst>
                                            <p:cond delay="0"/>
                                          </p:stCondLst>
                                        </p:cTn>
                                        <p:tgtEl>
                                          <p:spTgt spid="51"/>
                                        </p:tgtEl>
                                        <p:attrNameLst>
                                          <p:attrName>style.visibility</p:attrName>
                                        </p:attrNameLst>
                                      </p:cBhvr>
                                      <p:to>
                                        <p:strVal val="visible"/>
                                      </p:to>
                                    </p:set>
                                    <p:animEffect transition="in" filter="blinds(horizontal)">
                                      <p:cBhvr>
                                        <p:cTn id="190" dur="500"/>
                                        <p:tgtEl>
                                          <p:spTgt spid="51"/>
                                        </p:tgtEl>
                                      </p:cBhvr>
                                    </p:animEffect>
                                  </p:childTnLst>
                                </p:cTn>
                              </p:par>
                              <p:par>
                                <p:cTn id="191" presetID="3" presetClass="entr" presetSubtype="10" fill="hold" grpId="0" nodeType="withEffect">
                                  <p:stCondLst>
                                    <p:cond delay="0"/>
                                  </p:stCondLst>
                                  <p:childTnLst>
                                    <p:set>
                                      <p:cBhvr>
                                        <p:cTn id="192" dur="1" fill="hold">
                                          <p:stCondLst>
                                            <p:cond delay="0"/>
                                          </p:stCondLst>
                                        </p:cTn>
                                        <p:tgtEl>
                                          <p:spTgt spid="50"/>
                                        </p:tgtEl>
                                        <p:attrNameLst>
                                          <p:attrName>style.visibility</p:attrName>
                                        </p:attrNameLst>
                                      </p:cBhvr>
                                      <p:to>
                                        <p:strVal val="visible"/>
                                      </p:to>
                                    </p:set>
                                    <p:animEffect transition="in" filter="blinds(horizontal)">
                                      <p:cBhvr>
                                        <p:cTn id="193" dur="500"/>
                                        <p:tgtEl>
                                          <p:spTgt spid="50"/>
                                        </p:tgtEl>
                                      </p:cBhvr>
                                    </p:animEffect>
                                  </p:childTnLst>
                                </p:cTn>
                              </p:par>
                            </p:childTnLst>
                          </p:cTn>
                        </p:par>
                      </p:childTnLst>
                    </p:cTn>
                  </p:par>
                  <p:par>
                    <p:cTn id="194" fill="hold">
                      <p:stCondLst>
                        <p:cond delay="indefinite"/>
                      </p:stCondLst>
                      <p:childTnLst>
                        <p:par>
                          <p:cTn id="195" fill="hold">
                            <p:stCondLst>
                              <p:cond delay="0"/>
                            </p:stCondLst>
                            <p:childTnLst>
                              <p:par>
                                <p:cTn id="196" presetID="3" presetClass="entr" presetSubtype="10" fill="hold" grpId="0" nodeType="clickEffect">
                                  <p:stCondLst>
                                    <p:cond delay="0"/>
                                  </p:stCondLst>
                                  <p:childTnLst>
                                    <p:set>
                                      <p:cBhvr>
                                        <p:cTn id="197" dur="1" fill="hold">
                                          <p:stCondLst>
                                            <p:cond delay="0"/>
                                          </p:stCondLst>
                                        </p:cTn>
                                        <p:tgtEl>
                                          <p:spTgt spid="47"/>
                                        </p:tgtEl>
                                        <p:attrNameLst>
                                          <p:attrName>style.visibility</p:attrName>
                                        </p:attrNameLst>
                                      </p:cBhvr>
                                      <p:to>
                                        <p:strVal val="visible"/>
                                      </p:to>
                                    </p:set>
                                    <p:animEffect transition="in" filter="blinds(horizontal)">
                                      <p:cBhvr>
                                        <p:cTn id="198" dur="500"/>
                                        <p:tgtEl>
                                          <p:spTgt spid="47"/>
                                        </p:tgtEl>
                                      </p:cBhvr>
                                    </p:animEffect>
                                  </p:childTnLst>
                                </p:cTn>
                              </p:par>
                            </p:childTnLst>
                          </p:cTn>
                        </p:par>
                      </p:childTnLst>
                    </p:cTn>
                  </p:par>
                  <p:par>
                    <p:cTn id="199" fill="hold">
                      <p:stCondLst>
                        <p:cond delay="indefinite"/>
                      </p:stCondLst>
                      <p:childTnLst>
                        <p:par>
                          <p:cTn id="200" fill="hold">
                            <p:stCondLst>
                              <p:cond delay="0"/>
                            </p:stCondLst>
                            <p:childTnLst>
                              <p:par>
                                <p:cTn id="201" presetID="3" presetClass="entr" presetSubtype="10" fill="hold" grpId="0" nodeType="clickEffect">
                                  <p:stCondLst>
                                    <p:cond delay="0"/>
                                  </p:stCondLst>
                                  <p:childTnLst>
                                    <p:set>
                                      <p:cBhvr>
                                        <p:cTn id="202" dur="1" fill="hold">
                                          <p:stCondLst>
                                            <p:cond delay="0"/>
                                          </p:stCondLst>
                                        </p:cTn>
                                        <p:tgtEl>
                                          <p:spTgt spid="46"/>
                                        </p:tgtEl>
                                        <p:attrNameLst>
                                          <p:attrName>style.visibility</p:attrName>
                                        </p:attrNameLst>
                                      </p:cBhvr>
                                      <p:to>
                                        <p:strVal val="visible"/>
                                      </p:to>
                                    </p:set>
                                    <p:animEffect transition="in" filter="blinds(horizontal)">
                                      <p:cBhvr>
                                        <p:cTn id="203"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2" grpId="0"/>
      <p:bldP spid="33" grpId="0"/>
      <p:bldP spid="34" grpId="0"/>
      <p:bldP spid="35" grpId="0"/>
      <p:bldP spid="36" grpId="0"/>
      <p:bldP spid="37" grpId="0"/>
      <p:bldP spid="38" grpId="0"/>
      <p:bldP spid="39" grpId="0"/>
      <p:bldP spid="40" grpId="0"/>
      <p:bldP spid="41" grpId="0"/>
      <p:bldP spid="42" grpId="0"/>
      <p:bldP spid="43" grpId="0"/>
      <p:bldP spid="44" grpId="0"/>
      <p:bldP spid="46" grpId="0"/>
      <p:bldP spid="47" grpId="0"/>
      <p:bldP spid="50" grpId="0"/>
      <p:bldP spid="51" grpId="0"/>
      <p:bldP spid="52" grpId="0"/>
      <p:bldP spid="53" grpId="0"/>
      <p:bldP spid="55" grpId="0"/>
      <p:bldP spid="56" grpId="0"/>
      <p:bldP spid="58" grpId="0"/>
      <p:bldP spid="59" grpId="0"/>
      <p:bldP spid="60" grpId="0"/>
      <p:bldP spid="61" grpId="0"/>
      <p:bldP spid="62" grpId="0"/>
      <p:bldP spid="64" grpId="0"/>
      <p:bldP spid="65" grpId="0"/>
      <p:bldP spid="67" grpId="0"/>
      <p:bldP spid="68" grpId="0"/>
      <p:bldP spid="69" grpId="0"/>
      <p:bldP spid="70" grpId="0"/>
      <p:bldP spid="71" grpId="0"/>
      <p:bldP spid="7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大</a:t>
            </a:r>
            <a:r>
              <a:rPr kumimoji="1" lang="en-US" altLang="zh-CN" dirty="0">
                <a:latin typeface="Times New Roman" panose="02020603050405020304" pitchFamily="18" charset="0"/>
                <a:ea typeface="华文中宋" panose="02010600040101010101" pitchFamily="2" charset="-122"/>
                <a:cs typeface="Times New Roman" panose="02020603050405020304" pitchFamily="18" charset="0"/>
              </a:rPr>
              <a:t>M</a:t>
            </a:r>
            <a:r>
              <a:rPr kumimoji="1" lang="zh-CN" altLang="en-US" dirty="0">
                <a:latin typeface="Times New Roman" panose="02020603050405020304" pitchFamily="18" charset="0"/>
                <a:ea typeface="华文中宋" panose="02010600040101010101" pitchFamily="2" charset="-122"/>
                <a:cs typeface="Times New Roman" panose="02020603050405020304" pitchFamily="18" charset="0"/>
              </a:rPr>
              <a:t>法</a:t>
            </a:r>
            <a:endParaRPr kumimoji="1" lang="zh-CN" altLang="en-US" dirty="0">
              <a:latin typeface="Times New Roman" panose="02020603050405020304" pitchFamily="18" charset="0"/>
              <a:cs typeface="Times New Roman" panose="02020603050405020304" pitchFamily="18" charset="0"/>
            </a:endParaRPr>
          </a:p>
        </p:txBody>
      </p:sp>
      <p:sp>
        <p:nvSpPr>
          <p:cNvPr id="8" name="Rectangle 172"/>
          <p:cNvSpPr>
            <a:spLocks noChangeArrowheads="1"/>
          </p:cNvSpPr>
          <p:nvPr/>
        </p:nvSpPr>
        <p:spPr bwMode="auto">
          <a:xfrm>
            <a:off x="7812088" y="4774332"/>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9" name="Rectangle 170"/>
          <p:cNvSpPr>
            <a:spLocks noChangeArrowheads="1"/>
          </p:cNvSpPr>
          <p:nvPr/>
        </p:nvSpPr>
        <p:spPr bwMode="auto">
          <a:xfrm>
            <a:off x="3132138" y="4774332"/>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1800" b="1">
                <a:effectLst/>
                <a:cs typeface="Arial" panose="020B0604020202020204" pitchFamily="34" charset="0"/>
              </a:rPr>
              <a:t>    0       1       0       0        1       0        0</a:t>
            </a:r>
            <a:endParaRPr lang="en-US" altLang="zh-CN" sz="1800" b="1">
              <a:effectLst/>
            </a:endParaRPr>
          </a:p>
        </p:txBody>
      </p:sp>
      <p:sp>
        <p:nvSpPr>
          <p:cNvPr id="10" name="Rectangle 168"/>
          <p:cNvSpPr>
            <a:spLocks noChangeArrowheads="1"/>
          </p:cNvSpPr>
          <p:nvPr/>
        </p:nvSpPr>
        <p:spPr bwMode="auto">
          <a:xfrm>
            <a:off x="2268538" y="4774332"/>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3</a:t>
            </a:r>
            <a:endParaRPr lang="en-US" altLang="zh-CN" sz="1800" b="1">
              <a:effectLst/>
            </a:endParaRPr>
          </a:p>
        </p:txBody>
      </p:sp>
      <p:sp>
        <p:nvSpPr>
          <p:cNvPr id="11" name="Rectangle 166"/>
          <p:cNvSpPr>
            <a:spLocks noChangeArrowheads="1"/>
          </p:cNvSpPr>
          <p:nvPr/>
        </p:nvSpPr>
        <p:spPr bwMode="auto">
          <a:xfrm>
            <a:off x="1331913" y="4774332"/>
            <a:ext cx="9366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x</a:t>
            </a:r>
            <a:r>
              <a:rPr lang="en-US" altLang="zh-CN" sz="1800" b="1" baseline="-30000">
                <a:effectLst/>
                <a:cs typeface="Arial" panose="020B0604020202020204" pitchFamily="34" charset="0"/>
              </a:rPr>
              <a:t>2</a:t>
            </a:r>
            <a:endParaRPr lang="en-US" altLang="zh-CN" sz="1800" b="1">
              <a:effectLst/>
            </a:endParaRPr>
          </a:p>
        </p:txBody>
      </p:sp>
      <p:sp>
        <p:nvSpPr>
          <p:cNvPr id="12" name="Rectangle 164"/>
          <p:cNvSpPr>
            <a:spLocks noChangeArrowheads="1"/>
          </p:cNvSpPr>
          <p:nvPr/>
        </p:nvSpPr>
        <p:spPr bwMode="auto">
          <a:xfrm>
            <a:off x="539750" y="4774332"/>
            <a:ext cx="7921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- 2</a:t>
            </a:r>
            <a:endParaRPr lang="en-US" altLang="zh-CN" sz="1800" b="1">
              <a:effectLst/>
            </a:endParaRPr>
          </a:p>
        </p:txBody>
      </p:sp>
      <p:sp>
        <p:nvSpPr>
          <p:cNvPr id="13" name="Rectangle 160"/>
          <p:cNvSpPr>
            <a:spLocks noChangeArrowheads="1"/>
          </p:cNvSpPr>
          <p:nvPr/>
        </p:nvSpPr>
        <p:spPr bwMode="auto">
          <a:xfrm>
            <a:off x="7812088" y="4388569"/>
            <a:ext cx="8636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17" name="Rectangle 158"/>
          <p:cNvSpPr>
            <a:spLocks noChangeArrowheads="1"/>
          </p:cNvSpPr>
          <p:nvPr/>
        </p:nvSpPr>
        <p:spPr bwMode="auto">
          <a:xfrm>
            <a:off x="3132138" y="4388569"/>
            <a:ext cx="467995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800" b="1">
                <a:effectLst/>
                <a:cs typeface="Arial" panose="020B0604020202020204" pitchFamily="34" charset="0"/>
              </a:rPr>
              <a:t>    1       0       0       1       1        0       -1</a:t>
            </a:r>
            <a:endParaRPr lang="en-US" altLang="zh-CN" sz="1800" b="1">
              <a:effectLst/>
            </a:endParaRPr>
          </a:p>
        </p:txBody>
      </p:sp>
      <p:sp>
        <p:nvSpPr>
          <p:cNvPr id="19" name="Rectangle 156"/>
          <p:cNvSpPr>
            <a:spLocks noChangeArrowheads="1"/>
          </p:cNvSpPr>
          <p:nvPr/>
        </p:nvSpPr>
        <p:spPr bwMode="auto">
          <a:xfrm>
            <a:off x="2268538" y="4388569"/>
            <a:ext cx="863600"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2</a:t>
            </a:r>
            <a:endParaRPr lang="en-US" altLang="zh-CN" sz="1800" b="1">
              <a:effectLst/>
            </a:endParaRPr>
          </a:p>
        </p:txBody>
      </p:sp>
      <p:sp>
        <p:nvSpPr>
          <p:cNvPr id="20" name="Rectangle 154"/>
          <p:cNvSpPr>
            <a:spLocks noChangeArrowheads="1"/>
          </p:cNvSpPr>
          <p:nvPr/>
        </p:nvSpPr>
        <p:spPr bwMode="auto">
          <a:xfrm>
            <a:off x="1331913" y="4388569"/>
            <a:ext cx="936625"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x</a:t>
            </a:r>
            <a:r>
              <a:rPr lang="en-US" altLang="zh-CN" sz="1800" b="1" baseline="-30000">
                <a:effectLst/>
                <a:cs typeface="Arial" panose="020B0604020202020204" pitchFamily="34" charset="0"/>
              </a:rPr>
              <a:t>4</a:t>
            </a:r>
            <a:endParaRPr lang="en-US" altLang="zh-CN" sz="1800" b="1">
              <a:effectLst/>
            </a:endParaRPr>
          </a:p>
        </p:txBody>
      </p:sp>
      <p:sp>
        <p:nvSpPr>
          <p:cNvPr id="21" name="Rectangle 152"/>
          <p:cNvSpPr>
            <a:spLocks noChangeArrowheads="1"/>
          </p:cNvSpPr>
          <p:nvPr/>
        </p:nvSpPr>
        <p:spPr bwMode="auto">
          <a:xfrm>
            <a:off x="539750" y="4388569"/>
            <a:ext cx="792163"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0</a:t>
            </a:r>
            <a:endParaRPr lang="en-US" altLang="zh-CN" sz="1800" b="1">
              <a:effectLst/>
              <a:cs typeface="Arial" panose="020B0604020202020204" pitchFamily="34" charset="0"/>
            </a:endParaRPr>
          </a:p>
        </p:txBody>
      </p:sp>
      <p:sp>
        <p:nvSpPr>
          <p:cNvPr id="22" name="Rectangle 141"/>
          <p:cNvSpPr>
            <a:spLocks noChangeArrowheads="1"/>
          </p:cNvSpPr>
          <p:nvPr/>
        </p:nvSpPr>
        <p:spPr bwMode="auto">
          <a:xfrm>
            <a:off x="7812088" y="3267794"/>
            <a:ext cx="8636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23" name="Rectangle 139"/>
          <p:cNvSpPr>
            <a:spLocks noChangeArrowheads="1"/>
          </p:cNvSpPr>
          <p:nvPr/>
        </p:nvSpPr>
        <p:spPr bwMode="auto">
          <a:xfrm>
            <a:off x="3132138" y="3267794"/>
            <a:ext cx="467995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1800" b="1">
                <a:effectLst/>
                <a:cs typeface="Arial" panose="020B0604020202020204" pitchFamily="34" charset="0"/>
              </a:rPr>
              <a:t>    1       1      -1       0       0        1        0</a:t>
            </a:r>
            <a:endParaRPr lang="en-US" altLang="zh-CN" sz="1800" b="1">
              <a:effectLst/>
            </a:endParaRPr>
          </a:p>
        </p:txBody>
      </p:sp>
      <p:sp>
        <p:nvSpPr>
          <p:cNvPr id="24" name="Rectangle 137"/>
          <p:cNvSpPr>
            <a:spLocks noChangeArrowheads="1"/>
          </p:cNvSpPr>
          <p:nvPr/>
        </p:nvSpPr>
        <p:spPr bwMode="auto">
          <a:xfrm>
            <a:off x="2268538" y="3267794"/>
            <a:ext cx="863600"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2</a:t>
            </a:r>
            <a:endParaRPr lang="en-US" altLang="zh-CN" sz="1800" b="1">
              <a:effectLst/>
            </a:endParaRPr>
          </a:p>
        </p:txBody>
      </p:sp>
      <p:sp>
        <p:nvSpPr>
          <p:cNvPr id="25" name="Rectangle 135"/>
          <p:cNvSpPr>
            <a:spLocks noChangeArrowheads="1"/>
          </p:cNvSpPr>
          <p:nvPr/>
        </p:nvSpPr>
        <p:spPr bwMode="auto">
          <a:xfrm>
            <a:off x="1331913" y="3267794"/>
            <a:ext cx="93662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x</a:t>
            </a:r>
            <a:r>
              <a:rPr lang="en-US" altLang="zh-CN" sz="1800" b="1" baseline="-30000">
                <a:effectLst/>
                <a:cs typeface="Arial" panose="020B0604020202020204" pitchFamily="34" charset="0"/>
              </a:rPr>
              <a:t>2</a:t>
            </a:r>
            <a:endParaRPr lang="en-US" altLang="zh-CN" sz="1800" b="1">
              <a:effectLst/>
            </a:endParaRPr>
          </a:p>
        </p:txBody>
      </p:sp>
      <p:sp>
        <p:nvSpPr>
          <p:cNvPr id="26" name="Rectangle 133"/>
          <p:cNvSpPr>
            <a:spLocks noChangeArrowheads="1"/>
          </p:cNvSpPr>
          <p:nvPr/>
        </p:nvSpPr>
        <p:spPr bwMode="auto">
          <a:xfrm>
            <a:off x="539750" y="3267794"/>
            <a:ext cx="792163"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- 2</a:t>
            </a:r>
            <a:endParaRPr lang="en-US" altLang="zh-CN" sz="1800" b="1">
              <a:effectLst/>
            </a:endParaRPr>
          </a:p>
        </p:txBody>
      </p:sp>
      <p:sp>
        <p:nvSpPr>
          <p:cNvPr id="27" name="Rectangle 129"/>
          <p:cNvSpPr>
            <a:spLocks noChangeArrowheads="1"/>
          </p:cNvSpPr>
          <p:nvPr/>
        </p:nvSpPr>
        <p:spPr bwMode="auto">
          <a:xfrm>
            <a:off x="7812088" y="2902669"/>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28" name="Rectangle 127"/>
          <p:cNvSpPr>
            <a:spLocks noChangeArrowheads="1"/>
          </p:cNvSpPr>
          <p:nvPr/>
        </p:nvSpPr>
        <p:spPr bwMode="auto">
          <a:xfrm>
            <a:off x="3132138" y="2902669"/>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800" b="1">
                <a:effectLst/>
                <a:cs typeface="Arial" panose="020B0604020202020204" pitchFamily="34" charset="0"/>
              </a:rPr>
              <a:t>    2       0      -1       1       0        1       -1</a:t>
            </a:r>
            <a:endParaRPr lang="en-US" altLang="zh-CN" sz="1800" b="1">
              <a:effectLst/>
            </a:endParaRPr>
          </a:p>
        </p:txBody>
      </p:sp>
      <p:sp>
        <p:nvSpPr>
          <p:cNvPr id="29" name="Rectangle 125"/>
          <p:cNvSpPr>
            <a:spLocks noChangeArrowheads="1"/>
          </p:cNvSpPr>
          <p:nvPr/>
        </p:nvSpPr>
        <p:spPr bwMode="auto">
          <a:xfrm>
            <a:off x="2268538" y="2902669"/>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1</a:t>
            </a:r>
            <a:endParaRPr lang="en-US" altLang="zh-CN" sz="1800" b="1">
              <a:effectLst/>
              <a:cs typeface="Arial" panose="020B0604020202020204" pitchFamily="34" charset="0"/>
            </a:endParaRPr>
          </a:p>
        </p:txBody>
      </p:sp>
      <p:sp>
        <p:nvSpPr>
          <p:cNvPr id="30" name="Rectangle 123"/>
          <p:cNvSpPr>
            <a:spLocks noChangeArrowheads="1"/>
          </p:cNvSpPr>
          <p:nvPr/>
        </p:nvSpPr>
        <p:spPr bwMode="auto">
          <a:xfrm>
            <a:off x="1331913" y="2902669"/>
            <a:ext cx="9366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x</a:t>
            </a:r>
            <a:r>
              <a:rPr lang="en-US" altLang="zh-CN" sz="1800" b="1" baseline="-30000">
                <a:effectLst/>
                <a:cs typeface="Arial" panose="020B0604020202020204" pitchFamily="34" charset="0"/>
              </a:rPr>
              <a:t>4</a:t>
            </a:r>
            <a:endParaRPr lang="en-US" altLang="zh-CN" sz="1800" b="1" baseline="-30000">
              <a:effectLst/>
              <a:cs typeface="Arial" panose="020B0604020202020204" pitchFamily="34" charset="0"/>
            </a:endParaRPr>
          </a:p>
        </p:txBody>
      </p:sp>
      <p:sp>
        <p:nvSpPr>
          <p:cNvPr id="32" name="Rectangle 121"/>
          <p:cNvSpPr>
            <a:spLocks noChangeArrowheads="1"/>
          </p:cNvSpPr>
          <p:nvPr/>
        </p:nvSpPr>
        <p:spPr bwMode="auto">
          <a:xfrm>
            <a:off x="539750" y="2902669"/>
            <a:ext cx="7921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0</a:t>
            </a:r>
            <a:endParaRPr lang="en-US" altLang="zh-CN" sz="1800" b="1">
              <a:effectLst/>
            </a:endParaRPr>
          </a:p>
        </p:txBody>
      </p:sp>
      <p:sp>
        <p:nvSpPr>
          <p:cNvPr id="33" name="Rectangle 6"/>
          <p:cNvSpPr>
            <a:spLocks noChangeArrowheads="1"/>
          </p:cNvSpPr>
          <p:nvPr/>
        </p:nvSpPr>
        <p:spPr bwMode="auto">
          <a:xfrm>
            <a:off x="7812088" y="1807294"/>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600" b="1">
                <a:effectLst/>
              </a:rPr>
              <a:t>-</a:t>
            </a:r>
            <a:endParaRPr lang="en-US" altLang="zh-CN" sz="1600" b="1">
              <a:effectLst/>
            </a:endParaRPr>
          </a:p>
        </p:txBody>
      </p:sp>
      <p:sp>
        <p:nvSpPr>
          <p:cNvPr id="34" name="Rectangle 7"/>
          <p:cNvSpPr>
            <a:spLocks noChangeArrowheads="1"/>
          </p:cNvSpPr>
          <p:nvPr/>
        </p:nvSpPr>
        <p:spPr bwMode="auto">
          <a:xfrm>
            <a:off x="3132138" y="1807294"/>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1800" b="1">
                <a:effectLst/>
              </a:rPr>
              <a:t>     0       1     -1/2   -1/2     0     1/2    1/2</a:t>
            </a:r>
            <a:endParaRPr lang="en-US" altLang="zh-CN" sz="1800" b="1">
              <a:effectLst/>
            </a:endParaRPr>
          </a:p>
        </p:txBody>
      </p:sp>
      <p:sp>
        <p:nvSpPr>
          <p:cNvPr id="35" name="Rectangle 8"/>
          <p:cNvSpPr>
            <a:spLocks noChangeArrowheads="1"/>
          </p:cNvSpPr>
          <p:nvPr/>
        </p:nvSpPr>
        <p:spPr bwMode="auto">
          <a:xfrm>
            <a:off x="2268538" y="1807294"/>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rPr>
              <a:t>3/2</a:t>
            </a:r>
            <a:endParaRPr lang="en-US" altLang="zh-CN" sz="1800" b="1">
              <a:effectLst/>
            </a:endParaRPr>
          </a:p>
        </p:txBody>
      </p:sp>
      <p:sp>
        <p:nvSpPr>
          <p:cNvPr id="36" name="Rectangle 9"/>
          <p:cNvSpPr>
            <a:spLocks noChangeArrowheads="1"/>
          </p:cNvSpPr>
          <p:nvPr/>
        </p:nvSpPr>
        <p:spPr bwMode="auto">
          <a:xfrm>
            <a:off x="1331913" y="1807294"/>
            <a:ext cx="9366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rPr>
              <a:t>x</a:t>
            </a:r>
            <a:r>
              <a:rPr lang="en-US" altLang="zh-CN" sz="1200" b="1" baseline="-25000">
                <a:effectLst/>
              </a:rPr>
              <a:t>2</a:t>
            </a:r>
            <a:endParaRPr lang="en-US" altLang="zh-CN" sz="1200" b="1" baseline="-25000">
              <a:effectLst/>
            </a:endParaRPr>
          </a:p>
        </p:txBody>
      </p:sp>
      <p:sp>
        <p:nvSpPr>
          <p:cNvPr id="37" name="Rectangle 10"/>
          <p:cNvSpPr>
            <a:spLocks noChangeArrowheads="1"/>
          </p:cNvSpPr>
          <p:nvPr/>
        </p:nvSpPr>
        <p:spPr bwMode="auto">
          <a:xfrm>
            <a:off x="539750" y="1807294"/>
            <a:ext cx="7921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rPr>
              <a:t>- 2</a:t>
            </a:r>
            <a:endParaRPr lang="en-US" altLang="zh-CN" sz="1800" b="1">
              <a:effectLst/>
            </a:endParaRPr>
          </a:p>
        </p:txBody>
      </p:sp>
      <p:sp>
        <p:nvSpPr>
          <p:cNvPr id="38" name="Rectangle 11"/>
          <p:cNvSpPr>
            <a:spLocks noChangeArrowheads="1"/>
          </p:cNvSpPr>
          <p:nvPr/>
        </p:nvSpPr>
        <p:spPr bwMode="auto">
          <a:xfrm>
            <a:off x="7812088" y="1442169"/>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600" b="1">
                <a:effectLst/>
              </a:rPr>
              <a:t>1/2</a:t>
            </a:r>
            <a:r>
              <a:rPr lang="en-US" altLang="zh-CN" sz="2400" b="1">
                <a:solidFill>
                  <a:srgbClr val="CC0000"/>
                </a:solidFill>
                <a:effectLst/>
              </a:rPr>
              <a:t>/</a:t>
            </a:r>
            <a:r>
              <a:rPr lang="en-US" altLang="zh-CN" sz="1600" b="1">
                <a:effectLst/>
              </a:rPr>
              <a:t>1/2</a:t>
            </a:r>
            <a:endParaRPr lang="en-US" altLang="zh-CN" sz="1600" b="1">
              <a:effectLst/>
            </a:endParaRPr>
          </a:p>
        </p:txBody>
      </p:sp>
      <p:sp>
        <p:nvSpPr>
          <p:cNvPr id="39" name="Rectangle 12"/>
          <p:cNvSpPr>
            <a:spLocks noChangeArrowheads="1"/>
          </p:cNvSpPr>
          <p:nvPr/>
        </p:nvSpPr>
        <p:spPr bwMode="auto">
          <a:xfrm>
            <a:off x="3132138" y="1442169"/>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800" b="1">
                <a:effectLst/>
              </a:rPr>
              <a:t>     1       0     -1/2    1/2     0     1/2   -1/2</a:t>
            </a:r>
            <a:endParaRPr lang="en-US" altLang="zh-CN" sz="1800" b="1">
              <a:effectLst/>
            </a:endParaRPr>
          </a:p>
        </p:txBody>
      </p:sp>
      <p:sp>
        <p:nvSpPr>
          <p:cNvPr id="40" name="Rectangle 13"/>
          <p:cNvSpPr>
            <a:spLocks noChangeArrowheads="1"/>
          </p:cNvSpPr>
          <p:nvPr/>
        </p:nvSpPr>
        <p:spPr bwMode="auto">
          <a:xfrm>
            <a:off x="2268538" y="1442169"/>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rPr>
              <a:t>1/2</a:t>
            </a:r>
            <a:endParaRPr lang="en-US" altLang="zh-CN" sz="1800" b="1">
              <a:effectLst/>
            </a:endParaRPr>
          </a:p>
        </p:txBody>
      </p:sp>
      <p:sp>
        <p:nvSpPr>
          <p:cNvPr id="41" name="Rectangle 14"/>
          <p:cNvSpPr>
            <a:spLocks noChangeArrowheads="1"/>
          </p:cNvSpPr>
          <p:nvPr/>
        </p:nvSpPr>
        <p:spPr bwMode="auto">
          <a:xfrm>
            <a:off x="1331913" y="1442169"/>
            <a:ext cx="9366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rPr>
              <a:t>x</a:t>
            </a:r>
            <a:r>
              <a:rPr lang="en-US" altLang="zh-CN" sz="1200" b="1" baseline="-25000">
                <a:effectLst/>
              </a:rPr>
              <a:t>1</a:t>
            </a:r>
            <a:endParaRPr lang="en-US" altLang="zh-CN" sz="1200" b="1" baseline="-25000">
              <a:effectLst/>
            </a:endParaRPr>
          </a:p>
        </p:txBody>
      </p:sp>
      <p:sp>
        <p:nvSpPr>
          <p:cNvPr id="42" name="Rectangle 15"/>
          <p:cNvSpPr>
            <a:spLocks noChangeArrowheads="1"/>
          </p:cNvSpPr>
          <p:nvPr/>
        </p:nvSpPr>
        <p:spPr bwMode="auto">
          <a:xfrm>
            <a:off x="539750" y="1442169"/>
            <a:ext cx="7921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rPr>
              <a:t>1</a:t>
            </a:r>
            <a:endParaRPr lang="en-US" altLang="zh-CN" sz="1800" b="1">
              <a:effectLst/>
            </a:endParaRPr>
          </a:p>
        </p:txBody>
      </p:sp>
      <p:sp>
        <p:nvSpPr>
          <p:cNvPr id="43" name="Rectangle 36"/>
          <p:cNvSpPr>
            <a:spLocks noChangeArrowheads="1"/>
          </p:cNvSpPr>
          <p:nvPr/>
        </p:nvSpPr>
        <p:spPr bwMode="auto">
          <a:xfrm>
            <a:off x="7812088" y="5504582"/>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44" name="Rectangle 37"/>
          <p:cNvSpPr>
            <a:spLocks noChangeArrowheads="1"/>
          </p:cNvSpPr>
          <p:nvPr/>
        </p:nvSpPr>
        <p:spPr bwMode="auto">
          <a:xfrm>
            <a:off x="3132138" y="5504582"/>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800" b="1">
                <a:effectLst/>
                <a:cs typeface="Arial" panose="020B0604020202020204" pitchFamily="34" charset="0"/>
              </a:rPr>
              <a:t>      1       0       0       0       2        M       M</a:t>
            </a:r>
            <a:endParaRPr lang="en-US" altLang="zh-CN" sz="1800" b="1">
              <a:effectLst/>
            </a:endParaRPr>
          </a:p>
        </p:txBody>
      </p:sp>
      <p:sp>
        <p:nvSpPr>
          <p:cNvPr id="45" name="Rectangle 38"/>
          <p:cNvSpPr>
            <a:spLocks noChangeArrowheads="1"/>
          </p:cNvSpPr>
          <p:nvPr/>
        </p:nvSpPr>
        <p:spPr bwMode="auto">
          <a:xfrm>
            <a:off x="2268538" y="5504582"/>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- 6</a:t>
            </a:r>
            <a:endParaRPr lang="en-US" altLang="zh-CN" sz="1800" b="1">
              <a:effectLst/>
            </a:endParaRPr>
          </a:p>
        </p:txBody>
      </p:sp>
      <p:sp>
        <p:nvSpPr>
          <p:cNvPr id="46" name="Rectangle 39"/>
          <p:cNvSpPr>
            <a:spLocks noChangeArrowheads="1"/>
          </p:cNvSpPr>
          <p:nvPr/>
        </p:nvSpPr>
        <p:spPr bwMode="auto">
          <a:xfrm>
            <a:off x="539750" y="5504582"/>
            <a:ext cx="17287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Z</a:t>
            </a:r>
            <a:endParaRPr lang="en-US" altLang="zh-CN" sz="1800" b="1">
              <a:effectLst/>
            </a:endParaRPr>
          </a:p>
        </p:txBody>
      </p:sp>
      <p:sp>
        <p:nvSpPr>
          <p:cNvPr id="47" name="Rectangle 40"/>
          <p:cNvSpPr>
            <a:spLocks noChangeArrowheads="1"/>
          </p:cNvSpPr>
          <p:nvPr/>
        </p:nvSpPr>
        <p:spPr bwMode="auto">
          <a:xfrm>
            <a:off x="7812088" y="5139457"/>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48" name="Rectangle 41"/>
          <p:cNvSpPr>
            <a:spLocks noChangeArrowheads="1"/>
          </p:cNvSpPr>
          <p:nvPr/>
        </p:nvSpPr>
        <p:spPr bwMode="auto">
          <a:xfrm>
            <a:off x="3132138" y="5139457"/>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1800" b="1">
                <a:effectLst/>
                <a:cs typeface="Arial" panose="020B0604020202020204" pitchFamily="34" charset="0"/>
              </a:rPr>
              <a:t>   -1       0       1       0       1       -1        0</a:t>
            </a:r>
            <a:endParaRPr lang="en-US" altLang="zh-CN" sz="1800" b="1">
              <a:effectLst/>
            </a:endParaRPr>
          </a:p>
        </p:txBody>
      </p:sp>
      <p:sp>
        <p:nvSpPr>
          <p:cNvPr id="49" name="Rectangle 42"/>
          <p:cNvSpPr>
            <a:spLocks noChangeArrowheads="1"/>
          </p:cNvSpPr>
          <p:nvPr/>
        </p:nvSpPr>
        <p:spPr bwMode="auto">
          <a:xfrm>
            <a:off x="2268538" y="5139457"/>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1</a:t>
            </a:r>
            <a:endParaRPr lang="en-US" altLang="zh-CN" sz="1800" b="1">
              <a:effectLst/>
            </a:endParaRPr>
          </a:p>
        </p:txBody>
      </p:sp>
      <p:sp>
        <p:nvSpPr>
          <p:cNvPr id="50" name="Rectangle 43"/>
          <p:cNvSpPr>
            <a:spLocks noChangeArrowheads="1"/>
          </p:cNvSpPr>
          <p:nvPr/>
        </p:nvSpPr>
        <p:spPr bwMode="auto">
          <a:xfrm>
            <a:off x="1331913" y="5139457"/>
            <a:ext cx="9366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x</a:t>
            </a:r>
            <a:r>
              <a:rPr lang="en-US" altLang="zh-CN" sz="1800" b="1" baseline="-30000">
                <a:effectLst/>
                <a:cs typeface="Arial" panose="020B0604020202020204" pitchFamily="34" charset="0"/>
              </a:rPr>
              <a:t>3</a:t>
            </a:r>
            <a:endParaRPr lang="en-US" altLang="zh-CN" sz="1800" b="1">
              <a:effectLst/>
            </a:endParaRPr>
          </a:p>
        </p:txBody>
      </p:sp>
      <p:sp>
        <p:nvSpPr>
          <p:cNvPr id="51" name="Rectangle 44"/>
          <p:cNvSpPr>
            <a:spLocks noChangeArrowheads="1"/>
          </p:cNvSpPr>
          <p:nvPr/>
        </p:nvSpPr>
        <p:spPr bwMode="auto">
          <a:xfrm>
            <a:off x="539750" y="5139457"/>
            <a:ext cx="7921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0</a:t>
            </a:r>
            <a:endParaRPr lang="en-US" altLang="zh-CN" sz="1800" b="1">
              <a:effectLst/>
            </a:endParaRPr>
          </a:p>
        </p:txBody>
      </p:sp>
      <p:sp>
        <p:nvSpPr>
          <p:cNvPr id="52" name="Rectangle 45"/>
          <p:cNvSpPr>
            <a:spLocks noChangeArrowheads="1"/>
          </p:cNvSpPr>
          <p:nvPr/>
        </p:nvSpPr>
        <p:spPr bwMode="auto">
          <a:xfrm>
            <a:off x="7812088" y="4023444"/>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800" b="1">
              <a:effectLst/>
            </a:endParaRPr>
          </a:p>
        </p:txBody>
      </p:sp>
      <p:sp>
        <p:nvSpPr>
          <p:cNvPr id="53" name="Rectangle 46"/>
          <p:cNvSpPr>
            <a:spLocks noChangeArrowheads="1"/>
          </p:cNvSpPr>
          <p:nvPr/>
        </p:nvSpPr>
        <p:spPr bwMode="auto">
          <a:xfrm>
            <a:off x="3132138" y="4023444"/>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800" b="1">
                <a:effectLst/>
                <a:cs typeface="Arial" panose="020B0604020202020204" pitchFamily="34" charset="0"/>
              </a:rPr>
              <a:t>      3       0      - 2      0       0     2+M     M</a:t>
            </a:r>
            <a:endParaRPr lang="en-US" altLang="zh-CN" sz="1800" b="1">
              <a:effectLst/>
            </a:endParaRPr>
          </a:p>
        </p:txBody>
      </p:sp>
      <p:sp>
        <p:nvSpPr>
          <p:cNvPr id="54" name="Rectangle 47"/>
          <p:cNvSpPr>
            <a:spLocks noChangeArrowheads="1"/>
          </p:cNvSpPr>
          <p:nvPr/>
        </p:nvSpPr>
        <p:spPr bwMode="auto">
          <a:xfrm>
            <a:off x="2268538" y="4023444"/>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- 4</a:t>
            </a:r>
            <a:endParaRPr lang="en-US" altLang="zh-CN" sz="1800" b="1">
              <a:effectLst/>
            </a:endParaRPr>
          </a:p>
        </p:txBody>
      </p:sp>
      <p:sp>
        <p:nvSpPr>
          <p:cNvPr id="55" name="Rectangle 48"/>
          <p:cNvSpPr>
            <a:spLocks noChangeArrowheads="1"/>
          </p:cNvSpPr>
          <p:nvPr/>
        </p:nvSpPr>
        <p:spPr bwMode="auto">
          <a:xfrm>
            <a:off x="539750" y="4023444"/>
            <a:ext cx="17287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Z</a:t>
            </a:r>
            <a:endParaRPr lang="en-US" altLang="zh-CN" sz="1800" b="1">
              <a:effectLst/>
            </a:endParaRPr>
          </a:p>
        </p:txBody>
      </p:sp>
      <p:sp>
        <p:nvSpPr>
          <p:cNvPr id="56" name="Rectangle 49"/>
          <p:cNvSpPr>
            <a:spLocks noChangeArrowheads="1"/>
          </p:cNvSpPr>
          <p:nvPr/>
        </p:nvSpPr>
        <p:spPr bwMode="auto">
          <a:xfrm>
            <a:off x="7812088" y="3658319"/>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r>
              <a:rPr lang="en-US" altLang="zh-CN" sz="1800" b="1">
                <a:solidFill>
                  <a:schemeClr val="accent2"/>
                </a:solidFill>
                <a:effectLst/>
              </a:rPr>
              <a:t>1</a:t>
            </a:r>
            <a:endParaRPr lang="en-US" altLang="zh-CN" sz="1800" b="1">
              <a:solidFill>
                <a:schemeClr val="accent2"/>
              </a:solidFill>
              <a:effectLst/>
            </a:endParaRPr>
          </a:p>
        </p:txBody>
      </p:sp>
      <p:sp>
        <p:nvSpPr>
          <p:cNvPr id="57" name="Rectangle 50"/>
          <p:cNvSpPr>
            <a:spLocks noChangeArrowheads="1"/>
          </p:cNvSpPr>
          <p:nvPr/>
        </p:nvSpPr>
        <p:spPr bwMode="auto">
          <a:xfrm>
            <a:off x="3132138" y="3658319"/>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1800" b="1">
                <a:effectLst/>
                <a:cs typeface="Arial" panose="020B0604020202020204" pitchFamily="34" charset="0"/>
              </a:rPr>
              <a:t>   -1       0       1       0       1       -1        0</a:t>
            </a:r>
            <a:endParaRPr lang="en-US" altLang="zh-CN" sz="1800" b="1">
              <a:effectLst/>
            </a:endParaRPr>
          </a:p>
        </p:txBody>
      </p:sp>
      <p:sp>
        <p:nvSpPr>
          <p:cNvPr id="58" name="Rectangle 51"/>
          <p:cNvSpPr>
            <a:spLocks noChangeArrowheads="1"/>
          </p:cNvSpPr>
          <p:nvPr/>
        </p:nvSpPr>
        <p:spPr bwMode="auto">
          <a:xfrm>
            <a:off x="2268538" y="3658319"/>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1</a:t>
            </a:r>
            <a:endParaRPr lang="en-US" altLang="zh-CN" sz="1800" b="1">
              <a:effectLst/>
            </a:endParaRPr>
          </a:p>
        </p:txBody>
      </p:sp>
      <p:sp>
        <p:nvSpPr>
          <p:cNvPr id="59" name="Rectangle 52"/>
          <p:cNvSpPr>
            <a:spLocks noChangeArrowheads="1"/>
          </p:cNvSpPr>
          <p:nvPr/>
        </p:nvSpPr>
        <p:spPr bwMode="auto">
          <a:xfrm>
            <a:off x="1331913" y="3658319"/>
            <a:ext cx="9366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x</a:t>
            </a:r>
            <a:r>
              <a:rPr lang="en-US" altLang="zh-CN" sz="1800" b="1" baseline="-30000">
                <a:effectLst/>
                <a:cs typeface="Arial" panose="020B0604020202020204" pitchFamily="34" charset="0"/>
              </a:rPr>
              <a:t>5</a:t>
            </a:r>
            <a:endParaRPr lang="en-US" altLang="zh-CN" sz="1800" b="1">
              <a:effectLst/>
            </a:endParaRPr>
          </a:p>
        </p:txBody>
      </p:sp>
      <p:sp>
        <p:nvSpPr>
          <p:cNvPr id="60" name="Rectangle 53"/>
          <p:cNvSpPr>
            <a:spLocks noChangeArrowheads="1"/>
          </p:cNvSpPr>
          <p:nvPr/>
        </p:nvSpPr>
        <p:spPr bwMode="auto">
          <a:xfrm>
            <a:off x="539750" y="3658319"/>
            <a:ext cx="7921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0</a:t>
            </a:r>
            <a:endParaRPr lang="en-US" altLang="zh-CN" sz="1800" b="1">
              <a:effectLst/>
            </a:endParaRPr>
          </a:p>
        </p:txBody>
      </p:sp>
      <p:sp>
        <p:nvSpPr>
          <p:cNvPr id="61" name="Rectangle 54"/>
          <p:cNvSpPr>
            <a:spLocks noChangeArrowheads="1"/>
          </p:cNvSpPr>
          <p:nvPr/>
        </p:nvSpPr>
        <p:spPr bwMode="auto">
          <a:xfrm>
            <a:off x="7812088" y="2537544"/>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1600" b="1">
              <a:effectLst/>
            </a:endParaRPr>
          </a:p>
        </p:txBody>
      </p:sp>
      <p:sp>
        <p:nvSpPr>
          <p:cNvPr id="62" name="Rectangle 55"/>
          <p:cNvSpPr>
            <a:spLocks noChangeArrowheads="1"/>
          </p:cNvSpPr>
          <p:nvPr/>
        </p:nvSpPr>
        <p:spPr bwMode="auto">
          <a:xfrm>
            <a:off x="3132138" y="2537544"/>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800" b="1">
                <a:effectLst/>
                <a:cs typeface="Arial" panose="020B0604020202020204" pitchFamily="34" charset="0"/>
              </a:rPr>
              <a:t>       0       0      - 1/2   -3/2    0   ½+M  3/2+M</a:t>
            </a:r>
            <a:endParaRPr lang="en-US" altLang="zh-CN" sz="1800" b="1">
              <a:effectLst/>
            </a:endParaRPr>
          </a:p>
        </p:txBody>
      </p:sp>
      <p:sp>
        <p:nvSpPr>
          <p:cNvPr id="63" name="Rectangle 56"/>
          <p:cNvSpPr>
            <a:spLocks noChangeArrowheads="1"/>
          </p:cNvSpPr>
          <p:nvPr/>
        </p:nvSpPr>
        <p:spPr bwMode="auto">
          <a:xfrm>
            <a:off x="2268538" y="2537544"/>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- 5/2</a:t>
            </a:r>
            <a:endParaRPr lang="en-US" altLang="zh-CN" sz="1800" b="1">
              <a:effectLst/>
            </a:endParaRPr>
          </a:p>
        </p:txBody>
      </p:sp>
      <p:sp>
        <p:nvSpPr>
          <p:cNvPr id="64" name="Rectangle 57"/>
          <p:cNvSpPr>
            <a:spLocks noChangeArrowheads="1"/>
          </p:cNvSpPr>
          <p:nvPr/>
        </p:nvSpPr>
        <p:spPr bwMode="auto">
          <a:xfrm>
            <a:off x="539750" y="2537544"/>
            <a:ext cx="172878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Z</a:t>
            </a:r>
            <a:endParaRPr lang="en-US" altLang="zh-CN" sz="1800" b="1">
              <a:effectLst/>
            </a:endParaRPr>
          </a:p>
        </p:txBody>
      </p:sp>
      <p:sp>
        <p:nvSpPr>
          <p:cNvPr id="65" name="Rectangle 58"/>
          <p:cNvSpPr>
            <a:spLocks noChangeArrowheads="1"/>
          </p:cNvSpPr>
          <p:nvPr/>
        </p:nvSpPr>
        <p:spPr bwMode="auto">
          <a:xfrm>
            <a:off x="7812088" y="2172419"/>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600" b="1">
                <a:effectLst/>
                <a:cs typeface="Arial" panose="020B0604020202020204" pitchFamily="34" charset="0"/>
              </a:rPr>
              <a:t>3/2</a:t>
            </a:r>
            <a:r>
              <a:rPr lang="en-US" altLang="zh-CN" sz="1600" b="1">
                <a:effectLst/>
              </a:rPr>
              <a:t> </a:t>
            </a:r>
            <a:r>
              <a:rPr lang="en-US" altLang="zh-CN" sz="2400" b="1">
                <a:solidFill>
                  <a:srgbClr val="CC0000"/>
                </a:solidFill>
                <a:effectLst/>
              </a:rPr>
              <a:t>/</a:t>
            </a:r>
            <a:r>
              <a:rPr lang="en-US" altLang="zh-CN" sz="1600" b="1">
                <a:effectLst/>
              </a:rPr>
              <a:t>1/2</a:t>
            </a:r>
            <a:endParaRPr lang="en-US" altLang="zh-CN" sz="1600" b="1">
              <a:effectLst/>
            </a:endParaRPr>
          </a:p>
        </p:txBody>
      </p:sp>
      <p:sp>
        <p:nvSpPr>
          <p:cNvPr id="66" name="Rectangle 59"/>
          <p:cNvSpPr>
            <a:spLocks noChangeArrowheads="1"/>
          </p:cNvSpPr>
          <p:nvPr/>
        </p:nvSpPr>
        <p:spPr bwMode="auto">
          <a:xfrm>
            <a:off x="3132138" y="2172419"/>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1800" b="1">
                <a:effectLst/>
                <a:cs typeface="Arial" panose="020B0604020202020204" pitchFamily="34" charset="0"/>
              </a:rPr>
              <a:t>     0       0      1/2    1/2     1    -1/2    -1/2</a:t>
            </a:r>
            <a:endParaRPr lang="en-US" altLang="zh-CN" sz="1800" b="1">
              <a:effectLst/>
            </a:endParaRPr>
          </a:p>
        </p:txBody>
      </p:sp>
      <p:sp>
        <p:nvSpPr>
          <p:cNvPr id="67" name="Rectangle 60"/>
          <p:cNvSpPr>
            <a:spLocks noChangeArrowheads="1"/>
          </p:cNvSpPr>
          <p:nvPr/>
        </p:nvSpPr>
        <p:spPr bwMode="auto">
          <a:xfrm>
            <a:off x="2268538" y="2172419"/>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3/2</a:t>
            </a:r>
            <a:endParaRPr lang="en-US" altLang="zh-CN" sz="1800" b="1">
              <a:effectLst/>
            </a:endParaRPr>
          </a:p>
        </p:txBody>
      </p:sp>
      <p:sp>
        <p:nvSpPr>
          <p:cNvPr id="68" name="Rectangle 61"/>
          <p:cNvSpPr>
            <a:spLocks noChangeArrowheads="1"/>
          </p:cNvSpPr>
          <p:nvPr/>
        </p:nvSpPr>
        <p:spPr bwMode="auto">
          <a:xfrm>
            <a:off x="1331913" y="2172419"/>
            <a:ext cx="9366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x</a:t>
            </a:r>
            <a:r>
              <a:rPr lang="en-US" altLang="zh-CN" sz="1800" b="1" baseline="-30000">
                <a:effectLst/>
                <a:cs typeface="Arial" panose="020B0604020202020204" pitchFamily="34" charset="0"/>
              </a:rPr>
              <a:t>5</a:t>
            </a:r>
            <a:endParaRPr lang="en-US" altLang="zh-CN" sz="1800" b="1">
              <a:effectLst/>
            </a:endParaRPr>
          </a:p>
        </p:txBody>
      </p:sp>
      <p:sp>
        <p:nvSpPr>
          <p:cNvPr id="69" name="Rectangle 62"/>
          <p:cNvSpPr>
            <a:spLocks noChangeArrowheads="1"/>
          </p:cNvSpPr>
          <p:nvPr/>
        </p:nvSpPr>
        <p:spPr bwMode="auto">
          <a:xfrm>
            <a:off x="539750" y="2172419"/>
            <a:ext cx="7921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1800" b="1">
                <a:effectLst/>
                <a:cs typeface="Arial" panose="020B0604020202020204" pitchFamily="34" charset="0"/>
              </a:rPr>
              <a:t>0</a:t>
            </a:r>
            <a:endParaRPr lang="en-US" altLang="zh-CN" sz="1800" b="1">
              <a:effectLst/>
            </a:endParaRPr>
          </a:p>
        </p:txBody>
      </p:sp>
      <p:sp>
        <p:nvSpPr>
          <p:cNvPr id="70" name="Rectangle 81"/>
          <p:cNvSpPr>
            <a:spLocks noChangeArrowheads="1"/>
          </p:cNvSpPr>
          <p:nvPr/>
        </p:nvSpPr>
        <p:spPr bwMode="auto">
          <a:xfrm>
            <a:off x="3132138" y="1077044"/>
            <a:ext cx="46799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1800" b="1">
                <a:effectLst/>
                <a:cs typeface="Arial" panose="020B0604020202020204" pitchFamily="34" charset="0"/>
              </a:rPr>
              <a:t>       x</a:t>
            </a:r>
            <a:r>
              <a:rPr lang="en-US" altLang="zh-CN" sz="1800" b="1" baseline="-30000">
                <a:effectLst/>
                <a:cs typeface="Arial" panose="020B0604020202020204" pitchFamily="34" charset="0"/>
              </a:rPr>
              <a:t>1</a:t>
            </a:r>
            <a:r>
              <a:rPr lang="en-US" altLang="zh-CN" sz="1800" b="1">
                <a:effectLst/>
                <a:cs typeface="Arial" panose="020B0604020202020204" pitchFamily="34" charset="0"/>
              </a:rPr>
              <a:t>      x</a:t>
            </a:r>
            <a:r>
              <a:rPr lang="en-US" altLang="zh-CN" sz="1800" b="1" baseline="-30000">
                <a:effectLst/>
                <a:cs typeface="Arial" panose="020B0604020202020204" pitchFamily="34" charset="0"/>
              </a:rPr>
              <a:t>2</a:t>
            </a:r>
            <a:r>
              <a:rPr lang="en-US" altLang="zh-CN" sz="1800" b="1">
                <a:effectLst/>
                <a:cs typeface="Arial" panose="020B0604020202020204" pitchFamily="34" charset="0"/>
              </a:rPr>
              <a:t>      x</a:t>
            </a:r>
            <a:r>
              <a:rPr lang="en-US" altLang="zh-CN" sz="1800" b="1" baseline="-30000">
                <a:effectLst/>
                <a:cs typeface="Arial" panose="020B0604020202020204" pitchFamily="34" charset="0"/>
              </a:rPr>
              <a:t>3</a:t>
            </a:r>
            <a:r>
              <a:rPr lang="en-US" altLang="zh-CN" sz="1800" b="1">
                <a:effectLst/>
                <a:cs typeface="Arial" panose="020B0604020202020204" pitchFamily="34" charset="0"/>
              </a:rPr>
              <a:t>     x</a:t>
            </a:r>
            <a:r>
              <a:rPr lang="en-US" altLang="zh-CN" sz="1800" b="1" baseline="-30000">
                <a:effectLst/>
                <a:cs typeface="Arial" panose="020B0604020202020204" pitchFamily="34" charset="0"/>
              </a:rPr>
              <a:t>4</a:t>
            </a:r>
            <a:r>
              <a:rPr lang="en-US" altLang="zh-CN" sz="1800" b="1">
                <a:effectLst/>
                <a:cs typeface="Arial" panose="020B0604020202020204" pitchFamily="34" charset="0"/>
              </a:rPr>
              <a:t>      x</a:t>
            </a:r>
            <a:r>
              <a:rPr lang="en-US" altLang="zh-CN" sz="1800" b="1" baseline="-30000">
                <a:effectLst/>
                <a:cs typeface="Arial" panose="020B0604020202020204" pitchFamily="34" charset="0"/>
              </a:rPr>
              <a:t>5</a:t>
            </a:r>
            <a:r>
              <a:rPr lang="en-US" altLang="zh-CN" sz="1800" b="1">
                <a:effectLst/>
                <a:cs typeface="Arial" panose="020B0604020202020204" pitchFamily="34" charset="0"/>
              </a:rPr>
              <a:t>      x</a:t>
            </a:r>
            <a:r>
              <a:rPr lang="en-US" altLang="zh-CN" sz="1800" b="1" baseline="-30000">
                <a:effectLst/>
                <a:cs typeface="Arial" panose="020B0604020202020204" pitchFamily="34" charset="0"/>
              </a:rPr>
              <a:t>6</a:t>
            </a:r>
            <a:r>
              <a:rPr lang="en-US" altLang="zh-CN" sz="1800" b="1">
                <a:effectLst/>
                <a:cs typeface="Arial" panose="020B0604020202020204" pitchFamily="34" charset="0"/>
              </a:rPr>
              <a:t>      x</a:t>
            </a:r>
            <a:r>
              <a:rPr lang="en-US" altLang="zh-CN" sz="1800" b="1" baseline="-30000">
                <a:effectLst/>
                <a:cs typeface="Arial" panose="020B0604020202020204" pitchFamily="34" charset="0"/>
              </a:rPr>
              <a:t>7</a:t>
            </a:r>
            <a:endParaRPr lang="en-US" altLang="zh-CN" sz="1800" b="1">
              <a:effectLst/>
            </a:endParaRPr>
          </a:p>
        </p:txBody>
      </p:sp>
      <p:sp>
        <p:nvSpPr>
          <p:cNvPr id="71" name="Rectangle 82"/>
          <p:cNvSpPr>
            <a:spLocks noChangeArrowheads="1"/>
          </p:cNvSpPr>
          <p:nvPr/>
        </p:nvSpPr>
        <p:spPr bwMode="auto">
          <a:xfrm>
            <a:off x="2268538" y="1077044"/>
            <a:ext cx="8636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b</a:t>
            </a:r>
            <a:endParaRPr lang="en-US" altLang="zh-CN" sz="1800" b="1">
              <a:effectLst/>
            </a:endParaRPr>
          </a:p>
        </p:txBody>
      </p:sp>
      <p:sp>
        <p:nvSpPr>
          <p:cNvPr id="72" name="Rectangle 83"/>
          <p:cNvSpPr>
            <a:spLocks noChangeArrowheads="1"/>
          </p:cNvSpPr>
          <p:nvPr/>
        </p:nvSpPr>
        <p:spPr bwMode="auto">
          <a:xfrm>
            <a:off x="1331913" y="1077044"/>
            <a:ext cx="9366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X</a:t>
            </a:r>
            <a:r>
              <a:rPr lang="en-US" altLang="zh-CN" sz="1800" b="1" baseline="-30000">
                <a:effectLst/>
                <a:cs typeface="Arial" panose="020B0604020202020204" pitchFamily="34" charset="0"/>
              </a:rPr>
              <a:t>B</a:t>
            </a:r>
            <a:endParaRPr lang="en-US" altLang="zh-CN" sz="1800" b="1">
              <a:effectLst/>
            </a:endParaRPr>
          </a:p>
        </p:txBody>
      </p:sp>
      <p:sp>
        <p:nvSpPr>
          <p:cNvPr id="73" name="Rectangle 84"/>
          <p:cNvSpPr>
            <a:spLocks noChangeArrowheads="1"/>
          </p:cNvSpPr>
          <p:nvPr/>
        </p:nvSpPr>
        <p:spPr bwMode="auto">
          <a:xfrm>
            <a:off x="539750" y="1077044"/>
            <a:ext cx="7921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C</a:t>
            </a:r>
            <a:r>
              <a:rPr lang="en-US" altLang="zh-CN" sz="1800" b="1" baseline="-30000">
                <a:effectLst/>
                <a:cs typeface="Arial" panose="020B0604020202020204" pitchFamily="34" charset="0"/>
              </a:rPr>
              <a:t>B</a:t>
            </a:r>
            <a:endParaRPr lang="en-US" altLang="zh-CN" sz="1800" b="1">
              <a:effectLst/>
            </a:endParaRPr>
          </a:p>
        </p:txBody>
      </p:sp>
      <p:sp>
        <p:nvSpPr>
          <p:cNvPr id="74" name="Rectangle 85"/>
          <p:cNvSpPr>
            <a:spLocks noChangeArrowheads="1"/>
          </p:cNvSpPr>
          <p:nvPr/>
        </p:nvSpPr>
        <p:spPr bwMode="auto">
          <a:xfrm>
            <a:off x="7812088" y="711919"/>
            <a:ext cx="8636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1800" b="1">
                <a:effectLst/>
                <a:cs typeface="Arial" panose="020B0604020202020204" pitchFamily="34" charset="0"/>
              </a:rPr>
              <a:t>θ</a:t>
            </a:r>
            <a:endParaRPr lang="en-US" altLang="zh-CN" sz="1800" b="1">
              <a:effectLst/>
            </a:endParaRPr>
          </a:p>
        </p:txBody>
      </p:sp>
      <p:sp>
        <p:nvSpPr>
          <p:cNvPr id="75" name="Line 92"/>
          <p:cNvSpPr>
            <a:spLocks noChangeShapeType="1"/>
          </p:cNvSpPr>
          <p:nvPr/>
        </p:nvSpPr>
        <p:spPr bwMode="auto">
          <a:xfrm>
            <a:off x="539750" y="1077044"/>
            <a:ext cx="72723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6" name="Line 93"/>
          <p:cNvSpPr>
            <a:spLocks noChangeShapeType="1"/>
          </p:cNvSpPr>
          <p:nvPr/>
        </p:nvSpPr>
        <p:spPr bwMode="auto">
          <a:xfrm>
            <a:off x="3132138" y="711919"/>
            <a:ext cx="0" cy="515778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7" name="Line 94"/>
          <p:cNvSpPr>
            <a:spLocks noChangeShapeType="1"/>
          </p:cNvSpPr>
          <p:nvPr/>
        </p:nvSpPr>
        <p:spPr bwMode="auto">
          <a:xfrm>
            <a:off x="7812088" y="711919"/>
            <a:ext cx="0" cy="5157788"/>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8" name="Line 96"/>
          <p:cNvSpPr>
            <a:spLocks noChangeShapeType="1"/>
          </p:cNvSpPr>
          <p:nvPr/>
        </p:nvSpPr>
        <p:spPr bwMode="auto">
          <a:xfrm>
            <a:off x="1331913" y="1077044"/>
            <a:ext cx="0" cy="14605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9" name="Line 97"/>
          <p:cNvSpPr>
            <a:spLocks noChangeShapeType="1"/>
          </p:cNvSpPr>
          <p:nvPr/>
        </p:nvSpPr>
        <p:spPr bwMode="auto">
          <a:xfrm>
            <a:off x="2268538" y="1077044"/>
            <a:ext cx="0" cy="479266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0" name="Line 103"/>
          <p:cNvSpPr>
            <a:spLocks noChangeShapeType="1"/>
          </p:cNvSpPr>
          <p:nvPr/>
        </p:nvSpPr>
        <p:spPr bwMode="auto">
          <a:xfrm>
            <a:off x="539750" y="2537544"/>
            <a:ext cx="81359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1" name="Line 106"/>
          <p:cNvSpPr>
            <a:spLocks noChangeShapeType="1"/>
          </p:cNvSpPr>
          <p:nvPr/>
        </p:nvSpPr>
        <p:spPr bwMode="auto">
          <a:xfrm>
            <a:off x="539750" y="4023444"/>
            <a:ext cx="81359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2" name="Line 107"/>
          <p:cNvSpPr>
            <a:spLocks noChangeShapeType="1"/>
          </p:cNvSpPr>
          <p:nvPr/>
        </p:nvSpPr>
        <p:spPr bwMode="auto">
          <a:xfrm>
            <a:off x="1331913" y="2902669"/>
            <a:ext cx="0" cy="112077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3" name="Line 109"/>
          <p:cNvSpPr>
            <a:spLocks noChangeShapeType="1"/>
          </p:cNvSpPr>
          <p:nvPr/>
        </p:nvSpPr>
        <p:spPr bwMode="auto">
          <a:xfrm>
            <a:off x="539750" y="5504582"/>
            <a:ext cx="81359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4" name="Line 110"/>
          <p:cNvSpPr>
            <a:spLocks noChangeShapeType="1"/>
          </p:cNvSpPr>
          <p:nvPr/>
        </p:nvSpPr>
        <p:spPr bwMode="auto">
          <a:xfrm>
            <a:off x="1331913" y="4388569"/>
            <a:ext cx="0" cy="1116013"/>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5" name="Line 115"/>
          <p:cNvSpPr>
            <a:spLocks noChangeShapeType="1"/>
          </p:cNvSpPr>
          <p:nvPr/>
        </p:nvSpPr>
        <p:spPr bwMode="auto">
          <a:xfrm>
            <a:off x="539750" y="1807294"/>
            <a:ext cx="81359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6" name="Line 116"/>
          <p:cNvSpPr>
            <a:spLocks noChangeShapeType="1"/>
          </p:cNvSpPr>
          <p:nvPr/>
        </p:nvSpPr>
        <p:spPr bwMode="auto">
          <a:xfrm>
            <a:off x="539750" y="2172419"/>
            <a:ext cx="81359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7" name="Line 122"/>
          <p:cNvSpPr>
            <a:spLocks noChangeShapeType="1"/>
          </p:cNvSpPr>
          <p:nvPr/>
        </p:nvSpPr>
        <p:spPr bwMode="auto">
          <a:xfrm>
            <a:off x="539750" y="3267794"/>
            <a:ext cx="81359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8" name="Line 134"/>
          <p:cNvSpPr>
            <a:spLocks noChangeShapeType="1"/>
          </p:cNvSpPr>
          <p:nvPr/>
        </p:nvSpPr>
        <p:spPr bwMode="auto">
          <a:xfrm>
            <a:off x="539750" y="3658319"/>
            <a:ext cx="81359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9" name="Line 153"/>
          <p:cNvSpPr>
            <a:spLocks noChangeShapeType="1"/>
          </p:cNvSpPr>
          <p:nvPr/>
        </p:nvSpPr>
        <p:spPr bwMode="auto">
          <a:xfrm>
            <a:off x="539750" y="4774332"/>
            <a:ext cx="81359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0" name="Line 165"/>
          <p:cNvSpPr>
            <a:spLocks noChangeShapeType="1"/>
          </p:cNvSpPr>
          <p:nvPr/>
        </p:nvSpPr>
        <p:spPr bwMode="auto">
          <a:xfrm>
            <a:off x="539750" y="5139457"/>
            <a:ext cx="8135938"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1" name="Line 88"/>
          <p:cNvSpPr>
            <a:spLocks noChangeShapeType="1"/>
          </p:cNvSpPr>
          <p:nvPr/>
        </p:nvSpPr>
        <p:spPr bwMode="auto">
          <a:xfrm>
            <a:off x="539750" y="711919"/>
            <a:ext cx="8135938"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2" name="Line 90"/>
          <p:cNvSpPr>
            <a:spLocks noChangeShapeType="1"/>
          </p:cNvSpPr>
          <p:nvPr/>
        </p:nvSpPr>
        <p:spPr bwMode="auto">
          <a:xfrm>
            <a:off x="539750" y="711919"/>
            <a:ext cx="0" cy="515778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3" name="Line 91"/>
          <p:cNvSpPr>
            <a:spLocks noChangeShapeType="1"/>
          </p:cNvSpPr>
          <p:nvPr/>
        </p:nvSpPr>
        <p:spPr bwMode="auto">
          <a:xfrm>
            <a:off x="8675688" y="711919"/>
            <a:ext cx="0" cy="5157788"/>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4" name="Line 89"/>
          <p:cNvSpPr>
            <a:spLocks noChangeShapeType="1"/>
          </p:cNvSpPr>
          <p:nvPr/>
        </p:nvSpPr>
        <p:spPr bwMode="auto">
          <a:xfrm>
            <a:off x="539750" y="5869707"/>
            <a:ext cx="8135938"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5" name="Line 95"/>
          <p:cNvSpPr>
            <a:spLocks noChangeShapeType="1"/>
          </p:cNvSpPr>
          <p:nvPr/>
        </p:nvSpPr>
        <p:spPr bwMode="auto">
          <a:xfrm>
            <a:off x="539750" y="1442169"/>
            <a:ext cx="8135938"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6" name="Line 105"/>
          <p:cNvSpPr>
            <a:spLocks noChangeShapeType="1"/>
          </p:cNvSpPr>
          <p:nvPr/>
        </p:nvSpPr>
        <p:spPr bwMode="auto">
          <a:xfrm>
            <a:off x="539750" y="2902669"/>
            <a:ext cx="8135938"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7" name="Line 108"/>
          <p:cNvSpPr>
            <a:spLocks noChangeShapeType="1"/>
          </p:cNvSpPr>
          <p:nvPr/>
        </p:nvSpPr>
        <p:spPr bwMode="auto">
          <a:xfrm>
            <a:off x="539750" y="4388569"/>
            <a:ext cx="8135938"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8" name="Rectangle 204"/>
          <p:cNvSpPr>
            <a:spLocks noChangeArrowheads="1"/>
          </p:cNvSpPr>
          <p:nvPr/>
        </p:nvSpPr>
        <p:spPr bwMode="auto">
          <a:xfrm>
            <a:off x="971550" y="5878289"/>
            <a:ext cx="457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a:effectLst/>
                <a:ea typeface="楷体_GB2312" pitchFamily="49" charset="-122"/>
              </a:rPr>
              <a:t>最优解                               </a:t>
            </a:r>
            <a:r>
              <a:rPr lang="en-US" altLang="zh-CN" sz="2000" b="1">
                <a:effectLst/>
                <a:ea typeface="楷体_GB2312" pitchFamily="49" charset="-122"/>
              </a:rPr>
              <a:t>,    </a:t>
            </a:r>
            <a:r>
              <a:rPr lang="zh-CN" altLang="en-US" sz="2000" b="1">
                <a:effectLst/>
                <a:ea typeface="楷体_GB2312" pitchFamily="49" charset="-122"/>
              </a:rPr>
              <a:t>最优值</a:t>
            </a:r>
            <a:endParaRPr lang="zh-CN" altLang="en-US" sz="2000" b="1">
              <a:effectLst/>
              <a:ea typeface="楷体_GB2312" pitchFamily="49" charset="-122"/>
            </a:endParaRPr>
          </a:p>
        </p:txBody>
      </p:sp>
      <p:graphicFrame>
        <p:nvGraphicFramePr>
          <p:cNvPr id="99" name="Object 205"/>
          <p:cNvGraphicFramePr>
            <a:graphicFrameLocks noChangeAspect="1"/>
          </p:cNvGraphicFramePr>
          <p:nvPr/>
        </p:nvGraphicFramePr>
        <p:xfrm>
          <a:off x="1979613" y="5805264"/>
          <a:ext cx="1728787" cy="485775"/>
        </p:xfrm>
        <a:graphic>
          <a:graphicData uri="http://schemas.openxmlformats.org/presentationml/2006/ole">
            <mc:AlternateContent xmlns:mc="http://schemas.openxmlformats.org/markup-compatibility/2006">
              <mc:Choice xmlns:v="urn:schemas-microsoft-com:vml" Requires="v">
                <p:oleObj spid="_x0000_s5121" name="Equation" r:id="rId1" imgW="26517600" imgH="6705600" progId="Equation.DSMT4">
                  <p:embed/>
                </p:oleObj>
              </mc:Choice>
              <mc:Fallback>
                <p:oleObj name="Equation" r:id="rId1" imgW="26517600" imgH="6705600" progId="Equation.DSMT4">
                  <p:embed/>
                  <p:pic>
                    <p:nvPicPr>
                      <p:cNvPr id="0" name="图片 5120"/>
                      <p:cNvPicPr>
                        <a:picLocks noChangeAspect="1"/>
                      </p:cNvPicPr>
                      <p:nvPr/>
                    </p:nvPicPr>
                    <p:blipFill>
                      <a:blip r:embed="rId2"/>
                      <a:stretch>
                        <a:fillRect/>
                      </a:stretch>
                    </p:blipFill>
                    <p:spPr>
                      <a:xfrm>
                        <a:off x="1979613" y="5805264"/>
                        <a:ext cx="1728787" cy="485775"/>
                      </a:xfrm>
                      <a:prstGeom prst="rect">
                        <a:avLst/>
                      </a:prstGeom>
                      <a:noFill/>
                      <a:ln w="9525">
                        <a:noFill/>
                      </a:ln>
                    </p:spPr>
                  </p:pic>
                </p:oleObj>
              </mc:Fallback>
            </mc:AlternateContent>
          </a:graphicData>
        </a:graphic>
      </p:graphicFrame>
      <p:graphicFrame>
        <p:nvGraphicFramePr>
          <p:cNvPr id="100" name="Object 206"/>
          <p:cNvGraphicFramePr>
            <a:graphicFrameLocks noChangeAspect="1"/>
          </p:cNvGraphicFramePr>
          <p:nvPr/>
        </p:nvGraphicFramePr>
        <p:xfrm>
          <a:off x="5019675" y="5848127"/>
          <a:ext cx="846138" cy="376237"/>
        </p:xfrm>
        <a:graphic>
          <a:graphicData uri="http://schemas.openxmlformats.org/presentationml/2006/ole">
            <mc:AlternateContent xmlns:mc="http://schemas.openxmlformats.org/markup-compatibility/2006">
              <mc:Choice xmlns:v="urn:schemas-microsoft-com:vml" Requires="v">
                <p:oleObj spid="_x0000_s5122" name="Equation" r:id="rId3" imgW="12192000" imgH="4876800" progId="Equation.DSMT4">
                  <p:embed/>
                </p:oleObj>
              </mc:Choice>
              <mc:Fallback>
                <p:oleObj name="Equation" r:id="rId3" imgW="12192000" imgH="4876800" progId="Equation.DSMT4">
                  <p:embed/>
                  <p:pic>
                    <p:nvPicPr>
                      <p:cNvPr id="0" name="图片 5121"/>
                      <p:cNvPicPr>
                        <a:picLocks noChangeAspect="1"/>
                      </p:cNvPicPr>
                      <p:nvPr/>
                    </p:nvPicPr>
                    <p:blipFill>
                      <a:blip r:embed="rId4"/>
                      <a:stretch>
                        <a:fillRect/>
                      </a:stretch>
                    </p:blipFill>
                    <p:spPr>
                      <a:xfrm>
                        <a:off x="5019675" y="5848127"/>
                        <a:ext cx="846138" cy="376237"/>
                      </a:xfrm>
                      <a:prstGeom prst="rect">
                        <a:avLst/>
                      </a:prstGeom>
                      <a:noFill/>
                      <a:ln w="9525">
                        <a:noFill/>
                      </a:ln>
                    </p:spPr>
                  </p:pic>
                </p:oleObj>
              </mc:Fallback>
            </mc:AlternateContent>
          </a:graphicData>
        </a:graphic>
      </p:graphicFrame>
      <p:sp>
        <p:nvSpPr>
          <p:cNvPr id="101" name="Oval 548"/>
          <p:cNvSpPr>
            <a:spLocks noChangeArrowheads="1"/>
          </p:cNvSpPr>
          <p:nvPr/>
        </p:nvSpPr>
        <p:spPr bwMode="auto">
          <a:xfrm flipV="1">
            <a:off x="5364163" y="1504082"/>
            <a:ext cx="73025" cy="71437"/>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102" name="Oval 549"/>
          <p:cNvSpPr>
            <a:spLocks noChangeArrowheads="1"/>
          </p:cNvSpPr>
          <p:nvPr/>
        </p:nvSpPr>
        <p:spPr bwMode="auto">
          <a:xfrm flipV="1">
            <a:off x="4716463" y="3736107"/>
            <a:ext cx="73025" cy="71437"/>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104" name="Rectangle 553"/>
          <p:cNvSpPr>
            <a:spLocks noChangeArrowheads="1"/>
          </p:cNvSpPr>
          <p:nvPr/>
        </p:nvSpPr>
        <p:spPr bwMode="auto">
          <a:xfrm>
            <a:off x="3038475" y="705569"/>
            <a:ext cx="477361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1800" b="1">
                <a:solidFill>
                  <a:schemeClr val="accent2"/>
                </a:solidFill>
                <a:effectLst/>
                <a:cs typeface="Arial" panose="020B0604020202020204" pitchFamily="34" charset="0"/>
              </a:rPr>
              <a:t>　    </a:t>
            </a:r>
            <a:r>
              <a:rPr lang="en-US" altLang="zh-CN" sz="1800" b="1">
                <a:solidFill>
                  <a:schemeClr val="accent2"/>
                </a:solidFill>
                <a:effectLst/>
                <a:cs typeface="Arial" panose="020B0604020202020204" pitchFamily="34" charset="0"/>
              </a:rPr>
              <a:t>1      </a:t>
            </a:r>
            <a:r>
              <a:rPr lang="zh-CN" altLang="en-US" sz="1800" b="1">
                <a:solidFill>
                  <a:schemeClr val="accent2"/>
                </a:solidFill>
                <a:effectLst/>
                <a:cs typeface="Arial" panose="020B0604020202020204" pitchFamily="34" charset="0"/>
              </a:rPr>
              <a:t>－</a:t>
            </a:r>
            <a:r>
              <a:rPr lang="en-US" altLang="zh-CN" sz="1800" b="1">
                <a:solidFill>
                  <a:schemeClr val="accent2"/>
                </a:solidFill>
                <a:effectLst/>
                <a:cs typeface="Arial" panose="020B0604020202020204" pitchFamily="34" charset="0"/>
              </a:rPr>
              <a:t>2      0       0       0        M     M</a:t>
            </a:r>
            <a:endParaRPr lang="en-US" altLang="zh-CN" sz="1800" b="1">
              <a:solidFill>
                <a:schemeClr val="accent2"/>
              </a:solidFill>
              <a:effectLst/>
            </a:endParaRPr>
          </a:p>
        </p:txBody>
      </p:sp>
      <p:sp>
        <p:nvSpPr>
          <p:cNvPr id="105" name="Rectangle 554"/>
          <p:cNvSpPr>
            <a:spLocks noChangeArrowheads="1"/>
          </p:cNvSpPr>
          <p:nvPr/>
        </p:nvSpPr>
        <p:spPr bwMode="auto">
          <a:xfrm>
            <a:off x="539750" y="705569"/>
            <a:ext cx="24987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zh-CN" sz="1800" b="1">
                <a:solidFill>
                  <a:schemeClr val="accent2"/>
                </a:solidFill>
                <a:effectLst/>
                <a:cs typeface="Arial" panose="020B0604020202020204" pitchFamily="34" charset="0"/>
              </a:rPr>
              <a:t>C</a:t>
            </a:r>
            <a:endParaRPr lang="en-US" altLang="zh-CN" sz="1800" b="1">
              <a:solidFill>
                <a:schemeClr val="accent2"/>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linds(horizontal)">
                                      <p:cBhvr>
                                        <p:cTn id="7" dur="500"/>
                                        <p:tgtEl>
                                          <p:spTgt spid="3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blinds(horizontal)">
                                      <p:cBhvr>
                                        <p:cTn id="10" dur="500"/>
                                        <p:tgtEl>
                                          <p:spTgt spid="3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blinds(horizontal)">
                                      <p:cBhvr>
                                        <p:cTn id="13" dur="500"/>
                                        <p:tgtEl>
                                          <p:spTgt spid="65"/>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01"/>
                                        </p:tgtEl>
                                        <p:attrNameLst>
                                          <p:attrName>style.visibility</p:attrName>
                                        </p:attrNameLst>
                                      </p:cBhvr>
                                      <p:to>
                                        <p:strVal val="visible"/>
                                      </p:to>
                                    </p:set>
                                    <p:animEffect transition="in" filter="blinds(horizontal)">
                                      <p:cBhvr>
                                        <p:cTn id="18" dur="500"/>
                                        <p:tgtEl>
                                          <p:spTgt spid="10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blinds(horizontal)">
                                      <p:cBhvr>
                                        <p:cTn id="23" dur="500"/>
                                        <p:tgtEl>
                                          <p:spTgt spid="3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blinds(horizontal)">
                                      <p:cBhvr>
                                        <p:cTn id="26" dur="500"/>
                                        <p:tgtEl>
                                          <p:spTgt spid="25"/>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59"/>
                                        </p:tgtEl>
                                        <p:attrNameLst>
                                          <p:attrName>style.visibility</p:attrName>
                                        </p:attrNameLst>
                                      </p:cBhvr>
                                      <p:to>
                                        <p:strVal val="visible"/>
                                      </p:to>
                                    </p:set>
                                    <p:animEffect transition="in" filter="blinds(horizontal)">
                                      <p:cBhvr>
                                        <p:cTn id="29" dur="500"/>
                                        <p:tgtEl>
                                          <p:spTgt spid="59"/>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blinds(horizontal)">
                                      <p:cBhvr>
                                        <p:cTn id="34" dur="500"/>
                                        <p:tgtEl>
                                          <p:spTgt spid="32"/>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blinds(horizontal)">
                                      <p:cBhvr>
                                        <p:cTn id="37" dur="500"/>
                                        <p:tgtEl>
                                          <p:spTgt spid="26"/>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60"/>
                                        </p:tgtEl>
                                        <p:attrNameLst>
                                          <p:attrName>style.visibility</p:attrName>
                                        </p:attrNameLst>
                                      </p:cBhvr>
                                      <p:to>
                                        <p:strVal val="visible"/>
                                      </p:to>
                                    </p:set>
                                    <p:animEffect transition="in" filter="blinds(horizontal)">
                                      <p:cBhvr>
                                        <p:cTn id="40" dur="500"/>
                                        <p:tgtEl>
                                          <p:spTgt spid="60"/>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blinds(horizontal)">
                                      <p:cBhvr>
                                        <p:cTn id="45" dur="500"/>
                                        <p:tgtEl>
                                          <p:spTgt spid="29"/>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blinds(horizontal)">
                                      <p:cBhvr>
                                        <p:cTn id="48" dur="500"/>
                                        <p:tgtEl>
                                          <p:spTgt spid="28"/>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blinds(horizontal)">
                                      <p:cBhvr>
                                        <p:cTn id="53" dur="500"/>
                                        <p:tgtEl>
                                          <p:spTgt spid="24"/>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blinds(horizontal)">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58"/>
                                        </p:tgtEl>
                                        <p:attrNameLst>
                                          <p:attrName>style.visibility</p:attrName>
                                        </p:attrNameLst>
                                      </p:cBhvr>
                                      <p:to>
                                        <p:strVal val="visible"/>
                                      </p:to>
                                    </p:set>
                                    <p:animEffect transition="in" filter="blinds(horizontal)">
                                      <p:cBhvr>
                                        <p:cTn id="61" dur="500"/>
                                        <p:tgtEl>
                                          <p:spTgt spid="58"/>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57"/>
                                        </p:tgtEl>
                                        <p:attrNameLst>
                                          <p:attrName>style.visibility</p:attrName>
                                        </p:attrNameLst>
                                      </p:cBhvr>
                                      <p:to>
                                        <p:strVal val="visible"/>
                                      </p:to>
                                    </p:set>
                                    <p:animEffect transition="in" filter="blinds(horizontal)">
                                      <p:cBhvr>
                                        <p:cTn id="64" dur="500"/>
                                        <p:tgtEl>
                                          <p:spTgt spid="57"/>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54"/>
                                        </p:tgtEl>
                                        <p:attrNameLst>
                                          <p:attrName>style.visibility</p:attrName>
                                        </p:attrNameLst>
                                      </p:cBhvr>
                                      <p:to>
                                        <p:strVal val="visible"/>
                                      </p:to>
                                    </p:set>
                                    <p:animEffect transition="in" filter="blinds(horizontal)">
                                      <p:cBhvr>
                                        <p:cTn id="69" dur="500"/>
                                        <p:tgtEl>
                                          <p:spTgt spid="54"/>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53"/>
                                        </p:tgtEl>
                                        <p:attrNameLst>
                                          <p:attrName>style.visibility</p:attrName>
                                        </p:attrNameLst>
                                      </p:cBhvr>
                                      <p:to>
                                        <p:strVal val="visible"/>
                                      </p:to>
                                    </p:set>
                                    <p:animEffect transition="in" filter="blinds(horizontal)">
                                      <p:cBhvr>
                                        <p:cTn id="74" dur="500"/>
                                        <p:tgtEl>
                                          <p:spTgt spid="53"/>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102"/>
                                        </p:tgtEl>
                                        <p:attrNameLst>
                                          <p:attrName>style.visibility</p:attrName>
                                        </p:attrNameLst>
                                      </p:cBhvr>
                                      <p:to>
                                        <p:strVal val="visible"/>
                                      </p:to>
                                    </p:set>
                                    <p:animEffect transition="in" filter="blinds(horizontal)">
                                      <p:cBhvr>
                                        <p:cTn id="79" dur="500"/>
                                        <p:tgtEl>
                                          <p:spTgt spid="102"/>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blinds(horizontal)">
                                      <p:cBhvr>
                                        <p:cTn id="84" dur="500"/>
                                        <p:tgtEl>
                                          <p:spTgt spid="20"/>
                                        </p:tgtEl>
                                      </p:cBhvr>
                                    </p:animEffect>
                                  </p:childTnLst>
                                </p:cTn>
                              </p:par>
                              <p:par>
                                <p:cTn id="85" presetID="3" presetClass="entr" presetSubtype="10"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blinds(horizontal)">
                                      <p:cBhvr>
                                        <p:cTn id="87" dur="500"/>
                                        <p:tgtEl>
                                          <p:spTgt spid="11"/>
                                        </p:tgtEl>
                                      </p:cBhvr>
                                    </p:animEffect>
                                  </p:childTnLst>
                                </p:cTn>
                              </p:par>
                              <p:par>
                                <p:cTn id="88" presetID="3" presetClass="entr" presetSubtype="10" fill="hold" grpId="0" nodeType="withEffect">
                                  <p:stCondLst>
                                    <p:cond delay="0"/>
                                  </p:stCondLst>
                                  <p:childTnLst>
                                    <p:set>
                                      <p:cBhvr>
                                        <p:cTn id="89" dur="1" fill="hold">
                                          <p:stCondLst>
                                            <p:cond delay="0"/>
                                          </p:stCondLst>
                                        </p:cTn>
                                        <p:tgtEl>
                                          <p:spTgt spid="50"/>
                                        </p:tgtEl>
                                        <p:attrNameLst>
                                          <p:attrName>style.visibility</p:attrName>
                                        </p:attrNameLst>
                                      </p:cBhvr>
                                      <p:to>
                                        <p:strVal val="visible"/>
                                      </p:to>
                                    </p:set>
                                    <p:animEffect transition="in" filter="blinds(horizontal)">
                                      <p:cBhvr>
                                        <p:cTn id="90" dur="500"/>
                                        <p:tgtEl>
                                          <p:spTgt spid="50"/>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blinds(horizontal)">
                                      <p:cBhvr>
                                        <p:cTn id="95" dur="500"/>
                                        <p:tgtEl>
                                          <p:spTgt spid="21"/>
                                        </p:tgtEl>
                                      </p:cBhvr>
                                    </p:animEffect>
                                  </p:childTnLst>
                                </p:cTn>
                              </p:par>
                              <p:par>
                                <p:cTn id="96" presetID="3" presetClass="entr" presetSubtype="10" fill="hold" grpId="0" nodeType="withEffect">
                                  <p:stCondLst>
                                    <p:cond delay="0"/>
                                  </p:stCondLst>
                                  <p:childTnLst>
                                    <p:set>
                                      <p:cBhvr>
                                        <p:cTn id="97" dur="1" fill="hold">
                                          <p:stCondLst>
                                            <p:cond delay="0"/>
                                          </p:stCondLst>
                                        </p:cTn>
                                        <p:tgtEl>
                                          <p:spTgt spid="12"/>
                                        </p:tgtEl>
                                        <p:attrNameLst>
                                          <p:attrName>style.visibility</p:attrName>
                                        </p:attrNameLst>
                                      </p:cBhvr>
                                      <p:to>
                                        <p:strVal val="visible"/>
                                      </p:to>
                                    </p:set>
                                    <p:animEffect transition="in" filter="blinds(horizontal)">
                                      <p:cBhvr>
                                        <p:cTn id="98" dur="500"/>
                                        <p:tgtEl>
                                          <p:spTgt spid="12"/>
                                        </p:tgtEl>
                                      </p:cBhvr>
                                    </p:animEffect>
                                  </p:childTnLst>
                                </p:cTn>
                              </p:par>
                              <p:par>
                                <p:cTn id="99" presetID="3" presetClass="entr" presetSubtype="10" fill="hold" grpId="0"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blinds(horizontal)">
                                      <p:cBhvr>
                                        <p:cTn id="101" dur="500"/>
                                        <p:tgtEl>
                                          <p:spTgt spid="51"/>
                                        </p:tgtEl>
                                      </p:cBhvr>
                                    </p:animEffect>
                                  </p:child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grpId="0" nodeType="clickEffect">
                                  <p:stCondLst>
                                    <p:cond delay="0"/>
                                  </p:stCondLst>
                                  <p:childTnLst>
                                    <p:set>
                                      <p:cBhvr>
                                        <p:cTn id="105" dur="1" fill="hold">
                                          <p:stCondLst>
                                            <p:cond delay="0"/>
                                          </p:stCondLst>
                                        </p:cTn>
                                        <p:tgtEl>
                                          <p:spTgt spid="49"/>
                                        </p:tgtEl>
                                        <p:attrNameLst>
                                          <p:attrName>style.visibility</p:attrName>
                                        </p:attrNameLst>
                                      </p:cBhvr>
                                      <p:to>
                                        <p:strVal val="visible"/>
                                      </p:to>
                                    </p:set>
                                    <p:animEffect transition="in" filter="blinds(horizontal)">
                                      <p:cBhvr>
                                        <p:cTn id="106" dur="500"/>
                                        <p:tgtEl>
                                          <p:spTgt spid="49"/>
                                        </p:tgtEl>
                                      </p:cBhvr>
                                    </p:animEffect>
                                  </p:childTnLst>
                                </p:cTn>
                              </p:par>
                              <p:par>
                                <p:cTn id="107" presetID="3" presetClass="entr" presetSubtype="10" fill="hold" grpId="0" nodeType="with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blinds(horizontal)">
                                      <p:cBhvr>
                                        <p:cTn id="109" dur="500"/>
                                        <p:tgtEl>
                                          <p:spTgt spid="48"/>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19"/>
                                        </p:tgtEl>
                                        <p:attrNameLst>
                                          <p:attrName>style.visibility</p:attrName>
                                        </p:attrNameLst>
                                      </p:cBhvr>
                                      <p:to>
                                        <p:strVal val="visible"/>
                                      </p:to>
                                    </p:set>
                                    <p:animEffect transition="in" filter="blinds(horizontal)">
                                      <p:cBhvr>
                                        <p:cTn id="114" dur="500"/>
                                        <p:tgtEl>
                                          <p:spTgt spid="19"/>
                                        </p:tgtEl>
                                      </p:cBhvr>
                                    </p:animEffect>
                                  </p:childTnLst>
                                </p:cTn>
                              </p:par>
                              <p:par>
                                <p:cTn id="115" presetID="3" presetClass="entr" presetSubtype="10" fill="hold" grpId="0" nodeType="withEffect">
                                  <p:stCondLst>
                                    <p:cond delay="0"/>
                                  </p:stCondLst>
                                  <p:childTnLst>
                                    <p:set>
                                      <p:cBhvr>
                                        <p:cTn id="116" dur="1" fill="hold">
                                          <p:stCondLst>
                                            <p:cond delay="0"/>
                                          </p:stCondLst>
                                        </p:cTn>
                                        <p:tgtEl>
                                          <p:spTgt spid="17"/>
                                        </p:tgtEl>
                                        <p:attrNameLst>
                                          <p:attrName>style.visibility</p:attrName>
                                        </p:attrNameLst>
                                      </p:cBhvr>
                                      <p:to>
                                        <p:strVal val="visible"/>
                                      </p:to>
                                    </p:set>
                                    <p:animEffect transition="in" filter="blinds(horizontal)">
                                      <p:cBhvr>
                                        <p:cTn id="117" dur="500"/>
                                        <p:tgtEl>
                                          <p:spTgt spid="17"/>
                                        </p:tgtEl>
                                      </p:cBhvr>
                                    </p:animEffect>
                                  </p:childTnLst>
                                </p:cTn>
                              </p:par>
                            </p:childTnLst>
                          </p:cTn>
                        </p:par>
                      </p:childTnLst>
                    </p:cTn>
                  </p:par>
                  <p:par>
                    <p:cTn id="118" fill="hold">
                      <p:stCondLst>
                        <p:cond delay="indefinite"/>
                      </p:stCondLst>
                      <p:childTnLst>
                        <p:par>
                          <p:cTn id="119" fill="hold">
                            <p:stCondLst>
                              <p:cond delay="0"/>
                            </p:stCondLst>
                            <p:childTnLst>
                              <p:par>
                                <p:cTn id="120" presetID="3" presetClass="entr" presetSubtype="10" fill="hold" grpId="0" nodeType="clickEffect">
                                  <p:stCondLst>
                                    <p:cond delay="0"/>
                                  </p:stCondLst>
                                  <p:childTnLst>
                                    <p:set>
                                      <p:cBhvr>
                                        <p:cTn id="121" dur="1" fill="hold">
                                          <p:stCondLst>
                                            <p:cond delay="0"/>
                                          </p:stCondLst>
                                        </p:cTn>
                                        <p:tgtEl>
                                          <p:spTgt spid="10"/>
                                        </p:tgtEl>
                                        <p:attrNameLst>
                                          <p:attrName>style.visibility</p:attrName>
                                        </p:attrNameLst>
                                      </p:cBhvr>
                                      <p:to>
                                        <p:strVal val="visible"/>
                                      </p:to>
                                    </p:set>
                                    <p:animEffect transition="in" filter="blinds(horizontal)">
                                      <p:cBhvr>
                                        <p:cTn id="122" dur="500"/>
                                        <p:tgtEl>
                                          <p:spTgt spid="10"/>
                                        </p:tgtEl>
                                      </p:cBhvr>
                                    </p:animEffect>
                                  </p:childTnLst>
                                </p:cTn>
                              </p:par>
                              <p:par>
                                <p:cTn id="123" presetID="3" presetClass="entr" presetSubtype="10" fill="hold" grpId="0" nodeType="withEffect">
                                  <p:stCondLst>
                                    <p:cond delay="0"/>
                                  </p:stCondLst>
                                  <p:childTnLst>
                                    <p:set>
                                      <p:cBhvr>
                                        <p:cTn id="124" dur="1" fill="hold">
                                          <p:stCondLst>
                                            <p:cond delay="0"/>
                                          </p:stCondLst>
                                        </p:cTn>
                                        <p:tgtEl>
                                          <p:spTgt spid="9"/>
                                        </p:tgtEl>
                                        <p:attrNameLst>
                                          <p:attrName>style.visibility</p:attrName>
                                        </p:attrNameLst>
                                      </p:cBhvr>
                                      <p:to>
                                        <p:strVal val="visible"/>
                                      </p:to>
                                    </p:set>
                                    <p:animEffect transition="in" filter="blinds(horizontal)">
                                      <p:cBhvr>
                                        <p:cTn id="125" dur="500"/>
                                        <p:tgtEl>
                                          <p:spTgt spid="9"/>
                                        </p:tgtEl>
                                      </p:cBhvr>
                                    </p:animEffect>
                                  </p:child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45"/>
                                        </p:tgtEl>
                                        <p:attrNameLst>
                                          <p:attrName>style.visibility</p:attrName>
                                        </p:attrNameLst>
                                      </p:cBhvr>
                                      <p:to>
                                        <p:strVal val="visible"/>
                                      </p:to>
                                    </p:set>
                                    <p:animEffect transition="in" filter="blinds(horizontal)">
                                      <p:cBhvr>
                                        <p:cTn id="130" dur="500"/>
                                        <p:tgtEl>
                                          <p:spTgt spid="45"/>
                                        </p:tgtEl>
                                      </p:cBhvr>
                                    </p:animEffect>
                                  </p:childTnLst>
                                </p:cTn>
                              </p:par>
                            </p:childTnLst>
                          </p:cTn>
                        </p:par>
                      </p:childTnLst>
                    </p:cTn>
                  </p:par>
                  <p:par>
                    <p:cTn id="131" fill="hold">
                      <p:stCondLst>
                        <p:cond delay="indefinite"/>
                      </p:stCondLst>
                      <p:childTnLst>
                        <p:par>
                          <p:cTn id="132" fill="hold">
                            <p:stCondLst>
                              <p:cond delay="0"/>
                            </p:stCondLst>
                            <p:childTnLst>
                              <p:par>
                                <p:cTn id="133" presetID="3" presetClass="entr" presetSubtype="10" fill="hold" grpId="0" nodeType="clickEffect">
                                  <p:stCondLst>
                                    <p:cond delay="0"/>
                                  </p:stCondLst>
                                  <p:childTnLst>
                                    <p:set>
                                      <p:cBhvr>
                                        <p:cTn id="134" dur="1" fill="hold">
                                          <p:stCondLst>
                                            <p:cond delay="0"/>
                                          </p:stCondLst>
                                        </p:cTn>
                                        <p:tgtEl>
                                          <p:spTgt spid="44"/>
                                        </p:tgtEl>
                                        <p:attrNameLst>
                                          <p:attrName>style.visibility</p:attrName>
                                        </p:attrNameLst>
                                      </p:cBhvr>
                                      <p:to>
                                        <p:strVal val="visible"/>
                                      </p:to>
                                    </p:set>
                                    <p:animEffect transition="in" filter="blinds(horizontal)">
                                      <p:cBhvr>
                                        <p:cTn id="135" dur="500"/>
                                        <p:tgtEl>
                                          <p:spTgt spid="44"/>
                                        </p:tgtEl>
                                      </p:cBhvr>
                                    </p:animEffect>
                                  </p:child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nodeType="clickEffect">
                                  <p:stCondLst>
                                    <p:cond delay="0"/>
                                  </p:stCondLst>
                                  <p:childTnLst>
                                    <p:set>
                                      <p:cBhvr>
                                        <p:cTn id="139" dur="1" fill="hold">
                                          <p:stCondLst>
                                            <p:cond delay="0"/>
                                          </p:stCondLst>
                                        </p:cTn>
                                        <p:tgtEl>
                                          <p:spTgt spid="99"/>
                                        </p:tgtEl>
                                        <p:attrNameLst>
                                          <p:attrName>style.visibility</p:attrName>
                                        </p:attrNameLst>
                                      </p:cBhvr>
                                      <p:to>
                                        <p:strVal val="visible"/>
                                      </p:to>
                                    </p:set>
                                    <p:animEffect transition="in" filter="blinds(horizontal)">
                                      <p:cBhvr>
                                        <p:cTn id="140" dur="500"/>
                                        <p:tgtEl>
                                          <p:spTgt spid="99"/>
                                        </p:tgtEl>
                                      </p:cBhvr>
                                    </p:animEffect>
                                  </p:childTnLst>
                                </p:cTn>
                              </p:par>
                              <p:par>
                                <p:cTn id="141" presetID="3" presetClass="entr" presetSubtype="10" fill="hold" nodeType="withEffect">
                                  <p:stCondLst>
                                    <p:cond delay="0"/>
                                  </p:stCondLst>
                                  <p:childTnLst>
                                    <p:set>
                                      <p:cBhvr>
                                        <p:cTn id="142" dur="1" fill="hold">
                                          <p:stCondLst>
                                            <p:cond delay="0"/>
                                          </p:stCondLst>
                                        </p:cTn>
                                        <p:tgtEl>
                                          <p:spTgt spid="100"/>
                                        </p:tgtEl>
                                        <p:attrNameLst>
                                          <p:attrName>style.visibility</p:attrName>
                                        </p:attrNameLst>
                                      </p:cBhvr>
                                      <p:to>
                                        <p:strVal val="visible"/>
                                      </p:to>
                                    </p:set>
                                    <p:animEffect transition="in" filter="blinds(horizontal)">
                                      <p:cBhvr>
                                        <p:cTn id="143" dur="500"/>
                                        <p:tgtEl>
                                          <p:spTgt spid="100"/>
                                        </p:tgtEl>
                                      </p:cBhvr>
                                    </p:animEffect>
                                  </p:childTnLst>
                                </p:cTn>
                              </p:par>
                              <p:par>
                                <p:cTn id="144" presetID="3" presetClass="entr" presetSubtype="10" fill="hold" nodeType="withEffect">
                                  <p:stCondLst>
                                    <p:cond delay="0"/>
                                  </p:stCondLst>
                                  <p:childTnLst>
                                    <p:set>
                                      <p:cBhvr>
                                        <p:cTn id="145" dur="1" fill="hold">
                                          <p:stCondLst>
                                            <p:cond delay="0"/>
                                          </p:stCondLst>
                                        </p:cTn>
                                        <p:tgtEl>
                                          <p:spTgt spid="98">
                                            <p:txEl>
                                              <p:pRg st="0" end="0"/>
                                            </p:txEl>
                                          </p:spTgt>
                                        </p:tgtEl>
                                        <p:attrNameLst>
                                          <p:attrName>style.visibility</p:attrName>
                                        </p:attrNameLst>
                                      </p:cBhvr>
                                      <p:to>
                                        <p:strVal val="visible"/>
                                      </p:to>
                                    </p:set>
                                    <p:animEffect transition="in" filter="blinds(horizontal)">
                                      <p:cBhvr>
                                        <p:cTn id="146" dur="500"/>
                                        <p:tgtEl>
                                          <p:spTgt spid="9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7" grpId="0"/>
      <p:bldP spid="19" grpId="0"/>
      <p:bldP spid="20" grpId="0"/>
      <p:bldP spid="21" grpId="0"/>
      <p:bldP spid="23" grpId="0"/>
      <p:bldP spid="24" grpId="0"/>
      <p:bldP spid="25" grpId="0"/>
      <p:bldP spid="26" grpId="0"/>
      <p:bldP spid="28" grpId="0"/>
      <p:bldP spid="29" grpId="0"/>
      <p:bldP spid="30" grpId="0"/>
      <p:bldP spid="32" grpId="0"/>
      <p:bldP spid="33" grpId="0"/>
      <p:bldP spid="38" grpId="0"/>
      <p:bldP spid="44" grpId="0"/>
      <p:bldP spid="45" grpId="0"/>
      <p:bldP spid="48" grpId="0"/>
      <p:bldP spid="49" grpId="0"/>
      <p:bldP spid="50" grpId="0"/>
      <p:bldP spid="51" grpId="0"/>
      <p:bldP spid="53" grpId="0"/>
      <p:bldP spid="54" grpId="0"/>
      <p:bldP spid="57" grpId="0"/>
      <p:bldP spid="58" grpId="0"/>
      <p:bldP spid="59" grpId="0"/>
      <p:bldP spid="60" grpId="0"/>
      <p:bldP spid="6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第六节 单纯形法和对偶问题</a:t>
            </a:r>
            <a:endParaRPr lang="zh-CN" altLang="en-US" sz="3600" dirty="0">
              <a:latin typeface="华文中宋" panose="02010600040101010101" pitchFamily="2" charset="-122"/>
              <a:ea typeface="华文中宋" panose="02010600040101010101" pitchFamily="2" charset="-122"/>
              <a:cs typeface="Times New Roman" panose="02020603050405020304" pitchFamily="18" charset="0"/>
            </a:endParaRPr>
          </a:p>
        </p:txBody>
      </p:sp>
      <p:cxnSp>
        <p:nvCxnSpPr>
          <p:cNvPr id="101" name="直接连接符 13"/>
          <p:cNvCxnSpPr>
            <a:cxnSpLocks noChangeShapeType="1"/>
          </p:cNvCxnSpPr>
          <p:nvPr/>
        </p:nvCxnSpPr>
        <p:spPr bwMode="auto">
          <a:xfrm>
            <a:off x="2674912" y="785794"/>
            <a:ext cx="0" cy="5157787"/>
          </a:xfrm>
          <a:prstGeom prst="line">
            <a:avLst/>
          </a:prstGeom>
          <a:noFill/>
          <a:ln w="6350" cmpd="sng">
            <a:solidFill>
              <a:schemeClr val="accent1"/>
            </a:solidFill>
            <a:round/>
          </a:ln>
        </p:spPr>
      </p:cxnSp>
      <p:grpSp>
        <p:nvGrpSpPr>
          <p:cNvPr id="3" name="组 2"/>
          <p:cNvGrpSpPr/>
          <p:nvPr/>
        </p:nvGrpSpPr>
        <p:grpSpPr>
          <a:xfrm>
            <a:off x="1643042" y="1268760"/>
            <a:ext cx="6169292" cy="642941"/>
            <a:chOff x="1643042" y="1268760"/>
            <a:chExt cx="6169292" cy="642941"/>
          </a:xfrm>
        </p:grpSpPr>
        <p:sp>
          <p:nvSpPr>
            <p:cNvPr id="102" name="椭圆 14"/>
            <p:cNvSpPr>
              <a:spLocks noChangeArrowheads="1"/>
            </p:cNvSpPr>
            <p:nvPr/>
          </p:nvSpPr>
          <p:spPr bwMode="auto">
            <a:xfrm>
              <a:off x="2606650" y="1497362"/>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4" name="组合 5"/>
            <p:cNvGrpSpPr/>
            <p:nvPr/>
          </p:nvGrpSpPr>
          <p:grpSpPr bwMode="auto">
            <a:xfrm>
              <a:off x="1643042" y="1268760"/>
              <a:ext cx="714380" cy="642941"/>
              <a:chOff x="0" y="0"/>
              <a:chExt cx="1275488" cy="1275488"/>
            </a:xfrm>
            <a:solidFill>
              <a:srgbClr val="004182"/>
            </a:solidFill>
          </p:grpSpPr>
          <p:sp>
            <p:nvSpPr>
              <p:cNvPr id="106"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07" name="文本框 17"/>
              <p:cNvSpPr txBox="1">
                <a:spLocks noChangeArrowheads="1"/>
              </p:cNvSpPr>
              <p:nvPr/>
            </p:nvSpPr>
            <p:spPr bwMode="auto">
              <a:xfrm>
                <a:off x="399726" y="231905"/>
                <a:ext cx="875762" cy="749344"/>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14" name="矩形 20"/>
            <p:cNvSpPr>
              <a:spLocks noChangeArrowheads="1"/>
            </p:cNvSpPr>
            <p:nvPr/>
          </p:nvSpPr>
          <p:spPr bwMode="auto">
            <a:xfrm>
              <a:off x="3062261" y="1321150"/>
              <a:ext cx="4750073" cy="526172"/>
            </a:xfrm>
            <a:prstGeom prst="rect">
              <a:avLst/>
            </a:prstGeom>
            <a:solidFill>
              <a:srgbClr val="004182"/>
            </a:solidFill>
            <a:ln w="9525">
              <a:noFill/>
              <a:miter lim="800000"/>
            </a:ln>
          </p:spPr>
          <p:txBody>
            <a:bodyPr anchor="ctr"/>
            <a:lstStyle/>
            <a:p>
              <a:pPr algn="ctr"/>
              <a:r>
                <a:rPr lang="zh-CN" altLang="en-US"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大</a:t>
              </a:r>
              <a:r>
                <a:rPr lang="en-US" altLang="zh-CN"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M</a:t>
              </a:r>
              <a:r>
                <a:rPr lang="zh-CN" altLang="en-US"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法</a:t>
              </a:r>
              <a:endParaRPr lang="en-US" altLang="zh-CN"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 name="组 3"/>
          <p:cNvGrpSpPr/>
          <p:nvPr/>
        </p:nvGrpSpPr>
        <p:grpSpPr>
          <a:xfrm>
            <a:off x="1643042" y="2422598"/>
            <a:ext cx="6169300" cy="642941"/>
            <a:chOff x="1643042" y="2439698"/>
            <a:chExt cx="6169300" cy="642941"/>
          </a:xfrm>
        </p:grpSpPr>
        <p:sp>
          <p:nvSpPr>
            <p:cNvPr id="120"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6" name="组合 5"/>
            <p:cNvGrpSpPr/>
            <p:nvPr/>
          </p:nvGrpSpPr>
          <p:grpSpPr bwMode="auto">
            <a:xfrm>
              <a:off x="1643042" y="2439698"/>
              <a:ext cx="714380" cy="642941"/>
              <a:chOff x="0" y="0"/>
              <a:chExt cx="1275488" cy="1275488"/>
            </a:xfrm>
            <a:solidFill>
              <a:srgbClr val="004182"/>
            </a:solidFill>
          </p:grpSpPr>
          <p:sp>
            <p:nvSpPr>
              <p:cNvPr id="12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2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24" name="矩形 20"/>
            <p:cNvSpPr>
              <a:spLocks noChangeArrowheads="1"/>
            </p:cNvSpPr>
            <p:nvPr/>
          </p:nvSpPr>
          <p:spPr bwMode="auto">
            <a:xfrm>
              <a:off x="3062261" y="2492088"/>
              <a:ext cx="4750081" cy="526172"/>
            </a:xfrm>
            <a:prstGeom prst="rect">
              <a:avLst/>
            </a:prstGeom>
            <a:solidFill>
              <a:srgbClr val="004182"/>
            </a:solidFill>
            <a:ln w="9525">
              <a:noFill/>
              <a:miter lim="800000"/>
            </a:ln>
          </p:spPr>
          <p:txBody>
            <a:bodyPr anchor="ctr"/>
            <a:lstStyle/>
            <a:p>
              <a:pPr algn="ctr"/>
              <a:r>
                <a:rPr lang="zh-CN" altLang="en-US"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两阶段法</a:t>
              </a:r>
              <a:endParaRPr lang="en-US" altLang="zh-CN"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7" name="组 5"/>
          <p:cNvGrpSpPr/>
          <p:nvPr/>
        </p:nvGrpSpPr>
        <p:grpSpPr>
          <a:xfrm>
            <a:off x="1643042" y="4730275"/>
            <a:ext cx="6169274" cy="642941"/>
            <a:chOff x="1643042" y="4730275"/>
            <a:chExt cx="6169274" cy="642941"/>
          </a:xfrm>
        </p:grpSpPr>
        <p:sp>
          <p:nvSpPr>
            <p:cNvPr id="130" name="椭圆 14"/>
            <p:cNvSpPr>
              <a:spLocks noChangeArrowheads="1"/>
            </p:cNvSpPr>
            <p:nvPr/>
          </p:nvSpPr>
          <p:spPr bwMode="auto">
            <a:xfrm>
              <a:off x="2606650" y="4958877"/>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8" name="组合 5"/>
            <p:cNvGrpSpPr/>
            <p:nvPr/>
          </p:nvGrpSpPr>
          <p:grpSpPr bwMode="auto">
            <a:xfrm>
              <a:off x="1643042" y="4730275"/>
              <a:ext cx="714380" cy="642941"/>
              <a:chOff x="0" y="0"/>
              <a:chExt cx="1275488" cy="1275488"/>
            </a:xfrm>
            <a:solidFill>
              <a:srgbClr val="004182"/>
            </a:solidFill>
          </p:grpSpPr>
          <p:sp>
            <p:nvSpPr>
              <p:cNvPr id="13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3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zh-CN" altLang="zh-CN" sz="2400" b="1" dirty="0">
                    <a:solidFill>
                      <a:schemeClr val="bg1"/>
                    </a:solidFill>
                    <a:latin typeface="微软雅黑" panose="020B0503020204020204" pitchFamily="34" charset="-122"/>
                    <a:ea typeface="微软雅黑" panose="020B0503020204020204" pitchFamily="34" charset="-122"/>
                  </a:rPr>
                  <a:t>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34" name="矩形 20"/>
            <p:cNvSpPr>
              <a:spLocks noChangeArrowheads="1"/>
            </p:cNvSpPr>
            <p:nvPr/>
          </p:nvSpPr>
          <p:spPr bwMode="auto">
            <a:xfrm>
              <a:off x="3062261" y="4782665"/>
              <a:ext cx="4750055" cy="526172"/>
            </a:xfrm>
            <a:prstGeom prst="rect">
              <a:avLst/>
            </a:prstGeom>
            <a:solidFill>
              <a:srgbClr val="004182"/>
            </a:solidFill>
            <a:ln w="9525">
              <a:noFill/>
              <a:miter lim="800000"/>
            </a:ln>
          </p:spPr>
          <p:txBody>
            <a:bodyPr anchor="ctr"/>
            <a:lstStyle/>
            <a:p>
              <a:pPr algn="ctr"/>
              <a:r>
                <a:rPr lang="zh-CN" altLang="x-none"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9" name="组 27"/>
          <p:cNvGrpSpPr/>
          <p:nvPr/>
        </p:nvGrpSpPr>
        <p:grpSpPr>
          <a:xfrm>
            <a:off x="1643042" y="3576436"/>
            <a:ext cx="6169288" cy="642941"/>
            <a:chOff x="1643042" y="2439698"/>
            <a:chExt cx="6169288" cy="642941"/>
          </a:xfrm>
        </p:grpSpPr>
        <p:sp>
          <p:nvSpPr>
            <p:cNvPr id="29"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10" name="组合 5"/>
            <p:cNvGrpSpPr/>
            <p:nvPr/>
          </p:nvGrpSpPr>
          <p:grpSpPr bwMode="auto">
            <a:xfrm>
              <a:off x="1643042" y="2439698"/>
              <a:ext cx="714380" cy="642941"/>
              <a:chOff x="0" y="0"/>
              <a:chExt cx="1275488" cy="1275488"/>
            </a:xfrm>
            <a:solidFill>
              <a:srgbClr val="004182"/>
            </a:solidFill>
          </p:grpSpPr>
          <p:sp>
            <p:nvSpPr>
              <p:cNvPr id="3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3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zh-CN" altLang="zh-CN" sz="2400" b="1" dirty="0">
                    <a:solidFill>
                      <a:schemeClr val="bg1"/>
                    </a:solidFill>
                    <a:latin typeface="微软雅黑" panose="020B0503020204020204" pitchFamily="34" charset="-122"/>
                    <a:ea typeface="微软雅黑" panose="020B0503020204020204" pitchFamily="34" charset="-122"/>
                  </a:rPr>
                  <a:t>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1" name="矩形 20"/>
            <p:cNvSpPr>
              <a:spLocks noChangeArrowheads="1"/>
            </p:cNvSpPr>
            <p:nvPr/>
          </p:nvSpPr>
          <p:spPr bwMode="auto">
            <a:xfrm>
              <a:off x="3062261" y="2492088"/>
              <a:ext cx="4750069" cy="526172"/>
            </a:xfrm>
            <a:prstGeom prst="rect">
              <a:avLst/>
            </a:prstGeom>
            <a:solidFill>
              <a:srgbClr val="004182"/>
            </a:solidFill>
            <a:ln w="9525">
              <a:noFill/>
              <a:miter lim="800000"/>
            </a:ln>
          </p:spPr>
          <p:txBody>
            <a:bodyPr anchor="ctr"/>
            <a:lstStyle/>
            <a:p>
              <a:pPr algn="ctr"/>
              <a:r>
                <a:rPr lang="zh-CN" altLang="en-US"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华文中宋" panose="02010600040101010101" pitchFamily="2" charset="-122"/>
                <a:ea typeface="华文中宋" panose="02010600040101010101" pitchFamily="2" charset="-122"/>
                <a:cs typeface="Times New Roman" panose="02020603050405020304" pitchFamily="18" charset="0"/>
              </a:rPr>
              <a:t>两阶段法</a:t>
            </a:r>
            <a:endParaRPr kumimoji="1" lang="zh-CN" altLang="en-US"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Rectangle 3"/>
          <p:cNvSpPr txBox="1">
            <a:spLocks noChangeArrowheads="1"/>
          </p:cNvSpPr>
          <p:nvPr/>
        </p:nvSpPr>
        <p:spPr>
          <a:xfrm>
            <a:off x="800100" y="980728"/>
            <a:ext cx="7543800" cy="27432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400" dirty="0">
                <a:latin typeface="楷体" panose="02010609060101010101" pitchFamily="49" charset="-122"/>
                <a:ea typeface="楷体" panose="02010609060101010101" pitchFamily="49" charset="-122"/>
              </a:rPr>
              <a:t>第一阶段的任务是将人工变量尽快迭代出去，从而找到一个没有人工变量的基础可行解。</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第二阶段以第一阶段得到的基础可行解为初始解，采用原单纯型法求解。</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若第一阶段结束时，人工变量仍在基变量中，则原问题无解。</a:t>
            </a:r>
            <a:endParaRPr lang="zh-CN" altLang="en-US"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为了简化计算，在第一阶段重新定义价值系数如下：</a:t>
            </a:r>
            <a:endParaRPr lang="zh-CN" altLang="en-US" sz="2400" dirty="0">
              <a:latin typeface="楷体" panose="02010609060101010101" pitchFamily="49" charset="-122"/>
              <a:ea typeface="楷体" panose="02010609060101010101" pitchFamily="49" charset="-122"/>
            </a:endParaRPr>
          </a:p>
          <a:p>
            <a:endParaRPr lang="zh-CN" altLang="en-US" sz="2400" dirty="0">
              <a:latin typeface="楷体" panose="02010609060101010101" pitchFamily="49" charset="-122"/>
              <a:ea typeface="楷体" panose="02010609060101010101" pitchFamily="49" charset="-122"/>
            </a:endParaRPr>
          </a:p>
        </p:txBody>
      </p:sp>
      <p:graphicFrame>
        <p:nvGraphicFramePr>
          <p:cNvPr id="6" name="Object 4"/>
          <p:cNvGraphicFramePr>
            <a:graphicFrameLocks noChangeAspect="1"/>
          </p:cNvGraphicFramePr>
          <p:nvPr/>
        </p:nvGraphicFramePr>
        <p:xfrm>
          <a:off x="1214438" y="3857625"/>
          <a:ext cx="6705600" cy="2003425"/>
        </p:xfrm>
        <a:graphic>
          <a:graphicData uri="http://schemas.openxmlformats.org/presentationml/2006/ole">
            <mc:AlternateContent xmlns:mc="http://schemas.openxmlformats.org/markup-compatibility/2006">
              <mc:Choice xmlns:v="urn:schemas-microsoft-com:vml" Requires="v">
                <p:oleObj spid="_x0000_s6145" name="公式" r:id="rId1" imgW="70408800" imgH="22250400" progId="Equation.3">
                  <p:embed/>
                </p:oleObj>
              </mc:Choice>
              <mc:Fallback>
                <p:oleObj name="公式" r:id="rId1" imgW="70408800" imgH="22250400" progId="Equation.3">
                  <p:embed/>
                  <p:pic>
                    <p:nvPicPr>
                      <p:cNvPr id="0" name="图片 6144"/>
                      <p:cNvPicPr>
                        <a:picLocks noChangeAspect="1"/>
                      </p:cNvPicPr>
                      <p:nvPr/>
                    </p:nvPicPr>
                    <p:blipFill>
                      <a:blip r:embed="rId2"/>
                      <a:stretch>
                        <a:fillRect/>
                      </a:stretch>
                    </p:blipFill>
                    <p:spPr>
                      <a:xfrm>
                        <a:off x="1214438" y="3857625"/>
                        <a:ext cx="6705600" cy="2003425"/>
                      </a:xfrm>
                      <a:prstGeom prst="rect">
                        <a:avLst/>
                      </a:prstGeom>
                      <a:solidFill>
                        <a:srgbClr val="FFFFFF"/>
                      </a:solid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华文中宋" panose="02010600040101010101" pitchFamily="2" charset="-122"/>
                <a:ea typeface="华文中宋" panose="02010600040101010101" pitchFamily="2" charset="-122"/>
                <a:cs typeface="Times New Roman" panose="02020603050405020304" pitchFamily="18" charset="0"/>
              </a:rPr>
              <a:t>两阶段法</a:t>
            </a:r>
            <a:endParaRPr kumimoji="1" lang="zh-CN" altLang="en-US" dirty="0">
              <a:latin typeface="Times New Roman" panose="02020603050405020304" pitchFamily="18" charset="0"/>
              <a:cs typeface="Times New Roman" panose="02020603050405020304" pitchFamily="18" charset="0"/>
            </a:endParaRPr>
          </a:p>
        </p:txBody>
      </p:sp>
      <p:sp>
        <p:nvSpPr>
          <p:cNvPr id="5" name="Rectangle 4"/>
          <p:cNvSpPr>
            <a:spLocks noChangeArrowheads="1"/>
          </p:cNvSpPr>
          <p:nvPr/>
        </p:nvSpPr>
        <p:spPr bwMode="auto">
          <a:xfrm>
            <a:off x="84161" y="1028626"/>
            <a:ext cx="78454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00025"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2000" b="1" dirty="0">
                <a:solidFill>
                  <a:schemeClr val="accent2"/>
                </a:solidFill>
                <a:effectLst/>
                <a:latin typeface="楷体_GB2312" pitchFamily="49" charset="-122"/>
                <a:ea typeface="楷体_GB2312" pitchFamily="49" charset="-122"/>
              </a:rPr>
              <a:t>例</a:t>
            </a:r>
            <a:r>
              <a:rPr lang="en-US" altLang="zh-CN" sz="2000" b="1" dirty="0">
                <a:solidFill>
                  <a:schemeClr val="accent2"/>
                </a:solidFill>
                <a:effectLst/>
                <a:latin typeface="楷体_GB2312" pitchFamily="49" charset="-122"/>
                <a:ea typeface="楷体_GB2312" pitchFamily="49" charset="-122"/>
                <a:cs typeface="Arial" panose="020B0604020202020204" pitchFamily="34" charset="0"/>
              </a:rPr>
              <a:t>5</a:t>
            </a:r>
            <a:r>
              <a:rPr lang="zh-CN" altLang="en-US" sz="2000" b="1" dirty="0">
                <a:solidFill>
                  <a:schemeClr val="accent2"/>
                </a:solidFill>
                <a:effectLst/>
                <a:latin typeface="楷体_GB2312" pitchFamily="49" charset="-122"/>
                <a:ea typeface="楷体_GB2312" pitchFamily="49" charset="-122"/>
              </a:rPr>
              <a:t>、</a:t>
            </a:r>
            <a:r>
              <a:rPr lang="zh-CN" altLang="en-US" sz="2000" b="1" dirty="0">
                <a:effectLst/>
                <a:latin typeface="楷体_GB2312" pitchFamily="49" charset="-122"/>
                <a:ea typeface="楷体_GB2312" pitchFamily="49" charset="-122"/>
              </a:rPr>
              <a:t>用两阶段法求解线性规划问题。</a:t>
            </a:r>
            <a:endParaRPr lang="zh-CN" altLang="en-US" sz="2000" b="1" dirty="0">
              <a:effectLst/>
              <a:latin typeface="楷体_GB2312" pitchFamily="49" charset="-122"/>
              <a:ea typeface="楷体_GB2312" pitchFamily="49" charset="-122"/>
            </a:endParaRPr>
          </a:p>
        </p:txBody>
      </p:sp>
      <p:graphicFrame>
        <p:nvGraphicFramePr>
          <p:cNvPr id="6" name="Object 2"/>
          <p:cNvGraphicFramePr>
            <a:graphicFrameLocks noChangeAspect="1"/>
          </p:cNvGraphicFramePr>
          <p:nvPr/>
        </p:nvGraphicFramePr>
        <p:xfrm>
          <a:off x="3303513" y="1462828"/>
          <a:ext cx="2216150" cy="2273300"/>
        </p:xfrm>
        <a:graphic>
          <a:graphicData uri="http://schemas.openxmlformats.org/presentationml/2006/ole">
            <mc:AlternateContent xmlns:mc="http://schemas.openxmlformats.org/markup-compatibility/2006">
              <mc:Choice xmlns:v="urn:schemas-microsoft-com:vml" Requires="v">
                <p:oleObj spid="_x0000_s7169" name="Equation" r:id="rId1" imgW="27432000" imgH="28041600" progId="Equation.DSMT4">
                  <p:embed/>
                </p:oleObj>
              </mc:Choice>
              <mc:Fallback>
                <p:oleObj name="Equation" r:id="rId1" imgW="27432000" imgH="28041600" progId="Equation.DSMT4">
                  <p:embed/>
                  <p:pic>
                    <p:nvPicPr>
                      <p:cNvPr id="0" name="图片 7168"/>
                      <p:cNvPicPr>
                        <a:picLocks noChangeAspect="1"/>
                      </p:cNvPicPr>
                      <p:nvPr/>
                    </p:nvPicPr>
                    <p:blipFill>
                      <a:blip r:embed="rId2"/>
                      <a:stretch>
                        <a:fillRect/>
                      </a:stretch>
                    </p:blipFill>
                    <p:spPr>
                      <a:xfrm>
                        <a:off x="3303513" y="1462828"/>
                        <a:ext cx="2216150" cy="2273300"/>
                      </a:xfrm>
                      <a:prstGeom prst="rect">
                        <a:avLst/>
                      </a:prstGeom>
                      <a:noFill/>
                      <a:ln w="9525">
                        <a:noFill/>
                      </a:ln>
                    </p:spPr>
                  </p:pic>
                </p:oleObj>
              </mc:Fallback>
            </mc:AlternateContent>
          </a:graphicData>
        </a:graphic>
      </p:graphicFrame>
      <p:graphicFrame>
        <p:nvGraphicFramePr>
          <p:cNvPr id="7" name="Object 3"/>
          <p:cNvGraphicFramePr>
            <a:graphicFrameLocks noChangeAspect="1"/>
          </p:cNvGraphicFramePr>
          <p:nvPr/>
        </p:nvGraphicFramePr>
        <p:xfrm>
          <a:off x="3059832" y="4293096"/>
          <a:ext cx="2703513" cy="1800225"/>
        </p:xfrm>
        <a:graphic>
          <a:graphicData uri="http://schemas.openxmlformats.org/presentationml/2006/ole">
            <mc:AlternateContent xmlns:mc="http://schemas.openxmlformats.org/markup-compatibility/2006">
              <mc:Choice xmlns:v="urn:schemas-microsoft-com:vml" Requires="v">
                <p:oleObj spid="_x0000_s7170" name="Equation" r:id="rId3" imgW="34747200" imgH="23164800" progId="Equation.DSMT4">
                  <p:embed/>
                </p:oleObj>
              </mc:Choice>
              <mc:Fallback>
                <p:oleObj name="Equation" r:id="rId3" imgW="34747200" imgH="23164800" progId="Equation.DSMT4">
                  <p:embed/>
                  <p:pic>
                    <p:nvPicPr>
                      <p:cNvPr id="0" name="图片 7169"/>
                      <p:cNvPicPr>
                        <a:picLocks noChangeAspect="1"/>
                      </p:cNvPicPr>
                      <p:nvPr/>
                    </p:nvPicPr>
                    <p:blipFill>
                      <a:blip r:embed="rId4"/>
                      <a:stretch>
                        <a:fillRect/>
                      </a:stretch>
                    </p:blipFill>
                    <p:spPr>
                      <a:xfrm>
                        <a:off x="3059832" y="4293096"/>
                        <a:ext cx="2703513" cy="1800225"/>
                      </a:xfrm>
                      <a:prstGeom prst="rect">
                        <a:avLst/>
                      </a:prstGeom>
                      <a:noFill/>
                      <a:ln w="9525">
                        <a:noFill/>
                      </a:ln>
                    </p:spPr>
                  </p:pic>
                </p:oleObj>
              </mc:Fallback>
            </mc:AlternateContent>
          </a:graphicData>
        </a:graphic>
      </p:graphicFrame>
      <p:sp>
        <p:nvSpPr>
          <p:cNvPr id="14" name="Rectangle 13"/>
          <p:cNvSpPr>
            <a:spLocks noChangeArrowheads="1"/>
          </p:cNvSpPr>
          <p:nvPr/>
        </p:nvSpPr>
        <p:spPr bwMode="auto">
          <a:xfrm>
            <a:off x="755576" y="3714394"/>
            <a:ext cx="7845425" cy="499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00025"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0" hangingPunct="0">
              <a:lnSpc>
                <a:spcPct val="150000"/>
              </a:lnSpc>
            </a:pPr>
            <a:r>
              <a:rPr lang="zh-CN" altLang="en-US" sz="2000" b="1" dirty="0">
                <a:solidFill>
                  <a:schemeClr val="accent2"/>
                </a:solidFill>
                <a:effectLst/>
                <a:latin typeface="楷体_GB2312" pitchFamily="49" charset="-122"/>
                <a:ea typeface="楷体_GB2312" pitchFamily="49" charset="-122"/>
              </a:rPr>
              <a:t>解</a:t>
            </a:r>
            <a:r>
              <a:rPr lang="zh-CN" altLang="en-US" sz="2000" b="1" dirty="0">
                <a:effectLst/>
                <a:latin typeface="楷体_GB2312" pitchFamily="49" charset="-122"/>
                <a:ea typeface="楷体_GB2312" pitchFamily="49" charset="-122"/>
              </a:rPr>
              <a:t>：首先将问题化为标准型</a:t>
            </a:r>
            <a:endParaRPr lang="zh-CN" altLang="en-US" sz="2000" b="1" dirty="0">
              <a:effectLst/>
              <a:latin typeface="楷体_GB2312" pitchFamily="49" charset="-122"/>
              <a:ea typeface="楷体_GB2312" pitchFamily="49"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华文中宋" panose="02010600040101010101" pitchFamily="2" charset="-122"/>
                <a:ea typeface="华文中宋" panose="02010600040101010101" pitchFamily="2" charset="-122"/>
                <a:cs typeface="Times New Roman" panose="02020603050405020304" pitchFamily="18" charset="0"/>
              </a:rPr>
              <a:t>两阶段法</a:t>
            </a:r>
            <a:endParaRPr kumimoji="1" lang="zh-CN" altLang="en-US" dirty="0">
              <a:latin typeface="Times New Roman" panose="02020603050405020304" pitchFamily="18" charset="0"/>
              <a:cs typeface="Times New Roman" panose="02020603050405020304" pitchFamily="18" charset="0"/>
            </a:endParaRPr>
          </a:p>
        </p:txBody>
      </p:sp>
      <p:graphicFrame>
        <p:nvGraphicFramePr>
          <p:cNvPr id="8" name="Object 5"/>
          <p:cNvGraphicFramePr>
            <a:graphicFrameLocks noChangeAspect="1"/>
          </p:cNvGraphicFramePr>
          <p:nvPr/>
        </p:nvGraphicFramePr>
        <p:xfrm>
          <a:off x="2687637" y="1268014"/>
          <a:ext cx="3768725" cy="2232025"/>
        </p:xfrm>
        <a:graphic>
          <a:graphicData uri="http://schemas.openxmlformats.org/presentationml/2006/ole">
            <mc:AlternateContent xmlns:mc="http://schemas.openxmlformats.org/markup-compatibility/2006">
              <mc:Choice xmlns:v="urn:schemas-microsoft-com:vml" Requires="v">
                <p:oleObj spid="_x0000_s8193" name="Equation" r:id="rId1" imgW="48158400" imgH="28651200" progId="Equation.DSMT4">
                  <p:embed/>
                </p:oleObj>
              </mc:Choice>
              <mc:Fallback>
                <p:oleObj name="Equation" r:id="rId1" imgW="48158400" imgH="28651200" progId="Equation.DSMT4">
                  <p:embed/>
                  <p:pic>
                    <p:nvPicPr>
                      <p:cNvPr id="0" name="图片 8192"/>
                      <p:cNvPicPr>
                        <a:picLocks noChangeAspect="1"/>
                      </p:cNvPicPr>
                      <p:nvPr/>
                    </p:nvPicPr>
                    <p:blipFill>
                      <a:blip r:embed="rId2"/>
                      <a:stretch>
                        <a:fillRect/>
                      </a:stretch>
                    </p:blipFill>
                    <p:spPr>
                      <a:xfrm>
                        <a:off x="2687637" y="1268014"/>
                        <a:ext cx="3768725" cy="2232025"/>
                      </a:xfrm>
                      <a:prstGeom prst="rect">
                        <a:avLst/>
                      </a:prstGeom>
                      <a:noFill/>
                      <a:ln w="9525">
                        <a:noFill/>
                      </a:ln>
                    </p:spPr>
                  </p:pic>
                </p:oleObj>
              </mc:Fallback>
            </mc:AlternateContent>
          </a:graphicData>
        </a:graphic>
      </p:graphicFrame>
      <p:sp>
        <p:nvSpPr>
          <p:cNvPr id="9" name="Rectangle 6"/>
          <p:cNvSpPr>
            <a:spLocks noChangeArrowheads="1"/>
          </p:cNvSpPr>
          <p:nvPr/>
        </p:nvSpPr>
        <p:spPr bwMode="auto">
          <a:xfrm>
            <a:off x="2720761" y="3771998"/>
            <a:ext cx="41052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000" b="1" dirty="0">
                <a:effectLst/>
                <a:ea typeface="楷体_GB2312" pitchFamily="49" charset="-122"/>
              </a:rPr>
              <a:t>由于辅助线性规划的目标函数是极小化，因此最优解的判别准则应为：</a:t>
            </a:r>
            <a:endParaRPr lang="zh-CN" altLang="en-US" sz="2000" b="1" dirty="0">
              <a:effectLst/>
              <a:ea typeface="楷体_GB2312" pitchFamily="49" charset="-122"/>
            </a:endParaRPr>
          </a:p>
          <a:p>
            <a:pPr algn="l">
              <a:lnSpc>
                <a:spcPct val="120000"/>
              </a:lnSpc>
            </a:pPr>
            <a:endParaRPr lang="zh-CN" altLang="en-US" sz="2000" b="1" dirty="0">
              <a:effectLst/>
              <a:ea typeface="楷体_GB2312" pitchFamily="49" charset="-122"/>
            </a:endParaRPr>
          </a:p>
        </p:txBody>
      </p:sp>
      <p:graphicFrame>
        <p:nvGraphicFramePr>
          <p:cNvPr id="11" name="Object 3"/>
          <p:cNvGraphicFramePr>
            <a:graphicFrameLocks noChangeAspect="1"/>
          </p:cNvGraphicFramePr>
          <p:nvPr/>
        </p:nvGraphicFramePr>
        <p:xfrm>
          <a:off x="3404973" y="4797152"/>
          <a:ext cx="2736850" cy="458787"/>
        </p:xfrm>
        <a:graphic>
          <a:graphicData uri="http://schemas.openxmlformats.org/presentationml/2006/ole">
            <mc:AlternateContent xmlns:mc="http://schemas.openxmlformats.org/markup-compatibility/2006">
              <mc:Choice xmlns:v="urn:schemas-microsoft-com:vml" Requires="v">
                <p:oleObj spid="_x0000_s8194" name="公式" r:id="rId3" imgW="31089600" imgH="5181600" progId="Equation.3">
                  <p:embed/>
                </p:oleObj>
              </mc:Choice>
              <mc:Fallback>
                <p:oleObj name="公式" r:id="rId3" imgW="31089600" imgH="5181600" progId="Equation.3">
                  <p:embed/>
                  <p:pic>
                    <p:nvPicPr>
                      <p:cNvPr id="0" name="图片 8193"/>
                      <p:cNvPicPr>
                        <a:picLocks noChangeAspect="1"/>
                      </p:cNvPicPr>
                      <p:nvPr/>
                    </p:nvPicPr>
                    <p:blipFill>
                      <a:blip r:embed="rId4"/>
                      <a:stretch>
                        <a:fillRect/>
                      </a:stretch>
                    </p:blipFill>
                    <p:spPr>
                      <a:xfrm>
                        <a:off x="3404973" y="4797152"/>
                        <a:ext cx="2736850" cy="458787"/>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华文中宋" panose="02010600040101010101" pitchFamily="2" charset="-122"/>
                <a:ea typeface="华文中宋" panose="02010600040101010101" pitchFamily="2" charset="-122"/>
                <a:cs typeface="Times New Roman" panose="02020603050405020304" pitchFamily="18" charset="0"/>
              </a:rPr>
              <a:t>两阶段法</a:t>
            </a:r>
            <a:endParaRPr kumimoji="1" lang="zh-CN" altLang="en-US" dirty="0">
              <a:latin typeface="Times New Roman" panose="02020603050405020304" pitchFamily="18" charset="0"/>
              <a:cs typeface="Times New Roman" panose="02020603050405020304" pitchFamily="18" charset="0"/>
            </a:endParaRPr>
          </a:p>
        </p:txBody>
      </p:sp>
      <p:sp>
        <p:nvSpPr>
          <p:cNvPr id="5" name="Rectangle 91"/>
          <p:cNvSpPr>
            <a:spLocks noChangeArrowheads="1"/>
          </p:cNvSpPr>
          <p:nvPr/>
        </p:nvSpPr>
        <p:spPr bwMode="auto">
          <a:xfrm>
            <a:off x="6444580" y="5075337"/>
            <a:ext cx="64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endParaRPr>
          </a:p>
        </p:txBody>
      </p:sp>
      <p:sp>
        <p:nvSpPr>
          <p:cNvPr id="6" name="Rectangle 89"/>
          <p:cNvSpPr>
            <a:spLocks noChangeArrowheads="1"/>
          </p:cNvSpPr>
          <p:nvPr/>
        </p:nvSpPr>
        <p:spPr bwMode="auto">
          <a:xfrm>
            <a:off x="2236117" y="5075337"/>
            <a:ext cx="4208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cs typeface="Arial" panose="020B0604020202020204" pitchFamily="34" charset="0"/>
              </a:rPr>
              <a:t>    0      1    -1/2   -1/2      0    1/2   1/2</a:t>
            </a:r>
            <a:endParaRPr lang="en-US" altLang="zh-CN" sz="2000" b="1">
              <a:effectLst/>
              <a:cs typeface="Arial" panose="020B0604020202020204" pitchFamily="34" charset="0"/>
            </a:endParaRPr>
          </a:p>
        </p:txBody>
      </p:sp>
      <p:sp>
        <p:nvSpPr>
          <p:cNvPr id="7" name="Rectangle 87"/>
          <p:cNvSpPr>
            <a:spLocks noChangeArrowheads="1"/>
          </p:cNvSpPr>
          <p:nvPr/>
        </p:nvSpPr>
        <p:spPr bwMode="auto">
          <a:xfrm>
            <a:off x="1582067" y="5075337"/>
            <a:ext cx="654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3/2</a:t>
            </a:r>
            <a:endParaRPr lang="en-US" altLang="zh-CN" sz="2000" b="1">
              <a:effectLst/>
              <a:cs typeface="Arial" panose="020B0604020202020204" pitchFamily="34" charset="0"/>
            </a:endParaRPr>
          </a:p>
        </p:txBody>
      </p:sp>
      <p:sp>
        <p:nvSpPr>
          <p:cNvPr id="8" name="Rectangle 85"/>
          <p:cNvSpPr>
            <a:spLocks noChangeArrowheads="1"/>
          </p:cNvSpPr>
          <p:nvPr/>
        </p:nvSpPr>
        <p:spPr bwMode="auto">
          <a:xfrm>
            <a:off x="1002630" y="5075337"/>
            <a:ext cx="5794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x</a:t>
            </a:r>
            <a:r>
              <a:rPr lang="en-US" altLang="zh-CN" sz="2000" b="1" baseline="-30000">
                <a:effectLst/>
                <a:cs typeface="Arial" panose="020B0604020202020204" pitchFamily="34" charset="0"/>
              </a:rPr>
              <a:t>2</a:t>
            </a:r>
            <a:endParaRPr lang="en-US" altLang="zh-CN" sz="2000" b="1" baseline="-30000">
              <a:effectLst/>
              <a:cs typeface="Arial" panose="020B0604020202020204" pitchFamily="34" charset="0"/>
            </a:endParaRPr>
          </a:p>
        </p:txBody>
      </p:sp>
      <p:sp>
        <p:nvSpPr>
          <p:cNvPr id="9" name="Rectangle 83"/>
          <p:cNvSpPr>
            <a:spLocks noChangeArrowheads="1"/>
          </p:cNvSpPr>
          <p:nvPr/>
        </p:nvSpPr>
        <p:spPr bwMode="auto">
          <a:xfrm>
            <a:off x="396205" y="5075337"/>
            <a:ext cx="606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0</a:t>
            </a:r>
            <a:endParaRPr lang="en-US" altLang="zh-CN" sz="2000" b="1">
              <a:effectLst/>
              <a:cs typeface="Arial" panose="020B0604020202020204" pitchFamily="34" charset="0"/>
            </a:endParaRPr>
          </a:p>
        </p:txBody>
      </p:sp>
      <p:sp>
        <p:nvSpPr>
          <p:cNvPr id="10" name="Rectangle 76"/>
          <p:cNvSpPr>
            <a:spLocks noChangeArrowheads="1"/>
          </p:cNvSpPr>
          <p:nvPr/>
        </p:nvSpPr>
        <p:spPr bwMode="auto">
          <a:xfrm>
            <a:off x="6444580" y="4710212"/>
            <a:ext cx="64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endParaRPr>
          </a:p>
        </p:txBody>
      </p:sp>
      <p:sp>
        <p:nvSpPr>
          <p:cNvPr id="11" name="Rectangle 74"/>
          <p:cNvSpPr>
            <a:spLocks noChangeArrowheads="1"/>
          </p:cNvSpPr>
          <p:nvPr/>
        </p:nvSpPr>
        <p:spPr bwMode="auto">
          <a:xfrm>
            <a:off x="2236117" y="4710212"/>
            <a:ext cx="4208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cs typeface="Arial" panose="020B0604020202020204" pitchFamily="34" charset="0"/>
              </a:rPr>
              <a:t>   1       0    -1/2    1/2      0     1/2   -1/2</a:t>
            </a:r>
            <a:endParaRPr lang="en-US" altLang="zh-CN" sz="2000" b="1">
              <a:effectLst/>
              <a:cs typeface="Arial" panose="020B0604020202020204" pitchFamily="34" charset="0"/>
            </a:endParaRPr>
          </a:p>
        </p:txBody>
      </p:sp>
      <p:sp>
        <p:nvSpPr>
          <p:cNvPr id="12" name="Rectangle 72"/>
          <p:cNvSpPr>
            <a:spLocks noChangeArrowheads="1"/>
          </p:cNvSpPr>
          <p:nvPr/>
        </p:nvSpPr>
        <p:spPr bwMode="auto">
          <a:xfrm>
            <a:off x="1582067" y="4710212"/>
            <a:ext cx="654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1/2</a:t>
            </a:r>
            <a:endParaRPr lang="en-US" altLang="zh-CN" sz="2000" b="1">
              <a:effectLst/>
            </a:endParaRPr>
          </a:p>
        </p:txBody>
      </p:sp>
      <p:sp>
        <p:nvSpPr>
          <p:cNvPr id="14" name="Rectangle 70"/>
          <p:cNvSpPr>
            <a:spLocks noChangeArrowheads="1"/>
          </p:cNvSpPr>
          <p:nvPr/>
        </p:nvSpPr>
        <p:spPr bwMode="auto">
          <a:xfrm>
            <a:off x="1002630" y="4710212"/>
            <a:ext cx="5794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x</a:t>
            </a:r>
            <a:r>
              <a:rPr lang="en-US" altLang="zh-CN" sz="2000" b="1" baseline="-30000">
                <a:effectLst/>
                <a:cs typeface="Arial" panose="020B0604020202020204" pitchFamily="34" charset="0"/>
              </a:rPr>
              <a:t>1</a:t>
            </a:r>
            <a:endParaRPr lang="en-US" altLang="zh-CN" sz="2000" b="1" baseline="-30000">
              <a:effectLst/>
              <a:cs typeface="Arial" panose="020B0604020202020204" pitchFamily="34" charset="0"/>
            </a:endParaRPr>
          </a:p>
        </p:txBody>
      </p:sp>
      <p:sp>
        <p:nvSpPr>
          <p:cNvPr id="15" name="Rectangle 68"/>
          <p:cNvSpPr>
            <a:spLocks noChangeArrowheads="1"/>
          </p:cNvSpPr>
          <p:nvPr/>
        </p:nvSpPr>
        <p:spPr bwMode="auto">
          <a:xfrm>
            <a:off x="396205" y="4710212"/>
            <a:ext cx="606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0</a:t>
            </a:r>
            <a:endParaRPr lang="en-US" altLang="zh-CN" sz="2000" b="1">
              <a:effectLst/>
            </a:endParaRPr>
          </a:p>
        </p:txBody>
      </p:sp>
      <p:sp>
        <p:nvSpPr>
          <p:cNvPr id="16" name="Rectangle 56"/>
          <p:cNvSpPr>
            <a:spLocks noChangeArrowheads="1"/>
          </p:cNvSpPr>
          <p:nvPr/>
        </p:nvSpPr>
        <p:spPr bwMode="auto">
          <a:xfrm>
            <a:off x="6444580" y="3614837"/>
            <a:ext cx="64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a:t>
            </a:r>
            <a:endParaRPr lang="en-US" altLang="zh-CN" sz="2000" b="1">
              <a:effectLst/>
            </a:endParaRPr>
          </a:p>
        </p:txBody>
      </p:sp>
      <p:sp>
        <p:nvSpPr>
          <p:cNvPr id="17" name="Rectangle 54"/>
          <p:cNvSpPr>
            <a:spLocks noChangeArrowheads="1"/>
          </p:cNvSpPr>
          <p:nvPr/>
        </p:nvSpPr>
        <p:spPr bwMode="auto">
          <a:xfrm>
            <a:off x="2236117" y="3614837"/>
            <a:ext cx="4208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2000" b="1">
                <a:effectLst/>
                <a:cs typeface="Arial" panose="020B0604020202020204" pitchFamily="34" charset="0"/>
              </a:rPr>
              <a:t>  -1      1       0      -1        0      0     1</a:t>
            </a:r>
            <a:endParaRPr lang="en-US" altLang="zh-CN" sz="2000" b="1">
              <a:effectLst/>
            </a:endParaRPr>
          </a:p>
        </p:txBody>
      </p:sp>
      <p:sp>
        <p:nvSpPr>
          <p:cNvPr id="18" name="Rectangle 52"/>
          <p:cNvSpPr>
            <a:spLocks noChangeArrowheads="1"/>
          </p:cNvSpPr>
          <p:nvPr/>
        </p:nvSpPr>
        <p:spPr bwMode="auto">
          <a:xfrm>
            <a:off x="1582067" y="3614837"/>
            <a:ext cx="654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1</a:t>
            </a:r>
            <a:endParaRPr lang="en-US" altLang="zh-CN" sz="2000" b="1">
              <a:effectLst/>
              <a:cs typeface="Arial" panose="020B0604020202020204" pitchFamily="34" charset="0"/>
            </a:endParaRPr>
          </a:p>
        </p:txBody>
      </p:sp>
      <p:sp>
        <p:nvSpPr>
          <p:cNvPr id="19" name="Rectangle 50"/>
          <p:cNvSpPr>
            <a:spLocks noChangeArrowheads="1"/>
          </p:cNvSpPr>
          <p:nvPr/>
        </p:nvSpPr>
        <p:spPr bwMode="auto">
          <a:xfrm>
            <a:off x="1002630" y="3614837"/>
            <a:ext cx="5794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x</a:t>
            </a:r>
            <a:r>
              <a:rPr lang="en-US" altLang="zh-CN" sz="2000" b="1" baseline="-30000">
                <a:effectLst/>
                <a:cs typeface="Arial" panose="020B0604020202020204" pitchFamily="34" charset="0"/>
              </a:rPr>
              <a:t>2</a:t>
            </a:r>
            <a:endParaRPr lang="en-US" altLang="zh-CN" sz="2000" b="1" baseline="-30000">
              <a:effectLst/>
              <a:cs typeface="Arial" panose="020B0604020202020204" pitchFamily="34" charset="0"/>
            </a:endParaRPr>
          </a:p>
        </p:txBody>
      </p:sp>
      <p:sp>
        <p:nvSpPr>
          <p:cNvPr id="20" name="Rectangle 48"/>
          <p:cNvSpPr>
            <a:spLocks noChangeArrowheads="1"/>
          </p:cNvSpPr>
          <p:nvPr/>
        </p:nvSpPr>
        <p:spPr bwMode="auto">
          <a:xfrm>
            <a:off x="396205" y="3614837"/>
            <a:ext cx="606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0</a:t>
            </a:r>
            <a:endParaRPr lang="en-US" altLang="zh-CN" sz="2000" b="1">
              <a:effectLst/>
            </a:endParaRPr>
          </a:p>
        </p:txBody>
      </p:sp>
      <p:sp>
        <p:nvSpPr>
          <p:cNvPr id="21" name="Rectangle 42"/>
          <p:cNvSpPr>
            <a:spLocks noChangeArrowheads="1"/>
          </p:cNvSpPr>
          <p:nvPr/>
        </p:nvSpPr>
        <p:spPr bwMode="auto">
          <a:xfrm>
            <a:off x="6444580" y="3179862"/>
            <a:ext cx="647700"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1/2</a:t>
            </a:r>
            <a:endParaRPr lang="en-US" altLang="zh-CN" sz="2000" b="1">
              <a:effectLst/>
              <a:cs typeface="Arial" panose="020B0604020202020204" pitchFamily="34" charset="0"/>
            </a:endParaRPr>
          </a:p>
        </p:txBody>
      </p:sp>
      <p:sp>
        <p:nvSpPr>
          <p:cNvPr id="22" name="Rectangle 40"/>
          <p:cNvSpPr>
            <a:spLocks noChangeArrowheads="1"/>
          </p:cNvSpPr>
          <p:nvPr/>
        </p:nvSpPr>
        <p:spPr bwMode="auto">
          <a:xfrm>
            <a:off x="2236117" y="3179862"/>
            <a:ext cx="420846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cs typeface="Arial" panose="020B0604020202020204" pitchFamily="34" charset="0"/>
              </a:rPr>
              <a:t>   2       0     -1       1        0      1    -1</a:t>
            </a:r>
            <a:endParaRPr lang="en-US" altLang="zh-CN" sz="2000" b="1">
              <a:effectLst/>
            </a:endParaRPr>
          </a:p>
        </p:txBody>
      </p:sp>
      <p:sp>
        <p:nvSpPr>
          <p:cNvPr id="23" name="Rectangle 38"/>
          <p:cNvSpPr>
            <a:spLocks noChangeArrowheads="1"/>
          </p:cNvSpPr>
          <p:nvPr/>
        </p:nvSpPr>
        <p:spPr bwMode="auto">
          <a:xfrm>
            <a:off x="1582067" y="3179862"/>
            <a:ext cx="654050"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1</a:t>
            </a:r>
            <a:endParaRPr lang="en-US" altLang="zh-CN" sz="2000" b="1">
              <a:effectLst/>
            </a:endParaRPr>
          </a:p>
        </p:txBody>
      </p:sp>
      <p:sp>
        <p:nvSpPr>
          <p:cNvPr id="24" name="Rectangle 36"/>
          <p:cNvSpPr>
            <a:spLocks noChangeArrowheads="1"/>
          </p:cNvSpPr>
          <p:nvPr/>
        </p:nvSpPr>
        <p:spPr bwMode="auto">
          <a:xfrm>
            <a:off x="1002630" y="3179862"/>
            <a:ext cx="579437"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x</a:t>
            </a:r>
            <a:r>
              <a:rPr lang="en-US" altLang="zh-CN" sz="2000" b="1" baseline="-30000">
                <a:effectLst/>
                <a:cs typeface="Arial" panose="020B0604020202020204" pitchFamily="34" charset="0"/>
              </a:rPr>
              <a:t>6</a:t>
            </a:r>
            <a:endParaRPr lang="en-US" altLang="zh-CN" sz="2000" b="1">
              <a:effectLst/>
            </a:endParaRPr>
          </a:p>
        </p:txBody>
      </p:sp>
      <p:sp>
        <p:nvSpPr>
          <p:cNvPr id="25" name="Rectangle 34"/>
          <p:cNvSpPr>
            <a:spLocks noChangeArrowheads="1"/>
          </p:cNvSpPr>
          <p:nvPr/>
        </p:nvSpPr>
        <p:spPr bwMode="auto">
          <a:xfrm>
            <a:off x="396205" y="3179862"/>
            <a:ext cx="606425"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1</a:t>
            </a:r>
            <a:endParaRPr lang="en-US" altLang="zh-CN" sz="2000" b="1">
              <a:effectLst/>
            </a:endParaRPr>
          </a:p>
        </p:txBody>
      </p:sp>
      <p:sp>
        <p:nvSpPr>
          <p:cNvPr id="26" name="Rectangle 22"/>
          <p:cNvSpPr>
            <a:spLocks noChangeArrowheads="1"/>
          </p:cNvSpPr>
          <p:nvPr/>
        </p:nvSpPr>
        <p:spPr bwMode="auto">
          <a:xfrm>
            <a:off x="6444580" y="2084487"/>
            <a:ext cx="64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1/1</a:t>
            </a:r>
            <a:endParaRPr lang="en-US" altLang="zh-CN" sz="2000" b="1">
              <a:effectLst/>
              <a:cs typeface="Arial" panose="020B0604020202020204" pitchFamily="34" charset="0"/>
            </a:endParaRPr>
          </a:p>
        </p:txBody>
      </p:sp>
      <p:sp>
        <p:nvSpPr>
          <p:cNvPr id="27" name="Rectangle 20"/>
          <p:cNvSpPr>
            <a:spLocks noChangeArrowheads="1"/>
          </p:cNvSpPr>
          <p:nvPr/>
        </p:nvSpPr>
        <p:spPr bwMode="auto">
          <a:xfrm>
            <a:off x="2236117" y="2084487"/>
            <a:ext cx="4208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2000" b="1">
                <a:effectLst/>
                <a:cs typeface="Arial" panose="020B0604020202020204" pitchFamily="34" charset="0"/>
              </a:rPr>
              <a:t>  -1       1      0       -1       0      0      1</a:t>
            </a:r>
            <a:endParaRPr lang="en-US" altLang="zh-CN" sz="2000" b="1">
              <a:effectLst/>
            </a:endParaRPr>
          </a:p>
        </p:txBody>
      </p:sp>
      <p:sp>
        <p:nvSpPr>
          <p:cNvPr id="28" name="Rectangle 18"/>
          <p:cNvSpPr>
            <a:spLocks noChangeArrowheads="1"/>
          </p:cNvSpPr>
          <p:nvPr/>
        </p:nvSpPr>
        <p:spPr bwMode="auto">
          <a:xfrm>
            <a:off x="1582067" y="2084487"/>
            <a:ext cx="654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1</a:t>
            </a:r>
            <a:endParaRPr lang="en-US" altLang="zh-CN" sz="2000" b="1">
              <a:effectLst/>
              <a:cs typeface="Arial" panose="020B0604020202020204" pitchFamily="34" charset="0"/>
            </a:endParaRPr>
          </a:p>
        </p:txBody>
      </p:sp>
      <p:sp>
        <p:nvSpPr>
          <p:cNvPr id="29" name="Rectangle 16"/>
          <p:cNvSpPr>
            <a:spLocks noChangeArrowheads="1"/>
          </p:cNvSpPr>
          <p:nvPr/>
        </p:nvSpPr>
        <p:spPr bwMode="auto">
          <a:xfrm>
            <a:off x="1002630" y="2084487"/>
            <a:ext cx="5794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x</a:t>
            </a:r>
            <a:r>
              <a:rPr lang="en-US" altLang="zh-CN" sz="2000" b="1" baseline="-30000">
                <a:effectLst/>
                <a:cs typeface="Arial" panose="020B0604020202020204" pitchFamily="34" charset="0"/>
              </a:rPr>
              <a:t>7</a:t>
            </a:r>
            <a:endParaRPr lang="en-US" altLang="zh-CN" sz="2000" b="1">
              <a:effectLst/>
            </a:endParaRPr>
          </a:p>
        </p:txBody>
      </p:sp>
      <p:sp>
        <p:nvSpPr>
          <p:cNvPr id="30" name="Rectangle 14"/>
          <p:cNvSpPr>
            <a:spLocks noChangeArrowheads="1"/>
          </p:cNvSpPr>
          <p:nvPr/>
        </p:nvSpPr>
        <p:spPr bwMode="auto">
          <a:xfrm>
            <a:off x="396205" y="2084487"/>
            <a:ext cx="606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1</a:t>
            </a:r>
            <a:endParaRPr lang="en-US" altLang="zh-CN" sz="2000" b="1">
              <a:effectLst/>
            </a:endParaRPr>
          </a:p>
        </p:txBody>
      </p:sp>
      <p:sp>
        <p:nvSpPr>
          <p:cNvPr id="32" name="Rectangle 10"/>
          <p:cNvSpPr>
            <a:spLocks noChangeArrowheads="1"/>
          </p:cNvSpPr>
          <p:nvPr/>
        </p:nvSpPr>
        <p:spPr bwMode="auto">
          <a:xfrm>
            <a:off x="6444580" y="1719362"/>
            <a:ext cx="64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2/1</a:t>
            </a:r>
            <a:endParaRPr lang="en-US" altLang="zh-CN" sz="2000" b="1">
              <a:effectLst/>
              <a:cs typeface="Arial" panose="020B0604020202020204" pitchFamily="34" charset="0"/>
            </a:endParaRPr>
          </a:p>
        </p:txBody>
      </p:sp>
      <p:sp>
        <p:nvSpPr>
          <p:cNvPr id="33" name="Rectangle 8"/>
          <p:cNvSpPr>
            <a:spLocks noChangeArrowheads="1"/>
          </p:cNvSpPr>
          <p:nvPr/>
        </p:nvSpPr>
        <p:spPr bwMode="auto">
          <a:xfrm>
            <a:off x="2236117" y="1719362"/>
            <a:ext cx="4208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cs typeface="Arial" panose="020B0604020202020204" pitchFamily="34" charset="0"/>
              </a:rPr>
              <a:t>   1       1      -1       0       0      1      0</a:t>
            </a:r>
            <a:endParaRPr lang="en-US" altLang="zh-CN" sz="2000" b="1">
              <a:effectLst/>
            </a:endParaRPr>
          </a:p>
        </p:txBody>
      </p:sp>
      <p:sp>
        <p:nvSpPr>
          <p:cNvPr id="34" name="Rectangle 6"/>
          <p:cNvSpPr>
            <a:spLocks noChangeArrowheads="1"/>
          </p:cNvSpPr>
          <p:nvPr/>
        </p:nvSpPr>
        <p:spPr bwMode="auto">
          <a:xfrm>
            <a:off x="1582067" y="1719362"/>
            <a:ext cx="654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2</a:t>
            </a:r>
            <a:endParaRPr lang="en-US" altLang="zh-CN" sz="2000" b="1">
              <a:effectLst/>
            </a:endParaRPr>
          </a:p>
        </p:txBody>
      </p:sp>
      <p:sp>
        <p:nvSpPr>
          <p:cNvPr id="35" name="Rectangle 4"/>
          <p:cNvSpPr>
            <a:spLocks noChangeArrowheads="1"/>
          </p:cNvSpPr>
          <p:nvPr/>
        </p:nvSpPr>
        <p:spPr bwMode="auto">
          <a:xfrm>
            <a:off x="1002630" y="1719362"/>
            <a:ext cx="5794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x</a:t>
            </a:r>
            <a:r>
              <a:rPr lang="en-US" altLang="zh-CN" sz="2000" b="1" baseline="-30000">
                <a:effectLst/>
                <a:cs typeface="Arial" panose="020B0604020202020204" pitchFamily="34" charset="0"/>
              </a:rPr>
              <a:t>6</a:t>
            </a:r>
            <a:endParaRPr lang="en-US" altLang="zh-CN" sz="2000" b="1">
              <a:effectLst/>
            </a:endParaRPr>
          </a:p>
        </p:txBody>
      </p:sp>
      <p:sp>
        <p:nvSpPr>
          <p:cNvPr id="36" name="Rectangle 2"/>
          <p:cNvSpPr>
            <a:spLocks noChangeArrowheads="1"/>
          </p:cNvSpPr>
          <p:nvPr/>
        </p:nvSpPr>
        <p:spPr bwMode="auto">
          <a:xfrm>
            <a:off x="396205" y="1719362"/>
            <a:ext cx="606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1</a:t>
            </a:r>
            <a:endParaRPr lang="en-US" altLang="zh-CN" sz="2000" b="1">
              <a:effectLst/>
            </a:endParaRPr>
          </a:p>
        </p:txBody>
      </p:sp>
      <p:sp>
        <p:nvSpPr>
          <p:cNvPr id="37" name="Rectangle 78"/>
          <p:cNvSpPr>
            <a:spLocks noChangeArrowheads="1"/>
          </p:cNvSpPr>
          <p:nvPr/>
        </p:nvSpPr>
        <p:spPr bwMode="auto">
          <a:xfrm>
            <a:off x="5971505" y="5840512"/>
            <a:ext cx="64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endParaRPr>
          </a:p>
        </p:txBody>
      </p:sp>
      <p:sp>
        <p:nvSpPr>
          <p:cNvPr id="38" name="Rectangle 77"/>
          <p:cNvSpPr>
            <a:spLocks noChangeArrowheads="1"/>
          </p:cNvSpPr>
          <p:nvPr/>
        </p:nvSpPr>
        <p:spPr bwMode="auto">
          <a:xfrm>
            <a:off x="2236117" y="5840512"/>
            <a:ext cx="4208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cs typeface="Arial" panose="020B0604020202020204" pitchFamily="34" charset="0"/>
              </a:rPr>
              <a:t>      0      0       0       0       0      1      1</a:t>
            </a:r>
            <a:endParaRPr lang="en-US" altLang="zh-CN" sz="2000" b="1">
              <a:effectLst/>
            </a:endParaRPr>
          </a:p>
        </p:txBody>
      </p:sp>
      <p:sp>
        <p:nvSpPr>
          <p:cNvPr id="39" name="Rectangle 76"/>
          <p:cNvSpPr>
            <a:spLocks noChangeArrowheads="1"/>
          </p:cNvSpPr>
          <p:nvPr/>
        </p:nvSpPr>
        <p:spPr bwMode="auto">
          <a:xfrm>
            <a:off x="1582067" y="5840512"/>
            <a:ext cx="654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0</a:t>
            </a:r>
            <a:endParaRPr lang="en-US" altLang="zh-CN" sz="2000" b="1">
              <a:effectLst/>
            </a:endParaRPr>
          </a:p>
        </p:txBody>
      </p:sp>
      <p:sp>
        <p:nvSpPr>
          <p:cNvPr id="40" name="Rectangle 74"/>
          <p:cNvSpPr>
            <a:spLocks noChangeArrowheads="1"/>
          </p:cNvSpPr>
          <p:nvPr/>
        </p:nvSpPr>
        <p:spPr bwMode="auto">
          <a:xfrm>
            <a:off x="396205" y="5840512"/>
            <a:ext cx="11858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w</a:t>
            </a:r>
            <a:endParaRPr lang="en-US" altLang="zh-CN" sz="2000" b="1">
              <a:effectLst/>
            </a:endParaRPr>
          </a:p>
        </p:txBody>
      </p:sp>
      <p:sp>
        <p:nvSpPr>
          <p:cNvPr id="41" name="Rectangle 73"/>
          <p:cNvSpPr>
            <a:spLocks noChangeArrowheads="1"/>
          </p:cNvSpPr>
          <p:nvPr/>
        </p:nvSpPr>
        <p:spPr bwMode="auto">
          <a:xfrm>
            <a:off x="6444580" y="5440462"/>
            <a:ext cx="6477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endParaRPr>
          </a:p>
        </p:txBody>
      </p:sp>
      <p:sp>
        <p:nvSpPr>
          <p:cNvPr id="42" name="Rectangle 72"/>
          <p:cNvSpPr>
            <a:spLocks noChangeArrowheads="1"/>
          </p:cNvSpPr>
          <p:nvPr/>
        </p:nvSpPr>
        <p:spPr bwMode="auto">
          <a:xfrm>
            <a:off x="2236117" y="5440462"/>
            <a:ext cx="42084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cs typeface="Arial" panose="020B0604020202020204" pitchFamily="34" charset="0"/>
              </a:rPr>
              <a:t>    0      0     1/2    1/2      1    -1/2   -1/2</a:t>
            </a:r>
            <a:endParaRPr lang="en-US" altLang="zh-CN" sz="2000" b="1">
              <a:effectLst/>
            </a:endParaRPr>
          </a:p>
        </p:txBody>
      </p:sp>
      <p:sp>
        <p:nvSpPr>
          <p:cNvPr id="43" name="Rectangle 71"/>
          <p:cNvSpPr>
            <a:spLocks noChangeArrowheads="1"/>
          </p:cNvSpPr>
          <p:nvPr/>
        </p:nvSpPr>
        <p:spPr bwMode="auto">
          <a:xfrm>
            <a:off x="1582067" y="5440462"/>
            <a:ext cx="6540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3/2</a:t>
            </a:r>
            <a:endParaRPr lang="en-US" altLang="zh-CN" sz="2000" b="1">
              <a:effectLst/>
            </a:endParaRPr>
          </a:p>
        </p:txBody>
      </p:sp>
      <p:sp>
        <p:nvSpPr>
          <p:cNvPr id="44" name="Rectangle 70"/>
          <p:cNvSpPr>
            <a:spLocks noChangeArrowheads="1"/>
          </p:cNvSpPr>
          <p:nvPr/>
        </p:nvSpPr>
        <p:spPr bwMode="auto">
          <a:xfrm>
            <a:off x="1002630" y="5440462"/>
            <a:ext cx="5794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x</a:t>
            </a:r>
            <a:r>
              <a:rPr lang="en-US" altLang="zh-CN" sz="2000" b="1" baseline="-30000">
                <a:effectLst/>
                <a:cs typeface="Arial" panose="020B0604020202020204" pitchFamily="34" charset="0"/>
              </a:rPr>
              <a:t>5</a:t>
            </a:r>
            <a:endParaRPr lang="en-US" altLang="zh-CN" sz="2000" b="1">
              <a:effectLst/>
            </a:endParaRPr>
          </a:p>
        </p:txBody>
      </p:sp>
      <p:sp>
        <p:nvSpPr>
          <p:cNvPr id="45" name="Rectangle 69"/>
          <p:cNvSpPr>
            <a:spLocks noChangeArrowheads="1"/>
          </p:cNvSpPr>
          <p:nvPr/>
        </p:nvSpPr>
        <p:spPr bwMode="auto">
          <a:xfrm>
            <a:off x="396205" y="5440462"/>
            <a:ext cx="6064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0</a:t>
            </a:r>
            <a:endParaRPr lang="en-US" altLang="zh-CN" sz="2000" b="1">
              <a:effectLst/>
            </a:endParaRPr>
          </a:p>
        </p:txBody>
      </p:sp>
      <p:sp>
        <p:nvSpPr>
          <p:cNvPr id="46" name="Rectangle 68"/>
          <p:cNvSpPr>
            <a:spLocks noChangeArrowheads="1"/>
          </p:cNvSpPr>
          <p:nvPr/>
        </p:nvSpPr>
        <p:spPr bwMode="auto">
          <a:xfrm>
            <a:off x="6444580" y="4345087"/>
            <a:ext cx="64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endParaRPr>
          </a:p>
        </p:txBody>
      </p:sp>
      <p:sp>
        <p:nvSpPr>
          <p:cNvPr id="47" name="Rectangle 67"/>
          <p:cNvSpPr>
            <a:spLocks noChangeArrowheads="1"/>
          </p:cNvSpPr>
          <p:nvPr/>
        </p:nvSpPr>
        <p:spPr bwMode="auto">
          <a:xfrm>
            <a:off x="2236117" y="4345087"/>
            <a:ext cx="4208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cs typeface="Arial" panose="020B0604020202020204" pitchFamily="34" charset="0"/>
              </a:rPr>
              <a:t>    -2       0       1      -1       0      0      2</a:t>
            </a:r>
            <a:endParaRPr lang="en-US" altLang="zh-CN" sz="2000" b="1">
              <a:effectLst/>
            </a:endParaRPr>
          </a:p>
        </p:txBody>
      </p:sp>
      <p:sp>
        <p:nvSpPr>
          <p:cNvPr id="48" name="Rectangle 66"/>
          <p:cNvSpPr>
            <a:spLocks noChangeArrowheads="1"/>
          </p:cNvSpPr>
          <p:nvPr/>
        </p:nvSpPr>
        <p:spPr bwMode="auto">
          <a:xfrm>
            <a:off x="1582067" y="4345087"/>
            <a:ext cx="654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1</a:t>
            </a:r>
            <a:endParaRPr lang="en-US" altLang="zh-CN" sz="2000" b="1">
              <a:effectLst/>
            </a:endParaRPr>
          </a:p>
        </p:txBody>
      </p:sp>
      <p:sp>
        <p:nvSpPr>
          <p:cNvPr id="49" name="Rectangle 64"/>
          <p:cNvSpPr>
            <a:spLocks noChangeArrowheads="1"/>
          </p:cNvSpPr>
          <p:nvPr/>
        </p:nvSpPr>
        <p:spPr bwMode="auto">
          <a:xfrm>
            <a:off x="396205" y="4345087"/>
            <a:ext cx="11858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w</a:t>
            </a:r>
            <a:endParaRPr lang="en-US" altLang="zh-CN" sz="2000" b="1">
              <a:effectLst/>
            </a:endParaRPr>
          </a:p>
        </p:txBody>
      </p:sp>
      <p:sp>
        <p:nvSpPr>
          <p:cNvPr id="50" name="Rectangle 63"/>
          <p:cNvSpPr>
            <a:spLocks noChangeArrowheads="1"/>
          </p:cNvSpPr>
          <p:nvPr/>
        </p:nvSpPr>
        <p:spPr bwMode="auto">
          <a:xfrm>
            <a:off x="6444580" y="3979962"/>
            <a:ext cx="64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2/1</a:t>
            </a:r>
            <a:endParaRPr lang="en-US" altLang="zh-CN" sz="2000" b="1">
              <a:effectLst/>
            </a:endParaRPr>
          </a:p>
        </p:txBody>
      </p:sp>
      <p:sp>
        <p:nvSpPr>
          <p:cNvPr id="51" name="Rectangle 62"/>
          <p:cNvSpPr>
            <a:spLocks noChangeArrowheads="1"/>
          </p:cNvSpPr>
          <p:nvPr/>
        </p:nvSpPr>
        <p:spPr bwMode="auto">
          <a:xfrm>
            <a:off x="2236117" y="3979962"/>
            <a:ext cx="4208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eaLnBrk="0" hangingPunct="0">
              <a:spcBef>
                <a:spcPct val="0"/>
              </a:spcBef>
              <a:buFontTx/>
              <a:buNone/>
            </a:pPr>
            <a:r>
              <a:rPr lang="en-US" altLang="zh-CN" sz="2000" b="1">
                <a:effectLst/>
                <a:cs typeface="Arial" panose="020B0604020202020204" pitchFamily="34" charset="0"/>
              </a:rPr>
              <a:t>   1       0       0       1       1      0     -1</a:t>
            </a:r>
            <a:endParaRPr lang="en-US" altLang="zh-CN" sz="2000" b="1">
              <a:effectLst/>
            </a:endParaRPr>
          </a:p>
        </p:txBody>
      </p:sp>
      <p:sp>
        <p:nvSpPr>
          <p:cNvPr id="52" name="Rectangle 61"/>
          <p:cNvSpPr>
            <a:spLocks noChangeArrowheads="1"/>
          </p:cNvSpPr>
          <p:nvPr/>
        </p:nvSpPr>
        <p:spPr bwMode="auto">
          <a:xfrm>
            <a:off x="1582067" y="3979962"/>
            <a:ext cx="654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2</a:t>
            </a:r>
            <a:endParaRPr lang="en-US" altLang="zh-CN" sz="2000" b="1">
              <a:effectLst/>
            </a:endParaRPr>
          </a:p>
        </p:txBody>
      </p:sp>
      <p:sp>
        <p:nvSpPr>
          <p:cNvPr id="53" name="Rectangle 60"/>
          <p:cNvSpPr>
            <a:spLocks noChangeArrowheads="1"/>
          </p:cNvSpPr>
          <p:nvPr/>
        </p:nvSpPr>
        <p:spPr bwMode="auto">
          <a:xfrm>
            <a:off x="1002630" y="3979962"/>
            <a:ext cx="5794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x</a:t>
            </a:r>
            <a:r>
              <a:rPr lang="en-US" altLang="zh-CN" sz="2000" b="1" baseline="-30000">
                <a:effectLst/>
                <a:cs typeface="Arial" panose="020B0604020202020204" pitchFamily="34" charset="0"/>
              </a:rPr>
              <a:t>5</a:t>
            </a:r>
            <a:endParaRPr lang="en-US" altLang="zh-CN" sz="2000" b="1">
              <a:effectLst/>
            </a:endParaRPr>
          </a:p>
        </p:txBody>
      </p:sp>
      <p:sp>
        <p:nvSpPr>
          <p:cNvPr id="54" name="Rectangle 59"/>
          <p:cNvSpPr>
            <a:spLocks noChangeArrowheads="1"/>
          </p:cNvSpPr>
          <p:nvPr/>
        </p:nvSpPr>
        <p:spPr bwMode="auto">
          <a:xfrm>
            <a:off x="396205" y="3979962"/>
            <a:ext cx="606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0</a:t>
            </a:r>
            <a:endParaRPr lang="en-US" altLang="zh-CN" sz="2000" b="1">
              <a:effectLst/>
            </a:endParaRPr>
          </a:p>
        </p:txBody>
      </p:sp>
      <p:sp>
        <p:nvSpPr>
          <p:cNvPr id="55" name="Rectangle 58"/>
          <p:cNvSpPr>
            <a:spLocks noChangeArrowheads="1"/>
          </p:cNvSpPr>
          <p:nvPr/>
        </p:nvSpPr>
        <p:spPr bwMode="auto">
          <a:xfrm>
            <a:off x="6444580" y="2814737"/>
            <a:ext cx="64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endParaRPr>
          </a:p>
        </p:txBody>
      </p:sp>
      <p:sp>
        <p:nvSpPr>
          <p:cNvPr id="56" name="Rectangle 57"/>
          <p:cNvSpPr>
            <a:spLocks noChangeArrowheads="1"/>
          </p:cNvSpPr>
          <p:nvPr/>
        </p:nvSpPr>
        <p:spPr bwMode="auto">
          <a:xfrm>
            <a:off x="2236117" y="2814737"/>
            <a:ext cx="4208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cs typeface="Arial" panose="020B0604020202020204" pitchFamily="34" charset="0"/>
              </a:rPr>
              <a:t>      0     -2      1        1        0      0     0</a:t>
            </a:r>
            <a:endParaRPr lang="en-US" altLang="zh-CN" sz="2000" b="1">
              <a:effectLst/>
            </a:endParaRPr>
          </a:p>
        </p:txBody>
      </p:sp>
      <p:sp>
        <p:nvSpPr>
          <p:cNvPr id="57" name="Rectangle 56"/>
          <p:cNvSpPr>
            <a:spLocks noChangeArrowheads="1"/>
          </p:cNvSpPr>
          <p:nvPr/>
        </p:nvSpPr>
        <p:spPr bwMode="auto">
          <a:xfrm>
            <a:off x="1582067" y="2814737"/>
            <a:ext cx="654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3</a:t>
            </a:r>
            <a:endParaRPr lang="en-US" altLang="zh-CN" sz="2000" b="1">
              <a:effectLst/>
            </a:endParaRPr>
          </a:p>
        </p:txBody>
      </p:sp>
      <p:sp>
        <p:nvSpPr>
          <p:cNvPr id="58" name="Rectangle 54"/>
          <p:cNvSpPr>
            <a:spLocks noChangeArrowheads="1"/>
          </p:cNvSpPr>
          <p:nvPr/>
        </p:nvSpPr>
        <p:spPr bwMode="auto">
          <a:xfrm>
            <a:off x="396205" y="2814737"/>
            <a:ext cx="1185862"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w</a:t>
            </a:r>
            <a:endParaRPr lang="en-US" altLang="zh-CN" sz="2000" b="1">
              <a:effectLst/>
            </a:endParaRPr>
          </a:p>
        </p:txBody>
      </p:sp>
      <p:sp>
        <p:nvSpPr>
          <p:cNvPr id="59" name="Rectangle 53"/>
          <p:cNvSpPr>
            <a:spLocks noChangeArrowheads="1"/>
          </p:cNvSpPr>
          <p:nvPr/>
        </p:nvSpPr>
        <p:spPr bwMode="auto">
          <a:xfrm>
            <a:off x="6444580" y="2449612"/>
            <a:ext cx="6477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3/1</a:t>
            </a:r>
            <a:endParaRPr lang="en-US" altLang="zh-CN" sz="2000" b="1">
              <a:effectLst/>
            </a:endParaRPr>
          </a:p>
        </p:txBody>
      </p:sp>
      <p:sp>
        <p:nvSpPr>
          <p:cNvPr id="60" name="Rectangle 52"/>
          <p:cNvSpPr>
            <a:spLocks noChangeArrowheads="1"/>
          </p:cNvSpPr>
          <p:nvPr/>
        </p:nvSpPr>
        <p:spPr bwMode="auto">
          <a:xfrm>
            <a:off x="2236117" y="2449612"/>
            <a:ext cx="4208463"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cs typeface="Arial" panose="020B0604020202020204" pitchFamily="34" charset="0"/>
              </a:rPr>
              <a:t>   0       1       0        0       1      0     0</a:t>
            </a:r>
            <a:endParaRPr lang="en-US" altLang="zh-CN" sz="2000" b="1">
              <a:effectLst/>
            </a:endParaRPr>
          </a:p>
        </p:txBody>
      </p:sp>
      <p:sp>
        <p:nvSpPr>
          <p:cNvPr id="61" name="Rectangle 51"/>
          <p:cNvSpPr>
            <a:spLocks noChangeArrowheads="1"/>
          </p:cNvSpPr>
          <p:nvPr/>
        </p:nvSpPr>
        <p:spPr bwMode="auto">
          <a:xfrm>
            <a:off x="1582067" y="2449612"/>
            <a:ext cx="65405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3</a:t>
            </a:r>
            <a:endParaRPr lang="en-US" altLang="zh-CN" sz="2000" b="1">
              <a:effectLst/>
            </a:endParaRPr>
          </a:p>
        </p:txBody>
      </p:sp>
      <p:sp>
        <p:nvSpPr>
          <p:cNvPr id="62" name="Rectangle 50"/>
          <p:cNvSpPr>
            <a:spLocks noChangeArrowheads="1"/>
          </p:cNvSpPr>
          <p:nvPr/>
        </p:nvSpPr>
        <p:spPr bwMode="auto">
          <a:xfrm>
            <a:off x="1002630" y="2449612"/>
            <a:ext cx="5794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x</a:t>
            </a:r>
            <a:r>
              <a:rPr lang="en-US" altLang="zh-CN" sz="2000" b="1" baseline="-30000">
                <a:effectLst/>
                <a:cs typeface="Arial" panose="020B0604020202020204" pitchFamily="34" charset="0"/>
              </a:rPr>
              <a:t>5</a:t>
            </a:r>
            <a:endParaRPr lang="en-US" altLang="zh-CN" sz="2000" b="1">
              <a:effectLst/>
            </a:endParaRPr>
          </a:p>
        </p:txBody>
      </p:sp>
      <p:sp>
        <p:nvSpPr>
          <p:cNvPr id="63" name="Rectangle 49"/>
          <p:cNvSpPr>
            <a:spLocks noChangeArrowheads="1"/>
          </p:cNvSpPr>
          <p:nvPr/>
        </p:nvSpPr>
        <p:spPr bwMode="auto">
          <a:xfrm>
            <a:off x="396205" y="2449612"/>
            <a:ext cx="6064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eaLnBrk="0" hangingPunct="0">
              <a:spcBef>
                <a:spcPct val="0"/>
              </a:spcBef>
              <a:buFontTx/>
              <a:buNone/>
            </a:pPr>
            <a:r>
              <a:rPr lang="en-US" altLang="zh-CN" sz="2000" b="1">
                <a:effectLst/>
                <a:cs typeface="Arial" panose="020B0604020202020204" pitchFamily="34" charset="0"/>
              </a:rPr>
              <a:t>0</a:t>
            </a:r>
            <a:endParaRPr lang="en-US" altLang="zh-CN" sz="2000" b="1">
              <a:effectLst/>
            </a:endParaRPr>
          </a:p>
        </p:txBody>
      </p:sp>
      <p:sp>
        <p:nvSpPr>
          <p:cNvPr id="64" name="Rectangle 47"/>
          <p:cNvSpPr>
            <a:spLocks noChangeArrowheads="1"/>
          </p:cNvSpPr>
          <p:nvPr/>
        </p:nvSpPr>
        <p:spPr bwMode="auto">
          <a:xfrm>
            <a:off x="2236117" y="1287562"/>
            <a:ext cx="42084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cs typeface="Arial" panose="020B0604020202020204" pitchFamily="34" charset="0"/>
              </a:rPr>
              <a:t>    x</a:t>
            </a:r>
            <a:r>
              <a:rPr lang="en-US" altLang="zh-CN" sz="2000" b="1" baseline="-30000">
                <a:effectLst/>
                <a:cs typeface="Arial" panose="020B0604020202020204" pitchFamily="34" charset="0"/>
              </a:rPr>
              <a:t>1</a:t>
            </a:r>
            <a:r>
              <a:rPr lang="en-US" altLang="zh-CN" sz="2000" b="1">
                <a:effectLst/>
                <a:cs typeface="Arial" panose="020B0604020202020204" pitchFamily="34" charset="0"/>
              </a:rPr>
              <a:t>      x</a:t>
            </a:r>
            <a:r>
              <a:rPr lang="en-US" altLang="zh-CN" sz="2000" b="1" baseline="-30000">
                <a:effectLst/>
                <a:cs typeface="Arial" panose="020B0604020202020204" pitchFamily="34" charset="0"/>
              </a:rPr>
              <a:t>2 </a:t>
            </a:r>
            <a:r>
              <a:rPr lang="en-US" altLang="zh-CN" sz="2000" b="1">
                <a:effectLst/>
                <a:cs typeface="Arial" panose="020B0604020202020204" pitchFamily="34" charset="0"/>
              </a:rPr>
              <a:t>     x</a:t>
            </a:r>
            <a:r>
              <a:rPr lang="en-US" altLang="zh-CN" sz="2000" b="1" baseline="-30000">
                <a:effectLst/>
                <a:cs typeface="Arial" panose="020B0604020202020204" pitchFamily="34" charset="0"/>
              </a:rPr>
              <a:t>3</a:t>
            </a:r>
            <a:r>
              <a:rPr lang="en-US" altLang="zh-CN" sz="2000" b="1">
                <a:effectLst/>
                <a:cs typeface="Arial" panose="020B0604020202020204" pitchFamily="34" charset="0"/>
              </a:rPr>
              <a:t>      x</a:t>
            </a:r>
            <a:r>
              <a:rPr lang="en-US" altLang="zh-CN" sz="2000" b="1" baseline="-30000">
                <a:effectLst/>
                <a:cs typeface="Arial" panose="020B0604020202020204" pitchFamily="34" charset="0"/>
              </a:rPr>
              <a:t>4</a:t>
            </a:r>
            <a:r>
              <a:rPr lang="en-US" altLang="zh-CN" sz="2000" b="1">
                <a:effectLst/>
                <a:cs typeface="Arial" panose="020B0604020202020204" pitchFamily="34" charset="0"/>
              </a:rPr>
              <a:t>     x</a:t>
            </a:r>
            <a:r>
              <a:rPr lang="en-US" altLang="zh-CN" sz="2000" b="1" baseline="-30000">
                <a:effectLst/>
                <a:cs typeface="Arial" panose="020B0604020202020204" pitchFamily="34" charset="0"/>
              </a:rPr>
              <a:t>5</a:t>
            </a:r>
            <a:r>
              <a:rPr lang="en-US" altLang="zh-CN" sz="2000" b="1">
                <a:effectLst/>
                <a:cs typeface="Arial" panose="020B0604020202020204" pitchFamily="34" charset="0"/>
              </a:rPr>
              <a:t>      x</a:t>
            </a:r>
            <a:r>
              <a:rPr lang="en-US" altLang="zh-CN" sz="2000" b="1" baseline="-30000">
                <a:effectLst/>
                <a:cs typeface="Arial" panose="020B0604020202020204" pitchFamily="34" charset="0"/>
              </a:rPr>
              <a:t>6</a:t>
            </a:r>
            <a:r>
              <a:rPr lang="en-US" altLang="zh-CN" sz="2000" b="1">
                <a:effectLst/>
                <a:cs typeface="Arial" panose="020B0604020202020204" pitchFamily="34" charset="0"/>
              </a:rPr>
              <a:t>     x</a:t>
            </a:r>
            <a:r>
              <a:rPr lang="en-US" altLang="zh-CN" sz="2000" b="1" baseline="-30000">
                <a:effectLst/>
                <a:cs typeface="Arial" panose="020B0604020202020204" pitchFamily="34" charset="0"/>
              </a:rPr>
              <a:t>7</a:t>
            </a:r>
            <a:endParaRPr lang="en-US" altLang="zh-CN" sz="2000" b="1">
              <a:effectLst/>
            </a:endParaRPr>
          </a:p>
        </p:txBody>
      </p:sp>
      <p:sp>
        <p:nvSpPr>
          <p:cNvPr id="65" name="Rectangle 46"/>
          <p:cNvSpPr>
            <a:spLocks noChangeArrowheads="1"/>
          </p:cNvSpPr>
          <p:nvPr/>
        </p:nvSpPr>
        <p:spPr bwMode="auto">
          <a:xfrm>
            <a:off x="1582067" y="1287562"/>
            <a:ext cx="6540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b</a:t>
            </a:r>
            <a:endParaRPr lang="en-US" altLang="zh-CN" sz="2000" b="1">
              <a:effectLst/>
            </a:endParaRPr>
          </a:p>
        </p:txBody>
      </p:sp>
      <p:sp>
        <p:nvSpPr>
          <p:cNvPr id="66" name="Rectangle 45"/>
          <p:cNvSpPr>
            <a:spLocks noChangeArrowheads="1"/>
          </p:cNvSpPr>
          <p:nvPr/>
        </p:nvSpPr>
        <p:spPr bwMode="auto">
          <a:xfrm>
            <a:off x="1002630" y="1287562"/>
            <a:ext cx="579437"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X</a:t>
            </a:r>
            <a:r>
              <a:rPr lang="en-US" altLang="zh-CN" sz="2000" b="1" baseline="-30000">
                <a:effectLst/>
                <a:cs typeface="Arial" panose="020B0604020202020204" pitchFamily="34" charset="0"/>
              </a:rPr>
              <a:t>B</a:t>
            </a:r>
            <a:endParaRPr lang="en-US" altLang="zh-CN" sz="2000" b="1">
              <a:effectLst/>
            </a:endParaRPr>
          </a:p>
        </p:txBody>
      </p:sp>
      <p:sp>
        <p:nvSpPr>
          <p:cNvPr id="67" name="Rectangle 44"/>
          <p:cNvSpPr>
            <a:spLocks noChangeArrowheads="1"/>
          </p:cNvSpPr>
          <p:nvPr/>
        </p:nvSpPr>
        <p:spPr bwMode="auto">
          <a:xfrm>
            <a:off x="396205" y="1287562"/>
            <a:ext cx="60642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C</a:t>
            </a:r>
            <a:r>
              <a:rPr lang="en-US" altLang="zh-CN" sz="2000" b="1" baseline="-30000">
                <a:effectLst/>
                <a:cs typeface="Arial" panose="020B0604020202020204" pitchFamily="34" charset="0"/>
              </a:rPr>
              <a:t>B</a:t>
            </a:r>
            <a:endParaRPr lang="en-US" altLang="zh-CN" sz="2000" b="1">
              <a:effectLst/>
            </a:endParaRPr>
          </a:p>
        </p:txBody>
      </p:sp>
      <p:sp>
        <p:nvSpPr>
          <p:cNvPr id="68" name="Rectangle 43"/>
          <p:cNvSpPr>
            <a:spLocks noChangeArrowheads="1"/>
          </p:cNvSpPr>
          <p:nvPr/>
        </p:nvSpPr>
        <p:spPr bwMode="auto">
          <a:xfrm>
            <a:off x="6444580" y="855762"/>
            <a:ext cx="6477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cs typeface="Arial" panose="020B0604020202020204" pitchFamily="34" charset="0"/>
              </a:rPr>
              <a:t>θ</a:t>
            </a:r>
            <a:endParaRPr lang="en-US" altLang="zh-CN" sz="2000" b="1">
              <a:effectLst/>
            </a:endParaRPr>
          </a:p>
        </p:txBody>
      </p:sp>
      <p:sp>
        <p:nvSpPr>
          <p:cNvPr id="69" name="Rectangle 42"/>
          <p:cNvSpPr>
            <a:spLocks noChangeArrowheads="1"/>
          </p:cNvSpPr>
          <p:nvPr/>
        </p:nvSpPr>
        <p:spPr bwMode="auto">
          <a:xfrm>
            <a:off x="2236117" y="855762"/>
            <a:ext cx="4208463"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solidFill>
                  <a:schemeClr val="accent2"/>
                </a:solidFill>
                <a:effectLst/>
                <a:cs typeface="Arial" panose="020B0604020202020204" pitchFamily="34" charset="0"/>
              </a:rPr>
              <a:t>     0       0       0       0       0       1      1</a:t>
            </a:r>
            <a:endParaRPr lang="en-US" altLang="zh-CN" sz="2000" b="1">
              <a:solidFill>
                <a:schemeClr val="accent2"/>
              </a:solidFill>
              <a:effectLst/>
            </a:endParaRPr>
          </a:p>
        </p:txBody>
      </p:sp>
      <p:sp>
        <p:nvSpPr>
          <p:cNvPr id="70" name="Rectangle 39"/>
          <p:cNvSpPr>
            <a:spLocks noChangeArrowheads="1"/>
          </p:cNvSpPr>
          <p:nvPr/>
        </p:nvSpPr>
        <p:spPr bwMode="auto">
          <a:xfrm>
            <a:off x="396205" y="855762"/>
            <a:ext cx="183991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solidFill>
                  <a:schemeClr val="accent2"/>
                </a:solidFill>
                <a:effectLst/>
                <a:cs typeface="Arial" panose="020B0604020202020204" pitchFamily="34" charset="0"/>
              </a:rPr>
              <a:t>C</a:t>
            </a:r>
            <a:endParaRPr lang="en-US" altLang="zh-CN" sz="2000" b="1">
              <a:solidFill>
                <a:schemeClr val="accent2"/>
              </a:solidFill>
              <a:effectLst/>
            </a:endParaRPr>
          </a:p>
        </p:txBody>
      </p:sp>
      <p:sp>
        <p:nvSpPr>
          <p:cNvPr id="71" name="Line 85"/>
          <p:cNvSpPr>
            <a:spLocks noChangeShapeType="1"/>
          </p:cNvSpPr>
          <p:nvPr/>
        </p:nvSpPr>
        <p:spPr bwMode="auto">
          <a:xfrm>
            <a:off x="396205" y="1287562"/>
            <a:ext cx="60483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2" name="Line 89"/>
          <p:cNvSpPr>
            <a:spLocks noChangeShapeType="1"/>
          </p:cNvSpPr>
          <p:nvPr/>
        </p:nvSpPr>
        <p:spPr bwMode="auto">
          <a:xfrm>
            <a:off x="2236117" y="855762"/>
            <a:ext cx="0" cy="534987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3" name="Line 92"/>
          <p:cNvSpPr>
            <a:spLocks noChangeShapeType="1"/>
          </p:cNvSpPr>
          <p:nvPr/>
        </p:nvSpPr>
        <p:spPr bwMode="auto">
          <a:xfrm>
            <a:off x="6444580" y="855762"/>
            <a:ext cx="0" cy="534987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4" name="Line 98"/>
          <p:cNvSpPr>
            <a:spLocks noChangeShapeType="1"/>
          </p:cNvSpPr>
          <p:nvPr/>
        </p:nvSpPr>
        <p:spPr bwMode="auto">
          <a:xfrm>
            <a:off x="1002630" y="1287562"/>
            <a:ext cx="0" cy="152717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5" name="Line 102"/>
          <p:cNvSpPr>
            <a:spLocks noChangeShapeType="1"/>
          </p:cNvSpPr>
          <p:nvPr/>
        </p:nvSpPr>
        <p:spPr bwMode="auto">
          <a:xfrm>
            <a:off x="1582067" y="1287562"/>
            <a:ext cx="0" cy="491807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6" name="Line 112"/>
          <p:cNvSpPr>
            <a:spLocks noChangeShapeType="1"/>
          </p:cNvSpPr>
          <p:nvPr/>
        </p:nvSpPr>
        <p:spPr bwMode="auto">
          <a:xfrm>
            <a:off x="396205" y="2814737"/>
            <a:ext cx="66960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7" name="Line 156"/>
          <p:cNvSpPr>
            <a:spLocks noChangeShapeType="1"/>
          </p:cNvSpPr>
          <p:nvPr/>
        </p:nvSpPr>
        <p:spPr bwMode="auto">
          <a:xfrm>
            <a:off x="396205" y="4345087"/>
            <a:ext cx="66960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8" name="Line 158"/>
          <p:cNvSpPr>
            <a:spLocks noChangeShapeType="1"/>
          </p:cNvSpPr>
          <p:nvPr/>
        </p:nvSpPr>
        <p:spPr bwMode="auto">
          <a:xfrm>
            <a:off x="1002630" y="3179862"/>
            <a:ext cx="0" cy="116522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79" name="Line 199"/>
          <p:cNvSpPr>
            <a:spLocks noChangeShapeType="1"/>
          </p:cNvSpPr>
          <p:nvPr/>
        </p:nvSpPr>
        <p:spPr bwMode="auto">
          <a:xfrm>
            <a:off x="396205" y="5840512"/>
            <a:ext cx="66960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0" name="Line 201"/>
          <p:cNvSpPr>
            <a:spLocks noChangeShapeType="1"/>
          </p:cNvSpPr>
          <p:nvPr/>
        </p:nvSpPr>
        <p:spPr bwMode="auto">
          <a:xfrm>
            <a:off x="1002630" y="4710212"/>
            <a:ext cx="0" cy="11303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1" name="Line 3"/>
          <p:cNvSpPr>
            <a:spLocks noChangeShapeType="1"/>
          </p:cNvSpPr>
          <p:nvPr/>
        </p:nvSpPr>
        <p:spPr bwMode="auto">
          <a:xfrm>
            <a:off x="396205" y="2084487"/>
            <a:ext cx="66960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2" name="Line 15"/>
          <p:cNvSpPr>
            <a:spLocks noChangeShapeType="1"/>
          </p:cNvSpPr>
          <p:nvPr/>
        </p:nvSpPr>
        <p:spPr bwMode="auto">
          <a:xfrm>
            <a:off x="396205" y="2449612"/>
            <a:ext cx="66960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3" name="Line 35"/>
          <p:cNvSpPr>
            <a:spLocks noChangeShapeType="1"/>
          </p:cNvSpPr>
          <p:nvPr/>
        </p:nvSpPr>
        <p:spPr bwMode="auto">
          <a:xfrm>
            <a:off x="396205" y="3614837"/>
            <a:ext cx="66960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4" name="Line 49"/>
          <p:cNvSpPr>
            <a:spLocks noChangeShapeType="1"/>
          </p:cNvSpPr>
          <p:nvPr/>
        </p:nvSpPr>
        <p:spPr bwMode="auto">
          <a:xfrm>
            <a:off x="396205" y="3979962"/>
            <a:ext cx="66960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5" name="Line 69"/>
          <p:cNvSpPr>
            <a:spLocks noChangeShapeType="1"/>
          </p:cNvSpPr>
          <p:nvPr/>
        </p:nvSpPr>
        <p:spPr bwMode="auto">
          <a:xfrm>
            <a:off x="396205" y="5075337"/>
            <a:ext cx="66960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6" name="Line 84"/>
          <p:cNvSpPr>
            <a:spLocks noChangeShapeType="1"/>
          </p:cNvSpPr>
          <p:nvPr/>
        </p:nvSpPr>
        <p:spPr bwMode="auto">
          <a:xfrm>
            <a:off x="396205" y="5440462"/>
            <a:ext cx="66960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7" name="Line 79"/>
          <p:cNvSpPr>
            <a:spLocks noChangeShapeType="1"/>
          </p:cNvSpPr>
          <p:nvPr/>
        </p:nvSpPr>
        <p:spPr bwMode="auto">
          <a:xfrm>
            <a:off x="396205" y="855762"/>
            <a:ext cx="669607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8" name="Line 81"/>
          <p:cNvSpPr>
            <a:spLocks noChangeShapeType="1"/>
          </p:cNvSpPr>
          <p:nvPr/>
        </p:nvSpPr>
        <p:spPr bwMode="auto">
          <a:xfrm>
            <a:off x="396205" y="855762"/>
            <a:ext cx="0" cy="534987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89" name="Line 82"/>
          <p:cNvSpPr>
            <a:spLocks noChangeShapeType="1"/>
          </p:cNvSpPr>
          <p:nvPr/>
        </p:nvSpPr>
        <p:spPr bwMode="auto">
          <a:xfrm>
            <a:off x="7092280" y="855762"/>
            <a:ext cx="0" cy="5349875"/>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0" name="Line 80"/>
          <p:cNvSpPr>
            <a:spLocks noChangeShapeType="1"/>
          </p:cNvSpPr>
          <p:nvPr/>
        </p:nvSpPr>
        <p:spPr bwMode="auto">
          <a:xfrm>
            <a:off x="396205" y="6205637"/>
            <a:ext cx="669607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1" name="Line 96"/>
          <p:cNvSpPr>
            <a:spLocks noChangeShapeType="1"/>
          </p:cNvSpPr>
          <p:nvPr/>
        </p:nvSpPr>
        <p:spPr bwMode="auto">
          <a:xfrm>
            <a:off x="396205" y="1719362"/>
            <a:ext cx="669607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2" name="Line 135"/>
          <p:cNvSpPr>
            <a:spLocks noChangeShapeType="1"/>
          </p:cNvSpPr>
          <p:nvPr/>
        </p:nvSpPr>
        <p:spPr bwMode="auto">
          <a:xfrm>
            <a:off x="396205" y="3179862"/>
            <a:ext cx="669607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3" name="Line 178"/>
          <p:cNvSpPr>
            <a:spLocks noChangeShapeType="1"/>
          </p:cNvSpPr>
          <p:nvPr/>
        </p:nvSpPr>
        <p:spPr bwMode="auto">
          <a:xfrm>
            <a:off x="396205" y="4710212"/>
            <a:ext cx="669607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94" name="Text Box 253"/>
          <p:cNvSpPr txBox="1">
            <a:spLocks noChangeArrowheads="1"/>
          </p:cNvSpPr>
          <p:nvPr/>
        </p:nvSpPr>
        <p:spPr bwMode="auto">
          <a:xfrm>
            <a:off x="7162450" y="933619"/>
            <a:ext cx="164088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000" b="1" dirty="0">
                <a:effectLst/>
                <a:ea typeface="楷体_GB2312" pitchFamily="49" charset="-122"/>
              </a:rPr>
              <a:t>辅助规划</a:t>
            </a:r>
            <a:endParaRPr lang="en-US" altLang="zh-CN" sz="2000" b="1" dirty="0">
              <a:effectLst/>
              <a:ea typeface="楷体_GB2312" pitchFamily="49" charset="-122"/>
            </a:endParaRPr>
          </a:p>
          <a:p>
            <a:pPr algn="l"/>
            <a:r>
              <a:rPr lang="zh-CN" altLang="en-US" sz="2000" b="1" dirty="0">
                <a:effectLst/>
                <a:ea typeface="楷体_GB2312" pitchFamily="49" charset="-122"/>
              </a:rPr>
              <a:t>所有检验数：　　　　　</a:t>
            </a:r>
            <a:endParaRPr lang="zh-CN" altLang="en-US" sz="2000" b="1" dirty="0">
              <a:effectLst/>
              <a:ea typeface="楷体_GB2312" pitchFamily="49" charset="-122"/>
            </a:endParaRPr>
          </a:p>
        </p:txBody>
      </p:sp>
      <p:graphicFrame>
        <p:nvGraphicFramePr>
          <p:cNvPr id="95" name="Object 255"/>
          <p:cNvGraphicFramePr>
            <a:graphicFrameLocks noChangeAspect="1"/>
          </p:cNvGraphicFramePr>
          <p:nvPr/>
        </p:nvGraphicFramePr>
        <p:xfrm>
          <a:off x="7177894" y="2065854"/>
          <a:ext cx="1508125" cy="371475"/>
        </p:xfrm>
        <a:graphic>
          <a:graphicData uri="http://schemas.openxmlformats.org/presentationml/2006/ole">
            <mc:AlternateContent xmlns:mc="http://schemas.openxmlformats.org/markup-compatibility/2006">
              <mc:Choice xmlns:v="urn:schemas-microsoft-com:vml" Requires="v">
                <p:oleObj spid="_x0000_s9217" name="Equation" r:id="rId1" imgW="14325600" imgH="4267200" progId="Equation.DSMT4">
                  <p:embed/>
                </p:oleObj>
              </mc:Choice>
              <mc:Fallback>
                <p:oleObj name="Equation" r:id="rId1" imgW="14325600" imgH="4267200" progId="Equation.DSMT4">
                  <p:embed/>
                  <p:pic>
                    <p:nvPicPr>
                      <p:cNvPr id="0" name="图片 9216"/>
                      <p:cNvPicPr>
                        <a:picLocks noChangeAspect="1"/>
                      </p:cNvPicPr>
                      <p:nvPr/>
                    </p:nvPicPr>
                    <p:blipFill>
                      <a:blip r:embed="rId2"/>
                      <a:stretch>
                        <a:fillRect/>
                      </a:stretch>
                    </p:blipFill>
                    <p:spPr>
                      <a:xfrm>
                        <a:off x="7177894" y="2065854"/>
                        <a:ext cx="1508125" cy="371475"/>
                      </a:xfrm>
                      <a:prstGeom prst="rect">
                        <a:avLst/>
                      </a:prstGeom>
                      <a:noFill/>
                      <a:ln w="9525">
                        <a:noFill/>
                      </a:ln>
                    </p:spPr>
                  </p:pic>
                </p:oleObj>
              </mc:Fallback>
            </mc:AlternateContent>
          </a:graphicData>
        </a:graphic>
      </p:graphicFrame>
      <p:graphicFrame>
        <p:nvGraphicFramePr>
          <p:cNvPr id="96" name="Object 256"/>
          <p:cNvGraphicFramePr>
            <a:graphicFrameLocks noChangeAspect="1"/>
          </p:cNvGraphicFramePr>
          <p:nvPr/>
        </p:nvGraphicFramePr>
        <p:xfrm>
          <a:off x="7093191" y="4322019"/>
          <a:ext cx="2119312" cy="663575"/>
        </p:xfrm>
        <a:graphic>
          <a:graphicData uri="http://schemas.openxmlformats.org/presentationml/2006/ole">
            <mc:AlternateContent xmlns:mc="http://schemas.openxmlformats.org/markup-compatibility/2006">
              <mc:Choice xmlns:v="urn:schemas-microsoft-com:vml" Requires="v">
                <p:oleObj spid="_x0000_s9218" name="Equation" r:id="rId3" imgW="24993600" imgH="9448800" progId="Equation.DSMT4">
                  <p:embed/>
                </p:oleObj>
              </mc:Choice>
              <mc:Fallback>
                <p:oleObj name="Equation" r:id="rId3" imgW="24993600" imgH="9448800" progId="Equation.DSMT4">
                  <p:embed/>
                  <p:pic>
                    <p:nvPicPr>
                      <p:cNvPr id="0" name="图片 9217"/>
                      <p:cNvPicPr>
                        <a:picLocks noChangeAspect="1"/>
                      </p:cNvPicPr>
                      <p:nvPr/>
                    </p:nvPicPr>
                    <p:blipFill>
                      <a:blip r:embed="rId4"/>
                      <a:stretch>
                        <a:fillRect/>
                      </a:stretch>
                    </p:blipFill>
                    <p:spPr>
                      <a:xfrm>
                        <a:off x="7093191" y="4322019"/>
                        <a:ext cx="2119312" cy="663575"/>
                      </a:xfrm>
                      <a:prstGeom prst="rect">
                        <a:avLst/>
                      </a:prstGeom>
                      <a:noFill/>
                      <a:ln w="9525">
                        <a:noFill/>
                      </a:ln>
                    </p:spPr>
                  </p:pic>
                </p:oleObj>
              </mc:Fallback>
            </mc:AlternateContent>
          </a:graphicData>
        </a:graphic>
      </p:graphicFrame>
      <p:sp>
        <p:nvSpPr>
          <p:cNvPr id="97" name="Rectangle 443"/>
          <p:cNvSpPr>
            <a:spLocks noChangeArrowheads="1"/>
          </p:cNvSpPr>
          <p:nvPr/>
        </p:nvSpPr>
        <p:spPr bwMode="auto">
          <a:xfrm>
            <a:off x="7177894" y="3066761"/>
            <a:ext cx="187600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zh-CN" altLang="en-US" sz="2000" b="1" dirty="0">
                <a:effectLst/>
                <a:ea typeface="楷体_GB2312" pitchFamily="49" charset="-122"/>
              </a:rPr>
              <a:t>原问题已得</a:t>
            </a:r>
            <a:endParaRPr lang="en-US" altLang="zh-CN" sz="2000" b="1" dirty="0">
              <a:effectLst/>
              <a:ea typeface="楷体_GB2312" pitchFamily="49" charset="-122"/>
            </a:endParaRPr>
          </a:p>
          <a:p>
            <a:pPr algn="l"/>
            <a:r>
              <a:rPr lang="zh-CN" altLang="en-US" sz="2000" b="1" dirty="0">
                <a:effectLst/>
                <a:ea typeface="楷体_GB2312" pitchFamily="49" charset="-122"/>
              </a:rPr>
              <a:t>一个初始基本</a:t>
            </a:r>
            <a:endParaRPr lang="en-US" altLang="zh-CN" sz="2000" b="1" dirty="0">
              <a:effectLst/>
              <a:ea typeface="楷体_GB2312" pitchFamily="49" charset="-122"/>
            </a:endParaRPr>
          </a:p>
          <a:p>
            <a:pPr algn="l"/>
            <a:r>
              <a:rPr lang="zh-CN" altLang="en-US" sz="2000" b="1" dirty="0">
                <a:effectLst/>
                <a:ea typeface="楷体_GB2312" pitchFamily="49" charset="-122"/>
              </a:rPr>
              <a:t>可行解，</a:t>
            </a:r>
            <a:endParaRPr lang="zh-CN" altLang="en-US" sz="2000" b="1" dirty="0">
              <a:effectLst/>
              <a:ea typeface="楷体_GB2312" pitchFamily="49" charset="-122"/>
            </a:endParaRPr>
          </a:p>
        </p:txBody>
      </p:sp>
      <p:sp>
        <p:nvSpPr>
          <p:cNvPr id="98" name="Oval 445"/>
          <p:cNvSpPr>
            <a:spLocks noChangeArrowheads="1"/>
          </p:cNvSpPr>
          <p:nvPr/>
        </p:nvSpPr>
        <p:spPr bwMode="auto">
          <a:xfrm flipV="1">
            <a:off x="3347367" y="2152750"/>
            <a:ext cx="73025" cy="71437"/>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p>
            <a:pPr algn="dist"/>
            <a:endParaRPr lang="x-none" altLang="x-none" sz="2000" b="1">
              <a:effectLst/>
            </a:endParaRPr>
          </a:p>
        </p:txBody>
      </p:sp>
      <p:sp>
        <p:nvSpPr>
          <p:cNvPr id="99" name="Oval 446"/>
          <p:cNvSpPr>
            <a:spLocks noChangeArrowheads="1"/>
          </p:cNvSpPr>
          <p:nvPr/>
        </p:nvSpPr>
        <p:spPr bwMode="auto">
          <a:xfrm flipV="1">
            <a:off x="2844130" y="3232250"/>
            <a:ext cx="73025" cy="71437"/>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100" name="Rectangle 447"/>
          <p:cNvSpPr>
            <a:spLocks noChangeArrowheads="1"/>
          </p:cNvSpPr>
          <p:nvPr/>
        </p:nvSpPr>
        <p:spPr bwMode="auto">
          <a:xfrm>
            <a:off x="5796880" y="3160812"/>
            <a:ext cx="647700" cy="3024188"/>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101" name="Rectangle 448"/>
          <p:cNvSpPr>
            <a:spLocks noChangeArrowheads="1"/>
          </p:cNvSpPr>
          <p:nvPr/>
        </p:nvSpPr>
        <p:spPr bwMode="auto">
          <a:xfrm>
            <a:off x="5220617" y="4672112"/>
            <a:ext cx="577850" cy="1512888"/>
          </a:xfrm>
          <a:prstGeom prst="rect">
            <a:avLst/>
          </a:prstGeom>
          <a:solidFill>
            <a:srgbClr val="CCFFFF"/>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graphicFrame>
        <p:nvGraphicFramePr>
          <p:cNvPr id="102" name="Object 449"/>
          <p:cNvGraphicFramePr>
            <a:graphicFrameLocks noChangeAspect="1"/>
          </p:cNvGraphicFramePr>
          <p:nvPr/>
        </p:nvGraphicFramePr>
        <p:xfrm>
          <a:off x="7224043" y="1673035"/>
          <a:ext cx="2244725" cy="341313"/>
        </p:xfrm>
        <a:graphic>
          <a:graphicData uri="http://schemas.openxmlformats.org/presentationml/2006/ole">
            <mc:AlternateContent xmlns:mc="http://schemas.openxmlformats.org/markup-compatibility/2006">
              <mc:Choice xmlns:v="urn:schemas-microsoft-com:vml" Requires="v">
                <p:oleObj spid="_x0000_s9219" name="公式" r:id="rId5" imgW="36271200" imgH="5486400" progId="Equation.3">
                  <p:embed/>
                </p:oleObj>
              </mc:Choice>
              <mc:Fallback>
                <p:oleObj name="公式" r:id="rId5" imgW="36271200" imgH="5486400" progId="Equation.3">
                  <p:embed/>
                  <p:pic>
                    <p:nvPicPr>
                      <p:cNvPr id="0" name="图片 9218"/>
                      <p:cNvPicPr>
                        <a:picLocks noChangeAspect="1"/>
                      </p:cNvPicPr>
                      <p:nvPr/>
                    </p:nvPicPr>
                    <p:blipFill>
                      <a:blip r:embed="rId6"/>
                      <a:stretch>
                        <a:fillRect/>
                      </a:stretch>
                    </p:blipFill>
                    <p:spPr>
                      <a:xfrm>
                        <a:off x="7224043" y="1673035"/>
                        <a:ext cx="2244725" cy="341313"/>
                      </a:xfrm>
                      <a:prstGeom prst="rect">
                        <a:avLst/>
                      </a:prstGeom>
                      <a:noFill/>
                      <a:ln w="9525">
                        <a:noFill/>
                      </a:ln>
                    </p:spPr>
                  </p:pic>
                </p:oleObj>
              </mc:Fallback>
            </mc:AlternateContent>
          </a:graphicData>
        </a:graphic>
      </p:graphicFrame>
      <p:sp>
        <p:nvSpPr>
          <p:cNvPr id="103" name="Text Box 450"/>
          <p:cNvSpPr txBox="1">
            <a:spLocks noChangeArrowheads="1"/>
          </p:cNvSpPr>
          <p:nvPr/>
        </p:nvSpPr>
        <p:spPr bwMode="auto">
          <a:xfrm>
            <a:off x="-119831" y="836712"/>
            <a:ext cx="587375" cy="1349375"/>
          </a:xfrm>
          <a:prstGeom prst="rect">
            <a:avLst/>
          </a:prstGeom>
          <a:noFill/>
          <a:ln w="38100" algn="ctr">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r>
              <a:rPr lang="zh-CN" altLang="en-US">
                <a:effectLst>
                  <a:outerShdw blurRad="38100" dist="38100" dir="2700000" algn="tl">
                    <a:srgbClr val="C0C0C0"/>
                  </a:outerShdw>
                </a:effectLst>
              </a:rPr>
              <a:t>第一阶段</a:t>
            </a:r>
            <a:endParaRPr lang="zh-CN" altLang="en-US">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blinds(horizontal)">
                                      <p:cBhvr>
                                        <p:cTn id="7" dur="500"/>
                                        <p:tgtEl>
                                          <p:spTgt spid="6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blinds(horizontal)">
                                      <p:cBhvr>
                                        <p:cTn id="12" dur="500"/>
                                        <p:tgtEl>
                                          <p:spTgt spid="3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linds(horizontal)">
                                      <p:cBhvr>
                                        <p:cTn id="15" dur="500"/>
                                        <p:tgtEl>
                                          <p:spTgt spid="3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blinds(horizontal)">
                                      <p:cBhvr>
                                        <p:cTn id="18" dur="500"/>
                                        <p:tgtEl>
                                          <p:spTgt spid="2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blinds(horizontal)">
                                      <p:cBhvr>
                                        <p:cTn id="21" dur="500"/>
                                        <p:tgtEl>
                                          <p:spTgt spid="27"/>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1"/>
                                        </p:tgtEl>
                                        <p:attrNameLst>
                                          <p:attrName>style.visibility</p:attrName>
                                        </p:attrNameLst>
                                      </p:cBhvr>
                                      <p:to>
                                        <p:strVal val="visible"/>
                                      </p:to>
                                    </p:set>
                                    <p:animEffect transition="in" filter="blinds(horizontal)">
                                      <p:cBhvr>
                                        <p:cTn id="24" dur="500"/>
                                        <p:tgtEl>
                                          <p:spTgt spid="61"/>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blinds(horizontal)">
                                      <p:cBhvr>
                                        <p:cTn id="27" dur="500"/>
                                        <p:tgtEl>
                                          <p:spTgt spid="6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blinds(horizontal)">
                                      <p:cBhvr>
                                        <p:cTn id="32" dur="500"/>
                                        <p:tgtEl>
                                          <p:spTgt spid="35"/>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blinds(horizontal)">
                                      <p:cBhvr>
                                        <p:cTn id="35" dur="500"/>
                                        <p:tgtEl>
                                          <p:spTgt spid="29"/>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62"/>
                                        </p:tgtEl>
                                        <p:attrNameLst>
                                          <p:attrName>style.visibility</p:attrName>
                                        </p:attrNameLst>
                                      </p:cBhvr>
                                      <p:to>
                                        <p:strVal val="visible"/>
                                      </p:to>
                                    </p:set>
                                    <p:animEffect transition="in" filter="blinds(horizontal)">
                                      <p:cBhvr>
                                        <p:cTn id="38" dur="500"/>
                                        <p:tgtEl>
                                          <p:spTgt spid="62"/>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blinds(horizontal)">
                                      <p:cBhvr>
                                        <p:cTn id="43" dur="500"/>
                                        <p:tgtEl>
                                          <p:spTgt spid="36"/>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blinds(horizontal)">
                                      <p:cBhvr>
                                        <p:cTn id="46" dur="500"/>
                                        <p:tgtEl>
                                          <p:spTgt spid="30"/>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animEffect transition="in" filter="blinds(horizontal)">
                                      <p:cBhvr>
                                        <p:cTn id="49" dur="500"/>
                                        <p:tgtEl>
                                          <p:spTgt spid="63"/>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blinds(horizontal)">
                                      <p:cBhvr>
                                        <p:cTn id="54" dur="500"/>
                                        <p:tgtEl>
                                          <p:spTgt spid="57"/>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blinds(horizontal)">
                                      <p:cBhvr>
                                        <p:cTn id="59" dur="500"/>
                                        <p:tgtEl>
                                          <p:spTgt spid="56"/>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2"/>
                                        </p:tgtEl>
                                        <p:attrNameLst>
                                          <p:attrName>style.visibility</p:attrName>
                                        </p:attrNameLst>
                                      </p:cBhvr>
                                      <p:to>
                                        <p:strVal val="visible"/>
                                      </p:to>
                                    </p:set>
                                    <p:animEffect transition="in" filter="blinds(horizontal)">
                                      <p:cBhvr>
                                        <p:cTn id="64" dur="500"/>
                                        <p:tgtEl>
                                          <p:spTgt spid="32"/>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blinds(horizontal)">
                                      <p:cBhvr>
                                        <p:cTn id="67" dur="500"/>
                                        <p:tgtEl>
                                          <p:spTgt spid="26"/>
                                        </p:tgtEl>
                                      </p:cBhvr>
                                    </p:animEffect>
                                  </p:childTnLst>
                                </p:cTn>
                              </p:par>
                              <p:par>
                                <p:cTn id="68" presetID="3" presetClass="entr" presetSubtype="10" fill="hold" grpId="0" nodeType="withEffect">
                                  <p:stCondLst>
                                    <p:cond delay="0"/>
                                  </p:stCondLst>
                                  <p:childTnLst>
                                    <p:set>
                                      <p:cBhvr>
                                        <p:cTn id="69" dur="1" fill="hold">
                                          <p:stCondLst>
                                            <p:cond delay="0"/>
                                          </p:stCondLst>
                                        </p:cTn>
                                        <p:tgtEl>
                                          <p:spTgt spid="59"/>
                                        </p:tgtEl>
                                        <p:attrNameLst>
                                          <p:attrName>style.visibility</p:attrName>
                                        </p:attrNameLst>
                                      </p:cBhvr>
                                      <p:to>
                                        <p:strVal val="visible"/>
                                      </p:to>
                                    </p:set>
                                    <p:animEffect transition="in" filter="blinds(horizontal)">
                                      <p:cBhvr>
                                        <p:cTn id="70" dur="500"/>
                                        <p:tgtEl>
                                          <p:spTgt spid="59"/>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98"/>
                                        </p:tgtEl>
                                        <p:attrNameLst>
                                          <p:attrName>style.visibility</p:attrName>
                                        </p:attrNameLst>
                                      </p:cBhvr>
                                      <p:to>
                                        <p:strVal val="visible"/>
                                      </p:to>
                                    </p:set>
                                    <p:animEffect transition="in" filter="blinds(horizontal)">
                                      <p:cBhvr>
                                        <p:cTn id="75" dur="500"/>
                                        <p:tgtEl>
                                          <p:spTgt spid="98"/>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blinds(horizontal)">
                                      <p:cBhvr>
                                        <p:cTn id="80" dur="500"/>
                                        <p:tgtEl>
                                          <p:spTgt spid="24"/>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blinds(horizontal)">
                                      <p:cBhvr>
                                        <p:cTn id="83" dur="500"/>
                                        <p:tgtEl>
                                          <p:spTgt spid="19"/>
                                        </p:tgtEl>
                                      </p:cBhvr>
                                    </p:animEffect>
                                  </p:childTnLst>
                                </p:cTn>
                              </p:par>
                              <p:par>
                                <p:cTn id="84" presetID="3" presetClass="entr" presetSubtype="10" fill="hold" grpId="0" nodeType="withEffect">
                                  <p:stCondLst>
                                    <p:cond delay="0"/>
                                  </p:stCondLst>
                                  <p:childTnLst>
                                    <p:set>
                                      <p:cBhvr>
                                        <p:cTn id="85" dur="1" fill="hold">
                                          <p:stCondLst>
                                            <p:cond delay="0"/>
                                          </p:stCondLst>
                                        </p:cTn>
                                        <p:tgtEl>
                                          <p:spTgt spid="53"/>
                                        </p:tgtEl>
                                        <p:attrNameLst>
                                          <p:attrName>style.visibility</p:attrName>
                                        </p:attrNameLst>
                                      </p:cBhvr>
                                      <p:to>
                                        <p:strVal val="visible"/>
                                      </p:to>
                                    </p:set>
                                    <p:animEffect transition="in" filter="blinds(horizontal)">
                                      <p:cBhvr>
                                        <p:cTn id="86" dur="500"/>
                                        <p:tgtEl>
                                          <p:spTgt spid="53"/>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blinds(horizontal)">
                                      <p:cBhvr>
                                        <p:cTn id="91" dur="500"/>
                                        <p:tgtEl>
                                          <p:spTgt spid="25"/>
                                        </p:tgtEl>
                                      </p:cBhvr>
                                    </p:animEffect>
                                  </p:childTnLst>
                                </p:cTn>
                              </p:par>
                              <p:par>
                                <p:cTn id="92" presetID="3" presetClass="entr" presetSubtype="10" fill="hold" grpId="0" nodeType="with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blinds(horizontal)">
                                      <p:cBhvr>
                                        <p:cTn id="94" dur="500"/>
                                        <p:tgtEl>
                                          <p:spTgt spid="20"/>
                                        </p:tgtEl>
                                      </p:cBhvr>
                                    </p:animEffect>
                                  </p:childTnLst>
                                </p:cTn>
                              </p:par>
                              <p:par>
                                <p:cTn id="95" presetID="3" presetClass="entr" presetSubtype="10" fill="hold" grpId="0" nodeType="withEffect">
                                  <p:stCondLst>
                                    <p:cond delay="0"/>
                                  </p:stCondLst>
                                  <p:childTnLst>
                                    <p:set>
                                      <p:cBhvr>
                                        <p:cTn id="96" dur="1" fill="hold">
                                          <p:stCondLst>
                                            <p:cond delay="0"/>
                                          </p:stCondLst>
                                        </p:cTn>
                                        <p:tgtEl>
                                          <p:spTgt spid="54"/>
                                        </p:tgtEl>
                                        <p:attrNameLst>
                                          <p:attrName>style.visibility</p:attrName>
                                        </p:attrNameLst>
                                      </p:cBhvr>
                                      <p:to>
                                        <p:strVal val="visible"/>
                                      </p:to>
                                    </p:set>
                                    <p:animEffect transition="in" filter="blinds(horizontal)">
                                      <p:cBhvr>
                                        <p:cTn id="97" dur="500"/>
                                        <p:tgtEl>
                                          <p:spTgt spid="54"/>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grpId="0" nodeType="clickEffect">
                                  <p:stCondLst>
                                    <p:cond delay="0"/>
                                  </p:stCondLst>
                                  <p:childTnLst>
                                    <p:set>
                                      <p:cBhvr>
                                        <p:cTn id="101" dur="1" fill="hold">
                                          <p:stCondLst>
                                            <p:cond delay="0"/>
                                          </p:stCondLst>
                                        </p:cTn>
                                        <p:tgtEl>
                                          <p:spTgt spid="18"/>
                                        </p:tgtEl>
                                        <p:attrNameLst>
                                          <p:attrName>style.visibility</p:attrName>
                                        </p:attrNameLst>
                                      </p:cBhvr>
                                      <p:to>
                                        <p:strVal val="visible"/>
                                      </p:to>
                                    </p:set>
                                    <p:animEffect transition="in" filter="blinds(horizontal)">
                                      <p:cBhvr>
                                        <p:cTn id="102" dur="500"/>
                                        <p:tgtEl>
                                          <p:spTgt spid="18"/>
                                        </p:tgtEl>
                                      </p:cBhvr>
                                    </p:animEffect>
                                  </p:childTnLst>
                                </p:cTn>
                              </p:par>
                              <p:par>
                                <p:cTn id="103" presetID="3" presetClass="entr" presetSubtype="10" fill="hold" grpId="0" nodeType="withEffect">
                                  <p:stCondLst>
                                    <p:cond delay="0"/>
                                  </p:stCondLst>
                                  <p:childTnLst>
                                    <p:set>
                                      <p:cBhvr>
                                        <p:cTn id="104" dur="1" fill="hold">
                                          <p:stCondLst>
                                            <p:cond delay="0"/>
                                          </p:stCondLst>
                                        </p:cTn>
                                        <p:tgtEl>
                                          <p:spTgt spid="17"/>
                                        </p:tgtEl>
                                        <p:attrNameLst>
                                          <p:attrName>style.visibility</p:attrName>
                                        </p:attrNameLst>
                                      </p:cBhvr>
                                      <p:to>
                                        <p:strVal val="visible"/>
                                      </p:to>
                                    </p:set>
                                    <p:animEffect transition="in" filter="blinds(horizontal)">
                                      <p:cBhvr>
                                        <p:cTn id="105" dur="500"/>
                                        <p:tgtEl>
                                          <p:spTgt spid="17"/>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grpId="0" nodeType="clickEffect">
                                  <p:stCondLst>
                                    <p:cond delay="0"/>
                                  </p:stCondLst>
                                  <p:childTnLst>
                                    <p:set>
                                      <p:cBhvr>
                                        <p:cTn id="109" dur="1" fill="hold">
                                          <p:stCondLst>
                                            <p:cond delay="0"/>
                                          </p:stCondLst>
                                        </p:cTn>
                                        <p:tgtEl>
                                          <p:spTgt spid="23"/>
                                        </p:tgtEl>
                                        <p:attrNameLst>
                                          <p:attrName>style.visibility</p:attrName>
                                        </p:attrNameLst>
                                      </p:cBhvr>
                                      <p:to>
                                        <p:strVal val="visible"/>
                                      </p:to>
                                    </p:set>
                                    <p:animEffect transition="in" filter="blinds(horizontal)">
                                      <p:cBhvr>
                                        <p:cTn id="110" dur="500"/>
                                        <p:tgtEl>
                                          <p:spTgt spid="23"/>
                                        </p:tgtEl>
                                      </p:cBhvr>
                                    </p:animEffect>
                                  </p:childTnLst>
                                </p:cTn>
                              </p:par>
                              <p:par>
                                <p:cTn id="111" presetID="3" presetClass="entr" presetSubtype="10" fill="hold" grpId="0" nodeType="withEffect">
                                  <p:stCondLst>
                                    <p:cond delay="0"/>
                                  </p:stCondLst>
                                  <p:childTnLst>
                                    <p:set>
                                      <p:cBhvr>
                                        <p:cTn id="112" dur="1" fill="hold">
                                          <p:stCondLst>
                                            <p:cond delay="0"/>
                                          </p:stCondLst>
                                        </p:cTn>
                                        <p:tgtEl>
                                          <p:spTgt spid="22"/>
                                        </p:tgtEl>
                                        <p:attrNameLst>
                                          <p:attrName>style.visibility</p:attrName>
                                        </p:attrNameLst>
                                      </p:cBhvr>
                                      <p:to>
                                        <p:strVal val="visible"/>
                                      </p:to>
                                    </p:set>
                                    <p:animEffect transition="in" filter="blinds(horizontal)">
                                      <p:cBhvr>
                                        <p:cTn id="113" dur="500"/>
                                        <p:tgtEl>
                                          <p:spTgt spid="22"/>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52"/>
                                        </p:tgtEl>
                                        <p:attrNameLst>
                                          <p:attrName>style.visibility</p:attrName>
                                        </p:attrNameLst>
                                      </p:cBhvr>
                                      <p:to>
                                        <p:strVal val="visible"/>
                                      </p:to>
                                    </p:set>
                                    <p:animEffect transition="in" filter="blinds(horizontal)">
                                      <p:cBhvr>
                                        <p:cTn id="118" dur="500"/>
                                        <p:tgtEl>
                                          <p:spTgt spid="52"/>
                                        </p:tgtEl>
                                      </p:cBhvr>
                                    </p:animEffect>
                                  </p:childTnLst>
                                </p:cTn>
                              </p:par>
                              <p:par>
                                <p:cTn id="119" presetID="3" presetClass="entr" presetSubtype="10" fill="hold" grpId="0" nodeType="withEffect">
                                  <p:stCondLst>
                                    <p:cond delay="0"/>
                                  </p:stCondLst>
                                  <p:childTnLst>
                                    <p:set>
                                      <p:cBhvr>
                                        <p:cTn id="120" dur="1" fill="hold">
                                          <p:stCondLst>
                                            <p:cond delay="0"/>
                                          </p:stCondLst>
                                        </p:cTn>
                                        <p:tgtEl>
                                          <p:spTgt spid="51"/>
                                        </p:tgtEl>
                                        <p:attrNameLst>
                                          <p:attrName>style.visibility</p:attrName>
                                        </p:attrNameLst>
                                      </p:cBhvr>
                                      <p:to>
                                        <p:strVal val="visible"/>
                                      </p:to>
                                    </p:set>
                                    <p:animEffect transition="in" filter="blinds(horizontal)">
                                      <p:cBhvr>
                                        <p:cTn id="121" dur="500"/>
                                        <p:tgtEl>
                                          <p:spTgt spid="51"/>
                                        </p:tgtEl>
                                      </p:cBhvr>
                                    </p:animEffect>
                                  </p:childTnLst>
                                </p:cTn>
                              </p:par>
                            </p:childTnLst>
                          </p:cTn>
                        </p:par>
                      </p:childTnLst>
                    </p:cTn>
                  </p:par>
                  <p:par>
                    <p:cTn id="122" fill="hold">
                      <p:stCondLst>
                        <p:cond delay="indefinite"/>
                      </p:stCondLst>
                      <p:childTnLst>
                        <p:par>
                          <p:cTn id="123" fill="hold">
                            <p:stCondLst>
                              <p:cond delay="0"/>
                            </p:stCondLst>
                            <p:childTnLst>
                              <p:par>
                                <p:cTn id="124" presetID="3" presetClass="entr" presetSubtype="10" fill="hold" grpId="0" nodeType="clickEffect">
                                  <p:stCondLst>
                                    <p:cond delay="0"/>
                                  </p:stCondLst>
                                  <p:childTnLst>
                                    <p:set>
                                      <p:cBhvr>
                                        <p:cTn id="125" dur="1" fill="hold">
                                          <p:stCondLst>
                                            <p:cond delay="0"/>
                                          </p:stCondLst>
                                        </p:cTn>
                                        <p:tgtEl>
                                          <p:spTgt spid="48"/>
                                        </p:tgtEl>
                                        <p:attrNameLst>
                                          <p:attrName>style.visibility</p:attrName>
                                        </p:attrNameLst>
                                      </p:cBhvr>
                                      <p:to>
                                        <p:strVal val="visible"/>
                                      </p:to>
                                    </p:set>
                                    <p:animEffect transition="in" filter="blinds(horizontal)">
                                      <p:cBhvr>
                                        <p:cTn id="126" dur="500"/>
                                        <p:tgtEl>
                                          <p:spTgt spid="48"/>
                                        </p:tgtEl>
                                      </p:cBhvr>
                                    </p:animEffect>
                                  </p:childTnLst>
                                </p:cTn>
                              </p:par>
                            </p:childTnLst>
                          </p:cTn>
                        </p:par>
                      </p:childTnLst>
                    </p:cTn>
                  </p:par>
                  <p:par>
                    <p:cTn id="127" fill="hold">
                      <p:stCondLst>
                        <p:cond delay="indefinite"/>
                      </p:stCondLst>
                      <p:childTnLst>
                        <p:par>
                          <p:cTn id="128" fill="hold">
                            <p:stCondLst>
                              <p:cond delay="0"/>
                            </p:stCondLst>
                            <p:childTnLst>
                              <p:par>
                                <p:cTn id="129" presetID="3" presetClass="entr" presetSubtype="10" fill="hold" grpId="0" nodeType="click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blinds(horizontal)">
                                      <p:cBhvr>
                                        <p:cTn id="131" dur="500"/>
                                        <p:tgtEl>
                                          <p:spTgt spid="47"/>
                                        </p:tgtEl>
                                      </p:cBhvr>
                                    </p:animEffect>
                                  </p:childTnLst>
                                </p:cTn>
                              </p:par>
                            </p:childTnLst>
                          </p:cTn>
                        </p:par>
                      </p:childTnLst>
                    </p:cTn>
                  </p:par>
                  <p:par>
                    <p:cTn id="132" fill="hold">
                      <p:stCondLst>
                        <p:cond delay="indefinite"/>
                      </p:stCondLst>
                      <p:childTnLst>
                        <p:par>
                          <p:cTn id="133" fill="hold">
                            <p:stCondLst>
                              <p:cond delay="0"/>
                            </p:stCondLst>
                            <p:childTnLst>
                              <p:par>
                                <p:cTn id="134" presetID="3" presetClass="entr" presetSubtype="10" fill="hold" grpId="0" nodeType="clickEffect">
                                  <p:stCondLst>
                                    <p:cond delay="0"/>
                                  </p:stCondLst>
                                  <p:childTnLst>
                                    <p:set>
                                      <p:cBhvr>
                                        <p:cTn id="135" dur="1" fill="hold">
                                          <p:stCondLst>
                                            <p:cond delay="0"/>
                                          </p:stCondLst>
                                        </p:cTn>
                                        <p:tgtEl>
                                          <p:spTgt spid="21"/>
                                        </p:tgtEl>
                                        <p:attrNameLst>
                                          <p:attrName>style.visibility</p:attrName>
                                        </p:attrNameLst>
                                      </p:cBhvr>
                                      <p:to>
                                        <p:strVal val="visible"/>
                                      </p:to>
                                    </p:set>
                                    <p:animEffect transition="in" filter="blinds(horizontal)">
                                      <p:cBhvr>
                                        <p:cTn id="136" dur="500"/>
                                        <p:tgtEl>
                                          <p:spTgt spid="21"/>
                                        </p:tgtEl>
                                      </p:cBhvr>
                                    </p:animEffect>
                                  </p:childTnLst>
                                </p:cTn>
                              </p:par>
                              <p:par>
                                <p:cTn id="137" presetID="3" presetClass="entr" presetSubtype="10" fill="hold" grpId="0" nodeType="withEffect">
                                  <p:stCondLst>
                                    <p:cond delay="0"/>
                                  </p:stCondLst>
                                  <p:childTnLst>
                                    <p:set>
                                      <p:cBhvr>
                                        <p:cTn id="138" dur="1" fill="hold">
                                          <p:stCondLst>
                                            <p:cond delay="0"/>
                                          </p:stCondLst>
                                        </p:cTn>
                                        <p:tgtEl>
                                          <p:spTgt spid="16"/>
                                        </p:tgtEl>
                                        <p:attrNameLst>
                                          <p:attrName>style.visibility</p:attrName>
                                        </p:attrNameLst>
                                      </p:cBhvr>
                                      <p:to>
                                        <p:strVal val="visible"/>
                                      </p:to>
                                    </p:set>
                                    <p:animEffect transition="in" filter="blinds(horizontal)">
                                      <p:cBhvr>
                                        <p:cTn id="139" dur="500"/>
                                        <p:tgtEl>
                                          <p:spTgt spid="16"/>
                                        </p:tgtEl>
                                      </p:cBhvr>
                                    </p:animEffect>
                                  </p:childTnLst>
                                </p:cTn>
                              </p:par>
                              <p:par>
                                <p:cTn id="140" presetID="3" presetClass="entr" presetSubtype="10" fill="hold" grpId="0" nodeType="withEffect">
                                  <p:stCondLst>
                                    <p:cond delay="0"/>
                                  </p:stCondLst>
                                  <p:childTnLst>
                                    <p:set>
                                      <p:cBhvr>
                                        <p:cTn id="141" dur="1" fill="hold">
                                          <p:stCondLst>
                                            <p:cond delay="0"/>
                                          </p:stCondLst>
                                        </p:cTn>
                                        <p:tgtEl>
                                          <p:spTgt spid="50"/>
                                        </p:tgtEl>
                                        <p:attrNameLst>
                                          <p:attrName>style.visibility</p:attrName>
                                        </p:attrNameLst>
                                      </p:cBhvr>
                                      <p:to>
                                        <p:strVal val="visible"/>
                                      </p:to>
                                    </p:set>
                                    <p:animEffect transition="in" filter="blinds(horizontal)">
                                      <p:cBhvr>
                                        <p:cTn id="142" dur="500"/>
                                        <p:tgtEl>
                                          <p:spTgt spid="50"/>
                                        </p:tgtEl>
                                      </p:cBhvr>
                                    </p:animEffect>
                                  </p:childTnLst>
                                </p:cTn>
                              </p:par>
                            </p:childTnLst>
                          </p:cTn>
                        </p:par>
                      </p:childTnLst>
                    </p:cTn>
                  </p:par>
                  <p:par>
                    <p:cTn id="143" fill="hold">
                      <p:stCondLst>
                        <p:cond delay="indefinite"/>
                      </p:stCondLst>
                      <p:childTnLst>
                        <p:par>
                          <p:cTn id="144" fill="hold">
                            <p:stCondLst>
                              <p:cond delay="0"/>
                            </p:stCondLst>
                            <p:childTnLst>
                              <p:par>
                                <p:cTn id="145" presetID="3" presetClass="entr" presetSubtype="10" fill="hold" nodeType="clickEffect">
                                  <p:stCondLst>
                                    <p:cond delay="0"/>
                                  </p:stCondLst>
                                  <p:childTnLst>
                                    <p:set>
                                      <p:cBhvr>
                                        <p:cTn id="146" dur="1" fill="hold">
                                          <p:stCondLst>
                                            <p:cond delay="0"/>
                                          </p:stCondLst>
                                        </p:cTn>
                                        <p:tgtEl>
                                          <p:spTgt spid="99"/>
                                        </p:tgtEl>
                                        <p:attrNameLst>
                                          <p:attrName>style.visibility</p:attrName>
                                        </p:attrNameLst>
                                      </p:cBhvr>
                                      <p:to>
                                        <p:strVal val="visible"/>
                                      </p:to>
                                    </p:set>
                                    <p:animEffect transition="in" filter="blinds(horizontal)">
                                      <p:cBhvr>
                                        <p:cTn id="147" dur="500"/>
                                        <p:tgtEl>
                                          <p:spTgt spid="99"/>
                                        </p:tgtEl>
                                      </p:cBhvr>
                                    </p:animEffect>
                                  </p:childTnLst>
                                </p:cTn>
                              </p:par>
                            </p:childTnLst>
                          </p:cTn>
                        </p:par>
                      </p:childTnLst>
                    </p:cTn>
                  </p:par>
                  <p:par>
                    <p:cTn id="148" fill="hold">
                      <p:stCondLst>
                        <p:cond delay="indefinite"/>
                      </p:stCondLst>
                      <p:childTnLst>
                        <p:par>
                          <p:cTn id="149" fill="hold">
                            <p:stCondLst>
                              <p:cond delay="0"/>
                            </p:stCondLst>
                            <p:childTnLst>
                              <p:par>
                                <p:cTn id="150" presetID="3" presetClass="entr" presetSubtype="10" fill="hold" grpId="0" nodeType="clickEffect">
                                  <p:stCondLst>
                                    <p:cond delay="0"/>
                                  </p:stCondLst>
                                  <p:childTnLst>
                                    <p:set>
                                      <p:cBhvr>
                                        <p:cTn id="151" dur="1" fill="hold">
                                          <p:stCondLst>
                                            <p:cond delay="0"/>
                                          </p:stCondLst>
                                        </p:cTn>
                                        <p:tgtEl>
                                          <p:spTgt spid="14"/>
                                        </p:tgtEl>
                                        <p:attrNameLst>
                                          <p:attrName>style.visibility</p:attrName>
                                        </p:attrNameLst>
                                      </p:cBhvr>
                                      <p:to>
                                        <p:strVal val="visible"/>
                                      </p:to>
                                    </p:set>
                                    <p:animEffect transition="in" filter="blinds(horizontal)">
                                      <p:cBhvr>
                                        <p:cTn id="152" dur="500"/>
                                        <p:tgtEl>
                                          <p:spTgt spid="14"/>
                                        </p:tgtEl>
                                      </p:cBhvr>
                                    </p:animEffect>
                                  </p:childTnLst>
                                </p:cTn>
                              </p:par>
                              <p:par>
                                <p:cTn id="153" presetID="3" presetClass="entr" presetSubtype="10" fill="hold" grpId="0" nodeType="withEffect">
                                  <p:stCondLst>
                                    <p:cond delay="0"/>
                                  </p:stCondLst>
                                  <p:childTnLst>
                                    <p:set>
                                      <p:cBhvr>
                                        <p:cTn id="154" dur="1" fill="hold">
                                          <p:stCondLst>
                                            <p:cond delay="0"/>
                                          </p:stCondLst>
                                        </p:cTn>
                                        <p:tgtEl>
                                          <p:spTgt spid="8"/>
                                        </p:tgtEl>
                                        <p:attrNameLst>
                                          <p:attrName>style.visibility</p:attrName>
                                        </p:attrNameLst>
                                      </p:cBhvr>
                                      <p:to>
                                        <p:strVal val="visible"/>
                                      </p:to>
                                    </p:set>
                                    <p:animEffect transition="in" filter="blinds(horizontal)">
                                      <p:cBhvr>
                                        <p:cTn id="155" dur="500"/>
                                        <p:tgtEl>
                                          <p:spTgt spid="8"/>
                                        </p:tgtEl>
                                      </p:cBhvr>
                                    </p:animEffect>
                                  </p:childTnLst>
                                </p:cTn>
                              </p:par>
                              <p:par>
                                <p:cTn id="156" presetID="3" presetClass="entr" presetSubtype="10" fill="hold" grpId="0" nodeType="withEffect">
                                  <p:stCondLst>
                                    <p:cond delay="0"/>
                                  </p:stCondLst>
                                  <p:childTnLst>
                                    <p:set>
                                      <p:cBhvr>
                                        <p:cTn id="157" dur="1" fill="hold">
                                          <p:stCondLst>
                                            <p:cond delay="0"/>
                                          </p:stCondLst>
                                        </p:cTn>
                                        <p:tgtEl>
                                          <p:spTgt spid="44"/>
                                        </p:tgtEl>
                                        <p:attrNameLst>
                                          <p:attrName>style.visibility</p:attrName>
                                        </p:attrNameLst>
                                      </p:cBhvr>
                                      <p:to>
                                        <p:strVal val="visible"/>
                                      </p:to>
                                    </p:set>
                                    <p:animEffect transition="in" filter="blinds(horizontal)">
                                      <p:cBhvr>
                                        <p:cTn id="158" dur="500"/>
                                        <p:tgtEl>
                                          <p:spTgt spid="44"/>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grpId="0" nodeType="clickEffect">
                                  <p:stCondLst>
                                    <p:cond delay="0"/>
                                  </p:stCondLst>
                                  <p:childTnLst>
                                    <p:set>
                                      <p:cBhvr>
                                        <p:cTn id="162" dur="1" fill="hold">
                                          <p:stCondLst>
                                            <p:cond delay="0"/>
                                          </p:stCondLst>
                                        </p:cTn>
                                        <p:tgtEl>
                                          <p:spTgt spid="15"/>
                                        </p:tgtEl>
                                        <p:attrNameLst>
                                          <p:attrName>style.visibility</p:attrName>
                                        </p:attrNameLst>
                                      </p:cBhvr>
                                      <p:to>
                                        <p:strVal val="visible"/>
                                      </p:to>
                                    </p:set>
                                    <p:animEffect transition="in" filter="blinds(horizontal)">
                                      <p:cBhvr>
                                        <p:cTn id="163" dur="500"/>
                                        <p:tgtEl>
                                          <p:spTgt spid="15"/>
                                        </p:tgtEl>
                                      </p:cBhvr>
                                    </p:animEffect>
                                  </p:childTnLst>
                                </p:cTn>
                              </p:par>
                              <p:par>
                                <p:cTn id="164" presetID="3" presetClass="entr" presetSubtype="10" fill="hold" grpId="0" nodeType="withEffect">
                                  <p:stCondLst>
                                    <p:cond delay="0"/>
                                  </p:stCondLst>
                                  <p:childTnLst>
                                    <p:set>
                                      <p:cBhvr>
                                        <p:cTn id="165" dur="1" fill="hold">
                                          <p:stCondLst>
                                            <p:cond delay="0"/>
                                          </p:stCondLst>
                                        </p:cTn>
                                        <p:tgtEl>
                                          <p:spTgt spid="9"/>
                                        </p:tgtEl>
                                        <p:attrNameLst>
                                          <p:attrName>style.visibility</p:attrName>
                                        </p:attrNameLst>
                                      </p:cBhvr>
                                      <p:to>
                                        <p:strVal val="visible"/>
                                      </p:to>
                                    </p:set>
                                    <p:animEffect transition="in" filter="blinds(horizontal)">
                                      <p:cBhvr>
                                        <p:cTn id="166" dur="500"/>
                                        <p:tgtEl>
                                          <p:spTgt spid="9"/>
                                        </p:tgtEl>
                                      </p:cBhvr>
                                    </p:animEffect>
                                  </p:childTnLst>
                                </p:cTn>
                              </p:par>
                              <p:par>
                                <p:cTn id="167" presetID="3" presetClass="entr" presetSubtype="10" fill="hold" grpId="0" nodeType="withEffect">
                                  <p:stCondLst>
                                    <p:cond delay="0"/>
                                  </p:stCondLst>
                                  <p:childTnLst>
                                    <p:set>
                                      <p:cBhvr>
                                        <p:cTn id="168" dur="1" fill="hold">
                                          <p:stCondLst>
                                            <p:cond delay="0"/>
                                          </p:stCondLst>
                                        </p:cTn>
                                        <p:tgtEl>
                                          <p:spTgt spid="45"/>
                                        </p:tgtEl>
                                        <p:attrNameLst>
                                          <p:attrName>style.visibility</p:attrName>
                                        </p:attrNameLst>
                                      </p:cBhvr>
                                      <p:to>
                                        <p:strVal val="visible"/>
                                      </p:to>
                                    </p:set>
                                    <p:animEffect transition="in" filter="blinds(horizontal)">
                                      <p:cBhvr>
                                        <p:cTn id="169" dur="500"/>
                                        <p:tgtEl>
                                          <p:spTgt spid="45"/>
                                        </p:tgtEl>
                                      </p:cBhvr>
                                    </p:animEffect>
                                  </p:childTnLst>
                                </p:cTn>
                              </p:par>
                            </p:childTnLst>
                          </p:cTn>
                        </p:par>
                      </p:childTnLst>
                    </p:cTn>
                  </p:par>
                  <p:par>
                    <p:cTn id="170" fill="hold">
                      <p:stCondLst>
                        <p:cond delay="indefinite"/>
                      </p:stCondLst>
                      <p:childTnLst>
                        <p:par>
                          <p:cTn id="171" fill="hold">
                            <p:stCondLst>
                              <p:cond delay="0"/>
                            </p:stCondLst>
                            <p:childTnLst>
                              <p:par>
                                <p:cTn id="172" presetID="3" presetClass="entr" presetSubtype="10" fill="hold" grpId="0" nodeType="clickEffect">
                                  <p:stCondLst>
                                    <p:cond delay="0"/>
                                  </p:stCondLst>
                                  <p:childTnLst>
                                    <p:set>
                                      <p:cBhvr>
                                        <p:cTn id="173" dur="1" fill="hold">
                                          <p:stCondLst>
                                            <p:cond delay="0"/>
                                          </p:stCondLst>
                                        </p:cTn>
                                        <p:tgtEl>
                                          <p:spTgt spid="12"/>
                                        </p:tgtEl>
                                        <p:attrNameLst>
                                          <p:attrName>style.visibility</p:attrName>
                                        </p:attrNameLst>
                                      </p:cBhvr>
                                      <p:to>
                                        <p:strVal val="visible"/>
                                      </p:to>
                                    </p:set>
                                    <p:animEffect transition="in" filter="blinds(horizontal)">
                                      <p:cBhvr>
                                        <p:cTn id="174" dur="500"/>
                                        <p:tgtEl>
                                          <p:spTgt spid="12"/>
                                        </p:tgtEl>
                                      </p:cBhvr>
                                    </p:animEffect>
                                  </p:childTnLst>
                                </p:cTn>
                              </p:par>
                              <p:par>
                                <p:cTn id="175" presetID="3" presetClass="entr" presetSubtype="10" fill="hold" grpId="0" nodeType="withEffect">
                                  <p:stCondLst>
                                    <p:cond delay="0"/>
                                  </p:stCondLst>
                                  <p:childTnLst>
                                    <p:set>
                                      <p:cBhvr>
                                        <p:cTn id="176" dur="1" fill="hold">
                                          <p:stCondLst>
                                            <p:cond delay="0"/>
                                          </p:stCondLst>
                                        </p:cTn>
                                        <p:tgtEl>
                                          <p:spTgt spid="11"/>
                                        </p:tgtEl>
                                        <p:attrNameLst>
                                          <p:attrName>style.visibility</p:attrName>
                                        </p:attrNameLst>
                                      </p:cBhvr>
                                      <p:to>
                                        <p:strVal val="visible"/>
                                      </p:to>
                                    </p:set>
                                    <p:animEffect transition="in" filter="blinds(horizontal)">
                                      <p:cBhvr>
                                        <p:cTn id="177" dur="500"/>
                                        <p:tgtEl>
                                          <p:spTgt spid="11"/>
                                        </p:tgtEl>
                                      </p:cBhvr>
                                    </p:animEffect>
                                  </p:childTnLst>
                                </p:cTn>
                              </p:par>
                            </p:childTnLst>
                          </p:cTn>
                        </p:par>
                      </p:childTnLst>
                    </p:cTn>
                  </p:par>
                  <p:par>
                    <p:cTn id="178" fill="hold">
                      <p:stCondLst>
                        <p:cond delay="indefinite"/>
                      </p:stCondLst>
                      <p:childTnLst>
                        <p:par>
                          <p:cTn id="179" fill="hold">
                            <p:stCondLst>
                              <p:cond delay="0"/>
                            </p:stCondLst>
                            <p:childTnLst>
                              <p:par>
                                <p:cTn id="180" presetID="3" presetClass="entr" presetSubtype="10" fill="hold" grpId="0" nodeType="clickEffect">
                                  <p:stCondLst>
                                    <p:cond delay="0"/>
                                  </p:stCondLst>
                                  <p:childTnLst>
                                    <p:set>
                                      <p:cBhvr>
                                        <p:cTn id="181" dur="1" fill="hold">
                                          <p:stCondLst>
                                            <p:cond delay="0"/>
                                          </p:stCondLst>
                                        </p:cTn>
                                        <p:tgtEl>
                                          <p:spTgt spid="7"/>
                                        </p:tgtEl>
                                        <p:attrNameLst>
                                          <p:attrName>style.visibility</p:attrName>
                                        </p:attrNameLst>
                                      </p:cBhvr>
                                      <p:to>
                                        <p:strVal val="visible"/>
                                      </p:to>
                                    </p:set>
                                    <p:animEffect transition="in" filter="blinds(horizontal)">
                                      <p:cBhvr>
                                        <p:cTn id="182" dur="500"/>
                                        <p:tgtEl>
                                          <p:spTgt spid="7"/>
                                        </p:tgtEl>
                                      </p:cBhvr>
                                    </p:animEffect>
                                  </p:childTnLst>
                                </p:cTn>
                              </p:par>
                              <p:par>
                                <p:cTn id="183" presetID="3" presetClass="entr" presetSubtype="10" fill="hold" grpId="0" nodeType="withEffect">
                                  <p:stCondLst>
                                    <p:cond delay="0"/>
                                  </p:stCondLst>
                                  <p:childTnLst>
                                    <p:set>
                                      <p:cBhvr>
                                        <p:cTn id="184" dur="1" fill="hold">
                                          <p:stCondLst>
                                            <p:cond delay="0"/>
                                          </p:stCondLst>
                                        </p:cTn>
                                        <p:tgtEl>
                                          <p:spTgt spid="6"/>
                                        </p:tgtEl>
                                        <p:attrNameLst>
                                          <p:attrName>style.visibility</p:attrName>
                                        </p:attrNameLst>
                                      </p:cBhvr>
                                      <p:to>
                                        <p:strVal val="visible"/>
                                      </p:to>
                                    </p:set>
                                    <p:animEffect transition="in" filter="blinds(horizontal)">
                                      <p:cBhvr>
                                        <p:cTn id="185" dur="500"/>
                                        <p:tgtEl>
                                          <p:spTgt spid="6"/>
                                        </p:tgtEl>
                                      </p:cBhvr>
                                    </p:animEffect>
                                  </p:childTnLst>
                                </p:cTn>
                              </p:par>
                            </p:childTnLst>
                          </p:cTn>
                        </p:par>
                      </p:childTnLst>
                    </p:cTn>
                  </p:par>
                  <p:par>
                    <p:cTn id="186" fill="hold">
                      <p:stCondLst>
                        <p:cond delay="indefinite"/>
                      </p:stCondLst>
                      <p:childTnLst>
                        <p:par>
                          <p:cTn id="187" fill="hold">
                            <p:stCondLst>
                              <p:cond delay="0"/>
                            </p:stCondLst>
                            <p:childTnLst>
                              <p:par>
                                <p:cTn id="188" presetID="3" presetClass="entr" presetSubtype="10" fill="hold" grpId="0" nodeType="clickEffect">
                                  <p:stCondLst>
                                    <p:cond delay="0"/>
                                  </p:stCondLst>
                                  <p:childTnLst>
                                    <p:set>
                                      <p:cBhvr>
                                        <p:cTn id="189" dur="1" fill="hold">
                                          <p:stCondLst>
                                            <p:cond delay="0"/>
                                          </p:stCondLst>
                                        </p:cTn>
                                        <p:tgtEl>
                                          <p:spTgt spid="43"/>
                                        </p:tgtEl>
                                        <p:attrNameLst>
                                          <p:attrName>style.visibility</p:attrName>
                                        </p:attrNameLst>
                                      </p:cBhvr>
                                      <p:to>
                                        <p:strVal val="visible"/>
                                      </p:to>
                                    </p:set>
                                    <p:animEffect transition="in" filter="blinds(horizontal)">
                                      <p:cBhvr>
                                        <p:cTn id="190" dur="500"/>
                                        <p:tgtEl>
                                          <p:spTgt spid="43"/>
                                        </p:tgtEl>
                                      </p:cBhvr>
                                    </p:animEffect>
                                  </p:childTnLst>
                                </p:cTn>
                              </p:par>
                              <p:par>
                                <p:cTn id="191" presetID="3" presetClass="entr" presetSubtype="10" fill="hold" grpId="0" nodeType="withEffect">
                                  <p:stCondLst>
                                    <p:cond delay="0"/>
                                  </p:stCondLst>
                                  <p:childTnLst>
                                    <p:set>
                                      <p:cBhvr>
                                        <p:cTn id="192" dur="1" fill="hold">
                                          <p:stCondLst>
                                            <p:cond delay="0"/>
                                          </p:stCondLst>
                                        </p:cTn>
                                        <p:tgtEl>
                                          <p:spTgt spid="42"/>
                                        </p:tgtEl>
                                        <p:attrNameLst>
                                          <p:attrName>style.visibility</p:attrName>
                                        </p:attrNameLst>
                                      </p:cBhvr>
                                      <p:to>
                                        <p:strVal val="visible"/>
                                      </p:to>
                                    </p:set>
                                    <p:animEffect transition="in" filter="blinds(horizontal)">
                                      <p:cBhvr>
                                        <p:cTn id="193" dur="500"/>
                                        <p:tgtEl>
                                          <p:spTgt spid="42"/>
                                        </p:tgtEl>
                                      </p:cBhvr>
                                    </p:animEffect>
                                  </p:childTnLst>
                                </p:cTn>
                              </p:par>
                            </p:childTnLst>
                          </p:cTn>
                        </p:par>
                      </p:childTnLst>
                    </p:cTn>
                  </p:par>
                  <p:par>
                    <p:cTn id="194" fill="hold">
                      <p:stCondLst>
                        <p:cond delay="indefinite"/>
                      </p:stCondLst>
                      <p:childTnLst>
                        <p:par>
                          <p:cTn id="195" fill="hold">
                            <p:stCondLst>
                              <p:cond delay="0"/>
                            </p:stCondLst>
                            <p:childTnLst>
                              <p:par>
                                <p:cTn id="196" presetID="3" presetClass="entr" presetSubtype="10" fill="hold" grpId="0" nodeType="clickEffect">
                                  <p:stCondLst>
                                    <p:cond delay="0"/>
                                  </p:stCondLst>
                                  <p:childTnLst>
                                    <p:set>
                                      <p:cBhvr>
                                        <p:cTn id="197" dur="1" fill="hold">
                                          <p:stCondLst>
                                            <p:cond delay="0"/>
                                          </p:stCondLst>
                                        </p:cTn>
                                        <p:tgtEl>
                                          <p:spTgt spid="39"/>
                                        </p:tgtEl>
                                        <p:attrNameLst>
                                          <p:attrName>style.visibility</p:attrName>
                                        </p:attrNameLst>
                                      </p:cBhvr>
                                      <p:to>
                                        <p:strVal val="visible"/>
                                      </p:to>
                                    </p:set>
                                    <p:animEffect transition="in" filter="blinds(horizontal)">
                                      <p:cBhvr>
                                        <p:cTn id="198" dur="500"/>
                                        <p:tgtEl>
                                          <p:spTgt spid="39"/>
                                        </p:tgtEl>
                                      </p:cBhvr>
                                    </p:animEffect>
                                  </p:childTnLst>
                                </p:cTn>
                              </p:par>
                            </p:childTnLst>
                          </p:cTn>
                        </p:par>
                      </p:childTnLst>
                    </p:cTn>
                  </p:par>
                  <p:par>
                    <p:cTn id="199" fill="hold">
                      <p:stCondLst>
                        <p:cond delay="indefinite"/>
                      </p:stCondLst>
                      <p:childTnLst>
                        <p:par>
                          <p:cTn id="200" fill="hold">
                            <p:stCondLst>
                              <p:cond delay="0"/>
                            </p:stCondLst>
                            <p:childTnLst>
                              <p:par>
                                <p:cTn id="201" presetID="3" presetClass="entr" presetSubtype="10" fill="hold" grpId="0" nodeType="clickEffect">
                                  <p:stCondLst>
                                    <p:cond delay="0"/>
                                  </p:stCondLst>
                                  <p:childTnLst>
                                    <p:set>
                                      <p:cBhvr>
                                        <p:cTn id="202" dur="1" fill="hold">
                                          <p:stCondLst>
                                            <p:cond delay="0"/>
                                          </p:stCondLst>
                                        </p:cTn>
                                        <p:tgtEl>
                                          <p:spTgt spid="38"/>
                                        </p:tgtEl>
                                        <p:attrNameLst>
                                          <p:attrName>style.visibility</p:attrName>
                                        </p:attrNameLst>
                                      </p:cBhvr>
                                      <p:to>
                                        <p:strVal val="visible"/>
                                      </p:to>
                                    </p:set>
                                    <p:animEffect transition="in" filter="blinds(horizontal)">
                                      <p:cBhvr>
                                        <p:cTn id="203" dur="500"/>
                                        <p:tgtEl>
                                          <p:spTgt spid="38"/>
                                        </p:tgtEl>
                                      </p:cBhvr>
                                    </p:animEffect>
                                  </p:childTnLst>
                                </p:cTn>
                              </p:par>
                            </p:childTnLst>
                          </p:cTn>
                        </p:par>
                      </p:childTnLst>
                    </p:cTn>
                  </p:par>
                  <p:par>
                    <p:cTn id="204" fill="hold">
                      <p:stCondLst>
                        <p:cond delay="indefinite"/>
                      </p:stCondLst>
                      <p:childTnLst>
                        <p:par>
                          <p:cTn id="205" fill="hold">
                            <p:stCondLst>
                              <p:cond delay="0"/>
                            </p:stCondLst>
                            <p:childTnLst>
                              <p:par>
                                <p:cTn id="206" presetID="3" presetClass="entr" presetSubtype="10" fill="hold" grpId="0" nodeType="clickEffect">
                                  <p:stCondLst>
                                    <p:cond delay="0"/>
                                  </p:stCondLst>
                                  <p:childTnLst>
                                    <p:set>
                                      <p:cBhvr>
                                        <p:cTn id="207" dur="1" fill="hold">
                                          <p:stCondLst>
                                            <p:cond delay="0"/>
                                          </p:stCondLst>
                                        </p:cTn>
                                        <p:tgtEl>
                                          <p:spTgt spid="94"/>
                                        </p:tgtEl>
                                        <p:attrNameLst>
                                          <p:attrName>style.visibility</p:attrName>
                                        </p:attrNameLst>
                                      </p:cBhvr>
                                      <p:to>
                                        <p:strVal val="visible"/>
                                      </p:to>
                                    </p:set>
                                    <p:animEffect transition="in" filter="blinds(horizontal)">
                                      <p:cBhvr>
                                        <p:cTn id="208" dur="500"/>
                                        <p:tgtEl>
                                          <p:spTgt spid="94"/>
                                        </p:tgtEl>
                                      </p:cBhvr>
                                    </p:animEffect>
                                  </p:childTnLst>
                                </p:cTn>
                              </p:par>
                            </p:childTnLst>
                          </p:cTn>
                        </p:par>
                      </p:childTnLst>
                    </p:cTn>
                  </p:par>
                  <p:par>
                    <p:cTn id="209" fill="hold">
                      <p:stCondLst>
                        <p:cond delay="indefinite"/>
                      </p:stCondLst>
                      <p:childTnLst>
                        <p:par>
                          <p:cTn id="210" fill="hold">
                            <p:stCondLst>
                              <p:cond delay="0"/>
                            </p:stCondLst>
                            <p:childTnLst>
                              <p:par>
                                <p:cTn id="211" presetID="3" presetClass="entr" presetSubtype="10" fill="hold" nodeType="clickEffect">
                                  <p:stCondLst>
                                    <p:cond delay="0"/>
                                  </p:stCondLst>
                                  <p:childTnLst>
                                    <p:set>
                                      <p:cBhvr>
                                        <p:cTn id="212" dur="1" fill="hold">
                                          <p:stCondLst>
                                            <p:cond delay="0"/>
                                          </p:stCondLst>
                                        </p:cTn>
                                        <p:tgtEl>
                                          <p:spTgt spid="96"/>
                                        </p:tgtEl>
                                        <p:attrNameLst>
                                          <p:attrName>style.visibility</p:attrName>
                                        </p:attrNameLst>
                                      </p:cBhvr>
                                      <p:to>
                                        <p:strVal val="visible"/>
                                      </p:to>
                                    </p:set>
                                    <p:animEffect transition="in" filter="blinds(horizontal)">
                                      <p:cBhvr>
                                        <p:cTn id="213" dur="500"/>
                                        <p:tgtEl>
                                          <p:spTgt spid="96"/>
                                        </p:tgtEl>
                                      </p:cBhvr>
                                    </p:animEffect>
                                  </p:childTnLst>
                                </p:cTn>
                              </p:par>
                              <p:par>
                                <p:cTn id="214" presetID="3" presetClass="entr" presetSubtype="10" fill="hold" nodeType="withEffect">
                                  <p:stCondLst>
                                    <p:cond delay="0"/>
                                  </p:stCondLst>
                                  <p:childTnLst>
                                    <p:set>
                                      <p:cBhvr>
                                        <p:cTn id="215" dur="1" fill="hold">
                                          <p:stCondLst>
                                            <p:cond delay="0"/>
                                          </p:stCondLst>
                                        </p:cTn>
                                        <p:tgtEl>
                                          <p:spTgt spid="95"/>
                                        </p:tgtEl>
                                        <p:attrNameLst>
                                          <p:attrName>style.visibility</p:attrName>
                                        </p:attrNameLst>
                                      </p:cBhvr>
                                      <p:to>
                                        <p:strVal val="visible"/>
                                      </p:to>
                                    </p:set>
                                    <p:animEffect transition="in" filter="blinds(horizontal)">
                                      <p:cBhvr>
                                        <p:cTn id="216" dur="500"/>
                                        <p:tgtEl>
                                          <p:spTgt spid="95"/>
                                        </p:tgtEl>
                                      </p:cBhvr>
                                    </p:animEffect>
                                  </p:childTnLst>
                                </p:cTn>
                              </p:par>
                              <p:par>
                                <p:cTn id="217" presetID="3" presetClass="entr" presetSubtype="10" fill="hold" grpId="0" nodeType="withEffect">
                                  <p:stCondLst>
                                    <p:cond delay="0"/>
                                  </p:stCondLst>
                                  <p:childTnLst>
                                    <p:set>
                                      <p:cBhvr>
                                        <p:cTn id="218" dur="1" fill="hold">
                                          <p:stCondLst>
                                            <p:cond delay="0"/>
                                          </p:stCondLst>
                                        </p:cTn>
                                        <p:tgtEl>
                                          <p:spTgt spid="97"/>
                                        </p:tgtEl>
                                        <p:attrNameLst>
                                          <p:attrName>style.visibility</p:attrName>
                                        </p:attrNameLst>
                                      </p:cBhvr>
                                      <p:to>
                                        <p:strVal val="visible"/>
                                      </p:to>
                                    </p:set>
                                    <p:animEffect transition="in" filter="blinds(horizontal)">
                                      <p:cBhvr>
                                        <p:cTn id="219" dur="500"/>
                                        <p:tgtEl>
                                          <p:spTgt spid="97"/>
                                        </p:tgtEl>
                                      </p:cBhvr>
                                    </p:animEffect>
                                  </p:childTnLst>
                                </p:cTn>
                              </p:par>
                            </p:childTnLst>
                          </p:cTn>
                        </p:par>
                      </p:childTnLst>
                    </p:cTn>
                  </p:par>
                  <p:par>
                    <p:cTn id="220" fill="hold">
                      <p:stCondLst>
                        <p:cond delay="indefinite"/>
                      </p:stCondLst>
                      <p:childTnLst>
                        <p:par>
                          <p:cTn id="221" fill="hold">
                            <p:stCondLst>
                              <p:cond delay="0"/>
                            </p:stCondLst>
                            <p:childTnLst>
                              <p:par>
                                <p:cTn id="222" presetID="3" presetClass="entr" presetSubtype="10" fill="hold" nodeType="clickEffect">
                                  <p:stCondLst>
                                    <p:cond delay="0"/>
                                  </p:stCondLst>
                                  <p:childTnLst>
                                    <p:set>
                                      <p:cBhvr>
                                        <p:cTn id="223" dur="1" fill="hold">
                                          <p:stCondLst>
                                            <p:cond delay="0"/>
                                          </p:stCondLst>
                                        </p:cTn>
                                        <p:tgtEl>
                                          <p:spTgt spid="100"/>
                                        </p:tgtEl>
                                        <p:attrNameLst>
                                          <p:attrName>style.visibility</p:attrName>
                                        </p:attrNameLst>
                                      </p:cBhvr>
                                      <p:to>
                                        <p:strVal val="visible"/>
                                      </p:to>
                                    </p:set>
                                    <p:animEffect transition="in" filter="blinds(horizontal)">
                                      <p:cBhvr>
                                        <p:cTn id="224" dur="500"/>
                                        <p:tgtEl>
                                          <p:spTgt spid="100"/>
                                        </p:tgtEl>
                                      </p:cBhvr>
                                    </p:animEffect>
                                  </p:childTnLst>
                                </p:cTn>
                              </p:par>
                            </p:childTnLst>
                          </p:cTn>
                        </p:par>
                      </p:childTnLst>
                    </p:cTn>
                  </p:par>
                  <p:par>
                    <p:cTn id="225" fill="hold">
                      <p:stCondLst>
                        <p:cond delay="indefinite"/>
                      </p:stCondLst>
                      <p:childTnLst>
                        <p:par>
                          <p:cTn id="226" fill="hold">
                            <p:stCondLst>
                              <p:cond delay="0"/>
                            </p:stCondLst>
                            <p:childTnLst>
                              <p:par>
                                <p:cTn id="227" presetID="3" presetClass="entr" presetSubtype="10" fill="hold" nodeType="clickEffect">
                                  <p:stCondLst>
                                    <p:cond delay="0"/>
                                  </p:stCondLst>
                                  <p:childTnLst>
                                    <p:set>
                                      <p:cBhvr>
                                        <p:cTn id="228" dur="1" fill="hold">
                                          <p:stCondLst>
                                            <p:cond delay="0"/>
                                          </p:stCondLst>
                                        </p:cTn>
                                        <p:tgtEl>
                                          <p:spTgt spid="101"/>
                                        </p:tgtEl>
                                        <p:attrNameLst>
                                          <p:attrName>style.visibility</p:attrName>
                                        </p:attrNameLst>
                                      </p:cBhvr>
                                      <p:to>
                                        <p:strVal val="visible"/>
                                      </p:to>
                                    </p:set>
                                    <p:animEffect transition="in" filter="blinds(horizontal)">
                                      <p:cBhvr>
                                        <p:cTn id="229"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1" grpId="0"/>
      <p:bldP spid="12"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2" grpId="0"/>
      <p:bldP spid="33" grpId="0"/>
      <p:bldP spid="34" grpId="0"/>
      <p:bldP spid="35" grpId="0"/>
      <p:bldP spid="36" grpId="0"/>
      <p:bldP spid="38" grpId="0"/>
      <p:bldP spid="39" grpId="0"/>
      <p:bldP spid="42" grpId="0"/>
      <p:bldP spid="43" grpId="0"/>
      <p:bldP spid="44" grpId="0"/>
      <p:bldP spid="45" grpId="0"/>
      <p:bldP spid="47" grpId="0"/>
      <p:bldP spid="48" grpId="0"/>
      <p:bldP spid="50" grpId="0"/>
      <p:bldP spid="51" grpId="0"/>
      <p:bldP spid="52" grpId="0"/>
      <p:bldP spid="53" grpId="0"/>
      <p:bldP spid="54" grpId="0"/>
      <p:bldP spid="56" grpId="0"/>
      <p:bldP spid="57" grpId="0"/>
      <p:bldP spid="59" grpId="0"/>
      <p:bldP spid="60" grpId="0"/>
      <p:bldP spid="61" grpId="0"/>
      <p:bldP spid="62" grpId="0"/>
      <p:bldP spid="63" grpId="0"/>
      <p:bldP spid="69" grpId="0"/>
      <p:bldP spid="94" grpId="0"/>
      <p:bldP spid="97" grpId="0"/>
      <p:bldP spid="9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华文中宋" panose="02010600040101010101" pitchFamily="2" charset="-122"/>
                <a:ea typeface="华文中宋" panose="02010600040101010101" pitchFamily="2" charset="-122"/>
                <a:cs typeface="Times New Roman" panose="02020603050405020304" pitchFamily="18" charset="0"/>
              </a:rPr>
              <a:t>两阶段法</a:t>
            </a:r>
            <a:endParaRPr kumimoji="1" lang="zh-CN" altLang="en-US" dirty="0">
              <a:latin typeface="Times New Roman" panose="02020603050405020304" pitchFamily="18" charset="0"/>
              <a:cs typeface="Times New Roman" panose="02020603050405020304" pitchFamily="18" charset="0"/>
            </a:endParaRPr>
          </a:p>
        </p:txBody>
      </p:sp>
      <p:sp>
        <p:nvSpPr>
          <p:cNvPr id="5" name="Rectangle 6"/>
          <p:cNvSpPr>
            <a:spLocks noChangeArrowheads="1"/>
          </p:cNvSpPr>
          <p:nvPr/>
        </p:nvSpPr>
        <p:spPr bwMode="auto">
          <a:xfrm>
            <a:off x="838200" y="1042690"/>
            <a:ext cx="7315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40000"/>
              </a:lnSpc>
            </a:pPr>
            <a:r>
              <a:rPr lang="zh-CN" altLang="en-US" sz="2000" b="1" dirty="0">
                <a:effectLst/>
                <a:latin typeface="楷体_GB2312" pitchFamily="49" charset="-122"/>
                <a:ea typeface="楷体_GB2312" pitchFamily="49" charset="-122"/>
              </a:rPr>
              <a:t>由上表可知，通过若干次旋转变换，原问题的约束方程组已变换成包含一个单位矩阵的约束方程组</a:t>
            </a:r>
            <a:endParaRPr lang="zh-CN" altLang="en-US" sz="2000" b="1" dirty="0">
              <a:effectLst/>
              <a:latin typeface="楷体_GB2312" pitchFamily="49" charset="-122"/>
              <a:ea typeface="楷体_GB2312" pitchFamily="49" charset="-122"/>
            </a:endParaRPr>
          </a:p>
        </p:txBody>
      </p:sp>
      <p:graphicFrame>
        <p:nvGraphicFramePr>
          <p:cNvPr id="6" name="Object 2"/>
          <p:cNvGraphicFramePr>
            <a:graphicFrameLocks noChangeAspect="1"/>
          </p:cNvGraphicFramePr>
          <p:nvPr/>
        </p:nvGraphicFramePr>
        <p:xfrm>
          <a:off x="3940175" y="2133600"/>
          <a:ext cx="4575175" cy="2616200"/>
        </p:xfrm>
        <a:graphic>
          <a:graphicData uri="http://schemas.openxmlformats.org/presentationml/2006/ole">
            <mc:AlternateContent xmlns:mc="http://schemas.openxmlformats.org/markup-compatibility/2006">
              <mc:Choice xmlns:v="urn:schemas-microsoft-com:vml" Requires="v">
                <p:oleObj spid="_x0000_s10241" name="Equation" r:id="rId1" imgW="43281600" imgH="35966400" progId="Equation.DSMT4">
                  <p:embed/>
                </p:oleObj>
              </mc:Choice>
              <mc:Fallback>
                <p:oleObj name="Equation" r:id="rId1" imgW="43281600" imgH="35966400" progId="Equation.DSMT4">
                  <p:embed/>
                  <p:pic>
                    <p:nvPicPr>
                      <p:cNvPr id="0" name="图片 10240"/>
                      <p:cNvPicPr>
                        <a:picLocks noChangeAspect="1"/>
                      </p:cNvPicPr>
                      <p:nvPr/>
                    </p:nvPicPr>
                    <p:blipFill>
                      <a:blip r:embed="rId2"/>
                      <a:stretch>
                        <a:fillRect/>
                      </a:stretch>
                    </p:blipFill>
                    <p:spPr>
                      <a:xfrm>
                        <a:off x="3940175" y="2133600"/>
                        <a:ext cx="4575175" cy="2616200"/>
                      </a:xfrm>
                      <a:prstGeom prst="rect">
                        <a:avLst/>
                      </a:prstGeom>
                      <a:noFill/>
                      <a:ln w="9525">
                        <a:noFill/>
                      </a:ln>
                    </p:spPr>
                  </p:pic>
                </p:oleObj>
              </mc:Fallback>
            </mc:AlternateContent>
          </a:graphicData>
        </a:graphic>
      </p:graphicFrame>
      <p:graphicFrame>
        <p:nvGraphicFramePr>
          <p:cNvPr id="7" name="Object 2"/>
          <p:cNvGraphicFramePr>
            <a:graphicFrameLocks noChangeAspect="1"/>
          </p:cNvGraphicFramePr>
          <p:nvPr/>
        </p:nvGraphicFramePr>
        <p:xfrm>
          <a:off x="611188" y="2565400"/>
          <a:ext cx="3225800" cy="1800225"/>
        </p:xfrm>
        <a:graphic>
          <a:graphicData uri="http://schemas.openxmlformats.org/presentationml/2006/ole">
            <mc:AlternateContent xmlns:mc="http://schemas.openxmlformats.org/markup-compatibility/2006">
              <mc:Choice xmlns:v="urn:schemas-microsoft-com:vml" Requires="v">
                <p:oleObj spid="_x0000_s10242" name="Equation" r:id="rId3" imgW="41452800" imgH="23164800" progId="Equation.DSMT4">
                  <p:embed/>
                </p:oleObj>
              </mc:Choice>
              <mc:Fallback>
                <p:oleObj name="Equation" r:id="rId3" imgW="41452800" imgH="23164800" progId="Equation.DSMT4">
                  <p:embed/>
                  <p:pic>
                    <p:nvPicPr>
                      <p:cNvPr id="0" name="图片 10241"/>
                      <p:cNvPicPr>
                        <a:picLocks noChangeAspect="1"/>
                      </p:cNvPicPr>
                      <p:nvPr/>
                    </p:nvPicPr>
                    <p:blipFill>
                      <a:blip r:embed="rId4"/>
                      <a:stretch>
                        <a:fillRect/>
                      </a:stretch>
                    </p:blipFill>
                    <p:spPr>
                      <a:xfrm>
                        <a:off x="611188" y="2565400"/>
                        <a:ext cx="3225800" cy="1800225"/>
                      </a:xfrm>
                      <a:prstGeom prst="rect">
                        <a:avLst/>
                      </a:prstGeom>
                      <a:noFill/>
                      <a:ln w="9525">
                        <a:noFill/>
                      </a:ln>
                    </p:spPr>
                  </p:pic>
                </p:oleObj>
              </mc:Fallback>
            </mc:AlternateContent>
          </a:graphicData>
        </a:graphic>
      </p:graphicFrame>
      <p:sp>
        <p:nvSpPr>
          <p:cNvPr id="8" name="Rectangle 2"/>
          <p:cNvSpPr>
            <a:spLocks noChangeArrowheads="1"/>
          </p:cNvSpPr>
          <p:nvPr/>
        </p:nvSpPr>
        <p:spPr bwMode="auto">
          <a:xfrm>
            <a:off x="755650" y="4868863"/>
            <a:ext cx="7315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66700"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40000"/>
              </a:lnSpc>
            </a:pPr>
            <a:r>
              <a:rPr lang="zh-CN" altLang="en-US" sz="2000" b="1">
                <a:effectLst/>
                <a:latin typeface="楷体_GB2312" pitchFamily="49" charset="-122"/>
                <a:ea typeface="楷体_GB2312" pitchFamily="49" charset="-122"/>
              </a:rPr>
              <a:t>该</a:t>
            </a:r>
            <a:r>
              <a:rPr lang="zh-CN" altLang="en-US" sz="2000" b="1">
                <a:solidFill>
                  <a:schemeClr val="accent2"/>
                </a:solidFill>
                <a:effectLst/>
                <a:latin typeface="楷体_GB2312" pitchFamily="49" charset="-122"/>
                <a:ea typeface="楷体_GB2312" pitchFamily="49" charset="-122"/>
              </a:rPr>
              <a:t>约束方程组可作为第二阶段初始约束方程组</a:t>
            </a:r>
            <a:r>
              <a:rPr lang="zh-CN" altLang="en-US" sz="2000" b="1">
                <a:effectLst/>
                <a:latin typeface="楷体_GB2312" pitchFamily="49" charset="-122"/>
                <a:ea typeface="楷体_GB2312" pitchFamily="49" charset="-122"/>
              </a:rPr>
              <a:t>，将目标函数则还原成原问题的目标函数，可继续利用单纯形表求解。</a:t>
            </a:r>
            <a:endParaRPr lang="zh-CN" altLang="en-US" b="1">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latin typeface="华文中宋" panose="02010600040101010101" pitchFamily="2" charset="-122"/>
                <a:ea typeface="华文中宋" panose="02010600040101010101" pitchFamily="2" charset="-122"/>
                <a:cs typeface="Times New Roman" panose="02020603050405020304" pitchFamily="18" charset="0"/>
              </a:rPr>
              <a:t>两阶段法</a:t>
            </a:r>
            <a:endParaRPr kumimoji="1" lang="zh-CN" altLang="en-US" dirty="0">
              <a:latin typeface="Times New Roman" panose="02020603050405020304" pitchFamily="18" charset="0"/>
              <a:cs typeface="Times New Roman" panose="02020603050405020304" pitchFamily="18" charset="0"/>
            </a:endParaRPr>
          </a:p>
        </p:txBody>
      </p:sp>
      <p:sp>
        <p:nvSpPr>
          <p:cNvPr id="6" name="Rectangle 77"/>
          <p:cNvSpPr>
            <a:spLocks noChangeArrowheads="1"/>
          </p:cNvSpPr>
          <p:nvPr/>
        </p:nvSpPr>
        <p:spPr bwMode="auto">
          <a:xfrm>
            <a:off x="2724150" y="5548858"/>
            <a:ext cx="32162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-1      0       0      0      -2</a:t>
            </a:r>
            <a:endParaRPr lang="en-US" altLang="zh-CN" sz="2000" b="1">
              <a:effectLst/>
              <a:latin typeface="Arial" panose="020B0604020202020204" pitchFamily="34" charset="0"/>
            </a:endParaRPr>
          </a:p>
        </p:txBody>
      </p:sp>
      <p:sp>
        <p:nvSpPr>
          <p:cNvPr id="7" name="Rectangle 76"/>
          <p:cNvSpPr>
            <a:spLocks noChangeArrowheads="1"/>
          </p:cNvSpPr>
          <p:nvPr/>
        </p:nvSpPr>
        <p:spPr bwMode="auto">
          <a:xfrm>
            <a:off x="1979613" y="5548858"/>
            <a:ext cx="7445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6</a:t>
            </a:r>
            <a:endParaRPr lang="en-US" altLang="zh-CN" sz="2000" b="1">
              <a:effectLst/>
              <a:latin typeface="Arial" panose="020B0604020202020204" pitchFamily="34" charset="0"/>
            </a:endParaRPr>
          </a:p>
        </p:txBody>
      </p:sp>
      <p:sp>
        <p:nvSpPr>
          <p:cNvPr id="8" name="Rectangle 74"/>
          <p:cNvSpPr>
            <a:spLocks noChangeArrowheads="1"/>
          </p:cNvSpPr>
          <p:nvPr/>
        </p:nvSpPr>
        <p:spPr bwMode="auto">
          <a:xfrm>
            <a:off x="539750" y="5548858"/>
            <a:ext cx="14398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Z</a:t>
            </a:r>
            <a:endParaRPr lang="en-US" altLang="zh-CN" sz="2000" b="1">
              <a:effectLst/>
              <a:latin typeface="Arial" panose="020B0604020202020204" pitchFamily="34" charset="0"/>
            </a:endParaRPr>
          </a:p>
        </p:txBody>
      </p:sp>
      <p:sp>
        <p:nvSpPr>
          <p:cNvPr id="9" name="Rectangle 73"/>
          <p:cNvSpPr>
            <a:spLocks noChangeArrowheads="1"/>
          </p:cNvSpPr>
          <p:nvPr/>
        </p:nvSpPr>
        <p:spPr bwMode="auto">
          <a:xfrm>
            <a:off x="5940425" y="4543971"/>
            <a:ext cx="86360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latin typeface="Arial" panose="020B0604020202020204" pitchFamily="34" charset="0"/>
            </a:endParaRPr>
          </a:p>
        </p:txBody>
      </p:sp>
      <p:sp>
        <p:nvSpPr>
          <p:cNvPr id="10" name="Rectangle 72"/>
          <p:cNvSpPr>
            <a:spLocks noChangeArrowheads="1"/>
          </p:cNvSpPr>
          <p:nvPr/>
        </p:nvSpPr>
        <p:spPr bwMode="auto">
          <a:xfrm>
            <a:off x="2724150" y="4543971"/>
            <a:ext cx="3216275"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1      0       0      1      1</a:t>
            </a:r>
            <a:endParaRPr lang="en-US" altLang="zh-CN" sz="2000" b="1">
              <a:effectLst/>
              <a:latin typeface="Arial" panose="020B0604020202020204" pitchFamily="34" charset="0"/>
              <a:cs typeface="Times New Roman" panose="02020603050405020304" pitchFamily="18" charset="0"/>
            </a:endParaRPr>
          </a:p>
          <a:p>
            <a:pPr eaLnBrk="0" hangingPunct="0">
              <a:spcBef>
                <a:spcPct val="0"/>
              </a:spcBef>
              <a:buFontTx/>
              <a:buNone/>
            </a:pPr>
            <a:r>
              <a:rPr lang="en-US" altLang="zh-CN" sz="2000" b="1">
                <a:effectLst/>
                <a:latin typeface="Arial" panose="020B0604020202020204" pitchFamily="34" charset="0"/>
                <a:cs typeface="Arial" panose="020B0604020202020204" pitchFamily="34" charset="0"/>
              </a:rPr>
              <a:t>  0      1       0      0      1</a:t>
            </a:r>
            <a:endParaRPr lang="en-US" altLang="zh-CN" sz="2000" b="1">
              <a:effectLst/>
              <a:latin typeface="Arial" panose="020B0604020202020204" pitchFamily="34" charset="0"/>
              <a:cs typeface="Times New Roman" panose="02020603050405020304" pitchFamily="18" charset="0"/>
            </a:endParaRPr>
          </a:p>
          <a:p>
            <a:pPr eaLnBrk="0" hangingPunct="0">
              <a:spcBef>
                <a:spcPct val="0"/>
              </a:spcBef>
              <a:buFontTx/>
              <a:buNone/>
            </a:pPr>
            <a:r>
              <a:rPr lang="en-US" altLang="zh-CN" sz="2000" b="1">
                <a:effectLst/>
                <a:latin typeface="Arial" panose="020B0604020202020204" pitchFamily="34" charset="0"/>
                <a:cs typeface="Arial" panose="020B0604020202020204" pitchFamily="34" charset="0"/>
              </a:rPr>
              <a:t> -1      0       1      0      1</a:t>
            </a:r>
            <a:endParaRPr lang="en-US" altLang="zh-CN" sz="2000" b="1">
              <a:effectLst/>
              <a:latin typeface="Arial" panose="020B0604020202020204" pitchFamily="34" charset="0"/>
            </a:endParaRPr>
          </a:p>
        </p:txBody>
      </p:sp>
      <p:sp>
        <p:nvSpPr>
          <p:cNvPr id="11" name="Rectangle 71"/>
          <p:cNvSpPr>
            <a:spLocks noChangeArrowheads="1"/>
          </p:cNvSpPr>
          <p:nvPr/>
        </p:nvSpPr>
        <p:spPr bwMode="auto">
          <a:xfrm>
            <a:off x="1979613" y="4543971"/>
            <a:ext cx="744537"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3</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endParaRPr>
          </a:p>
        </p:txBody>
      </p:sp>
      <p:sp>
        <p:nvSpPr>
          <p:cNvPr id="12" name="Rectangle 70"/>
          <p:cNvSpPr>
            <a:spLocks noChangeArrowheads="1"/>
          </p:cNvSpPr>
          <p:nvPr/>
        </p:nvSpPr>
        <p:spPr bwMode="auto">
          <a:xfrm>
            <a:off x="1258888" y="4543971"/>
            <a:ext cx="720725"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4</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3</a:t>
            </a:r>
            <a:endParaRPr lang="en-US" altLang="zh-CN" sz="2000" b="1">
              <a:effectLst/>
              <a:latin typeface="Arial" panose="020B0604020202020204" pitchFamily="34" charset="0"/>
            </a:endParaRPr>
          </a:p>
        </p:txBody>
      </p:sp>
      <p:sp>
        <p:nvSpPr>
          <p:cNvPr id="14" name="Rectangle 69"/>
          <p:cNvSpPr>
            <a:spLocks noChangeArrowheads="1"/>
          </p:cNvSpPr>
          <p:nvPr/>
        </p:nvSpPr>
        <p:spPr bwMode="auto">
          <a:xfrm>
            <a:off x="539750" y="4543971"/>
            <a:ext cx="719138"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0</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0</a:t>
            </a:r>
            <a:endParaRPr lang="en-US" altLang="zh-CN" sz="2000" b="1">
              <a:effectLst/>
              <a:latin typeface="Arial" panose="020B0604020202020204" pitchFamily="34" charset="0"/>
            </a:endParaRPr>
          </a:p>
        </p:txBody>
      </p:sp>
      <p:sp>
        <p:nvSpPr>
          <p:cNvPr id="15" name="Rectangle 68"/>
          <p:cNvSpPr>
            <a:spLocks noChangeArrowheads="1"/>
          </p:cNvSpPr>
          <p:nvPr/>
        </p:nvSpPr>
        <p:spPr bwMode="auto">
          <a:xfrm>
            <a:off x="5940425" y="4148683"/>
            <a:ext cx="86360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latin typeface="Arial" panose="020B0604020202020204" pitchFamily="34" charset="0"/>
            </a:endParaRPr>
          </a:p>
        </p:txBody>
      </p:sp>
      <p:sp>
        <p:nvSpPr>
          <p:cNvPr id="16" name="Rectangle 67"/>
          <p:cNvSpPr>
            <a:spLocks noChangeArrowheads="1"/>
          </p:cNvSpPr>
          <p:nvPr/>
        </p:nvSpPr>
        <p:spPr bwMode="auto">
          <a:xfrm>
            <a:off x="2724150" y="4148683"/>
            <a:ext cx="32162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-3      0       2      0      0</a:t>
            </a:r>
            <a:endParaRPr lang="en-US" altLang="zh-CN" sz="2000" b="1">
              <a:effectLst/>
              <a:latin typeface="Arial" panose="020B0604020202020204" pitchFamily="34" charset="0"/>
            </a:endParaRPr>
          </a:p>
        </p:txBody>
      </p:sp>
      <p:sp>
        <p:nvSpPr>
          <p:cNvPr id="17" name="Rectangle 66"/>
          <p:cNvSpPr>
            <a:spLocks noChangeArrowheads="1"/>
          </p:cNvSpPr>
          <p:nvPr/>
        </p:nvSpPr>
        <p:spPr bwMode="auto">
          <a:xfrm>
            <a:off x="1979613" y="4148683"/>
            <a:ext cx="744537"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4</a:t>
            </a:r>
            <a:endParaRPr lang="en-US" altLang="zh-CN" sz="2000" b="1">
              <a:effectLst/>
              <a:latin typeface="Arial" panose="020B0604020202020204" pitchFamily="34" charset="0"/>
            </a:endParaRPr>
          </a:p>
        </p:txBody>
      </p:sp>
      <p:sp>
        <p:nvSpPr>
          <p:cNvPr id="18" name="Rectangle 64"/>
          <p:cNvSpPr>
            <a:spLocks noChangeArrowheads="1"/>
          </p:cNvSpPr>
          <p:nvPr/>
        </p:nvSpPr>
        <p:spPr bwMode="auto">
          <a:xfrm>
            <a:off x="539750" y="4148683"/>
            <a:ext cx="1439863"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Z</a:t>
            </a:r>
            <a:endParaRPr lang="en-US" altLang="zh-CN" sz="2000" b="1">
              <a:effectLst/>
              <a:latin typeface="Arial" panose="020B0604020202020204" pitchFamily="34" charset="0"/>
            </a:endParaRPr>
          </a:p>
        </p:txBody>
      </p:sp>
      <p:sp>
        <p:nvSpPr>
          <p:cNvPr id="19" name="Rectangle 63"/>
          <p:cNvSpPr>
            <a:spLocks noChangeArrowheads="1"/>
          </p:cNvSpPr>
          <p:nvPr/>
        </p:nvSpPr>
        <p:spPr bwMode="auto">
          <a:xfrm>
            <a:off x="5940425" y="3007271"/>
            <a:ext cx="863600" cy="114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latin typeface="Arial" panose="020B0604020202020204" pitchFamily="34" charset="0"/>
            </a:endParaRPr>
          </a:p>
        </p:txBody>
      </p:sp>
      <p:sp>
        <p:nvSpPr>
          <p:cNvPr id="20" name="Rectangle 62"/>
          <p:cNvSpPr>
            <a:spLocks noChangeArrowheads="1"/>
          </p:cNvSpPr>
          <p:nvPr/>
        </p:nvSpPr>
        <p:spPr bwMode="auto">
          <a:xfrm>
            <a:off x="2724150" y="3007271"/>
            <a:ext cx="3216275" cy="114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133350"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2      0      -1      1      0</a:t>
            </a:r>
            <a:endParaRPr lang="en-US" altLang="zh-CN" sz="2000" b="1">
              <a:effectLst/>
              <a:latin typeface="Arial" panose="020B0604020202020204" pitchFamily="34" charset="0"/>
              <a:cs typeface="Times New Roman" panose="02020603050405020304" pitchFamily="18" charset="0"/>
            </a:endParaRPr>
          </a:p>
          <a:p>
            <a:pPr eaLnBrk="0" hangingPunct="0">
              <a:spcBef>
                <a:spcPct val="0"/>
              </a:spcBef>
              <a:buFontTx/>
              <a:buNone/>
            </a:pPr>
            <a:r>
              <a:rPr lang="en-US" altLang="zh-CN" sz="2000" b="1">
                <a:effectLst/>
                <a:latin typeface="Arial" panose="020B0604020202020204" pitchFamily="34" charset="0"/>
                <a:cs typeface="Arial" panose="020B0604020202020204" pitchFamily="34" charset="0"/>
              </a:rPr>
              <a:t>  1      1      -1      0      0</a:t>
            </a:r>
            <a:endParaRPr lang="en-US" altLang="zh-CN" sz="2000" b="1">
              <a:effectLst/>
              <a:latin typeface="Arial" panose="020B0604020202020204" pitchFamily="34" charset="0"/>
              <a:cs typeface="Times New Roman" panose="02020603050405020304" pitchFamily="18" charset="0"/>
            </a:endParaRPr>
          </a:p>
          <a:p>
            <a:pPr eaLnBrk="0" hangingPunct="0">
              <a:spcBef>
                <a:spcPct val="0"/>
              </a:spcBef>
              <a:buFontTx/>
              <a:buNone/>
            </a:pPr>
            <a:r>
              <a:rPr lang="en-US" altLang="zh-CN" sz="2000" b="1">
                <a:effectLst/>
                <a:latin typeface="Arial" panose="020B0604020202020204" pitchFamily="34" charset="0"/>
                <a:cs typeface="Arial" panose="020B0604020202020204" pitchFamily="34" charset="0"/>
              </a:rPr>
              <a:t> -1      0       1      0      1</a:t>
            </a:r>
            <a:endParaRPr lang="en-US" altLang="zh-CN" sz="2000" b="1">
              <a:effectLst/>
              <a:latin typeface="Arial" panose="020B0604020202020204" pitchFamily="34" charset="0"/>
            </a:endParaRPr>
          </a:p>
        </p:txBody>
      </p:sp>
      <p:sp>
        <p:nvSpPr>
          <p:cNvPr id="21" name="Rectangle 61"/>
          <p:cNvSpPr>
            <a:spLocks noChangeArrowheads="1"/>
          </p:cNvSpPr>
          <p:nvPr/>
        </p:nvSpPr>
        <p:spPr bwMode="auto">
          <a:xfrm>
            <a:off x="1979613" y="3007271"/>
            <a:ext cx="744537" cy="114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endParaRPr>
          </a:p>
        </p:txBody>
      </p:sp>
      <p:sp>
        <p:nvSpPr>
          <p:cNvPr id="22" name="Rectangle 60"/>
          <p:cNvSpPr>
            <a:spLocks noChangeArrowheads="1"/>
          </p:cNvSpPr>
          <p:nvPr/>
        </p:nvSpPr>
        <p:spPr bwMode="auto">
          <a:xfrm>
            <a:off x="1258888" y="3007271"/>
            <a:ext cx="720725" cy="114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4</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5</a:t>
            </a:r>
            <a:endParaRPr lang="en-US" altLang="zh-CN" sz="2000" b="1">
              <a:effectLst/>
              <a:latin typeface="Arial" panose="020B0604020202020204" pitchFamily="34" charset="0"/>
            </a:endParaRPr>
          </a:p>
        </p:txBody>
      </p:sp>
      <p:sp>
        <p:nvSpPr>
          <p:cNvPr id="23" name="Rectangle 59"/>
          <p:cNvSpPr>
            <a:spLocks noChangeArrowheads="1"/>
          </p:cNvSpPr>
          <p:nvPr/>
        </p:nvSpPr>
        <p:spPr bwMode="auto">
          <a:xfrm>
            <a:off x="539750" y="3007271"/>
            <a:ext cx="719138" cy="1141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0</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0</a:t>
            </a:r>
            <a:endParaRPr lang="en-US" altLang="zh-CN" sz="2000" b="1">
              <a:effectLst/>
              <a:latin typeface="Arial" panose="020B0604020202020204" pitchFamily="34" charset="0"/>
            </a:endParaRPr>
          </a:p>
        </p:txBody>
      </p:sp>
      <p:sp>
        <p:nvSpPr>
          <p:cNvPr id="24" name="Rectangle 58"/>
          <p:cNvSpPr>
            <a:spLocks noChangeArrowheads="1"/>
          </p:cNvSpPr>
          <p:nvPr/>
        </p:nvSpPr>
        <p:spPr bwMode="auto">
          <a:xfrm>
            <a:off x="5940425" y="2611983"/>
            <a:ext cx="86360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buFontTx/>
              <a:buNone/>
            </a:pPr>
            <a:endParaRPr lang="x-none" altLang="x-none" sz="2000" b="1">
              <a:effectLst/>
              <a:latin typeface="Arial" panose="020B0604020202020204" pitchFamily="34" charset="0"/>
            </a:endParaRPr>
          </a:p>
        </p:txBody>
      </p:sp>
      <p:sp>
        <p:nvSpPr>
          <p:cNvPr id="25" name="Rectangle 57"/>
          <p:cNvSpPr>
            <a:spLocks noChangeArrowheads="1"/>
          </p:cNvSpPr>
          <p:nvPr/>
        </p:nvSpPr>
        <p:spPr bwMode="auto">
          <a:xfrm>
            <a:off x="2724150" y="2611983"/>
            <a:ext cx="3216275"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b="1">
                <a:effectLst/>
                <a:latin typeface="Arial" panose="020B0604020202020204" pitchFamily="34" charset="0"/>
                <a:cs typeface="Arial" panose="020B0604020202020204" pitchFamily="34" charset="0"/>
              </a:rPr>
              <a:t>　</a:t>
            </a:r>
            <a:r>
              <a:rPr lang="en-US" altLang="zh-CN" sz="2000" b="1">
                <a:effectLst/>
                <a:latin typeface="Arial" panose="020B0604020202020204" pitchFamily="34" charset="0"/>
                <a:cs typeface="Arial" panose="020B0604020202020204" pitchFamily="34" charset="0"/>
              </a:rPr>
              <a:t>0      0     1/2   3/2     0</a:t>
            </a:r>
            <a:endParaRPr lang="en-US" altLang="zh-CN" sz="2000" b="1">
              <a:effectLst/>
              <a:latin typeface="Arial" panose="020B0604020202020204" pitchFamily="34" charset="0"/>
            </a:endParaRPr>
          </a:p>
        </p:txBody>
      </p:sp>
      <p:sp>
        <p:nvSpPr>
          <p:cNvPr id="26" name="Rectangle 56"/>
          <p:cNvSpPr>
            <a:spLocks noChangeArrowheads="1"/>
          </p:cNvSpPr>
          <p:nvPr/>
        </p:nvSpPr>
        <p:spPr bwMode="auto">
          <a:xfrm>
            <a:off x="1979613" y="2611983"/>
            <a:ext cx="744537"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5/2</a:t>
            </a:r>
            <a:endParaRPr lang="en-US" altLang="zh-CN" sz="2000" b="1">
              <a:effectLst/>
              <a:latin typeface="Arial" panose="020B0604020202020204" pitchFamily="34" charset="0"/>
            </a:endParaRPr>
          </a:p>
        </p:txBody>
      </p:sp>
      <p:sp>
        <p:nvSpPr>
          <p:cNvPr id="27" name="Rectangle 54"/>
          <p:cNvSpPr>
            <a:spLocks noChangeArrowheads="1"/>
          </p:cNvSpPr>
          <p:nvPr/>
        </p:nvSpPr>
        <p:spPr bwMode="auto">
          <a:xfrm>
            <a:off x="539750" y="2611983"/>
            <a:ext cx="1439863"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Z</a:t>
            </a:r>
            <a:endParaRPr lang="en-US" altLang="zh-CN" sz="2000" b="1">
              <a:effectLst/>
              <a:latin typeface="Arial" panose="020B0604020202020204" pitchFamily="34" charset="0"/>
            </a:endParaRPr>
          </a:p>
        </p:txBody>
      </p:sp>
      <p:sp>
        <p:nvSpPr>
          <p:cNvPr id="28" name="Rectangle 53"/>
          <p:cNvSpPr>
            <a:spLocks noChangeArrowheads="1"/>
          </p:cNvSpPr>
          <p:nvPr/>
        </p:nvSpPr>
        <p:spPr bwMode="auto">
          <a:xfrm>
            <a:off x="5940425" y="1607096"/>
            <a:ext cx="863600"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baseline="30000">
                <a:effectLst/>
                <a:latin typeface="Arial" panose="020B0604020202020204" pitchFamily="34" charset="0"/>
                <a:cs typeface="Arial" panose="020B0604020202020204" pitchFamily="34" charset="0"/>
              </a:rPr>
              <a:t>1/2</a:t>
            </a:r>
            <a:r>
              <a:rPr lang="en-US" altLang="zh-CN" sz="2000" b="1">
                <a:effectLst/>
                <a:latin typeface="Arial" panose="020B0604020202020204" pitchFamily="34" charset="0"/>
                <a:cs typeface="Arial" panose="020B0604020202020204" pitchFamily="34" charset="0"/>
              </a:rPr>
              <a:t>/</a:t>
            </a:r>
            <a:r>
              <a:rPr lang="en-US" altLang="zh-CN" sz="2000" b="1" baseline="-30000">
                <a:effectLst/>
                <a:latin typeface="Arial" panose="020B0604020202020204" pitchFamily="34" charset="0"/>
                <a:cs typeface="Arial" panose="020B0604020202020204" pitchFamily="34" charset="0"/>
              </a:rPr>
              <a:t>1/2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baseline="30000">
                <a:effectLst/>
                <a:latin typeface="Arial" panose="020B0604020202020204" pitchFamily="34" charset="0"/>
                <a:cs typeface="Arial" panose="020B0604020202020204" pitchFamily="34" charset="0"/>
              </a:rPr>
              <a:t>3/2</a:t>
            </a:r>
            <a:r>
              <a:rPr lang="en-US" altLang="zh-CN" sz="2000" b="1">
                <a:effectLst/>
                <a:latin typeface="Arial" panose="020B0604020202020204" pitchFamily="34" charset="0"/>
                <a:cs typeface="Arial" panose="020B0604020202020204" pitchFamily="34" charset="0"/>
              </a:rPr>
              <a:t>/</a:t>
            </a:r>
            <a:r>
              <a:rPr lang="en-US" altLang="zh-CN" sz="2000" b="1" baseline="-30000">
                <a:effectLst/>
                <a:latin typeface="Arial" panose="020B0604020202020204" pitchFamily="34" charset="0"/>
                <a:cs typeface="Arial" panose="020B0604020202020204" pitchFamily="34" charset="0"/>
              </a:rPr>
              <a:t>1/2</a:t>
            </a:r>
            <a:endParaRPr lang="en-US" altLang="zh-CN" sz="2000" b="1">
              <a:effectLst/>
              <a:latin typeface="Arial" panose="020B0604020202020204" pitchFamily="34" charset="0"/>
            </a:endParaRPr>
          </a:p>
        </p:txBody>
      </p:sp>
      <p:sp>
        <p:nvSpPr>
          <p:cNvPr id="29" name="Rectangle 52"/>
          <p:cNvSpPr>
            <a:spLocks noChangeArrowheads="1"/>
          </p:cNvSpPr>
          <p:nvPr/>
        </p:nvSpPr>
        <p:spPr bwMode="auto">
          <a:xfrm>
            <a:off x="2724150" y="1607096"/>
            <a:ext cx="3216275"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indent="200025"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effectLst/>
                <a:latin typeface="Arial" panose="020B0604020202020204" pitchFamily="34" charset="0"/>
                <a:cs typeface="Arial" panose="020B0604020202020204" pitchFamily="34" charset="0"/>
              </a:rPr>
              <a:t> 1      0    -1/2   1/2     0</a:t>
            </a:r>
            <a:endParaRPr lang="en-US" altLang="zh-CN" sz="2000" b="1">
              <a:effectLst/>
              <a:latin typeface="Arial" panose="020B0604020202020204" pitchFamily="34" charset="0"/>
              <a:cs typeface="Times New Roman" panose="02020603050405020304" pitchFamily="18" charset="0"/>
            </a:endParaRPr>
          </a:p>
          <a:p>
            <a:pPr eaLnBrk="0" hangingPunct="0">
              <a:spcBef>
                <a:spcPct val="0"/>
              </a:spcBef>
              <a:buFontTx/>
              <a:buNone/>
            </a:pPr>
            <a:r>
              <a:rPr lang="en-US" altLang="zh-CN" sz="2000" b="1">
                <a:effectLst/>
                <a:latin typeface="Arial" panose="020B0604020202020204" pitchFamily="34" charset="0"/>
                <a:cs typeface="Arial" panose="020B0604020202020204" pitchFamily="34" charset="0"/>
              </a:rPr>
              <a:t> 0      1    -1/2  -1/2     0</a:t>
            </a:r>
            <a:endParaRPr lang="en-US" altLang="zh-CN" sz="2000" b="1">
              <a:effectLst/>
              <a:latin typeface="Arial" panose="020B0604020202020204" pitchFamily="34" charset="0"/>
              <a:cs typeface="Times New Roman" panose="02020603050405020304" pitchFamily="18" charset="0"/>
            </a:endParaRPr>
          </a:p>
          <a:p>
            <a:pPr eaLnBrk="0" hangingPunct="0">
              <a:spcBef>
                <a:spcPct val="0"/>
              </a:spcBef>
              <a:buFontTx/>
              <a:buNone/>
            </a:pPr>
            <a:r>
              <a:rPr lang="en-US" altLang="zh-CN" sz="2000" b="1">
                <a:effectLst/>
                <a:latin typeface="Arial" panose="020B0604020202020204" pitchFamily="34" charset="0"/>
                <a:cs typeface="Arial" panose="020B0604020202020204" pitchFamily="34" charset="0"/>
              </a:rPr>
              <a:t> 0      0     1/2   1/2     1</a:t>
            </a:r>
            <a:endParaRPr lang="en-US" altLang="zh-CN" sz="2000" b="1">
              <a:effectLst/>
              <a:latin typeface="Arial" panose="020B0604020202020204" pitchFamily="34" charset="0"/>
            </a:endParaRPr>
          </a:p>
        </p:txBody>
      </p:sp>
      <p:sp>
        <p:nvSpPr>
          <p:cNvPr id="30" name="Rectangle 51"/>
          <p:cNvSpPr>
            <a:spLocks noChangeArrowheads="1"/>
          </p:cNvSpPr>
          <p:nvPr/>
        </p:nvSpPr>
        <p:spPr bwMode="auto">
          <a:xfrm>
            <a:off x="1979613" y="1607096"/>
            <a:ext cx="744537"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1/2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3/2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3/2</a:t>
            </a:r>
            <a:endParaRPr lang="en-US" altLang="zh-CN" sz="2000" b="1">
              <a:effectLst/>
              <a:latin typeface="Arial" panose="020B0604020202020204" pitchFamily="34" charset="0"/>
            </a:endParaRPr>
          </a:p>
        </p:txBody>
      </p:sp>
      <p:sp>
        <p:nvSpPr>
          <p:cNvPr id="32" name="Rectangle 50"/>
          <p:cNvSpPr>
            <a:spLocks noChangeArrowheads="1"/>
          </p:cNvSpPr>
          <p:nvPr/>
        </p:nvSpPr>
        <p:spPr bwMode="auto">
          <a:xfrm>
            <a:off x="1258888" y="1607096"/>
            <a:ext cx="720725"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5</a:t>
            </a:r>
            <a:endParaRPr lang="en-US" altLang="zh-CN" sz="2000" b="1">
              <a:effectLst/>
              <a:latin typeface="Arial" panose="020B0604020202020204" pitchFamily="34" charset="0"/>
            </a:endParaRPr>
          </a:p>
        </p:txBody>
      </p:sp>
      <p:sp>
        <p:nvSpPr>
          <p:cNvPr id="33" name="Rectangle 49"/>
          <p:cNvSpPr>
            <a:spLocks noChangeArrowheads="1"/>
          </p:cNvSpPr>
          <p:nvPr/>
        </p:nvSpPr>
        <p:spPr bwMode="auto">
          <a:xfrm>
            <a:off x="539750" y="1607096"/>
            <a:ext cx="719138" cy="1004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-1</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2</a:t>
            </a:r>
            <a:endParaRPr lang="en-US" altLang="zh-CN" sz="2000" b="1">
              <a:effectLst/>
              <a:latin typeface="Arial" panose="020B0604020202020204" pitchFamily="34" charset="0"/>
              <a:cs typeface="Times New Roman" panose="02020603050405020304" pitchFamily="18" charset="0"/>
            </a:endParaRPr>
          </a:p>
          <a:p>
            <a:pPr algn="ctr" eaLnBrk="0" hangingPunct="0">
              <a:spcBef>
                <a:spcPct val="0"/>
              </a:spcBef>
              <a:buFontTx/>
              <a:buNone/>
            </a:pPr>
            <a:r>
              <a:rPr lang="en-US" altLang="zh-CN" sz="2000" b="1">
                <a:effectLst/>
                <a:latin typeface="Arial" panose="020B0604020202020204" pitchFamily="34" charset="0"/>
                <a:cs typeface="Arial" panose="020B0604020202020204" pitchFamily="34" charset="0"/>
              </a:rPr>
              <a:t>0</a:t>
            </a:r>
            <a:endParaRPr lang="en-US" altLang="zh-CN" sz="2000" b="1">
              <a:effectLst/>
              <a:latin typeface="Arial" panose="020B0604020202020204" pitchFamily="34" charset="0"/>
            </a:endParaRPr>
          </a:p>
        </p:txBody>
      </p:sp>
      <p:sp>
        <p:nvSpPr>
          <p:cNvPr id="34" name="Rectangle 47"/>
          <p:cNvSpPr>
            <a:spLocks noChangeArrowheads="1"/>
          </p:cNvSpPr>
          <p:nvPr/>
        </p:nvSpPr>
        <p:spPr bwMode="auto">
          <a:xfrm>
            <a:off x="2724150" y="1161008"/>
            <a:ext cx="3216275"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b="1">
                <a:effectLst/>
                <a:latin typeface="Arial" panose="020B0604020202020204" pitchFamily="34" charset="0"/>
                <a:cs typeface="Arial" panose="020B0604020202020204" pitchFamily="34" charset="0"/>
              </a:rPr>
              <a:t>　</a:t>
            </a: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1</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2</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3</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4</a:t>
            </a:r>
            <a:r>
              <a:rPr lang="en-US" altLang="zh-CN" sz="2000" b="1">
                <a:effectLst/>
                <a:latin typeface="Arial" panose="020B0604020202020204" pitchFamily="34" charset="0"/>
                <a:cs typeface="Arial" panose="020B0604020202020204" pitchFamily="34" charset="0"/>
              </a:rPr>
              <a:t>     x</a:t>
            </a:r>
            <a:r>
              <a:rPr lang="en-US" altLang="zh-CN" sz="2000" b="1" baseline="-30000">
                <a:effectLst/>
                <a:latin typeface="Arial" panose="020B0604020202020204" pitchFamily="34" charset="0"/>
                <a:cs typeface="Arial" panose="020B0604020202020204" pitchFamily="34" charset="0"/>
              </a:rPr>
              <a:t>5</a:t>
            </a:r>
            <a:r>
              <a:rPr lang="en-US" altLang="zh-CN" sz="2000" b="1">
                <a:effectLst/>
                <a:latin typeface="Arial" panose="020B0604020202020204" pitchFamily="34" charset="0"/>
                <a:cs typeface="Arial" panose="020B0604020202020204" pitchFamily="34" charset="0"/>
              </a:rPr>
              <a:t>   </a:t>
            </a:r>
            <a:endParaRPr lang="en-US" altLang="zh-CN" sz="2000" b="1">
              <a:effectLst/>
              <a:latin typeface="Arial" panose="020B0604020202020204" pitchFamily="34" charset="0"/>
            </a:endParaRPr>
          </a:p>
        </p:txBody>
      </p:sp>
      <p:sp>
        <p:nvSpPr>
          <p:cNvPr id="35" name="Rectangle 46"/>
          <p:cNvSpPr>
            <a:spLocks noChangeArrowheads="1"/>
          </p:cNvSpPr>
          <p:nvPr/>
        </p:nvSpPr>
        <p:spPr bwMode="auto">
          <a:xfrm>
            <a:off x="1979613" y="1161008"/>
            <a:ext cx="744537"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b</a:t>
            </a:r>
            <a:endParaRPr lang="en-US" altLang="zh-CN" sz="2000" b="1">
              <a:effectLst/>
              <a:latin typeface="Arial" panose="020B0604020202020204" pitchFamily="34" charset="0"/>
            </a:endParaRPr>
          </a:p>
        </p:txBody>
      </p:sp>
      <p:sp>
        <p:nvSpPr>
          <p:cNvPr id="36" name="Rectangle 45"/>
          <p:cNvSpPr>
            <a:spLocks noChangeArrowheads="1"/>
          </p:cNvSpPr>
          <p:nvPr/>
        </p:nvSpPr>
        <p:spPr bwMode="auto">
          <a:xfrm>
            <a:off x="1258888" y="1161008"/>
            <a:ext cx="720725"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X</a:t>
            </a:r>
            <a:r>
              <a:rPr lang="en-US" altLang="zh-CN" sz="2000" b="1" baseline="-30000">
                <a:effectLst/>
                <a:latin typeface="Arial" panose="020B0604020202020204" pitchFamily="34" charset="0"/>
                <a:cs typeface="Arial" panose="020B0604020202020204" pitchFamily="34" charset="0"/>
              </a:rPr>
              <a:t>B</a:t>
            </a:r>
            <a:endParaRPr lang="en-US" altLang="zh-CN" sz="2000" b="1">
              <a:effectLst/>
              <a:latin typeface="Arial" panose="020B0604020202020204" pitchFamily="34" charset="0"/>
            </a:endParaRPr>
          </a:p>
        </p:txBody>
      </p:sp>
      <p:sp>
        <p:nvSpPr>
          <p:cNvPr id="37" name="Rectangle 44"/>
          <p:cNvSpPr>
            <a:spLocks noChangeArrowheads="1"/>
          </p:cNvSpPr>
          <p:nvPr/>
        </p:nvSpPr>
        <p:spPr bwMode="auto">
          <a:xfrm>
            <a:off x="539750" y="1161008"/>
            <a:ext cx="719138"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effectLst/>
                <a:latin typeface="Arial" panose="020B0604020202020204" pitchFamily="34" charset="0"/>
                <a:cs typeface="Arial" panose="020B0604020202020204" pitchFamily="34" charset="0"/>
              </a:rPr>
              <a:t>C</a:t>
            </a:r>
            <a:r>
              <a:rPr lang="en-US" altLang="zh-CN" sz="2000" b="1" baseline="-30000">
                <a:effectLst/>
                <a:latin typeface="Arial" panose="020B0604020202020204" pitchFamily="34" charset="0"/>
                <a:cs typeface="Arial" panose="020B0604020202020204" pitchFamily="34" charset="0"/>
              </a:rPr>
              <a:t>B</a:t>
            </a:r>
            <a:endParaRPr lang="en-US" altLang="zh-CN" sz="2000" b="1">
              <a:effectLst/>
              <a:latin typeface="Arial" panose="020B0604020202020204" pitchFamily="34" charset="0"/>
            </a:endParaRPr>
          </a:p>
        </p:txBody>
      </p:sp>
      <p:sp>
        <p:nvSpPr>
          <p:cNvPr id="38" name="Rectangle 43"/>
          <p:cNvSpPr>
            <a:spLocks noChangeArrowheads="1"/>
          </p:cNvSpPr>
          <p:nvPr/>
        </p:nvSpPr>
        <p:spPr bwMode="auto">
          <a:xfrm>
            <a:off x="5940425" y="765721"/>
            <a:ext cx="863600" cy="84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l-GR" altLang="zh-CN" sz="2000" b="1">
                <a:effectLst/>
                <a:latin typeface="Arial" panose="020B0604020202020204" pitchFamily="34" charset="0"/>
                <a:cs typeface="Arial" panose="020B0604020202020204" pitchFamily="34" charset="0"/>
              </a:rPr>
              <a:t>θ</a:t>
            </a:r>
            <a:endParaRPr lang="en-US" altLang="zh-CN" sz="2000" b="1">
              <a:effectLst/>
              <a:latin typeface="Arial" panose="020B0604020202020204" pitchFamily="34" charset="0"/>
            </a:endParaRPr>
          </a:p>
        </p:txBody>
      </p:sp>
      <p:sp>
        <p:nvSpPr>
          <p:cNvPr id="39" name="Rectangle 42"/>
          <p:cNvSpPr>
            <a:spLocks noChangeArrowheads="1"/>
          </p:cNvSpPr>
          <p:nvPr/>
        </p:nvSpPr>
        <p:spPr bwMode="auto">
          <a:xfrm>
            <a:off x="2724150" y="765721"/>
            <a:ext cx="3216275"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000" b="1">
                <a:solidFill>
                  <a:schemeClr val="accent2"/>
                </a:solidFill>
                <a:effectLst/>
                <a:latin typeface="Arial" panose="020B0604020202020204" pitchFamily="34" charset="0"/>
                <a:cs typeface="Arial" panose="020B0604020202020204" pitchFamily="34" charset="0"/>
              </a:rPr>
              <a:t>　</a:t>
            </a:r>
            <a:r>
              <a:rPr lang="en-US" altLang="zh-CN" sz="2000" b="1">
                <a:solidFill>
                  <a:schemeClr val="accent2"/>
                </a:solidFill>
                <a:effectLst/>
                <a:latin typeface="Arial" panose="020B0604020202020204" pitchFamily="34" charset="0"/>
                <a:cs typeface="Arial" panose="020B0604020202020204" pitchFamily="34" charset="0"/>
              </a:rPr>
              <a:t>-1     2       0      0      0</a:t>
            </a:r>
            <a:endParaRPr lang="en-US" altLang="zh-CN" sz="2000" b="1">
              <a:solidFill>
                <a:schemeClr val="accent2"/>
              </a:solidFill>
              <a:effectLst/>
              <a:latin typeface="Arial" panose="020B0604020202020204" pitchFamily="34" charset="0"/>
            </a:endParaRPr>
          </a:p>
        </p:txBody>
      </p:sp>
      <p:sp>
        <p:nvSpPr>
          <p:cNvPr id="40" name="Rectangle 39"/>
          <p:cNvSpPr>
            <a:spLocks noChangeArrowheads="1"/>
          </p:cNvSpPr>
          <p:nvPr/>
        </p:nvSpPr>
        <p:spPr bwMode="auto">
          <a:xfrm>
            <a:off x="539750" y="765721"/>
            <a:ext cx="2184400" cy="39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a:spcBef>
                <a:spcPct val="20000"/>
              </a:spcBef>
              <a:buChar char="•"/>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buChar char="–"/>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buChar char="•"/>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buChar char="–"/>
              <a:defRPr kumimoji="1">
                <a:solidFill>
                  <a:schemeClr val="tx1"/>
                </a:solidFill>
                <a:latin typeface="Times New Roman" panose="02020603050405020304" pitchFamily="18" charset="0"/>
                <a:ea typeface="宋体" panose="02010600030101010101" pitchFamily="2" charset="-122"/>
              </a:defRPr>
            </a:lvl4pPr>
            <a:lvl5pPr algn="l">
              <a:spcBef>
                <a:spcPct val="20000"/>
              </a:spcBef>
              <a:buChar cha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Char char="»"/>
              <a:defRPr kumimoji="1">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lang="en-US" altLang="zh-CN" sz="2000" b="1">
                <a:solidFill>
                  <a:schemeClr val="accent2"/>
                </a:solidFill>
                <a:effectLst/>
                <a:latin typeface="Arial" panose="020B0604020202020204" pitchFamily="34" charset="0"/>
                <a:cs typeface="Arial" panose="020B0604020202020204" pitchFamily="34" charset="0"/>
              </a:rPr>
              <a:t>C</a:t>
            </a:r>
            <a:endParaRPr lang="en-US" altLang="zh-CN" sz="2000" b="1">
              <a:solidFill>
                <a:schemeClr val="accent2"/>
              </a:solidFill>
              <a:effectLst/>
              <a:latin typeface="Arial" panose="020B0604020202020204" pitchFamily="34" charset="0"/>
            </a:endParaRPr>
          </a:p>
        </p:txBody>
      </p:sp>
      <p:sp>
        <p:nvSpPr>
          <p:cNvPr id="41" name="Line 85"/>
          <p:cNvSpPr>
            <a:spLocks noChangeShapeType="1"/>
          </p:cNvSpPr>
          <p:nvPr/>
        </p:nvSpPr>
        <p:spPr bwMode="auto">
          <a:xfrm>
            <a:off x="539750" y="1161008"/>
            <a:ext cx="54006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2" name="Line 89"/>
          <p:cNvSpPr>
            <a:spLocks noChangeShapeType="1"/>
          </p:cNvSpPr>
          <p:nvPr/>
        </p:nvSpPr>
        <p:spPr bwMode="auto">
          <a:xfrm>
            <a:off x="2724150" y="765721"/>
            <a:ext cx="0" cy="518318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3" name="Line 92"/>
          <p:cNvSpPr>
            <a:spLocks noChangeShapeType="1"/>
          </p:cNvSpPr>
          <p:nvPr/>
        </p:nvSpPr>
        <p:spPr bwMode="auto">
          <a:xfrm>
            <a:off x="5940425" y="765721"/>
            <a:ext cx="0" cy="518318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4" name="Line 98"/>
          <p:cNvSpPr>
            <a:spLocks noChangeShapeType="1"/>
          </p:cNvSpPr>
          <p:nvPr/>
        </p:nvSpPr>
        <p:spPr bwMode="auto">
          <a:xfrm>
            <a:off x="1258888" y="1126083"/>
            <a:ext cx="0" cy="1450975"/>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5" name="Line 102"/>
          <p:cNvSpPr>
            <a:spLocks noChangeShapeType="1"/>
          </p:cNvSpPr>
          <p:nvPr/>
        </p:nvSpPr>
        <p:spPr bwMode="auto">
          <a:xfrm>
            <a:off x="1979613" y="1161008"/>
            <a:ext cx="0" cy="478790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6" name="Line 112"/>
          <p:cNvSpPr>
            <a:spLocks noChangeShapeType="1"/>
          </p:cNvSpPr>
          <p:nvPr/>
        </p:nvSpPr>
        <p:spPr bwMode="auto">
          <a:xfrm>
            <a:off x="539750" y="2611983"/>
            <a:ext cx="62642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7" name="Line 156"/>
          <p:cNvSpPr>
            <a:spLocks noChangeShapeType="1"/>
          </p:cNvSpPr>
          <p:nvPr/>
        </p:nvSpPr>
        <p:spPr bwMode="auto">
          <a:xfrm>
            <a:off x="539750" y="4148683"/>
            <a:ext cx="62642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8" name="Line 158"/>
          <p:cNvSpPr>
            <a:spLocks noChangeShapeType="1"/>
          </p:cNvSpPr>
          <p:nvPr/>
        </p:nvSpPr>
        <p:spPr bwMode="auto">
          <a:xfrm>
            <a:off x="1258888" y="3007271"/>
            <a:ext cx="0" cy="1141412"/>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49" name="Line 199"/>
          <p:cNvSpPr>
            <a:spLocks noChangeShapeType="1"/>
          </p:cNvSpPr>
          <p:nvPr/>
        </p:nvSpPr>
        <p:spPr bwMode="auto">
          <a:xfrm>
            <a:off x="539750" y="5548858"/>
            <a:ext cx="6264275"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50" name="Line 201"/>
          <p:cNvSpPr>
            <a:spLocks noChangeShapeType="1"/>
          </p:cNvSpPr>
          <p:nvPr/>
        </p:nvSpPr>
        <p:spPr bwMode="auto">
          <a:xfrm>
            <a:off x="1258888" y="4543971"/>
            <a:ext cx="0" cy="1004887"/>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51" name="Line 79"/>
          <p:cNvSpPr>
            <a:spLocks noChangeShapeType="1"/>
          </p:cNvSpPr>
          <p:nvPr/>
        </p:nvSpPr>
        <p:spPr bwMode="auto">
          <a:xfrm>
            <a:off x="539750" y="765721"/>
            <a:ext cx="626427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52" name="Line 81"/>
          <p:cNvSpPr>
            <a:spLocks noChangeShapeType="1"/>
          </p:cNvSpPr>
          <p:nvPr/>
        </p:nvSpPr>
        <p:spPr bwMode="auto">
          <a:xfrm>
            <a:off x="539750" y="765721"/>
            <a:ext cx="0" cy="518318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53" name="Line 82"/>
          <p:cNvSpPr>
            <a:spLocks noChangeShapeType="1"/>
          </p:cNvSpPr>
          <p:nvPr/>
        </p:nvSpPr>
        <p:spPr bwMode="auto">
          <a:xfrm>
            <a:off x="6804025" y="765721"/>
            <a:ext cx="0" cy="5183187"/>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54" name="Line 80"/>
          <p:cNvSpPr>
            <a:spLocks noChangeShapeType="1"/>
          </p:cNvSpPr>
          <p:nvPr/>
        </p:nvSpPr>
        <p:spPr bwMode="auto">
          <a:xfrm>
            <a:off x="539750" y="5948908"/>
            <a:ext cx="626427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55" name="Line 96"/>
          <p:cNvSpPr>
            <a:spLocks noChangeShapeType="1"/>
          </p:cNvSpPr>
          <p:nvPr/>
        </p:nvSpPr>
        <p:spPr bwMode="auto">
          <a:xfrm>
            <a:off x="539750" y="1607096"/>
            <a:ext cx="626427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56" name="Line 135"/>
          <p:cNvSpPr>
            <a:spLocks noChangeShapeType="1"/>
          </p:cNvSpPr>
          <p:nvPr/>
        </p:nvSpPr>
        <p:spPr bwMode="auto">
          <a:xfrm>
            <a:off x="539750" y="3007271"/>
            <a:ext cx="626427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57" name="Line 178"/>
          <p:cNvSpPr>
            <a:spLocks noChangeShapeType="1"/>
          </p:cNvSpPr>
          <p:nvPr/>
        </p:nvSpPr>
        <p:spPr bwMode="auto">
          <a:xfrm>
            <a:off x="539750" y="4543971"/>
            <a:ext cx="6264275"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x-none"/>
          </a:p>
        </p:txBody>
      </p:sp>
      <p:sp>
        <p:nvSpPr>
          <p:cNvPr id="58" name="Rectangle 263"/>
          <p:cNvSpPr>
            <a:spLocks noChangeArrowheads="1"/>
          </p:cNvSpPr>
          <p:nvPr/>
        </p:nvSpPr>
        <p:spPr bwMode="auto">
          <a:xfrm>
            <a:off x="395288" y="5912445"/>
            <a:ext cx="8353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000" b="1" dirty="0">
                <a:effectLst/>
                <a:ea typeface="楷体_GB2312" pitchFamily="49" charset="-122"/>
              </a:rPr>
              <a:t>得最优解 </a:t>
            </a:r>
            <a:r>
              <a:rPr lang="en-US" altLang="zh-CN" sz="2000" b="1" dirty="0">
                <a:effectLst/>
                <a:ea typeface="楷体_GB2312" pitchFamily="49" charset="-122"/>
              </a:rPr>
              <a:t>X</a:t>
            </a:r>
            <a:r>
              <a:rPr lang="en-US" altLang="zh-CN" sz="2000" b="1" baseline="30000" dirty="0">
                <a:effectLst/>
                <a:ea typeface="楷体_GB2312" pitchFamily="49" charset="-122"/>
              </a:rPr>
              <a:t>*</a:t>
            </a:r>
            <a:r>
              <a:rPr lang="en-US" altLang="zh-CN" sz="2000" b="1" dirty="0">
                <a:effectLst/>
                <a:ea typeface="楷体_GB2312" pitchFamily="49" charset="-122"/>
              </a:rPr>
              <a:t>=(0,3,1,2,0)</a:t>
            </a:r>
            <a:r>
              <a:rPr lang="en-US" altLang="zh-CN" sz="2000" b="1" baseline="30000" dirty="0">
                <a:effectLst/>
                <a:ea typeface="楷体_GB2312" pitchFamily="49" charset="-122"/>
              </a:rPr>
              <a:t>T</a:t>
            </a:r>
            <a:r>
              <a:rPr lang="zh-CN" altLang="en-US" sz="2000" b="1" dirty="0">
                <a:effectLst/>
                <a:ea typeface="楷体_GB2312" pitchFamily="49" charset="-122"/>
              </a:rPr>
              <a:t>，目标函数值</a:t>
            </a:r>
            <a:r>
              <a:rPr lang="en-US" altLang="zh-CN" sz="2000" b="1" dirty="0" err="1">
                <a:effectLst/>
                <a:ea typeface="楷体_GB2312" pitchFamily="49" charset="-122"/>
              </a:rPr>
              <a:t>maxZ</a:t>
            </a:r>
            <a:r>
              <a:rPr lang="en-US" altLang="zh-CN" sz="2000" b="1" dirty="0">
                <a:effectLst/>
                <a:ea typeface="楷体_GB2312" pitchFamily="49" charset="-122"/>
              </a:rPr>
              <a:t>=6</a:t>
            </a:r>
            <a:r>
              <a:rPr lang="zh-CN" altLang="en-US" sz="2000" b="1" dirty="0">
                <a:effectLst/>
                <a:ea typeface="楷体_GB2312" pitchFamily="49" charset="-122"/>
              </a:rPr>
              <a:t>，与用</a:t>
            </a:r>
            <a:r>
              <a:rPr lang="zh-CN" altLang="en-US" sz="2000" b="1" dirty="0">
                <a:solidFill>
                  <a:schemeClr val="accent2"/>
                </a:solidFill>
                <a:effectLst/>
                <a:ea typeface="楷体_GB2312" pitchFamily="49" charset="-122"/>
              </a:rPr>
              <a:t>大</a:t>
            </a:r>
            <a:r>
              <a:rPr lang="en-US" altLang="zh-CN" sz="2000" b="1" dirty="0">
                <a:solidFill>
                  <a:schemeClr val="accent2"/>
                </a:solidFill>
                <a:effectLst/>
                <a:ea typeface="楷体_GB2312" pitchFamily="49" charset="-122"/>
              </a:rPr>
              <a:t>M</a:t>
            </a:r>
            <a:r>
              <a:rPr lang="zh-CN" altLang="en-US" sz="2000" b="1" dirty="0">
                <a:solidFill>
                  <a:schemeClr val="accent2"/>
                </a:solidFill>
                <a:effectLst/>
                <a:ea typeface="楷体_GB2312" pitchFamily="49" charset="-122"/>
              </a:rPr>
              <a:t>法</a:t>
            </a:r>
            <a:r>
              <a:rPr lang="zh-CN" altLang="en-US" sz="2000" b="1" dirty="0">
                <a:effectLst/>
                <a:ea typeface="楷体_GB2312" pitchFamily="49" charset="-122"/>
              </a:rPr>
              <a:t>的结果相同。</a:t>
            </a:r>
            <a:endParaRPr lang="zh-CN" altLang="en-US" sz="2000" b="1" dirty="0">
              <a:effectLst/>
              <a:ea typeface="楷体_GB2312" pitchFamily="49" charset="-122"/>
            </a:endParaRPr>
          </a:p>
        </p:txBody>
      </p:sp>
      <p:sp>
        <p:nvSpPr>
          <p:cNvPr id="59" name="Oval 4"/>
          <p:cNvSpPr>
            <a:spLocks noChangeArrowheads="1"/>
          </p:cNvSpPr>
          <p:nvPr/>
        </p:nvSpPr>
        <p:spPr bwMode="auto">
          <a:xfrm flipV="1">
            <a:off x="5075238" y="1702346"/>
            <a:ext cx="73025" cy="71437"/>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60" name="Oval 5"/>
          <p:cNvSpPr>
            <a:spLocks noChangeArrowheads="1"/>
          </p:cNvSpPr>
          <p:nvPr/>
        </p:nvSpPr>
        <p:spPr bwMode="auto">
          <a:xfrm flipV="1">
            <a:off x="4425950" y="3718471"/>
            <a:ext cx="73025" cy="71437"/>
          </a:xfrm>
          <a:prstGeom prst="ellipse">
            <a:avLst/>
          </a:prstGeom>
          <a:solidFill>
            <a:srgbClr val="FF0000"/>
          </a:solidFill>
          <a:ln w="9525">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61" name="Rectangle 183"/>
          <p:cNvSpPr>
            <a:spLocks noChangeArrowheads="1"/>
          </p:cNvSpPr>
          <p:nvPr/>
        </p:nvSpPr>
        <p:spPr bwMode="auto">
          <a:xfrm>
            <a:off x="7092950" y="1340396"/>
            <a:ext cx="1582738"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000" b="1">
                <a:effectLst/>
                <a:ea typeface="楷体_GB2312" pitchFamily="49" charset="-122"/>
              </a:rPr>
              <a:t>由于原线性规划的目标函数是</a:t>
            </a:r>
            <a:r>
              <a:rPr lang="zh-CN" altLang="en-US" sz="2000" b="1">
                <a:solidFill>
                  <a:schemeClr val="accent2"/>
                </a:solidFill>
                <a:effectLst/>
                <a:ea typeface="楷体_GB2312" pitchFamily="49" charset="-122"/>
              </a:rPr>
              <a:t>极大化</a:t>
            </a:r>
            <a:r>
              <a:rPr lang="zh-CN" altLang="en-US" sz="2000" b="1">
                <a:effectLst/>
                <a:ea typeface="楷体_GB2312" pitchFamily="49" charset="-122"/>
              </a:rPr>
              <a:t>，因此最优解的判别准则应为</a:t>
            </a:r>
            <a:r>
              <a:rPr lang="en-US" altLang="zh-CN" sz="2000" b="1">
                <a:effectLst/>
                <a:ea typeface="楷体_GB2312" pitchFamily="49" charset="-122"/>
              </a:rPr>
              <a:t>:</a:t>
            </a:r>
            <a:endParaRPr lang="en-US" altLang="zh-CN" sz="2000" b="1">
              <a:effectLst/>
              <a:ea typeface="楷体_GB2312" pitchFamily="49" charset="-122"/>
            </a:endParaRPr>
          </a:p>
          <a:p>
            <a:pPr algn="l">
              <a:lnSpc>
                <a:spcPct val="120000"/>
              </a:lnSpc>
            </a:pPr>
            <a:endParaRPr lang="en-US" altLang="zh-CN" sz="2000" b="1">
              <a:effectLst/>
              <a:ea typeface="楷体_GB2312" pitchFamily="49" charset="-122"/>
            </a:endParaRPr>
          </a:p>
        </p:txBody>
      </p:sp>
      <p:graphicFrame>
        <p:nvGraphicFramePr>
          <p:cNvPr id="62" name="Object 186"/>
          <p:cNvGraphicFramePr>
            <a:graphicFrameLocks noChangeAspect="1"/>
          </p:cNvGraphicFramePr>
          <p:nvPr/>
        </p:nvGraphicFramePr>
        <p:xfrm>
          <a:off x="7164388" y="3932783"/>
          <a:ext cx="1223962" cy="1152525"/>
        </p:xfrm>
        <a:graphic>
          <a:graphicData uri="http://schemas.openxmlformats.org/presentationml/2006/ole">
            <mc:AlternateContent xmlns:mc="http://schemas.openxmlformats.org/markup-compatibility/2006">
              <mc:Choice xmlns:v="urn:schemas-microsoft-com:vml" Requires="v">
                <p:oleObj spid="_x0000_s11265" name="公式" r:id="rId1" imgW="17983200" imgH="15544800" progId="Equation.3">
                  <p:embed/>
                </p:oleObj>
              </mc:Choice>
              <mc:Fallback>
                <p:oleObj name="公式" r:id="rId1" imgW="17983200" imgH="15544800" progId="Equation.3">
                  <p:embed/>
                  <p:pic>
                    <p:nvPicPr>
                      <p:cNvPr id="0" name="图片 11264"/>
                      <p:cNvPicPr>
                        <a:picLocks noChangeAspect="1"/>
                      </p:cNvPicPr>
                      <p:nvPr/>
                    </p:nvPicPr>
                    <p:blipFill>
                      <a:blip r:embed="rId2"/>
                      <a:stretch>
                        <a:fillRect/>
                      </a:stretch>
                    </p:blipFill>
                    <p:spPr>
                      <a:xfrm>
                        <a:off x="7164388" y="3932783"/>
                        <a:ext cx="1223962" cy="1152525"/>
                      </a:xfrm>
                      <a:prstGeom prst="rect">
                        <a:avLst/>
                      </a:prstGeom>
                      <a:noFill/>
                      <a:ln w="9525">
                        <a:noFill/>
                      </a:ln>
                    </p:spPr>
                  </p:pic>
                </p:oleObj>
              </mc:Fallback>
            </mc:AlternateContent>
          </a:graphicData>
        </a:graphic>
      </p:graphicFrame>
      <p:sp>
        <p:nvSpPr>
          <p:cNvPr id="63" name="Text Box 187"/>
          <p:cNvSpPr txBox="1">
            <a:spLocks noChangeArrowheads="1"/>
          </p:cNvSpPr>
          <p:nvPr/>
        </p:nvSpPr>
        <p:spPr bwMode="auto">
          <a:xfrm>
            <a:off x="7073900" y="692696"/>
            <a:ext cx="1441450" cy="495300"/>
          </a:xfrm>
          <a:prstGeom prst="rect">
            <a:avLst/>
          </a:prstGeom>
          <a:noFill/>
          <a:ln w="38100" algn="ctr">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a:effectLst>
                  <a:outerShdw blurRad="38100" dist="38100" dir="2700000" algn="tl">
                    <a:srgbClr val="C0C0C0"/>
                  </a:outerShdw>
                </a:effectLst>
              </a:rPr>
              <a:t>第二阶段</a:t>
            </a:r>
            <a:endParaRPr lang="zh-CN" altLang="en-US">
              <a:effectLst>
                <a:outerShdw blurRad="38100" dist="38100" dir="2700000" algn="tl">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500"/>
                                        <p:tgtEl>
                                          <p:spTgt spid="6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linds(horizontal)">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linds(horizont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blinds(horizontal)">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linds(horizontal)">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blinds(horizontal)">
                                      <p:cBhvr>
                                        <p:cTn id="32" dur="500"/>
                                        <p:tgtEl>
                                          <p:spTgt spid="5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linds(horizontal)">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blinds(horizontal)">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blinds(horizontal)">
                                      <p:cBhvr>
                                        <p:cTn id="47" dur="500"/>
                                        <p:tgtEl>
                                          <p:spTgt spid="21"/>
                                        </p:tgtEl>
                                      </p:cBhvr>
                                    </p:animEffect>
                                  </p:childTnLst>
                                </p:cTn>
                              </p:par>
                              <p:par>
                                <p:cTn id="48" presetID="3" presetClass="entr" presetSubtype="1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blinds(horizontal)">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blinds(horizontal)">
                                      <p:cBhvr>
                                        <p:cTn id="55" dur="5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blinds(horizontal)">
                                      <p:cBhvr>
                                        <p:cTn id="60" dur="500"/>
                                        <p:tgtEl>
                                          <p:spTgt spid="16"/>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60"/>
                                        </p:tgtEl>
                                        <p:attrNameLst>
                                          <p:attrName>style.visibility</p:attrName>
                                        </p:attrNameLst>
                                      </p:cBhvr>
                                      <p:to>
                                        <p:strVal val="visible"/>
                                      </p:to>
                                    </p:set>
                                    <p:animEffect transition="in" filter="blinds(horizontal)">
                                      <p:cBhvr>
                                        <p:cTn id="65" dur="500"/>
                                        <p:tgtEl>
                                          <p:spTgt spid="60"/>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blinds(horizontal)">
                                      <p:cBhvr>
                                        <p:cTn id="70" dur="500"/>
                                        <p:tgtEl>
                                          <p:spTgt spid="12"/>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blinds(horizontal)">
                                      <p:cBhvr>
                                        <p:cTn id="75" dur="500"/>
                                        <p:tgtEl>
                                          <p:spTgt spid="14"/>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11"/>
                                        </p:tgtEl>
                                        <p:attrNameLst>
                                          <p:attrName>style.visibility</p:attrName>
                                        </p:attrNameLst>
                                      </p:cBhvr>
                                      <p:to>
                                        <p:strVal val="visible"/>
                                      </p:to>
                                    </p:set>
                                    <p:animEffect transition="in" filter="blinds(horizontal)">
                                      <p:cBhvr>
                                        <p:cTn id="80" dur="500"/>
                                        <p:tgtEl>
                                          <p:spTgt spid="11"/>
                                        </p:tgtEl>
                                      </p:cBhvr>
                                    </p:animEffect>
                                  </p:childTnLst>
                                </p:cTn>
                              </p:par>
                              <p:par>
                                <p:cTn id="81" presetID="3" presetClass="entr" presetSubtype="10" fill="hold" grpId="0" nodeType="withEffect">
                                  <p:stCondLst>
                                    <p:cond delay="0"/>
                                  </p:stCondLst>
                                  <p:childTnLst>
                                    <p:set>
                                      <p:cBhvr>
                                        <p:cTn id="82" dur="1" fill="hold">
                                          <p:stCondLst>
                                            <p:cond delay="0"/>
                                          </p:stCondLst>
                                        </p:cTn>
                                        <p:tgtEl>
                                          <p:spTgt spid="10"/>
                                        </p:tgtEl>
                                        <p:attrNameLst>
                                          <p:attrName>style.visibility</p:attrName>
                                        </p:attrNameLst>
                                      </p:cBhvr>
                                      <p:to>
                                        <p:strVal val="visible"/>
                                      </p:to>
                                    </p:set>
                                    <p:animEffect transition="in" filter="blinds(horizontal)">
                                      <p:cBhvr>
                                        <p:cTn id="83" dur="500"/>
                                        <p:tgtEl>
                                          <p:spTgt spid="10"/>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7"/>
                                        </p:tgtEl>
                                        <p:attrNameLst>
                                          <p:attrName>style.visibility</p:attrName>
                                        </p:attrNameLst>
                                      </p:cBhvr>
                                      <p:to>
                                        <p:strVal val="visible"/>
                                      </p:to>
                                    </p:set>
                                    <p:animEffect transition="in" filter="blinds(horizontal)">
                                      <p:cBhvr>
                                        <p:cTn id="88" dur="500"/>
                                        <p:tgtEl>
                                          <p:spTgt spid="7"/>
                                        </p:tgtEl>
                                      </p:cBhvr>
                                    </p:animEffec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6"/>
                                        </p:tgtEl>
                                        <p:attrNameLst>
                                          <p:attrName>style.visibility</p:attrName>
                                        </p:attrNameLst>
                                      </p:cBhvr>
                                      <p:to>
                                        <p:strVal val="visible"/>
                                      </p:to>
                                    </p:set>
                                    <p:animEffect transition="in" filter="blinds(horizontal)">
                                      <p:cBhvr>
                                        <p:cTn id="93" dur="500"/>
                                        <p:tgtEl>
                                          <p:spTgt spid="6"/>
                                        </p:tgtEl>
                                      </p:cBhvr>
                                    </p:animEffect>
                                  </p:childTnLst>
                                </p:cTn>
                              </p:par>
                              <p:par>
                                <p:cTn id="94" presetID="3" presetClass="entr" presetSubtype="10" fill="hold" nodeType="withEffect">
                                  <p:stCondLst>
                                    <p:cond delay="0"/>
                                  </p:stCondLst>
                                  <p:childTnLst>
                                    <p:set>
                                      <p:cBhvr>
                                        <p:cTn id="95" dur="1" fill="hold">
                                          <p:stCondLst>
                                            <p:cond delay="0"/>
                                          </p:stCondLst>
                                        </p:cTn>
                                        <p:tgtEl>
                                          <p:spTgt spid="58">
                                            <p:txEl>
                                              <p:pRg st="0" end="0"/>
                                            </p:txEl>
                                          </p:spTgt>
                                        </p:tgtEl>
                                        <p:attrNameLst>
                                          <p:attrName>style.visibility</p:attrName>
                                        </p:attrNameLst>
                                      </p:cBhvr>
                                      <p:to>
                                        <p:strVal val="visible"/>
                                      </p:to>
                                    </p:set>
                                    <p:animEffect transition="in" filter="blinds(horizontal)">
                                      <p:cBhvr>
                                        <p:cTn id="96" dur="500"/>
                                        <p:tgtEl>
                                          <p:spTgt spid="5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1" grpId="0"/>
      <p:bldP spid="12" grpId="0"/>
      <p:bldP spid="14" grpId="0"/>
      <p:bldP spid="16" grpId="0"/>
      <p:bldP spid="17" grpId="0"/>
      <p:bldP spid="20" grpId="0"/>
      <p:bldP spid="21" grpId="0"/>
      <p:bldP spid="22" grpId="0"/>
      <p:bldP spid="23" grpId="0"/>
      <p:bldP spid="25" grpId="0"/>
      <p:bldP spid="26" grpId="0"/>
      <p:bldP spid="28" grpId="0"/>
      <p:bldP spid="33" grpId="0"/>
      <p:bldP spid="6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第六节 单纯形法和对偶问题</a:t>
            </a:r>
            <a:endParaRPr lang="zh-CN" altLang="en-US" sz="3600" dirty="0">
              <a:latin typeface="华文中宋" panose="02010600040101010101" pitchFamily="2" charset="-122"/>
              <a:ea typeface="华文中宋" panose="02010600040101010101" pitchFamily="2" charset="-122"/>
              <a:cs typeface="Times New Roman" panose="02020603050405020304" pitchFamily="18" charset="0"/>
            </a:endParaRPr>
          </a:p>
        </p:txBody>
      </p:sp>
      <p:cxnSp>
        <p:nvCxnSpPr>
          <p:cNvPr id="101" name="直接连接符 13"/>
          <p:cNvCxnSpPr>
            <a:cxnSpLocks noChangeShapeType="1"/>
          </p:cNvCxnSpPr>
          <p:nvPr/>
        </p:nvCxnSpPr>
        <p:spPr bwMode="auto">
          <a:xfrm>
            <a:off x="2674912" y="785794"/>
            <a:ext cx="0" cy="5157787"/>
          </a:xfrm>
          <a:prstGeom prst="line">
            <a:avLst/>
          </a:prstGeom>
          <a:noFill/>
          <a:ln w="6350" cmpd="sng">
            <a:solidFill>
              <a:schemeClr val="accent1"/>
            </a:solidFill>
            <a:round/>
          </a:ln>
        </p:spPr>
      </p:cxnSp>
      <p:grpSp>
        <p:nvGrpSpPr>
          <p:cNvPr id="3" name="组 2"/>
          <p:cNvGrpSpPr/>
          <p:nvPr/>
        </p:nvGrpSpPr>
        <p:grpSpPr>
          <a:xfrm>
            <a:off x="1643042" y="1268760"/>
            <a:ext cx="6169292" cy="642941"/>
            <a:chOff x="1643042" y="1268760"/>
            <a:chExt cx="6169292" cy="642941"/>
          </a:xfrm>
        </p:grpSpPr>
        <p:sp>
          <p:nvSpPr>
            <p:cNvPr id="102" name="椭圆 14"/>
            <p:cNvSpPr>
              <a:spLocks noChangeArrowheads="1"/>
            </p:cNvSpPr>
            <p:nvPr/>
          </p:nvSpPr>
          <p:spPr bwMode="auto">
            <a:xfrm>
              <a:off x="2606650" y="1497362"/>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4" name="组合 5"/>
            <p:cNvGrpSpPr/>
            <p:nvPr/>
          </p:nvGrpSpPr>
          <p:grpSpPr bwMode="auto">
            <a:xfrm>
              <a:off x="1643042" y="1268760"/>
              <a:ext cx="714380" cy="642941"/>
              <a:chOff x="0" y="0"/>
              <a:chExt cx="1275488" cy="1275488"/>
            </a:xfrm>
            <a:solidFill>
              <a:srgbClr val="004182"/>
            </a:solidFill>
          </p:grpSpPr>
          <p:sp>
            <p:nvSpPr>
              <p:cNvPr id="106"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07" name="文本框 17"/>
              <p:cNvSpPr txBox="1">
                <a:spLocks noChangeArrowheads="1"/>
              </p:cNvSpPr>
              <p:nvPr/>
            </p:nvSpPr>
            <p:spPr bwMode="auto">
              <a:xfrm>
                <a:off x="399726" y="231905"/>
                <a:ext cx="875762" cy="749344"/>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14" name="矩形 20"/>
            <p:cNvSpPr>
              <a:spLocks noChangeArrowheads="1"/>
            </p:cNvSpPr>
            <p:nvPr/>
          </p:nvSpPr>
          <p:spPr bwMode="auto">
            <a:xfrm>
              <a:off x="3062261" y="1321150"/>
              <a:ext cx="4750073" cy="526172"/>
            </a:xfrm>
            <a:prstGeom prst="rect">
              <a:avLst/>
            </a:prstGeom>
            <a:solidFill>
              <a:srgbClr val="004182"/>
            </a:solidFill>
            <a:ln w="9525">
              <a:noFill/>
              <a:miter lim="800000"/>
            </a:ln>
          </p:spPr>
          <p:txBody>
            <a:bodyPr anchor="ctr"/>
            <a:lstStyle/>
            <a:p>
              <a:pPr algn="ctr"/>
              <a:r>
                <a:rPr lang="zh-CN" altLang="en-US"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大</a:t>
              </a:r>
              <a:r>
                <a:rPr lang="en-US" altLang="zh-CN"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M</a:t>
              </a:r>
              <a:r>
                <a:rPr lang="zh-CN" altLang="en-US"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法</a:t>
              </a:r>
              <a:endParaRPr lang="en-US" altLang="zh-CN"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 name="组 3"/>
          <p:cNvGrpSpPr/>
          <p:nvPr/>
        </p:nvGrpSpPr>
        <p:grpSpPr>
          <a:xfrm>
            <a:off x="1643042" y="2422598"/>
            <a:ext cx="6169300" cy="642941"/>
            <a:chOff x="1643042" y="2439698"/>
            <a:chExt cx="6169300" cy="642941"/>
          </a:xfrm>
        </p:grpSpPr>
        <p:sp>
          <p:nvSpPr>
            <p:cNvPr id="120"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6" name="组合 5"/>
            <p:cNvGrpSpPr/>
            <p:nvPr/>
          </p:nvGrpSpPr>
          <p:grpSpPr bwMode="auto">
            <a:xfrm>
              <a:off x="1643042" y="2439698"/>
              <a:ext cx="714380" cy="642941"/>
              <a:chOff x="0" y="0"/>
              <a:chExt cx="1275488" cy="1275488"/>
            </a:xfrm>
            <a:solidFill>
              <a:srgbClr val="004182"/>
            </a:solidFill>
          </p:grpSpPr>
          <p:sp>
            <p:nvSpPr>
              <p:cNvPr id="12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2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24" name="矩形 20"/>
            <p:cNvSpPr>
              <a:spLocks noChangeArrowheads="1"/>
            </p:cNvSpPr>
            <p:nvPr/>
          </p:nvSpPr>
          <p:spPr bwMode="auto">
            <a:xfrm>
              <a:off x="3062261" y="2492088"/>
              <a:ext cx="4750081" cy="526172"/>
            </a:xfrm>
            <a:prstGeom prst="rect">
              <a:avLst/>
            </a:prstGeom>
            <a:solidFill>
              <a:srgbClr val="004182"/>
            </a:solidFill>
            <a:ln w="9525">
              <a:noFill/>
              <a:miter lim="800000"/>
            </a:ln>
          </p:spPr>
          <p:txBody>
            <a:bodyPr anchor="ctr"/>
            <a:lstStyle/>
            <a:p>
              <a:pPr algn="ctr"/>
              <a:r>
                <a:rPr lang="zh-CN" altLang="en-US"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两阶段法</a:t>
              </a:r>
              <a:endParaRPr lang="en-US" altLang="zh-CN"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7" name="组 5"/>
          <p:cNvGrpSpPr/>
          <p:nvPr/>
        </p:nvGrpSpPr>
        <p:grpSpPr>
          <a:xfrm>
            <a:off x="1643042" y="4730275"/>
            <a:ext cx="6169274" cy="642941"/>
            <a:chOff x="1643042" y="4730275"/>
            <a:chExt cx="6169274" cy="642941"/>
          </a:xfrm>
        </p:grpSpPr>
        <p:sp>
          <p:nvSpPr>
            <p:cNvPr id="130" name="椭圆 14"/>
            <p:cNvSpPr>
              <a:spLocks noChangeArrowheads="1"/>
            </p:cNvSpPr>
            <p:nvPr/>
          </p:nvSpPr>
          <p:spPr bwMode="auto">
            <a:xfrm>
              <a:off x="2606650" y="4958877"/>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8" name="组合 5"/>
            <p:cNvGrpSpPr/>
            <p:nvPr/>
          </p:nvGrpSpPr>
          <p:grpSpPr bwMode="auto">
            <a:xfrm>
              <a:off x="1643042" y="4730275"/>
              <a:ext cx="714380" cy="642941"/>
              <a:chOff x="0" y="0"/>
              <a:chExt cx="1275488" cy="1275488"/>
            </a:xfrm>
            <a:solidFill>
              <a:srgbClr val="004182"/>
            </a:solidFill>
          </p:grpSpPr>
          <p:sp>
            <p:nvSpPr>
              <p:cNvPr id="13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3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zh-CN" altLang="zh-CN" sz="2400" b="1" dirty="0">
                    <a:solidFill>
                      <a:schemeClr val="bg1"/>
                    </a:solidFill>
                    <a:latin typeface="微软雅黑" panose="020B0503020204020204" pitchFamily="34" charset="-122"/>
                    <a:ea typeface="微软雅黑" panose="020B0503020204020204" pitchFamily="34" charset="-122"/>
                  </a:rPr>
                  <a:t>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34" name="矩形 20"/>
            <p:cNvSpPr>
              <a:spLocks noChangeArrowheads="1"/>
            </p:cNvSpPr>
            <p:nvPr/>
          </p:nvSpPr>
          <p:spPr bwMode="auto">
            <a:xfrm>
              <a:off x="3062261" y="4782665"/>
              <a:ext cx="4750055" cy="526172"/>
            </a:xfrm>
            <a:prstGeom prst="rect">
              <a:avLst/>
            </a:prstGeom>
            <a:solidFill>
              <a:srgbClr val="004182"/>
            </a:solidFill>
            <a:ln w="9525">
              <a:noFill/>
              <a:miter lim="800000"/>
            </a:ln>
          </p:spPr>
          <p:txBody>
            <a:bodyPr anchor="ctr"/>
            <a:lstStyle/>
            <a:p>
              <a:pPr algn="ctr"/>
              <a:r>
                <a:rPr lang="zh-CN" altLang="x-none"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9" name="组 27"/>
          <p:cNvGrpSpPr/>
          <p:nvPr/>
        </p:nvGrpSpPr>
        <p:grpSpPr>
          <a:xfrm>
            <a:off x="1643042" y="3576436"/>
            <a:ext cx="6169288" cy="642941"/>
            <a:chOff x="1643042" y="2439698"/>
            <a:chExt cx="6169288" cy="642941"/>
          </a:xfrm>
        </p:grpSpPr>
        <p:sp>
          <p:nvSpPr>
            <p:cNvPr id="29"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10" name="组合 5"/>
            <p:cNvGrpSpPr/>
            <p:nvPr/>
          </p:nvGrpSpPr>
          <p:grpSpPr bwMode="auto">
            <a:xfrm>
              <a:off x="1643042" y="2439698"/>
              <a:ext cx="714380" cy="642941"/>
              <a:chOff x="0" y="0"/>
              <a:chExt cx="1275488" cy="1275488"/>
            </a:xfrm>
            <a:solidFill>
              <a:srgbClr val="004182"/>
            </a:solidFill>
          </p:grpSpPr>
          <p:sp>
            <p:nvSpPr>
              <p:cNvPr id="3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3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zh-CN" altLang="zh-CN" sz="2400" b="1" dirty="0">
                    <a:solidFill>
                      <a:schemeClr val="bg1"/>
                    </a:solidFill>
                    <a:latin typeface="微软雅黑" panose="020B0503020204020204" pitchFamily="34" charset="-122"/>
                    <a:ea typeface="微软雅黑" panose="020B0503020204020204" pitchFamily="34" charset="-122"/>
                  </a:rPr>
                  <a:t>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1" name="矩形 20"/>
            <p:cNvSpPr>
              <a:spLocks noChangeArrowheads="1"/>
            </p:cNvSpPr>
            <p:nvPr/>
          </p:nvSpPr>
          <p:spPr bwMode="auto">
            <a:xfrm>
              <a:off x="3062261" y="2492088"/>
              <a:ext cx="4750069" cy="526172"/>
            </a:xfrm>
            <a:prstGeom prst="rect">
              <a:avLst/>
            </a:prstGeom>
            <a:solidFill>
              <a:srgbClr val="004182"/>
            </a:solidFill>
            <a:ln w="9525">
              <a:noFill/>
              <a:miter lim="800000"/>
            </a:ln>
          </p:spPr>
          <p:txBody>
            <a:bodyPr anchor="ctr"/>
            <a:lstStyle/>
            <a:p>
              <a:pPr algn="ctr"/>
              <a:r>
                <a:rPr lang="zh-CN" altLang="en-US"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7" name="Text Box 5"/>
          <p:cNvSpPr txBox="1">
            <a:spLocks noChangeArrowheads="1"/>
          </p:cNvSpPr>
          <p:nvPr/>
        </p:nvSpPr>
        <p:spPr bwMode="auto">
          <a:xfrm>
            <a:off x="468313" y="928670"/>
            <a:ext cx="8064500"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i="0" dirty="0">
                <a:latin typeface="楷体_GB2312" pitchFamily="49" charset="-122"/>
                <a:ea typeface="楷体_GB2312" pitchFamily="49" charset="-122"/>
              </a:rPr>
              <a:t>   </a:t>
            </a:r>
            <a:r>
              <a:rPr lang="zh-CN" altLang="en-US" sz="2000" i="0" dirty="0">
                <a:latin typeface="楷体_GB2312" pitchFamily="49" charset="-122"/>
                <a:ea typeface="楷体_GB2312" pitchFamily="49" charset="-122"/>
              </a:rPr>
              <a:t>重新考虑食谱问题。以出售奶和蛋给需要维生素的人的食品杂货商的利益出发，他知道奶和蛋按其维生素</a:t>
            </a:r>
            <a:r>
              <a:rPr lang="en-US" altLang="zh-CN" sz="2000" i="0" dirty="0" err="1">
                <a:solidFill>
                  <a:schemeClr val="accent2"/>
                </a:solidFill>
                <a:ea typeface="楷体_GB2312" pitchFamily="49" charset="-122"/>
              </a:rPr>
              <a:t>Vc</a:t>
            </a:r>
            <a:r>
              <a:rPr lang="zh-CN" altLang="en-US" sz="2000" i="0" dirty="0">
                <a:ea typeface="楷体_GB2312" pitchFamily="49" charset="-122"/>
              </a:rPr>
              <a:t>和</a:t>
            </a:r>
            <a:r>
              <a:rPr lang="en-US" altLang="zh-CN" sz="2000" i="0" dirty="0" err="1">
                <a:solidFill>
                  <a:schemeClr val="accent2"/>
                </a:solidFill>
                <a:ea typeface="楷体_GB2312" pitchFamily="49" charset="-122"/>
              </a:rPr>
              <a:t>Vb</a:t>
            </a:r>
            <a:r>
              <a:rPr lang="zh-CN" altLang="en-US" sz="2000" i="0" dirty="0">
                <a:latin typeface="楷体_GB2312" pitchFamily="49" charset="-122"/>
                <a:ea typeface="楷体_GB2312" pitchFamily="49" charset="-122"/>
              </a:rPr>
              <a:t>的含量而有一定的价值。他的问题是确定出售维生素</a:t>
            </a:r>
            <a:r>
              <a:rPr lang="en-US" altLang="zh-CN" sz="2000" i="0" dirty="0" err="1">
                <a:solidFill>
                  <a:schemeClr val="accent2"/>
                </a:solidFill>
              </a:rPr>
              <a:t>Vc</a:t>
            </a:r>
            <a:r>
              <a:rPr lang="zh-CN" altLang="en-US" sz="2000" i="0" dirty="0">
                <a:latin typeface="楷体_GB2312" pitchFamily="49" charset="-122"/>
                <a:ea typeface="楷体_GB2312" pitchFamily="49" charset="-122"/>
              </a:rPr>
              <a:t>的价格</a:t>
            </a:r>
            <a:r>
              <a:rPr lang="en-US" altLang="zh-CN" sz="2000" dirty="0">
                <a:solidFill>
                  <a:schemeClr val="accent2"/>
                </a:solidFill>
                <a:ea typeface="楷体_GB2312" pitchFamily="49" charset="-122"/>
              </a:rPr>
              <a:t>x</a:t>
            </a:r>
            <a:r>
              <a:rPr lang="zh-CN" altLang="en-US" sz="2000" i="0" dirty="0">
                <a:ea typeface="楷体_GB2312" pitchFamily="49" charset="-122"/>
              </a:rPr>
              <a:t>和维生素</a:t>
            </a:r>
            <a:r>
              <a:rPr lang="en-US" altLang="zh-CN" sz="2000" i="0" dirty="0" err="1">
                <a:solidFill>
                  <a:schemeClr val="accent2"/>
                </a:solidFill>
              </a:rPr>
              <a:t>Vb</a:t>
            </a:r>
            <a:r>
              <a:rPr lang="zh-CN" altLang="en-US" sz="2000" i="0" dirty="0">
                <a:ea typeface="楷体_GB2312" pitchFamily="49" charset="-122"/>
              </a:rPr>
              <a:t>的价格 </a:t>
            </a:r>
            <a:r>
              <a:rPr lang="en-US" altLang="zh-CN" sz="2000" dirty="0">
                <a:solidFill>
                  <a:schemeClr val="accent2"/>
                </a:solidFill>
                <a:ea typeface="楷体_GB2312" pitchFamily="49" charset="-122"/>
              </a:rPr>
              <a:t>y</a:t>
            </a:r>
            <a:r>
              <a:rPr lang="zh-CN" altLang="en-US" sz="2000" i="0" dirty="0">
                <a:latin typeface="楷体_GB2312" pitchFamily="49" charset="-122"/>
                <a:ea typeface="楷体_GB2312" pitchFamily="49" charset="-122"/>
              </a:rPr>
              <a:t>：他不能将价格订得高于奶和蛋的市场流行价，否则将失去他的顾客；他希望商店的总收入为最大。</a:t>
            </a:r>
            <a:endParaRPr lang="zh-CN" altLang="en-US" sz="2000" i="0" dirty="0">
              <a:latin typeface="楷体_GB2312" pitchFamily="49" charset="-122"/>
              <a:ea typeface="楷体_GB2312" pitchFamily="49" charset="-122"/>
            </a:endParaRPr>
          </a:p>
        </p:txBody>
      </p:sp>
      <p:graphicFrame>
        <p:nvGraphicFramePr>
          <p:cNvPr id="8" name="Group 6"/>
          <p:cNvGraphicFramePr/>
          <p:nvPr/>
        </p:nvGraphicFramePr>
        <p:xfrm>
          <a:off x="539750" y="3140968"/>
          <a:ext cx="7772400" cy="2280921"/>
        </p:xfrm>
        <a:graphic>
          <a:graphicData uri="http://schemas.openxmlformats.org/drawingml/2006/table">
            <a:tbl>
              <a:tblPr/>
              <a:tblGrid>
                <a:gridCol w="1943100"/>
                <a:gridCol w="1943100"/>
                <a:gridCol w="1943100"/>
                <a:gridCol w="1943100"/>
              </a:tblGrid>
              <a:tr h="681038">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dirty="0">
                          <a:ln>
                            <a:noFill/>
                          </a:ln>
                          <a:solidFill>
                            <a:schemeClr val="accent2"/>
                          </a:solidFill>
                          <a:effectLst/>
                          <a:latin typeface="楷体_GB2312" pitchFamily="49" charset="-122"/>
                          <a:ea typeface="楷体_GB2312" pitchFamily="49" charset="-122"/>
                        </a:rPr>
                        <a:t>维生素</a:t>
                      </a:r>
                      <a:endParaRPr kumimoji="1" lang="zh-CN" altLang="en-US" sz="2800" b="0" i="0" u="none" strike="noStrike" cap="none" normalizeH="0" baseline="0" dirty="0">
                        <a:ln>
                          <a:noFill/>
                        </a:ln>
                        <a:solidFill>
                          <a:schemeClr val="accent2"/>
                        </a:solidFill>
                        <a:effectLst/>
                        <a:latin typeface="楷体_GB2312" pitchFamily="49" charset="-122"/>
                        <a:ea typeface="楷体_GB2312" pitchFamily="49" charset="-122"/>
                      </a:endParaRPr>
                    </a:p>
                  </a:txBody>
                  <a:tcP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dirty="0">
                          <a:ln>
                            <a:noFill/>
                          </a:ln>
                          <a:solidFill>
                            <a:schemeClr val="accent2"/>
                          </a:solidFill>
                          <a:effectLst/>
                          <a:latin typeface="楷体_GB2312" pitchFamily="49" charset="-122"/>
                          <a:ea typeface="楷体_GB2312" pitchFamily="49" charset="-122"/>
                        </a:rPr>
                        <a:t>奶中含量</a:t>
                      </a:r>
                      <a:endParaRPr kumimoji="1" lang="zh-CN" altLang="en-US" sz="2800" b="0" i="0" u="none" strike="noStrike" cap="none" normalizeH="0" baseline="0" dirty="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a:ln>
                            <a:noFill/>
                          </a:ln>
                          <a:solidFill>
                            <a:schemeClr val="accent2"/>
                          </a:solidFill>
                          <a:effectLst/>
                          <a:latin typeface="楷体_GB2312" pitchFamily="49" charset="-122"/>
                          <a:ea typeface="楷体_GB2312" pitchFamily="49" charset="-122"/>
                        </a:rPr>
                        <a:t>蛋中含量</a:t>
                      </a:r>
                      <a:endParaRPr kumimoji="1" lang="zh-CN" altLang="en-US" sz="2800" b="0" i="0" u="none" strike="noStrike" cap="none" normalizeH="0" baseline="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a:ln>
                            <a:noFill/>
                          </a:ln>
                          <a:solidFill>
                            <a:schemeClr val="accent2"/>
                          </a:solidFill>
                          <a:effectLst/>
                          <a:latin typeface="楷体_GB2312" pitchFamily="49" charset="-122"/>
                          <a:ea typeface="楷体_GB2312" pitchFamily="49" charset="-122"/>
                        </a:rPr>
                        <a:t>每日需求</a:t>
                      </a:r>
                      <a:endParaRPr kumimoji="1" lang="zh-CN" altLang="en-US" sz="2800" b="0" i="0" u="none" strike="noStrike" cap="none" normalizeH="0" baseline="0">
                        <a:ln>
                          <a:noFill/>
                        </a:ln>
                        <a:solidFill>
                          <a:schemeClr val="accent2"/>
                        </a:solidFill>
                        <a:effectLst/>
                        <a:latin typeface="楷体_GB2312" pitchFamily="49" charset="-122"/>
                        <a:ea typeface="楷体_GB2312" pitchFamily="49" charset="-122"/>
                      </a:endParaRPr>
                    </a:p>
                  </a:txBody>
                  <a:tcP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r>
              <a:tr h="50482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rPr>
                        <a:t>V</a:t>
                      </a:r>
                      <a:r>
                        <a:rPr kumimoji="1" lang="en-US" altLang="zh-CN" sz="2000" b="0" i="0" u="none" strike="noStrike" cap="none" normalizeH="0" baseline="0">
                          <a:ln>
                            <a:noFill/>
                          </a:ln>
                          <a:solidFill>
                            <a:schemeClr val="accent2"/>
                          </a:solidFill>
                          <a:effectLst/>
                          <a:latin typeface="Times New Roman" panose="02020603050405020304" pitchFamily="18" charset="0"/>
                          <a:ea typeface="楷体_GB2312" pitchFamily="49" charset="-122"/>
                        </a:rPr>
                        <a:t>c(mg)</a:t>
                      </a:r>
                      <a:endParaRPr kumimoji="1" lang="en-US" altLang="zh-CN" sz="2000" b="0" i="0" u="none" strike="noStrike" cap="none" normalizeH="0" baseline="0">
                        <a:ln>
                          <a:noFill/>
                        </a:ln>
                        <a:solidFill>
                          <a:schemeClr val="accent2"/>
                        </a:solidFill>
                        <a:effectLst/>
                        <a:latin typeface="Times New Roman" panose="02020603050405020304" pitchFamily="18" charset="0"/>
                        <a:ea typeface="楷体_GB2312" pitchFamily="49"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rPr>
                        <a:t>2</a:t>
                      </a:r>
                      <a:endPar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rPr>
                        <a:t>4</a:t>
                      </a:r>
                      <a:endPar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rPr>
                        <a:t>40</a:t>
                      </a:r>
                      <a:endPar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r>
              <a:tr h="563563">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rPr>
                        <a:t>V</a:t>
                      </a:r>
                      <a:r>
                        <a:rPr kumimoji="1" lang="en-US" altLang="zh-CN" sz="1800" b="0" i="0" u="none" strike="noStrike" cap="none" normalizeH="0" baseline="0">
                          <a:ln>
                            <a:noFill/>
                          </a:ln>
                          <a:solidFill>
                            <a:schemeClr val="accent2"/>
                          </a:solidFill>
                          <a:effectLst/>
                          <a:latin typeface="Times New Roman" panose="02020603050405020304" pitchFamily="18" charset="0"/>
                          <a:ea typeface="楷体_GB2312" pitchFamily="49" charset="-122"/>
                        </a:rPr>
                        <a:t>b</a:t>
                      </a:r>
                      <a:r>
                        <a:rPr kumimoji="1" lang="en-US" altLang="zh-CN" sz="2000" b="0" i="0" u="none" strike="noStrike" cap="none" normalizeH="0" baseline="0">
                          <a:ln>
                            <a:noFill/>
                          </a:ln>
                          <a:solidFill>
                            <a:schemeClr val="accent2"/>
                          </a:solidFill>
                          <a:effectLst/>
                          <a:latin typeface="Times New Roman" panose="02020603050405020304" pitchFamily="18" charset="0"/>
                          <a:ea typeface="楷体_GB2312" pitchFamily="49" charset="-122"/>
                        </a:rPr>
                        <a:t>(mg)</a:t>
                      </a:r>
                      <a:endParaRPr kumimoji="1" lang="en-US" altLang="zh-CN" sz="2000" b="0" i="0" u="none" strike="noStrike" cap="none" normalizeH="0" baseline="0">
                        <a:ln>
                          <a:noFill/>
                        </a:ln>
                        <a:solidFill>
                          <a:schemeClr val="accent2"/>
                        </a:solidFill>
                        <a:effectLst/>
                        <a:latin typeface="Times New Roman" panose="02020603050405020304" pitchFamily="18" charset="0"/>
                        <a:ea typeface="楷体_GB2312" pitchFamily="49"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rPr>
                        <a:t>3</a:t>
                      </a:r>
                      <a:endPar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rPr>
                        <a:t>2</a:t>
                      </a:r>
                      <a:endPar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rPr>
                        <a:t>50</a:t>
                      </a:r>
                      <a:endPar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FF">
                        <a:alpha val="50195"/>
                      </a:srgbClr>
                    </a:solidFill>
                  </a:tcPr>
                </a:tc>
              </a:tr>
              <a:tr h="180975">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a:ln>
                            <a:noFill/>
                          </a:ln>
                          <a:solidFill>
                            <a:schemeClr val="accent2"/>
                          </a:solidFill>
                          <a:effectLst/>
                          <a:latin typeface="Times New Roman" panose="02020603050405020304" pitchFamily="18" charset="0"/>
                          <a:ea typeface="楷体_GB2312" pitchFamily="49" charset="-122"/>
                        </a:rPr>
                        <a:t>单价</a:t>
                      </a:r>
                      <a:r>
                        <a:rPr kumimoji="1" lang="en-US" altLang="zh-CN" sz="2000" b="0" i="0" u="none" strike="noStrike" cap="none" normalizeH="0" baseline="0">
                          <a:ln>
                            <a:noFill/>
                          </a:ln>
                          <a:solidFill>
                            <a:schemeClr val="accent2"/>
                          </a:solidFill>
                          <a:effectLst/>
                          <a:latin typeface="Times New Roman" panose="02020603050405020304" pitchFamily="18" charset="0"/>
                          <a:ea typeface="楷体_GB2312" pitchFamily="49" charset="-122"/>
                        </a:rPr>
                        <a:t>(US$)</a:t>
                      </a:r>
                      <a:endParaRPr kumimoji="1" lang="en-US" altLang="zh-CN" sz="2000" b="0" i="0" u="none" strike="noStrike" cap="none" normalizeH="0" baseline="0">
                        <a:ln>
                          <a:noFill/>
                        </a:ln>
                        <a:solidFill>
                          <a:schemeClr val="accent2"/>
                        </a:solidFill>
                        <a:effectLst/>
                        <a:latin typeface="Times New Roman" panose="02020603050405020304" pitchFamily="18" charset="0"/>
                        <a:ea typeface="楷体_GB2312" pitchFamily="49" charset="-122"/>
                      </a:endParaRP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a:ln>
                            <a:noFill/>
                          </a:ln>
                          <a:solidFill>
                            <a:schemeClr val="accent2"/>
                          </a:solidFill>
                          <a:effectLst/>
                          <a:latin typeface="Times New Roman" panose="02020603050405020304" pitchFamily="18" charset="0"/>
                          <a:ea typeface="楷体_GB2312" pitchFamily="49" charset="-122"/>
                        </a:rPr>
                        <a:t>3</a:t>
                      </a:r>
                      <a:endParaRPr kumimoji="1" lang="en-US" altLang="zh-CN" sz="2800" b="0" i="0" u="none" strike="noStrike" cap="none" normalizeH="0" baseline="0" dirty="0">
                        <a:ln>
                          <a:noFill/>
                        </a:ln>
                        <a:solidFill>
                          <a:schemeClr val="accent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rPr>
                        <a:t>2.5</a:t>
                      </a:r>
                      <a:endParaRPr kumimoji="1" lang="en-US" altLang="zh-CN" sz="2800" b="0" i="0" u="none" strike="noStrike" cap="none" normalizeH="0" baseline="0">
                        <a:ln>
                          <a:noFill/>
                        </a:ln>
                        <a:solidFill>
                          <a:schemeClr val="accent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FF">
                        <a:alpha val="50195"/>
                      </a:srgbClr>
                    </a:solid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dirty="0">
                        <a:ln>
                          <a:noFill/>
                        </a:ln>
                        <a:solidFill>
                          <a:schemeClr val="accent2"/>
                        </a:solidFill>
                        <a:effectLst/>
                        <a:latin typeface="Times New Roman" panose="02020603050405020304" pitchFamily="18" charset="0"/>
                        <a:ea typeface="楷体_GB2312" pitchFamily="49"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CCFFFF">
                        <a:alpha val="50195"/>
                      </a:srgb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7" name="Text Box 5"/>
          <p:cNvSpPr txBox="1">
            <a:spLocks noChangeArrowheads="1"/>
          </p:cNvSpPr>
          <p:nvPr/>
        </p:nvSpPr>
        <p:spPr bwMode="auto">
          <a:xfrm>
            <a:off x="755650" y="1268413"/>
            <a:ext cx="3384550" cy="2100262"/>
          </a:xfrm>
          <a:prstGeom prst="rect">
            <a:avLst/>
          </a:prstGeom>
          <a:solidFill>
            <a:srgbClr val="CC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i="0">
                <a:solidFill>
                  <a:schemeClr val="accent2"/>
                </a:solidFill>
              </a:rPr>
              <a:t>Max  40</a:t>
            </a:r>
            <a:r>
              <a:rPr lang="en-US" altLang="zh-CN" sz="2400" b="1">
                <a:solidFill>
                  <a:schemeClr val="accent2"/>
                </a:solidFill>
              </a:rPr>
              <a:t>x</a:t>
            </a:r>
            <a:r>
              <a:rPr lang="en-US" altLang="zh-CN" sz="2400" b="1" i="0">
                <a:solidFill>
                  <a:schemeClr val="accent2"/>
                </a:solidFill>
              </a:rPr>
              <a:t> + 50</a:t>
            </a:r>
            <a:r>
              <a:rPr lang="en-US" altLang="zh-CN" sz="2400" b="1">
                <a:solidFill>
                  <a:schemeClr val="accent2"/>
                </a:solidFill>
              </a:rPr>
              <a:t>y</a:t>
            </a:r>
            <a:endParaRPr lang="en-US" altLang="zh-CN" sz="2400" b="1">
              <a:solidFill>
                <a:schemeClr val="accent2"/>
              </a:solidFill>
            </a:endParaRPr>
          </a:p>
          <a:p>
            <a:pPr eaLnBrk="1" hangingPunct="1">
              <a:spcBef>
                <a:spcPct val="50000"/>
              </a:spcBef>
            </a:pPr>
            <a:r>
              <a:rPr lang="en-US" altLang="zh-CN" sz="2400" b="1" i="0">
                <a:solidFill>
                  <a:schemeClr val="accent2"/>
                </a:solidFill>
              </a:rPr>
              <a:t>  s.t.    2</a:t>
            </a:r>
            <a:r>
              <a:rPr lang="en-US" altLang="zh-CN" sz="2400" b="1">
                <a:solidFill>
                  <a:schemeClr val="accent2"/>
                </a:solidFill>
              </a:rPr>
              <a:t>x  </a:t>
            </a:r>
            <a:r>
              <a:rPr lang="en-US" altLang="zh-CN" sz="2400" b="1" i="0">
                <a:solidFill>
                  <a:schemeClr val="accent2"/>
                </a:solidFill>
              </a:rPr>
              <a:t>+  3</a:t>
            </a:r>
            <a:r>
              <a:rPr lang="en-US" altLang="zh-CN" sz="2400" b="1">
                <a:solidFill>
                  <a:schemeClr val="accent2"/>
                </a:solidFill>
              </a:rPr>
              <a:t>y </a:t>
            </a:r>
            <a:r>
              <a:rPr lang="en-US" altLang="zh-CN" sz="2400" b="1" i="0">
                <a:solidFill>
                  <a:schemeClr val="accent2"/>
                </a:solidFill>
                <a:sym typeface="Symbol" panose="05050102010706020507" pitchFamily="2" charset="2"/>
              </a:rPr>
              <a:t></a:t>
            </a:r>
            <a:r>
              <a:rPr lang="en-US" altLang="zh-CN" sz="2400" b="1" i="0">
                <a:solidFill>
                  <a:schemeClr val="accent2"/>
                </a:solidFill>
              </a:rPr>
              <a:t> 3</a:t>
            </a:r>
            <a:endParaRPr lang="en-US" altLang="zh-CN" sz="2400" b="1" i="0">
              <a:solidFill>
                <a:schemeClr val="accent2"/>
              </a:solidFill>
            </a:endParaRPr>
          </a:p>
          <a:p>
            <a:pPr eaLnBrk="1" hangingPunct="1">
              <a:spcBef>
                <a:spcPct val="50000"/>
              </a:spcBef>
            </a:pPr>
            <a:r>
              <a:rPr lang="en-US" altLang="zh-CN" sz="2400" b="1" i="0">
                <a:solidFill>
                  <a:schemeClr val="accent2"/>
                </a:solidFill>
              </a:rPr>
              <a:t>           4</a:t>
            </a:r>
            <a:r>
              <a:rPr lang="en-US" altLang="zh-CN" sz="2400" b="1">
                <a:solidFill>
                  <a:schemeClr val="accent2"/>
                </a:solidFill>
              </a:rPr>
              <a:t>x  </a:t>
            </a:r>
            <a:r>
              <a:rPr lang="en-US" altLang="zh-CN" sz="2400" b="1" i="0">
                <a:solidFill>
                  <a:schemeClr val="accent2"/>
                </a:solidFill>
              </a:rPr>
              <a:t>+  2</a:t>
            </a:r>
            <a:r>
              <a:rPr lang="en-US" altLang="zh-CN" sz="2400" b="1">
                <a:solidFill>
                  <a:schemeClr val="accent2"/>
                </a:solidFill>
              </a:rPr>
              <a:t>y</a:t>
            </a:r>
            <a:r>
              <a:rPr lang="en-US" altLang="zh-CN" sz="2400" b="1" i="0">
                <a:solidFill>
                  <a:schemeClr val="accent2"/>
                </a:solidFill>
              </a:rPr>
              <a:t> </a:t>
            </a:r>
            <a:r>
              <a:rPr lang="en-US" altLang="zh-CN" sz="2400" b="1" i="0">
                <a:solidFill>
                  <a:schemeClr val="accent2"/>
                </a:solidFill>
                <a:sym typeface="Symbol" panose="05050102010706020507" pitchFamily="2" charset="2"/>
              </a:rPr>
              <a:t></a:t>
            </a:r>
            <a:r>
              <a:rPr lang="en-US" altLang="zh-CN" sz="2400" b="1" i="0">
                <a:solidFill>
                  <a:schemeClr val="accent2"/>
                </a:solidFill>
              </a:rPr>
              <a:t> 2.5</a:t>
            </a:r>
            <a:endParaRPr lang="en-US" altLang="zh-CN" sz="2400" b="1" i="0">
              <a:solidFill>
                <a:schemeClr val="accent2"/>
              </a:solidFill>
            </a:endParaRPr>
          </a:p>
          <a:p>
            <a:pPr eaLnBrk="1" hangingPunct="1">
              <a:spcBef>
                <a:spcPct val="50000"/>
              </a:spcBef>
            </a:pPr>
            <a:r>
              <a:rPr lang="en-US" altLang="zh-CN" sz="2400" b="1" i="0">
                <a:solidFill>
                  <a:schemeClr val="accent2"/>
                </a:solidFill>
              </a:rPr>
              <a:t> 	</a:t>
            </a:r>
            <a:r>
              <a:rPr lang="en-US" altLang="zh-CN" sz="2400" b="1">
                <a:solidFill>
                  <a:schemeClr val="accent2"/>
                </a:solidFill>
              </a:rPr>
              <a:t>x</a:t>
            </a:r>
            <a:r>
              <a:rPr lang="en-US" altLang="zh-CN" sz="2400" b="1" i="0">
                <a:solidFill>
                  <a:schemeClr val="accent2"/>
                </a:solidFill>
              </a:rPr>
              <a:t>, </a:t>
            </a:r>
            <a:r>
              <a:rPr lang="en-US" altLang="zh-CN" sz="2400" b="1">
                <a:solidFill>
                  <a:schemeClr val="accent2"/>
                </a:solidFill>
              </a:rPr>
              <a:t>y</a:t>
            </a:r>
            <a:r>
              <a:rPr lang="en-US" altLang="zh-CN" sz="2400" b="1" i="0">
                <a:solidFill>
                  <a:srgbClr val="CC0000"/>
                </a:solidFill>
              </a:rPr>
              <a:t> </a:t>
            </a:r>
            <a:r>
              <a:rPr lang="en-US" altLang="zh-CN" sz="2400" b="1" i="0">
                <a:solidFill>
                  <a:schemeClr val="accent2"/>
                </a:solidFill>
                <a:ea typeface="楷体_GB2312" pitchFamily="49" charset="-122"/>
                <a:sym typeface="Symbol" panose="05050102010706020507" pitchFamily="2" charset="2"/>
              </a:rPr>
              <a:t></a:t>
            </a:r>
            <a:r>
              <a:rPr lang="en-US" altLang="zh-CN" sz="2400" b="1" i="0">
                <a:solidFill>
                  <a:schemeClr val="accent2"/>
                </a:solidFill>
                <a:sym typeface="Symbol" panose="05050102010706020507" pitchFamily="2" charset="2"/>
              </a:rPr>
              <a:t> </a:t>
            </a:r>
            <a:r>
              <a:rPr lang="en-US" altLang="zh-CN" sz="2400" b="1" i="0">
                <a:solidFill>
                  <a:schemeClr val="accent2"/>
                </a:solidFill>
              </a:rPr>
              <a:t>0.</a:t>
            </a:r>
            <a:endParaRPr lang="en-US" altLang="zh-CN" sz="2400" b="1" i="0">
              <a:solidFill>
                <a:schemeClr val="accent2"/>
              </a:solidFill>
            </a:endParaRPr>
          </a:p>
        </p:txBody>
      </p:sp>
      <p:sp>
        <p:nvSpPr>
          <p:cNvPr id="8" name="Text Box 6"/>
          <p:cNvSpPr txBox="1">
            <a:spLocks noChangeArrowheads="1"/>
          </p:cNvSpPr>
          <p:nvPr/>
        </p:nvSpPr>
        <p:spPr bwMode="auto">
          <a:xfrm>
            <a:off x="4144963" y="1268413"/>
            <a:ext cx="3384550" cy="2109787"/>
          </a:xfrm>
          <a:prstGeom prst="rect">
            <a:avLst/>
          </a:prstGeom>
          <a:solidFill>
            <a:srgbClr val="CCFFFF">
              <a:alpha val="50195"/>
            </a:srgbClr>
          </a:solidFill>
          <a:ln w="9525">
            <a:solidFill>
              <a:schemeClr val="accent2"/>
            </a:solidFill>
            <a:miter lim="800000"/>
          </a:ln>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400" b="1" i="0">
                <a:solidFill>
                  <a:srgbClr val="FF9900"/>
                </a:solidFill>
                <a:ea typeface="楷体_GB2312" pitchFamily="49" charset="-122"/>
              </a:rPr>
              <a:t>极大化目标函数</a:t>
            </a:r>
            <a:endParaRPr kumimoji="0" lang="zh-CN" altLang="en-US" sz="2400" b="1" i="0">
              <a:solidFill>
                <a:srgbClr val="FF9900"/>
              </a:solidFill>
              <a:ea typeface="楷体_GB2312" pitchFamily="49" charset="-122"/>
            </a:endParaRPr>
          </a:p>
          <a:p>
            <a:pPr eaLnBrk="1" hangingPunct="1">
              <a:spcBef>
                <a:spcPct val="50000"/>
              </a:spcBef>
            </a:pPr>
            <a:endParaRPr kumimoji="0" lang="zh-CN" altLang="en-US" sz="2400" b="1" i="0">
              <a:solidFill>
                <a:srgbClr val="FF9900"/>
              </a:solidFill>
              <a:ea typeface="楷体_GB2312" pitchFamily="49" charset="-122"/>
            </a:endParaRPr>
          </a:p>
          <a:p>
            <a:pPr eaLnBrk="1" hangingPunct="1">
              <a:spcBef>
                <a:spcPct val="50000"/>
              </a:spcBef>
            </a:pPr>
            <a:r>
              <a:rPr kumimoji="0" lang="zh-CN" altLang="en-US" sz="2400" b="1" i="0">
                <a:solidFill>
                  <a:srgbClr val="FF9900"/>
                </a:solidFill>
                <a:ea typeface="楷体_GB2312" pitchFamily="49" charset="-122"/>
              </a:rPr>
              <a:t>可行区域（单纯形）</a:t>
            </a:r>
            <a:endParaRPr kumimoji="0" lang="zh-CN" altLang="en-US" sz="2400" b="1" i="0">
              <a:solidFill>
                <a:srgbClr val="FF9900"/>
              </a:solidFill>
              <a:ea typeface="楷体_GB2312" pitchFamily="49" charset="-122"/>
            </a:endParaRPr>
          </a:p>
          <a:p>
            <a:pPr eaLnBrk="1" hangingPunct="1">
              <a:spcBef>
                <a:spcPct val="50000"/>
              </a:spcBef>
            </a:pPr>
            <a:r>
              <a:rPr kumimoji="0" lang="zh-CN" altLang="en-US" sz="2400" b="1" i="0">
                <a:solidFill>
                  <a:srgbClr val="FF9900"/>
                </a:solidFill>
                <a:ea typeface="楷体_GB2312" pitchFamily="49" charset="-122"/>
              </a:rPr>
              <a:t>可行解</a:t>
            </a:r>
            <a:endParaRPr kumimoji="0" lang="zh-CN" altLang="en-US" sz="2400" b="1" i="0">
              <a:solidFill>
                <a:srgbClr val="FF9900"/>
              </a:solidFill>
              <a:ea typeface="楷体_GB2312" pitchFamily="49" charset="-122"/>
            </a:endParaRPr>
          </a:p>
        </p:txBody>
      </p:sp>
      <p:sp>
        <p:nvSpPr>
          <p:cNvPr id="9" name="Text Box 7"/>
          <p:cNvSpPr txBox="1">
            <a:spLocks noChangeArrowheads="1"/>
          </p:cNvSpPr>
          <p:nvPr/>
        </p:nvSpPr>
        <p:spPr bwMode="auto">
          <a:xfrm>
            <a:off x="755650" y="3911600"/>
            <a:ext cx="3384550" cy="2100263"/>
          </a:xfrm>
          <a:prstGeom prst="rect">
            <a:avLst/>
          </a:prstGeom>
          <a:solidFill>
            <a:srgbClr val="CC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b="1" i="0">
                <a:solidFill>
                  <a:schemeClr val="accent2"/>
                </a:solidFill>
              </a:rPr>
              <a:t>Min  3</a:t>
            </a:r>
            <a:r>
              <a:rPr lang="en-US" altLang="zh-CN" sz="2400" b="1">
                <a:solidFill>
                  <a:schemeClr val="accent2"/>
                </a:solidFill>
              </a:rPr>
              <a:t>x</a:t>
            </a:r>
            <a:r>
              <a:rPr lang="en-US" altLang="zh-CN" sz="2400" b="1" i="0">
                <a:solidFill>
                  <a:schemeClr val="accent2"/>
                </a:solidFill>
              </a:rPr>
              <a:t> +2.5</a:t>
            </a:r>
            <a:r>
              <a:rPr lang="en-US" altLang="zh-CN" sz="2400" b="1">
                <a:solidFill>
                  <a:schemeClr val="accent2"/>
                </a:solidFill>
              </a:rPr>
              <a:t>y</a:t>
            </a:r>
            <a:endParaRPr lang="en-US" altLang="zh-CN" sz="2400" b="1">
              <a:solidFill>
                <a:schemeClr val="accent2"/>
              </a:solidFill>
            </a:endParaRPr>
          </a:p>
          <a:p>
            <a:pPr eaLnBrk="1" hangingPunct="1">
              <a:spcBef>
                <a:spcPct val="50000"/>
              </a:spcBef>
            </a:pPr>
            <a:r>
              <a:rPr lang="en-US" altLang="zh-CN" sz="2400" b="1" i="0">
                <a:solidFill>
                  <a:schemeClr val="accent2"/>
                </a:solidFill>
              </a:rPr>
              <a:t>  s.t.  2</a:t>
            </a:r>
            <a:r>
              <a:rPr lang="en-US" altLang="zh-CN" sz="2400" b="1">
                <a:solidFill>
                  <a:schemeClr val="accent2"/>
                </a:solidFill>
              </a:rPr>
              <a:t>x  </a:t>
            </a:r>
            <a:r>
              <a:rPr lang="en-US" altLang="zh-CN" sz="2400" b="1" i="0">
                <a:solidFill>
                  <a:schemeClr val="accent2"/>
                </a:solidFill>
              </a:rPr>
              <a:t>+  4</a:t>
            </a:r>
            <a:r>
              <a:rPr lang="en-US" altLang="zh-CN" sz="2400" b="1">
                <a:solidFill>
                  <a:schemeClr val="accent2"/>
                </a:solidFill>
              </a:rPr>
              <a:t>y </a:t>
            </a:r>
            <a:r>
              <a:rPr lang="en-US" altLang="zh-CN" sz="2400" b="1" i="0">
                <a:solidFill>
                  <a:schemeClr val="accent2"/>
                </a:solidFill>
                <a:sym typeface="Symbol" panose="05050102010706020507" pitchFamily="2" charset="2"/>
              </a:rPr>
              <a:t></a:t>
            </a:r>
            <a:r>
              <a:rPr lang="en-US" altLang="zh-CN" sz="2400" b="1" i="0">
                <a:solidFill>
                  <a:schemeClr val="accent2"/>
                </a:solidFill>
              </a:rPr>
              <a:t> 40</a:t>
            </a:r>
            <a:endParaRPr lang="en-US" altLang="zh-CN" sz="2400" b="1" i="0">
              <a:solidFill>
                <a:schemeClr val="accent2"/>
              </a:solidFill>
            </a:endParaRPr>
          </a:p>
          <a:p>
            <a:pPr eaLnBrk="1" hangingPunct="1">
              <a:spcBef>
                <a:spcPct val="50000"/>
              </a:spcBef>
            </a:pPr>
            <a:r>
              <a:rPr lang="en-US" altLang="zh-CN" sz="2400" b="1" i="0">
                <a:solidFill>
                  <a:schemeClr val="accent2"/>
                </a:solidFill>
              </a:rPr>
              <a:t>         3</a:t>
            </a:r>
            <a:r>
              <a:rPr lang="en-US" altLang="zh-CN" sz="2400" b="1">
                <a:solidFill>
                  <a:schemeClr val="accent2"/>
                </a:solidFill>
              </a:rPr>
              <a:t>x  </a:t>
            </a:r>
            <a:r>
              <a:rPr lang="en-US" altLang="zh-CN" sz="2400" b="1" i="0">
                <a:solidFill>
                  <a:schemeClr val="accent2"/>
                </a:solidFill>
              </a:rPr>
              <a:t>+  2</a:t>
            </a:r>
            <a:r>
              <a:rPr lang="en-US" altLang="zh-CN" sz="2400" b="1">
                <a:solidFill>
                  <a:schemeClr val="accent2"/>
                </a:solidFill>
              </a:rPr>
              <a:t>y</a:t>
            </a:r>
            <a:r>
              <a:rPr lang="en-US" altLang="zh-CN" sz="2400" b="1" i="0">
                <a:solidFill>
                  <a:schemeClr val="accent2"/>
                </a:solidFill>
              </a:rPr>
              <a:t> </a:t>
            </a:r>
            <a:r>
              <a:rPr lang="en-US" altLang="zh-CN" sz="2400" b="1" i="0">
                <a:solidFill>
                  <a:schemeClr val="accent2"/>
                </a:solidFill>
                <a:sym typeface="Symbol" panose="05050102010706020507" pitchFamily="2" charset="2"/>
              </a:rPr>
              <a:t></a:t>
            </a:r>
            <a:r>
              <a:rPr lang="en-US" altLang="zh-CN" sz="2400" b="1" i="0">
                <a:solidFill>
                  <a:schemeClr val="accent2"/>
                </a:solidFill>
              </a:rPr>
              <a:t> 50</a:t>
            </a:r>
            <a:endParaRPr lang="en-US" altLang="zh-CN" sz="2400" b="1" i="0">
              <a:solidFill>
                <a:schemeClr val="accent2"/>
              </a:solidFill>
            </a:endParaRPr>
          </a:p>
          <a:p>
            <a:pPr eaLnBrk="1" hangingPunct="1">
              <a:spcBef>
                <a:spcPct val="50000"/>
              </a:spcBef>
            </a:pPr>
            <a:r>
              <a:rPr lang="en-US" altLang="zh-CN" sz="2400" b="1" i="0">
                <a:solidFill>
                  <a:schemeClr val="accent2"/>
                </a:solidFill>
              </a:rPr>
              <a:t> 	</a:t>
            </a:r>
            <a:r>
              <a:rPr lang="en-US" altLang="zh-CN" sz="2400" b="1">
                <a:solidFill>
                  <a:schemeClr val="accent2"/>
                </a:solidFill>
              </a:rPr>
              <a:t>x</a:t>
            </a:r>
            <a:r>
              <a:rPr lang="en-US" altLang="zh-CN" sz="2400" b="1" i="0">
                <a:solidFill>
                  <a:schemeClr val="accent2"/>
                </a:solidFill>
              </a:rPr>
              <a:t>, </a:t>
            </a:r>
            <a:r>
              <a:rPr lang="en-US" altLang="zh-CN" sz="2400" b="1">
                <a:solidFill>
                  <a:schemeClr val="accent2"/>
                </a:solidFill>
              </a:rPr>
              <a:t>y</a:t>
            </a:r>
            <a:r>
              <a:rPr lang="en-US" altLang="zh-CN" sz="2400" b="1" i="0">
                <a:solidFill>
                  <a:srgbClr val="CC0000"/>
                </a:solidFill>
              </a:rPr>
              <a:t> </a:t>
            </a:r>
            <a:r>
              <a:rPr lang="en-US" altLang="zh-CN" sz="2400" b="1" i="0">
                <a:solidFill>
                  <a:schemeClr val="accent2"/>
                </a:solidFill>
                <a:sym typeface="Symbol" panose="05050102010706020507" pitchFamily="2" charset="2"/>
              </a:rPr>
              <a:t></a:t>
            </a:r>
            <a:r>
              <a:rPr lang="en-US" altLang="zh-CN" sz="2400" b="1" i="0">
                <a:solidFill>
                  <a:schemeClr val="accent2"/>
                </a:solidFill>
              </a:rPr>
              <a:t> 0.</a:t>
            </a:r>
            <a:endParaRPr lang="en-US" altLang="zh-CN" sz="2400" b="1" i="0">
              <a:solidFill>
                <a:schemeClr val="accent2"/>
              </a:solidFill>
            </a:endParaRPr>
          </a:p>
        </p:txBody>
      </p:sp>
      <p:sp>
        <p:nvSpPr>
          <p:cNvPr id="10" name="Text Box 8"/>
          <p:cNvSpPr txBox="1">
            <a:spLocks noChangeArrowheads="1"/>
          </p:cNvSpPr>
          <p:nvPr/>
        </p:nvSpPr>
        <p:spPr bwMode="auto">
          <a:xfrm>
            <a:off x="4143375" y="3911600"/>
            <a:ext cx="3384550" cy="2109788"/>
          </a:xfrm>
          <a:prstGeom prst="rect">
            <a:avLst/>
          </a:prstGeom>
          <a:solidFill>
            <a:srgbClr val="CCFFFF">
              <a:alpha val="50195"/>
            </a:srgbClr>
          </a:solidFill>
          <a:ln w="9525">
            <a:solidFill>
              <a:schemeClr val="accent2"/>
            </a:solidFill>
            <a:miter lim="800000"/>
          </a:ln>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zh-CN" altLang="en-US" sz="2400" b="1" i="0">
                <a:solidFill>
                  <a:srgbClr val="FF9900"/>
                </a:solidFill>
                <a:ea typeface="楷体_GB2312" pitchFamily="49" charset="-122"/>
              </a:rPr>
              <a:t>极小化目标函数</a:t>
            </a:r>
            <a:endParaRPr kumimoji="0" lang="zh-CN" altLang="en-US" sz="2400" b="1" i="0">
              <a:solidFill>
                <a:srgbClr val="FF9900"/>
              </a:solidFill>
              <a:ea typeface="楷体_GB2312" pitchFamily="49" charset="-122"/>
            </a:endParaRPr>
          </a:p>
          <a:p>
            <a:pPr eaLnBrk="1" hangingPunct="1">
              <a:spcBef>
                <a:spcPct val="50000"/>
              </a:spcBef>
            </a:pPr>
            <a:endParaRPr kumimoji="0" lang="zh-CN" altLang="en-US" sz="2400" b="1" i="0">
              <a:solidFill>
                <a:srgbClr val="FF9900"/>
              </a:solidFill>
              <a:ea typeface="楷体_GB2312" pitchFamily="49" charset="-122"/>
            </a:endParaRPr>
          </a:p>
          <a:p>
            <a:pPr eaLnBrk="1" hangingPunct="1">
              <a:spcBef>
                <a:spcPct val="50000"/>
              </a:spcBef>
            </a:pPr>
            <a:r>
              <a:rPr kumimoji="0" lang="zh-CN" altLang="en-US" sz="2400" b="1" i="0">
                <a:solidFill>
                  <a:srgbClr val="FF9900"/>
                </a:solidFill>
                <a:ea typeface="楷体_GB2312" pitchFamily="49" charset="-122"/>
              </a:rPr>
              <a:t>可行区域（单纯形）</a:t>
            </a:r>
            <a:endParaRPr kumimoji="0" lang="zh-CN" altLang="en-US" sz="2400" b="1" i="0">
              <a:solidFill>
                <a:srgbClr val="FF9900"/>
              </a:solidFill>
              <a:ea typeface="楷体_GB2312" pitchFamily="49" charset="-122"/>
            </a:endParaRPr>
          </a:p>
          <a:p>
            <a:pPr eaLnBrk="1" hangingPunct="1">
              <a:spcBef>
                <a:spcPct val="50000"/>
              </a:spcBef>
            </a:pPr>
            <a:r>
              <a:rPr kumimoji="0" lang="zh-CN" altLang="en-US" sz="2400" b="1" i="0">
                <a:solidFill>
                  <a:srgbClr val="FF9900"/>
                </a:solidFill>
                <a:ea typeface="楷体_GB2312" pitchFamily="49" charset="-122"/>
              </a:rPr>
              <a:t>可行解</a:t>
            </a:r>
            <a:endParaRPr kumimoji="0" lang="zh-CN" altLang="en-US" sz="2400" b="1" i="0">
              <a:solidFill>
                <a:srgbClr val="FF99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autoUpdateAnimBg="0"/>
      <p:bldP spid="9" grpId="0" animBg="1" autoUpdateAnimBg="0"/>
      <p:bldP spid="10"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7" name="Line 4"/>
          <p:cNvSpPr>
            <a:spLocks noChangeShapeType="1"/>
          </p:cNvSpPr>
          <p:nvPr/>
        </p:nvSpPr>
        <p:spPr bwMode="auto">
          <a:xfrm>
            <a:off x="228600" y="914400"/>
            <a:ext cx="8534400" cy="0"/>
          </a:xfrm>
          <a:prstGeom prst="line">
            <a:avLst/>
          </a:prstGeom>
          <a:noFill/>
          <a:ln w="57150" cmpd="thickThin">
            <a:solidFill>
              <a:srgbClr val="660066"/>
            </a:solidFill>
            <a:round/>
          </a:ln>
          <a:extLst>
            <a:ext uri="{909E8E84-426E-40DD-AFC4-6F175D3DCCD1}">
              <a14:hiddenFill xmlns:a14="http://schemas.microsoft.com/office/drawing/2010/main">
                <a:noFill/>
              </a14:hiddenFill>
            </a:ext>
          </a:extLst>
        </p:spPr>
        <p:txBody>
          <a:bodyPr/>
          <a:lstStyle/>
          <a:p>
            <a:endParaRPr lang="x-none"/>
          </a:p>
        </p:txBody>
      </p:sp>
      <p:sp>
        <p:nvSpPr>
          <p:cNvPr id="8" name="Text Box 5"/>
          <p:cNvSpPr txBox="1">
            <a:spLocks noChangeArrowheads="1"/>
          </p:cNvSpPr>
          <p:nvPr/>
        </p:nvSpPr>
        <p:spPr bwMode="auto">
          <a:xfrm>
            <a:off x="468313" y="1052513"/>
            <a:ext cx="82073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i="0">
                <a:latin typeface="楷体_GB2312" pitchFamily="49" charset="-122"/>
                <a:ea typeface="楷体_GB2312" pitchFamily="49" charset="-122"/>
              </a:rPr>
              <a:t>   </a:t>
            </a:r>
            <a:r>
              <a:rPr lang="zh-CN" altLang="en-US" sz="2400" i="0">
                <a:latin typeface="楷体_GB2312" pitchFamily="49" charset="-122"/>
                <a:ea typeface="楷体_GB2312" pitchFamily="49" charset="-122"/>
              </a:rPr>
              <a:t>对比一下从消费者和供应商各自的利益导出的两个问题，我们不难发现两个问题可以通过下述简单的变换，而相互转化：</a:t>
            </a:r>
            <a:endParaRPr lang="zh-CN" altLang="en-US" sz="2400" i="0">
              <a:latin typeface="楷体_GB2312" pitchFamily="49" charset="-122"/>
              <a:ea typeface="楷体_GB2312" pitchFamily="49" charset="-122"/>
            </a:endParaRPr>
          </a:p>
        </p:txBody>
      </p:sp>
      <p:grpSp>
        <p:nvGrpSpPr>
          <p:cNvPr id="9" name="Group 6"/>
          <p:cNvGrpSpPr/>
          <p:nvPr/>
        </p:nvGrpSpPr>
        <p:grpSpPr bwMode="auto">
          <a:xfrm>
            <a:off x="684213" y="2492375"/>
            <a:ext cx="7632700" cy="1552575"/>
            <a:chOff x="431" y="1797"/>
            <a:chExt cx="4808" cy="978"/>
          </a:xfrm>
        </p:grpSpPr>
        <p:sp>
          <p:nvSpPr>
            <p:cNvPr id="10" name="Text Box 7"/>
            <p:cNvSpPr txBox="1">
              <a:spLocks noChangeArrowheads="1"/>
            </p:cNvSpPr>
            <p:nvPr/>
          </p:nvSpPr>
          <p:spPr bwMode="auto">
            <a:xfrm>
              <a:off x="431" y="1797"/>
              <a:ext cx="1678" cy="978"/>
            </a:xfrm>
            <a:prstGeom prst="rect">
              <a:avLst/>
            </a:prstGeom>
            <a:solidFill>
              <a:srgbClr val="CC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i="0">
                  <a:solidFill>
                    <a:schemeClr val="accent2"/>
                  </a:solidFill>
                  <a:ea typeface="楷体_GB2312" pitchFamily="49" charset="-122"/>
                </a:rPr>
                <a:t>极小化费用 </a:t>
              </a:r>
              <a:r>
                <a:rPr lang="en-US" altLang="zh-CN" sz="2400" i="0">
                  <a:solidFill>
                    <a:schemeClr val="accent2"/>
                  </a:solidFill>
                  <a:ea typeface="楷体_GB2312" pitchFamily="49" charset="-122"/>
                </a:rPr>
                <a:t>Min</a:t>
              </a:r>
              <a:endParaRPr lang="en-US" altLang="zh-CN" sz="2400">
                <a:solidFill>
                  <a:schemeClr val="accent2"/>
                </a:solidFill>
                <a:ea typeface="楷体_GB2312" pitchFamily="49" charset="-122"/>
              </a:endParaRPr>
            </a:p>
            <a:p>
              <a:pPr algn="ctr" eaLnBrk="1" hangingPunct="1">
                <a:spcBef>
                  <a:spcPct val="50000"/>
                </a:spcBef>
              </a:pPr>
              <a:r>
                <a:rPr lang="en-US" altLang="zh-CN" sz="2400" i="0">
                  <a:solidFill>
                    <a:schemeClr val="accent2"/>
                  </a:solidFill>
                  <a:ea typeface="楷体_GB2312" pitchFamily="49" charset="-122"/>
                  <a:sym typeface="Symbol" panose="05050102010706020507" pitchFamily="2" charset="2"/>
                </a:rPr>
                <a:t> </a:t>
              </a:r>
              <a:r>
                <a:rPr lang="zh-CN" altLang="en-US" sz="2400" i="0">
                  <a:solidFill>
                    <a:schemeClr val="accent2"/>
                  </a:solidFill>
                  <a:ea typeface="楷体_GB2312" pitchFamily="49" charset="-122"/>
                  <a:sym typeface="Symbol" panose="05050102010706020507" pitchFamily="2" charset="2"/>
                </a:rPr>
                <a:t>大于等于约束  </a:t>
              </a:r>
              <a:endParaRPr lang="zh-CN" altLang="en-US" sz="2400" i="0">
                <a:solidFill>
                  <a:schemeClr val="accent2"/>
                </a:solidFill>
                <a:ea typeface="楷体_GB2312" pitchFamily="49" charset="-122"/>
                <a:sym typeface="Symbol" panose="05050102010706020507" pitchFamily="2" charset="2"/>
              </a:endParaRPr>
            </a:p>
            <a:p>
              <a:pPr algn="ctr" eaLnBrk="1" hangingPunct="1">
                <a:spcBef>
                  <a:spcPct val="50000"/>
                </a:spcBef>
              </a:pPr>
              <a:r>
                <a:rPr lang="zh-CN" altLang="en-US" sz="2400" i="0">
                  <a:solidFill>
                    <a:schemeClr val="accent2"/>
                  </a:solidFill>
                  <a:ea typeface="楷体_GB2312" pitchFamily="49" charset="-122"/>
                </a:rPr>
                <a:t>食品费用</a:t>
              </a:r>
              <a:r>
                <a:rPr lang="zh-CN" altLang="en-US" sz="2400" b="1" i="0">
                  <a:solidFill>
                    <a:schemeClr val="accent2"/>
                  </a:solidFill>
                </a:rPr>
                <a:t> 	</a:t>
              </a:r>
              <a:endParaRPr lang="zh-CN" altLang="en-US" sz="2400" b="1" i="0">
                <a:solidFill>
                  <a:schemeClr val="accent2"/>
                </a:solidFill>
              </a:endParaRPr>
            </a:p>
          </p:txBody>
        </p:sp>
        <p:sp>
          <p:nvSpPr>
            <p:cNvPr id="11" name="Text Box 8"/>
            <p:cNvSpPr txBox="1">
              <a:spLocks noChangeArrowheads="1"/>
            </p:cNvSpPr>
            <p:nvPr/>
          </p:nvSpPr>
          <p:spPr bwMode="auto">
            <a:xfrm>
              <a:off x="3561" y="1797"/>
              <a:ext cx="1678" cy="978"/>
            </a:xfrm>
            <a:prstGeom prst="rect">
              <a:avLst/>
            </a:prstGeom>
            <a:solidFill>
              <a:srgbClr val="CC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i="0">
                  <a:solidFill>
                    <a:schemeClr val="accent2"/>
                  </a:solidFill>
                  <a:ea typeface="楷体_GB2312" pitchFamily="49" charset="-122"/>
                </a:rPr>
                <a:t>极大化利润</a:t>
              </a:r>
              <a:r>
                <a:rPr lang="en-US" altLang="zh-CN" sz="2400" i="0">
                  <a:solidFill>
                    <a:schemeClr val="accent2"/>
                  </a:solidFill>
                  <a:ea typeface="楷体_GB2312" pitchFamily="49" charset="-122"/>
                </a:rPr>
                <a:t>Max</a:t>
              </a:r>
              <a:endParaRPr lang="en-US" altLang="zh-CN" sz="2400">
                <a:solidFill>
                  <a:schemeClr val="accent2"/>
                </a:solidFill>
                <a:ea typeface="楷体_GB2312" pitchFamily="49" charset="-122"/>
              </a:endParaRPr>
            </a:p>
            <a:p>
              <a:pPr algn="ctr" eaLnBrk="1" hangingPunct="1">
                <a:spcBef>
                  <a:spcPct val="50000"/>
                </a:spcBef>
              </a:pPr>
              <a:r>
                <a:rPr lang="zh-CN" altLang="en-US" sz="2400" i="0">
                  <a:solidFill>
                    <a:schemeClr val="accent2"/>
                  </a:solidFill>
                  <a:ea typeface="楷体_GB2312" pitchFamily="49" charset="-122"/>
                  <a:sym typeface="Symbol" panose="05050102010706020507" pitchFamily="2" charset="2"/>
                </a:rPr>
                <a:t>小于等于约束</a:t>
              </a:r>
              <a:r>
                <a:rPr lang="zh-CN" altLang="en-US" sz="2400" i="0">
                  <a:solidFill>
                    <a:srgbClr val="CC0000"/>
                  </a:solidFill>
                  <a:ea typeface="楷体_GB2312" pitchFamily="49" charset="-122"/>
                  <a:sym typeface="Symbol" panose="05050102010706020507" pitchFamily="2" charset="2"/>
                </a:rPr>
                <a:t> </a:t>
              </a:r>
              <a:r>
                <a:rPr lang="zh-CN" altLang="en-US" sz="2400" i="0">
                  <a:solidFill>
                    <a:schemeClr val="accent2"/>
                  </a:solidFill>
                  <a:ea typeface="楷体_GB2312" pitchFamily="49" charset="-122"/>
                  <a:sym typeface="Symbol" panose="05050102010706020507" pitchFamily="2" charset="2"/>
                </a:rPr>
                <a:t></a:t>
              </a:r>
              <a:endParaRPr lang="zh-CN" altLang="en-US" sz="2400" i="0">
                <a:solidFill>
                  <a:schemeClr val="accent2"/>
                </a:solidFill>
                <a:ea typeface="楷体_GB2312" pitchFamily="49" charset="-122"/>
              </a:endParaRPr>
            </a:p>
            <a:p>
              <a:pPr algn="ctr" eaLnBrk="1" hangingPunct="1">
                <a:spcBef>
                  <a:spcPct val="50000"/>
                </a:spcBef>
              </a:pPr>
              <a:r>
                <a:rPr lang="zh-CN" altLang="en-US" sz="2400" i="0">
                  <a:solidFill>
                    <a:schemeClr val="accent2"/>
                  </a:solidFill>
                  <a:ea typeface="楷体_GB2312" pitchFamily="49" charset="-122"/>
                </a:rPr>
                <a:t>价格约束</a:t>
              </a:r>
              <a:endParaRPr lang="zh-CN" altLang="en-US" sz="2400" i="0">
                <a:solidFill>
                  <a:schemeClr val="accent2"/>
                </a:solidFill>
                <a:ea typeface="楷体_GB2312" pitchFamily="49" charset="-122"/>
              </a:endParaRPr>
            </a:p>
          </p:txBody>
        </p:sp>
        <p:sp>
          <p:nvSpPr>
            <p:cNvPr id="12" name="Line 9"/>
            <p:cNvSpPr>
              <a:spLocks noChangeShapeType="1"/>
            </p:cNvSpPr>
            <p:nvPr/>
          </p:nvSpPr>
          <p:spPr bwMode="auto">
            <a:xfrm>
              <a:off x="2426" y="1979"/>
              <a:ext cx="772" cy="0"/>
            </a:xfrm>
            <a:prstGeom prst="line">
              <a:avLst/>
            </a:prstGeom>
            <a:noFill/>
            <a:ln w="38100">
              <a:solidFill>
                <a:srgbClr val="0033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x-none"/>
            </a:p>
          </p:txBody>
        </p:sp>
        <p:sp>
          <p:nvSpPr>
            <p:cNvPr id="13" name="Line 10"/>
            <p:cNvSpPr>
              <a:spLocks noChangeShapeType="1"/>
            </p:cNvSpPr>
            <p:nvPr/>
          </p:nvSpPr>
          <p:spPr bwMode="auto">
            <a:xfrm>
              <a:off x="2426" y="2296"/>
              <a:ext cx="772" cy="0"/>
            </a:xfrm>
            <a:prstGeom prst="line">
              <a:avLst/>
            </a:prstGeom>
            <a:noFill/>
            <a:ln w="38100">
              <a:solidFill>
                <a:srgbClr val="0033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x-none"/>
            </a:p>
          </p:txBody>
        </p:sp>
        <p:sp>
          <p:nvSpPr>
            <p:cNvPr id="14" name="Line 11"/>
            <p:cNvSpPr>
              <a:spLocks noChangeShapeType="1"/>
            </p:cNvSpPr>
            <p:nvPr/>
          </p:nvSpPr>
          <p:spPr bwMode="auto">
            <a:xfrm>
              <a:off x="2426" y="2614"/>
              <a:ext cx="772" cy="0"/>
            </a:xfrm>
            <a:prstGeom prst="line">
              <a:avLst/>
            </a:prstGeom>
            <a:noFill/>
            <a:ln w="38100">
              <a:solidFill>
                <a:srgbClr val="003366"/>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x-none"/>
            </a:p>
          </p:txBody>
        </p:sp>
      </p:grpSp>
      <p:sp>
        <p:nvSpPr>
          <p:cNvPr id="15" name="Text Box 12"/>
          <p:cNvSpPr txBox="1">
            <a:spLocks noChangeArrowheads="1"/>
          </p:cNvSpPr>
          <p:nvPr/>
        </p:nvSpPr>
        <p:spPr bwMode="auto">
          <a:xfrm>
            <a:off x="468313" y="4437063"/>
            <a:ext cx="83518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i="0">
                <a:latin typeface="楷体_GB2312" pitchFamily="49" charset="-122"/>
                <a:ea typeface="楷体_GB2312" pitchFamily="49" charset="-122"/>
              </a:rPr>
              <a:t>   </a:t>
            </a:r>
            <a:r>
              <a:rPr lang="zh-CN" altLang="en-US" sz="2400" i="0">
                <a:latin typeface="楷体_GB2312" pitchFamily="49" charset="-122"/>
                <a:ea typeface="楷体_GB2312" pitchFamily="49" charset="-122"/>
              </a:rPr>
              <a:t>当你把食谱问题的对偶问题解出以后（</a:t>
            </a:r>
            <a:r>
              <a:rPr lang="zh-CN" altLang="en-US" sz="2400" b="1" i="0">
                <a:latin typeface="楷体_GB2312" pitchFamily="49" charset="-122"/>
                <a:ea typeface="楷体_GB2312" pitchFamily="49" charset="-122"/>
              </a:rPr>
              <a:t>练习</a:t>
            </a:r>
            <a:r>
              <a:rPr lang="zh-CN" altLang="en-US" sz="2400" i="0">
                <a:latin typeface="楷体_GB2312" pitchFamily="49" charset="-122"/>
                <a:ea typeface="楷体_GB2312" pitchFamily="49" charset="-122"/>
              </a:rPr>
              <a:t>），你会发现一个（重要的）事实：这两个问题的最优值是相等的！</a:t>
            </a:r>
            <a:endParaRPr lang="zh-CN" altLang="en-US" sz="2400" i="0">
              <a:latin typeface="楷体_GB2312" pitchFamily="49" charset="-122"/>
              <a:ea typeface="楷体_GB2312" pitchFamily="49" charset="-122"/>
            </a:endParaRPr>
          </a:p>
        </p:txBody>
      </p:sp>
      <p:sp>
        <p:nvSpPr>
          <p:cNvPr id="16" name="Text Box 13"/>
          <p:cNvSpPr txBox="1">
            <a:spLocks noChangeArrowheads="1"/>
          </p:cNvSpPr>
          <p:nvPr/>
        </p:nvSpPr>
        <p:spPr bwMode="auto">
          <a:xfrm>
            <a:off x="468313" y="5661025"/>
            <a:ext cx="8351837" cy="457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6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16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16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16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16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1600" i="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b="1" i="0">
                <a:latin typeface="楷体_GB2312" pitchFamily="49" charset="-122"/>
                <a:ea typeface="楷体_GB2312" pitchFamily="49" charset="-122"/>
              </a:rPr>
              <a:t>思考题</a:t>
            </a:r>
            <a:r>
              <a:rPr lang="zh-CN" altLang="en-US" sz="2400" i="0">
                <a:latin typeface="楷体_GB2312" pitchFamily="49" charset="-122"/>
                <a:ea typeface="楷体_GB2312" pitchFamily="49" charset="-122"/>
              </a:rPr>
              <a:t>：在数学上，是不是还有一些对偶的问题和概念？</a:t>
            </a:r>
            <a:endParaRPr lang="zh-CN" altLang="en-US" sz="2400" i="0">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16"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graphicFrame>
        <p:nvGraphicFramePr>
          <p:cNvPr id="17" name="Object 3"/>
          <p:cNvGraphicFramePr>
            <a:graphicFrameLocks noChangeAspect="1"/>
          </p:cNvGraphicFramePr>
          <p:nvPr/>
        </p:nvGraphicFramePr>
        <p:xfrm>
          <a:off x="430908" y="1744062"/>
          <a:ext cx="3544888" cy="2057400"/>
        </p:xfrm>
        <a:graphic>
          <a:graphicData uri="http://schemas.openxmlformats.org/presentationml/2006/ole">
            <mc:AlternateContent xmlns:mc="http://schemas.openxmlformats.org/markup-compatibility/2006">
              <mc:Choice xmlns:v="urn:schemas-microsoft-com:vml" Requires="v">
                <p:oleObj spid="_x0000_s12289" name="Equation" r:id="rId1" imgW="56692800" imgH="32918400" progId="Equation.3">
                  <p:embed/>
                </p:oleObj>
              </mc:Choice>
              <mc:Fallback>
                <p:oleObj name="Equation" r:id="rId1" imgW="56692800" imgH="32918400" progId="Equation.3">
                  <p:embed/>
                  <p:pic>
                    <p:nvPicPr>
                      <p:cNvPr id="0" name="图片 12288"/>
                      <p:cNvPicPr>
                        <a:picLocks noChangeAspect="1"/>
                      </p:cNvPicPr>
                      <p:nvPr/>
                    </p:nvPicPr>
                    <p:blipFill>
                      <a:blip r:embed="rId2"/>
                      <a:stretch>
                        <a:fillRect/>
                      </a:stretch>
                    </p:blipFill>
                    <p:spPr>
                      <a:xfrm>
                        <a:off x="430908" y="1744062"/>
                        <a:ext cx="3544888" cy="2057400"/>
                      </a:xfrm>
                      <a:prstGeom prst="rect">
                        <a:avLst/>
                      </a:prstGeom>
                      <a:noFill/>
                      <a:ln w="9525">
                        <a:noFill/>
                      </a:ln>
                    </p:spPr>
                  </p:pic>
                </p:oleObj>
              </mc:Fallback>
            </mc:AlternateContent>
          </a:graphicData>
        </a:graphic>
      </p:graphicFrame>
      <p:sp>
        <p:nvSpPr>
          <p:cNvPr id="18" name="Text Box 4"/>
          <p:cNvSpPr txBox="1">
            <a:spLocks noChangeArrowheads="1"/>
          </p:cNvSpPr>
          <p:nvPr/>
        </p:nvSpPr>
        <p:spPr bwMode="auto">
          <a:xfrm>
            <a:off x="428596" y="1000108"/>
            <a:ext cx="7696200" cy="420687"/>
          </a:xfrm>
          <a:prstGeom prst="rect">
            <a:avLst/>
          </a:prstGeom>
          <a:noFill/>
          <a:ln w="19050">
            <a:noFill/>
            <a:miter lim="800000"/>
          </a:ln>
          <a:effectLst/>
        </p:spPr>
        <p:txBody>
          <a:bodyPr>
            <a:spAutoFit/>
          </a:bodyPr>
          <a:lstStyle/>
          <a:p>
            <a:pPr>
              <a:lnSpc>
                <a:spcPct val="90000"/>
              </a:lnSpc>
              <a:spcBef>
                <a:spcPct val="50000"/>
              </a:spcBef>
              <a:buClr>
                <a:schemeClr val="accent2"/>
              </a:buClr>
              <a:buSzPct val="80000"/>
              <a:buFont typeface="Wingdings" panose="05000000000000000000" pitchFamily="2" charset="2"/>
              <a:buNone/>
            </a:pPr>
            <a:r>
              <a:rPr kumimoji="1" lang="zh-CN" altLang="en-US" sz="2400" b="1" dirty="0">
                <a:latin typeface="楷体_GB2312" pitchFamily="49" charset="-122"/>
                <a:ea typeface="楷体_GB2312" pitchFamily="49" charset="-122"/>
              </a:rPr>
              <a:t>定义 设原线性规划问题为     则称下列线性规划问题</a:t>
            </a:r>
            <a:endParaRPr kumimoji="1" lang="zh-CN" altLang="en-US" sz="2400" b="1" dirty="0">
              <a:latin typeface="楷体_GB2312" pitchFamily="49" charset="-122"/>
              <a:ea typeface="楷体_GB2312" pitchFamily="49" charset="-122"/>
            </a:endParaRPr>
          </a:p>
        </p:txBody>
      </p:sp>
      <p:graphicFrame>
        <p:nvGraphicFramePr>
          <p:cNvPr id="19" name="Object 5"/>
          <p:cNvGraphicFramePr>
            <a:graphicFrameLocks noChangeAspect="1"/>
          </p:cNvGraphicFramePr>
          <p:nvPr/>
        </p:nvGraphicFramePr>
        <p:xfrm>
          <a:off x="4410072" y="1776408"/>
          <a:ext cx="3487738" cy="2019300"/>
        </p:xfrm>
        <a:graphic>
          <a:graphicData uri="http://schemas.openxmlformats.org/presentationml/2006/ole">
            <mc:AlternateContent xmlns:mc="http://schemas.openxmlformats.org/markup-compatibility/2006">
              <mc:Choice xmlns:v="urn:schemas-microsoft-com:vml" Requires="v">
                <p:oleObj spid="_x0000_s12290" name="Equation" r:id="rId3" imgW="55778400" imgH="32308800" progId="Equation.3">
                  <p:embed/>
                </p:oleObj>
              </mc:Choice>
              <mc:Fallback>
                <p:oleObj name="Equation" r:id="rId3" imgW="55778400" imgH="32308800" progId="Equation.3">
                  <p:embed/>
                  <p:pic>
                    <p:nvPicPr>
                      <p:cNvPr id="0" name="图片 12289"/>
                      <p:cNvPicPr>
                        <a:picLocks noChangeAspect="1"/>
                      </p:cNvPicPr>
                      <p:nvPr/>
                    </p:nvPicPr>
                    <p:blipFill>
                      <a:blip r:embed="rId4"/>
                      <a:stretch>
                        <a:fillRect/>
                      </a:stretch>
                    </p:blipFill>
                    <p:spPr>
                      <a:xfrm>
                        <a:off x="4410072" y="1776408"/>
                        <a:ext cx="3487738" cy="2019300"/>
                      </a:xfrm>
                      <a:prstGeom prst="rect">
                        <a:avLst/>
                      </a:prstGeom>
                      <a:noFill/>
                      <a:ln w="9525">
                        <a:noFill/>
                      </a:ln>
                    </p:spPr>
                  </p:pic>
                </p:oleObj>
              </mc:Fallback>
            </mc:AlternateContent>
          </a:graphicData>
        </a:graphic>
      </p:graphicFrame>
      <p:sp>
        <p:nvSpPr>
          <p:cNvPr id="21" name="Text Box 7"/>
          <p:cNvSpPr txBox="1">
            <a:spLocks noChangeArrowheads="1"/>
          </p:cNvSpPr>
          <p:nvPr/>
        </p:nvSpPr>
        <p:spPr bwMode="auto">
          <a:xfrm>
            <a:off x="1000100" y="4071942"/>
            <a:ext cx="6934200" cy="480131"/>
          </a:xfrm>
          <a:prstGeom prst="rect">
            <a:avLst/>
          </a:prstGeom>
          <a:noFill/>
          <a:ln w="19050">
            <a:noFill/>
            <a:miter lim="800000"/>
          </a:ln>
          <a:effectLst/>
        </p:spPr>
        <p:txBody>
          <a:bodyPr>
            <a:spAutoFit/>
          </a:bodyPr>
          <a:lstStyle/>
          <a:p>
            <a:pPr>
              <a:lnSpc>
                <a:spcPct val="90000"/>
              </a:lnSpc>
              <a:spcBef>
                <a:spcPct val="50000"/>
              </a:spcBef>
              <a:buClr>
                <a:schemeClr val="accent2"/>
              </a:buClr>
              <a:buSzPct val="80000"/>
              <a:buFont typeface="Wingdings" panose="05000000000000000000" pitchFamily="2" charset="2"/>
              <a:buNone/>
            </a:pPr>
            <a:r>
              <a:rPr kumimoji="1" lang="zh-CN" altLang="en-US" sz="2800" dirty="0">
                <a:latin typeface="Times New Roman" panose="02020603050405020304" pitchFamily="18" charset="0"/>
                <a:ea typeface="楷体_GB2312" pitchFamily="49" charset="-122"/>
              </a:rPr>
              <a:t>上述对偶问题称为</a:t>
            </a:r>
            <a:r>
              <a:rPr kumimoji="1" lang="zh-CN" altLang="en-US" sz="2800" i="1" u="sng" dirty="0">
                <a:solidFill>
                  <a:srgbClr val="EF2F09"/>
                </a:solidFill>
                <a:latin typeface="Times New Roman" panose="02020603050405020304" pitchFamily="18" charset="0"/>
                <a:ea typeface="楷体_GB2312" pitchFamily="49" charset="-122"/>
              </a:rPr>
              <a:t>对称型对偶问题</a:t>
            </a:r>
            <a:r>
              <a:rPr kumimoji="1" lang="zh-CN" altLang="en-US" sz="2800" dirty="0">
                <a:latin typeface="Times New Roman" panose="02020603050405020304" pitchFamily="18" charset="0"/>
                <a:ea typeface="楷体_GB2312" pitchFamily="49" charset="-122"/>
              </a:rPr>
              <a:t>。</a:t>
            </a:r>
            <a:endParaRPr kumimoji="1" lang="zh-CN" altLang="en-US" sz="2800" dirty="0">
              <a:latin typeface="Times New Roman" panose="02020603050405020304" pitchFamily="18" charset="0"/>
              <a:ea typeface="楷体_GB2312" pitchFamily="49" charset="-122"/>
            </a:endParaRPr>
          </a:p>
        </p:txBody>
      </p:sp>
      <p:sp>
        <p:nvSpPr>
          <p:cNvPr id="22" name="Text Box 8"/>
          <p:cNvSpPr txBox="1">
            <a:spLocks noChangeArrowheads="1"/>
          </p:cNvSpPr>
          <p:nvPr/>
        </p:nvSpPr>
        <p:spPr bwMode="auto">
          <a:xfrm>
            <a:off x="1104872" y="5119671"/>
            <a:ext cx="6610400" cy="480131"/>
          </a:xfrm>
          <a:prstGeom prst="rect">
            <a:avLst/>
          </a:prstGeom>
          <a:noFill/>
          <a:ln w="19050">
            <a:noFill/>
            <a:miter lim="800000"/>
          </a:ln>
          <a:effectLst/>
        </p:spPr>
        <p:txBody>
          <a:bodyPr wrap="square">
            <a:spAutoFit/>
          </a:bodyPr>
          <a:lstStyle/>
          <a:p>
            <a:pPr>
              <a:lnSpc>
                <a:spcPct val="90000"/>
              </a:lnSpc>
              <a:spcBef>
                <a:spcPct val="50000"/>
              </a:spcBef>
              <a:buClr>
                <a:schemeClr val="accent2"/>
              </a:buClr>
              <a:buSzPct val="80000"/>
              <a:buFont typeface="Wingdings" panose="05000000000000000000" pitchFamily="2" charset="2"/>
              <a:buNone/>
            </a:pPr>
            <a:r>
              <a:rPr kumimoji="1" lang="zh-CN" altLang="en-US" sz="2800" dirty="0">
                <a:latin typeface="Times New Roman" panose="02020603050405020304" pitchFamily="18" charset="0"/>
                <a:ea typeface="楷体_GB2312" pitchFamily="49" charset="-122"/>
              </a:rPr>
              <a:t>原问题简记为</a:t>
            </a:r>
            <a:r>
              <a:rPr kumimoji="1" lang="en-US" altLang="zh-CN" sz="2800" dirty="0">
                <a:latin typeface="Times New Roman" panose="02020603050405020304" pitchFamily="18" charset="0"/>
                <a:ea typeface="楷体_GB2312" pitchFamily="49" charset="-122"/>
              </a:rPr>
              <a:t>(P)</a:t>
            </a:r>
            <a:r>
              <a:rPr kumimoji="1" lang="zh-CN" altLang="en-US" sz="2800" dirty="0">
                <a:latin typeface="Times New Roman" panose="02020603050405020304" pitchFamily="18" charset="0"/>
                <a:ea typeface="楷体_GB2312" pitchFamily="49" charset="-122"/>
              </a:rPr>
              <a:t>，对偶问题简记为</a:t>
            </a:r>
            <a:r>
              <a:rPr kumimoji="1" lang="en-US" altLang="zh-CN" sz="2800" dirty="0">
                <a:latin typeface="Times New Roman" panose="02020603050405020304" pitchFamily="18" charset="0"/>
                <a:ea typeface="楷体_GB2312" pitchFamily="49" charset="-122"/>
              </a:rPr>
              <a:t>(D)</a:t>
            </a:r>
            <a:endParaRPr kumimoji="1" lang="en-US" altLang="zh-CN" sz="2800"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17" name="Text Box 2"/>
          <p:cNvSpPr txBox="1">
            <a:spLocks noChangeArrowheads="1"/>
          </p:cNvSpPr>
          <p:nvPr/>
        </p:nvSpPr>
        <p:spPr bwMode="auto">
          <a:xfrm>
            <a:off x="1752600" y="642918"/>
            <a:ext cx="5562600" cy="525401"/>
          </a:xfrm>
          <a:prstGeom prst="rect">
            <a:avLst/>
          </a:prstGeom>
          <a:noFill/>
          <a:ln w="9525">
            <a:noFill/>
            <a:miter lim="800000"/>
          </a:ln>
          <a:effectLst/>
        </p:spPr>
        <p:txBody>
          <a:bodyPr lIns="90000" tIns="46800" rIns="90000" bIns="46800">
            <a:spAutoFit/>
          </a:bodyPr>
          <a:lstStyle/>
          <a:p>
            <a:pPr algn="ctr">
              <a:spcBef>
                <a:spcPct val="50000"/>
              </a:spcBef>
            </a:pPr>
            <a:r>
              <a:rPr kumimoji="1" lang="zh-CN" altLang="en-US" sz="2800" b="1" dirty="0">
                <a:solidFill>
                  <a:srgbClr val="EF2F09"/>
                </a:solidFill>
                <a:latin typeface="Times New Roman" panose="02020603050405020304" pitchFamily="18" charset="0"/>
                <a:ea typeface="楷体_GB2312" pitchFamily="49" charset="-122"/>
              </a:rPr>
              <a:t>对偶关系对应表</a:t>
            </a:r>
            <a:endParaRPr kumimoji="1" lang="zh-CN" altLang="en-US" sz="2800" b="1" dirty="0">
              <a:solidFill>
                <a:srgbClr val="EF2F09"/>
              </a:solidFill>
              <a:latin typeface="Times New Roman" panose="02020603050405020304" pitchFamily="18" charset="0"/>
              <a:ea typeface="楷体_GB2312" pitchFamily="49" charset="-122"/>
            </a:endParaRPr>
          </a:p>
        </p:txBody>
      </p:sp>
      <p:pic>
        <p:nvPicPr>
          <p:cNvPr id="2" name="Picture 1"/>
          <p:cNvPicPr>
            <a:picLocks noChangeAspect="1"/>
          </p:cNvPicPr>
          <p:nvPr/>
        </p:nvPicPr>
        <p:blipFill>
          <a:blip r:embed="rId1"/>
          <a:stretch>
            <a:fillRect/>
          </a:stretch>
        </p:blipFill>
        <p:spPr>
          <a:xfrm>
            <a:off x="1296144" y="1145498"/>
            <a:ext cx="7020272" cy="4947798"/>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7" name="Line 4"/>
          <p:cNvSpPr>
            <a:spLocks noChangeShapeType="1"/>
          </p:cNvSpPr>
          <p:nvPr/>
        </p:nvSpPr>
        <p:spPr bwMode="auto">
          <a:xfrm>
            <a:off x="228600" y="1176318"/>
            <a:ext cx="8534400" cy="0"/>
          </a:xfrm>
          <a:prstGeom prst="line">
            <a:avLst/>
          </a:prstGeom>
          <a:noFill/>
          <a:ln w="57150" cmpd="thickThin">
            <a:solidFill>
              <a:srgbClr val="660066"/>
            </a:solidFill>
            <a:round/>
          </a:ln>
          <a:extLst>
            <a:ext uri="{909E8E84-426E-40DD-AFC4-6F175D3DCCD1}">
              <a14:hiddenFill xmlns:a14="http://schemas.microsoft.com/office/drawing/2010/main">
                <a:noFill/>
              </a14:hiddenFill>
            </a:ext>
          </a:extLst>
        </p:spPr>
        <p:txBody>
          <a:bodyPr/>
          <a:lstStyle/>
          <a:p>
            <a:endParaRPr lang="x-none"/>
          </a:p>
        </p:txBody>
      </p:sp>
      <p:sp>
        <p:nvSpPr>
          <p:cNvPr id="17" name="Text Box 2"/>
          <p:cNvSpPr txBox="1">
            <a:spLocks noChangeArrowheads="1"/>
          </p:cNvSpPr>
          <p:nvPr/>
        </p:nvSpPr>
        <p:spPr bwMode="auto">
          <a:xfrm>
            <a:off x="1752600" y="642918"/>
            <a:ext cx="5562600" cy="525401"/>
          </a:xfrm>
          <a:prstGeom prst="rect">
            <a:avLst/>
          </a:prstGeom>
          <a:noFill/>
          <a:ln w="9525">
            <a:noFill/>
            <a:miter lim="800000"/>
          </a:ln>
          <a:effectLst/>
        </p:spPr>
        <p:txBody>
          <a:bodyPr lIns="90000" tIns="46800" rIns="90000" bIns="46800">
            <a:spAutoFit/>
          </a:bodyPr>
          <a:lstStyle/>
          <a:p>
            <a:pPr algn="ctr">
              <a:spcBef>
                <a:spcPct val="50000"/>
              </a:spcBef>
            </a:pPr>
            <a:r>
              <a:rPr kumimoji="1" lang="zh-CN" altLang="en-US" sz="2800" b="1" dirty="0">
                <a:solidFill>
                  <a:srgbClr val="EF2F09"/>
                </a:solidFill>
                <a:latin typeface="Times New Roman" panose="02020603050405020304" pitchFamily="18" charset="0"/>
                <a:ea typeface="楷体_GB2312" pitchFamily="49" charset="-122"/>
              </a:rPr>
              <a:t>对偶关系对应表</a:t>
            </a:r>
            <a:endParaRPr kumimoji="1" lang="zh-CN" altLang="en-US" sz="2800" b="1" dirty="0">
              <a:solidFill>
                <a:srgbClr val="EF2F09"/>
              </a:solidFill>
              <a:latin typeface="Times New Roman" panose="02020603050405020304" pitchFamily="18" charset="0"/>
              <a:ea typeface="楷体_GB2312" pitchFamily="49" charset="-122"/>
            </a:endParaRPr>
          </a:p>
        </p:txBody>
      </p:sp>
      <p:sp>
        <p:nvSpPr>
          <p:cNvPr id="18" name="Text Box 3"/>
          <p:cNvSpPr txBox="1">
            <a:spLocks noChangeArrowheads="1"/>
          </p:cNvSpPr>
          <p:nvPr/>
        </p:nvSpPr>
        <p:spPr bwMode="auto">
          <a:xfrm>
            <a:off x="1066800" y="1314431"/>
            <a:ext cx="7086600" cy="4822825"/>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000">
                <a:latin typeface="Times New Roman" panose="02020603050405020304" pitchFamily="18" charset="0"/>
                <a:ea typeface="楷体_GB2312" pitchFamily="49" charset="-122"/>
              </a:rPr>
              <a:t>                                                </a:t>
            </a:r>
            <a:r>
              <a:rPr kumimoji="1" lang="zh-CN" altLang="en-US" sz="2000">
                <a:latin typeface="Times New Roman" panose="02020603050405020304" pitchFamily="18" charset="0"/>
                <a:ea typeface="楷体_GB2312" pitchFamily="49" charset="-122"/>
              </a:rPr>
              <a:t>原问题                    对偶问题</a:t>
            </a:r>
            <a:endParaRPr kumimoji="1" lang="zh-CN" altLang="en-US" sz="2000">
              <a:latin typeface="Times New Roman" panose="02020603050405020304" pitchFamily="18" charset="0"/>
              <a:ea typeface="楷体_GB2312" pitchFamily="49" charset="-122"/>
            </a:endParaRPr>
          </a:p>
          <a:p>
            <a:pPr>
              <a:lnSpc>
                <a:spcPct val="90000"/>
              </a:lnSpc>
              <a:spcBef>
                <a:spcPct val="50000"/>
              </a:spcBef>
            </a:pPr>
            <a:r>
              <a:rPr kumimoji="1" lang="zh-CN" altLang="en-US" sz="2000">
                <a:latin typeface="Times New Roman" panose="02020603050405020304" pitchFamily="18" charset="0"/>
                <a:ea typeface="楷体_GB2312" pitchFamily="49" charset="-122"/>
              </a:rPr>
              <a:t>目标函数类型                            </a:t>
            </a:r>
            <a:r>
              <a:rPr kumimoji="1" lang="en-US" altLang="zh-CN" sz="2000">
                <a:latin typeface="Times New Roman" panose="02020603050405020304" pitchFamily="18" charset="0"/>
                <a:ea typeface="楷体_GB2312" pitchFamily="49" charset="-122"/>
              </a:rPr>
              <a:t>Max                           Min</a:t>
            </a:r>
            <a:endParaRPr kumimoji="1" lang="en-US" altLang="zh-CN" sz="2000">
              <a:latin typeface="Times New Roman" panose="02020603050405020304" pitchFamily="18" charset="0"/>
              <a:ea typeface="楷体_GB2312" pitchFamily="49" charset="-122"/>
            </a:endParaRPr>
          </a:p>
          <a:p>
            <a:pPr>
              <a:lnSpc>
                <a:spcPct val="90000"/>
              </a:lnSpc>
              <a:spcBef>
                <a:spcPct val="50000"/>
              </a:spcBef>
            </a:pPr>
            <a:r>
              <a:rPr kumimoji="1" lang="zh-CN" altLang="en-US" sz="2000">
                <a:latin typeface="Times New Roman" panose="02020603050405020304" pitchFamily="18" charset="0"/>
                <a:ea typeface="楷体_GB2312" pitchFamily="49" charset="-122"/>
              </a:rPr>
              <a:t>目标函数系数                    目标函数系数           右边项系数</a:t>
            </a:r>
            <a:endParaRPr kumimoji="1" lang="zh-CN" altLang="en-US" sz="2000">
              <a:latin typeface="Times New Roman" panose="02020603050405020304" pitchFamily="18" charset="0"/>
              <a:ea typeface="楷体_GB2312" pitchFamily="49" charset="-122"/>
            </a:endParaRPr>
          </a:p>
          <a:p>
            <a:pPr>
              <a:lnSpc>
                <a:spcPct val="80000"/>
              </a:lnSpc>
              <a:spcBef>
                <a:spcPct val="50000"/>
              </a:spcBef>
            </a:pPr>
            <a:r>
              <a:rPr kumimoji="1" lang="zh-CN" altLang="en-US" sz="2000">
                <a:latin typeface="Times New Roman" panose="02020603050405020304" pitchFamily="18" charset="0"/>
                <a:ea typeface="楷体_GB2312" pitchFamily="49" charset="-122"/>
              </a:rPr>
              <a:t>与右边项的对应关系          右边项系数            目标函数系数</a:t>
            </a:r>
            <a:endParaRPr kumimoji="1" lang="zh-CN" altLang="en-US" sz="2000">
              <a:latin typeface="Times New Roman" panose="02020603050405020304" pitchFamily="18" charset="0"/>
              <a:ea typeface="楷体_GB2312" pitchFamily="49" charset="-122"/>
            </a:endParaRPr>
          </a:p>
          <a:p>
            <a:pPr>
              <a:lnSpc>
                <a:spcPct val="80000"/>
              </a:lnSpc>
              <a:spcBef>
                <a:spcPct val="50000"/>
              </a:spcBef>
            </a:pPr>
            <a:r>
              <a:rPr kumimoji="1" lang="zh-CN" altLang="en-US" sz="2000">
                <a:latin typeface="Times New Roman" panose="02020603050405020304" pitchFamily="18" charset="0"/>
                <a:ea typeface="楷体_GB2312" pitchFamily="49" charset="-122"/>
              </a:rPr>
              <a:t>变量数与约束数                     变量数</a:t>
            </a:r>
            <a:r>
              <a:rPr kumimoji="1" lang="en-US" altLang="zh-CN" sz="2000">
                <a:latin typeface="Times New Roman" panose="02020603050405020304" pitchFamily="18" charset="0"/>
                <a:ea typeface="楷体_GB2312" pitchFamily="49" charset="-122"/>
              </a:rPr>
              <a:t>n                    </a:t>
            </a:r>
            <a:r>
              <a:rPr kumimoji="1" lang="zh-CN" altLang="en-US" sz="2000">
                <a:latin typeface="Times New Roman" panose="02020603050405020304" pitchFamily="18" charset="0"/>
                <a:ea typeface="楷体_GB2312" pitchFamily="49" charset="-122"/>
              </a:rPr>
              <a:t>约束数 </a:t>
            </a:r>
            <a:r>
              <a:rPr kumimoji="1" lang="en-US" altLang="zh-CN" sz="2000">
                <a:latin typeface="Times New Roman" panose="02020603050405020304" pitchFamily="18" charset="0"/>
                <a:ea typeface="楷体_GB2312" pitchFamily="49" charset="-122"/>
              </a:rPr>
              <a:t>n</a:t>
            </a:r>
            <a:endParaRPr kumimoji="1" lang="en-US" altLang="zh-CN" sz="2000">
              <a:latin typeface="Times New Roman" panose="02020603050405020304" pitchFamily="18" charset="0"/>
              <a:ea typeface="楷体_GB2312" pitchFamily="49" charset="-122"/>
            </a:endParaRPr>
          </a:p>
          <a:p>
            <a:pPr>
              <a:lnSpc>
                <a:spcPct val="80000"/>
              </a:lnSpc>
              <a:spcBef>
                <a:spcPct val="50000"/>
              </a:spcBef>
            </a:pPr>
            <a:r>
              <a:rPr kumimoji="1" lang="zh-CN" altLang="en-US" sz="2000">
                <a:latin typeface="Times New Roman" panose="02020603050405020304" pitchFamily="18" charset="0"/>
                <a:ea typeface="楷体_GB2312" pitchFamily="49" charset="-122"/>
              </a:rPr>
              <a:t>的对应关系                             约束数</a:t>
            </a:r>
            <a:r>
              <a:rPr kumimoji="1" lang="en-US" altLang="zh-CN" sz="2000">
                <a:latin typeface="Times New Roman" panose="02020603050405020304" pitchFamily="18" charset="0"/>
                <a:ea typeface="楷体_GB2312" pitchFamily="49" charset="-122"/>
              </a:rPr>
              <a:t>m                   </a:t>
            </a:r>
            <a:r>
              <a:rPr kumimoji="1" lang="zh-CN" altLang="en-US" sz="2000">
                <a:latin typeface="Times New Roman" panose="02020603050405020304" pitchFamily="18" charset="0"/>
                <a:ea typeface="楷体_GB2312" pitchFamily="49" charset="-122"/>
              </a:rPr>
              <a:t>变量数</a:t>
            </a:r>
            <a:r>
              <a:rPr kumimoji="1" lang="en-US" altLang="zh-CN" sz="2000">
                <a:latin typeface="Times New Roman" panose="02020603050405020304" pitchFamily="18" charset="0"/>
                <a:ea typeface="楷体_GB2312" pitchFamily="49" charset="-122"/>
              </a:rPr>
              <a:t>m</a:t>
            </a:r>
            <a:endParaRPr kumimoji="1" lang="en-US" altLang="zh-CN" sz="2000">
              <a:latin typeface="Times New Roman" panose="02020603050405020304" pitchFamily="18" charset="0"/>
              <a:ea typeface="楷体_GB2312" pitchFamily="49" charset="-122"/>
            </a:endParaRPr>
          </a:p>
          <a:p>
            <a:pPr>
              <a:lnSpc>
                <a:spcPct val="80000"/>
              </a:lnSpc>
              <a:spcBef>
                <a:spcPct val="50000"/>
              </a:spcBef>
            </a:pPr>
            <a:r>
              <a:rPr kumimoji="1" lang="zh-CN" altLang="en-US" sz="2000">
                <a:latin typeface="Times New Roman" panose="02020603050405020304" pitchFamily="18" charset="0"/>
                <a:ea typeface="楷体_GB2312" pitchFamily="49" charset="-122"/>
              </a:rPr>
              <a:t>原问题变量类型与                           </a:t>
            </a:r>
            <a:r>
              <a:rPr kumimoji="1" lang="zh-CN" altLang="en-US" sz="2000" i="1">
                <a:latin typeface="Times New Roman" panose="02020603050405020304" pitchFamily="18" charset="0"/>
                <a:ea typeface="楷体_GB2312" pitchFamily="49" charset="-122"/>
                <a:sym typeface="Symbol" panose="05050102010706020507" pitchFamily="2" charset="2"/>
              </a:rPr>
              <a:t></a:t>
            </a:r>
            <a:r>
              <a:rPr kumimoji="1" lang="zh-CN" altLang="en-US" sz="2000" i="1" baseline="-25000">
                <a:latin typeface="Times New Roman" panose="02020603050405020304" pitchFamily="18" charset="0"/>
                <a:ea typeface="楷体_GB2312" pitchFamily="49" charset="-122"/>
              </a:rPr>
              <a:t> </a:t>
            </a:r>
            <a:r>
              <a:rPr kumimoji="1" lang="en-US" altLang="zh-CN" sz="2000" i="1">
                <a:latin typeface="Times New Roman" panose="02020603050405020304" pitchFamily="18" charset="0"/>
                <a:ea typeface="楷体_GB2312" pitchFamily="49" charset="-122"/>
              </a:rPr>
              <a:t>0                          </a:t>
            </a:r>
            <a:r>
              <a:rPr kumimoji="1" lang="en-US" altLang="zh-CN" sz="2000" i="1">
                <a:latin typeface="Times New Roman" panose="02020603050405020304" pitchFamily="18" charset="0"/>
                <a:ea typeface="楷体_GB2312" pitchFamily="49" charset="-122"/>
                <a:sym typeface="Symbol" panose="05050102010706020507" pitchFamily="2" charset="2"/>
              </a:rPr>
              <a:t></a:t>
            </a:r>
            <a:r>
              <a:rPr kumimoji="1" lang="en-US" altLang="zh-CN" sz="2000" i="1" baseline="-25000">
                <a:latin typeface="Times New Roman" panose="02020603050405020304" pitchFamily="18" charset="0"/>
                <a:ea typeface="楷体_GB2312" pitchFamily="49" charset="-122"/>
              </a:rPr>
              <a:t> </a:t>
            </a:r>
            <a:endParaRPr kumimoji="1" lang="en-US" altLang="zh-CN" sz="2000">
              <a:latin typeface="Times New Roman" panose="02020603050405020304" pitchFamily="18" charset="0"/>
              <a:ea typeface="楷体_GB2312" pitchFamily="49" charset="-122"/>
            </a:endParaRPr>
          </a:p>
          <a:p>
            <a:pPr>
              <a:lnSpc>
                <a:spcPct val="80000"/>
              </a:lnSpc>
              <a:spcBef>
                <a:spcPct val="50000"/>
              </a:spcBef>
            </a:pPr>
            <a:r>
              <a:rPr kumimoji="1" lang="zh-CN" altLang="en-US" sz="2000">
                <a:latin typeface="Times New Roman" panose="02020603050405020304" pitchFamily="18" charset="0"/>
                <a:ea typeface="楷体_GB2312" pitchFamily="49" charset="-122"/>
              </a:rPr>
              <a:t>对偶问题约束类型              变量    </a:t>
            </a:r>
            <a:r>
              <a:rPr kumimoji="1" lang="zh-CN" altLang="en-US" sz="2000" i="1">
                <a:latin typeface="Times New Roman" panose="02020603050405020304" pitchFamily="18" charset="0"/>
                <a:ea typeface="楷体_GB2312" pitchFamily="49" charset="-122"/>
                <a:sym typeface="Symbol" panose="05050102010706020507" pitchFamily="2" charset="2"/>
              </a:rPr>
              <a:t></a:t>
            </a:r>
            <a:r>
              <a:rPr kumimoji="1" lang="zh-CN" altLang="en-US" sz="2000" i="1" baseline="-25000">
                <a:latin typeface="Times New Roman" panose="02020603050405020304" pitchFamily="18" charset="0"/>
                <a:ea typeface="楷体_GB2312" pitchFamily="49" charset="-122"/>
              </a:rPr>
              <a:t> </a:t>
            </a:r>
            <a:r>
              <a:rPr kumimoji="1" lang="en-US" altLang="zh-CN" sz="2000" i="1">
                <a:latin typeface="Times New Roman" panose="02020603050405020304" pitchFamily="18" charset="0"/>
                <a:ea typeface="楷体_GB2312" pitchFamily="49" charset="-122"/>
              </a:rPr>
              <a:t>0                  </a:t>
            </a:r>
            <a:r>
              <a:rPr kumimoji="1" lang="zh-CN" altLang="en-US" sz="2000">
                <a:latin typeface="Times New Roman" panose="02020603050405020304" pitchFamily="18" charset="0"/>
                <a:ea typeface="楷体_GB2312" pitchFamily="49" charset="-122"/>
              </a:rPr>
              <a:t>约束 </a:t>
            </a:r>
            <a:r>
              <a:rPr kumimoji="1" lang="zh-CN" altLang="en-US" sz="2000" i="1">
                <a:latin typeface="Times New Roman" panose="02020603050405020304" pitchFamily="18" charset="0"/>
                <a:ea typeface="楷体_GB2312" pitchFamily="49" charset="-122"/>
                <a:sym typeface="Symbol" panose="05050102010706020507" pitchFamily="2" charset="2"/>
              </a:rPr>
              <a:t></a:t>
            </a:r>
            <a:r>
              <a:rPr kumimoji="1" lang="zh-CN" altLang="en-US" sz="2000" i="1" baseline="-25000">
                <a:latin typeface="Times New Roman" panose="02020603050405020304" pitchFamily="18" charset="0"/>
                <a:ea typeface="楷体_GB2312" pitchFamily="49" charset="-122"/>
              </a:rPr>
              <a:t> </a:t>
            </a:r>
            <a:endParaRPr kumimoji="1" lang="zh-CN" altLang="en-US" sz="2000">
              <a:latin typeface="Times New Roman" panose="02020603050405020304" pitchFamily="18" charset="0"/>
              <a:ea typeface="楷体_GB2312" pitchFamily="49" charset="-122"/>
            </a:endParaRPr>
          </a:p>
          <a:p>
            <a:pPr>
              <a:lnSpc>
                <a:spcPct val="80000"/>
              </a:lnSpc>
              <a:spcBef>
                <a:spcPct val="50000"/>
              </a:spcBef>
            </a:pPr>
            <a:r>
              <a:rPr kumimoji="1" lang="zh-CN" altLang="en-US" sz="2000">
                <a:latin typeface="Times New Roman" panose="02020603050405020304" pitchFamily="18" charset="0"/>
                <a:ea typeface="楷体_GB2312" pitchFamily="49" charset="-122"/>
              </a:rPr>
              <a:t>的对应关系                                   无限制                       ＝</a:t>
            </a:r>
            <a:endParaRPr kumimoji="1" lang="zh-CN" altLang="en-US" sz="2000">
              <a:latin typeface="Times New Roman" panose="02020603050405020304" pitchFamily="18" charset="0"/>
              <a:ea typeface="楷体_GB2312" pitchFamily="49" charset="-122"/>
            </a:endParaRPr>
          </a:p>
          <a:p>
            <a:pPr>
              <a:lnSpc>
                <a:spcPct val="80000"/>
              </a:lnSpc>
              <a:spcBef>
                <a:spcPct val="50000"/>
              </a:spcBef>
            </a:pPr>
            <a:r>
              <a:rPr kumimoji="1" lang="zh-CN" altLang="en-US" sz="2000">
                <a:latin typeface="Times New Roman" panose="02020603050405020304" pitchFamily="18" charset="0"/>
                <a:ea typeface="楷体_GB2312" pitchFamily="49" charset="-122"/>
              </a:rPr>
              <a:t>原问题约束类型与                      </a:t>
            </a:r>
            <a:r>
              <a:rPr kumimoji="1" lang="zh-CN" altLang="en-US" sz="2000" i="1">
                <a:latin typeface="Times New Roman" panose="02020603050405020304" pitchFamily="18" charset="0"/>
                <a:ea typeface="楷体_GB2312" pitchFamily="49" charset="-122"/>
                <a:sym typeface="Symbol" panose="05050102010706020507" pitchFamily="2" charset="2"/>
              </a:rPr>
              <a:t></a:t>
            </a:r>
            <a:r>
              <a:rPr kumimoji="1" lang="zh-CN" altLang="en-US" sz="2000" i="1" baseline="-25000">
                <a:latin typeface="Times New Roman" panose="02020603050405020304" pitchFamily="18" charset="0"/>
                <a:ea typeface="楷体_GB2312" pitchFamily="49" charset="-122"/>
              </a:rPr>
              <a:t>                                                    </a:t>
            </a:r>
            <a:r>
              <a:rPr kumimoji="1" lang="zh-CN" altLang="en-US" sz="2000" i="1">
                <a:latin typeface="Times New Roman" panose="02020603050405020304" pitchFamily="18" charset="0"/>
                <a:ea typeface="楷体_GB2312" pitchFamily="49" charset="-122"/>
                <a:sym typeface="Symbol" panose="05050102010706020507" pitchFamily="2" charset="2"/>
              </a:rPr>
              <a:t></a:t>
            </a:r>
            <a:r>
              <a:rPr kumimoji="1" lang="zh-CN" altLang="en-US" sz="2000" i="1" baseline="-25000">
                <a:latin typeface="Times New Roman" panose="02020603050405020304" pitchFamily="18" charset="0"/>
                <a:ea typeface="楷体_GB2312" pitchFamily="49" charset="-122"/>
              </a:rPr>
              <a:t> </a:t>
            </a:r>
            <a:r>
              <a:rPr kumimoji="1" lang="en-US" altLang="zh-CN" sz="2000" i="1">
                <a:latin typeface="Times New Roman" panose="02020603050405020304" pitchFamily="18" charset="0"/>
                <a:ea typeface="楷体_GB2312" pitchFamily="49" charset="-122"/>
              </a:rPr>
              <a:t>0 </a:t>
            </a:r>
            <a:endParaRPr kumimoji="1" lang="en-US" altLang="zh-CN" sz="2000">
              <a:latin typeface="Times New Roman" panose="02020603050405020304" pitchFamily="18" charset="0"/>
              <a:ea typeface="楷体_GB2312" pitchFamily="49" charset="-122"/>
            </a:endParaRPr>
          </a:p>
          <a:p>
            <a:pPr>
              <a:lnSpc>
                <a:spcPct val="80000"/>
              </a:lnSpc>
              <a:spcBef>
                <a:spcPct val="50000"/>
              </a:spcBef>
            </a:pPr>
            <a:r>
              <a:rPr kumimoji="1" lang="zh-CN" altLang="en-US" sz="2000">
                <a:latin typeface="Times New Roman" panose="02020603050405020304" pitchFamily="18" charset="0"/>
                <a:ea typeface="楷体_GB2312" pitchFamily="49" charset="-122"/>
              </a:rPr>
              <a:t>对偶问题变量类型            约束 </a:t>
            </a:r>
            <a:r>
              <a:rPr kumimoji="1" lang="zh-CN" altLang="en-US" sz="2000" i="1">
                <a:latin typeface="Times New Roman" panose="02020603050405020304" pitchFamily="18" charset="0"/>
                <a:ea typeface="楷体_GB2312" pitchFamily="49" charset="-122"/>
                <a:sym typeface="Symbol" panose="05050102010706020507" pitchFamily="2" charset="2"/>
              </a:rPr>
              <a:t></a:t>
            </a:r>
            <a:r>
              <a:rPr kumimoji="1" lang="zh-CN" altLang="en-US" sz="2000" i="1" baseline="-25000">
                <a:latin typeface="Times New Roman" panose="02020603050405020304" pitchFamily="18" charset="0"/>
                <a:ea typeface="楷体_GB2312" pitchFamily="49" charset="-122"/>
              </a:rPr>
              <a:t>                                     </a:t>
            </a:r>
            <a:r>
              <a:rPr kumimoji="1" lang="zh-CN" altLang="en-US" sz="2000" i="1">
                <a:latin typeface="Times New Roman" panose="02020603050405020304" pitchFamily="18" charset="0"/>
                <a:ea typeface="楷体_GB2312" pitchFamily="49" charset="-122"/>
              </a:rPr>
              <a:t>变量   </a:t>
            </a:r>
            <a:r>
              <a:rPr kumimoji="1" lang="zh-CN" altLang="en-US" sz="2000" i="1">
                <a:latin typeface="Times New Roman" panose="02020603050405020304" pitchFamily="18" charset="0"/>
                <a:ea typeface="楷体_GB2312" pitchFamily="49" charset="-122"/>
                <a:sym typeface="Symbol" panose="05050102010706020507" pitchFamily="2" charset="2"/>
              </a:rPr>
              <a:t></a:t>
            </a:r>
            <a:r>
              <a:rPr kumimoji="1" lang="zh-CN" altLang="en-US" sz="2000" i="1" baseline="-25000">
                <a:latin typeface="Times New Roman" panose="02020603050405020304" pitchFamily="18" charset="0"/>
                <a:ea typeface="楷体_GB2312" pitchFamily="49" charset="-122"/>
              </a:rPr>
              <a:t> </a:t>
            </a:r>
            <a:r>
              <a:rPr kumimoji="1" lang="en-US" altLang="zh-CN" sz="2000" i="1">
                <a:latin typeface="Times New Roman" panose="02020603050405020304" pitchFamily="18" charset="0"/>
                <a:ea typeface="楷体_GB2312" pitchFamily="49" charset="-122"/>
              </a:rPr>
              <a:t>0 </a:t>
            </a:r>
            <a:endParaRPr kumimoji="1" lang="en-US" altLang="zh-CN" sz="2000">
              <a:latin typeface="Times New Roman" panose="02020603050405020304" pitchFamily="18" charset="0"/>
              <a:ea typeface="楷体_GB2312" pitchFamily="49" charset="-122"/>
            </a:endParaRPr>
          </a:p>
          <a:p>
            <a:pPr>
              <a:lnSpc>
                <a:spcPct val="80000"/>
              </a:lnSpc>
              <a:spcBef>
                <a:spcPct val="50000"/>
              </a:spcBef>
            </a:pPr>
            <a:r>
              <a:rPr kumimoji="1" lang="zh-CN" altLang="en-US" sz="2000">
                <a:latin typeface="Times New Roman" panose="02020603050405020304" pitchFamily="18" charset="0"/>
                <a:ea typeface="楷体_GB2312" pitchFamily="49" charset="-122"/>
              </a:rPr>
              <a:t>的对应关系                                 ＝                              无限制</a:t>
            </a:r>
            <a:endParaRPr kumimoji="1" lang="zh-CN" altLang="en-US" sz="2000">
              <a:latin typeface="Times New Roman" panose="02020603050405020304" pitchFamily="18" charset="0"/>
              <a:ea typeface="楷体_GB2312" pitchFamily="49" charset="-122"/>
            </a:endParaRPr>
          </a:p>
        </p:txBody>
      </p:sp>
      <p:sp>
        <p:nvSpPr>
          <p:cNvPr id="19" name="Line 4"/>
          <p:cNvSpPr>
            <a:spLocks noChangeShapeType="1"/>
          </p:cNvSpPr>
          <p:nvPr/>
        </p:nvSpPr>
        <p:spPr bwMode="auto">
          <a:xfrm>
            <a:off x="1066800" y="2152631"/>
            <a:ext cx="6858000" cy="0"/>
          </a:xfrm>
          <a:prstGeom prst="line">
            <a:avLst/>
          </a:prstGeom>
          <a:noFill/>
          <a:ln w="9525">
            <a:solidFill>
              <a:schemeClr val="tx1"/>
            </a:solidFill>
            <a:round/>
          </a:ln>
          <a:effectLst/>
        </p:spPr>
        <p:txBody>
          <a:bodyPr lIns="90000" tIns="46800" rIns="90000" bIns="46800" anchor="ctr">
            <a:spAutoFit/>
          </a:bodyPr>
          <a:lstStyle/>
          <a:p>
            <a:endParaRPr lang="zh-CN" altLang="en-US"/>
          </a:p>
        </p:txBody>
      </p:sp>
      <p:sp>
        <p:nvSpPr>
          <p:cNvPr id="20" name="Line 5"/>
          <p:cNvSpPr>
            <a:spLocks noChangeShapeType="1"/>
          </p:cNvSpPr>
          <p:nvPr/>
        </p:nvSpPr>
        <p:spPr bwMode="auto">
          <a:xfrm>
            <a:off x="1066800" y="1770043"/>
            <a:ext cx="6858000" cy="1588"/>
          </a:xfrm>
          <a:prstGeom prst="line">
            <a:avLst/>
          </a:prstGeom>
          <a:noFill/>
          <a:ln w="9525">
            <a:solidFill>
              <a:schemeClr val="tx1"/>
            </a:solidFill>
            <a:round/>
          </a:ln>
          <a:effectLst/>
        </p:spPr>
        <p:txBody>
          <a:bodyPr lIns="90000" tIns="46800" rIns="90000" bIns="46800" anchor="ctr">
            <a:spAutoFit/>
          </a:bodyPr>
          <a:lstStyle/>
          <a:p>
            <a:endParaRPr lang="zh-CN" altLang="en-US"/>
          </a:p>
        </p:txBody>
      </p:sp>
      <p:sp>
        <p:nvSpPr>
          <p:cNvPr id="21" name="Line 6"/>
          <p:cNvSpPr>
            <a:spLocks noChangeShapeType="1"/>
          </p:cNvSpPr>
          <p:nvPr/>
        </p:nvSpPr>
        <p:spPr bwMode="auto">
          <a:xfrm>
            <a:off x="1066800" y="1312843"/>
            <a:ext cx="6934200" cy="1588"/>
          </a:xfrm>
          <a:prstGeom prst="line">
            <a:avLst/>
          </a:prstGeom>
          <a:noFill/>
          <a:ln w="9525">
            <a:solidFill>
              <a:schemeClr val="tx1"/>
            </a:solidFill>
            <a:round/>
          </a:ln>
          <a:effectLst/>
        </p:spPr>
        <p:txBody>
          <a:bodyPr lIns="90000" tIns="46800" rIns="90000" bIns="46800" anchor="ctr">
            <a:spAutoFit/>
          </a:bodyPr>
          <a:lstStyle/>
          <a:p>
            <a:endParaRPr lang="zh-CN" altLang="en-US"/>
          </a:p>
        </p:txBody>
      </p:sp>
      <p:sp>
        <p:nvSpPr>
          <p:cNvPr id="22" name="Line 7"/>
          <p:cNvSpPr>
            <a:spLocks noChangeShapeType="1"/>
          </p:cNvSpPr>
          <p:nvPr/>
        </p:nvSpPr>
        <p:spPr bwMode="auto">
          <a:xfrm>
            <a:off x="1066800" y="2990831"/>
            <a:ext cx="6858000" cy="0"/>
          </a:xfrm>
          <a:prstGeom prst="line">
            <a:avLst/>
          </a:prstGeom>
          <a:noFill/>
          <a:ln w="9525">
            <a:solidFill>
              <a:schemeClr val="tx1"/>
            </a:solidFill>
            <a:round/>
          </a:ln>
          <a:effectLst/>
        </p:spPr>
        <p:txBody>
          <a:bodyPr lIns="90000" tIns="46800" rIns="90000" bIns="46800" anchor="ctr">
            <a:spAutoFit/>
          </a:bodyPr>
          <a:lstStyle/>
          <a:p>
            <a:endParaRPr lang="zh-CN" altLang="en-US"/>
          </a:p>
        </p:txBody>
      </p:sp>
      <p:sp>
        <p:nvSpPr>
          <p:cNvPr id="23" name="Line 8"/>
          <p:cNvSpPr>
            <a:spLocks noChangeShapeType="1"/>
          </p:cNvSpPr>
          <p:nvPr/>
        </p:nvSpPr>
        <p:spPr bwMode="auto">
          <a:xfrm>
            <a:off x="1066800" y="6191231"/>
            <a:ext cx="6858000" cy="0"/>
          </a:xfrm>
          <a:prstGeom prst="line">
            <a:avLst/>
          </a:prstGeom>
          <a:noFill/>
          <a:ln w="9525">
            <a:solidFill>
              <a:schemeClr val="tx1"/>
            </a:solidFill>
            <a:round/>
          </a:ln>
          <a:effectLst/>
        </p:spPr>
        <p:txBody>
          <a:bodyPr lIns="90000" tIns="46800" rIns="90000" bIns="46800" anchor="ctr">
            <a:spAutoFit/>
          </a:bodyPr>
          <a:lstStyle/>
          <a:p>
            <a:endParaRPr lang="zh-CN" altLang="en-US"/>
          </a:p>
        </p:txBody>
      </p:sp>
      <p:sp>
        <p:nvSpPr>
          <p:cNvPr id="24" name="Line 9"/>
          <p:cNvSpPr>
            <a:spLocks noChangeShapeType="1"/>
          </p:cNvSpPr>
          <p:nvPr/>
        </p:nvSpPr>
        <p:spPr bwMode="auto">
          <a:xfrm>
            <a:off x="1066800" y="4972031"/>
            <a:ext cx="6858000" cy="0"/>
          </a:xfrm>
          <a:prstGeom prst="line">
            <a:avLst/>
          </a:prstGeom>
          <a:noFill/>
          <a:ln w="9525">
            <a:solidFill>
              <a:schemeClr val="tx1"/>
            </a:solidFill>
            <a:round/>
          </a:ln>
          <a:effectLst/>
        </p:spPr>
        <p:txBody>
          <a:bodyPr lIns="90000" tIns="46800" rIns="90000" bIns="46800" anchor="ctr">
            <a:spAutoFit/>
          </a:bodyPr>
          <a:lstStyle/>
          <a:p>
            <a:endParaRPr lang="zh-CN" altLang="en-US"/>
          </a:p>
        </p:txBody>
      </p:sp>
      <p:sp>
        <p:nvSpPr>
          <p:cNvPr id="25" name="Line 10"/>
          <p:cNvSpPr>
            <a:spLocks noChangeShapeType="1"/>
          </p:cNvSpPr>
          <p:nvPr/>
        </p:nvSpPr>
        <p:spPr bwMode="auto">
          <a:xfrm>
            <a:off x="1042988" y="3835381"/>
            <a:ext cx="6858000" cy="1587"/>
          </a:xfrm>
          <a:prstGeom prst="line">
            <a:avLst/>
          </a:prstGeom>
          <a:noFill/>
          <a:ln w="9525">
            <a:solidFill>
              <a:schemeClr val="tx1"/>
            </a:solidFill>
            <a:round/>
          </a:ln>
          <a:effectLst/>
        </p:spPr>
        <p:txBody>
          <a:bodyPr lIns="90000" tIns="46800" rIns="90000" bIns="46800" anchor="ctr">
            <a:spAutoFit/>
          </a:bodyPr>
          <a:lstStyle/>
          <a:p>
            <a:endParaRPr lang="zh-CN" altLang="en-US"/>
          </a:p>
        </p:txBody>
      </p:sp>
      <p:sp>
        <p:nvSpPr>
          <p:cNvPr id="26" name="Line 11"/>
          <p:cNvSpPr>
            <a:spLocks noChangeShapeType="1"/>
          </p:cNvSpPr>
          <p:nvPr/>
        </p:nvSpPr>
        <p:spPr bwMode="auto">
          <a:xfrm>
            <a:off x="3657600" y="1314431"/>
            <a:ext cx="0" cy="4876800"/>
          </a:xfrm>
          <a:prstGeom prst="line">
            <a:avLst/>
          </a:prstGeom>
          <a:noFill/>
          <a:ln w="9525">
            <a:solidFill>
              <a:schemeClr val="tx1"/>
            </a:solidFill>
            <a:round/>
          </a:ln>
          <a:effectLst/>
        </p:spPr>
        <p:txBody>
          <a:bodyPr lIns="90000" tIns="46800" rIns="90000" bIns="46800" anchor="ctr">
            <a:spAutoFit/>
          </a:bodyPr>
          <a:lstStyle/>
          <a:p>
            <a:endParaRPr lang="zh-CN" altLang="en-US"/>
          </a:p>
        </p:txBody>
      </p:sp>
      <p:sp>
        <p:nvSpPr>
          <p:cNvPr id="27" name="Line 12"/>
          <p:cNvSpPr>
            <a:spLocks noChangeShapeType="1"/>
          </p:cNvSpPr>
          <p:nvPr/>
        </p:nvSpPr>
        <p:spPr bwMode="auto">
          <a:xfrm>
            <a:off x="5943600" y="1314431"/>
            <a:ext cx="0" cy="4876800"/>
          </a:xfrm>
          <a:prstGeom prst="line">
            <a:avLst/>
          </a:prstGeom>
          <a:noFill/>
          <a:ln w="9525">
            <a:solidFill>
              <a:schemeClr val="tx1"/>
            </a:solidFill>
            <a:round/>
          </a:ln>
          <a:effectLst/>
        </p:spPr>
        <p:txBody>
          <a:bodyPr lIns="90000" tIns="46800" rIns="90000" bIns="46800" anchor="ctr">
            <a:spAutoFit/>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16" name="Rectangle 3"/>
          <p:cNvSpPr>
            <a:spLocks noGrp="1" noChangeArrowheads="1"/>
          </p:cNvSpPr>
          <p:nvPr>
            <p:ph idx="1"/>
          </p:nvPr>
        </p:nvSpPr>
        <p:spPr>
          <a:xfrm>
            <a:off x="428596" y="1071546"/>
            <a:ext cx="8229600" cy="4302125"/>
          </a:xfrm>
        </p:spPr>
        <p:txBody>
          <a:bodyPr>
            <a:normAutofit fontScale="92500"/>
          </a:bodyPr>
          <a:lstStyle/>
          <a:p>
            <a:pPr algn="just">
              <a:buFont typeface="Wingdings" panose="05000000000000000000" pitchFamily="2" charset="2"/>
              <a:buNone/>
            </a:pPr>
            <a:r>
              <a:rPr lang="zh-CN" altLang="en-US" sz="3900" b="1" dirty="0">
                <a:solidFill>
                  <a:srgbClr val="FF0000"/>
                </a:solidFill>
                <a:latin typeface="Times New Roman" panose="02020603050405020304" pitchFamily="18" charset="0"/>
                <a:cs typeface="Times New Roman" panose="02020603050405020304" pitchFamily="18" charset="0"/>
              </a:rPr>
              <a:t>重点：</a:t>
            </a:r>
            <a:r>
              <a:rPr lang="en-US" altLang="zh-CN" sz="3900" b="1" dirty="0">
                <a:solidFill>
                  <a:srgbClr val="FF0000"/>
                </a:solidFill>
                <a:latin typeface="Times New Roman" panose="02020603050405020304" pitchFamily="18" charset="0"/>
                <a:cs typeface="Times New Roman" panose="02020603050405020304" pitchFamily="18" charset="0"/>
              </a:rPr>
              <a:t> </a:t>
            </a:r>
            <a:endParaRPr lang="en-US" altLang="zh-CN" sz="3900" b="1" dirty="0">
              <a:solidFill>
                <a:srgbClr val="FF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endParaRPr lang="en-US" altLang="zh-CN" dirty="0">
              <a:solidFill>
                <a:srgbClr val="00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en-US" altLang="zh-CN" dirty="0">
                <a:solidFill>
                  <a:srgbClr val="000000"/>
                </a:solidFill>
                <a:latin typeface="Times New Roman" panose="02020603050405020304" pitchFamily="18" charset="0"/>
                <a:cs typeface="Times New Roman" panose="02020603050405020304" pitchFamily="18" charset="0"/>
              </a:rPr>
              <a:t>1</a:t>
            </a:r>
            <a:r>
              <a:rPr lang="zh-CN" altLang="en-US" dirty="0">
                <a:solidFill>
                  <a:srgbClr val="000000"/>
                </a:solidFill>
                <a:latin typeface="Times New Roman" panose="02020603050405020304" pitchFamily="18" charset="0"/>
                <a:cs typeface="Times New Roman" panose="02020603050405020304" pitchFamily="18" charset="0"/>
              </a:rPr>
              <a:t>）目标函数的目标</a:t>
            </a:r>
            <a:r>
              <a:rPr lang="zh-CN" altLang="en-US" b="1" dirty="0">
                <a:solidFill>
                  <a:srgbClr val="0000FF"/>
                </a:solidFill>
                <a:latin typeface="Times New Roman" panose="02020603050405020304" pitchFamily="18" charset="0"/>
                <a:cs typeface="Times New Roman" panose="02020603050405020304" pitchFamily="18" charset="0"/>
              </a:rPr>
              <a:t>互为相反</a:t>
            </a:r>
            <a:r>
              <a:rPr lang="zh-CN" altLang="en-US" dirty="0">
                <a:solidFill>
                  <a:srgbClr val="000000"/>
                </a:solidFill>
                <a:latin typeface="Times New Roman" panose="02020603050405020304" pitchFamily="18" charset="0"/>
                <a:cs typeface="Times New Roman" panose="02020603050405020304" pitchFamily="18" charset="0"/>
              </a:rPr>
              <a:t>。</a:t>
            </a:r>
            <a:r>
              <a:rPr lang="en-US" altLang="zh-CN" dirty="0">
                <a:solidFill>
                  <a:srgbClr val="000000"/>
                </a:solidFill>
                <a:latin typeface="Times New Roman" panose="02020603050405020304" pitchFamily="18" charset="0"/>
                <a:cs typeface="Times New Roman" panose="02020603050405020304" pitchFamily="18" charset="0"/>
              </a:rPr>
              <a:t>(</a:t>
            </a:r>
            <a:r>
              <a:rPr lang="en-US" altLang="zh-CN" dirty="0" err="1">
                <a:solidFill>
                  <a:srgbClr val="000000"/>
                </a:solidFill>
                <a:latin typeface="Times New Roman" panose="02020603050405020304" pitchFamily="18" charset="0"/>
                <a:cs typeface="Times New Roman" panose="02020603050405020304" pitchFamily="18" charset="0"/>
              </a:rPr>
              <a:t>max,min</a:t>
            </a:r>
            <a:r>
              <a:rPr lang="en-US" altLang="zh-CN" dirty="0">
                <a:solidFill>
                  <a:srgbClr val="000000"/>
                </a:solidFill>
                <a:latin typeface="Times New Roman" panose="02020603050405020304" pitchFamily="18" charset="0"/>
                <a:cs typeface="Times New Roman" panose="02020603050405020304" pitchFamily="18" charset="0"/>
              </a:rPr>
              <a:t>)</a:t>
            </a:r>
            <a:endParaRPr lang="en-US" altLang="zh-CN" dirty="0">
              <a:solidFill>
                <a:srgbClr val="00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en-US" altLang="zh-CN" dirty="0">
                <a:solidFill>
                  <a:srgbClr val="000000"/>
                </a:solidFill>
                <a:latin typeface="Times New Roman" panose="02020603050405020304" pitchFamily="18" charset="0"/>
                <a:cs typeface="Times New Roman" panose="02020603050405020304" pitchFamily="18" charset="0"/>
              </a:rPr>
              <a:t>2</a:t>
            </a:r>
            <a:r>
              <a:rPr lang="zh-CN" altLang="en-US" dirty="0">
                <a:solidFill>
                  <a:srgbClr val="000000"/>
                </a:solidFill>
                <a:latin typeface="Times New Roman" panose="02020603050405020304" pitchFamily="18" charset="0"/>
                <a:cs typeface="Times New Roman" panose="02020603050405020304" pitchFamily="18" charset="0"/>
              </a:rPr>
              <a:t>）目标函数的</a:t>
            </a:r>
            <a:r>
              <a:rPr lang="zh-CN" altLang="en-US" b="1" dirty="0">
                <a:solidFill>
                  <a:srgbClr val="0000FF"/>
                </a:solidFill>
                <a:latin typeface="Times New Roman" panose="02020603050405020304" pitchFamily="18" charset="0"/>
                <a:cs typeface="Times New Roman" panose="02020603050405020304" pitchFamily="18" charset="0"/>
              </a:rPr>
              <a:t>系数</a:t>
            </a:r>
            <a:r>
              <a:rPr lang="zh-CN" altLang="en-US" dirty="0">
                <a:solidFill>
                  <a:srgbClr val="000000"/>
                </a:solidFill>
                <a:latin typeface="Times New Roman" panose="02020603050405020304" pitchFamily="18" charset="0"/>
                <a:cs typeface="Times New Roman" panose="02020603050405020304" pitchFamily="18" charset="0"/>
              </a:rPr>
              <a:t>是另一个约束条件的</a:t>
            </a:r>
            <a:r>
              <a:rPr lang="zh-CN" altLang="en-US" b="1" dirty="0">
                <a:solidFill>
                  <a:srgbClr val="0000FF"/>
                </a:solidFill>
                <a:latin typeface="Times New Roman" panose="02020603050405020304" pitchFamily="18" charset="0"/>
                <a:cs typeface="Times New Roman" panose="02020603050405020304" pitchFamily="18" charset="0"/>
              </a:rPr>
              <a:t>右端向量</a:t>
            </a:r>
            <a:endParaRPr lang="zh-CN" altLang="en-US" b="1" dirty="0">
              <a:solidFill>
                <a:srgbClr val="0000FF"/>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en-US" altLang="zh-CN" dirty="0">
                <a:solidFill>
                  <a:srgbClr val="000000"/>
                </a:solidFill>
                <a:latin typeface="Times New Roman" panose="02020603050405020304" pitchFamily="18" charset="0"/>
                <a:cs typeface="Times New Roman" panose="02020603050405020304" pitchFamily="18" charset="0"/>
              </a:rPr>
              <a:t>3</a:t>
            </a:r>
            <a:r>
              <a:rPr lang="zh-CN" altLang="en-US" dirty="0">
                <a:solidFill>
                  <a:srgbClr val="000000"/>
                </a:solidFill>
                <a:latin typeface="Times New Roman" panose="02020603050405020304" pitchFamily="18" charset="0"/>
                <a:cs typeface="Times New Roman" panose="02020603050405020304" pitchFamily="18" charset="0"/>
              </a:rPr>
              <a:t>）约束系数矩阵是另一个的约束系数矩阵的</a:t>
            </a:r>
            <a:r>
              <a:rPr lang="zh-CN" altLang="en-US" b="1" dirty="0">
                <a:solidFill>
                  <a:srgbClr val="0000FF"/>
                </a:solidFill>
                <a:latin typeface="Times New Roman" panose="02020603050405020304" pitchFamily="18" charset="0"/>
                <a:cs typeface="Times New Roman" panose="02020603050405020304" pitchFamily="18" charset="0"/>
              </a:rPr>
              <a:t>转置</a:t>
            </a:r>
            <a:endParaRPr lang="zh-CN" altLang="en-US" b="1" dirty="0">
              <a:solidFill>
                <a:srgbClr val="0000FF"/>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en-US" altLang="zh-CN" dirty="0">
                <a:solidFill>
                  <a:srgbClr val="000000"/>
                </a:solidFill>
                <a:latin typeface="Times New Roman" panose="02020603050405020304" pitchFamily="18" charset="0"/>
                <a:cs typeface="Times New Roman" panose="02020603050405020304" pitchFamily="18" charset="0"/>
              </a:rPr>
              <a:t>4</a:t>
            </a:r>
            <a:r>
              <a:rPr lang="zh-CN" altLang="en-US" dirty="0">
                <a:solidFill>
                  <a:srgbClr val="000000"/>
                </a:solidFill>
                <a:latin typeface="Times New Roman" panose="02020603050405020304" pitchFamily="18" charset="0"/>
                <a:cs typeface="Times New Roman" panose="02020603050405020304" pitchFamily="18" charset="0"/>
              </a:rPr>
              <a:t>）约束方程的个数与另一个的变量的个数</a:t>
            </a:r>
            <a:r>
              <a:rPr lang="zh-CN" altLang="en-US" b="1" dirty="0">
                <a:solidFill>
                  <a:srgbClr val="0000FF"/>
                </a:solidFill>
                <a:latin typeface="Times New Roman" panose="02020603050405020304" pitchFamily="18" charset="0"/>
                <a:cs typeface="Times New Roman" panose="02020603050405020304" pitchFamily="18" charset="0"/>
              </a:rPr>
              <a:t>相等</a:t>
            </a:r>
            <a:endParaRPr lang="zh-CN" altLang="en-US" b="1" dirty="0">
              <a:solidFill>
                <a:srgbClr val="0000FF"/>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p:cTn id="7"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6">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6">
                                            <p:txEl>
                                              <p:pRg st="2" end="2"/>
                                            </p:txEl>
                                          </p:spTgt>
                                        </p:tgtEl>
                                        <p:attrNameLst>
                                          <p:attrName>style.visibility</p:attrName>
                                        </p:attrNameLst>
                                      </p:cBhvr>
                                      <p:to>
                                        <p:strVal val="visible"/>
                                      </p:to>
                                    </p:set>
                                    <p:anim calcmode="lin" valueType="num">
                                      <p:cBhvr>
                                        <p:cTn id="14" dur="500" fill="hold"/>
                                        <p:tgtEl>
                                          <p:spTgt spid="16">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16">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16">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6">
                                            <p:txEl>
                                              <p:pRg st="3" end="3"/>
                                            </p:txEl>
                                          </p:spTgt>
                                        </p:tgtEl>
                                        <p:attrNameLst>
                                          <p:attrName>style.visibility</p:attrName>
                                        </p:attrNameLst>
                                      </p:cBhvr>
                                      <p:to>
                                        <p:strVal val="visible"/>
                                      </p:to>
                                    </p:set>
                                    <p:anim calcmode="lin" valueType="num">
                                      <p:cBhvr>
                                        <p:cTn id="21" dur="1000" fill="hold"/>
                                        <p:tgtEl>
                                          <p:spTgt spid="16">
                                            <p:txEl>
                                              <p:pRg st="3" end="3"/>
                                            </p:txEl>
                                          </p:spTgt>
                                        </p:tgtEl>
                                        <p:attrNameLst>
                                          <p:attrName>ppt_w</p:attrName>
                                        </p:attrNameLst>
                                      </p:cBhvr>
                                      <p:tavLst>
                                        <p:tav tm="0">
                                          <p:val>
                                            <p:strVal val="#ppt_w*0.70"/>
                                          </p:val>
                                        </p:tav>
                                        <p:tav tm="100000">
                                          <p:val>
                                            <p:strVal val="#ppt_w"/>
                                          </p:val>
                                        </p:tav>
                                      </p:tavLst>
                                    </p:anim>
                                    <p:anim calcmode="lin" valueType="num">
                                      <p:cBhvr>
                                        <p:cTn id="22" dur="1000" fill="hold"/>
                                        <p:tgtEl>
                                          <p:spTgt spid="16">
                                            <p:txEl>
                                              <p:pRg st="3" end="3"/>
                                            </p:txEl>
                                          </p:spTgt>
                                        </p:tgtEl>
                                        <p:attrNameLst>
                                          <p:attrName>ppt_h</p:attrName>
                                        </p:attrNameLst>
                                      </p:cBhvr>
                                      <p:tavLst>
                                        <p:tav tm="0">
                                          <p:val>
                                            <p:strVal val="#ppt_h"/>
                                          </p:val>
                                        </p:tav>
                                        <p:tav tm="100000">
                                          <p:val>
                                            <p:strVal val="#ppt_h"/>
                                          </p:val>
                                        </p:tav>
                                      </p:tavLst>
                                    </p:anim>
                                    <p:animEffect transition="in" filter="fade">
                                      <p:cBhvr>
                                        <p:cTn id="23" dur="1000"/>
                                        <p:tgtEl>
                                          <p:spTgt spid="16">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16">
                                            <p:txEl>
                                              <p:pRg st="4" end="4"/>
                                            </p:txEl>
                                          </p:spTgt>
                                        </p:tgtEl>
                                        <p:attrNameLst>
                                          <p:attrName>style.visibility</p:attrName>
                                        </p:attrNameLst>
                                      </p:cBhvr>
                                      <p:to>
                                        <p:strVal val="visible"/>
                                      </p:to>
                                    </p:set>
                                    <p:anim calcmode="lin" valueType="num">
                                      <p:cBhvr>
                                        <p:cTn id="28" dur="1000" fill="hold"/>
                                        <p:tgtEl>
                                          <p:spTgt spid="16">
                                            <p:txEl>
                                              <p:pRg st="4" end="4"/>
                                            </p:txEl>
                                          </p:spTgt>
                                        </p:tgtEl>
                                        <p:attrNameLst>
                                          <p:attrName>ppt_w</p:attrName>
                                        </p:attrNameLst>
                                      </p:cBhvr>
                                      <p:tavLst>
                                        <p:tav tm="0">
                                          <p:val>
                                            <p:strVal val="#ppt_w*0.70"/>
                                          </p:val>
                                        </p:tav>
                                        <p:tav tm="100000">
                                          <p:val>
                                            <p:strVal val="#ppt_w"/>
                                          </p:val>
                                        </p:tav>
                                      </p:tavLst>
                                    </p:anim>
                                    <p:anim calcmode="lin" valueType="num">
                                      <p:cBhvr>
                                        <p:cTn id="29" dur="1000" fill="hold"/>
                                        <p:tgtEl>
                                          <p:spTgt spid="16">
                                            <p:txEl>
                                              <p:pRg st="4" end="4"/>
                                            </p:txEl>
                                          </p:spTgt>
                                        </p:tgtEl>
                                        <p:attrNameLst>
                                          <p:attrName>ppt_h</p:attrName>
                                        </p:attrNameLst>
                                      </p:cBhvr>
                                      <p:tavLst>
                                        <p:tav tm="0">
                                          <p:val>
                                            <p:strVal val="#ppt_h"/>
                                          </p:val>
                                        </p:tav>
                                        <p:tav tm="100000">
                                          <p:val>
                                            <p:strVal val="#ppt_h"/>
                                          </p:val>
                                        </p:tav>
                                      </p:tavLst>
                                    </p:anim>
                                    <p:animEffect transition="in" filter="fade">
                                      <p:cBhvr>
                                        <p:cTn id="30" dur="1000"/>
                                        <p:tgtEl>
                                          <p:spTgt spid="16">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16">
                                            <p:txEl>
                                              <p:pRg st="5" end="5"/>
                                            </p:txEl>
                                          </p:spTgt>
                                        </p:tgtEl>
                                        <p:attrNameLst>
                                          <p:attrName>style.visibility</p:attrName>
                                        </p:attrNameLst>
                                      </p:cBhvr>
                                      <p:to>
                                        <p:strVal val="visible"/>
                                      </p:to>
                                    </p:set>
                                    <p:animEffect transition="in" filter="box(in)">
                                      <p:cBhvr>
                                        <p:cTn id="35" dur="500"/>
                                        <p:tgtEl>
                                          <p:spTgt spid="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 name="Rectangle 18"/>
          <p:cNvSpPr>
            <a:spLocks noChangeArrowheads="1"/>
          </p:cNvSpPr>
          <p:nvPr/>
        </p:nvSpPr>
        <p:spPr bwMode="auto">
          <a:xfrm>
            <a:off x="4859338" y="333375"/>
            <a:ext cx="3816350" cy="6524625"/>
          </a:xfrm>
          <a:prstGeom prst="rect">
            <a:avLst/>
          </a:prstGeom>
          <a:solidFill>
            <a:schemeClr val="accent6">
              <a:lumMod val="60000"/>
              <a:lumOff val="40000"/>
            </a:schemeClr>
          </a:solidFill>
          <a:ln w="9525">
            <a:solidFill>
              <a:schemeClr val="tx1"/>
            </a:solidFill>
            <a:miter lim="800000"/>
          </a:ln>
        </p:spPr>
        <p:txBody>
          <a:bodyPr wrap="none" anchor="ctr"/>
          <a:lstStyle/>
          <a:p>
            <a:endParaRPr lang="zh-CN" altLang="en-US"/>
          </a:p>
        </p:txBody>
      </p:sp>
      <p:sp>
        <p:nvSpPr>
          <p:cNvPr id="7" name="Rectangle 17"/>
          <p:cNvSpPr>
            <a:spLocks noChangeArrowheads="1"/>
          </p:cNvSpPr>
          <p:nvPr/>
        </p:nvSpPr>
        <p:spPr bwMode="auto">
          <a:xfrm>
            <a:off x="250825" y="333375"/>
            <a:ext cx="4176713" cy="6524625"/>
          </a:xfrm>
          <a:prstGeom prst="rect">
            <a:avLst/>
          </a:prstGeom>
          <a:solidFill>
            <a:schemeClr val="accent6">
              <a:lumMod val="60000"/>
              <a:lumOff val="40000"/>
            </a:schemeClr>
          </a:solidFill>
          <a:ln w="9525">
            <a:solidFill>
              <a:schemeClr val="tx1"/>
            </a:solidFill>
            <a:miter lim="800000"/>
          </a:ln>
        </p:spPr>
        <p:txBody>
          <a:bodyPr wrap="none" anchor="ctr"/>
          <a:lstStyle/>
          <a:p>
            <a:endParaRPr lang="zh-CN" altLang="en-US"/>
          </a:p>
        </p:txBody>
      </p:sp>
      <p:sp>
        <p:nvSpPr>
          <p:cNvPr id="8" name="Text Box 4"/>
          <p:cNvSpPr txBox="1">
            <a:spLocks noChangeArrowheads="1"/>
          </p:cNvSpPr>
          <p:nvPr/>
        </p:nvSpPr>
        <p:spPr bwMode="auto">
          <a:xfrm>
            <a:off x="250825" y="3070225"/>
            <a:ext cx="4033838" cy="3657600"/>
          </a:xfrm>
          <a:prstGeom prst="rect">
            <a:avLst/>
          </a:prstGeom>
          <a:noFill/>
          <a:ln w="9525">
            <a:noFill/>
            <a:miter lim="800000"/>
          </a:ln>
        </p:spPr>
        <p:txBody>
          <a:bodyPr>
            <a:spAutoFit/>
          </a:bodyPr>
          <a:lstStyle/>
          <a:p>
            <a:pPr algn="ctr">
              <a:lnSpc>
                <a:spcPct val="80000"/>
              </a:lnSpc>
              <a:spcBef>
                <a:spcPct val="50000"/>
              </a:spcBef>
            </a:pPr>
            <a:r>
              <a:rPr lang="en-US" altLang="zh-CN" sz="3200" b="1" dirty="0">
                <a:solidFill>
                  <a:srgbClr val="000000"/>
                </a:solidFill>
              </a:rPr>
              <a:t>max</a:t>
            </a:r>
            <a:endParaRPr lang="en-US" altLang="zh-CN" sz="3200" b="1" dirty="0">
              <a:solidFill>
                <a:srgbClr val="000000"/>
              </a:solidFill>
            </a:endParaRPr>
          </a:p>
          <a:p>
            <a:pPr>
              <a:lnSpc>
                <a:spcPct val="80000"/>
              </a:lnSpc>
              <a:spcBef>
                <a:spcPct val="50000"/>
              </a:spcBef>
            </a:pPr>
            <a:r>
              <a:rPr lang="en-US" altLang="zh-CN" sz="3200" b="1" dirty="0">
                <a:solidFill>
                  <a:srgbClr val="000000"/>
                </a:solidFill>
              </a:rPr>
              <a:t>         </a:t>
            </a:r>
            <a:r>
              <a:rPr lang="zh-CN" altLang="en-US" sz="3200" b="1" dirty="0">
                <a:solidFill>
                  <a:srgbClr val="000000"/>
                </a:solidFill>
              </a:rPr>
              <a:t>限定向量</a:t>
            </a:r>
            <a:r>
              <a:rPr lang="en-US" altLang="zh-CN" sz="3200" b="1" dirty="0">
                <a:solidFill>
                  <a:srgbClr val="000000"/>
                </a:solidFill>
              </a:rPr>
              <a:t>b</a:t>
            </a:r>
            <a:endParaRPr lang="en-US" altLang="zh-CN" sz="3200" b="1" dirty="0">
              <a:solidFill>
                <a:srgbClr val="000000"/>
              </a:solidFill>
            </a:endParaRPr>
          </a:p>
          <a:p>
            <a:pPr>
              <a:lnSpc>
                <a:spcPct val="80000"/>
              </a:lnSpc>
              <a:spcBef>
                <a:spcPct val="50000"/>
              </a:spcBef>
            </a:pPr>
            <a:r>
              <a:rPr lang="en-US" altLang="zh-CN" sz="3200" b="1" dirty="0">
                <a:solidFill>
                  <a:srgbClr val="000000"/>
                </a:solidFill>
              </a:rPr>
              <a:t>         </a:t>
            </a:r>
            <a:r>
              <a:rPr lang="zh-CN" altLang="en-US" sz="3200" b="1" dirty="0">
                <a:solidFill>
                  <a:srgbClr val="000000"/>
                </a:solidFill>
              </a:rPr>
              <a:t>价值向量</a:t>
            </a:r>
            <a:r>
              <a:rPr lang="en-US" altLang="zh-CN" sz="3200" b="1" dirty="0">
                <a:solidFill>
                  <a:srgbClr val="000000"/>
                </a:solidFill>
              </a:rPr>
              <a:t>C</a:t>
            </a:r>
            <a:endParaRPr lang="en-US" altLang="zh-CN" sz="3200" b="1" dirty="0">
              <a:solidFill>
                <a:srgbClr val="000000"/>
              </a:solidFill>
            </a:endParaRPr>
          </a:p>
          <a:p>
            <a:pPr>
              <a:lnSpc>
                <a:spcPct val="80000"/>
              </a:lnSpc>
              <a:spcBef>
                <a:spcPct val="50000"/>
              </a:spcBef>
            </a:pPr>
            <a:r>
              <a:rPr lang="en-US" altLang="zh-CN" sz="3200" b="1" dirty="0">
                <a:solidFill>
                  <a:srgbClr val="000000"/>
                </a:solidFill>
              </a:rPr>
              <a:t> m</a:t>
            </a:r>
            <a:r>
              <a:rPr lang="zh-CN" altLang="en-US" sz="3200" b="1" dirty="0">
                <a:solidFill>
                  <a:srgbClr val="000000"/>
                </a:solidFill>
              </a:rPr>
              <a:t>个约束，</a:t>
            </a:r>
            <a:r>
              <a:rPr lang="en-US" altLang="zh-CN" sz="3200" b="1" dirty="0">
                <a:solidFill>
                  <a:srgbClr val="000000"/>
                </a:solidFill>
              </a:rPr>
              <a:t>n</a:t>
            </a:r>
            <a:r>
              <a:rPr lang="zh-CN" altLang="en-US" sz="3200" b="1" dirty="0">
                <a:solidFill>
                  <a:srgbClr val="000000"/>
                </a:solidFill>
              </a:rPr>
              <a:t>个变量</a:t>
            </a:r>
            <a:endParaRPr lang="zh-CN" altLang="en-US" sz="3200" b="1" dirty="0">
              <a:solidFill>
                <a:srgbClr val="000000"/>
              </a:solidFill>
            </a:endParaRPr>
          </a:p>
          <a:p>
            <a:pPr>
              <a:lnSpc>
                <a:spcPct val="80000"/>
              </a:lnSpc>
              <a:spcBef>
                <a:spcPct val="50000"/>
              </a:spcBef>
            </a:pPr>
            <a:r>
              <a:rPr lang="zh-CN" altLang="en-US" sz="3200" b="1" dirty="0">
                <a:solidFill>
                  <a:srgbClr val="000000"/>
                </a:solidFill>
              </a:rPr>
              <a:t>       约束条件“≤”</a:t>
            </a:r>
            <a:endParaRPr lang="zh-CN" altLang="en-US" sz="3200" b="1" dirty="0">
              <a:solidFill>
                <a:srgbClr val="000000"/>
              </a:solidFill>
            </a:endParaRPr>
          </a:p>
          <a:p>
            <a:pPr>
              <a:lnSpc>
                <a:spcPct val="80000"/>
              </a:lnSpc>
              <a:spcBef>
                <a:spcPct val="50000"/>
              </a:spcBef>
            </a:pPr>
            <a:r>
              <a:rPr lang="zh-CN" altLang="en-US" sz="3200" b="1" dirty="0">
                <a:solidFill>
                  <a:srgbClr val="000000"/>
                </a:solidFill>
              </a:rPr>
              <a:t>       变量“≥”</a:t>
            </a:r>
            <a:endParaRPr lang="zh-CN" altLang="en-US" sz="3200" b="1" dirty="0">
              <a:solidFill>
                <a:srgbClr val="000000"/>
              </a:solidFill>
            </a:endParaRPr>
          </a:p>
        </p:txBody>
      </p:sp>
      <p:grpSp>
        <p:nvGrpSpPr>
          <p:cNvPr id="9" name="Group 15"/>
          <p:cNvGrpSpPr/>
          <p:nvPr/>
        </p:nvGrpSpPr>
        <p:grpSpPr bwMode="auto">
          <a:xfrm>
            <a:off x="642938" y="260350"/>
            <a:ext cx="2879725" cy="2728913"/>
            <a:chOff x="405" y="164"/>
            <a:chExt cx="1814" cy="1719"/>
          </a:xfrm>
        </p:grpSpPr>
        <p:graphicFrame>
          <p:nvGraphicFramePr>
            <p:cNvPr id="10" name="Object 5"/>
            <p:cNvGraphicFramePr/>
            <p:nvPr/>
          </p:nvGraphicFramePr>
          <p:xfrm>
            <a:off x="405" y="720"/>
            <a:ext cx="1814" cy="1163"/>
          </p:xfrm>
          <a:graphic>
            <a:graphicData uri="http://schemas.openxmlformats.org/presentationml/2006/ole">
              <mc:AlternateContent xmlns:mc="http://schemas.openxmlformats.org/markup-compatibility/2006">
                <mc:Choice xmlns:v="urn:schemas-microsoft-com:vml" Requires="v">
                  <p:oleObj spid="_x0000_s13313" name="" r:id="rId1" imgW="25908000" imgH="16459200" progId="Equation.3">
                    <p:embed/>
                  </p:oleObj>
                </mc:Choice>
                <mc:Fallback>
                  <p:oleObj name="" r:id="rId1" imgW="25908000" imgH="16459200" progId="Equation.3">
                    <p:embed/>
                    <p:pic>
                      <p:nvPicPr>
                        <p:cNvPr id="0" name="图片 13312"/>
                        <p:cNvPicPr/>
                        <p:nvPr/>
                      </p:nvPicPr>
                      <p:blipFill>
                        <a:blip r:embed="rId2"/>
                        <a:stretch>
                          <a:fillRect/>
                        </a:stretch>
                      </p:blipFill>
                      <p:spPr>
                        <a:xfrm>
                          <a:off x="405" y="720"/>
                          <a:ext cx="1814" cy="1163"/>
                        </a:xfrm>
                        <a:prstGeom prst="rect">
                          <a:avLst/>
                        </a:prstGeom>
                        <a:noFill/>
                        <a:ln w="38100">
                          <a:noFill/>
                        </a:ln>
                      </p:spPr>
                    </p:pic>
                  </p:oleObj>
                </mc:Fallback>
              </mc:AlternateContent>
            </a:graphicData>
          </a:graphic>
        </p:graphicFrame>
        <p:sp>
          <p:nvSpPr>
            <p:cNvPr id="11" name="Rectangle 6"/>
            <p:cNvSpPr>
              <a:spLocks noChangeArrowheads="1"/>
            </p:cNvSpPr>
            <p:nvPr/>
          </p:nvSpPr>
          <p:spPr bwMode="auto">
            <a:xfrm>
              <a:off x="793" y="164"/>
              <a:ext cx="884" cy="365"/>
            </a:xfrm>
            <a:prstGeom prst="rect">
              <a:avLst/>
            </a:prstGeom>
            <a:noFill/>
            <a:ln w="9525">
              <a:noFill/>
              <a:miter lim="800000"/>
            </a:ln>
          </p:spPr>
          <p:txBody>
            <a:bodyPr wrap="none">
              <a:spAutoFit/>
            </a:bodyPr>
            <a:lstStyle/>
            <a:p>
              <a:r>
                <a:rPr lang="zh-CN" altLang="en-US" sz="3200" b="1">
                  <a:solidFill>
                    <a:srgbClr val="000000"/>
                  </a:solidFill>
                </a:rPr>
                <a:t>原问题</a:t>
              </a:r>
              <a:endParaRPr lang="zh-CN" altLang="en-US" sz="3200" b="1">
                <a:solidFill>
                  <a:srgbClr val="000000"/>
                </a:solidFill>
              </a:endParaRPr>
            </a:p>
          </p:txBody>
        </p:sp>
      </p:grpSp>
      <p:grpSp>
        <p:nvGrpSpPr>
          <p:cNvPr id="12" name="Group 16"/>
          <p:cNvGrpSpPr/>
          <p:nvPr/>
        </p:nvGrpSpPr>
        <p:grpSpPr bwMode="auto">
          <a:xfrm>
            <a:off x="5148263" y="333375"/>
            <a:ext cx="3082925" cy="2630488"/>
            <a:chOff x="3243" y="119"/>
            <a:chExt cx="1942" cy="1657"/>
          </a:xfrm>
        </p:grpSpPr>
        <p:sp>
          <p:nvSpPr>
            <p:cNvPr id="13" name="Rectangle 7"/>
            <p:cNvSpPr>
              <a:spLocks noChangeArrowheads="1"/>
            </p:cNvSpPr>
            <p:nvPr/>
          </p:nvSpPr>
          <p:spPr bwMode="auto">
            <a:xfrm>
              <a:off x="3470" y="119"/>
              <a:ext cx="1140" cy="365"/>
            </a:xfrm>
            <a:prstGeom prst="rect">
              <a:avLst/>
            </a:prstGeom>
            <a:noFill/>
            <a:ln w="9525">
              <a:noFill/>
              <a:miter lim="800000"/>
            </a:ln>
          </p:spPr>
          <p:txBody>
            <a:bodyPr wrap="none">
              <a:spAutoFit/>
            </a:bodyPr>
            <a:lstStyle/>
            <a:p>
              <a:r>
                <a:rPr lang="zh-CN" altLang="en-US" sz="3200" b="1">
                  <a:solidFill>
                    <a:srgbClr val="000000"/>
                  </a:solidFill>
                </a:rPr>
                <a:t>对偶问题</a:t>
              </a:r>
              <a:endParaRPr lang="zh-CN" altLang="en-US" sz="3200" b="1">
                <a:solidFill>
                  <a:srgbClr val="000000"/>
                </a:solidFill>
              </a:endParaRPr>
            </a:p>
          </p:txBody>
        </p:sp>
        <p:graphicFrame>
          <p:nvGraphicFramePr>
            <p:cNvPr id="14" name="Object 8"/>
            <p:cNvGraphicFramePr/>
            <p:nvPr/>
          </p:nvGraphicFramePr>
          <p:xfrm>
            <a:off x="3243" y="527"/>
            <a:ext cx="1942" cy="1249"/>
          </p:xfrm>
          <a:graphic>
            <a:graphicData uri="http://schemas.openxmlformats.org/presentationml/2006/ole">
              <mc:AlternateContent xmlns:mc="http://schemas.openxmlformats.org/markup-compatibility/2006">
                <mc:Choice xmlns:v="urn:schemas-microsoft-com:vml" Requires="v">
                  <p:oleObj spid="_x0000_s13314" name="" r:id="rId3" imgW="27736800" imgH="17678400" progId="Equation.3">
                    <p:embed/>
                  </p:oleObj>
                </mc:Choice>
                <mc:Fallback>
                  <p:oleObj name="" r:id="rId3" imgW="27736800" imgH="17678400" progId="Equation.3">
                    <p:embed/>
                    <p:pic>
                      <p:nvPicPr>
                        <p:cNvPr id="0" name="图片 13313"/>
                        <p:cNvPicPr/>
                        <p:nvPr/>
                      </p:nvPicPr>
                      <p:blipFill>
                        <a:blip r:embed="rId4"/>
                        <a:stretch>
                          <a:fillRect/>
                        </a:stretch>
                      </p:blipFill>
                      <p:spPr>
                        <a:xfrm>
                          <a:off x="3243" y="527"/>
                          <a:ext cx="1942" cy="1249"/>
                        </a:xfrm>
                        <a:prstGeom prst="rect">
                          <a:avLst/>
                        </a:prstGeom>
                        <a:noFill/>
                        <a:ln w="38100">
                          <a:noFill/>
                        </a:ln>
                      </p:spPr>
                    </p:pic>
                  </p:oleObj>
                </mc:Fallback>
              </mc:AlternateContent>
            </a:graphicData>
          </a:graphic>
        </p:graphicFrame>
      </p:grpSp>
      <p:sp>
        <p:nvSpPr>
          <p:cNvPr id="15" name="Text Box 9"/>
          <p:cNvSpPr txBox="1">
            <a:spLocks noChangeArrowheads="1"/>
          </p:cNvSpPr>
          <p:nvPr/>
        </p:nvSpPr>
        <p:spPr bwMode="auto">
          <a:xfrm>
            <a:off x="4857752" y="3070225"/>
            <a:ext cx="3816350" cy="3657600"/>
          </a:xfrm>
          <a:prstGeom prst="rect">
            <a:avLst/>
          </a:prstGeom>
          <a:solidFill>
            <a:schemeClr val="accent6">
              <a:lumMod val="60000"/>
              <a:lumOff val="40000"/>
            </a:schemeClr>
          </a:solidFill>
          <a:ln w="9525">
            <a:noFill/>
            <a:miter lim="800000"/>
          </a:ln>
        </p:spPr>
        <p:txBody>
          <a:bodyPr>
            <a:spAutoFit/>
          </a:bodyPr>
          <a:lstStyle/>
          <a:p>
            <a:pPr algn="ctr">
              <a:lnSpc>
                <a:spcPct val="80000"/>
              </a:lnSpc>
              <a:spcBef>
                <a:spcPct val="50000"/>
              </a:spcBef>
            </a:pPr>
            <a:r>
              <a:rPr lang="en-US" altLang="zh-CN" sz="3200" b="1" dirty="0">
                <a:solidFill>
                  <a:srgbClr val="000000"/>
                </a:solidFill>
              </a:rPr>
              <a:t>min</a:t>
            </a:r>
            <a:endParaRPr lang="en-US" altLang="zh-CN" sz="3200" b="1" dirty="0">
              <a:solidFill>
                <a:srgbClr val="000000"/>
              </a:solidFill>
            </a:endParaRPr>
          </a:p>
          <a:p>
            <a:pPr>
              <a:lnSpc>
                <a:spcPct val="80000"/>
              </a:lnSpc>
              <a:spcBef>
                <a:spcPct val="50000"/>
              </a:spcBef>
            </a:pPr>
            <a:r>
              <a:rPr lang="en-US" altLang="zh-CN" sz="3200" b="1" dirty="0">
                <a:solidFill>
                  <a:srgbClr val="000000"/>
                </a:solidFill>
              </a:rPr>
              <a:t>          </a:t>
            </a:r>
            <a:r>
              <a:rPr lang="zh-CN" altLang="en-US" sz="3200" b="1" dirty="0">
                <a:solidFill>
                  <a:srgbClr val="000000"/>
                </a:solidFill>
              </a:rPr>
              <a:t>价值向量</a:t>
            </a:r>
            <a:endParaRPr lang="zh-CN" altLang="en-US" sz="3200" b="1" dirty="0">
              <a:solidFill>
                <a:srgbClr val="000000"/>
              </a:solidFill>
            </a:endParaRPr>
          </a:p>
          <a:p>
            <a:pPr>
              <a:lnSpc>
                <a:spcPct val="80000"/>
              </a:lnSpc>
              <a:spcBef>
                <a:spcPct val="50000"/>
              </a:spcBef>
            </a:pPr>
            <a:r>
              <a:rPr lang="zh-CN" altLang="en-US" sz="3200" b="1" dirty="0">
                <a:solidFill>
                  <a:srgbClr val="000000"/>
                </a:solidFill>
              </a:rPr>
              <a:t>          限定向量</a:t>
            </a:r>
            <a:endParaRPr lang="zh-CN" altLang="en-US" sz="3200" b="1" dirty="0">
              <a:solidFill>
                <a:srgbClr val="000000"/>
              </a:solidFill>
            </a:endParaRPr>
          </a:p>
          <a:p>
            <a:pPr>
              <a:lnSpc>
                <a:spcPct val="80000"/>
              </a:lnSpc>
              <a:spcBef>
                <a:spcPct val="50000"/>
              </a:spcBef>
            </a:pPr>
            <a:r>
              <a:rPr lang="zh-CN" altLang="en-US" sz="3200" b="1" dirty="0">
                <a:solidFill>
                  <a:srgbClr val="000000"/>
                </a:solidFill>
              </a:rPr>
              <a:t> </a:t>
            </a:r>
            <a:r>
              <a:rPr lang="en-US" altLang="zh-CN" sz="3200" b="1" dirty="0">
                <a:solidFill>
                  <a:srgbClr val="000000"/>
                </a:solidFill>
              </a:rPr>
              <a:t>n</a:t>
            </a:r>
            <a:r>
              <a:rPr lang="zh-CN" altLang="en-US" sz="3200" b="1" dirty="0">
                <a:solidFill>
                  <a:srgbClr val="000000"/>
                </a:solidFill>
              </a:rPr>
              <a:t>个约束，</a:t>
            </a:r>
            <a:r>
              <a:rPr lang="en-US" altLang="zh-CN" sz="3200" b="1" dirty="0">
                <a:solidFill>
                  <a:srgbClr val="000000"/>
                </a:solidFill>
              </a:rPr>
              <a:t>m</a:t>
            </a:r>
            <a:r>
              <a:rPr lang="zh-CN" altLang="en-US" sz="3200" b="1" dirty="0">
                <a:solidFill>
                  <a:srgbClr val="000000"/>
                </a:solidFill>
              </a:rPr>
              <a:t>个变量</a:t>
            </a:r>
            <a:endParaRPr lang="zh-CN" altLang="en-US" sz="3200" b="1" dirty="0">
              <a:solidFill>
                <a:srgbClr val="000000"/>
              </a:solidFill>
            </a:endParaRPr>
          </a:p>
          <a:p>
            <a:pPr>
              <a:lnSpc>
                <a:spcPct val="80000"/>
              </a:lnSpc>
              <a:spcBef>
                <a:spcPct val="50000"/>
              </a:spcBef>
            </a:pPr>
            <a:r>
              <a:rPr lang="zh-CN" altLang="en-US" sz="3200" b="1" dirty="0">
                <a:solidFill>
                  <a:srgbClr val="000000"/>
                </a:solidFill>
              </a:rPr>
              <a:t>       变量“≥”</a:t>
            </a:r>
            <a:endParaRPr lang="zh-CN" altLang="en-US" sz="3200" b="1" dirty="0">
              <a:solidFill>
                <a:srgbClr val="000000"/>
              </a:solidFill>
            </a:endParaRPr>
          </a:p>
          <a:p>
            <a:pPr>
              <a:lnSpc>
                <a:spcPct val="80000"/>
              </a:lnSpc>
              <a:spcBef>
                <a:spcPct val="50000"/>
              </a:spcBef>
            </a:pPr>
            <a:r>
              <a:rPr lang="zh-CN" altLang="en-US" sz="3200" b="1" dirty="0">
                <a:solidFill>
                  <a:srgbClr val="000000"/>
                </a:solidFill>
              </a:rPr>
              <a:t>      约束条件“≥”</a:t>
            </a:r>
            <a:endParaRPr lang="zh-CN" altLang="en-US" sz="3200" b="1" dirty="0">
              <a:solidFill>
                <a:srgbClr val="000000"/>
              </a:solidFill>
            </a:endParaRPr>
          </a:p>
        </p:txBody>
      </p:sp>
      <p:sp>
        <p:nvSpPr>
          <p:cNvPr id="17" name="Line 10"/>
          <p:cNvSpPr>
            <a:spLocks noChangeShapeType="1"/>
          </p:cNvSpPr>
          <p:nvPr/>
        </p:nvSpPr>
        <p:spPr bwMode="auto">
          <a:xfrm>
            <a:off x="3779838" y="3357563"/>
            <a:ext cx="1657350" cy="0"/>
          </a:xfrm>
          <a:prstGeom prst="line">
            <a:avLst/>
          </a:prstGeom>
          <a:noFill/>
          <a:ln w="38100">
            <a:solidFill>
              <a:srgbClr val="FF0000"/>
            </a:solidFill>
            <a:round/>
            <a:headEnd type="triangle" w="med" len="med"/>
            <a:tailEnd type="triangle" w="med" len="med"/>
          </a:ln>
        </p:spPr>
        <p:txBody>
          <a:bodyPr/>
          <a:lstStyle/>
          <a:p>
            <a:endParaRPr lang="zh-CN" altLang="en-US"/>
          </a:p>
        </p:txBody>
      </p:sp>
      <p:sp>
        <p:nvSpPr>
          <p:cNvPr id="18" name="Line 11"/>
          <p:cNvSpPr>
            <a:spLocks noChangeShapeType="1"/>
          </p:cNvSpPr>
          <p:nvPr/>
        </p:nvSpPr>
        <p:spPr bwMode="auto">
          <a:xfrm>
            <a:off x="3924300" y="3933825"/>
            <a:ext cx="1441450" cy="0"/>
          </a:xfrm>
          <a:prstGeom prst="line">
            <a:avLst/>
          </a:prstGeom>
          <a:noFill/>
          <a:ln w="38100">
            <a:solidFill>
              <a:srgbClr val="FF0000"/>
            </a:solidFill>
            <a:round/>
            <a:headEnd type="triangle" w="med" len="med"/>
            <a:tailEnd type="triangle" w="med" len="med"/>
          </a:ln>
        </p:spPr>
        <p:txBody>
          <a:bodyPr/>
          <a:lstStyle/>
          <a:p>
            <a:endParaRPr lang="zh-CN" altLang="en-US"/>
          </a:p>
        </p:txBody>
      </p:sp>
      <p:sp>
        <p:nvSpPr>
          <p:cNvPr id="19" name="Line 12"/>
          <p:cNvSpPr>
            <a:spLocks noChangeShapeType="1"/>
          </p:cNvSpPr>
          <p:nvPr/>
        </p:nvSpPr>
        <p:spPr bwMode="auto">
          <a:xfrm>
            <a:off x="3995738" y="4652963"/>
            <a:ext cx="1225550" cy="0"/>
          </a:xfrm>
          <a:prstGeom prst="line">
            <a:avLst/>
          </a:prstGeom>
          <a:noFill/>
          <a:ln w="38100">
            <a:solidFill>
              <a:srgbClr val="FF0000"/>
            </a:solidFill>
            <a:round/>
            <a:headEnd type="triangle" w="med" len="med"/>
            <a:tailEnd type="triangle" w="med" len="med"/>
          </a:ln>
        </p:spPr>
        <p:txBody>
          <a:bodyPr/>
          <a:lstStyle/>
          <a:p>
            <a:endParaRPr lang="zh-CN" altLang="en-US"/>
          </a:p>
        </p:txBody>
      </p:sp>
      <p:sp>
        <p:nvSpPr>
          <p:cNvPr id="20" name="Line 13"/>
          <p:cNvSpPr>
            <a:spLocks noChangeShapeType="1"/>
          </p:cNvSpPr>
          <p:nvPr/>
        </p:nvSpPr>
        <p:spPr bwMode="auto">
          <a:xfrm>
            <a:off x="4356100" y="5229225"/>
            <a:ext cx="574675" cy="0"/>
          </a:xfrm>
          <a:prstGeom prst="line">
            <a:avLst/>
          </a:prstGeom>
          <a:noFill/>
          <a:ln w="38100">
            <a:solidFill>
              <a:srgbClr val="FF0000"/>
            </a:solidFill>
            <a:round/>
            <a:headEnd type="triangle" w="med" len="med"/>
            <a:tailEnd type="triangle" w="med" len="med"/>
          </a:ln>
        </p:spPr>
        <p:txBody>
          <a:bodyPr/>
          <a:lstStyle/>
          <a:p>
            <a:endParaRPr lang="zh-CN" altLang="en-US"/>
          </a:p>
        </p:txBody>
      </p:sp>
      <p:sp>
        <p:nvSpPr>
          <p:cNvPr id="21" name="Line 14"/>
          <p:cNvSpPr>
            <a:spLocks noChangeShapeType="1"/>
          </p:cNvSpPr>
          <p:nvPr/>
        </p:nvSpPr>
        <p:spPr bwMode="auto">
          <a:xfrm>
            <a:off x="3995738" y="5876925"/>
            <a:ext cx="1296987" cy="0"/>
          </a:xfrm>
          <a:prstGeom prst="line">
            <a:avLst/>
          </a:prstGeom>
          <a:noFill/>
          <a:ln w="38100">
            <a:solidFill>
              <a:srgbClr val="FF0000"/>
            </a:solidFill>
            <a:round/>
            <a:headEnd type="triangle" w="med" len="med"/>
            <a:tailEnd type="triangle" w="med" len="med"/>
          </a:ln>
        </p:spPr>
        <p:txBody>
          <a:bodyPr/>
          <a:lstStyle/>
          <a:p>
            <a:endParaRPr lang="zh-CN" altLang="en-US"/>
          </a:p>
        </p:txBody>
      </p:sp>
      <p:sp>
        <p:nvSpPr>
          <p:cNvPr id="22" name="Text Box 20"/>
          <p:cNvSpPr txBox="1">
            <a:spLocks noChangeArrowheads="1"/>
          </p:cNvSpPr>
          <p:nvPr/>
        </p:nvSpPr>
        <p:spPr bwMode="auto">
          <a:xfrm>
            <a:off x="2987675" y="1989138"/>
            <a:ext cx="2303463" cy="579437"/>
          </a:xfrm>
          <a:prstGeom prst="rect">
            <a:avLst/>
          </a:prstGeom>
          <a:solidFill>
            <a:srgbClr val="FFFF00"/>
          </a:solidFill>
          <a:ln w="9525">
            <a:noFill/>
            <a:miter lim="800000"/>
          </a:ln>
        </p:spPr>
        <p:txBody>
          <a:bodyPr>
            <a:spAutoFit/>
          </a:bodyPr>
          <a:lstStyle/>
          <a:p>
            <a:pPr>
              <a:spcBef>
                <a:spcPct val="50000"/>
              </a:spcBef>
            </a:pPr>
            <a:r>
              <a:rPr lang="zh-CN" altLang="en-US" sz="3200">
                <a:solidFill>
                  <a:srgbClr val="000000"/>
                </a:solidFill>
              </a:rPr>
              <a:t>对称式对偶</a:t>
            </a:r>
            <a:endParaRPr lang="zh-CN" altLang="en-US" sz="3200">
              <a:solidFill>
                <a:srgbClr val="000000"/>
              </a:solidFill>
            </a:endParaRPr>
          </a:p>
        </p:txBody>
      </p:sp>
      <p:sp>
        <p:nvSpPr>
          <p:cNvPr id="23" name="Line 21"/>
          <p:cNvSpPr>
            <a:spLocks noChangeShapeType="1"/>
          </p:cNvSpPr>
          <p:nvPr/>
        </p:nvSpPr>
        <p:spPr bwMode="auto">
          <a:xfrm>
            <a:off x="3924300" y="6524625"/>
            <a:ext cx="1296988" cy="0"/>
          </a:xfrm>
          <a:prstGeom prst="line">
            <a:avLst/>
          </a:prstGeom>
          <a:noFill/>
          <a:ln w="38100">
            <a:solidFill>
              <a:srgbClr val="FF0000"/>
            </a:solidFill>
            <a:round/>
            <a:headEnd type="triangle" w="med" len="med"/>
            <a:tailEnd type="triangl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left)">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blinds(horizontal)">
                                      <p:cBhvr>
                                        <p:cTn id="6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15" grpId="0" animBg="1"/>
      <p:bldP spid="17" grpId="0" animBg="1"/>
      <p:bldP spid="18" grpId="0" animBg="1"/>
      <p:bldP spid="19" grpId="0" animBg="1"/>
      <p:bldP spid="20" grpId="0" animBg="1"/>
      <p:bldP spid="21" grpId="0" animBg="1"/>
      <p:bldP spid="22" grpId="0" animBg="1"/>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17" name="Group 4"/>
          <p:cNvGrpSpPr/>
          <p:nvPr>
            <p:custDataLst>
              <p:tags r:id="rId1"/>
            </p:custDataLst>
          </p:nvPr>
        </p:nvGrpSpPr>
        <p:grpSpPr bwMode="auto">
          <a:xfrm>
            <a:off x="1285852" y="1500174"/>
            <a:ext cx="6858000" cy="3733800"/>
            <a:chOff x="912" y="1248"/>
            <a:chExt cx="4320" cy="2352"/>
          </a:xfrm>
        </p:grpSpPr>
        <p:sp>
          <p:nvSpPr>
            <p:cNvPr id="18" name="AutoShape 5"/>
            <p:cNvSpPr>
              <a:spLocks noChangeArrowheads="1"/>
            </p:cNvSpPr>
            <p:nvPr>
              <p:custDataLst>
                <p:tags r:id="rId2"/>
              </p:custDataLst>
            </p:nvPr>
          </p:nvSpPr>
          <p:spPr bwMode="auto">
            <a:xfrm>
              <a:off x="3600" y="2688"/>
              <a:ext cx="1584" cy="912"/>
            </a:xfrm>
            <a:prstGeom prst="roundRect">
              <a:avLst>
                <a:gd name="adj" fmla="val 16667"/>
              </a:avLst>
            </a:prstGeom>
            <a:solidFill>
              <a:srgbClr val="99FF33"/>
            </a:solidFill>
            <a:ln w="38100">
              <a:solidFill>
                <a:schemeClr val="accent1"/>
              </a:solidFill>
              <a:round/>
            </a:ln>
          </p:spPr>
          <p:txBody>
            <a:bodyPr wrap="none" anchor="ctr"/>
            <a:lstStyle/>
            <a:p>
              <a:endParaRPr lang="zh-CN" altLang="en-US"/>
            </a:p>
          </p:txBody>
        </p:sp>
        <p:sp>
          <p:nvSpPr>
            <p:cNvPr id="19" name="Rectangle 6"/>
            <p:cNvSpPr>
              <a:spLocks noChangeArrowheads="1"/>
            </p:cNvSpPr>
            <p:nvPr>
              <p:custDataLst>
                <p:tags r:id="rId3"/>
              </p:custDataLst>
            </p:nvPr>
          </p:nvSpPr>
          <p:spPr bwMode="auto">
            <a:xfrm>
              <a:off x="3600" y="2688"/>
              <a:ext cx="1545" cy="912"/>
            </a:xfrm>
            <a:prstGeom prst="rect">
              <a:avLst/>
            </a:prstGeom>
            <a:noFill/>
            <a:ln w="9525">
              <a:noFill/>
              <a:miter lim="800000"/>
            </a:ln>
          </p:spPr>
          <p:txBody>
            <a:bodyPr/>
            <a:lstStyle/>
            <a:p>
              <a:pPr algn="ctr"/>
              <a:r>
                <a:rPr kumimoji="1" lang="en-US" altLang="zh-CN">
                  <a:latin typeface="Times New Roman" panose="02020603050405020304" pitchFamily="18" charset="0"/>
                </a:rPr>
                <a:t>Max W’=-Yb</a:t>
              </a:r>
              <a:endParaRPr kumimoji="1" lang="en-US" altLang="zh-CN">
                <a:latin typeface="Times New Roman" panose="02020603050405020304" pitchFamily="18" charset="0"/>
              </a:endParaRPr>
            </a:p>
            <a:p>
              <a:pPr algn="ctr"/>
              <a:r>
                <a:rPr kumimoji="1" lang="en-US" altLang="zh-CN">
                  <a:latin typeface="Times New Roman" panose="02020603050405020304" pitchFamily="18" charset="0"/>
                </a:rPr>
                <a:t>s.t.  -YA≤-C</a:t>
              </a:r>
              <a:endParaRPr kumimoji="1" lang="en-US" altLang="zh-CN">
                <a:latin typeface="Times New Roman" panose="02020603050405020304" pitchFamily="18" charset="0"/>
              </a:endParaRPr>
            </a:p>
            <a:p>
              <a:pPr algn="ctr"/>
              <a:r>
                <a:rPr kumimoji="1" lang="en-US" altLang="zh-CN">
                  <a:latin typeface="Times New Roman" panose="02020603050405020304" pitchFamily="18" charset="0"/>
                </a:rPr>
                <a:t>	Y≥0</a:t>
              </a:r>
              <a:endParaRPr kumimoji="1" lang="en-US" altLang="zh-CN">
                <a:latin typeface="Times New Roman" panose="02020603050405020304" pitchFamily="18" charset="0"/>
              </a:endParaRPr>
            </a:p>
          </p:txBody>
        </p:sp>
        <p:sp>
          <p:nvSpPr>
            <p:cNvPr id="20" name="AutoShape 7"/>
            <p:cNvSpPr>
              <a:spLocks noChangeArrowheads="1"/>
            </p:cNvSpPr>
            <p:nvPr>
              <p:custDataLst>
                <p:tags r:id="rId4"/>
              </p:custDataLst>
            </p:nvPr>
          </p:nvSpPr>
          <p:spPr bwMode="auto">
            <a:xfrm>
              <a:off x="960" y="2640"/>
              <a:ext cx="1392" cy="912"/>
            </a:xfrm>
            <a:prstGeom prst="roundRect">
              <a:avLst>
                <a:gd name="adj" fmla="val 16667"/>
              </a:avLst>
            </a:prstGeom>
            <a:solidFill>
              <a:srgbClr val="99FF33"/>
            </a:solidFill>
            <a:ln w="38100">
              <a:solidFill>
                <a:schemeClr val="accent1"/>
              </a:solidFill>
              <a:round/>
            </a:ln>
          </p:spPr>
          <p:txBody>
            <a:bodyPr wrap="none" anchor="ctr"/>
            <a:lstStyle/>
            <a:p>
              <a:endParaRPr lang="zh-CN" altLang="en-US"/>
            </a:p>
          </p:txBody>
        </p:sp>
        <p:sp>
          <p:nvSpPr>
            <p:cNvPr id="21" name="Text Box 8"/>
            <p:cNvSpPr txBox="1">
              <a:spLocks noChangeArrowheads="1"/>
            </p:cNvSpPr>
            <p:nvPr>
              <p:custDataLst>
                <p:tags r:id="rId5"/>
              </p:custDataLst>
            </p:nvPr>
          </p:nvSpPr>
          <p:spPr bwMode="auto">
            <a:xfrm>
              <a:off x="1008" y="2712"/>
              <a:ext cx="1296" cy="840"/>
            </a:xfrm>
            <a:prstGeom prst="rect">
              <a:avLst/>
            </a:prstGeom>
            <a:noFill/>
            <a:ln w="9525">
              <a:noFill/>
              <a:miter lim="800000"/>
            </a:ln>
          </p:spPr>
          <p:txBody>
            <a:bodyPr>
              <a:spAutoFit/>
            </a:bodyPr>
            <a:lstStyle/>
            <a:p>
              <a:pPr>
                <a:spcBef>
                  <a:spcPct val="20000"/>
                </a:spcBef>
              </a:pPr>
              <a:r>
                <a:rPr lang="en-US" altLang="zh-CN">
                  <a:latin typeface="Times New Roman" panose="02020603050405020304" pitchFamily="18" charset="0"/>
                </a:rPr>
                <a:t>Min Z’=-</a:t>
              </a:r>
              <a:r>
                <a:rPr kumimoji="1" lang="en-US" altLang="zh-CN">
                  <a:latin typeface="Times New Roman" panose="02020603050405020304" pitchFamily="18" charset="0"/>
                </a:rPr>
                <a:t>CX</a:t>
              </a:r>
              <a:endParaRPr lang="en-US" altLang="zh-CN">
                <a:latin typeface="Times New Roman" panose="02020603050405020304" pitchFamily="18" charset="0"/>
              </a:endParaRPr>
            </a:p>
            <a:p>
              <a:pPr>
                <a:spcBef>
                  <a:spcPct val="20000"/>
                </a:spcBef>
              </a:pPr>
              <a:r>
                <a:rPr lang="en-US" altLang="zh-CN">
                  <a:latin typeface="Times New Roman" panose="02020603050405020304" pitchFamily="18" charset="0"/>
                </a:rPr>
                <a:t>s.t.  -A</a:t>
              </a:r>
              <a:r>
                <a:rPr kumimoji="1" lang="en-US" altLang="zh-CN">
                  <a:latin typeface="Times New Roman" panose="02020603050405020304" pitchFamily="18" charset="0"/>
                </a:rPr>
                <a:t>X</a:t>
              </a:r>
              <a:r>
                <a:rPr lang="en-US" altLang="zh-CN" sz="2000">
                  <a:latin typeface="Times New Roman" panose="02020603050405020304" pitchFamily="18" charset="0"/>
                </a:rPr>
                <a:t>≥</a:t>
              </a:r>
              <a:r>
                <a:rPr lang="en-US" altLang="zh-CN">
                  <a:latin typeface="Times New Roman" panose="02020603050405020304" pitchFamily="18" charset="0"/>
                </a:rPr>
                <a:t>-b</a:t>
              </a:r>
              <a:endParaRPr lang="en-US" altLang="zh-CN">
                <a:latin typeface="Times New Roman" panose="02020603050405020304" pitchFamily="18" charset="0"/>
              </a:endParaRPr>
            </a:p>
            <a:p>
              <a:pPr>
                <a:spcBef>
                  <a:spcPct val="20000"/>
                </a:spcBef>
              </a:pPr>
              <a:r>
                <a:rPr lang="en-US" altLang="zh-CN">
                  <a:latin typeface="Times New Roman" panose="02020603050405020304" pitchFamily="18" charset="0"/>
                </a:rPr>
                <a:t>	X </a:t>
              </a:r>
              <a:r>
                <a:rPr lang="en-US" altLang="zh-CN" sz="2000">
                  <a:latin typeface="Times New Roman" panose="02020603050405020304" pitchFamily="18" charset="0"/>
                </a:rPr>
                <a:t>≥0</a:t>
              </a:r>
              <a:endParaRPr lang="en-US" altLang="zh-CN" sz="2000">
                <a:latin typeface="Times New Roman" panose="02020603050405020304" pitchFamily="18" charset="0"/>
              </a:endParaRPr>
            </a:p>
          </p:txBody>
        </p:sp>
        <p:sp>
          <p:nvSpPr>
            <p:cNvPr id="22" name="AutoShape 9"/>
            <p:cNvSpPr>
              <a:spLocks noChangeArrowheads="1"/>
            </p:cNvSpPr>
            <p:nvPr>
              <p:custDataLst>
                <p:tags r:id="rId6"/>
              </p:custDataLst>
            </p:nvPr>
          </p:nvSpPr>
          <p:spPr bwMode="auto">
            <a:xfrm>
              <a:off x="912" y="1248"/>
              <a:ext cx="1484" cy="912"/>
            </a:xfrm>
            <a:prstGeom prst="roundRect">
              <a:avLst>
                <a:gd name="adj" fmla="val 16667"/>
              </a:avLst>
            </a:prstGeom>
            <a:solidFill>
              <a:srgbClr val="99FF33"/>
            </a:solidFill>
            <a:ln w="38100">
              <a:solidFill>
                <a:schemeClr val="accent1"/>
              </a:solidFill>
              <a:round/>
            </a:ln>
          </p:spPr>
          <p:txBody>
            <a:bodyPr wrap="none" anchor="ctr"/>
            <a:lstStyle/>
            <a:p>
              <a:endParaRPr lang="zh-CN" altLang="en-US"/>
            </a:p>
          </p:txBody>
        </p:sp>
        <p:sp>
          <p:nvSpPr>
            <p:cNvPr id="23" name="Text Box 10"/>
            <p:cNvSpPr txBox="1">
              <a:spLocks noChangeArrowheads="1"/>
            </p:cNvSpPr>
            <p:nvPr>
              <p:custDataLst>
                <p:tags r:id="rId7"/>
              </p:custDataLst>
            </p:nvPr>
          </p:nvSpPr>
          <p:spPr bwMode="auto">
            <a:xfrm>
              <a:off x="961" y="1296"/>
              <a:ext cx="1382" cy="840"/>
            </a:xfrm>
            <a:prstGeom prst="rect">
              <a:avLst/>
            </a:prstGeom>
            <a:noFill/>
            <a:ln w="9525">
              <a:noFill/>
              <a:miter lim="800000"/>
            </a:ln>
          </p:spPr>
          <p:txBody>
            <a:bodyPr>
              <a:spAutoFit/>
            </a:bodyPr>
            <a:lstStyle/>
            <a:p>
              <a:pPr>
                <a:spcBef>
                  <a:spcPct val="20000"/>
                </a:spcBef>
              </a:pPr>
              <a:r>
                <a:rPr lang="en-US" altLang="zh-CN">
                  <a:latin typeface="Times New Roman" panose="02020603050405020304" pitchFamily="18" charset="0"/>
                </a:rPr>
                <a:t>Max Z=CX</a:t>
              </a:r>
              <a:endParaRPr lang="en-US" altLang="zh-CN">
                <a:latin typeface="Times New Roman" panose="02020603050405020304" pitchFamily="18" charset="0"/>
              </a:endParaRPr>
            </a:p>
            <a:p>
              <a:pPr>
                <a:spcBef>
                  <a:spcPct val="20000"/>
                </a:spcBef>
              </a:pPr>
              <a:r>
                <a:rPr lang="en-US" altLang="zh-CN">
                  <a:latin typeface="Times New Roman" panose="02020603050405020304" pitchFamily="18" charset="0"/>
                </a:rPr>
                <a:t>s.t.     </a:t>
              </a:r>
              <a:r>
                <a:rPr kumimoji="1" lang="en-US" altLang="zh-CN">
                  <a:latin typeface="Times New Roman" panose="02020603050405020304" pitchFamily="18" charset="0"/>
                </a:rPr>
                <a:t>AX</a:t>
              </a:r>
              <a:r>
                <a:rPr lang="en-US" altLang="zh-CN">
                  <a:latin typeface="Times New Roman" panose="02020603050405020304" pitchFamily="18" charset="0"/>
                </a:rPr>
                <a:t> ≤b</a:t>
              </a:r>
              <a:endParaRPr lang="en-US" altLang="zh-CN">
                <a:latin typeface="Times New Roman" panose="02020603050405020304" pitchFamily="18" charset="0"/>
              </a:endParaRPr>
            </a:p>
            <a:p>
              <a:pPr>
                <a:spcBef>
                  <a:spcPct val="20000"/>
                </a:spcBef>
              </a:pPr>
              <a:r>
                <a:rPr lang="en-US" altLang="zh-CN">
                  <a:latin typeface="Times New Roman" panose="02020603050405020304" pitchFamily="18" charset="0"/>
                </a:rPr>
                <a:t>	X </a:t>
              </a:r>
              <a:r>
                <a:rPr lang="en-US" altLang="zh-CN" sz="2000">
                  <a:latin typeface="Times New Roman" panose="02020603050405020304" pitchFamily="18" charset="0"/>
                </a:rPr>
                <a:t>≥0</a:t>
              </a:r>
              <a:endParaRPr lang="en-US" altLang="zh-CN" sz="2000">
                <a:latin typeface="Times New Roman" panose="02020603050405020304" pitchFamily="18" charset="0"/>
              </a:endParaRPr>
            </a:p>
          </p:txBody>
        </p:sp>
        <p:grpSp>
          <p:nvGrpSpPr>
            <p:cNvPr id="24" name="Group 11"/>
            <p:cNvGrpSpPr/>
            <p:nvPr/>
          </p:nvGrpSpPr>
          <p:grpSpPr bwMode="auto">
            <a:xfrm>
              <a:off x="3552" y="1270"/>
              <a:ext cx="1680" cy="938"/>
              <a:chOff x="1008" y="1414"/>
              <a:chExt cx="1344" cy="938"/>
            </a:xfrm>
          </p:grpSpPr>
          <p:sp>
            <p:nvSpPr>
              <p:cNvPr id="34" name="AutoShape 12"/>
              <p:cNvSpPr>
                <a:spLocks noChangeArrowheads="1"/>
              </p:cNvSpPr>
              <p:nvPr>
                <p:custDataLst>
                  <p:tags r:id="rId8"/>
                </p:custDataLst>
              </p:nvPr>
            </p:nvSpPr>
            <p:spPr bwMode="auto">
              <a:xfrm>
                <a:off x="1008" y="1414"/>
                <a:ext cx="1344" cy="938"/>
              </a:xfrm>
              <a:prstGeom prst="roundRect">
                <a:avLst>
                  <a:gd name="adj" fmla="val 16667"/>
                </a:avLst>
              </a:prstGeom>
              <a:solidFill>
                <a:srgbClr val="99FF33"/>
              </a:solidFill>
              <a:ln w="38100">
                <a:solidFill>
                  <a:schemeClr val="accent1"/>
                </a:solidFill>
                <a:round/>
              </a:ln>
              <a:effectLst/>
            </p:spPr>
            <p:txBody>
              <a:bodyPr wrap="none" anchor="ctr"/>
              <a:lstStyle/>
              <a:p>
                <a:endParaRPr lang="zh-CN" altLang="en-US"/>
              </a:p>
            </p:txBody>
          </p:sp>
          <p:sp>
            <p:nvSpPr>
              <p:cNvPr id="35" name="Rectangle 13"/>
              <p:cNvSpPr>
                <a:spLocks noChangeArrowheads="1"/>
              </p:cNvSpPr>
              <p:nvPr>
                <p:custDataLst>
                  <p:tags r:id="rId9"/>
                </p:custDataLst>
              </p:nvPr>
            </p:nvSpPr>
            <p:spPr bwMode="auto">
              <a:xfrm>
                <a:off x="1104" y="1492"/>
                <a:ext cx="1152" cy="849"/>
              </a:xfrm>
              <a:prstGeom prst="rect">
                <a:avLst/>
              </a:prstGeom>
              <a:solidFill>
                <a:srgbClr val="99FF33"/>
              </a:solidFill>
              <a:ln w="9525">
                <a:noFill/>
                <a:miter lim="800000"/>
              </a:ln>
              <a:effectLst/>
            </p:spPr>
            <p:txBody>
              <a:bodyPr/>
              <a:lstStyle/>
              <a:p>
                <a:pPr algn="ctr"/>
                <a:r>
                  <a:rPr kumimoji="1" lang="en-US" altLang="zh-CN">
                    <a:latin typeface="Times New Roman" panose="02020603050405020304" pitchFamily="18" charset="0"/>
                  </a:rPr>
                  <a:t>Min W=Yb</a:t>
                </a:r>
                <a:endParaRPr kumimoji="1" lang="en-US" altLang="zh-CN">
                  <a:latin typeface="Times New Roman" panose="02020603050405020304" pitchFamily="18" charset="0"/>
                </a:endParaRPr>
              </a:p>
              <a:p>
                <a:pPr algn="ctr"/>
                <a:r>
                  <a:rPr kumimoji="1" lang="en-US" altLang="zh-CN">
                    <a:latin typeface="Times New Roman" panose="02020603050405020304" pitchFamily="18" charset="0"/>
                  </a:rPr>
                  <a:t>s.t. </a:t>
                </a:r>
                <a:r>
                  <a:rPr lang="en-US" altLang="zh-CN">
                    <a:latin typeface="Times New Roman" panose="02020603050405020304" pitchFamily="18" charset="0"/>
                  </a:rPr>
                  <a:t>YA</a:t>
                </a:r>
                <a:r>
                  <a:rPr kumimoji="1" lang="en-US" altLang="zh-CN">
                    <a:latin typeface="Times New Roman" panose="02020603050405020304" pitchFamily="18" charset="0"/>
                  </a:rPr>
                  <a:t> ≥C</a:t>
                </a:r>
                <a:endParaRPr kumimoji="1" lang="en-US" altLang="zh-CN">
                  <a:latin typeface="Times New Roman" panose="02020603050405020304" pitchFamily="18" charset="0"/>
                </a:endParaRPr>
              </a:p>
              <a:p>
                <a:pPr algn="ctr"/>
                <a:r>
                  <a:rPr kumimoji="1" lang="en-US" altLang="zh-CN">
                    <a:latin typeface="Times New Roman" panose="02020603050405020304" pitchFamily="18" charset="0"/>
                  </a:rPr>
                  <a:t>	    Y≥0</a:t>
                </a:r>
                <a:endParaRPr kumimoji="1" lang="en-US" altLang="zh-CN">
                  <a:latin typeface="Times New Roman" panose="02020603050405020304" pitchFamily="18" charset="0"/>
                </a:endParaRPr>
              </a:p>
            </p:txBody>
          </p:sp>
        </p:grpSp>
        <p:sp>
          <p:nvSpPr>
            <p:cNvPr id="25" name="AutoShape 14"/>
            <p:cNvSpPr>
              <a:spLocks noChangeArrowheads="1"/>
            </p:cNvSpPr>
            <p:nvPr>
              <p:custDataLst>
                <p:tags r:id="rId10"/>
              </p:custDataLst>
            </p:nvPr>
          </p:nvSpPr>
          <p:spPr bwMode="auto">
            <a:xfrm>
              <a:off x="4224" y="2208"/>
              <a:ext cx="336" cy="480"/>
            </a:xfrm>
            <a:prstGeom prst="downArrow">
              <a:avLst>
                <a:gd name="adj1" fmla="val 50000"/>
                <a:gd name="adj2" fmla="val 35714"/>
              </a:avLst>
            </a:prstGeom>
            <a:solidFill>
              <a:schemeClr val="accent1"/>
            </a:solidFill>
            <a:ln w="9525">
              <a:solidFill>
                <a:schemeClr val="tx1"/>
              </a:solidFill>
              <a:miter lim="800000"/>
            </a:ln>
            <a:effectLst/>
          </p:spPr>
          <p:txBody>
            <a:bodyPr vert="eaVert" wrap="none" anchor="ctr"/>
            <a:lstStyle/>
            <a:p>
              <a:endParaRPr lang="zh-CN" altLang="en-US"/>
            </a:p>
          </p:txBody>
        </p:sp>
        <p:sp>
          <p:nvSpPr>
            <p:cNvPr id="26" name="AutoShape 15"/>
            <p:cNvSpPr>
              <a:spLocks noChangeArrowheads="1"/>
            </p:cNvSpPr>
            <p:nvPr>
              <p:custDataLst>
                <p:tags r:id="rId11"/>
              </p:custDataLst>
            </p:nvPr>
          </p:nvSpPr>
          <p:spPr bwMode="auto">
            <a:xfrm>
              <a:off x="1584" y="2160"/>
              <a:ext cx="336" cy="480"/>
            </a:xfrm>
            <a:prstGeom prst="upArrow">
              <a:avLst>
                <a:gd name="adj1" fmla="val 50000"/>
                <a:gd name="adj2" fmla="val 35714"/>
              </a:avLst>
            </a:prstGeom>
            <a:solidFill>
              <a:schemeClr val="accent1"/>
            </a:solidFill>
            <a:ln w="9525">
              <a:solidFill>
                <a:schemeClr val="tx1"/>
              </a:solidFill>
              <a:miter lim="800000"/>
            </a:ln>
            <a:effectLst/>
          </p:spPr>
          <p:txBody>
            <a:bodyPr vert="eaVert" wrap="none" anchor="ctr"/>
            <a:lstStyle/>
            <a:p>
              <a:endParaRPr lang="zh-CN" altLang="en-US"/>
            </a:p>
          </p:txBody>
        </p:sp>
        <p:grpSp>
          <p:nvGrpSpPr>
            <p:cNvPr id="27" name="Group 16"/>
            <p:cNvGrpSpPr/>
            <p:nvPr/>
          </p:nvGrpSpPr>
          <p:grpSpPr bwMode="auto">
            <a:xfrm>
              <a:off x="2367" y="2928"/>
              <a:ext cx="1233" cy="665"/>
              <a:chOff x="2367" y="3120"/>
              <a:chExt cx="801" cy="665"/>
            </a:xfrm>
          </p:grpSpPr>
          <p:sp>
            <p:nvSpPr>
              <p:cNvPr id="32" name="AutoShape 17"/>
              <p:cNvSpPr>
                <a:spLocks noChangeArrowheads="1"/>
              </p:cNvSpPr>
              <p:nvPr>
                <p:custDataLst>
                  <p:tags r:id="rId12"/>
                </p:custDataLst>
              </p:nvPr>
            </p:nvSpPr>
            <p:spPr bwMode="auto">
              <a:xfrm>
                <a:off x="2367" y="3120"/>
                <a:ext cx="794" cy="336"/>
              </a:xfrm>
              <a:prstGeom prst="leftArrow">
                <a:avLst>
                  <a:gd name="adj1" fmla="val 50000"/>
                  <a:gd name="adj2" fmla="val 59077"/>
                </a:avLst>
              </a:prstGeom>
              <a:solidFill>
                <a:schemeClr val="accent1"/>
              </a:solidFill>
              <a:ln w="9525">
                <a:solidFill>
                  <a:schemeClr val="tx1"/>
                </a:solidFill>
                <a:miter lim="800000"/>
              </a:ln>
              <a:effectLst/>
            </p:spPr>
            <p:txBody>
              <a:bodyPr wrap="none" anchor="ctr"/>
              <a:lstStyle/>
              <a:p>
                <a:endParaRPr lang="zh-CN" altLang="en-US"/>
              </a:p>
            </p:txBody>
          </p:sp>
          <p:sp>
            <p:nvSpPr>
              <p:cNvPr id="33" name="Text Box 18"/>
              <p:cNvSpPr txBox="1">
                <a:spLocks noChangeArrowheads="1"/>
              </p:cNvSpPr>
              <p:nvPr>
                <p:custDataLst>
                  <p:tags r:id="rId13"/>
                </p:custDataLst>
              </p:nvPr>
            </p:nvSpPr>
            <p:spPr bwMode="auto">
              <a:xfrm>
                <a:off x="2400" y="3552"/>
                <a:ext cx="768" cy="233"/>
              </a:xfrm>
              <a:prstGeom prst="rect">
                <a:avLst/>
              </a:prstGeom>
              <a:noFill/>
              <a:ln w="9525">
                <a:noFill/>
                <a:miter lim="800000"/>
              </a:ln>
              <a:effectLst/>
            </p:spPr>
            <p:txBody>
              <a:bodyPr>
                <a:spAutoFit/>
              </a:bodyPr>
              <a:lstStyle/>
              <a:p>
                <a:pPr algn="ctr">
                  <a:spcBef>
                    <a:spcPct val="50000"/>
                  </a:spcBef>
                </a:pPr>
                <a:r>
                  <a:rPr kumimoji="1" lang="zh-CN" altLang="en-US" dirty="0">
                    <a:solidFill>
                      <a:srgbClr val="EF2F09"/>
                    </a:solidFill>
                    <a:latin typeface="Times New Roman" panose="02020603050405020304" pitchFamily="18" charset="0"/>
                    <a:ea typeface="仿宋_GB2312" pitchFamily="49" charset="-122"/>
                  </a:rPr>
                  <a:t>对偶的本质</a:t>
                </a:r>
                <a:endParaRPr kumimoji="1" lang="zh-CN" altLang="en-US" dirty="0">
                  <a:solidFill>
                    <a:srgbClr val="EF2F09"/>
                  </a:solidFill>
                  <a:latin typeface="Times New Roman" panose="02020603050405020304" pitchFamily="18" charset="0"/>
                  <a:ea typeface="仿宋_GB2312" pitchFamily="49" charset="-122"/>
                </a:endParaRPr>
              </a:p>
            </p:txBody>
          </p:sp>
        </p:grpSp>
        <p:grpSp>
          <p:nvGrpSpPr>
            <p:cNvPr id="28" name="Group 19"/>
            <p:cNvGrpSpPr/>
            <p:nvPr/>
          </p:nvGrpSpPr>
          <p:grpSpPr bwMode="auto">
            <a:xfrm>
              <a:off x="2400" y="1296"/>
              <a:ext cx="1152" cy="624"/>
              <a:chOff x="2400" y="1488"/>
              <a:chExt cx="790" cy="624"/>
            </a:xfrm>
          </p:grpSpPr>
          <p:sp>
            <p:nvSpPr>
              <p:cNvPr id="29" name="AutoShape 20"/>
              <p:cNvSpPr>
                <a:spLocks noChangeArrowheads="1"/>
              </p:cNvSpPr>
              <p:nvPr>
                <p:custDataLst>
                  <p:tags r:id="rId14"/>
                </p:custDataLst>
              </p:nvPr>
            </p:nvSpPr>
            <p:spPr bwMode="auto">
              <a:xfrm>
                <a:off x="2400" y="1776"/>
                <a:ext cx="790" cy="336"/>
              </a:xfrm>
              <a:prstGeom prst="rightArrow">
                <a:avLst>
                  <a:gd name="adj1" fmla="val 50000"/>
                  <a:gd name="adj2" fmla="val 58780"/>
                </a:avLst>
              </a:prstGeom>
              <a:solidFill>
                <a:schemeClr val="accent1"/>
              </a:solidFill>
              <a:ln w="9525">
                <a:solidFill>
                  <a:schemeClr val="tx1"/>
                </a:solidFill>
                <a:miter lim="800000"/>
              </a:ln>
              <a:effectLst/>
            </p:spPr>
            <p:txBody>
              <a:bodyPr wrap="none" anchor="ctr"/>
              <a:lstStyle/>
              <a:p>
                <a:endParaRPr lang="zh-CN" altLang="en-US"/>
              </a:p>
            </p:txBody>
          </p:sp>
          <p:sp>
            <p:nvSpPr>
              <p:cNvPr id="30" name="Text Box 21"/>
              <p:cNvSpPr txBox="1">
                <a:spLocks noChangeArrowheads="1"/>
              </p:cNvSpPr>
              <p:nvPr>
                <p:custDataLst>
                  <p:tags r:id="rId15"/>
                </p:custDataLst>
              </p:nvPr>
            </p:nvSpPr>
            <p:spPr bwMode="auto">
              <a:xfrm>
                <a:off x="2400" y="1488"/>
                <a:ext cx="768" cy="233"/>
              </a:xfrm>
              <a:prstGeom prst="rect">
                <a:avLst/>
              </a:prstGeom>
              <a:noFill/>
              <a:ln w="9525">
                <a:noFill/>
                <a:miter lim="800000"/>
              </a:ln>
              <a:effectLst/>
            </p:spPr>
            <p:txBody>
              <a:bodyPr>
                <a:spAutoFit/>
              </a:bodyPr>
              <a:lstStyle/>
              <a:p>
                <a:pPr algn="ctr">
                  <a:spcBef>
                    <a:spcPct val="50000"/>
                  </a:spcBef>
                </a:pPr>
                <a:r>
                  <a:rPr kumimoji="1" lang="zh-CN" altLang="en-US" dirty="0">
                    <a:solidFill>
                      <a:srgbClr val="EF2F09"/>
                    </a:solidFill>
                    <a:latin typeface="Times New Roman" panose="02020603050405020304" pitchFamily="18" charset="0"/>
                    <a:ea typeface="仿宋_GB2312" pitchFamily="49" charset="-122"/>
                  </a:rPr>
                  <a:t>对偶的本质</a:t>
                </a:r>
                <a:endParaRPr kumimoji="1" lang="zh-CN" altLang="en-US" dirty="0">
                  <a:solidFill>
                    <a:srgbClr val="EF2F09"/>
                  </a:solidFill>
                  <a:latin typeface="Times New Roman" panose="02020603050405020304" pitchFamily="18" charset="0"/>
                  <a:ea typeface="仿宋_GB2312" pitchFamily="49" charset="-122"/>
                </a:endParaRPr>
              </a:p>
            </p:txBody>
          </p:sp>
        </p:gr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36" name="Rectangle 3"/>
          <p:cNvSpPr txBox="1">
            <a:spLocks noChangeArrowheads="1"/>
          </p:cNvSpPr>
          <p:nvPr/>
        </p:nvSpPr>
        <p:spPr>
          <a:xfrm>
            <a:off x="251520" y="1166018"/>
            <a:ext cx="84582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90000"/>
              </a:lnSpc>
            </a:pPr>
            <a:r>
              <a:rPr lang="zh-CN" altLang="en-US" b="1" dirty="0"/>
              <a:t>对偶问题（</a:t>
            </a:r>
            <a:r>
              <a:rPr lang="en-US" altLang="zh-CN" b="1" dirty="0"/>
              <a:t>B</a:t>
            </a:r>
            <a:r>
              <a:rPr lang="zh-CN" altLang="en-US" b="1" dirty="0"/>
              <a:t>）的对偶规划为线性规划（</a:t>
            </a:r>
            <a:r>
              <a:rPr lang="en-US" altLang="zh-CN" b="1" dirty="0"/>
              <a:t>A</a:t>
            </a:r>
            <a:r>
              <a:rPr lang="zh-CN" altLang="en-US" b="1" dirty="0"/>
              <a:t>）</a:t>
            </a:r>
            <a:endParaRPr lang="zh-CN" altLang="en-US" dirty="0"/>
          </a:p>
          <a:p>
            <a:pPr lvl="1">
              <a:lnSpc>
                <a:spcPct val="90000"/>
              </a:lnSpc>
            </a:pPr>
            <a:endParaRPr lang="zh-CN" altLang="en-US" dirty="0"/>
          </a:p>
          <a:p>
            <a:pPr lvl="1">
              <a:lnSpc>
                <a:spcPct val="150000"/>
              </a:lnSpc>
            </a:pPr>
            <a:r>
              <a:rPr lang="zh-CN" altLang="en-US" sz="2400" dirty="0"/>
              <a:t>它表明原规划问题（</a:t>
            </a:r>
            <a:r>
              <a:rPr lang="en-US" altLang="zh-CN" sz="2400" dirty="0"/>
              <a:t>A</a:t>
            </a:r>
            <a:r>
              <a:rPr lang="zh-CN" altLang="en-US" sz="2400" dirty="0"/>
              <a:t>）和对偶规划问题（</a:t>
            </a:r>
            <a:r>
              <a:rPr lang="en-US" altLang="zh-CN" sz="2400" dirty="0"/>
              <a:t>B</a:t>
            </a:r>
            <a:r>
              <a:rPr lang="zh-CN" altLang="en-US" sz="2400" dirty="0"/>
              <a:t>）是互为对偶的。也就是说，如果（</a:t>
            </a:r>
            <a:r>
              <a:rPr lang="en-US" altLang="zh-CN" sz="2400" dirty="0"/>
              <a:t>B</a:t>
            </a:r>
            <a:r>
              <a:rPr lang="zh-CN" altLang="en-US" sz="2400" dirty="0"/>
              <a:t>）是（</a:t>
            </a:r>
            <a:r>
              <a:rPr lang="en-US" altLang="zh-CN" sz="2400" dirty="0"/>
              <a:t>A</a:t>
            </a:r>
            <a:r>
              <a:rPr lang="zh-CN" altLang="en-US" sz="2400" dirty="0"/>
              <a:t>）的对偶，那么（</a:t>
            </a:r>
            <a:r>
              <a:rPr lang="en-US" altLang="zh-CN" sz="2400" dirty="0"/>
              <a:t>A</a:t>
            </a:r>
            <a:r>
              <a:rPr lang="zh-CN" altLang="en-US" sz="2400" dirty="0"/>
              <a:t>）也是（</a:t>
            </a:r>
            <a:r>
              <a:rPr lang="en-US" altLang="zh-CN" sz="2400" dirty="0"/>
              <a:t>B</a:t>
            </a:r>
            <a:r>
              <a:rPr lang="zh-CN" altLang="en-US" sz="2400" dirty="0"/>
              <a:t>）的对偶。这就为以后的讨论带来方便。不难理解，如果当</a:t>
            </a:r>
            <a:r>
              <a:rPr lang="en-US" altLang="zh-CN" sz="2400" dirty="0"/>
              <a:t>A</a:t>
            </a:r>
            <a:r>
              <a:rPr lang="zh-CN" altLang="en-US" sz="2400" dirty="0"/>
              <a:t>具有某种性质时可以推出</a:t>
            </a:r>
            <a:r>
              <a:rPr lang="en-US" altLang="zh-CN" sz="2400" dirty="0"/>
              <a:t>B</a:t>
            </a:r>
            <a:r>
              <a:rPr lang="zh-CN" altLang="en-US" sz="2400" dirty="0"/>
              <a:t>的某些性质，于是可以无需另加证明地得到：当</a:t>
            </a:r>
            <a:r>
              <a:rPr lang="en-US" altLang="zh-CN" sz="2400" dirty="0"/>
              <a:t>B</a:t>
            </a:r>
            <a:r>
              <a:rPr lang="zh-CN" altLang="en-US" sz="2400" dirty="0"/>
              <a:t>具有某种性质时，问题</a:t>
            </a:r>
            <a:r>
              <a:rPr lang="en-US" altLang="zh-CN" sz="2400" dirty="0"/>
              <a:t>A</a:t>
            </a:r>
            <a:r>
              <a:rPr lang="zh-CN" altLang="en-US" sz="2400" dirty="0"/>
              <a:t>也具有那些性质。</a:t>
            </a:r>
            <a:endParaRPr lang="zh-CN" altLang="en-US" sz="2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30" name="Text Box 4"/>
          <p:cNvSpPr txBox="1">
            <a:spLocks noChangeArrowheads="1"/>
          </p:cNvSpPr>
          <p:nvPr/>
        </p:nvSpPr>
        <p:spPr bwMode="auto">
          <a:xfrm>
            <a:off x="642910" y="1142984"/>
            <a:ext cx="6643734" cy="584775"/>
          </a:xfrm>
          <a:prstGeom prst="rect">
            <a:avLst/>
          </a:prstGeom>
          <a:solidFill>
            <a:schemeClr val="bg1"/>
          </a:solidFill>
          <a:ln w="9525">
            <a:noFill/>
            <a:miter lim="800000"/>
          </a:ln>
        </p:spPr>
        <p:txBody>
          <a:bodyPr wrap="square">
            <a:spAutoFit/>
          </a:bodyPr>
          <a:lstStyle/>
          <a:p>
            <a:pPr>
              <a:spcBef>
                <a:spcPct val="50000"/>
              </a:spcBef>
            </a:pPr>
            <a:r>
              <a:rPr lang="zh-CN" altLang="en-US" sz="3200" b="1" dirty="0">
                <a:solidFill>
                  <a:srgbClr val="000000"/>
                </a:solidFill>
              </a:rPr>
              <a:t>例</a:t>
            </a:r>
            <a:r>
              <a:rPr lang="en-US" altLang="zh-CN" sz="3200" b="1" dirty="0">
                <a:solidFill>
                  <a:srgbClr val="000000"/>
                </a:solidFill>
              </a:rPr>
              <a:t>1</a:t>
            </a:r>
            <a:r>
              <a:rPr lang="zh-CN" altLang="en-US" sz="3200" b="1" dirty="0">
                <a:solidFill>
                  <a:srgbClr val="000000"/>
                </a:solidFill>
              </a:rPr>
              <a:t>：写出下列问题的对偶问题 </a:t>
            </a:r>
            <a:endParaRPr lang="zh-CN" altLang="en-US" sz="3200" b="1" dirty="0">
              <a:solidFill>
                <a:srgbClr val="000000"/>
              </a:solidFill>
            </a:endParaRPr>
          </a:p>
        </p:txBody>
      </p:sp>
      <p:graphicFrame>
        <p:nvGraphicFramePr>
          <p:cNvPr id="129027" name="Object 4"/>
          <p:cNvGraphicFramePr>
            <a:graphicFrameLocks noChangeAspect="1"/>
          </p:cNvGraphicFramePr>
          <p:nvPr/>
        </p:nvGraphicFramePr>
        <p:xfrm>
          <a:off x="1785918" y="1857364"/>
          <a:ext cx="5092700" cy="3619500"/>
        </p:xfrm>
        <a:graphic>
          <a:graphicData uri="http://schemas.openxmlformats.org/presentationml/2006/ole">
            <mc:AlternateContent xmlns:mc="http://schemas.openxmlformats.org/markup-compatibility/2006">
              <mc:Choice xmlns:v="urn:schemas-microsoft-com:vml" Requires="v">
                <p:oleObj spid="_x0000_s14337" name="公式" r:id="rId1" imgW="48158400" imgH="34137600" progId="Equation.3">
                  <p:embed/>
                </p:oleObj>
              </mc:Choice>
              <mc:Fallback>
                <p:oleObj name="公式" r:id="rId1" imgW="48158400" imgH="34137600" progId="Equation.3">
                  <p:embed/>
                  <p:pic>
                    <p:nvPicPr>
                      <p:cNvPr id="0" name="图片 14336"/>
                      <p:cNvPicPr>
                        <a:picLocks noChangeAspect="1"/>
                      </p:cNvPicPr>
                      <p:nvPr/>
                    </p:nvPicPr>
                    <p:blipFill>
                      <a:blip r:embed="rId2"/>
                      <a:stretch>
                        <a:fillRect/>
                      </a:stretch>
                    </p:blipFill>
                    <p:spPr>
                      <a:xfrm>
                        <a:off x="1785918" y="1857364"/>
                        <a:ext cx="5092700" cy="36195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graphicFrame>
        <p:nvGraphicFramePr>
          <p:cNvPr id="10" name="Object 4"/>
          <p:cNvGraphicFramePr>
            <a:graphicFrameLocks noChangeAspect="1"/>
          </p:cNvGraphicFramePr>
          <p:nvPr/>
        </p:nvGraphicFramePr>
        <p:xfrm>
          <a:off x="5062538" y="1674813"/>
          <a:ext cx="3941762" cy="3527425"/>
        </p:xfrm>
        <a:graphic>
          <a:graphicData uri="http://schemas.openxmlformats.org/presentationml/2006/ole">
            <mc:AlternateContent xmlns:mc="http://schemas.openxmlformats.org/markup-compatibility/2006">
              <mc:Choice xmlns:v="urn:schemas-microsoft-com:vml" Requires="v">
                <p:oleObj spid="_x0000_s15361" name="公式" r:id="rId1" imgW="44196000" imgH="39624000" progId="Equation.3">
                  <p:embed/>
                </p:oleObj>
              </mc:Choice>
              <mc:Fallback>
                <p:oleObj name="公式" r:id="rId1" imgW="44196000" imgH="39624000" progId="Equation.3">
                  <p:embed/>
                  <p:pic>
                    <p:nvPicPr>
                      <p:cNvPr id="0" name="图片 15360"/>
                      <p:cNvPicPr>
                        <a:picLocks noChangeAspect="1"/>
                      </p:cNvPicPr>
                      <p:nvPr/>
                    </p:nvPicPr>
                    <p:blipFill>
                      <a:blip r:embed="rId2"/>
                      <a:stretch>
                        <a:fillRect/>
                      </a:stretch>
                    </p:blipFill>
                    <p:spPr>
                      <a:xfrm>
                        <a:off x="5062538" y="1674813"/>
                        <a:ext cx="3941762" cy="3527425"/>
                      </a:xfrm>
                      <a:prstGeom prst="rect">
                        <a:avLst/>
                      </a:prstGeom>
                      <a:noFill/>
                      <a:ln w="9525">
                        <a:noFill/>
                      </a:ln>
                    </p:spPr>
                  </p:pic>
                </p:oleObj>
              </mc:Fallback>
            </mc:AlternateContent>
          </a:graphicData>
        </a:graphic>
      </p:graphicFrame>
      <p:sp>
        <p:nvSpPr>
          <p:cNvPr id="11" name="Line 8"/>
          <p:cNvSpPr>
            <a:spLocks noChangeShapeType="1"/>
          </p:cNvSpPr>
          <p:nvPr/>
        </p:nvSpPr>
        <p:spPr bwMode="auto">
          <a:xfrm>
            <a:off x="4071934" y="3429000"/>
            <a:ext cx="838200" cy="0"/>
          </a:xfrm>
          <a:prstGeom prst="line">
            <a:avLst/>
          </a:prstGeom>
          <a:noFill/>
          <a:ln w="57150" cmpd="thinThick">
            <a:solidFill>
              <a:srgbClr val="FF0000"/>
            </a:solidFill>
            <a:round/>
            <a:tailEnd type="triangle" w="med" len="med"/>
          </a:ln>
        </p:spPr>
        <p:txBody>
          <a:bodyPr/>
          <a:lstStyle/>
          <a:p>
            <a:endParaRPr lang="zh-CN" altLang="en-US"/>
          </a:p>
        </p:txBody>
      </p:sp>
      <p:graphicFrame>
        <p:nvGraphicFramePr>
          <p:cNvPr id="130054" name="Object 4"/>
          <p:cNvGraphicFramePr>
            <a:graphicFrameLocks noChangeAspect="1"/>
          </p:cNvGraphicFramePr>
          <p:nvPr/>
        </p:nvGraphicFramePr>
        <p:xfrm>
          <a:off x="285720" y="2071678"/>
          <a:ext cx="3735410" cy="2654843"/>
        </p:xfrm>
        <a:graphic>
          <a:graphicData uri="http://schemas.openxmlformats.org/presentationml/2006/ole">
            <mc:AlternateContent xmlns:mc="http://schemas.openxmlformats.org/markup-compatibility/2006">
              <mc:Choice xmlns:v="urn:schemas-microsoft-com:vml" Requires="v">
                <p:oleObj spid="_x0000_s15362" name="公式" r:id="rId3" imgW="48158400" imgH="34137600" progId="Equation.3">
                  <p:embed/>
                </p:oleObj>
              </mc:Choice>
              <mc:Fallback>
                <p:oleObj name="公式" r:id="rId3" imgW="48158400" imgH="34137600" progId="Equation.3">
                  <p:embed/>
                  <p:pic>
                    <p:nvPicPr>
                      <p:cNvPr id="0" name="图片 15361"/>
                      <p:cNvPicPr>
                        <a:picLocks noChangeAspect="1"/>
                      </p:cNvPicPr>
                      <p:nvPr/>
                    </p:nvPicPr>
                    <p:blipFill>
                      <a:blip r:embed="rId4"/>
                      <a:stretch>
                        <a:fillRect/>
                      </a:stretch>
                    </p:blipFill>
                    <p:spPr>
                      <a:xfrm>
                        <a:off x="285720" y="2071678"/>
                        <a:ext cx="3735410" cy="2654843"/>
                      </a:xfrm>
                      <a:prstGeom prst="rect">
                        <a:avLst/>
                      </a:prstGeom>
                      <a:noFill/>
                      <a:ln w="9525">
                        <a:noFill/>
                      </a:ln>
                    </p:spPr>
                  </p:pic>
                </p:oleObj>
              </mc:Fallback>
            </mc:AlternateContent>
          </a:graphicData>
        </a:graphic>
      </p:graphicFrame>
      <p:pic>
        <p:nvPicPr>
          <p:cNvPr id="3" name="图片 2"/>
          <p:cNvPicPr>
            <a:picLocks noChangeAspect="1"/>
          </p:cNvPicPr>
          <p:nvPr/>
        </p:nvPicPr>
        <p:blipFill>
          <a:blip r:embed="rId5"/>
          <a:stretch>
            <a:fillRect/>
          </a:stretch>
        </p:blipFill>
        <p:spPr>
          <a:xfrm>
            <a:off x="5580150" y="5373395"/>
            <a:ext cx="2523963" cy="408467"/>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30" name="Text Box 4"/>
          <p:cNvSpPr txBox="1">
            <a:spLocks noChangeArrowheads="1"/>
          </p:cNvSpPr>
          <p:nvPr/>
        </p:nvSpPr>
        <p:spPr bwMode="auto">
          <a:xfrm>
            <a:off x="642910" y="1142984"/>
            <a:ext cx="6643734" cy="584775"/>
          </a:xfrm>
          <a:prstGeom prst="rect">
            <a:avLst/>
          </a:prstGeom>
          <a:solidFill>
            <a:schemeClr val="bg1"/>
          </a:solidFill>
          <a:ln w="9525">
            <a:noFill/>
            <a:miter lim="800000"/>
          </a:ln>
        </p:spPr>
        <p:txBody>
          <a:bodyPr wrap="square">
            <a:spAutoFit/>
          </a:bodyPr>
          <a:lstStyle/>
          <a:p>
            <a:pPr>
              <a:spcBef>
                <a:spcPct val="50000"/>
              </a:spcBef>
            </a:pPr>
            <a:r>
              <a:rPr lang="zh-CN" altLang="en-US" sz="3200" b="1" dirty="0">
                <a:solidFill>
                  <a:srgbClr val="000000"/>
                </a:solidFill>
              </a:rPr>
              <a:t>例</a:t>
            </a:r>
            <a:r>
              <a:rPr lang="en-US" altLang="zh-CN" sz="3200" b="1" dirty="0">
                <a:solidFill>
                  <a:srgbClr val="000000"/>
                </a:solidFill>
              </a:rPr>
              <a:t>2</a:t>
            </a:r>
            <a:r>
              <a:rPr lang="zh-CN" altLang="en-US" sz="3200" b="1" dirty="0">
                <a:solidFill>
                  <a:srgbClr val="000000"/>
                </a:solidFill>
              </a:rPr>
              <a:t>：写出下列问题的对偶问题 </a:t>
            </a:r>
            <a:endParaRPr lang="zh-CN" altLang="en-US" sz="3200" b="1" dirty="0">
              <a:solidFill>
                <a:srgbClr val="000000"/>
              </a:solidFill>
            </a:endParaRPr>
          </a:p>
        </p:txBody>
      </p:sp>
      <p:graphicFrame>
        <p:nvGraphicFramePr>
          <p:cNvPr id="5" name="Object 4"/>
          <p:cNvGraphicFramePr>
            <a:graphicFrameLocks noChangeAspect="1"/>
          </p:cNvGraphicFramePr>
          <p:nvPr/>
        </p:nvGraphicFramePr>
        <p:xfrm>
          <a:off x="2133600" y="1981200"/>
          <a:ext cx="4800600" cy="3676650"/>
        </p:xfrm>
        <a:graphic>
          <a:graphicData uri="http://schemas.openxmlformats.org/presentationml/2006/ole">
            <mc:AlternateContent xmlns:mc="http://schemas.openxmlformats.org/markup-compatibility/2006">
              <mc:Choice xmlns:v="urn:schemas-microsoft-com:vml" Requires="v">
                <p:oleObj spid="_x0000_s16385" name="公式" r:id="rId1" imgW="42976800" imgH="32918400" progId="Equation.3">
                  <p:embed/>
                </p:oleObj>
              </mc:Choice>
              <mc:Fallback>
                <p:oleObj name="公式" r:id="rId1" imgW="42976800" imgH="32918400" progId="Equation.3">
                  <p:embed/>
                  <p:pic>
                    <p:nvPicPr>
                      <p:cNvPr id="0" name="图片 16384"/>
                      <p:cNvPicPr>
                        <a:picLocks noChangeAspect="1"/>
                      </p:cNvPicPr>
                      <p:nvPr/>
                    </p:nvPicPr>
                    <p:blipFill>
                      <a:blip r:embed="rId2"/>
                      <a:stretch>
                        <a:fillRect/>
                      </a:stretch>
                    </p:blipFill>
                    <p:spPr>
                      <a:xfrm>
                        <a:off x="2133600" y="1981200"/>
                        <a:ext cx="4800600" cy="36766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graphicFrame>
        <p:nvGraphicFramePr>
          <p:cNvPr id="6" name="Object 4"/>
          <p:cNvGraphicFramePr>
            <a:graphicFrameLocks noChangeAspect="1"/>
          </p:cNvGraphicFramePr>
          <p:nvPr/>
        </p:nvGraphicFramePr>
        <p:xfrm>
          <a:off x="5257043" y="1956593"/>
          <a:ext cx="3733800" cy="2814638"/>
        </p:xfrm>
        <a:graphic>
          <a:graphicData uri="http://schemas.openxmlformats.org/presentationml/2006/ole">
            <mc:AlternateContent xmlns:mc="http://schemas.openxmlformats.org/markup-compatibility/2006">
              <mc:Choice xmlns:v="urn:schemas-microsoft-com:vml" Requires="v">
                <p:oleObj spid="_x0000_s17409" name="公式" r:id="rId1" imgW="43586400" imgH="32918400" progId="Equation.3">
                  <p:embed/>
                </p:oleObj>
              </mc:Choice>
              <mc:Fallback>
                <p:oleObj name="公式" r:id="rId1" imgW="43586400" imgH="32918400" progId="Equation.3">
                  <p:embed/>
                  <p:pic>
                    <p:nvPicPr>
                      <p:cNvPr id="0" name="图片 17408"/>
                      <p:cNvPicPr>
                        <a:picLocks noChangeAspect="1"/>
                      </p:cNvPicPr>
                      <p:nvPr/>
                    </p:nvPicPr>
                    <p:blipFill>
                      <a:blip r:embed="rId2"/>
                      <a:stretch>
                        <a:fillRect/>
                      </a:stretch>
                    </p:blipFill>
                    <p:spPr>
                      <a:xfrm>
                        <a:off x="5257043" y="1956593"/>
                        <a:ext cx="3733800" cy="2814638"/>
                      </a:xfrm>
                      <a:prstGeom prst="rect">
                        <a:avLst/>
                      </a:prstGeom>
                      <a:noFill/>
                      <a:ln w="9525">
                        <a:noFill/>
                      </a:ln>
                    </p:spPr>
                  </p:pic>
                </p:oleObj>
              </mc:Fallback>
            </mc:AlternateContent>
          </a:graphicData>
        </a:graphic>
      </p:graphicFrame>
      <p:graphicFrame>
        <p:nvGraphicFramePr>
          <p:cNvPr id="7" name="Object 6"/>
          <p:cNvGraphicFramePr>
            <a:graphicFrameLocks noGrp="1" noChangeAspect="1"/>
          </p:cNvGraphicFramePr>
          <p:nvPr>
            <p:ph idx="1"/>
          </p:nvPr>
        </p:nvGraphicFramePr>
        <p:xfrm>
          <a:off x="323528" y="2086768"/>
          <a:ext cx="3505200" cy="2684463"/>
        </p:xfrm>
        <a:graphic>
          <a:graphicData uri="http://schemas.openxmlformats.org/presentationml/2006/ole">
            <mc:AlternateContent xmlns:mc="http://schemas.openxmlformats.org/markup-compatibility/2006">
              <mc:Choice xmlns:v="urn:schemas-microsoft-com:vml" Requires="v">
                <p:oleObj spid="_x0000_s17410" name="公式" r:id="rId3" imgW="42976800" imgH="32918400" progId="Equation.3">
                  <p:embed/>
                </p:oleObj>
              </mc:Choice>
              <mc:Fallback>
                <p:oleObj name="公式" r:id="rId3" imgW="42976800" imgH="32918400" progId="Equation.3">
                  <p:embed/>
                  <p:pic>
                    <p:nvPicPr>
                      <p:cNvPr id="0" name="图片 17409"/>
                      <p:cNvPicPr>
                        <a:picLocks noGrp="1" noChangeAspect="1"/>
                      </p:cNvPicPr>
                      <p:nvPr/>
                    </p:nvPicPr>
                    <p:blipFill>
                      <a:blip r:embed="rId4"/>
                      <a:stretch>
                        <a:fillRect/>
                      </a:stretch>
                    </p:blipFill>
                    <p:spPr>
                      <a:xfrm>
                        <a:off x="323528" y="2086768"/>
                        <a:ext cx="3505200" cy="2684463"/>
                      </a:xfrm>
                      <a:prstGeom prst="rect">
                        <a:avLst/>
                      </a:prstGeom>
                      <a:noFill/>
                      <a:ln w="9525">
                        <a:noFill/>
                      </a:ln>
                    </p:spPr>
                  </p:pic>
                </p:oleObj>
              </mc:Fallback>
            </mc:AlternateContent>
          </a:graphicData>
        </a:graphic>
      </p:graphicFrame>
      <p:sp>
        <p:nvSpPr>
          <p:cNvPr id="9" name="Line 8"/>
          <p:cNvSpPr>
            <a:spLocks noChangeShapeType="1"/>
          </p:cNvSpPr>
          <p:nvPr/>
        </p:nvSpPr>
        <p:spPr bwMode="auto">
          <a:xfrm>
            <a:off x="3828728" y="3429000"/>
            <a:ext cx="838200" cy="0"/>
          </a:xfrm>
          <a:prstGeom prst="line">
            <a:avLst/>
          </a:prstGeom>
          <a:noFill/>
          <a:ln w="57150" cmpd="thinThick">
            <a:solidFill>
              <a:srgbClr val="FF0000"/>
            </a:solidFill>
            <a:round/>
            <a:tailEnd type="triangle" w="med" len="med"/>
          </a:ln>
        </p:spPr>
        <p:txBody>
          <a:bodyPr/>
          <a:lstStyle/>
          <a:p>
            <a:endParaRPr lang="zh-CN" altLang="en-US"/>
          </a:p>
        </p:txBody>
      </p:sp>
      <p:pic>
        <p:nvPicPr>
          <p:cNvPr id="3" name="图片 2"/>
          <p:cNvPicPr>
            <a:picLocks noChangeAspect="1"/>
          </p:cNvPicPr>
          <p:nvPr/>
        </p:nvPicPr>
        <p:blipFill>
          <a:blip r:embed="rId5"/>
          <a:stretch>
            <a:fillRect/>
          </a:stretch>
        </p:blipFill>
        <p:spPr>
          <a:xfrm>
            <a:off x="5796050" y="5373395"/>
            <a:ext cx="2523963" cy="408467"/>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7" name="Line 4"/>
          <p:cNvSpPr>
            <a:spLocks noChangeShapeType="1"/>
          </p:cNvSpPr>
          <p:nvPr/>
        </p:nvSpPr>
        <p:spPr bwMode="auto">
          <a:xfrm>
            <a:off x="228600" y="914400"/>
            <a:ext cx="8534400" cy="0"/>
          </a:xfrm>
          <a:prstGeom prst="line">
            <a:avLst/>
          </a:prstGeom>
          <a:noFill/>
          <a:ln w="57150" cmpd="thickThin">
            <a:solidFill>
              <a:srgbClr val="660066"/>
            </a:solidFill>
            <a:round/>
          </a:ln>
          <a:extLst>
            <a:ext uri="{909E8E84-426E-40DD-AFC4-6F175D3DCCD1}">
              <a14:hiddenFill xmlns:a14="http://schemas.microsoft.com/office/drawing/2010/main">
                <a:noFill/>
              </a14:hiddenFill>
            </a:ext>
          </a:extLst>
        </p:spPr>
        <p:txBody>
          <a:bodyPr/>
          <a:lstStyle/>
          <a:p>
            <a:endParaRPr lang="x-none"/>
          </a:p>
        </p:txBody>
      </p:sp>
      <p:sp>
        <p:nvSpPr>
          <p:cNvPr id="17" name="Text Box 2"/>
          <p:cNvSpPr txBox="1">
            <a:spLocks noChangeArrowheads="1"/>
          </p:cNvSpPr>
          <p:nvPr/>
        </p:nvSpPr>
        <p:spPr bwMode="auto">
          <a:xfrm>
            <a:off x="838200" y="1260525"/>
            <a:ext cx="4233866" cy="525401"/>
          </a:xfrm>
          <a:prstGeom prst="rect">
            <a:avLst/>
          </a:prstGeom>
          <a:noFill/>
          <a:ln w="38100">
            <a:solidFill>
              <a:schemeClr val="hlink"/>
            </a:solidFill>
            <a:miter lim="800000"/>
          </a:ln>
          <a:effectLst/>
        </p:spPr>
        <p:txBody>
          <a:bodyPr wrap="square" lIns="90000" tIns="46800" rIns="90000" bIns="46800">
            <a:spAutoFit/>
          </a:bodyPr>
          <a:lstStyle/>
          <a:p>
            <a:pPr algn="ctr">
              <a:spcBef>
                <a:spcPct val="50000"/>
              </a:spcBef>
            </a:pPr>
            <a:r>
              <a:rPr kumimoji="1" lang="zh-CN" altLang="en-US" sz="2800" b="1" u="sng" dirty="0">
                <a:solidFill>
                  <a:srgbClr val="EF2F09"/>
                </a:solidFill>
                <a:latin typeface="仿宋_GB2312" pitchFamily="49" charset="-122"/>
                <a:ea typeface="仿宋_GB2312" pitchFamily="49" charset="-122"/>
              </a:rPr>
              <a:t>定理</a:t>
            </a:r>
            <a:r>
              <a:rPr kumimoji="1" lang="en-US" altLang="zh-CN" sz="2800" b="1" u="sng" dirty="0">
                <a:solidFill>
                  <a:srgbClr val="EF2F09"/>
                </a:solidFill>
                <a:latin typeface="仿宋_GB2312" pitchFamily="49" charset="-122"/>
                <a:ea typeface="仿宋_GB2312" pitchFamily="49" charset="-122"/>
              </a:rPr>
              <a:t>3.3</a:t>
            </a:r>
            <a:r>
              <a:rPr kumimoji="1" lang="en-US" altLang="zh-CN" sz="2800" b="1" dirty="0">
                <a:solidFill>
                  <a:srgbClr val="EF2F09"/>
                </a:solidFill>
                <a:latin typeface="仿宋_GB2312" pitchFamily="49" charset="-122"/>
                <a:ea typeface="仿宋_GB2312" pitchFamily="49" charset="-122"/>
              </a:rPr>
              <a:t> (</a:t>
            </a:r>
            <a:r>
              <a:rPr kumimoji="1" lang="zh-CN" altLang="en-US" sz="2800" b="1" dirty="0">
                <a:solidFill>
                  <a:srgbClr val="EF2F09"/>
                </a:solidFill>
                <a:latin typeface="仿宋_GB2312" pitchFamily="49" charset="-122"/>
                <a:ea typeface="仿宋_GB2312" pitchFamily="49" charset="-122"/>
              </a:rPr>
              <a:t>弱对偶定理</a:t>
            </a:r>
            <a:r>
              <a:rPr kumimoji="1" lang="en-US" altLang="zh-CN" sz="2800" b="1" dirty="0">
                <a:solidFill>
                  <a:srgbClr val="EF2F09"/>
                </a:solidFill>
                <a:latin typeface="仿宋_GB2312" pitchFamily="49" charset="-122"/>
                <a:ea typeface="仿宋_GB2312" pitchFamily="49" charset="-122"/>
              </a:rPr>
              <a:t>)</a:t>
            </a:r>
            <a:endParaRPr kumimoji="1" lang="en-US" altLang="zh-CN" sz="2800" b="1" dirty="0">
              <a:solidFill>
                <a:srgbClr val="EF2F09"/>
              </a:solidFill>
              <a:latin typeface="仿宋_GB2312" pitchFamily="49" charset="-122"/>
              <a:ea typeface="仿宋_GB2312" pitchFamily="49" charset="-122"/>
            </a:endParaRPr>
          </a:p>
        </p:txBody>
      </p:sp>
      <p:sp>
        <p:nvSpPr>
          <p:cNvPr id="114" name="Rectangle 3"/>
          <p:cNvSpPr txBox="1">
            <a:spLocks noChangeArrowheads="1"/>
          </p:cNvSpPr>
          <p:nvPr/>
        </p:nvSpPr>
        <p:spPr>
          <a:xfrm>
            <a:off x="457200" y="2209800"/>
            <a:ext cx="8229600" cy="2005012"/>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dirty="0"/>
              <a:t>当原问题</a:t>
            </a:r>
            <a:r>
              <a:rPr lang="en-US" altLang="zh-CN" dirty="0"/>
              <a:t>A</a:t>
            </a:r>
            <a:r>
              <a:rPr lang="zh-CN" altLang="en-US" dirty="0"/>
              <a:t>是求最大值</a:t>
            </a:r>
            <a:r>
              <a:rPr lang="en-US" altLang="zh-CN" dirty="0"/>
              <a:t>max</a:t>
            </a:r>
            <a:r>
              <a:rPr lang="zh-CN" altLang="en-US" dirty="0"/>
              <a:t>，而对偶问题是求最小值时，如果</a:t>
            </a:r>
            <a:r>
              <a:rPr lang="en-US" altLang="zh-CN" dirty="0"/>
              <a:t>X</a:t>
            </a:r>
            <a:r>
              <a:rPr lang="en-US" altLang="zh-CN" baseline="-25000" dirty="0"/>
              <a:t>0</a:t>
            </a:r>
            <a:r>
              <a:rPr lang="zh-CN" altLang="en-US" dirty="0"/>
              <a:t>是原问题的任意可行解，</a:t>
            </a:r>
            <a:r>
              <a:rPr lang="en-US" altLang="zh-CN" dirty="0"/>
              <a:t>Y</a:t>
            </a:r>
            <a:r>
              <a:rPr lang="en-US" altLang="zh-CN" baseline="-25000" dirty="0"/>
              <a:t>0</a:t>
            </a:r>
            <a:r>
              <a:rPr lang="zh-CN" altLang="en-US" dirty="0"/>
              <a:t>是对偶问题的任意可行解，则有以下关系式成立： </a:t>
            </a:r>
            <a:endParaRPr lang="zh-CN" altLang="en-US" dirty="0"/>
          </a:p>
        </p:txBody>
      </p:sp>
      <p:graphicFrame>
        <p:nvGraphicFramePr>
          <p:cNvPr id="116" name="Object 4"/>
          <p:cNvGraphicFramePr>
            <a:graphicFrameLocks noChangeAspect="1"/>
          </p:cNvGraphicFramePr>
          <p:nvPr/>
        </p:nvGraphicFramePr>
        <p:xfrm>
          <a:off x="3098006" y="4293096"/>
          <a:ext cx="2795588" cy="927100"/>
        </p:xfrm>
        <a:graphic>
          <a:graphicData uri="http://schemas.openxmlformats.org/presentationml/2006/ole">
            <mc:AlternateContent xmlns:mc="http://schemas.openxmlformats.org/markup-compatibility/2006">
              <mc:Choice xmlns:v="urn:schemas-microsoft-com:vml" Requires="v">
                <p:oleObj spid="_x0000_s18433" name="公式" r:id="rId1" imgW="16459200" imgH="5486400" progId="Equation.3">
                  <p:embed/>
                </p:oleObj>
              </mc:Choice>
              <mc:Fallback>
                <p:oleObj name="公式" r:id="rId1" imgW="16459200" imgH="5486400" progId="Equation.3">
                  <p:embed/>
                  <p:pic>
                    <p:nvPicPr>
                      <p:cNvPr id="0" name="图片 18432"/>
                      <p:cNvPicPr>
                        <a:picLocks noChangeAspect="1"/>
                      </p:cNvPicPr>
                      <p:nvPr/>
                    </p:nvPicPr>
                    <p:blipFill>
                      <a:blip r:embed="rId2"/>
                      <a:stretch>
                        <a:fillRect/>
                      </a:stretch>
                    </p:blipFill>
                    <p:spPr>
                      <a:xfrm>
                        <a:off x="3098006" y="4293096"/>
                        <a:ext cx="2795588" cy="9271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7" name="Line 4"/>
          <p:cNvSpPr>
            <a:spLocks noChangeShapeType="1"/>
          </p:cNvSpPr>
          <p:nvPr/>
        </p:nvSpPr>
        <p:spPr bwMode="auto">
          <a:xfrm>
            <a:off x="228600" y="914400"/>
            <a:ext cx="8534400" cy="0"/>
          </a:xfrm>
          <a:prstGeom prst="line">
            <a:avLst/>
          </a:prstGeom>
          <a:noFill/>
          <a:ln w="57150" cmpd="thickThin">
            <a:solidFill>
              <a:srgbClr val="660066"/>
            </a:solidFill>
            <a:round/>
          </a:ln>
          <a:extLst>
            <a:ext uri="{909E8E84-426E-40DD-AFC4-6F175D3DCCD1}">
              <a14:hiddenFill xmlns:a14="http://schemas.microsoft.com/office/drawing/2010/main">
                <a:noFill/>
              </a14:hiddenFill>
            </a:ext>
          </a:extLst>
        </p:spPr>
        <p:txBody>
          <a:bodyPr/>
          <a:lstStyle/>
          <a:p>
            <a:endParaRPr lang="x-none"/>
          </a:p>
        </p:txBody>
      </p:sp>
      <p:sp>
        <p:nvSpPr>
          <p:cNvPr id="17" name="Text Box 2"/>
          <p:cNvSpPr txBox="1">
            <a:spLocks noChangeArrowheads="1"/>
          </p:cNvSpPr>
          <p:nvPr/>
        </p:nvSpPr>
        <p:spPr bwMode="auto">
          <a:xfrm>
            <a:off x="838200" y="1260525"/>
            <a:ext cx="4233866" cy="525401"/>
          </a:xfrm>
          <a:prstGeom prst="rect">
            <a:avLst/>
          </a:prstGeom>
          <a:noFill/>
          <a:ln w="38100">
            <a:solidFill>
              <a:schemeClr val="hlink"/>
            </a:solidFill>
            <a:miter lim="800000"/>
          </a:ln>
          <a:effectLst/>
        </p:spPr>
        <p:txBody>
          <a:bodyPr wrap="square" lIns="90000" tIns="46800" rIns="90000" bIns="46800">
            <a:spAutoFit/>
          </a:bodyPr>
          <a:lstStyle/>
          <a:p>
            <a:pPr algn="ctr">
              <a:spcBef>
                <a:spcPct val="50000"/>
              </a:spcBef>
            </a:pPr>
            <a:r>
              <a:rPr kumimoji="1" lang="zh-CN" altLang="en-US" sz="2800" b="1" u="sng" dirty="0">
                <a:solidFill>
                  <a:srgbClr val="EF2F09"/>
                </a:solidFill>
                <a:latin typeface="仿宋_GB2312" pitchFamily="49" charset="-122"/>
                <a:ea typeface="仿宋_GB2312" pitchFamily="49" charset="-122"/>
              </a:rPr>
              <a:t>定理</a:t>
            </a:r>
            <a:r>
              <a:rPr kumimoji="1" lang="en-US" altLang="zh-CN" sz="2800" b="1" u="sng" dirty="0">
                <a:solidFill>
                  <a:srgbClr val="EF2F09"/>
                </a:solidFill>
                <a:latin typeface="仿宋_GB2312" pitchFamily="49" charset="-122"/>
                <a:ea typeface="仿宋_GB2312" pitchFamily="49" charset="-122"/>
              </a:rPr>
              <a:t>3.3</a:t>
            </a:r>
            <a:r>
              <a:rPr kumimoji="1" lang="en-US" altLang="zh-CN" sz="2800" b="1" dirty="0">
                <a:solidFill>
                  <a:srgbClr val="EF2F09"/>
                </a:solidFill>
                <a:latin typeface="仿宋_GB2312" pitchFamily="49" charset="-122"/>
                <a:ea typeface="仿宋_GB2312" pitchFamily="49" charset="-122"/>
              </a:rPr>
              <a:t> (</a:t>
            </a:r>
            <a:r>
              <a:rPr kumimoji="1" lang="zh-CN" altLang="en-US" sz="2800" b="1" dirty="0">
                <a:solidFill>
                  <a:srgbClr val="EF2F09"/>
                </a:solidFill>
                <a:latin typeface="仿宋_GB2312" pitchFamily="49" charset="-122"/>
                <a:ea typeface="仿宋_GB2312" pitchFamily="49" charset="-122"/>
              </a:rPr>
              <a:t>弱对偶定理</a:t>
            </a:r>
            <a:r>
              <a:rPr kumimoji="1" lang="en-US" altLang="zh-CN" sz="2800" b="1" dirty="0">
                <a:solidFill>
                  <a:srgbClr val="EF2F09"/>
                </a:solidFill>
                <a:latin typeface="仿宋_GB2312" pitchFamily="49" charset="-122"/>
                <a:ea typeface="仿宋_GB2312" pitchFamily="49" charset="-122"/>
              </a:rPr>
              <a:t>)</a:t>
            </a:r>
            <a:endParaRPr kumimoji="1" lang="en-US" altLang="zh-CN" sz="2800" b="1" dirty="0">
              <a:solidFill>
                <a:srgbClr val="EF2F09"/>
              </a:solidFill>
              <a:latin typeface="仿宋_GB2312" pitchFamily="49" charset="-122"/>
              <a:ea typeface="仿宋_GB2312" pitchFamily="49" charset="-122"/>
            </a:endParaRPr>
          </a:p>
        </p:txBody>
      </p:sp>
      <p:sp>
        <p:nvSpPr>
          <p:cNvPr id="18" name="Text Box 3"/>
          <p:cNvSpPr txBox="1">
            <a:spLocks noChangeArrowheads="1"/>
          </p:cNvSpPr>
          <p:nvPr/>
        </p:nvSpPr>
        <p:spPr bwMode="auto">
          <a:xfrm>
            <a:off x="1828800" y="2092341"/>
            <a:ext cx="7010400" cy="519113"/>
          </a:xfrm>
          <a:prstGeom prst="rect">
            <a:avLst/>
          </a:prstGeom>
          <a:noFill/>
          <a:ln w="9525">
            <a:noFill/>
            <a:miter lim="800000"/>
          </a:ln>
          <a:effectLst/>
        </p:spPr>
        <p:txBody>
          <a:bodyPr lIns="90000" tIns="46800" rIns="90000" bIns="46800">
            <a:spAutoFit/>
          </a:bodyPr>
          <a:lstStyle/>
          <a:p>
            <a:pPr>
              <a:spcBef>
                <a:spcPct val="50000"/>
              </a:spcBef>
            </a:pPr>
            <a:r>
              <a:rPr kumimoji="1" lang="zh-CN" altLang="zh-CN" sz="2800">
                <a:latin typeface="Times New Roman" panose="02020603050405020304" pitchFamily="18" charset="0"/>
              </a:rPr>
              <a:t>分别为</a:t>
            </a:r>
            <a:r>
              <a:rPr kumimoji="1" lang="en-US" altLang="zh-CN" sz="2800" i="1">
                <a:latin typeface="Times New Roman" panose="02020603050405020304" pitchFamily="18" charset="0"/>
              </a:rPr>
              <a:t>(P), (D)</a:t>
            </a:r>
            <a:r>
              <a:rPr kumimoji="1" lang="zh-CN" altLang="en-US" sz="2800">
                <a:latin typeface="Times New Roman" panose="02020603050405020304" pitchFamily="18" charset="0"/>
              </a:rPr>
              <a:t>的可行解，则有</a:t>
            </a:r>
            <a:r>
              <a:rPr kumimoji="1" lang="en-US" altLang="zh-CN" sz="2800" i="1">
                <a:latin typeface="Times New Roman" panose="02020603050405020304" pitchFamily="18" charset="0"/>
              </a:rPr>
              <a:t>C    </a:t>
            </a:r>
            <a:r>
              <a:rPr kumimoji="1" lang="en-US" altLang="zh-CN" sz="2800" i="1">
                <a:latin typeface="Times New Roman" panose="02020603050405020304" pitchFamily="18" charset="0"/>
                <a:sym typeface="Symbol" panose="05050102010706020507" pitchFamily="2" charset="2"/>
              </a:rPr>
              <a:t></a:t>
            </a:r>
            <a:r>
              <a:rPr kumimoji="1" lang="en-US" altLang="zh-CN" sz="2800" i="1">
                <a:latin typeface="Times New Roman" panose="02020603050405020304" pitchFamily="18" charset="0"/>
              </a:rPr>
              <a:t>     b</a:t>
            </a:r>
            <a:endParaRPr kumimoji="1" lang="en-US" altLang="zh-CN" sz="2800">
              <a:latin typeface="Times New Roman" panose="02020603050405020304" pitchFamily="18" charset="0"/>
            </a:endParaRPr>
          </a:p>
        </p:txBody>
      </p:sp>
      <p:grpSp>
        <p:nvGrpSpPr>
          <p:cNvPr id="19" name="Group 4"/>
          <p:cNvGrpSpPr/>
          <p:nvPr/>
        </p:nvGrpSpPr>
        <p:grpSpPr bwMode="auto">
          <a:xfrm>
            <a:off x="838200" y="2092341"/>
            <a:ext cx="417513" cy="642938"/>
            <a:chOff x="384" y="768"/>
            <a:chExt cx="263" cy="405"/>
          </a:xfrm>
        </p:grpSpPr>
        <p:grpSp>
          <p:nvGrpSpPr>
            <p:cNvPr id="20" name="Group 5"/>
            <p:cNvGrpSpPr/>
            <p:nvPr/>
          </p:nvGrpSpPr>
          <p:grpSpPr bwMode="auto">
            <a:xfrm>
              <a:off x="432" y="768"/>
              <a:ext cx="192" cy="96"/>
              <a:chOff x="432" y="672"/>
              <a:chExt cx="192" cy="96"/>
            </a:xfrm>
          </p:grpSpPr>
          <p:sp>
            <p:nvSpPr>
              <p:cNvPr id="22" name="Line 6"/>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23" name="Line 7"/>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21" name="Rectangle 8"/>
            <p:cNvSpPr>
              <a:spLocks noChangeArrowheads="1"/>
            </p:cNvSpPr>
            <p:nvPr/>
          </p:nvSpPr>
          <p:spPr bwMode="auto">
            <a:xfrm>
              <a:off x="384" y="846"/>
              <a:ext cx="263" cy="327"/>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X</a:t>
              </a:r>
              <a:endParaRPr kumimoji="1" lang="en-US" altLang="zh-CN" sz="2800" i="1">
                <a:latin typeface="Times New Roman" panose="02020603050405020304" pitchFamily="18" charset="0"/>
              </a:endParaRPr>
            </a:p>
          </p:txBody>
        </p:sp>
      </p:grpSp>
      <p:sp>
        <p:nvSpPr>
          <p:cNvPr id="24" name="Rectangle 9"/>
          <p:cNvSpPr>
            <a:spLocks noChangeArrowheads="1"/>
          </p:cNvSpPr>
          <p:nvPr/>
        </p:nvSpPr>
        <p:spPr bwMode="auto">
          <a:xfrm>
            <a:off x="1143000" y="2068529"/>
            <a:ext cx="539750" cy="519112"/>
          </a:xfrm>
          <a:prstGeom prst="rect">
            <a:avLst/>
          </a:prstGeom>
          <a:noFill/>
          <a:ln w="9525">
            <a:noFill/>
            <a:miter lim="800000"/>
          </a:ln>
          <a:effectLst/>
        </p:spPr>
        <p:txBody>
          <a:bodyPr wrap="none" lIns="90000" tIns="46800" rIns="90000" bIns="46800">
            <a:spAutoFit/>
          </a:bodyPr>
          <a:lstStyle/>
          <a:p>
            <a:pPr>
              <a:spcBef>
                <a:spcPct val="50000"/>
              </a:spcBef>
            </a:pPr>
            <a:r>
              <a:rPr kumimoji="1" lang="zh-CN" altLang="en-US" sz="2800">
                <a:latin typeface="Times New Roman" panose="02020603050405020304" pitchFamily="18" charset="0"/>
              </a:rPr>
              <a:t>，</a:t>
            </a:r>
            <a:endParaRPr kumimoji="1" lang="zh-CN" altLang="en-US" sz="2800">
              <a:latin typeface="Times New Roman" panose="02020603050405020304" pitchFamily="18" charset="0"/>
            </a:endParaRPr>
          </a:p>
        </p:txBody>
      </p:sp>
      <p:grpSp>
        <p:nvGrpSpPr>
          <p:cNvPr id="25" name="Group 10"/>
          <p:cNvGrpSpPr/>
          <p:nvPr/>
        </p:nvGrpSpPr>
        <p:grpSpPr bwMode="auto">
          <a:xfrm>
            <a:off x="1447800" y="2092341"/>
            <a:ext cx="427038" cy="646113"/>
            <a:chOff x="384" y="768"/>
            <a:chExt cx="269" cy="389"/>
          </a:xfrm>
        </p:grpSpPr>
        <p:grpSp>
          <p:nvGrpSpPr>
            <p:cNvPr id="26" name="Group 11"/>
            <p:cNvGrpSpPr/>
            <p:nvPr/>
          </p:nvGrpSpPr>
          <p:grpSpPr bwMode="auto">
            <a:xfrm>
              <a:off x="432" y="768"/>
              <a:ext cx="192" cy="96"/>
              <a:chOff x="432" y="672"/>
              <a:chExt cx="192" cy="96"/>
            </a:xfrm>
          </p:grpSpPr>
          <p:sp>
            <p:nvSpPr>
              <p:cNvPr id="28" name="Line 12"/>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29" name="Line 13"/>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27" name="Rectangle 14"/>
            <p:cNvSpPr>
              <a:spLocks noChangeArrowheads="1"/>
            </p:cNvSpPr>
            <p:nvPr/>
          </p:nvSpPr>
          <p:spPr bwMode="auto">
            <a:xfrm>
              <a:off x="384" y="845"/>
              <a:ext cx="269" cy="312"/>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y</a:t>
              </a:r>
              <a:endParaRPr kumimoji="1" lang="en-US" altLang="zh-CN" sz="2800" i="1">
                <a:latin typeface="Times New Roman" panose="02020603050405020304" pitchFamily="18" charset="0"/>
              </a:endParaRPr>
            </a:p>
          </p:txBody>
        </p:sp>
      </p:grpSp>
      <p:grpSp>
        <p:nvGrpSpPr>
          <p:cNvPr id="30" name="Group 15"/>
          <p:cNvGrpSpPr/>
          <p:nvPr/>
        </p:nvGrpSpPr>
        <p:grpSpPr bwMode="auto">
          <a:xfrm>
            <a:off x="6781800" y="1939941"/>
            <a:ext cx="417513" cy="642938"/>
            <a:chOff x="384" y="768"/>
            <a:chExt cx="263" cy="405"/>
          </a:xfrm>
        </p:grpSpPr>
        <p:grpSp>
          <p:nvGrpSpPr>
            <p:cNvPr id="32" name="Group 16"/>
            <p:cNvGrpSpPr/>
            <p:nvPr/>
          </p:nvGrpSpPr>
          <p:grpSpPr bwMode="auto">
            <a:xfrm>
              <a:off x="432" y="768"/>
              <a:ext cx="192" cy="96"/>
              <a:chOff x="432" y="672"/>
              <a:chExt cx="192" cy="96"/>
            </a:xfrm>
          </p:grpSpPr>
          <p:sp>
            <p:nvSpPr>
              <p:cNvPr id="34" name="Line 17"/>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35" name="Line 18"/>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33" name="Rectangle 19"/>
            <p:cNvSpPr>
              <a:spLocks noChangeArrowheads="1"/>
            </p:cNvSpPr>
            <p:nvPr/>
          </p:nvSpPr>
          <p:spPr bwMode="auto">
            <a:xfrm>
              <a:off x="384" y="846"/>
              <a:ext cx="263" cy="327"/>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X</a:t>
              </a:r>
              <a:endParaRPr kumimoji="1" lang="en-US" altLang="zh-CN" sz="2800" i="1">
                <a:latin typeface="Times New Roman" panose="02020603050405020304" pitchFamily="18" charset="0"/>
              </a:endParaRPr>
            </a:p>
          </p:txBody>
        </p:sp>
      </p:grpSp>
      <p:grpSp>
        <p:nvGrpSpPr>
          <p:cNvPr id="36" name="Group 20"/>
          <p:cNvGrpSpPr/>
          <p:nvPr/>
        </p:nvGrpSpPr>
        <p:grpSpPr bwMode="auto">
          <a:xfrm>
            <a:off x="7467600" y="1863741"/>
            <a:ext cx="427038" cy="646113"/>
            <a:chOff x="384" y="768"/>
            <a:chExt cx="269" cy="389"/>
          </a:xfrm>
        </p:grpSpPr>
        <p:grpSp>
          <p:nvGrpSpPr>
            <p:cNvPr id="37" name="Group 21"/>
            <p:cNvGrpSpPr/>
            <p:nvPr/>
          </p:nvGrpSpPr>
          <p:grpSpPr bwMode="auto">
            <a:xfrm>
              <a:off x="432" y="768"/>
              <a:ext cx="192" cy="96"/>
              <a:chOff x="432" y="672"/>
              <a:chExt cx="192" cy="96"/>
            </a:xfrm>
          </p:grpSpPr>
          <p:sp>
            <p:nvSpPr>
              <p:cNvPr id="39" name="Line 22"/>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40" name="Line 23"/>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38" name="Rectangle 24"/>
            <p:cNvSpPr>
              <a:spLocks noChangeArrowheads="1"/>
            </p:cNvSpPr>
            <p:nvPr/>
          </p:nvSpPr>
          <p:spPr bwMode="auto">
            <a:xfrm>
              <a:off x="384" y="845"/>
              <a:ext cx="269" cy="312"/>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y</a:t>
              </a:r>
              <a:endParaRPr kumimoji="1" lang="en-US" altLang="zh-CN" sz="2800" i="1">
                <a:latin typeface="Times New Roman" panose="02020603050405020304" pitchFamily="18" charset="0"/>
              </a:endParaRPr>
            </a:p>
          </p:txBody>
        </p:sp>
      </p:grpSp>
      <p:grpSp>
        <p:nvGrpSpPr>
          <p:cNvPr id="41" name="Group 25"/>
          <p:cNvGrpSpPr/>
          <p:nvPr/>
        </p:nvGrpSpPr>
        <p:grpSpPr bwMode="auto">
          <a:xfrm>
            <a:off x="762000" y="3235341"/>
            <a:ext cx="6781800" cy="647700"/>
            <a:chOff x="288" y="1344"/>
            <a:chExt cx="4944" cy="408"/>
          </a:xfrm>
        </p:grpSpPr>
        <p:sp>
          <p:nvSpPr>
            <p:cNvPr id="42" name="Text Box 26"/>
            <p:cNvSpPr txBox="1">
              <a:spLocks noChangeArrowheads="1"/>
            </p:cNvSpPr>
            <p:nvPr/>
          </p:nvSpPr>
          <p:spPr bwMode="auto">
            <a:xfrm>
              <a:off x="288" y="1392"/>
              <a:ext cx="4944" cy="327"/>
            </a:xfrm>
            <a:prstGeom prst="rect">
              <a:avLst/>
            </a:prstGeom>
            <a:noFill/>
            <a:ln w="9525">
              <a:noFill/>
              <a:miter lim="800000"/>
            </a:ln>
            <a:effectLst/>
          </p:spPr>
          <p:txBody>
            <a:bodyPr lIns="90000" tIns="46800" rIns="90000" bIns="46800">
              <a:spAutoFit/>
            </a:bodyPr>
            <a:lstStyle/>
            <a:p>
              <a:pPr>
                <a:spcBef>
                  <a:spcPct val="50000"/>
                </a:spcBef>
              </a:pPr>
              <a:r>
                <a:rPr kumimoji="1" lang="zh-CN" altLang="en-US" sz="2800">
                  <a:latin typeface="Times New Roman" panose="02020603050405020304" pitchFamily="18" charset="0"/>
                </a:rPr>
                <a:t>证明：由</a:t>
              </a:r>
              <a:r>
                <a:rPr kumimoji="1" lang="en-US" altLang="zh-CN" sz="2800">
                  <a:latin typeface="Times New Roman" panose="02020603050405020304" pitchFamily="18" charset="0"/>
                </a:rPr>
                <a:t>A</a:t>
              </a:r>
              <a:endParaRPr kumimoji="1" lang="en-US" altLang="zh-CN" sz="2800">
                <a:latin typeface="Times New Roman" panose="02020603050405020304" pitchFamily="18" charset="0"/>
              </a:endParaRPr>
            </a:p>
          </p:txBody>
        </p:sp>
        <p:grpSp>
          <p:nvGrpSpPr>
            <p:cNvPr id="43" name="Group 27"/>
            <p:cNvGrpSpPr/>
            <p:nvPr/>
          </p:nvGrpSpPr>
          <p:grpSpPr bwMode="auto">
            <a:xfrm>
              <a:off x="1536" y="1341"/>
              <a:ext cx="3268" cy="409"/>
              <a:chOff x="1536" y="1341"/>
              <a:chExt cx="3268" cy="409"/>
            </a:xfrm>
          </p:grpSpPr>
          <p:grpSp>
            <p:nvGrpSpPr>
              <p:cNvPr id="44" name="Group 28"/>
              <p:cNvGrpSpPr/>
              <p:nvPr/>
            </p:nvGrpSpPr>
            <p:grpSpPr bwMode="auto">
              <a:xfrm>
                <a:off x="1536" y="1344"/>
                <a:ext cx="304" cy="405"/>
                <a:chOff x="384" y="768"/>
                <a:chExt cx="304" cy="405"/>
              </a:xfrm>
            </p:grpSpPr>
            <p:grpSp>
              <p:nvGrpSpPr>
                <p:cNvPr id="67" name="Group 29"/>
                <p:cNvGrpSpPr/>
                <p:nvPr/>
              </p:nvGrpSpPr>
              <p:grpSpPr bwMode="auto">
                <a:xfrm>
                  <a:off x="432" y="768"/>
                  <a:ext cx="192" cy="96"/>
                  <a:chOff x="432" y="672"/>
                  <a:chExt cx="192" cy="96"/>
                </a:xfrm>
              </p:grpSpPr>
              <p:sp>
                <p:nvSpPr>
                  <p:cNvPr id="69" name="Line 30"/>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70" name="Line 31"/>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68" name="Rectangle 32"/>
                <p:cNvSpPr>
                  <a:spLocks noChangeArrowheads="1"/>
                </p:cNvSpPr>
                <p:nvPr/>
              </p:nvSpPr>
              <p:spPr bwMode="auto">
                <a:xfrm>
                  <a:off x="384" y="846"/>
                  <a:ext cx="304" cy="327"/>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X</a:t>
                  </a:r>
                  <a:endParaRPr kumimoji="1" lang="en-US" altLang="zh-CN" sz="2800" i="1">
                    <a:latin typeface="Times New Roman" panose="02020603050405020304" pitchFamily="18" charset="0"/>
                  </a:endParaRPr>
                </a:p>
              </p:txBody>
            </p:sp>
          </p:grpSp>
          <p:sp>
            <p:nvSpPr>
              <p:cNvPr id="45" name="Rectangle 33"/>
              <p:cNvSpPr>
                <a:spLocks noChangeArrowheads="1"/>
              </p:cNvSpPr>
              <p:nvPr/>
            </p:nvSpPr>
            <p:spPr bwMode="auto">
              <a:xfrm>
                <a:off x="1776" y="1423"/>
                <a:ext cx="599" cy="327"/>
              </a:xfrm>
              <a:prstGeom prst="rect">
                <a:avLst/>
              </a:prstGeom>
              <a:noFill/>
              <a:ln w="9525">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sym typeface="Symbol" panose="05050102010706020507" pitchFamily="2" charset="2"/>
                  </a:rPr>
                  <a:t> b, </a:t>
                </a:r>
                <a:endParaRPr kumimoji="1" lang="en-US" altLang="zh-CN" sz="2800" i="1">
                  <a:latin typeface="Times New Roman" panose="02020603050405020304" pitchFamily="18" charset="0"/>
                  <a:sym typeface="Symbol" panose="05050102010706020507" pitchFamily="2" charset="2"/>
                </a:endParaRPr>
              </a:p>
            </p:txBody>
          </p:sp>
          <p:grpSp>
            <p:nvGrpSpPr>
              <p:cNvPr id="46" name="Group 34"/>
              <p:cNvGrpSpPr/>
              <p:nvPr/>
            </p:nvGrpSpPr>
            <p:grpSpPr bwMode="auto">
              <a:xfrm>
                <a:off x="2255" y="1341"/>
                <a:ext cx="312" cy="406"/>
                <a:chOff x="383" y="768"/>
                <a:chExt cx="312" cy="390"/>
              </a:xfrm>
            </p:grpSpPr>
            <p:grpSp>
              <p:nvGrpSpPr>
                <p:cNvPr id="63" name="Group 35"/>
                <p:cNvGrpSpPr/>
                <p:nvPr/>
              </p:nvGrpSpPr>
              <p:grpSpPr bwMode="auto">
                <a:xfrm>
                  <a:off x="432" y="768"/>
                  <a:ext cx="192" cy="96"/>
                  <a:chOff x="432" y="672"/>
                  <a:chExt cx="192" cy="96"/>
                </a:xfrm>
              </p:grpSpPr>
              <p:sp>
                <p:nvSpPr>
                  <p:cNvPr id="65" name="Line 36"/>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66" name="Line 37"/>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64" name="Rectangle 38"/>
                <p:cNvSpPr>
                  <a:spLocks noChangeArrowheads="1"/>
                </p:cNvSpPr>
                <p:nvPr/>
              </p:nvSpPr>
              <p:spPr bwMode="auto">
                <a:xfrm>
                  <a:off x="383" y="845"/>
                  <a:ext cx="312" cy="313"/>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y</a:t>
                  </a:r>
                  <a:endParaRPr kumimoji="1" lang="en-US" altLang="zh-CN" sz="2800" i="1">
                    <a:latin typeface="Times New Roman" panose="02020603050405020304" pitchFamily="18" charset="0"/>
                  </a:endParaRPr>
                </a:p>
              </p:txBody>
            </p:sp>
          </p:grpSp>
          <p:sp>
            <p:nvSpPr>
              <p:cNvPr id="47" name="Rectangle 39"/>
              <p:cNvSpPr>
                <a:spLocks noChangeArrowheads="1"/>
              </p:cNvSpPr>
              <p:nvPr/>
            </p:nvSpPr>
            <p:spPr bwMode="auto">
              <a:xfrm>
                <a:off x="2448" y="1423"/>
                <a:ext cx="1054" cy="327"/>
              </a:xfrm>
              <a:prstGeom prst="rect">
                <a:avLst/>
              </a:prstGeom>
              <a:noFill/>
              <a:ln w="9525">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sym typeface="Symbol" panose="05050102010706020507" pitchFamily="2" charset="2"/>
                  </a:rPr>
                  <a:t>0      </a:t>
                </a:r>
                <a:r>
                  <a:rPr kumimoji="1" lang="zh-CN" altLang="en-US" sz="2800">
                    <a:latin typeface="Times New Roman" panose="02020603050405020304" pitchFamily="18" charset="0"/>
                    <a:sym typeface="Symbol" panose="05050102010706020507" pitchFamily="2" charset="2"/>
                  </a:rPr>
                  <a:t>有</a:t>
                </a:r>
                <a:endParaRPr kumimoji="1" lang="zh-CN" altLang="en-US" sz="2800">
                  <a:latin typeface="Times New Roman" panose="02020603050405020304" pitchFamily="18" charset="0"/>
                  <a:sym typeface="Symbol" panose="05050102010706020507" pitchFamily="2" charset="2"/>
                </a:endParaRPr>
              </a:p>
            </p:txBody>
          </p:sp>
          <p:grpSp>
            <p:nvGrpSpPr>
              <p:cNvPr id="48" name="Group 40"/>
              <p:cNvGrpSpPr/>
              <p:nvPr/>
            </p:nvGrpSpPr>
            <p:grpSpPr bwMode="auto">
              <a:xfrm>
                <a:off x="3458" y="1341"/>
                <a:ext cx="484" cy="406"/>
                <a:chOff x="386" y="768"/>
                <a:chExt cx="484" cy="390"/>
              </a:xfrm>
            </p:grpSpPr>
            <p:grpSp>
              <p:nvGrpSpPr>
                <p:cNvPr id="59" name="Group 41"/>
                <p:cNvGrpSpPr/>
                <p:nvPr/>
              </p:nvGrpSpPr>
              <p:grpSpPr bwMode="auto">
                <a:xfrm>
                  <a:off x="432" y="768"/>
                  <a:ext cx="192" cy="96"/>
                  <a:chOff x="432" y="672"/>
                  <a:chExt cx="192" cy="96"/>
                </a:xfrm>
              </p:grpSpPr>
              <p:sp>
                <p:nvSpPr>
                  <p:cNvPr id="61" name="Line 42"/>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62" name="Line 43"/>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60" name="Rectangle 44"/>
                <p:cNvSpPr>
                  <a:spLocks noChangeArrowheads="1"/>
                </p:cNvSpPr>
                <p:nvPr/>
              </p:nvSpPr>
              <p:spPr bwMode="auto">
                <a:xfrm>
                  <a:off x="386" y="845"/>
                  <a:ext cx="484" cy="313"/>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yA</a:t>
                  </a:r>
                  <a:endParaRPr kumimoji="1" lang="en-US" altLang="zh-CN" sz="2800" i="1">
                    <a:latin typeface="Times New Roman" panose="02020603050405020304" pitchFamily="18" charset="0"/>
                  </a:endParaRPr>
                </a:p>
              </p:txBody>
            </p:sp>
          </p:grpSp>
          <p:grpSp>
            <p:nvGrpSpPr>
              <p:cNvPr id="49" name="Group 45"/>
              <p:cNvGrpSpPr/>
              <p:nvPr/>
            </p:nvGrpSpPr>
            <p:grpSpPr bwMode="auto">
              <a:xfrm>
                <a:off x="3839" y="1344"/>
                <a:ext cx="965" cy="401"/>
                <a:chOff x="383" y="768"/>
                <a:chExt cx="965" cy="401"/>
              </a:xfrm>
            </p:grpSpPr>
            <p:grpSp>
              <p:nvGrpSpPr>
                <p:cNvPr id="55" name="Group 46"/>
                <p:cNvGrpSpPr/>
                <p:nvPr/>
              </p:nvGrpSpPr>
              <p:grpSpPr bwMode="auto">
                <a:xfrm>
                  <a:off x="432" y="768"/>
                  <a:ext cx="192" cy="96"/>
                  <a:chOff x="432" y="672"/>
                  <a:chExt cx="192" cy="96"/>
                </a:xfrm>
              </p:grpSpPr>
              <p:sp>
                <p:nvSpPr>
                  <p:cNvPr id="57" name="Line 47"/>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58" name="Line 48"/>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56" name="Rectangle 49"/>
                <p:cNvSpPr>
                  <a:spLocks noChangeArrowheads="1"/>
                </p:cNvSpPr>
                <p:nvPr/>
              </p:nvSpPr>
              <p:spPr bwMode="auto">
                <a:xfrm>
                  <a:off x="383" y="842"/>
                  <a:ext cx="965" cy="327"/>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X </a:t>
                  </a:r>
                  <a:r>
                    <a:rPr kumimoji="1" lang="en-US" altLang="zh-CN" sz="2800" i="1">
                      <a:latin typeface="Times New Roman" panose="02020603050405020304" pitchFamily="18" charset="0"/>
                      <a:sym typeface="Symbol" panose="05050102010706020507" pitchFamily="2" charset="2"/>
                    </a:rPr>
                    <a:t>     b</a:t>
                  </a:r>
                  <a:endParaRPr kumimoji="1" lang="en-US" altLang="zh-CN" sz="2800" i="1">
                    <a:latin typeface="Times New Roman" panose="02020603050405020304" pitchFamily="18" charset="0"/>
                    <a:sym typeface="Symbol" panose="05050102010706020507" pitchFamily="2" charset="2"/>
                  </a:endParaRPr>
                </a:p>
              </p:txBody>
            </p:sp>
          </p:grpSp>
          <p:grpSp>
            <p:nvGrpSpPr>
              <p:cNvPr id="50" name="Group 50"/>
              <p:cNvGrpSpPr/>
              <p:nvPr/>
            </p:nvGrpSpPr>
            <p:grpSpPr bwMode="auto">
              <a:xfrm>
                <a:off x="4322" y="1341"/>
                <a:ext cx="312" cy="406"/>
                <a:chOff x="386" y="768"/>
                <a:chExt cx="312" cy="390"/>
              </a:xfrm>
            </p:grpSpPr>
            <p:grpSp>
              <p:nvGrpSpPr>
                <p:cNvPr id="51" name="Group 51"/>
                <p:cNvGrpSpPr/>
                <p:nvPr/>
              </p:nvGrpSpPr>
              <p:grpSpPr bwMode="auto">
                <a:xfrm>
                  <a:off x="432" y="768"/>
                  <a:ext cx="192" cy="96"/>
                  <a:chOff x="432" y="672"/>
                  <a:chExt cx="192" cy="96"/>
                </a:xfrm>
              </p:grpSpPr>
              <p:sp>
                <p:nvSpPr>
                  <p:cNvPr id="53" name="Line 52"/>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54" name="Line 53"/>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52" name="Rectangle 54"/>
                <p:cNvSpPr>
                  <a:spLocks noChangeArrowheads="1"/>
                </p:cNvSpPr>
                <p:nvPr/>
              </p:nvSpPr>
              <p:spPr bwMode="auto">
                <a:xfrm>
                  <a:off x="386" y="845"/>
                  <a:ext cx="312" cy="313"/>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y</a:t>
                  </a:r>
                  <a:endParaRPr kumimoji="1" lang="en-US" altLang="zh-CN" sz="2800" i="1">
                    <a:latin typeface="Times New Roman" panose="02020603050405020304" pitchFamily="18" charset="0"/>
                  </a:endParaRPr>
                </a:p>
              </p:txBody>
            </p:sp>
          </p:grpSp>
        </p:grpSp>
      </p:grpSp>
      <p:sp>
        <p:nvSpPr>
          <p:cNvPr id="71" name="Text Box 55"/>
          <p:cNvSpPr txBox="1">
            <a:spLocks noChangeArrowheads="1"/>
          </p:cNvSpPr>
          <p:nvPr/>
        </p:nvSpPr>
        <p:spPr bwMode="auto">
          <a:xfrm>
            <a:off x="990600" y="4225941"/>
            <a:ext cx="6400800" cy="519113"/>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a:latin typeface="Times New Roman" panose="02020603050405020304" pitchFamily="18" charset="0"/>
              </a:rPr>
              <a:t>          </a:t>
            </a:r>
            <a:r>
              <a:rPr kumimoji="1" lang="zh-CN" altLang="en-US" sz="2800">
                <a:latin typeface="Times New Roman" panose="02020603050405020304" pitchFamily="18" charset="0"/>
              </a:rPr>
              <a:t>由    </a:t>
            </a:r>
            <a:r>
              <a:rPr kumimoji="1" lang="en-US" altLang="zh-CN" sz="2800">
                <a:latin typeface="Times New Roman" panose="02020603050405020304" pitchFamily="18" charset="0"/>
              </a:rPr>
              <a:t>A</a:t>
            </a:r>
            <a:endParaRPr kumimoji="1" lang="en-US" altLang="zh-CN" sz="2800">
              <a:latin typeface="Times New Roman" panose="02020603050405020304" pitchFamily="18" charset="0"/>
            </a:endParaRPr>
          </a:p>
        </p:txBody>
      </p:sp>
      <p:grpSp>
        <p:nvGrpSpPr>
          <p:cNvPr id="72" name="Group 56"/>
          <p:cNvGrpSpPr/>
          <p:nvPr/>
        </p:nvGrpSpPr>
        <p:grpSpPr bwMode="auto">
          <a:xfrm>
            <a:off x="2405063" y="4149741"/>
            <a:ext cx="338137" cy="642938"/>
            <a:chOff x="385" y="768"/>
            <a:chExt cx="262" cy="405"/>
          </a:xfrm>
        </p:grpSpPr>
        <p:grpSp>
          <p:nvGrpSpPr>
            <p:cNvPr id="73" name="Group 57"/>
            <p:cNvGrpSpPr/>
            <p:nvPr/>
          </p:nvGrpSpPr>
          <p:grpSpPr bwMode="auto">
            <a:xfrm>
              <a:off x="432" y="768"/>
              <a:ext cx="192" cy="96"/>
              <a:chOff x="432" y="672"/>
              <a:chExt cx="192" cy="96"/>
            </a:xfrm>
          </p:grpSpPr>
          <p:sp>
            <p:nvSpPr>
              <p:cNvPr id="75" name="Line 58"/>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76" name="Line 59"/>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74" name="Rectangle 60"/>
            <p:cNvSpPr>
              <a:spLocks noChangeArrowheads="1"/>
            </p:cNvSpPr>
            <p:nvPr/>
          </p:nvSpPr>
          <p:spPr bwMode="auto">
            <a:xfrm>
              <a:off x="385" y="846"/>
              <a:ext cx="262" cy="327"/>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y</a:t>
              </a:r>
              <a:endParaRPr kumimoji="1" lang="en-US" altLang="zh-CN" sz="2800" i="1">
                <a:latin typeface="Times New Roman" panose="02020603050405020304" pitchFamily="18" charset="0"/>
              </a:endParaRPr>
            </a:p>
          </p:txBody>
        </p:sp>
      </p:grpSp>
      <p:sp>
        <p:nvSpPr>
          <p:cNvPr id="77" name="Rectangle 61"/>
          <p:cNvSpPr>
            <a:spLocks noChangeArrowheads="1"/>
          </p:cNvSpPr>
          <p:nvPr/>
        </p:nvSpPr>
        <p:spPr bwMode="auto">
          <a:xfrm>
            <a:off x="2917825" y="4275154"/>
            <a:ext cx="879475" cy="519112"/>
          </a:xfrm>
          <a:prstGeom prst="rect">
            <a:avLst/>
          </a:prstGeom>
          <a:noFill/>
          <a:ln w="9525">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sym typeface="Symbol" panose="05050102010706020507" pitchFamily="2" charset="2"/>
              </a:rPr>
              <a:t> C, </a:t>
            </a:r>
            <a:endParaRPr kumimoji="1" lang="en-US" altLang="zh-CN" sz="2800" i="1">
              <a:latin typeface="Times New Roman" panose="02020603050405020304" pitchFamily="18" charset="0"/>
              <a:sym typeface="Symbol" panose="05050102010706020507" pitchFamily="2" charset="2"/>
            </a:endParaRPr>
          </a:p>
        </p:txBody>
      </p:sp>
      <p:grpSp>
        <p:nvGrpSpPr>
          <p:cNvPr id="78" name="Group 62"/>
          <p:cNvGrpSpPr/>
          <p:nvPr/>
        </p:nvGrpSpPr>
        <p:grpSpPr bwMode="auto">
          <a:xfrm>
            <a:off x="3886200" y="4149741"/>
            <a:ext cx="247650" cy="158750"/>
            <a:chOff x="432" y="672"/>
            <a:chExt cx="192" cy="96"/>
          </a:xfrm>
        </p:grpSpPr>
        <p:sp>
          <p:nvSpPr>
            <p:cNvPr id="79" name="Line 63"/>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80" name="Line 64"/>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81" name="Rectangle 65"/>
          <p:cNvSpPr>
            <a:spLocks noChangeArrowheads="1"/>
          </p:cNvSpPr>
          <p:nvPr/>
        </p:nvSpPr>
        <p:spPr bwMode="auto">
          <a:xfrm>
            <a:off x="3657600" y="4278329"/>
            <a:ext cx="595313" cy="519112"/>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X</a:t>
            </a:r>
            <a:endParaRPr kumimoji="1" lang="en-US" altLang="zh-CN" sz="2800" i="1">
              <a:latin typeface="Times New Roman" panose="02020603050405020304" pitchFamily="18" charset="0"/>
            </a:endParaRPr>
          </a:p>
        </p:txBody>
      </p:sp>
      <p:sp>
        <p:nvSpPr>
          <p:cNvPr id="82" name="Rectangle 66"/>
          <p:cNvSpPr>
            <a:spLocks noChangeArrowheads="1"/>
          </p:cNvSpPr>
          <p:nvPr/>
        </p:nvSpPr>
        <p:spPr bwMode="auto">
          <a:xfrm>
            <a:off x="3786188" y="4275154"/>
            <a:ext cx="1535112" cy="519112"/>
          </a:xfrm>
          <a:prstGeom prst="rect">
            <a:avLst/>
          </a:prstGeom>
          <a:noFill/>
          <a:ln w="9525">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sym typeface="Symbol" panose="05050102010706020507" pitchFamily="2" charset="2"/>
              </a:rPr>
              <a:t>    0   </a:t>
            </a:r>
            <a:r>
              <a:rPr kumimoji="1" lang="zh-CN" altLang="en-US" sz="2800">
                <a:latin typeface="Times New Roman" panose="02020603050405020304" pitchFamily="18" charset="0"/>
                <a:sym typeface="Symbol" panose="05050102010706020507" pitchFamily="2" charset="2"/>
              </a:rPr>
              <a:t>有</a:t>
            </a:r>
            <a:endParaRPr kumimoji="1" lang="zh-CN" altLang="en-US" sz="2800">
              <a:latin typeface="Times New Roman" panose="02020603050405020304" pitchFamily="18" charset="0"/>
              <a:sym typeface="Symbol" panose="05050102010706020507" pitchFamily="2" charset="2"/>
            </a:endParaRPr>
          </a:p>
        </p:txBody>
      </p:sp>
      <p:grpSp>
        <p:nvGrpSpPr>
          <p:cNvPr id="83" name="Group 67"/>
          <p:cNvGrpSpPr/>
          <p:nvPr/>
        </p:nvGrpSpPr>
        <p:grpSpPr bwMode="auto">
          <a:xfrm>
            <a:off x="5238750" y="4149741"/>
            <a:ext cx="247650" cy="158750"/>
            <a:chOff x="432" y="672"/>
            <a:chExt cx="192" cy="96"/>
          </a:xfrm>
        </p:grpSpPr>
        <p:sp>
          <p:nvSpPr>
            <p:cNvPr id="84" name="Line 68"/>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85" name="Line 69"/>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86" name="Rectangle 70"/>
          <p:cNvSpPr>
            <a:spLocks noChangeArrowheads="1"/>
          </p:cNvSpPr>
          <p:nvPr/>
        </p:nvSpPr>
        <p:spPr bwMode="auto">
          <a:xfrm>
            <a:off x="5092700" y="4278329"/>
            <a:ext cx="841375" cy="519112"/>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y A </a:t>
            </a:r>
            <a:endParaRPr kumimoji="1" lang="en-US" altLang="zh-CN" sz="2800" i="1">
              <a:latin typeface="Times New Roman" panose="02020603050405020304" pitchFamily="18" charset="0"/>
            </a:endParaRPr>
          </a:p>
        </p:txBody>
      </p:sp>
      <p:grpSp>
        <p:nvGrpSpPr>
          <p:cNvPr id="87" name="Group 71"/>
          <p:cNvGrpSpPr/>
          <p:nvPr/>
        </p:nvGrpSpPr>
        <p:grpSpPr bwMode="auto">
          <a:xfrm>
            <a:off x="5770563" y="4149741"/>
            <a:ext cx="249237" cy="152400"/>
            <a:chOff x="432" y="672"/>
            <a:chExt cx="192" cy="96"/>
          </a:xfrm>
        </p:grpSpPr>
        <p:sp>
          <p:nvSpPr>
            <p:cNvPr id="88" name="Line 72"/>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89" name="Line 73"/>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90" name="Rectangle 74"/>
          <p:cNvSpPr>
            <a:spLocks noChangeArrowheads="1"/>
          </p:cNvSpPr>
          <p:nvPr/>
        </p:nvSpPr>
        <p:spPr bwMode="auto">
          <a:xfrm>
            <a:off x="5589588" y="4267216"/>
            <a:ext cx="1116012" cy="519113"/>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X </a:t>
            </a:r>
            <a:r>
              <a:rPr kumimoji="1" lang="en-US" altLang="zh-CN" sz="2800" i="1">
                <a:latin typeface="Times New Roman" panose="02020603050405020304" pitchFamily="18" charset="0"/>
                <a:sym typeface="Symbol" panose="05050102010706020507" pitchFamily="2" charset="2"/>
              </a:rPr>
              <a:t> C</a:t>
            </a:r>
            <a:endParaRPr kumimoji="1" lang="en-US" altLang="zh-CN" sz="2800" i="1">
              <a:latin typeface="Times New Roman" panose="02020603050405020304" pitchFamily="18" charset="0"/>
              <a:sym typeface="Symbol" panose="05050102010706020507" pitchFamily="2" charset="2"/>
            </a:endParaRPr>
          </a:p>
        </p:txBody>
      </p:sp>
      <p:grpSp>
        <p:nvGrpSpPr>
          <p:cNvPr id="91" name="Group 75"/>
          <p:cNvGrpSpPr/>
          <p:nvPr/>
        </p:nvGrpSpPr>
        <p:grpSpPr bwMode="auto">
          <a:xfrm>
            <a:off x="6686550" y="4149741"/>
            <a:ext cx="247650" cy="158750"/>
            <a:chOff x="432" y="672"/>
            <a:chExt cx="192" cy="96"/>
          </a:xfrm>
        </p:grpSpPr>
        <p:sp>
          <p:nvSpPr>
            <p:cNvPr id="92" name="Line 76"/>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93" name="Line 77"/>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94" name="Rectangle 78"/>
          <p:cNvSpPr>
            <a:spLocks noChangeArrowheads="1"/>
          </p:cNvSpPr>
          <p:nvPr/>
        </p:nvSpPr>
        <p:spPr bwMode="auto">
          <a:xfrm>
            <a:off x="6211888" y="4276741"/>
            <a:ext cx="773112" cy="519113"/>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X</a:t>
            </a:r>
            <a:endParaRPr kumimoji="1" lang="en-US" altLang="zh-CN" sz="2800" i="1">
              <a:latin typeface="Times New Roman" panose="02020603050405020304" pitchFamily="18" charset="0"/>
            </a:endParaRPr>
          </a:p>
        </p:txBody>
      </p:sp>
      <p:sp>
        <p:nvSpPr>
          <p:cNvPr id="95" name="Text Box 79"/>
          <p:cNvSpPr txBox="1">
            <a:spLocks noChangeArrowheads="1"/>
          </p:cNvSpPr>
          <p:nvPr/>
        </p:nvSpPr>
        <p:spPr bwMode="auto">
          <a:xfrm>
            <a:off x="1905000" y="5154629"/>
            <a:ext cx="5181600" cy="519112"/>
          </a:xfrm>
          <a:prstGeom prst="rect">
            <a:avLst/>
          </a:prstGeom>
          <a:noFill/>
          <a:ln w="9525">
            <a:noFill/>
            <a:miter lim="800000"/>
          </a:ln>
          <a:effectLst/>
        </p:spPr>
        <p:txBody>
          <a:bodyPr lIns="90000" tIns="46800" rIns="90000" bIns="46800">
            <a:spAutoFit/>
          </a:bodyPr>
          <a:lstStyle/>
          <a:p>
            <a:pPr>
              <a:spcBef>
                <a:spcPct val="50000"/>
              </a:spcBef>
            </a:pPr>
            <a:r>
              <a:rPr kumimoji="1" lang="zh-CN" altLang="en-US" sz="2800">
                <a:latin typeface="Times New Roman" panose="02020603050405020304" pitchFamily="18" charset="0"/>
              </a:rPr>
              <a:t>所以</a:t>
            </a:r>
            <a:endParaRPr kumimoji="1" lang="zh-CN" altLang="en-US" sz="2800">
              <a:latin typeface="Times New Roman" panose="02020603050405020304" pitchFamily="18" charset="0"/>
            </a:endParaRPr>
          </a:p>
        </p:txBody>
      </p:sp>
      <p:grpSp>
        <p:nvGrpSpPr>
          <p:cNvPr id="96" name="Group 80"/>
          <p:cNvGrpSpPr/>
          <p:nvPr/>
        </p:nvGrpSpPr>
        <p:grpSpPr bwMode="auto">
          <a:xfrm>
            <a:off x="3352800" y="5064141"/>
            <a:ext cx="304800" cy="158750"/>
            <a:chOff x="432" y="672"/>
            <a:chExt cx="192" cy="96"/>
          </a:xfrm>
        </p:grpSpPr>
        <p:sp>
          <p:nvSpPr>
            <p:cNvPr id="97" name="Line 81"/>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98" name="Line 82"/>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99" name="Rectangle 83"/>
          <p:cNvSpPr>
            <a:spLocks noChangeArrowheads="1"/>
          </p:cNvSpPr>
          <p:nvPr/>
        </p:nvSpPr>
        <p:spPr bwMode="auto">
          <a:xfrm>
            <a:off x="2976563" y="5184791"/>
            <a:ext cx="1027112" cy="519113"/>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C X </a:t>
            </a:r>
            <a:r>
              <a:rPr kumimoji="1" lang="en-US" altLang="zh-CN" sz="2800" i="1">
                <a:latin typeface="Times New Roman" panose="02020603050405020304" pitchFamily="18" charset="0"/>
                <a:sym typeface="Symbol" panose="05050102010706020507" pitchFamily="2" charset="2"/>
              </a:rPr>
              <a:t></a:t>
            </a:r>
            <a:endParaRPr kumimoji="1" lang="en-US" altLang="zh-CN" sz="2800" i="1">
              <a:latin typeface="Times New Roman" panose="02020603050405020304" pitchFamily="18" charset="0"/>
              <a:sym typeface="Symbol" panose="05050102010706020507" pitchFamily="2" charset="2"/>
            </a:endParaRPr>
          </a:p>
        </p:txBody>
      </p:sp>
      <p:grpSp>
        <p:nvGrpSpPr>
          <p:cNvPr id="100" name="Group 84"/>
          <p:cNvGrpSpPr/>
          <p:nvPr/>
        </p:nvGrpSpPr>
        <p:grpSpPr bwMode="auto">
          <a:xfrm>
            <a:off x="3967163" y="5067316"/>
            <a:ext cx="752475" cy="647700"/>
            <a:chOff x="384" y="768"/>
            <a:chExt cx="474" cy="390"/>
          </a:xfrm>
        </p:grpSpPr>
        <p:grpSp>
          <p:nvGrpSpPr>
            <p:cNvPr id="101" name="Group 85"/>
            <p:cNvGrpSpPr/>
            <p:nvPr/>
          </p:nvGrpSpPr>
          <p:grpSpPr bwMode="auto">
            <a:xfrm>
              <a:off x="432" y="768"/>
              <a:ext cx="192" cy="96"/>
              <a:chOff x="432" y="672"/>
              <a:chExt cx="192" cy="96"/>
            </a:xfrm>
          </p:grpSpPr>
          <p:sp>
            <p:nvSpPr>
              <p:cNvPr id="103" name="Line 86"/>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104" name="Line 87"/>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102" name="Rectangle 88"/>
            <p:cNvSpPr>
              <a:spLocks noChangeArrowheads="1"/>
            </p:cNvSpPr>
            <p:nvPr/>
          </p:nvSpPr>
          <p:spPr bwMode="auto">
            <a:xfrm>
              <a:off x="384" y="845"/>
              <a:ext cx="474" cy="313"/>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y A</a:t>
              </a:r>
              <a:endParaRPr kumimoji="1" lang="en-US" altLang="zh-CN" sz="2800" i="1">
                <a:latin typeface="Times New Roman" panose="02020603050405020304" pitchFamily="18" charset="0"/>
              </a:endParaRPr>
            </a:p>
          </p:txBody>
        </p:sp>
      </p:grpSp>
      <p:grpSp>
        <p:nvGrpSpPr>
          <p:cNvPr id="105" name="Group 89"/>
          <p:cNvGrpSpPr/>
          <p:nvPr/>
        </p:nvGrpSpPr>
        <p:grpSpPr bwMode="auto">
          <a:xfrm>
            <a:off x="4652963" y="5067316"/>
            <a:ext cx="304800" cy="152400"/>
            <a:chOff x="432" y="672"/>
            <a:chExt cx="192" cy="96"/>
          </a:xfrm>
        </p:grpSpPr>
        <p:sp>
          <p:nvSpPr>
            <p:cNvPr id="106" name="Line 90"/>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107" name="Line 91"/>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108" name="Rectangle 92"/>
          <p:cNvSpPr>
            <a:spLocks noChangeArrowheads="1"/>
          </p:cNvSpPr>
          <p:nvPr/>
        </p:nvSpPr>
        <p:spPr bwMode="auto">
          <a:xfrm>
            <a:off x="4419600" y="5184791"/>
            <a:ext cx="879475" cy="519113"/>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X </a:t>
            </a:r>
            <a:r>
              <a:rPr kumimoji="1" lang="en-US" altLang="zh-CN" sz="2800" i="1">
                <a:latin typeface="Times New Roman" panose="02020603050405020304" pitchFamily="18" charset="0"/>
                <a:sym typeface="Symbol" panose="05050102010706020507" pitchFamily="2" charset="2"/>
              </a:rPr>
              <a:t></a:t>
            </a:r>
            <a:endParaRPr kumimoji="1" lang="en-US" altLang="zh-CN" sz="2800" i="1">
              <a:latin typeface="Times New Roman" panose="02020603050405020304" pitchFamily="18" charset="0"/>
              <a:sym typeface="Symbol" panose="05050102010706020507" pitchFamily="2" charset="2"/>
            </a:endParaRPr>
          </a:p>
        </p:txBody>
      </p:sp>
      <p:grpSp>
        <p:nvGrpSpPr>
          <p:cNvPr id="109" name="Group 93"/>
          <p:cNvGrpSpPr/>
          <p:nvPr/>
        </p:nvGrpSpPr>
        <p:grpSpPr bwMode="auto">
          <a:xfrm>
            <a:off x="5181600" y="5067316"/>
            <a:ext cx="604838" cy="642938"/>
            <a:chOff x="384" y="768"/>
            <a:chExt cx="381" cy="405"/>
          </a:xfrm>
        </p:grpSpPr>
        <p:grpSp>
          <p:nvGrpSpPr>
            <p:cNvPr id="110" name="Group 94"/>
            <p:cNvGrpSpPr/>
            <p:nvPr/>
          </p:nvGrpSpPr>
          <p:grpSpPr bwMode="auto">
            <a:xfrm>
              <a:off x="432" y="768"/>
              <a:ext cx="192" cy="96"/>
              <a:chOff x="432" y="672"/>
              <a:chExt cx="192" cy="96"/>
            </a:xfrm>
          </p:grpSpPr>
          <p:sp>
            <p:nvSpPr>
              <p:cNvPr id="112" name="Line 95"/>
              <p:cNvSpPr>
                <a:spLocks noChangeShapeType="1"/>
              </p:cNvSpPr>
              <p:nvPr/>
            </p:nvSpPr>
            <p:spPr bwMode="auto">
              <a:xfrm flipH="1">
                <a:off x="432" y="672"/>
                <a:ext cx="96" cy="96"/>
              </a:xfrm>
              <a:prstGeom prst="line">
                <a:avLst/>
              </a:prstGeom>
              <a:noFill/>
              <a:ln w="38100">
                <a:solidFill>
                  <a:schemeClr val="tx1"/>
                </a:solidFill>
                <a:round/>
              </a:ln>
              <a:effectLst/>
            </p:spPr>
            <p:txBody>
              <a:bodyPr wrap="none" lIns="90000" tIns="46800" rIns="90000" bIns="46800" anchor="ctr">
                <a:spAutoFit/>
              </a:bodyPr>
              <a:lstStyle/>
              <a:p>
                <a:endParaRPr lang="zh-CN" altLang="en-US"/>
              </a:p>
            </p:txBody>
          </p:sp>
          <p:sp>
            <p:nvSpPr>
              <p:cNvPr id="113" name="Line 96"/>
              <p:cNvSpPr>
                <a:spLocks noChangeShapeType="1"/>
              </p:cNvSpPr>
              <p:nvPr/>
            </p:nvSpPr>
            <p:spPr bwMode="auto">
              <a:xfrm>
                <a:off x="528" y="672"/>
                <a:ext cx="96" cy="96"/>
              </a:xfrm>
              <a:prstGeom prst="line">
                <a:avLst/>
              </a:prstGeom>
              <a:noFill/>
              <a:ln w="38100">
                <a:solidFill>
                  <a:schemeClr val="tx1"/>
                </a:solidFill>
                <a:round/>
              </a:ln>
              <a:effectLst/>
            </p:spPr>
            <p:txBody>
              <a:bodyPr lIns="90000" tIns="46800" rIns="90000" bIns="46800" anchor="ctr">
                <a:spAutoFit/>
              </a:bodyPr>
              <a:lstStyle/>
              <a:p>
                <a:endParaRPr lang="zh-CN" altLang="en-US"/>
              </a:p>
            </p:txBody>
          </p:sp>
        </p:grpSp>
        <p:sp>
          <p:nvSpPr>
            <p:cNvPr id="111" name="Rectangle 97"/>
            <p:cNvSpPr>
              <a:spLocks noChangeArrowheads="1"/>
            </p:cNvSpPr>
            <p:nvPr/>
          </p:nvSpPr>
          <p:spPr bwMode="auto">
            <a:xfrm>
              <a:off x="384" y="846"/>
              <a:ext cx="381" cy="327"/>
            </a:xfrm>
            <a:prstGeom prst="rect">
              <a:avLst/>
            </a:prstGeom>
            <a:noFill/>
            <a:ln w="25400">
              <a:noFill/>
              <a:miter lim="800000"/>
            </a:ln>
            <a:effectLst/>
          </p:spPr>
          <p:txBody>
            <a:bodyPr wrap="none" lIns="90000" tIns="46800" rIns="90000" bIns="46800">
              <a:spAutoFit/>
            </a:bodyPr>
            <a:lstStyle/>
            <a:p>
              <a:pPr>
                <a:spcBef>
                  <a:spcPct val="50000"/>
                </a:spcBef>
              </a:pPr>
              <a:r>
                <a:rPr kumimoji="1" lang="en-US" altLang="zh-CN" sz="2800" i="1">
                  <a:latin typeface="Times New Roman" panose="02020603050405020304" pitchFamily="18" charset="0"/>
                </a:rPr>
                <a:t> yb</a:t>
              </a:r>
              <a:endParaRPr kumimoji="1" lang="en-US" altLang="zh-CN" sz="2800" i="1">
                <a:latin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17" name="Text Box 2"/>
          <p:cNvSpPr txBox="1">
            <a:spLocks noChangeArrowheads="1"/>
          </p:cNvSpPr>
          <p:nvPr/>
        </p:nvSpPr>
        <p:spPr bwMode="auto">
          <a:xfrm>
            <a:off x="762000" y="836712"/>
            <a:ext cx="7696200" cy="1633397"/>
          </a:xfrm>
          <a:prstGeom prst="rect">
            <a:avLst/>
          </a:prstGeom>
          <a:noFill/>
          <a:ln w="38100">
            <a:solidFill>
              <a:srgbClr val="CC6600"/>
            </a:solidFill>
            <a:miter lim="800000"/>
          </a:ln>
          <a:effectLst/>
        </p:spPr>
        <p:txBody>
          <a:bodyPr lIns="90000" tIns="46800" rIns="90000" bIns="46800">
            <a:spAutoFit/>
          </a:bodyPr>
          <a:lstStyle/>
          <a:p>
            <a:pPr>
              <a:spcBef>
                <a:spcPct val="50000"/>
              </a:spcBef>
            </a:pPr>
            <a:r>
              <a:rPr kumimoji="1" lang="zh-CN" altLang="en-US" sz="2800" b="1" u="sng" dirty="0">
                <a:solidFill>
                  <a:srgbClr val="EF2F09"/>
                </a:solidFill>
                <a:latin typeface="楷体_GB2312" pitchFamily="49" charset="-122"/>
                <a:ea typeface="楷体_GB2312" pitchFamily="49" charset="-122"/>
              </a:rPr>
              <a:t>定理</a:t>
            </a:r>
            <a:r>
              <a:rPr kumimoji="1" lang="en-US" altLang="zh-CN" sz="2800" b="1" u="sng" dirty="0">
                <a:solidFill>
                  <a:srgbClr val="EF2F09"/>
                </a:solidFill>
                <a:latin typeface="楷体_GB2312" pitchFamily="49" charset="-122"/>
                <a:ea typeface="楷体_GB2312" pitchFamily="49" charset="-122"/>
              </a:rPr>
              <a:t>3.4</a:t>
            </a:r>
            <a:r>
              <a:rPr kumimoji="1" lang="en-US" altLang="zh-CN" sz="2800" b="1" dirty="0">
                <a:solidFill>
                  <a:srgbClr val="EF2F09"/>
                </a:solidFill>
                <a:latin typeface="楷体_GB2312" pitchFamily="49" charset="-122"/>
                <a:ea typeface="楷体_GB2312" pitchFamily="49" charset="-122"/>
              </a:rPr>
              <a:t>(</a:t>
            </a:r>
            <a:r>
              <a:rPr kumimoji="1" lang="zh-CN" altLang="en-US" sz="2800" b="1" dirty="0">
                <a:solidFill>
                  <a:srgbClr val="EF2F09"/>
                </a:solidFill>
                <a:latin typeface="楷体_GB2312" pitchFamily="49" charset="-122"/>
                <a:ea typeface="楷体_GB2312" pitchFamily="49" charset="-122"/>
              </a:rPr>
              <a:t>对偶定理</a:t>
            </a:r>
            <a:r>
              <a:rPr kumimoji="1" lang="en-US" altLang="zh-CN" sz="2800" b="1" dirty="0">
                <a:solidFill>
                  <a:srgbClr val="EF2F09"/>
                </a:solidFill>
                <a:latin typeface="楷体_GB2312" pitchFamily="49" charset="-122"/>
                <a:ea typeface="楷体_GB2312" pitchFamily="49" charset="-122"/>
              </a:rPr>
              <a:t>)  </a:t>
            </a:r>
            <a:r>
              <a:rPr kumimoji="1" lang="zh-CN" altLang="en-US" sz="2400" dirty="0">
                <a:solidFill>
                  <a:srgbClr val="0000FF"/>
                </a:solidFill>
                <a:latin typeface="楷体_GB2312" pitchFamily="49" charset="-122"/>
                <a:ea typeface="楷体_GB2312" pitchFamily="49" charset="-122"/>
              </a:rPr>
              <a:t>若线性规划</a:t>
            </a:r>
            <a:r>
              <a:rPr kumimoji="1" lang="en-GB" altLang="zh-CN" sz="2400" dirty="0">
                <a:solidFill>
                  <a:srgbClr val="0000FF"/>
                </a:solidFill>
                <a:latin typeface="楷体_GB2312" pitchFamily="49" charset="-122"/>
                <a:ea typeface="楷体_GB2312" pitchFamily="49" charset="-122"/>
              </a:rPr>
              <a:t>A</a:t>
            </a:r>
            <a:r>
              <a:rPr kumimoji="1" lang="zh-CN" altLang="en-US" sz="2400" dirty="0">
                <a:solidFill>
                  <a:srgbClr val="0000FF"/>
                </a:solidFill>
                <a:latin typeface="楷体_GB2312" pitchFamily="49" charset="-122"/>
                <a:ea typeface="楷体_GB2312" pitchFamily="49" charset="-122"/>
              </a:rPr>
              <a:t>存在最优解，则对偶规划</a:t>
            </a:r>
            <a:r>
              <a:rPr kumimoji="1" lang="en-GB" altLang="zh-CN" sz="2400" dirty="0">
                <a:solidFill>
                  <a:srgbClr val="0000FF"/>
                </a:solidFill>
                <a:latin typeface="楷体_GB2312" pitchFamily="49" charset="-122"/>
                <a:ea typeface="楷体_GB2312" pitchFamily="49" charset="-122"/>
              </a:rPr>
              <a:t>B</a:t>
            </a:r>
            <a:r>
              <a:rPr kumimoji="1" lang="zh-CN" altLang="en-US" sz="2400" dirty="0">
                <a:solidFill>
                  <a:srgbClr val="0000FF"/>
                </a:solidFill>
                <a:latin typeface="楷体_GB2312" pitchFamily="49" charset="-122"/>
                <a:ea typeface="楷体_GB2312" pitchFamily="49" charset="-122"/>
              </a:rPr>
              <a:t>也存在最优解，并且它们的最优值相等；相反地，若规划</a:t>
            </a:r>
            <a:r>
              <a:rPr kumimoji="1" lang="en-GB" altLang="zh-CN" sz="2400" dirty="0">
                <a:solidFill>
                  <a:srgbClr val="0000FF"/>
                </a:solidFill>
                <a:latin typeface="楷体_GB2312" pitchFamily="49" charset="-122"/>
                <a:ea typeface="楷体_GB2312" pitchFamily="49" charset="-122"/>
              </a:rPr>
              <a:t>B</a:t>
            </a:r>
            <a:r>
              <a:rPr kumimoji="1" lang="zh-CN" altLang="en-US" sz="2400" dirty="0">
                <a:solidFill>
                  <a:srgbClr val="0000FF"/>
                </a:solidFill>
                <a:latin typeface="楷体_GB2312" pitchFamily="49" charset="-122"/>
                <a:ea typeface="楷体_GB2312" pitchFamily="49" charset="-122"/>
              </a:rPr>
              <a:t>存在最优解，则规划</a:t>
            </a:r>
            <a:r>
              <a:rPr kumimoji="1" lang="en-GB" altLang="zh-CN" sz="2400" dirty="0">
                <a:solidFill>
                  <a:srgbClr val="0000FF"/>
                </a:solidFill>
                <a:latin typeface="楷体_GB2312" pitchFamily="49" charset="-122"/>
                <a:ea typeface="楷体_GB2312" pitchFamily="49" charset="-122"/>
              </a:rPr>
              <a:t>A</a:t>
            </a:r>
            <a:r>
              <a:rPr kumimoji="1" lang="zh-CN" altLang="en-US" sz="2400" dirty="0">
                <a:solidFill>
                  <a:srgbClr val="0000FF"/>
                </a:solidFill>
                <a:latin typeface="楷体_GB2312" pitchFamily="49" charset="-122"/>
                <a:ea typeface="楷体_GB2312" pitchFamily="49" charset="-122"/>
              </a:rPr>
              <a:t>也存在最优解，并且它们的最优值相等。</a:t>
            </a:r>
            <a:endParaRPr kumimoji="1" lang="zh-CN" altLang="en-US" sz="2400" dirty="0">
              <a:solidFill>
                <a:srgbClr val="0000FF"/>
              </a:solidFill>
              <a:latin typeface="楷体_GB2312" pitchFamily="49" charset="-122"/>
              <a:ea typeface="楷体_GB2312" pitchFamily="49" charset="-122"/>
            </a:endParaRPr>
          </a:p>
        </p:txBody>
      </p:sp>
      <p:sp>
        <p:nvSpPr>
          <p:cNvPr id="18" name="Text Box 3"/>
          <p:cNvSpPr txBox="1">
            <a:spLocks noChangeArrowheads="1"/>
          </p:cNvSpPr>
          <p:nvPr/>
        </p:nvSpPr>
        <p:spPr bwMode="auto">
          <a:xfrm>
            <a:off x="838200" y="2636912"/>
            <a:ext cx="1143000" cy="420688"/>
          </a:xfrm>
          <a:prstGeom prst="rect">
            <a:avLst/>
          </a:prstGeom>
          <a:noFill/>
          <a:ln w="19050">
            <a:noFill/>
            <a:miter lim="800000"/>
          </a:ln>
          <a:effectLst/>
        </p:spPr>
        <p:txBody>
          <a:bodyPr>
            <a:spAutoFit/>
          </a:bodyPr>
          <a:lstStyle/>
          <a:p>
            <a:pPr>
              <a:lnSpc>
                <a:spcPct val="90000"/>
              </a:lnSpc>
              <a:spcBef>
                <a:spcPct val="50000"/>
              </a:spcBef>
              <a:buClr>
                <a:schemeClr val="accent2"/>
              </a:buClr>
              <a:buSzPct val="80000"/>
              <a:buFont typeface="Wingdings" panose="05000000000000000000" pitchFamily="2" charset="2"/>
              <a:buNone/>
            </a:pPr>
            <a:r>
              <a:rPr kumimoji="1" lang="zh-CN" altLang="en-US">
                <a:latin typeface="Times New Roman" panose="02020603050405020304" pitchFamily="18" charset="0"/>
                <a:ea typeface="楷体_GB2312" pitchFamily="49" charset="-122"/>
              </a:rPr>
              <a:t>证明：</a:t>
            </a:r>
            <a:endParaRPr kumimoji="1" lang="zh-CN" altLang="en-US">
              <a:latin typeface="Times New Roman" panose="02020603050405020304" pitchFamily="18" charset="0"/>
              <a:ea typeface="楷体_GB2312" pitchFamily="49" charset="-122"/>
            </a:endParaRPr>
          </a:p>
        </p:txBody>
      </p:sp>
      <p:sp>
        <p:nvSpPr>
          <p:cNvPr id="19" name="Text Box 4"/>
          <p:cNvSpPr txBox="1">
            <a:spLocks noChangeArrowheads="1"/>
          </p:cNvSpPr>
          <p:nvPr/>
        </p:nvSpPr>
        <p:spPr bwMode="auto">
          <a:xfrm>
            <a:off x="1752600" y="2636912"/>
            <a:ext cx="6705600" cy="420688"/>
          </a:xfrm>
          <a:prstGeom prst="rect">
            <a:avLst/>
          </a:prstGeom>
          <a:noFill/>
          <a:ln w="19050">
            <a:noFill/>
            <a:miter lim="800000"/>
          </a:ln>
          <a:effectLst/>
        </p:spPr>
        <p:txBody>
          <a:bodyPr>
            <a:spAutoFit/>
          </a:bodyPr>
          <a:lstStyle/>
          <a:p>
            <a:pPr algn="ctr">
              <a:lnSpc>
                <a:spcPct val="90000"/>
              </a:lnSpc>
              <a:spcBef>
                <a:spcPct val="50000"/>
              </a:spcBef>
              <a:buClr>
                <a:schemeClr val="accent2"/>
              </a:buClr>
              <a:buSzPct val="80000"/>
              <a:buFont typeface="Wingdings" panose="05000000000000000000" pitchFamily="2" charset="2"/>
              <a:buNone/>
            </a:pPr>
            <a:r>
              <a:rPr kumimoji="1" lang="en-US" altLang="zh-CN">
                <a:latin typeface="Times New Roman" panose="02020603050405020304" pitchFamily="18" charset="0"/>
                <a:ea typeface="楷体_GB2312" pitchFamily="49" charset="-122"/>
              </a:rPr>
              <a:t>(1) </a:t>
            </a:r>
            <a:r>
              <a:rPr kumimoji="1" lang="zh-CN" altLang="en-US">
                <a:latin typeface="Times New Roman" panose="02020603050405020304" pitchFamily="18" charset="0"/>
                <a:ea typeface="楷体_GB2312" pitchFamily="49" charset="-122"/>
              </a:rPr>
              <a:t>当</a:t>
            </a:r>
            <a:r>
              <a:rPr kumimoji="1" lang="en-US" altLang="zh-CN">
                <a:latin typeface="Times New Roman" panose="02020603050405020304" pitchFamily="18" charset="0"/>
                <a:ea typeface="楷体_GB2312" pitchFamily="49" charset="-122"/>
              </a:rPr>
              <a:t>X*</a:t>
            </a:r>
            <a:r>
              <a:rPr kumimoji="1" lang="zh-CN" altLang="en-US">
                <a:latin typeface="Times New Roman" panose="02020603050405020304" pitchFamily="18" charset="0"/>
                <a:ea typeface="楷体_GB2312" pitchFamily="49" charset="-122"/>
              </a:rPr>
              <a:t>和</a:t>
            </a:r>
            <a:r>
              <a:rPr kumimoji="1" lang="en-US" altLang="zh-CN">
                <a:latin typeface="Times New Roman" panose="02020603050405020304" pitchFamily="18" charset="0"/>
                <a:ea typeface="楷体_GB2312" pitchFamily="49" charset="-122"/>
              </a:rPr>
              <a:t>Y*</a:t>
            </a:r>
            <a:r>
              <a:rPr kumimoji="1" lang="zh-CN" altLang="en-US">
                <a:latin typeface="Times New Roman" panose="02020603050405020304" pitchFamily="18" charset="0"/>
                <a:ea typeface="楷体_GB2312" pitchFamily="49" charset="-122"/>
              </a:rPr>
              <a:t>为原问题和对偶问题的一个可行解</a:t>
            </a:r>
            <a:endParaRPr kumimoji="1" lang="zh-CN" altLang="en-US">
              <a:latin typeface="Times New Roman" panose="02020603050405020304" pitchFamily="18" charset="0"/>
              <a:ea typeface="楷体_GB2312" pitchFamily="49" charset="-122"/>
            </a:endParaRPr>
          </a:p>
        </p:txBody>
      </p:sp>
      <p:sp>
        <p:nvSpPr>
          <p:cNvPr id="20" name="Text Box 5"/>
          <p:cNvSpPr txBox="1">
            <a:spLocks noChangeArrowheads="1"/>
          </p:cNvSpPr>
          <p:nvPr/>
        </p:nvSpPr>
        <p:spPr bwMode="auto">
          <a:xfrm>
            <a:off x="1981200" y="3074950"/>
            <a:ext cx="533400" cy="420688"/>
          </a:xfrm>
          <a:prstGeom prst="rect">
            <a:avLst/>
          </a:prstGeom>
          <a:noFill/>
          <a:ln w="19050">
            <a:noFill/>
            <a:miter lim="800000"/>
          </a:ln>
          <a:effectLst/>
        </p:spPr>
        <p:txBody>
          <a:bodyPr>
            <a:spAutoFit/>
          </a:bodyPr>
          <a:lstStyle/>
          <a:p>
            <a:pPr algn="ctr">
              <a:lnSpc>
                <a:spcPct val="90000"/>
              </a:lnSpc>
              <a:spcBef>
                <a:spcPct val="50000"/>
              </a:spcBef>
              <a:buClr>
                <a:schemeClr val="accent2"/>
              </a:buClr>
              <a:buSzPct val="80000"/>
              <a:buFont typeface="Wingdings" panose="05000000000000000000" pitchFamily="2" charset="2"/>
              <a:buNone/>
            </a:pPr>
            <a:r>
              <a:rPr kumimoji="1" lang="zh-CN" altLang="en-US">
                <a:latin typeface="Times New Roman" panose="02020603050405020304" pitchFamily="18" charset="0"/>
                <a:ea typeface="楷体_GB2312" pitchFamily="49" charset="-122"/>
              </a:rPr>
              <a:t>有</a:t>
            </a:r>
            <a:endParaRPr kumimoji="1" lang="zh-CN" altLang="en-US">
              <a:latin typeface="Times New Roman" panose="02020603050405020304" pitchFamily="18" charset="0"/>
              <a:ea typeface="楷体_GB2312" pitchFamily="49" charset="-122"/>
            </a:endParaRPr>
          </a:p>
        </p:txBody>
      </p:sp>
      <p:graphicFrame>
        <p:nvGraphicFramePr>
          <p:cNvPr id="21" name="Object 6"/>
          <p:cNvGraphicFramePr>
            <a:graphicFrameLocks noChangeAspect="1"/>
          </p:cNvGraphicFramePr>
          <p:nvPr/>
        </p:nvGraphicFramePr>
        <p:xfrm>
          <a:off x="3365500" y="3125750"/>
          <a:ext cx="1120775" cy="407988"/>
        </p:xfrm>
        <a:graphic>
          <a:graphicData uri="http://schemas.openxmlformats.org/presentationml/2006/ole">
            <mc:AlternateContent xmlns:mc="http://schemas.openxmlformats.org/markup-compatibility/2006">
              <mc:Choice xmlns:v="urn:schemas-microsoft-com:vml" Requires="v">
                <p:oleObj spid="_x0000_s19457" name="Equation" r:id="rId1" imgW="13411200" imgH="4876800" progId="Equation.3">
                  <p:embed/>
                </p:oleObj>
              </mc:Choice>
              <mc:Fallback>
                <p:oleObj name="Equation" r:id="rId1" imgW="13411200" imgH="4876800" progId="Equation.3">
                  <p:embed/>
                  <p:pic>
                    <p:nvPicPr>
                      <p:cNvPr id="0" name="图片 19456"/>
                      <p:cNvPicPr>
                        <a:picLocks noChangeAspect="1"/>
                      </p:cNvPicPr>
                      <p:nvPr/>
                    </p:nvPicPr>
                    <p:blipFill>
                      <a:blip r:embed="rId2"/>
                      <a:stretch>
                        <a:fillRect/>
                      </a:stretch>
                    </p:blipFill>
                    <p:spPr>
                      <a:xfrm>
                        <a:off x="3365500" y="3125750"/>
                        <a:ext cx="1120775" cy="407988"/>
                      </a:xfrm>
                      <a:prstGeom prst="rect">
                        <a:avLst/>
                      </a:prstGeom>
                      <a:noFill/>
                      <a:ln w="9525">
                        <a:noFill/>
                      </a:ln>
                    </p:spPr>
                  </p:pic>
                </p:oleObj>
              </mc:Fallback>
            </mc:AlternateContent>
          </a:graphicData>
        </a:graphic>
      </p:graphicFrame>
      <p:graphicFrame>
        <p:nvGraphicFramePr>
          <p:cNvPr id="22" name="Object 7"/>
          <p:cNvGraphicFramePr>
            <a:graphicFrameLocks noChangeAspect="1"/>
          </p:cNvGraphicFramePr>
          <p:nvPr/>
        </p:nvGraphicFramePr>
        <p:xfrm>
          <a:off x="5816600" y="3149563"/>
          <a:ext cx="1095375" cy="407987"/>
        </p:xfrm>
        <a:graphic>
          <a:graphicData uri="http://schemas.openxmlformats.org/presentationml/2006/ole">
            <mc:AlternateContent xmlns:mc="http://schemas.openxmlformats.org/markup-compatibility/2006">
              <mc:Choice xmlns:v="urn:schemas-microsoft-com:vml" Requires="v">
                <p:oleObj spid="_x0000_s19458" name="Equation" r:id="rId3" imgW="13106400" imgH="4876800" progId="Equation.3">
                  <p:embed/>
                </p:oleObj>
              </mc:Choice>
              <mc:Fallback>
                <p:oleObj name="Equation" r:id="rId3" imgW="13106400" imgH="4876800" progId="Equation.3">
                  <p:embed/>
                  <p:pic>
                    <p:nvPicPr>
                      <p:cNvPr id="0" name="图片 19457"/>
                      <p:cNvPicPr>
                        <a:picLocks noChangeAspect="1"/>
                      </p:cNvPicPr>
                      <p:nvPr/>
                    </p:nvPicPr>
                    <p:blipFill>
                      <a:blip r:embed="rId4"/>
                      <a:stretch>
                        <a:fillRect/>
                      </a:stretch>
                    </p:blipFill>
                    <p:spPr>
                      <a:xfrm>
                        <a:off x="5816600" y="3149563"/>
                        <a:ext cx="1095375" cy="407987"/>
                      </a:xfrm>
                      <a:prstGeom prst="rect">
                        <a:avLst/>
                      </a:prstGeom>
                      <a:noFill/>
                      <a:ln w="9525">
                        <a:noFill/>
                      </a:ln>
                    </p:spPr>
                  </p:pic>
                </p:oleObj>
              </mc:Fallback>
            </mc:AlternateContent>
          </a:graphicData>
        </a:graphic>
      </p:graphicFrame>
      <p:graphicFrame>
        <p:nvGraphicFramePr>
          <p:cNvPr id="23" name="Object 8"/>
          <p:cNvGraphicFramePr>
            <a:graphicFrameLocks noChangeAspect="1"/>
          </p:cNvGraphicFramePr>
          <p:nvPr/>
        </p:nvGraphicFramePr>
        <p:xfrm>
          <a:off x="3086100" y="3759163"/>
          <a:ext cx="1682750" cy="407987"/>
        </p:xfrm>
        <a:graphic>
          <a:graphicData uri="http://schemas.openxmlformats.org/presentationml/2006/ole">
            <mc:AlternateContent xmlns:mc="http://schemas.openxmlformats.org/markup-compatibility/2006">
              <mc:Choice xmlns:v="urn:schemas-microsoft-com:vml" Requires="v">
                <p:oleObj spid="_x0000_s19459" name="Equation" r:id="rId5" imgW="20116800" imgH="4876800" progId="Equation.3">
                  <p:embed/>
                </p:oleObj>
              </mc:Choice>
              <mc:Fallback>
                <p:oleObj name="Equation" r:id="rId5" imgW="20116800" imgH="4876800" progId="Equation.3">
                  <p:embed/>
                  <p:pic>
                    <p:nvPicPr>
                      <p:cNvPr id="0" name="图片 19458"/>
                      <p:cNvPicPr>
                        <a:picLocks noChangeAspect="1"/>
                      </p:cNvPicPr>
                      <p:nvPr/>
                    </p:nvPicPr>
                    <p:blipFill>
                      <a:blip r:embed="rId6"/>
                      <a:stretch>
                        <a:fillRect/>
                      </a:stretch>
                    </p:blipFill>
                    <p:spPr>
                      <a:xfrm>
                        <a:off x="3086100" y="3759163"/>
                        <a:ext cx="1682750" cy="407987"/>
                      </a:xfrm>
                      <a:prstGeom prst="rect">
                        <a:avLst/>
                      </a:prstGeom>
                      <a:noFill/>
                      <a:ln w="9525">
                        <a:noFill/>
                      </a:ln>
                    </p:spPr>
                  </p:pic>
                </p:oleObj>
              </mc:Fallback>
            </mc:AlternateContent>
          </a:graphicData>
        </a:graphic>
      </p:graphicFrame>
      <p:graphicFrame>
        <p:nvGraphicFramePr>
          <p:cNvPr id="24" name="Object 9"/>
          <p:cNvGraphicFramePr>
            <a:graphicFrameLocks noChangeAspect="1"/>
          </p:cNvGraphicFramePr>
          <p:nvPr/>
        </p:nvGraphicFramePr>
        <p:xfrm>
          <a:off x="5524500" y="3811550"/>
          <a:ext cx="1784350" cy="407988"/>
        </p:xfrm>
        <a:graphic>
          <a:graphicData uri="http://schemas.openxmlformats.org/presentationml/2006/ole">
            <mc:AlternateContent xmlns:mc="http://schemas.openxmlformats.org/markup-compatibility/2006">
              <mc:Choice xmlns:v="urn:schemas-microsoft-com:vml" Requires="v">
                <p:oleObj spid="_x0000_s19460" name="Equation" r:id="rId7" imgW="21336000" imgH="4876800" progId="Equation.3">
                  <p:embed/>
                </p:oleObj>
              </mc:Choice>
              <mc:Fallback>
                <p:oleObj name="Equation" r:id="rId7" imgW="21336000" imgH="4876800" progId="Equation.3">
                  <p:embed/>
                  <p:pic>
                    <p:nvPicPr>
                      <p:cNvPr id="0" name="图片 19459"/>
                      <p:cNvPicPr>
                        <a:picLocks noChangeAspect="1"/>
                      </p:cNvPicPr>
                      <p:nvPr/>
                    </p:nvPicPr>
                    <p:blipFill>
                      <a:blip r:embed="rId8"/>
                      <a:stretch>
                        <a:fillRect/>
                      </a:stretch>
                    </p:blipFill>
                    <p:spPr>
                      <a:xfrm>
                        <a:off x="5524500" y="3811550"/>
                        <a:ext cx="1784350" cy="407988"/>
                      </a:xfrm>
                      <a:prstGeom prst="rect">
                        <a:avLst/>
                      </a:prstGeom>
                      <a:noFill/>
                      <a:ln w="9525">
                        <a:noFill/>
                      </a:ln>
                    </p:spPr>
                  </p:pic>
                </p:oleObj>
              </mc:Fallback>
            </mc:AlternateContent>
          </a:graphicData>
        </a:graphic>
      </p:graphicFrame>
      <p:graphicFrame>
        <p:nvGraphicFramePr>
          <p:cNvPr id="25" name="Object 10"/>
          <p:cNvGraphicFramePr>
            <a:graphicFrameLocks noChangeAspect="1"/>
          </p:cNvGraphicFramePr>
          <p:nvPr/>
        </p:nvGraphicFramePr>
        <p:xfrm>
          <a:off x="3162300" y="4497350"/>
          <a:ext cx="2547938" cy="407988"/>
        </p:xfrm>
        <a:graphic>
          <a:graphicData uri="http://schemas.openxmlformats.org/presentationml/2006/ole">
            <mc:AlternateContent xmlns:mc="http://schemas.openxmlformats.org/markup-compatibility/2006">
              <mc:Choice xmlns:v="urn:schemas-microsoft-com:vml" Requires="v">
                <p:oleObj spid="_x0000_s19461" name="Equation" r:id="rId9" imgW="30480000" imgH="4876800" progId="Equation.3">
                  <p:embed/>
                </p:oleObj>
              </mc:Choice>
              <mc:Fallback>
                <p:oleObj name="Equation" r:id="rId9" imgW="30480000" imgH="4876800" progId="Equation.3">
                  <p:embed/>
                  <p:pic>
                    <p:nvPicPr>
                      <p:cNvPr id="0" name="图片 19460"/>
                      <p:cNvPicPr>
                        <a:picLocks noChangeAspect="1"/>
                      </p:cNvPicPr>
                      <p:nvPr/>
                    </p:nvPicPr>
                    <p:blipFill>
                      <a:blip r:embed="rId10"/>
                      <a:stretch>
                        <a:fillRect/>
                      </a:stretch>
                    </p:blipFill>
                    <p:spPr>
                      <a:xfrm>
                        <a:off x="3162300" y="4497350"/>
                        <a:ext cx="2547938" cy="407988"/>
                      </a:xfrm>
                      <a:prstGeom prst="rect">
                        <a:avLst/>
                      </a:prstGeom>
                      <a:noFill/>
                      <a:ln w="38100" cap="flat" cmpd="sng">
                        <a:solidFill>
                          <a:srgbClr val="0000FF"/>
                        </a:solidFill>
                        <a:prstDash val="solid"/>
                        <a:miter/>
                        <a:headEnd type="none" w="med" len="med"/>
                        <a:tailEnd type="none" w="med" len="med"/>
                      </a:ln>
                    </p:spPr>
                  </p:pic>
                </p:oleObj>
              </mc:Fallback>
            </mc:AlternateContent>
          </a:graphicData>
        </a:graphic>
      </p:graphicFrame>
      <p:sp>
        <p:nvSpPr>
          <p:cNvPr id="26" name="AutoShape 11"/>
          <p:cNvSpPr>
            <a:spLocks noChangeArrowheads="1"/>
          </p:cNvSpPr>
          <p:nvPr/>
        </p:nvSpPr>
        <p:spPr bwMode="auto">
          <a:xfrm>
            <a:off x="322580" y="4446550"/>
            <a:ext cx="2438400" cy="533400"/>
          </a:xfrm>
          <a:prstGeom prst="wedgeRoundRectCallout">
            <a:avLst>
              <a:gd name="adj1" fmla="val 65037"/>
              <a:gd name="adj2" fmla="val 2083"/>
              <a:gd name="adj3" fmla="val 16667"/>
            </a:avLst>
          </a:prstGeom>
          <a:noFill/>
          <a:ln w="19050">
            <a:solidFill>
              <a:schemeClr val="tx1"/>
            </a:solidFill>
            <a:miter lim="800000"/>
          </a:ln>
          <a:effec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sz="2000">
                <a:solidFill>
                  <a:schemeClr val="hlink"/>
                </a:solidFill>
                <a:latin typeface="Times New Roman" panose="02020603050405020304" pitchFamily="18" charset="0"/>
                <a:ea typeface="楷体_GB2312" pitchFamily="49" charset="-122"/>
              </a:rPr>
              <a:t>原问题目标函数值</a:t>
            </a:r>
            <a:endParaRPr kumimoji="1" lang="zh-CN" altLang="en-US" sz="2000">
              <a:solidFill>
                <a:schemeClr val="hlink"/>
              </a:solidFill>
              <a:latin typeface="Times New Roman" panose="02020603050405020304" pitchFamily="18" charset="0"/>
              <a:ea typeface="楷体_GB2312" pitchFamily="49" charset="-122"/>
            </a:endParaRPr>
          </a:p>
        </p:txBody>
      </p:sp>
      <p:sp>
        <p:nvSpPr>
          <p:cNvPr id="27" name="AutoShape 12"/>
          <p:cNvSpPr>
            <a:spLocks noChangeArrowheads="1"/>
          </p:cNvSpPr>
          <p:nvPr/>
        </p:nvSpPr>
        <p:spPr bwMode="auto">
          <a:xfrm>
            <a:off x="6149975" y="4446550"/>
            <a:ext cx="2743200" cy="533400"/>
          </a:xfrm>
          <a:prstGeom prst="wedgeRoundRectCallout">
            <a:avLst>
              <a:gd name="adj1" fmla="val -62329"/>
              <a:gd name="adj2" fmla="val 2083"/>
              <a:gd name="adj3" fmla="val 16667"/>
            </a:avLst>
          </a:prstGeom>
          <a:noFill/>
          <a:ln w="19050">
            <a:solidFill>
              <a:schemeClr val="tx1"/>
            </a:solidFill>
            <a:miter lim="800000"/>
          </a:ln>
          <a:effectLst/>
        </p:spPr>
        <p:txBody>
          <a:bodyPr anchor="ctr"/>
          <a:lstStyle/>
          <a:p>
            <a:pPr algn="ctr">
              <a:lnSpc>
                <a:spcPct val="90000"/>
              </a:lnSpc>
              <a:spcBef>
                <a:spcPct val="20000"/>
              </a:spcBef>
              <a:buClr>
                <a:schemeClr val="accent2"/>
              </a:buClr>
              <a:buSzPct val="80000"/>
              <a:buFont typeface="Wingdings" panose="05000000000000000000" pitchFamily="2" charset="2"/>
              <a:buNone/>
            </a:pPr>
            <a:r>
              <a:rPr kumimoji="1" lang="zh-CN" altLang="en-US" sz="2000">
                <a:solidFill>
                  <a:schemeClr val="hlink"/>
                </a:solidFill>
                <a:latin typeface="Times New Roman" panose="02020603050405020304" pitchFamily="18" charset="0"/>
                <a:ea typeface="楷体_GB2312" pitchFamily="49" charset="-122"/>
              </a:rPr>
              <a:t>对偶问题目标函数值</a:t>
            </a:r>
            <a:endParaRPr kumimoji="1" lang="zh-CN" altLang="en-US" sz="2000">
              <a:solidFill>
                <a:schemeClr val="hlink"/>
              </a:solidFill>
              <a:latin typeface="Times New Roman" panose="02020603050405020304" pitchFamily="18" charset="0"/>
              <a:ea typeface="楷体_GB2312" pitchFamily="49" charset="-122"/>
            </a:endParaRPr>
          </a:p>
        </p:txBody>
      </p:sp>
      <p:sp>
        <p:nvSpPr>
          <p:cNvPr id="28" name="Text Box 13"/>
          <p:cNvSpPr txBox="1">
            <a:spLocks noChangeArrowheads="1"/>
          </p:cNvSpPr>
          <p:nvPr/>
        </p:nvSpPr>
        <p:spPr bwMode="auto">
          <a:xfrm>
            <a:off x="1219200" y="5216524"/>
            <a:ext cx="6705600" cy="787400"/>
          </a:xfrm>
          <a:prstGeom prst="rect">
            <a:avLst/>
          </a:prstGeom>
          <a:noFill/>
          <a:ln w="38100">
            <a:solidFill>
              <a:schemeClr val="hlink"/>
            </a:solidFill>
            <a:miter lim="800000"/>
          </a:ln>
          <a:effectLst/>
        </p:spPr>
        <p:txBody>
          <a:bodyPr>
            <a:spAutoFit/>
          </a:bodyPr>
          <a:lstStyle/>
          <a:p>
            <a:pPr algn="ctr">
              <a:lnSpc>
                <a:spcPct val="90000"/>
              </a:lnSpc>
              <a:spcBef>
                <a:spcPct val="50000"/>
              </a:spcBef>
              <a:buClr>
                <a:schemeClr val="accent2"/>
              </a:buClr>
              <a:buSzPct val="80000"/>
              <a:buFont typeface="Wingdings" panose="05000000000000000000" pitchFamily="2" charset="2"/>
              <a:buNone/>
            </a:pPr>
            <a:r>
              <a:rPr kumimoji="1" lang="zh-CN" altLang="en-US">
                <a:solidFill>
                  <a:srgbClr val="CC6600"/>
                </a:solidFill>
                <a:latin typeface="Times New Roman" panose="02020603050405020304" pitchFamily="18" charset="0"/>
                <a:ea typeface="楷体_GB2312" pitchFamily="49" charset="-122"/>
              </a:rPr>
              <a:t>所以原问题的目标函数值有上界，即可找到有限最优解；对偶问题有下界，也存在有限最优解。</a:t>
            </a:r>
            <a:endParaRPr kumimoji="1" lang="zh-CN" altLang="en-US">
              <a:solidFill>
                <a:srgbClr val="CC66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4"/>
          <p:cNvSpPr txBox="1"/>
          <p:nvPr/>
        </p:nvSpPr>
        <p:spPr bwMode="auto">
          <a:xfrm>
            <a:off x="7010400" y="6492876"/>
            <a:ext cx="2133600" cy="365125"/>
          </a:xfrm>
          <a:prstGeom prst="rect">
            <a:avLst/>
          </a:prstGeom>
          <a:noFill/>
          <a:ln>
            <a:noFill/>
          </a:ln>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9pPr>
          </a:lstStyle>
          <a:p>
            <a:pPr algn="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Y.Gu</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16/10/2019</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r"/>
            <a:endParaRPr lang="zh-CN" altLang="en-US" dirty="0"/>
          </a:p>
        </p:txBody>
      </p:sp>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29" name="Text Box 2"/>
          <p:cNvSpPr txBox="1">
            <a:spLocks noChangeArrowheads="1"/>
          </p:cNvSpPr>
          <p:nvPr/>
        </p:nvSpPr>
        <p:spPr bwMode="auto">
          <a:xfrm>
            <a:off x="683568" y="794915"/>
            <a:ext cx="7467600" cy="749300"/>
          </a:xfrm>
          <a:prstGeom prst="rect">
            <a:avLst/>
          </a:prstGeom>
          <a:noFill/>
          <a:ln>
            <a:noFill/>
          </a:ln>
          <a:effectLst/>
          <a:extLst>
            <a:ext uri="{909E8E84-426E-40DD-AFC4-6F175D3DCCD1}">
              <a14:hiddenFill xmlns:a14="http://schemas.microsoft.com/office/drawing/2010/main">
                <a:solidFill>
                  <a:srgbClr val="FF0066"/>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buClr>
                <a:schemeClr val="accent2"/>
              </a:buClr>
              <a:buSzPct val="80000"/>
              <a:buFont typeface="Wingdings" panose="05000000000000000000" pitchFamily="2" charset="2"/>
              <a:buNone/>
            </a:pPr>
            <a:r>
              <a:rPr kumimoji="1" lang="en-US" altLang="zh-CN">
                <a:latin typeface="Times New Roman" panose="02020603050405020304" pitchFamily="18" charset="0"/>
                <a:ea typeface="楷体_GB2312" pitchFamily="49" charset="-122"/>
              </a:rPr>
              <a:t>(2) </a:t>
            </a:r>
            <a:r>
              <a:rPr kumimoji="1" lang="zh-CN" altLang="en-US">
                <a:latin typeface="Times New Roman" panose="02020603050405020304" pitchFamily="18" charset="0"/>
                <a:ea typeface="楷体_GB2312" pitchFamily="49" charset="-122"/>
              </a:rPr>
              <a:t>当</a:t>
            </a:r>
            <a:r>
              <a:rPr kumimoji="1" lang="en-US" altLang="zh-CN" i="1">
                <a:latin typeface="Times New Roman" panose="02020603050405020304" pitchFamily="18" charset="0"/>
                <a:ea typeface="楷体_GB2312" pitchFamily="49" charset="-122"/>
              </a:rPr>
              <a:t>X*</a:t>
            </a:r>
            <a:r>
              <a:rPr kumimoji="1" lang="zh-CN" altLang="en-US">
                <a:latin typeface="Times New Roman" panose="02020603050405020304" pitchFamily="18" charset="0"/>
                <a:ea typeface="楷体_GB2312" pitchFamily="49" charset="-122"/>
              </a:rPr>
              <a:t>为原问题的一个最优解，</a:t>
            </a:r>
            <a:r>
              <a:rPr kumimoji="1" lang="en-US" altLang="zh-CN">
                <a:latin typeface="Times New Roman" panose="02020603050405020304" pitchFamily="18" charset="0"/>
                <a:ea typeface="楷体_GB2312" pitchFamily="49" charset="-122"/>
              </a:rPr>
              <a:t>B</a:t>
            </a:r>
            <a:r>
              <a:rPr kumimoji="1" lang="zh-CN" altLang="en-US">
                <a:latin typeface="Times New Roman" panose="02020603050405020304" pitchFamily="18" charset="0"/>
                <a:ea typeface="楷体_GB2312" pitchFamily="49" charset="-122"/>
              </a:rPr>
              <a:t>为相应的最优基</a:t>
            </a:r>
            <a:r>
              <a:rPr kumimoji="1" lang="en-US" altLang="zh-CN">
                <a:latin typeface="Times New Roman" panose="02020603050405020304" pitchFamily="18" charset="0"/>
                <a:ea typeface="楷体_GB2312" pitchFamily="49" charset="-122"/>
              </a:rPr>
              <a:t>,</a:t>
            </a:r>
            <a:r>
              <a:rPr kumimoji="1" lang="zh-CN" altLang="en-US">
                <a:latin typeface="Times New Roman" panose="02020603050405020304" pitchFamily="18" charset="0"/>
                <a:ea typeface="楷体_GB2312" pitchFamily="49" charset="-122"/>
              </a:rPr>
              <a:t>通过引入松弛变量</a:t>
            </a:r>
            <a:r>
              <a:rPr kumimoji="1" lang="en-US" altLang="zh-CN">
                <a:latin typeface="Times New Roman" panose="02020603050405020304" pitchFamily="18" charset="0"/>
                <a:ea typeface="楷体_GB2312" pitchFamily="49" charset="-122"/>
              </a:rPr>
              <a:t>Xs,</a:t>
            </a:r>
            <a:r>
              <a:rPr kumimoji="1" lang="zh-CN" altLang="en-US">
                <a:latin typeface="Times New Roman" panose="02020603050405020304" pitchFamily="18" charset="0"/>
                <a:ea typeface="楷体_GB2312" pitchFamily="49" charset="-122"/>
              </a:rPr>
              <a:t>将问题</a:t>
            </a:r>
            <a:r>
              <a:rPr kumimoji="1" lang="en-US" altLang="zh-CN">
                <a:latin typeface="Times New Roman" panose="02020603050405020304" pitchFamily="18" charset="0"/>
                <a:ea typeface="楷体_GB2312" pitchFamily="49" charset="-122"/>
              </a:rPr>
              <a:t>(P)</a:t>
            </a:r>
            <a:r>
              <a:rPr kumimoji="1" lang="zh-CN" altLang="en-US">
                <a:latin typeface="Times New Roman" panose="02020603050405020304" pitchFamily="18" charset="0"/>
                <a:ea typeface="楷体_GB2312" pitchFamily="49" charset="-122"/>
              </a:rPr>
              <a:t>转化为标准型</a:t>
            </a:r>
            <a:endParaRPr kumimoji="1" lang="zh-CN" altLang="en-US">
              <a:latin typeface="Times New Roman" panose="02020603050405020304" pitchFamily="18" charset="0"/>
              <a:ea typeface="楷体_GB2312" pitchFamily="49" charset="-122"/>
            </a:endParaRPr>
          </a:p>
        </p:txBody>
      </p:sp>
      <p:graphicFrame>
        <p:nvGraphicFramePr>
          <p:cNvPr id="30" name="Object 3"/>
          <p:cNvGraphicFramePr>
            <a:graphicFrameLocks noChangeAspect="1"/>
          </p:cNvGraphicFramePr>
          <p:nvPr/>
        </p:nvGraphicFramePr>
        <p:xfrm>
          <a:off x="1597968" y="1340768"/>
          <a:ext cx="2894013" cy="1320800"/>
        </p:xfrm>
        <a:graphic>
          <a:graphicData uri="http://schemas.openxmlformats.org/presentationml/2006/ole">
            <mc:AlternateContent xmlns:mc="http://schemas.openxmlformats.org/markup-compatibility/2006">
              <mc:Choice xmlns:v="urn:schemas-microsoft-com:vml" Requires="v">
                <p:oleObj spid="_x0000_s20481" name="Equation" r:id="rId1" imgW="34747200" imgH="15849600" progId="Equation.3">
                  <p:embed/>
                </p:oleObj>
              </mc:Choice>
              <mc:Fallback>
                <p:oleObj name="Equation" r:id="rId1" imgW="34747200" imgH="15849600" progId="Equation.3">
                  <p:embed/>
                  <p:pic>
                    <p:nvPicPr>
                      <p:cNvPr id="0" name="图片 20480"/>
                      <p:cNvPicPr>
                        <a:picLocks noChangeAspect="1"/>
                      </p:cNvPicPr>
                      <p:nvPr/>
                    </p:nvPicPr>
                    <p:blipFill>
                      <a:blip r:embed="rId2"/>
                      <a:stretch>
                        <a:fillRect/>
                      </a:stretch>
                    </p:blipFill>
                    <p:spPr>
                      <a:xfrm>
                        <a:off x="1597968" y="1340768"/>
                        <a:ext cx="2894013" cy="1320800"/>
                      </a:xfrm>
                      <a:prstGeom prst="rect">
                        <a:avLst/>
                      </a:prstGeom>
                      <a:noFill/>
                      <a:ln w="9525">
                        <a:noFill/>
                      </a:ln>
                    </p:spPr>
                  </p:pic>
                </p:oleObj>
              </mc:Fallback>
            </mc:AlternateContent>
          </a:graphicData>
        </a:graphic>
      </p:graphicFrame>
      <p:sp>
        <p:nvSpPr>
          <p:cNvPr id="32" name="Text Box 4"/>
          <p:cNvSpPr txBox="1">
            <a:spLocks noChangeArrowheads="1"/>
          </p:cNvSpPr>
          <p:nvPr/>
        </p:nvSpPr>
        <p:spPr bwMode="auto">
          <a:xfrm>
            <a:off x="5026968" y="1682081"/>
            <a:ext cx="609600" cy="420687"/>
          </a:xfrm>
          <a:prstGeom prst="rect">
            <a:avLst/>
          </a:prstGeom>
          <a:noFill/>
          <a:ln>
            <a:noFill/>
          </a:ln>
          <a:effectLst/>
          <a:extLst>
            <a:ext uri="{909E8E84-426E-40DD-AFC4-6F175D3DCCD1}">
              <a14:hiddenFill xmlns:a14="http://schemas.microsoft.com/office/drawing/2010/main">
                <a:solidFill>
                  <a:srgbClr val="FF0066"/>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buClr>
                <a:schemeClr val="accent2"/>
              </a:buClr>
              <a:buSzPct val="80000"/>
              <a:buFont typeface="Wingdings" panose="05000000000000000000" pitchFamily="2" charset="2"/>
              <a:buNone/>
            </a:pPr>
            <a:r>
              <a:rPr kumimoji="1" lang="zh-CN" altLang="en-US">
                <a:latin typeface="Times New Roman" panose="02020603050405020304" pitchFamily="18" charset="0"/>
                <a:ea typeface="楷体_GB2312" pitchFamily="49" charset="-122"/>
              </a:rPr>
              <a:t>令</a:t>
            </a:r>
            <a:endParaRPr kumimoji="1" lang="zh-CN" altLang="en-US">
              <a:latin typeface="Times New Roman" panose="02020603050405020304" pitchFamily="18" charset="0"/>
              <a:ea typeface="楷体_GB2312" pitchFamily="49" charset="-122"/>
            </a:endParaRPr>
          </a:p>
        </p:txBody>
      </p:sp>
      <p:graphicFrame>
        <p:nvGraphicFramePr>
          <p:cNvPr id="33" name="Object 5"/>
          <p:cNvGraphicFramePr>
            <a:graphicFrameLocks noChangeAspect="1"/>
          </p:cNvGraphicFramePr>
          <p:nvPr/>
        </p:nvGraphicFramePr>
        <p:xfrm>
          <a:off x="5788968" y="1493168"/>
          <a:ext cx="1446213" cy="963613"/>
        </p:xfrm>
        <a:graphic>
          <a:graphicData uri="http://schemas.openxmlformats.org/presentationml/2006/ole">
            <mc:AlternateContent xmlns:mc="http://schemas.openxmlformats.org/markup-compatibility/2006">
              <mc:Choice xmlns:v="urn:schemas-microsoft-com:vml" Requires="v">
                <p:oleObj spid="_x0000_s20482" name="Equation" r:id="rId3" imgW="17373600" imgH="11582400" progId="Equation.3">
                  <p:embed/>
                </p:oleObj>
              </mc:Choice>
              <mc:Fallback>
                <p:oleObj name="Equation" r:id="rId3" imgW="17373600" imgH="11582400" progId="Equation.3">
                  <p:embed/>
                  <p:pic>
                    <p:nvPicPr>
                      <p:cNvPr id="0" name="图片 20481"/>
                      <p:cNvPicPr>
                        <a:picLocks noChangeAspect="1"/>
                      </p:cNvPicPr>
                      <p:nvPr/>
                    </p:nvPicPr>
                    <p:blipFill>
                      <a:blip r:embed="rId4"/>
                      <a:stretch>
                        <a:fillRect/>
                      </a:stretch>
                    </p:blipFill>
                    <p:spPr>
                      <a:xfrm>
                        <a:off x="5788968" y="1493168"/>
                        <a:ext cx="1446213" cy="963613"/>
                      </a:xfrm>
                      <a:prstGeom prst="rect">
                        <a:avLst/>
                      </a:prstGeom>
                      <a:noFill/>
                      <a:ln w="9525">
                        <a:noFill/>
                      </a:ln>
                    </p:spPr>
                  </p:pic>
                </p:oleObj>
              </mc:Fallback>
            </mc:AlternateContent>
          </a:graphicData>
        </a:graphic>
      </p:graphicFrame>
      <p:graphicFrame>
        <p:nvGraphicFramePr>
          <p:cNvPr id="34" name="Object 6"/>
          <p:cNvGraphicFramePr>
            <a:graphicFrameLocks noChangeAspect="1"/>
          </p:cNvGraphicFramePr>
          <p:nvPr/>
        </p:nvGraphicFramePr>
        <p:xfrm>
          <a:off x="1091556" y="2788568"/>
          <a:ext cx="6831012" cy="457200"/>
        </p:xfrm>
        <a:graphic>
          <a:graphicData uri="http://schemas.openxmlformats.org/presentationml/2006/ole">
            <mc:AlternateContent xmlns:mc="http://schemas.openxmlformats.org/markup-compatibility/2006">
              <mc:Choice xmlns:v="urn:schemas-microsoft-com:vml" Requires="v">
                <p:oleObj spid="_x0000_s20483" name="Equation" r:id="rId5" imgW="81991200" imgH="5486400" progId="Equation.3">
                  <p:embed/>
                </p:oleObj>
              </mc:Choice>
              <mc:Fallback>
                <p:oleObj name="Equation" r:id="rId5" imgW="81991200" imgH="5486400" progId="Equation.3">
                  <p:embed/>
                  <p:pic>
                    <p:nvPicPr>
                      <p:cNvPr id="0" name="图片 20482"/>
                      <p:cNvPicPr>
                        <a:picLocks noChangeAspect="1"/>
                      </p:cNvPicPr>
                      <p:nvPr/>
                    </p:nvPicPr>
                    <p:blipFill>
                      <a:blip r:embed="rId6"/>
                      <a:stretch>
                        <a:fillRect/>
                      </a:stretch>
                    </p:blipFill>
                    <p:spPr>
                      <a:xfrm>
                        <a:off x="1091556" y="2788568"/>
                        <a:ext cx="6831012" cy="457200"/>
                      </a:xfrm>
                      <a:prstGeom prst="rect">
                        <a:avLst/>
                      </a:prstGeom>
                      <a:noFill/>
                      <a:ln w="9525">
                        <a:noFill/>
                      </a:ln>
                    </p:spPr>
                  </p:pic>
                </p:oleObj>
              </mc:Fallback>
            </mc:AlternateContent>
          </a:graphicData>
        </a:graphic>
      </p:graphicFrame>
      <p:graphicFrame>
        <p:nvGraphicFramePr>
          <p:cNvPr id="35" name="Object 7"/>
          <p:cNvGraphicFramePr>
            <a:graphicFrameLocks noChangeAspect="1"/>
          </p:cNvGraphicFramePr>
          <p:nvPr/>
        </p:nvGraphicFramePr>
        <p:xfrm>
          <a:off x="1369368" y="3245768"/>
          <a:ext cx="1955800" cy="965200"/>
        </p:xfrm>
        <a:graphic>
          <a:graphicData uri="http://schemas.openxmlformats.org/presentationml/2006/ole">
            <mc:AlternateContent xmlns:mc="http://schemas.openxmlformats.org/markup-compatibility/2006">
              <mc:Choice xmlns:v="urn:schemas-microsoft-com:vml" Requires="v">
                <p:oleObj spid="_x0000_s20484" name="Equation" r:id="rId7" imgW="23469600" imgH="11582400" progId="Equation.3">
                  <p:embed/>
                </p:oleObj>
              </mc:Choice>
              <mc:Fallback>
                <p:oleObj name="Equation" r:id="rId7" imgW="23469600" imgH="11582400" progId="Equation.3">
                  <p:embed/>
                  <p:pic>
                    <p:nvPicPr>
                      <p:cNvPr id="0" name="图片 20483"/>
                      <p:cNvPicPr>
                        <a:picLocks noChangeAspect="1"/>
                      </p:cNvPicPr>
                      <p:nvPr/>
                    </p:nvPicPr>
                    <p:blipFill>
                      <a:blip r:embed="rId8"/>
                      <a:stretch>
                        <a:fillRect/>
                      </a:stretch>
                    </p:blipFill>
                    <p:spPr>
                      <a:xfrm>
                        <a:off x="1369368" y="3245768"/>
                        <a:ext cx="1955800" cy="965200"/>
                      </a:xfrm>
                      <a:prstGeom prst="rect">
                        <a:avLst/>
                      </a:prstGeom>
                      <a:noFill/>
                      <a:ln w="9525">
                        <a:noFill/>
                      </a:ln>
                    </p:spPr>
                  </p:pic>
                </p:oleObj>
              </mc:Fallback>
            </mc:AlternateContent>
          </a:graphicData>
        </a:graphic>
      </p:graphicFrame>
      <p:graphicFrame>
        <p:nvGraphicFramePr>
          <p:cNvPr id="36" name="Object 8"/>
          <p:cNvGraphicFramePr>
            <a:graphicFrameLocks noChangeAspect="1"/>
          </p:cNvGraphicFramePr>
          <p:nvPr/>
        </p:nvGraphicFramePr>
        <p:xfrm>
          <a:off x="3960168" y="3321968"/>
          <a:ext cx="1295400" cy="457200"/>
        </p:xfrm>
        <a:graphic>
          <a:graphicData uri="http://schemas.openxmlformats.org/presentationml/2006/ole">
            <mc:AlternateContent xmlns:mc="http://schemas.openxmlformats.org/markup-compatibility/2006">
              <mc:Choice xmlns:v="urn:schemas-microsoft-com:vml" Requires="v">
                <p:oleObj spid="_x0000_s20485" name="Equation" r:id="rId9" imgW="15544800" imgH="5486400" progId="Equation.3">
                  <p:embed/>
                </p:oleObj>
              </mc:Choice>
              <mc:Fallback>
                <p:oleObj name="Equation" r:id="rId9" imgW="15544800" imgH="5486400" progId="Equation.3">
                  <p:embed/>
                  <p:pic>
                    <p:nvPicPr>
                      <p:cNvPr id="0" name="图片 20484"/>
                      <p:cNvPicPr>
                        <a:picLocks noChangeAspect="1"/>
                      </p:cNvPicPr>
                      <p:nvPr/>
                    </p:nvPicPr>
                    <p:blipFill>
                      <a:blip r:embed="rId10"/>
                      <a:stretch>
                        <a:fillRect/>
                      </a:stretch>
                    </p:blipFill>
                    <p:spPr>
                      <a:xfrm>
                        <a:off x="3960168" y="3321968"/>
                        <a:ext cx="1295400" cy="457200"/>
                      </a:xfrm>
                      <a:prstGeom prst="rect">
                        <a:avLst/>
                      </a:prstGeom>
                      <a:noFill/>
                      <a:ln w="9525">
                        <a:noFill/>
                      </a:ln>
                    </p:spPr>
                  </p:pic>
                </p:oleObj>
              </mc:Fallback>
            </mc:AlternateContent>
          </a:graphicData>
        </a:graphic>
      </p:graphicFrame>
      <p:sp>
        <p:nvSpPr>
          <p:cNvPr id="37" name="Text Box 9"/>
          <p:cNvSpPr txBox="1">
            <a:spLocks noChangeArrowheads="1"/>
          </p:cNvSpPr>
          <p:nvPr/>
        </p:nvSpPr>
        <p:spPr bwMode="auto">
          <a:xfrm>
            <a:off x="5407968" y="3358481"/>
            <a:ext cx="609600" cy="420687"/>
          </a:xfrm>
          <a:prstGeom prst="rect">
            <a:avLst/>
          </a:prstGeom>
          <a:noFill/>
          <a:ln>
            <a:noFill/>
          </a:ln>
          <a:effectLst/>
          <a:extLst>
            <a:ext uri="{909E8E84-426E-40DD-AFC4-6F175D3DCCD1}">
              <a14:hiddenFill xmlns:a14="http://schemas.microsoft.com/office/drawing/2010/main">
                <a:solidFill>
                  <a:srgbClr val="FF0066"/>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buClr>
                <a:schemeClr val="accent2"/>
              </a:buClr>
              <a:buSzPct val="80000"/>
              <a:buFont typeface="Wingdings" panose="05000000000000000000" pitchFamily="2" charset="2"/>
              <a:buNone/>
            </a:pPr>
            <a:r>
              <a:rPr kumimoji="1" lang="zh-CN" altLang="en-US">
                <a:latin typeface="Times New Roman" panose="02020603050405020304" pitchFamily="18" charset="0"/>
                <a:ea typeface="楷体_GB2312" pitchFamily="49" charset="-122"/>
              </a:rPr>
              <a:t>令</a:t>
            </a:r>
            <a:endParaRPr kumimoji="1" lang="zh-CN" altLang="en-US">
              <a:latin typeface="Times New Roman" panose="02020603050405020304" pitchFamily="18" charset="0"/>
              <a:ea typeface="楷体_GB2312" pitchFamily="49" charset="-122"/>
            </a:endParaRPr>
          </a:p>
        </p:txBody>
      </p:sp>
      <p:graphicFrame>
        <p:nvGraphicFramePr>
          <p:cNvPr id="38" name="Object 10"/>
          <p:cNvGraphicFramePr>
            <a:graphicFrameLocks noChangeAspect="1"/>
          </p:cNvGraphicFramePr>
          <p:nvPr/>
        </p:nvGraphicFramePr>
        <p:xfrm>
          <a:off x="5941368" y="3321968"/>
          <a:ext cx="1905000" cy="457200"/>
        </p:xfrm>
        <a:graphic>
          <a:graphicData uri="http://schemas.openxmlformats.org/presentationml/2006/ole">
            <mc:AlternateContent xmlns:mc="http://schemas.openxmlformats.org/markup-compatibility/2006">
              <mc:Choice xmlns:v="urn:schemas-microsoft-com:vml" Requires="v">
                <p:oleObj spid="_x0000_s20486" name="Equation" r:id="rId11" imgW="22860000" imgH="5486400" progId="Equation.3">
                  <p:embed/>
                </p:oleObj>
              </mc:Choice>
              <mc:Fallback>
                <p:oleObj name="Equation" r:id="rId11" imgW="22860000" imgH="5486400" progId="Equation.3">
                  <p:embed/>
                  <p:pic>
                    <p:nvPicPr>
                      <p:cNvPr id="0" name="图片 20485"/>
                      <p:cNvPicPr>
                        <a:picLocks noChangeAspect="1"/>
                      </p:cNvPicPr>
                      <p:nvPr/>
                    </p:nvPicPr>
                    <p:blipFill>
                      <a:blip r:embed="rId12"/>
                      <a:stretch>
                        <a:fillRect/>
                      </a:stretch>
                    </p:blipFill>
                    <p:spPr>
                      <a:xfrm>
                        <a:off x="5941368" y="3321968"/>
                        <a:ext cx="1905000" cy="457200"/>
                      </a:xfrm>
                      <a:prstGeom prst="rect">
                        <a:avLst/>
                      </a:prstGeom>
                      <a:noFill/>
                      <a:ln w="9525">
                        <a:noFill/>
                      </a:ln>
                    </p:spPr>
                  </p:pic>
                </p:oleObj>
              </mc:Fallback>
            </mc:AlternateContent>
          </a:graphicData>
        </a:graphic>
      </p:graphicFrame>
      <p:graphicFrame>
        <p:nvGraphicFramePr>
          <p:cNvPr id="39" name="Object 11"/>
          <p:cNvGraphicFramePr>
            <a:graphicFrameLocks noChangeAspect="1"/>
          </p:cNvGraphicFramePr>
          <p:nvPr/>
        </p:nvGraphicFramePr>
        <p:xfrm>
          <a:off x="3883968" y="3779168"/>
          <a:ext cx="1524000" cy="406400"/>
        </p:xfrm>
        <a:graphic>
          <a:graphicData uri="http://schemas.openxmlformats.org/presentationml/2006/ole">
            <mc:AlternateContent xmlns:mc="http://schemas.openxmlformats.org/markup-compatibility/2006">
              <mc:Choice xmlns:v="urn:schemas-microsoft-com:vml" Requires="v">
                <p:oleObj spid="_x0000_s20487" name="Equation" r:id="rId13" imgW="18288000" imgH="4876800" progId="Equation.3">
                  <p:embed/>
                </p:oleObj>
              </mc:Choice>
              <mc:Fallback>
                <p:oleObj name="Equation" r:id="rId13" imgW="18288000" imgH="4876800" progId="Equation.3">
                  <p:embed/>
                  <p:pic>
                    <p:nvPicPr>
                      <p:cNvPr id="0" name="图片 20486"/>
                      <p:cNvPicPr>
                        <a:picLocks noChangeAspect="1"/>
                      </p:cNvPicPr>
                      <p:nvPr/>
                    </p:nvPicPr>
                    <p:blipFill>
                      <a:blip r:embed="rId14"/>
                      <a:stretch>
                        <a:fillRect/>
                      </a:stretch>
                    </p:blipFill>
                    <p:spPr>
                      <a:xfrm>
                        <a:off x="3883968" y="3779168"/>
                        <a:ext cx="1524000" cy="406400"/>
                      </a:xfrm>
                      <a:prstGeom prst="rect">
                        <a:avLst/>
                      </a:prstGeom>
                      <a:noFill/>
                      <a:ln w="9525">
                        <a:noFill/>
                      </a:ln>
                    </p:spPr>
                  </p:pic>
                </p:oleObj>
              </mc:Fallback>
            </mc:AlternateContent>
          </a:graphicData>
        </a:graphic>
      </p:graphicFrame>
      <p:graphicFrame>
        <p:nvGraphicFramePr>
          <p:cNvPr id="40" name="Object 12"/>
          <p:cNvGraphicFramePr>
            <a:graphicFrameLocks noChangeAspect="1"/>
          </p:cNvGraphicFramePr>
          <p:nvPr/>
        </p:nvGraphicFramePr>
        <p:xfrm>
          <a:off x="6144568" y="3779168"/>
          <a:ext cx="1117600" cy="406400"/>
        </p:xfrm>
        <a:graphic>
          <a:graphicData uri="http://schemas.openxmlformats.org/presentationml/2006/ole">
            <mc:AlternateContent xmlns:mc="http://schemas.openxmlformats.org/markup-compatibility/2006">
              <mc:Choice xmlns:v="urn:schemas-microsoft-com:vml" Requires="v">
                <p:oleObj spid="_x0000_s20488" name="Equation" r:id="rId15" imgW="13411200" imgH="4876800" progId="Equation.3">
                  <p:embed/>
                </p:oleObj>
              </mc:Choice>
              <mc:Fallback>
                <p:oleObj name="Equation" r:id="rId15" imgW="13411200" imgH="4876800" progId="Equation.3">
                  <p:embed/>
                  <p:pic>
                    <p:nvPicPr>
                      <p:cNvPr id="0" name="图片 20487"/>
                      <p:cNvPicPr>
                        <a:picLocks noChangeAspect="1"/>
                      </p:cNvPicPr>
                      <p:nvPr/>
                    </p:nvPicPr>
                    <p:blipFill>
                      <a:blip r:embed="rId16"/>
                      <a:stretch>
                        <a:fillRect/>
                      </a:stretch>
                    </p:blipFill>
                    <p:spPr>
                      <a:xfrm>
                        <a:off x="6144568" y="3779168"/>
                        <a:ext cx="1117600" cy="406400"/>
                      </a:xfrm>
                      <a:prstGeom prst="rect">
                        <a:avLst/>
                      </a:prstGeom>
                      <a:noFill/>
                      <a:ln w="9525">
                        <a:noFill/>
                      </a:ln>
                    </p:spPr>
                  </p:pic>
                </p:oleObj>
              </mc:Fallback>
            </mc:AlternateContent>
          </a:graphicData>
        </a:graphic>
      </p:graphicFrame>
      <p:sp>
        <p:nvSpPr>
          <p:cNvPr id="41" name="Text Box 13"/>
          <p:cNvSpPr txBox="1">
            <a:spLocks noChangeArrowheads="1"/>
          </p:cNvSpPr>
          <p:nvPr/>
        </p:nvSpPr>
        <p:spPr bwMode="auto">
          <a:xfrm>
            <a:off x="759768" y="4312568"/>
            <a:ext cx="4191000" cy="749300"/>
          </a:xfrm>
          <a:prstGeom prst="rect">
            <a:avLst/>
          </a:prstGeom>
          <a:noFill/>
          <a:ln>
            <a:noFill/>
          </a:ln>
          <a:effectLst/>
          <a:extLst>
            <a:ext uri="{909E8E84-426E-40DD-AFC4-6F175D3DCCD1}">
              <a14:hiddenFill xmlns:a14="http://schemas.microsoft.com/office/drawing/2010/main">
                <a:solidFill>
                  <a:srgbClr val="FF0066"/>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chemeClr val="accent2"/>
              </a:buClr>
              <a:buSzPct val="80000"/>
              <a:buFont typeface="Wingdings" panose="05000000000000000000" pitchFamily="2" charset="2"/>
              <a:buNone/>
            </a:pPr>
            <a:r>
              <a:rPr kumimoji="1" lang="zh-CN" altLang="en-US">
                <a:latin typeface="Times New Roman" panose="02020603050405020304" pitchFamily="18" charset="0"/>
                <a:ea typeface="楷体_GB2312" pitchFamily="49" charset="-122"/>
              </a:rPr>
              <a:t>所以</a:t>
            </a:r>
            <a:r>
              <a:rPr kumimoji="1" lang="en-US" altLang="zh-CN" i="1">
                <a:latin typeface="Times New Roman" panose="02020603050405020304" pitchFamily="18" charset="0"/>
                <a:ea typeface="楷体_GB2312" pitchFamily="49" charset="-122"/>
              </a:rPr>
              <a:t>Y*</a:t>
            </a:r>
            <a:r>
              <a:rPr kumimoji="1" lang="zh-CN" altLang="en-US">
                <a:latin typeface="Times New Roman" panose="02020603050405020304" pitchFamily="18" charset="0"/>
                <a:ea typeface="楷体_GB2312" pitchFamily="49" charset="-122"/>
              </a:rPr>
              <a:t>是对偶问题的可行解，对偶问题的目标函数值为</a:t>
            </a:r>
            <a:endParaRPr kumimoji="1" lang="zh-CN" altLang="en-US">
              <a:latin typeface="Times New Roman" panose="02020603050405020304" pitchFamily="18" charset="0"/>
              <a:ea typeface="楷体_GB2312" pitchFamily="49" charset="-122"/>
            </a:endParaRPr>
          </a:p>
        </p:txBody>
      </p:sp>
      <p:sp>
        <p:nvSpPr>
          <p:cNvPr id="42" name="AutoShape 14"/>
          <p:cNvSpPr>
            <a:spLocks noChangeArrowheads="1"/>
          </p:cNvSpPr>
          <p:nvPr/>
        </p:nvSpPr>
        <p:spPr bwMode="auto">
          <a:xfrm>
            <a:off x="3198168" y="3474368"/>
            <a:ext cx="457200" cy="152400"/>
          </a:xfrm>
          <a:prstGeom prst="rightArrow">
            <a:avLst>
              <a:gd name="adj1" fmla="val 50000"/>
              <a:gd name="adj2" fmla="val 75000"/>
            </a:avLst>
          </a:prstGeom>
          <a:solidFill>
            <a:srgbClr val="99FF33"/>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43" name="AutoShape 15"/>
          <p:cNvSpPr>
            <a:spLocks noChangeArrowheads="1"/>
          </p:cNvSpPr>
          <p:nvPr/>
        </p:nvSpPr>
        <p:spPr bwMode="auto">
          <a:xfrm>
            <a:off x="3426768" y="3855368"/>
            <a:ext cx="381000" cy="228600"/>
          </a:xfrm>
          <a:prstGeom prst="rightArrow">
            <a:avLst>
              <a:gd name="adj1" fmla="val 50000"/>
              <a:gd name="adj2" fmla="val 41667"/>
            </a:avLst>
          </a:prstGeom>
          <a:solidFill>
            <a:srgbClr val="99FF33"/>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sp>
        <p:nvSpPr>
          <p:cNvPr id="44" name="AutoShape 16"/>
          <p:cNvSpPr>
            <a:spLocks noChangeArrowheads="1"/>
          </p:cNvSpPr>
          <p:nvPr/>
        </p:nvSpPr>
        <p:spPr bwMode="auto">
          <a:xfrm>
            <a:off x="5636568" y="3855368"/>
            <a:ext cx="381000" cy="228600"/>
          </a:xfrm>
          <a:prstGeom prst="rightArrow">
            <a:avLst>
              <a:gd name="adj1" fmla="val 50000"/>
              <a:gd name="adj2" fmla="val 41667"/>
            </a:avLst>
          </a:prstGeom>
          <a:solidFill>
            <a:srgbClr val="99FF33"/>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x-none"/>
          </a:p>
        </p:txBody>
      </p:sp>
      <p:graphicFrame>
        <p:nvGraphicFramePr>
          <p:cNvPr id="45" name="Object 17"/>
          <p:cNvGraphicFramePr>
            <a:graphicFrameLocks noChangeAspect="1"/>
          </p:cNvGraphicFramePr>
          <p:nvPr/>
        </p:nvGraphicFramePr>
        <p:xfrm>
          <a:off x="4950768" y="4464968"/>
          <a:ext cx="2413000" cy="457200"/>
        </p:xfrm>
        <a:graphic>
          <a:graphicData uri="http://schemas.openxmlformats.org/presentationml/2006/ole">
            <mc:AlternateContent xmlns:mc="http://schemas.openxmlformats.org/markup-compatibility/2006">
              <mc:Choice xmlns:v="urn:schemas-microsoft-com:vml" Requires="v">
                <p:oleObj spid="_x0000_s20489" name="Equation" r:id="rId17" imgW="28956000" imgH="5486400" progId="Equation.3">
                  <p:embed/>
                </p:oleObj>
              </mc:Choice>
              <mc:Fallback>
                <p:oleObj name="Equation" r:id="rId17" imgW="28956000" imgH="5486400" progId="Equation.3">
                  <p:embed/>
                  <p:pic>
                    <p:nvPicPr>
                      <p:cNvPr id="0" name="图片 20488"/>
                      <p:cNvPicPr>
                        <a:picLocks noChangeAspect="1"/>
                      </p:cNvPicPr>
                      <p:nvPr/>
                    </p:nvPicPr>
                    <p:blipFill>
                      <a:blip r:embed="rId18"/>
                      <a:stretch>
                        <a:fillRect/>
                      </a:stretch>
                    </p:blipFill>
                    <p:spPr>
                      <a:xfrm>
                        <a:off x="4950768" y="4464968"/>
                        <a:ext cx="2413000" cy="457200"/>
                      </a:xfrm>
                      <a:prstGeom prst="rect">
                        <a:avLst/>
                      </a:prstGeom>
                      <a:noFill/>
                      <a:ln w="9525">
                        <a:noFill/>
                      </a:ln>
                    </p:spPr>
                  </p:pic>
                </p:oleObj>
              </mc:Fallback>
            </mc:AlternateContent>
          </a:graphicData>
        </a:graphic>
      </p:graphicFrame>
      <p:sp>
        <p:nvSpPr>
          <p:cNvPr id="46" name="Text Box 18"/>
          <p:cNvSpPr txBox="1">
            <a:spLocks noChangeArrowheads="1"/>
          </p:cNvSpPr>
          <p:nvPr/>
        </p:nvSpPr>
        <p:spPr bwMode="auto">
          <a:xfrm>
            <a:off x="835968" y="5263481"/>
            <a:ext cx="3733800" cy="749300"/>
          </a:xfrm>
          <a:prstGeom prst="rect">
            <a:avLst/>
          </a:prstGeom>
          <a:noFill/>
          <a:ln>
            <a:noFill/>
          </a:ln>
          <a:effectLst/>
          <a:extLst>
            <a:ext uri="{909E8E84-426E-40DD-AFC4-6F175D3DCCD1}">
              <a14:hiddenFill xmlns:a14="http://schemas.microsoft.com/office/drawing/2010/main">
                <a:solidFill>
                  <a:srgbClr val="FF0066"/>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buClr>
                <a:schemeClr val="accent2"/>
              </a:buClr>
              <a:buSzPct val="80000"/>
              <a:buFont typeface="Wingdings" panose="05000000000000000000" pitchFamily="2" charset="2"/>
              <a:buNone/>
            </a:pPr>
            <a:r>
              <a:rPr kumimoji="1" lang="en-US" altLang="zh-CN" i="1">
                <a:latin typeface="Times New Roman" panose="02020603050405020304" pitchFamily="18" charset="0"/>
                <a:ea typeface="楷体_GB2312" pitchFamily="49" charset="-122"/>
              </a:rPr>
              <a:t>X*</a:t>
            </a:r>
            <a:r>
              <a:rPr kumimoji="1" lang="zh-CN" altLang="en-US">
                <a:latin typeface="Times New Roman" panose="02020603050405020304" pitchFamily="18" charset="0"/>
                <a:ea typeface="楷体_GB2312" pitchFamily="49" charset="-122"/>
              </a:rPr>
              <a:t>是原问题的最优解，原问题的目标函数值为</a:t>
            </a:r>
            <a:endParaRPr kumimoji="1" lang="zh-CN" altLang="en-US">
              <a:latin typeface="Times New Roman" panose="02020603050405020304" pitchFamily="18" charset="0"/>
              <a:ea typeface="楷体_GB2312" pitchFamily="49" charset="-122"/>
            </a:endParaRPr>
          </a:p>
        </p:txBody>
      </p:sp>
      <p:graphicFrame>
        <p:nvGraphicFramePr>
          <p:cNvPr id="47" name="Object 19"/>
          <p:cNvGraphicFramePr>
            <a:graphicFrameLocks noChangeAspect="1"/>
          </p:cNvGraphicFramePr>
          <p:nvPr/>
        </p:nvGraphicFramePr>
        <p:xfrm>
          <a:off x="4874568" y="5379368"/>
          <a:ext cx="2463800" cy="457200"/>
        </p:xfrm>
        <a:graphic>
          <a:graphicData uri="http://schemas.openxmlformats.org/presentationml/2006/ole">
            <mc:AlternateContent xmlns:mc="http://schemas.openxmlformats.org/markup-compatibility/2006">
              <mc:Choice xmlns:v="urn:schemas-microsoft-com:vml" Requires="v">
                <p:oleObj spid="_x0000_s20490" name="Equation" r:id="rId19" imgW="29565600" imgH="5486400" progId="Equation.3">
                  <p:embed/>
                </p:oleObj>
              </mc:Choice>
              <mc:Fallback>
                <p:oleObj name="Equation" r:id="rId19" imgW="29565600" imgH="5486400" progId="Equation.3">
                  <p:embed/>
                  <p:pic>
                    <p:nvPicPr>
                      <p:cNvPr id="0" name="图片 20489"/>
                      <p:cNvPicPr>
                        <a:picLocks noChangeAspect="1"/>
                      </p:cNvPicPr>
                      <p:nvPr/>
                    </p:nvPicPr>
                    <p:blipFill>
                      <a:blip r:embed="rId20"/>
                      <a:stretch>
                        <a:fillRect/>
                      </a:stretch>
                    </p:blipFill>
                    <p:spPr>
                      <a:xfrm>
                        <a:off x="4874568" y="5379368"/>
                        <a:ext cx="2463800" cy="457200"/>
                      </a:xfrm>
                      <a:prstGeom prst="rect">
                        <a:avLst/>
                      </a:prstGeom>
                      <a:noFill/>
                      <a:ln w="9525">
                        <a:noFill/>
                      </a:ln>
                    </p:spPr>
                  </p:pic>
                </p:oleObj>
              </mc:Fallback>
            </mc:AlternateContent>
          </a:graphicData>
        </a:graphic>
      </p:graphicFrame>
      <p:graphicFrame>
        <p:nvGraphicFramePr>
          <p:cNvPr id="48" name="Object 20"/>
          <p:cNvGraphicFramePr>
            <a:graphicFrameLocks noChangeAspect="1"/>
          </p:cNvGraphicFramePr>
          <p:nvPr/>
        </p:nvGraphicFramePr>
        <p:xfrm>
          <a:off x="7389168" y="4998368"/>
          <a:ext cx="1092200" cy="406400"/>
        </p:xfrm>
        <a:graphic>
          <a:graphicData uri="http://schemas.openxmlformats.org/presentationml/2006/ole">
            <mc:AlternateContent xmlns:mc="http://schemas.openxmlformats.org/markup-compatibility/2006">
              <mc:Choice xmlns:v="urn:schemas-microsoft-com:vml" Requires="v">
                <p:oleObj spid="_x0000_s20491" name="Equation" r:id="rId21" imgW="13106400" imgH="4876800" progId="Equation.3">
                  <p:embed/>
                </p:oleObj>
              </mc:Choice>
              <mc:Fallback>
                <p:oleObj name="Equation" r:id="rId21" imgW="13106400" imgH="4876800" progId="Equation.3">
                  <p:embed/>
                  <p:pic>
                    <p:nvPicPr>
                      <p:cNvPr id="0" name="图片 20490"/>
                      <p:cNvPicPr>
                        <a:picLocks noChangeAspect="1"/>
                      </p:cNvPicPr>
                      <p:nvPr/>
                    </p:nvPicPr>
                    <p:blipFill>
                      <a:blip r:embed="rId22"/>
                      <a:stretch>
                        <a:fillRect/>
                      </a:stretch>
                    </p:blipFill>
                    <p:spPr>
                      <a:xfrm>
                        <a:off x="7389168" y="4998368"/>
                        <a:ext cx="1092200" cy="406400"/>
                      </a:xfrm>
                      <a:prstGeom prst="rect">
                        <a:avLst/>
                      </a:prstGeom>
                      <a:noFill/>
                      <a:ln w="38100" cap="flat" cmpd="sng">
                        <a:solidFill>
                          <a:srgbClr val="CC6600"/>
                        </a:solidFill>
                        <a:prstDash val="solid"/>
                        <a:miter/>
                        <a:headEnd type="none" w="med" len="med"/>
                        <a:tailEnd type="none" w="med" len="med"/>
                      </a:ln>
                    </p:spPr>
                  </p:pic>
                </p:oleObj>
              </mc:Fallback>
            </mc:AlternateContent>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4"/>
          <p:cNvSpPr txBox="1"/>
          <p:nvPr/>
        </p:nvSpPr>
        <p:spPr bwMode="auto">
          <a:xfrm>
            <a:off x="7010400" y="6492876"/>
            <a:ext cx="2133600" cy="365125"/>
          </a:xfrm>
          <a:prstGeom prst="rect">
            <a:avLst/>
          </a:prstGeom>
          <a:noFill/>
          <a:ln>
            <a:noFill/>
          </a:ln>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9pPr>
          </a:lstStyle>
          <a:p>
            <a:pPr algn="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Y.Gu</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16/10/2019</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r"/>
            <a:endParaRPr lang="zh-CN" altLang="en-US" dirty="0"/>
          </a:p>
        </p:txBody>
      </p:sp>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24" name="Rectangle 46"/>
          <p:cNvSpPr txBox="1">
            <a:spLocks noChangeArrowheads="1"/>
          </p:cNvSpPr>
          <p:nvPr/>
        </p:nvSpPr>
        <p:spPr>
          <a:xfrm>
            <a:off x="586408" y="1927864"/>
            <a:ext cx="7643192" cy="1706555"/>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50000"/>
              </a:lnSpc>
            </a:pPr>
            <a:r>
              <a:rPr lang="zh-CN" altLang="en-US" sz="2400" dirty="0"/>
              <a:t>原问题</a:t>
            </a:r>
            <a:r>
              <a:rPr lang="en-US" altLang="zh-CN" sz="2400" dirty="0"/>
              <a:t>A</a:t>
            </a:r>
            <a:r>
              <a:rPr lang="zh-CN" altLang="en-US" sz="2400" dirty="0"/>
              <a:t>和对偶问题</a:t>
            </a:r>
            <a:r>
              <a:rPr lang="en-US" altLang="zh-CN" sz="2400" dirty="0"/>
              <a:t>B</a:t>
            </a:r>
            <a:r>
              <a:rPr lang="zh-CN" altLang="en-US" sz="2400" dirty="0"/>
              <a:t>如果有可行解，则它们的可行解区域只可能相接，不可能相交。两个区域的交界线即是它们的最优解。</a:t>
            </a:r>
            <a:endParaRPr lang="zh-CN" altLang="en-US" sz="2400" dirty="0"/>
          </a:p>
        </p:txBody>
      </p:sp>
      <p:sp>
        <p:nvSpPr>
          <p:cNvPr id="25" name="Line 23"/>
          <p:cNvSpPr>
            <a:spLocks noChangeShapeType="1"/>
          </p:cNvSpPr>
          <p:nvPr/>
        </p:nvSpPr>
        <p:spPr bwMode="auto">
          <a:xfrm>
            <a:off x="762000" y="4876800"/>
            <a:ext cx="59436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26" name="Line 24"/>
          <p:cNvSpPr>
            <a:spLocks noChangeShapeType="1"/>
          </p:cNvSpPr>
          <p:nvPr/>
        </p:nvSpPr>
        <p:spPr bwMode="auto">
          <a:xfrm flipV="1">
            <a:off x="914400" y="4191000"/>
            <a:ext cx="12954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27" name="Line 25"/>
          <p:cNvSpPr>
            <a:spLocks noChangeShapeType="1"/>
          </p:cNvSpPr>
          <p:nvPr/>
        </p:nvSpPr>
        <p:spPr bwMode="auto">
          <a:xfrm flipV="1">
            <a:off x="1524000" y="4191000"/>
            <a:ext cx="12954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28" name="Line 26"/>
          <p:cNvSpPr>
            <a:spLocks noChangeShapeType="1"/>
          </p:cNvSpPr>
          <p:nvPr/>
        </p:nvSpPr>
        <p:spPr bwMode="auto">
          <a:xfrm flipV="1">
            <a:off x="2133600" y="4191000"/>
            <a:ext cx="12954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49" name="Line 27"/>
          <p:cNvSpPr>
            <a:spLocks noChangeShapeType="1"/>
          </p:cNvSpPr>
          <p:nvPr/>
        </p:nvSpPr>
        <p:spPr bwMode="auto">
          <a:xfrm flipV="1">
            <a:off x="2743200" y="4191000"/>
            <a:ext cx="12954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50" name="Line 28"/>
          <p:cNvSpPr>
            <a:spLocks noChangeShapeType="1"/>
          </p:cNvSpPr>
          <p:nvPr/>
        </p:nvSpPr>
        <p:spPr bwMode="auto">
          <a:xfrm flipV="1">
            <a:off x="3352800" y="4191000"/>
            <a:ext cx="12954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51" name="Line 29"/>
          <p:cNvSpPr>
            <a:spLocks noChangeShapeType="1"/>
          </p:cNvSpPr>
          <p:nvPr/>
        </p:nvSpPr>
        <p:spPr bwMode="auto">
          <a:xfrm flipV="1">
            <a:off x="3962400" y="4191000"/>
            <a:ext cx="1295400" cy="6858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52" name="Line 30"/>
          <p:cNvSpPr>
            <a:spLocks noChangeShapeType="1"/>
          </p:cNvSpPr>
          <p:nvPr/>
        </p:nvSpPr>
        <p:spPr bwMode="auto">
          <a:xfrm>
            <a:off x="914400" y="4876800"/>
            <a:ext cx="114300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53" name="Line 31"/>
          <p:cNvSpPr>
            <a:spLocks noChangeShapeType="1"/>
          </p:cNvSpPr>
          <p:nvPr/>
        </p:nvSpPr>
        <p:spPr bwMode="auto">
          <a:xfrm>
            <a:off x="2743200" y="4876800"/>
            <a:ext cx="114300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54" name="Line 32"/>
          <p:cNvSpPr>
            <a:spLocks noChangeShapeType="1"/>
          </p:cNvSpPr>
          <p:nvPr/>
        </p:nvSpPr>
        <p:spPr bwMode="auto">
          <a:xfrm>
            <a:off x="3352800" y="4876800"/>
            <a:ext cx="114300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55" name="Line 33"/>
          <p:cNvSpPr>
            <a:spLocks noChangeShapeType="1"/>
          </p:cNvSpPr>
          <p:nvPr/>
        </p:nvSpPr>
        <p:spPr bwMode="auto">
          <a:xfrm>
            <a:off x="3962400" y="4876800"/>
            <a:ext cx="114300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56" name="Line 34"/>
          <p:cNvSpPr>
            <a:spLocks noChangeShapeType="1"/>
          </p:cNvSpPr>
          <p:nvPr/>
        </p:nvSpPr>
        <p:spPr bwMode="auto">
          <a:xfrm>
            <a:off x="1524000" y="4876800"/>
            <a:ext cx="114300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57" name="Line 35"/>
          <p:cNvSpPr>
            <a:spLocks noChangeShapeType="1"/>
          </p:cNvSpPr>
          <p:nvPr/>
        </p:nvSpPr>
        <p:spPr bwMode="auto">
          <a:xfrm>
            <a:off x="2133600" y="4876800"/>
            <a:ext cx="1143000" cy="838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58" name="Line 36"/>
          <p:cNvSpPr>
            <a:spLocks noChangeShapeType="1"/>
          </p:cNvSpPr>
          <p:nvPr/>
        </p:nvSpPr>
        <p:spPr bwMode="auto">
          <a:xfrm>
            <a:off x="6096000" y="3962400"/>
            <a:ext cx="0" cy="838200"/>
          </a:xfrm>
          <a:prstGeom prst="line">
            <a:avLst/>
          </a:prstGeom>
          <a:noFill/>
          <a:ln w="57150" cmpd="thinThick">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x-none"/>
          </a:p>
        </p:txBody>
      </p:sp>
      <p:sp>
        <p:nvSpPr>
          <p:cNvPr id="59" name="Line 37"/>
          <p:cNvSpPr>
            <a:spLocks noChangeShapeType="1"/>
          </p:cNvSpPr>
          <p:nvPr/>
        </p:nvSpPr>
        <p:spPr bwMode="auto">
          <a:xfrm flipV="1">
            <a:off x="6096000" y="4876800"/>
            <a:ext cx="0" cy="914400"/>
          </a:xfrm>
          <a:prstGeom prst="line">
            <a:avLst/>
          </a:prstGeom>
          <a:noFill/>
          <a:ln w="57150" cmpd="thinThick">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x-none"/>
          </a:p>
        </p:txBody>
      </p:sp>
      <p:sp>
        <p:nvSpPr>
          <p:cNvPr id="60" name="Rectangle 38"/>
          <p:cNvSpPr>
            <a:spLocks noChangeArrowheads="1"/>
          </p:cNvSpPr>
          <p:nvPr/>
        </p:nvSpPr>
        <p:spPr bwMode="auto">
          <a:xfrm>
            <a:off x="1676400" y="3657600"/>
            <a:ext cx="3276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t>对偶问题</a:t>
            </a:r>
            <a:r>
              <a:rPr lang="en-US" altLang="zh-CN" sz="1800"/>
              <a:t>(B)      minW</a:t>
            </a:r>
            <a:endParaRPr lang="en-US" altLang="zh-CN" sz="1800"/>
          </a:p>
        </p:txBody>
      </p:sp>
      <p:sp>
        <p:nvSpPr>
          <p:cNvPr id="61" name="Rectangle 39"/>
          <p:cNvSpPr>
            <a:spLocks noChangeArrowheads="1"/>
          </p:cNvSpPr>
          <p:nvPr/>
        </p:nvSpPr>
        <p:spPr bwMode="auto">
          <a:xfrm>
            <a:off x="1600200" y="6019800"/>
            <a:ext cx="3276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t>原问题</a:t>
            </a:r>
            <a:r>
              <a:rPr lang="en-US" altLang="zh-CN" sz="1800"/>
              <a:t>(A)      maxZ</a:t>
            </a:r>
            <a:endParaRPr lang="en-US" altLang="zh-CN" sz="1800"/>
          </a:p>
        </p:txBody>
      </p:sp>
      <p:sp>
        <p:nvSpPr>
          <p:cNvPr id="62" name="Rectangle 40"/>
          <p:cNvSpPr>
            <a:spLocks noChangeArrowheads="1"/>
          </p:cNvSpPr>
          <p:nvPr/>
        </p:nvSpPr>
        <p:spPr bwMode="auto">
          <a:xfrm>
            <a:off x="5791200" y="34290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t>y</a:t>
            </a:r>
            <a:r>
              <a:rPr lang="en-US" altLang="zh-CN" sz="1800" baseline="-25000"/>
              <a:t>0</a:t>
            </a:r>
            <a:r>
              <a:rPr lang="en-US" altLang="zh-CN" sz="1800"/>
              <a:t>b</a:t>
            </a:r>
            <a:endParaRPr lang="en-US" altLang="zh-CN" sz="1800"/>
          </a:p>
        </p:txBody>
      </p:sp>
      <p:sp>
        <p:nvSpPr>
          <p:cNvPr id="63" name="Rectangle 41"/>
          <p:cNvSpPr>
            <a:spLocks noChangeArrowheads="1"/>
          </p:cNvSpPr>
          <p:nvPr/>
        </p:nvSpPr>
        <p:spPr bwMode="auto">
          <a:xfrm>
            <a:off x="5715000" y="5791200"/>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800"/>
              <a:t>cx</a:t>
            </a:r>
            <a:r>
              <a:rPr lang="en-US" altLang="zh-CN" sz="1800" baseline="-25000"/>
              <a:t>0</a:t>
            </a:r>
            <a:endParaRPr lang="en-US" altLang="zh-CN" sz="1800" baseline="-25000"/>
          </a:p>
        </p:txBody>
      </p:sp>
      <p:graphicFrame>
        <p:nvGraphicFramePr>
          <p:cNvPr id="64" name="Object 43"/>
          <p:cNvGraphicFramePr>
            <a:graphicFrameLocks noChangeAspect="1"/>
          </p:cNvGraphicFramePr>
          <p:nvPr/>
        </p:nvGraphicFramePr>
        <p:xfrm>
          <a:off x="6781800" y="4572000"/>
          <a:ext cx="1447800" cy="579438"/>
        </p:xfrm>
        <a:graphic>
          <a:graphicData uri="http://schemas.openxmlformats.org/presentationml/2006/ole">
            <mc:AlternateContent xmlns:mc="http://schemas.openxmlformats.org/markup-compatibility/2006">
              <mc:Choice xmlns:v="urn:schemas-microsoft-com:vml" Requires="v">
                <p:oleObj spid="_x0000_s21505" name="公式" r:id="rId1" imgW="12192000" imgH="4876800" progId="Equation.3">
                  <p:embed/>
                </p:oleObj>
              </mc:Choice>
              <mc:Fallback>
                <p:oleObj name="公式" r:id="rId1" imgW="12192000" imgH="4876800" progId="Equation.3">
                  <p:embed/>
                  <p:pic>
                    <p:nvPicPr>
                      <p:cNvPr id="0" name="图片 21504"/>
                      <p:cNvPicPr>
                        <a:picLocks noChangeAspect="1"/>
                      </p:cNvPicPr>
                      <p:nvPr/>
                    </p:nvPicPr>
                    <p:blipFill>
                      <a:blip r:embed="rId2"/>
                      <a:stretch>
                        <a:fillRect/>
                      </a:stretch>
                    </p:blipFill>
                    <p:spPr>
                      <a:xfrm>
                        <a:off x="6781800" y="4572000"/>
                        <a:ext cx="1447800" cy="579438"/>
                      </a:xfrm>
                      <a:prstGeom prst="rect">
                        <a:avLst/>
                      </a:prstGeom>
                      <a:noFill/>
                      <a:ln w="9525">
                        <a:noFill/>
                      </a:ln>
                    </p:spPr>
                  </p:pic>
                </p:oleObj>
              </mc:Fallback>
            </mc:AlternateContent>
          </a:graphicData>
        </a:graphic>
      </p:graphicFrame>
      <p:sp>
        <p:nvSpPr>
          <p:cNvPr id="65" name="Rectangle 44"/>
          <p:cNvSpPr txBox="1">
            <a:spLocks noChangeArrowheads="1"/>
          </p:cNvSpPr>
          <p:nvPr/>
        </p:nvSpPr>
        <p:spPr>
          <a:xfrm>
            <a:off x="773430" y="1097602"/>
            <a:ext cx="7543800" cy="79216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200" b="1" kern="1200">
                <a:solidFill>
                  <a:schemeClr val="bg1"/>
                </a:solidFill>
                <a:latin typeface="黑体" panose="02010609060101010101" pitchFamily="49" charset="-122"/>
                <a:ea typeface="黑体" panose="02010609060101010101" pitchFamily="49" charset="-122"/>
                <a:cs typeface="+mj-cs"/>
              </a:defRPr>
            </a:lvl1pPr>
          </a:lstStyle>
          <a:p>
            <a:r>
              <a:rPr lang="zh-CN" altLang="en-US" b="0" dirty="0">
                <a:solidFill>
                  <a:schemeClr val="tx1"/>
                </a:solidFill>
              </a:rPr>
              <a:t>以上三个定理可以这样记忆</a:t>
            </a:r>
            <a:endParaRPr lang="zh-CN" altLang="en-US" b="0" dirty="0">
              <a:solidFill>
                <a:schemeClr val="tx1"/>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4"/>
          <p:cNvSpPr txBox="1"/>
          <p:nvPr/>
        </p:nvSpPr>
        <p:spPr bwMode="auto">
          <a:xfrm>
            <a:off x="7010400" y="6492875"/>
            <a:ext cx="2133600" cy="365125"/>
          </a:xfrm>
          <a:prstGeom prst="rect">
            <a:avLst/>
          </a:prstGeom>
          <a:noFill/>
          <a:ln>
            <a:noFill/>
          </a:ln>
        </p:spPr>
        <p:txBody>
          <a:bodyPr/>
          <a:lstStyle>
            <a:lvl1pPr>
              <a:defRPr>
                <a:solidFill>
                  <a:schemeClr val="tx1"/>
                </a:solidFill>
                <a:latin typeface="Tahoma" panose="020B0604030504040204" pitchFamily="34" charset="0"/>
                <a:ea typeface="MS PGothic" panose="020B0600070205080204" pitchFamily="34" charset="-128"/>
              </a:defRPr>
            </a:lvl1pPr>
            <a:lvl2pPr marL="742950" indent="-285750">
              <a:defRPr>
                <a:solidFill>
                  <a:schemeClr val="tx1"/>
                </a:solidFill>
                <a:latin typeface="Tahoma" panose="020B0604030504040204" pitchFamily="34" charset="0"/>
                <a:ea typeface="MS PGothic" panose="020B0600070205080204" pitchFamily="34" charset="-128"/>
              </a:defRPr>
            </a:lvl2pPr>
            <a:lvl3pPr marL="1143000" indent="-228600">
              <a:defRPr>
                <a:solidFill>
                  <a:schemeClr val="tx1"/>
                </a:solidFill>
                <a:latin typeface="Tahoma" panose="020B0604030504040204" pitchFamily="34" charset="0"/>
                <a:ea typeface="MS PGothic" panose="020B0600070205080204" pitchFamily="34" charset="-128"/>
              </a:defRPr>
            </a:lvl3pPr>
            <a:lvl4pPr marL="1600200" indent="-228600">
              <a:defRPr>
                <a:solidFill>
                  <a:schemeClr val="tx1"/>
                </a:solidFill>
                <a:latin typeface="Tahoma" panose="020B0604030504040204" pitchFamily="34" charset="0"/>
                <a:ea typeface="MS PGothic" panose="020B0600070205080204" pitchFamily="34" charset="-128"/>
              </a:defRPr>
            </a:lvl4pPr>
            <a:lvl5pPr marL="2057400" indent="-228600">
              <a:defRPr>
                <a:solidFill>
                  <a:schemeClr val="tx1"/>
                </a:solidFill>
                <a:latin typeface="Tahoma" panose="020B0604030504040204" pitchFamily="34" charset="0"/>
                <a:ea typeface="MS PGothic" panose="020B0600070205080204" pitchFamily="34" charset="-128"/>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ahoma" panose="020B0604030504040204" pitchFamily="34" charset="0"/>
                <a:ea typeface="MS PGothic" panose="020B0600070205080204" pitchFamily="34" charset="-128"/>
              </a:defRPr>
            </a:lvl9pPr>
          </a:lstStyle>
          <a:p>
            <a:pPr algn="r"/>
            <a:r>
              <a:rPr lang="en-US" sz="1600" dirty="0" err="1">
                <a:solidFill>
                  <a:schemeClr val="tx1">
                    <a:lumMod val="95000"/>
                    <a:lumOff val="5000"/>
                  </a:schemeClr>
                </a:solidFill>
                <a:latin typeface="Times New Roman" panose="02020603050405020304" pitchFamily="18" charset="0"/>
                <a:cs typeface="Times New Roman" panose="02020603050405020304" pitchFamily="18" charset="0"/>
              </a:rPr>
              <a:t>Y.Gu</a:t>
            </a:r>
            <a:r>
              <a:rPr lang="en-US" sz="1600" dirty="0">
                <a:solidFill>
                  <a:schemeClr val="tx1">
                    <a:lumMod val="95000"/>
                    <a:lumOff val="5000"/>
                  </a:schemeClr>
                </a:solidFill>
                <a:latin typeface="Times New Roman" panose="02020603050405020304" pitchFamily="18" charset="0"/>
                <a:cs typeface="Times New Roman" panose="02020603050405020304" pitchFamily="18" charset="0"/>
              </a:rPr>
              <a:t> 16/10/2019</a:t>
            </a:r>
            <a:endParaRPr lang="en-US" sz="1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r"/>
            <a:endParaRPr lang="zh-CN" altLang="en-US" dirty="0"/>
          </a:p>
        </p:txBody>
      </p:sp>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17" name="Rectangle 2"/>
          <p:cNvSpPr>
            <a:spLocks noChangeArrowheads="1"/>
          </p:cNvSpPr>
          <p:nvPr/>
        </p:nvSpPr>
        <p:spPr bwMode="auto">
          <a:xfrm>
            <a:off x="990600" y="757912"/>
            <a:ext cx="3581400" cy="1323439"/>
          </a:xfrm>
          <a:prstGeom prst="rect">
            <a:avLst/>
          </a:prstGeom>
          <a:noFill/>
          <a:ln w="9525">
            <a:noFill/>
            <a:miter lim="800000"/>
          </a:ln>
        </p:spPr>
        <p:txBody>
          <a:bodyPr>
            <a:spAutoFit/>
          </a:bodyPr>
          <a:lstStyle/>
          <a:p>
            <a:r>
              <a:rPr lang="zh-CN" altLang="en-US" sz="2000" b="1" u="sng" dirty="0">
                <a:solidFill>
                  <a:srgbClr val="EF2F09"/>
                </a:solidFill>
                <a:latin typeface="Times New Roman" panose="02020603050405020304" pitchFamily="18" charset="0"/>
                <a:ea typeface="楷体_GB2312" pitchFamily="49" charset="-122"/>
              </a:rPr>
              <a:t>定理</a:t>
            </a:r>
            <a:r>
              <a:rPr lang="en-US" altLang="zh-CN" sz="2000" b="1" u="sng" dirty="0">
                <a:solidFill>
                  <a:srgbClr val="EF2F09"/>
                </a:solidFill>
                <a:latin typeface="Times New Roman" panose="02020603050405020304" pitchFamily="18" charset="0"/>
                <a:ea typeface="楷体_GB2312" pitchFamily="49" charset="-122"/>
              </a:rPr>
              <a:t>3.5(</a:t>
            </a:r>
            <a:r>
              <a:rPr lang="zh-CN" altLang="en-US" sz="2000" b="1" u="sng" dirty="0">
                <a:solidFill>
                  <a:srgbClr val="EF2F09"/>
                </a:solidFill>
                <a:latin typeface="Times New Roman" panose="02020603050405020304" pitchFamily="18" charset="0"/>
                <a:ea typeface="楷体_GB2312" pitchFamily="49" charset="-122"/>
              </a:rPr>
              <a:t>互补松弛定理</a:t>
            </a:r>
            <a:r>
              <a:rPr lang="en-US" altLang="zh-CN" sz="2000" b="1" u="sng" dirty="0">
                <a:solidFill>
                  <a:srgbClr val="EF2F09"/>
                </a:solidFill>
                <a:latin typeface="Times New Roman" panose="02020603050405020304" pitchFamily="18" charset="0"/>
                <a:ea typeface="楷体_GB2312" pitchFamily="49" charset="-122"/>
              </a:rPr>
              <a:t>)</a:t>
            </a:r>
            <a:r>
              <a:rPr lang="en-US" altLang="zh-CN" sz="2000" b="1" dirty="0">
                <a:solidFill>
                  <a:srgbClr val="EF2F09"/>
                </a:solidFill>
                <a:latin typeface="Times New Roman" panose="02020603050405020304" pitchFamily="18" charset="0"/>
                <a:ea typeface="楷体_GB2312" pitchFamily="49" charset="-122"/>
              </a:rPr>
              <a:t>  </a:t>
            </a:r>
            <a:r>
              <a:rPr kumimoji="1" lang="zh-CN" altLang="en-US" sz="2000" b="1" dirty="0">
                <a:solidFill>
                  <a:srgbClr val="EF2F09"/>
                </a:solidFill>
                <a:latin typeface="Times New Roman" panose="02020603050405020304" pitchFamily="18" charset="0"/>
                <a:ea typeface="楷体_GB2312" pitchFamily="49" charset="-122"/>
              </a:rPr>
              <a:t>若 </a:t>
            </a:r>
            <a:r>
              <a:rPr kumimoji="1" lang="en-US" altLang="zh-CN" sz="2000" b="1" dirty="0">
                <a:solidFill>
                  <a:srgbClr val="EF2F09"/>
                </a:solidFill>
                <a:latin typeface="Times New Roman" panose="02020603050405020304" pitchFamily="18" charset="0"/>
                <a:ea typeface="楷体_GB2312" pitchFamily="49" charset="-122"/>
              </a:rPr>
              <a:t>X</a:t>
            </a:r>
            <a:r>
              <a:rPr lang="en-US" altLang="zh-CN" sz="2000" b="1" dirty="0">
                <a:solidFill>
                  <a:srgbClr val="EF2F09"/>
                </a:solidFill>
                <a:latin typeface="Times New Roman" panose="02020603050405020304" pitchFamily="18" charset="0"/>
                <a:ea typeface="楷体_GB2312" pitchFamily="49" charset="-122"/>
              </a:rPr>
              <a:t> , Y</a:t>
            </a:r>
            <a:r>
              <a:rPr lang="zh-CN" altLang="en-US" sz="2000" b="1" dirty="0">
                <a:solidFill>
                  <a:srgbClr val="EF2F09"/>
                </a:solidFill>
                <a:latin typeface="Times New Roman" panose="02020603050405020304" pitchFamily="18" charset="0"/>
                <a:ea typeface="楷体_GB2312" pitchFamily="49" charset="-122"/>
              </a:rPr>
              <a:t>分别为</a:t>
            </a:r>
            <a:r>
              <a:rPr lang="en-US" altLang="zh-CN" sz="2000" b="1" dirty="0">
                <a:solidFill>
                  <a:srgbClr val="EF2F09"/>
                </a:solidFill>
                <a:latin typeface="Times New Roman" panose="02020603050405020304" pitchFamily="18" charset="0"/>
                <a:ea typeface="楷体_GB2312" pitchFamily="49" charset="-122"/>
              </a:rPr>
              <a:t>(P) , (D)</a:t>
            </a:r>
            <a:r>
              <a:rPr lang="zh-CN" altLang="en-US" sz="2000" b="1" dirty="0">
                <a:solidFill>
                  <a:srgbClr val="EF2F09"/>
                </a:solidFill>
                <a:latin typeface="Times New Roman" panose="02020603050405020304" pitchFamily="18" charset="0"/>
                <a:ea typeface="楷体_GB2312" pitchFamily="49" charset="-122"/>
              </a:rPr>
              <a:t>的可行解，</a:t>
            </a:r>
            <a:r>
              <a:rPr lang="en-US" altLang="zh-CN" sz="2000" b="1" dirty="0">
                <a:solidFill>
                  <a:srgbClr val="EF2F09"/>
                </a:solidFill>
                <a:latin typeface="Times New Roman" panose="02020603050405020304" pitchFamily="18" charset="0"/>
                <a:ea typeface="楷体_GB2312" pitchFamily="49" charset="-122"/>
              </a:rPr>
              <a:t>Ys</a:t>
            </a:r>
            <a:r>
              <a:rPr lang="zh-CN" altLang="en-US" sz="2000" b="1" dirty="0">
                <a:solidFill>
                  <a:srgbClr val="EF2F09"/>
                </a:solidFill>
                <a:latin typeface="Times New Roman" panose="02020603050405020304" pitchFamily="18" charset="0"/>
                <a:ea typeface="楷体_GB2312" pitchFamily="49" charset="-122"/>
              </a:rPr>
              <a:t>与</a:t>
            </a:r>
            <a:r>
              <a:rPr lang="en-US" altLang="zh-CN" sz="2000" b="1" dirty="0" err="1">
                <a:solidFill>
                  <a:srgbClr val="EF2F09"/>
                </a:solidFill>
                <a:latin typeface="Times New Roman" panose="02020603050405020304" pitchFamily="18" charset="0"/>
                <a:ea typeface="楷体_GB2312" pitchFamily="49" charset="-122"/>
              </a:rPr>
              <a:t>Xs</a:t>
            </a:r>
            <a:r>
              <a:rPr lang="zh-CN" altLang="en-US" sz="2000" b="1" dirty="0">
                <a:solidFill>
                  <a:srgbClr val="EF2F09"/>
                </a:solidFill>
                <a:latin typeface="Times New Roman" panose="02020603050405020304" pitchFamily="18" charset="0"/>
                <a:ea typeface="楷体_GB2312" pitchFamily="49" charset="-122"/>
              </a:rPr>
              <a:t>分别</a:t>
            </a:r>
            <a:r>
              <a:rPr lang="zh-CN" altLang="en-US" sz="2000" b="1">
                <a:solidFill>
                  <a:srgbClr val="EF2F09"/>
                </a:solidFill>
                <a:latin typeface="Times New Roman" panose="02020603050405020304" pitchFamily="18" charset="0"/>
                <a:ea typeface="楷体_GB2312" pitchFamily="49" charset="-122"/>
              </a:rPr>
              <a:t>为的松弛变量。则</a:t>
            </a:r>
            <a:r>
              <a:rPr kumimoji="1" lang="en-US" altLang="zh-CN" sz="2000" b="1" dirty="0">
                <a:solidFill>
                  <a:srgbClr val="EF2F09"/>
                </a:solidFill>
                <a:latin typeface="Times New Roman" panose="02020603050405020304" pitchFamily="18" charset="0"/>
                <a:ea typeface="楷体_GB2312" pitchFamily="49" charset="-122"/>
              </a:rPr>
              <a:t>X</a:t>
            </a:r>
            <a:r>
              <a:rPr lang="en-US" altLang="zh-CN" sz="2000" b="1" dirty="0">
                <a:solidFill>
                  <a:srgbClr val="EF2F09"/>
                </a:solidFill>
                <a:latin typeface="Times New Roman" panose="02020603050405020304" pitchFamily="18" charset="0"/>
                <a:ea typeface="楷体_GB2312" pitchFamily="49" charset="-122"/>
              </a:rPr>
              <a:t> , Y</a:t>
            </a:r>
            <a:r>
              <a:rPr lang="zh-CN" altLang="en-US" sz="2000" b="1" dirty="0">
                <a:solidFill>
                  <a:srgbClr val="EF2F09"/>
                </a:solidFill>
                <a:latin typeface="Times New Roman" panose="02020603050405020304" pitchFamily="18" charset="0"/>
                <a:ea typeface="楷体_GB2312" pitchFamily="49" charset="-122"/>
              </a:rPr>
              <a:t>为最优解的充要条件是</a:t>
            </a:r>
            <a:endParaRPr lang="zh-CN" altLang="en-US" sz="2000" b="1" dirty="0">
              <a:solidFill>
                <a:srgbClr val="EF2F09"/>
              </a:solidFill>
              <a:latin typeface="Times New Roman" panose="02020603050405020304" pitchFamily="18" charset="0"/>
              <a:ea typeface="楷体_GB2312" pitchFamily="49" charset="-122"/>
            </a:endParaRPr>
          </a:p>
        </p:txBody>
      </p:sp>
      <p:graphicFrame>
        <p:nvGraphicFramePr>
          <p:cNvPr id="18" name="Object 3"/>
          <p:cNvGraphicFramePr>
            <a:graphicFrameLocks noChangeAspect="1"/>
          </p:cNvGraphicFramePr>
          <p:nvPr/>
        </p:nvGraphicFramePr>
        <p:xfrm>
          <a:off x="4737621" y="921023"/>
          <a:ext cx="2439987" cy="1139825"/>
        </p:xfrm>
        <a:graphic>
          <a:graphicData uri="http://schemas.openxmlformats.org/presentationml/2006/ole">
            <mc:AlternateContent xmlns:mc="http://schemas.openxmlformats.org/markup-compatibility/2006">
              <mc:Choice xmlns:v="urn:schemas-microsoft-com:vml" Requires="v">
                <p:oleObj spid="_x0000_s22529" name="Equation" r:id="rId1" imgW="23469600" imgH="10972800" progId="Equation.3">
                  <p:embed/>
                </p:oleObj>
              </mc:Choice>
              <mc:Fallback>
                <p:oleObj name="Equation" r:id="rId1" imgW="23469600" imgH="10972800" progId="Equation.3">
                  <p:embed/>
                  <p:pic>
                    <p:nvPicPr>
                      <p:cNvPr id="0" name="图片 22528"/>
                      <p:cNvPicPr>
                        <a:picLocks noChangeAspect="1"/>
                      </p:cNvPicPr>
                      <p:nvPr/>
                    </p:nvPicPr>
                    <p:blipFill>
                      <a:blip r:embed="rId2"/>
                      <a:stretch>
                        <a:fillRect/>
                      </a:stretch>
                    </p:blipFill>
                    <p:spPr>
                      <a:xfrm>
                        <a:off x="4737621" y="921023"/>
                        <a:ext cx="2439987" cy="1139825"/>
                      </a:xfrm>
                      <a:prstGeom prst="rect">
                        <a:avLst/>
                      </a:prstGeom>
                      <a:noFill/>
                      <a:ln w="38100" cap="flat" cmpd="sng">
                        <a:solidFill>
                          <a:srgbClr val="EF2F09"/>
                        </a:solidFill>
                        <a:prstDash val="solid"/>
                        <a:miter/>
                        <a:headEnd type="none" w="med" len="med"/>
                        <a:tailEnd type="none" w="med" len="med"/>
                      </a:ln>
                    </p:spPr>
                  </p:pic>
                </p:oleObj>
              </mc:Fallback>
            </mc:AlternateContent>
          </a:graphicData>
        </a:graphic>
      </p:graphicFrame>
      <p:sp>
        <p:nvSpPr>
          <p:cNvPr id="19" name="Text Box 4"/>
          <p:cNvSpPr txBox="1">
            <a:spLocks noChangeArrowheads="1"/>
          </p:cNvSpPr>
          <p:nvPr/>
        </p:nvSpPr>
        <p:spPr bwMode="auto">
          <a:xfrm>
            <a:off x="7253808" y="997223"/>
            <a:ext cx="990600" cy="729430"/>
          </a:xfrm>
          <a:prstGeom prst="rect">
            <a:avLst/>
          </a:prstGeom>
          <a:noFill/>
          <a:ln w="19050">
            <a:noFill/>
            <a:miter lim="800000"/>
          </a:ln>
          <a:effectLst/>
        </p:spPr>
        <p:txBody>
          <a:bodyPr>
            <a:spAutoFit/>
          </a:bodyPr>
          <a:lstStyle/>
          <a:p>
            <a:pPr algn="ctr">
              <a:lnSpc>
                <a:spcPct val="90000"/>
              </a:lnSpc>
              <a:spcBef>
                <a:spcPct val="50000"/>
              </a:spcBef>
              <a:buClr>
                <a:schemeClr val="accent2"/>
              </a:buClr>
              <a:buSzPct val="80000"/>
              <a:buFont typeface="Wingdings" panose="05000000000000000000" pitchFamily="2" charset="2"/>
              <a:buNone/>
            </a:pPr>
            <a:r>
              <a:rPr kumimoji="1" lang="zh-CN" altLang="en-US" b="1" dirty="0">
                <a:solidFill>
                  <a:srgbClr val="EF2F09"/>
                </a:solidFill>
                <a:latin typeface="Times New Roman" panose="02020603050405020304" pitchFamily="18" charset="0"/>
                <a:ea typeface="楷体_GB2312" pitchFamily="49" charset="-122"/>
              </a:rPr>
              <a:t>同时</a:t>
            </a:r>
            <a:endParaRPr kumimoji="1" lang="zh-CN" altLang="en-US" b="1" dirty="0">
              <a:solidFill>
                <a:srgbClr val="EF2F09"/>
              </a:solidFill>
              <a:latin typeface="Times New Roman" panose="02020603050405020304" pitchFamily="18" charset="0"/>
              <a:ea typeface="楷体_GB2312" pitchFamily="49" charset="-122"/>
            </a:endParaRPr>
          </a:p>
          <a:p>
            <a:pPr algn="ctr">
              <a:lnSpc>
                <a:spcPct val="90000"/>
              </a:lnSpc>
              <a:spcBef>
                <a:spcPct val="50000"/>
              </a:spcBef>
              <a:buClr>
                <a:schemeClr val="accent2"/>
              </a:buClr>
              <a:buSzPct val="80000"/>
              <a:buFont typeface="Wingdings" panose="05000000000000000000" pitchFamily="2" charset="2"/>
              <a:buNone/>
            </a:pPr>
            <a:r>
              <a:rPr kumimoji="1" lang="zh-CN" altLang="en-US" b="1" dirty="0">
                <a:solidFill>
                  <a:srgbClr val="EF2F09"/>
                </a:solidFill>
                <a:latin typeface="Times New Roman" panose="02020603050405020304" pitchFamily="18" charset="0"/>
                <a:ea typeface="楷体_GB2312" pitchFamily="49" charset="-122"/>
              </a:rPr>
              <a:t>成立</a:t>
            </a:r>
            <a:endParaRPr kumimoji="1" lang="zh-CN" altLang="en-US" b="1" dirty="0">
              <a:solidFill>
                <a:srgbClr val="EF2F09"/>
              </a:solidFill>
              <a:latin typeface="Times New Roman" panose="02020603050405020304" pitchFamily="18" charset="0"/>
              <a:ea typeface="楷体_GB2312" pitchFamily="49" charset="-122"/>
            </a:endParaRPr>
          </a:p>
        </p:txBody>
      </p:sp>
      <p:sp>
        <p:nvSpPr>
          <p:cNvPr id="20" name="Text Box 5"/>
          <p:cNvSpPr txBox="1">
            <a:spLocks noChangeArrowheads="1"/>
          </p:cNvSpPr>
          <p:nvPr/>
        </p:nvSpPr>
        <p:spPr bwMode="auto">
          <a:xfrm>
            <a:off x="785786" y="2071678"/>
            <a:ext cx="2286000" cy="369332"/>
          </a:xfrm>
          <a:prstGeom prst="rect">
            <a:avLst/>
          </a:prstGeom>
          <a:noFill/>
          <a:ln w="19050">
            <a:noFill/>
            <a:miter lim="800000"/>
          </a:ln>
          <a:effectLst/>
        </p:spPr>
        <p:txBody>
          <a:bodyPr>
            <a:spAutoFit/>
          </a:bodyPr>
          <a:lstStyle/>
          <a:p>
            <a:pPr algn="ctr">
              <a:lnSpc>
                <a:spcPct val="90000"/>
              </a:lnSpc>
              <a:spcBef>
                <a:spcPct val="50000"/>
              </a:spcBef>
              <a:buClr>
                <a:schemeClr val="accent2"/>
              </a:buClr>
              <a:buSzPct val="80000"/>
              <a:buFont typeface="Wingdings" panose="05000000000000000000" pitchFamily="2" charset="2"/>
              <a:buNone/>
            </a:pPr>
            <a:r>
              <a:rPr kumimoji="1" lang="zh-CN" altLang="en-US" sz="2000" dirty="0">
                <a:latin typeface="楷体_GB2312" pitchFamily="49" charset="-122"/>
                <a:ea typeface="楷体_GB2312" pitchFamily="49" charset="-122"/>
              </a:rPr>
              <a:t>证</a:t>
            </a:r>
            <a:r>
              <a:rPr kumimoji="1" lang="en-US" altLang="zh-CN" sz="2000" dirty="0">
                <a:latin typeface="楷体_GB2312" pitchFamily="49" charset="-122"/>
                <a:ea typeface="楷体_GB2312" pitchFamily="49" charset="-122"/>
                <a:sym typeface="Wingdings" panose="05000000000000000000" pitchFamily="2" charset="2"/>
              </a:rPr>
              <a:t>: (</a:t>
            </a:r>
            <a:r>
              <a:rPr kumimoji="1" lang="zh-CN" altLang="en-US" sz="2000" dirty="0">
                <a:latin typeface="楷体_GB2312" pitchFamily="49" charset="-122"/>
                <a:ea typeface="楷体_GB2312" pitchFamily="49" charset="-122"/>
              </a:rPr>
              <a:t>必要性）</a:t>
            </a:r>
            <a:endParaRPr kumimoji="1" lang="zh-CN" altLang="en-US" sz="2000" dirty="0">
              <a:latin typeface="楷体_GB2312" pitchFamily="49" charset="-122"/>
              <a:ea typeface="楷体_GB2312" pitchFamily="49" charset="-122"/>
            </a:endParaRPr>
          </a:p>
        </p:txBody>
      </p:sp>
      <p:sp>
        <p:nvSpPr>
          <p:cNvPr id="21" name="Text Box 6"/>
          <p:cNvSpPr txBox="1">
            <a:spLocks noChangeArrowheads="1"/>
          </p:cNvSpPr>
          <p:nvPr/>
        </p:nvSpPr>
        <p:spPr bwMode="auto">
          <a:xfrm>
            <a:off x="1295400" y="2400303"/>
            <a:ext cx="6400800" cy="369332"/>
          </a:xfrm>
          <a:prstGeom prst="rect">
            <a:avLst/>
          </a:prstGeom>
          <a:noFill/>
          <a:ln w="19050">
            <a:noFill/>
            <a:miter lim="800000"/>
          </a:ln>
          <a:effectLst/>
        </p:spPr>
        <p:txBody>
          <a:bodyPr>
            <a:spAutoFit/>
          </a:bodyPr>
          <a:lstStyle/>
          <a:p>
            <a:pPr algn="ctr">
              <a:lnSpc>
                <a:spcPct val="90000"/>
              </a:lnSpc>
              <a:spcBef>
                <a:spcPct val="50000"/>
              </a:spcBef>
              <a:buClr>
                <a:schemeClr val="accent2"/>
              </a:buClr>
              <a:buSzPct val="80000"/>
              <a:buFont typeface="Wingdings" panose="05000000000000000000" pitchFamily="2" charset="2"/>
              <a:buNone/>
            </a:pPr>
            <a:r>
              <a:rPr kumimoji="1" lang="zh-CN" altLang="en-US" sz="2000" dirty="0">
                <a:latin typeface="楷体_GB2312" pitchFamily="49" charset="-122"/>
                <a:ea typeface="楷体_GB2312" pitchFamily="49" charset="-122"/>
              </a:rPr>
              <a:t>原问题                    对偶问题</a:t>
            </a:r>
            <a:endParaRPr kumimoji="1" lang="zh-CN" altLang="en-US" sz="2000" dirty="0">
              <a:latin typeface="楷体_GB2312" pitchFamily="49" charset="-122"/>
              <a:ea typeface="楷体_GB2312" pitchFamily="49" charset="-122"/>
            </a:endParaRPr>
          </a:p>
        </p:txBody>
      </p:sp>
      <p:graphicFrame>
        <p:nvGraphicFramePr>
          <p:cNvPr id="22" name="Object 7"/>
          <p:cNvGraphicFramePr>
            <a:graphicFrameLocks noChangeAspect="1"/>
          </p:cNvGraphicFramePr>
          <p:nvPr/>
        </p:nvGraphicFramePr>
        <p:xfrm>
          <a:off x="1130300" y="2933703"/>
          <a:ext cx="2614613" cy="1217613"/>
        </p:xfrm>
        <a:graphic>
          <a:graphicData uri="http://schemas.openxmlformats.org/presentationml/2006/ole">
            <mc:AlternateContent xmlns:mc="http://schemas.openxmlformats.org/markup-compatibility/2006">
              <mc:Choice xmlns:v="urn:schemas-microsoft-com:vml" Requires="v">
                <p:oleObj spid="_x0000_s22530" name="Equation" r:id="rId3" imgW="31394400" imgH="14630400" progId="Equation.3">
                  <p:embed/>
                </p:oleObj>
              </mc:Choice>
              <mc:Fallback>
                <p:oleObj name="Equation" r:id="rId3" imgW="31394400" imgH="14630400" progId="Equation.3">
                  <p:embed/>
                  <p:pic>
                    <p:nvPicPr>
                      <p:cNvPr id="0" name="图片 22529"/>
                      <p:cNvPicPr>
                        <a:picLocks noChangeAspect="1"/>
                      </p:cNvPicPr>
                      <p:nvPr/>
                    </p:nvPicPr>
                    <p:blipFill>
                      <a:blip r:embed="rId4"/>
                      <a:stretch>
                        <a:fillRect/>
                      </a:stretch>
                    </p:blipFill>
                    <p:spPr>
                      <a:xfrm>
                        <a:off x="1130300" y="2933703"/>
                        <a:ext cx="2614613" cy="1217613"/>
                      </a:xfrm>
                      <a:prstGeom prst="rect">
                        <a:avLst/>
                      </a:prstGeom>
                      <a:noFill/>
                      <a:ln w="9525">
                        <a:noFill/>
                      </a:ln>
                    </p:spPr>
                  </p:pic>
                </p:oleObj>
              </mc:Fallback>
            </mc:AlternateContent>
          </a:graphicData>
        </a:graphic>
      </p:graphicFrame>
      <p:graphicFrame>
        <p:nvGraphicFramePr>
          <p:cNvPr id="23" name="Object 8"/>
          <p:cNvGraphicFramePr>
            <a:graphicFrameLocks noChangeAspect="1"/>
          </p:cNvGraphicFramePr>
          <p:nvPr/>
        </p:nvGraphicFramePr>
        <p:xfrm>
          <a:off x="5246688" y="2857503"/>
          <a:ext cx="2309812" cy="1217613"/>
        </p:xfrm>
        <a:graphic>
          <a:graphicData uri="http://schemas.openxmlformats.org/presentationml/2006/ole">
            <mc:AlternateContent xmlns:mc="http://schemas.openxmlformats.org/markup-compatibility/2006">
              <mc:Choice xmlns:v="urn:schemas-microsoft-com:vml" Requires="v">
                <p:oleObj spid="_x0000_s22531" name="Equation" r:id="rId5" imgW="27736800" imgH="14630400" progId="Equation.3">
                  <p:embed/>
                </p:oleObj>
              </mc:Choice>
              <mc:Fallback>
                <p:oleObj name="Equation" r:id="rId5" imgW="27736800" imgH="14630400" progId="Equation.3">
                  <p:embed/>
                  <p:pic>
                    <p:nvPicPr>
                      <p:cNvPr id="0" name="图片 22530"/>
                      <p:cNvPicPr>
                        <a:picLocks noChangeAspect="1"/>
                      </p:cNvPicPr>
                      <p:nvPr/>
                    </p:nvPicPr>
                    <p:blipFill>
                      <a:blip r:embed="rId6"/>
                      <a:stretch>
                        <a:fillRect/>
                      </a:stretch>
                    </p:blipFill>
                    <p:spPr>
                      <a:xfrm>
                        <a:off x="5246688" y="2857503"/>
                        <a:ext cx="2309812" cy="1217613"/>
                      </a:xfrm>
                      <a:prstGeom prst="rect">
                        <a:avLst/>
                      </a:prstGeom>
                      <a:noFill/>
                      <a:ln w="9525">
                        <a:noFill/>
                      </a:ln>
                    </p:spPr>
                  </p:pic>
                </p:oleObj>
              </mc:Fallback>
            </mc:AlternateContent>
          </a:graphicData>
        </a:graphic>
      </p:graphicFrame>
      <p:graphicFrame>
        <p:nvGraphicFramePr>
          <p:cNvPr id="24" name="Object 9"/>
          <p:cNvGraphicFramePr>
            <a:graphicFrameLocks noChangeAspect="1"/>
          </p:cNvGraphicFramePr>
          <p:nvPr/>
        </p:nvGraphicFramePr>
        <p:xfrm>
          <a:off x="990600" y="4337053"/>
          <a:ext cx="1630363" cy="460375"/>
        </p:xfrm>
        <a:graphic>
          <a:graphicData uri="http://schemas.openxmlformats.org/presentationml/2006/ole">
            <mc:AlternateContent xmlns:mc="http://schemas.openxmlformats.org/markup-compatibility/2006">
              <mc:Choice xmlns:v="urn:schemas-microsoft-com:vml" Requires="v">
                <p:oleObj spid="_x0000_s22532" name="Equation" r:id="rId7" imgW="19507200" imgH="5486400" progId="Equation.3">
                  <p:embed/>
                </p:oleObj>
              </mc:Choice>
              <mc:Fallback>
                <p:oleObj name="Equation" r:id="rId7" imgW="19507200" imgH="5486400" progId="Equation.3">
                  <p:embed/>
                  <p:pic>
                    <p:nvPicPr>
                      <p:cNvPr id="0" name="图片 22531"/>
                      <p:cNvPicPr>
                        <a:picLocks noChangeAspect="1"/>
                      </p:cNvPicPr>
                      <p:nvPr/>
                    </p:nvPicPr>
                    <p:blipFill>
                      <a:blip r:embed="rId8"/>
                      <a:stretch>
                        <a:fillRect/>
                      </a:stretch>
                    </p:blipFill>
                    <p:spPr>
                      <a:xfrm>
                        <a:off x="990600" y="4337053"/>
                        <a:ext cx="1630363" cy="460375"/>
                      </a:xfrm>
                      <a:prstGeom prst="rect">
                        <a:avLst/>
                      </a:prstGeom>
                      <a:noFill/>
                      <a:ln w="19050">
                        <a:noFill/>
                      </a:ln>
                    </p:spPr>
                  </p:pic>
                </p:oleObj>
              </mc:Fallback>
            </mc:AlternateContent>
          </a:graphicData>
        </a:graphic>
      </p:graphicFrame>
      <p:graphicFrame>
        <p:nvGraphicFramePr>
          <p:cNvPr id="25" name="Object 10"/>
          <p:cNvGraphicFramePr>
            <a:graphicFrameLocks noChangeAspect="1"/>
          </p:cNvGraphicFramePr>
          <p:nvPr/>
        </p:nvGraphicFramePr>
        <p:xfrm>
          <a:off x="5029200" y="4305303"/>
          <a:ext cx="1450975" cy="460375"/>
        </p:xfrm>
        <a:graphic>
          <a:graphicData uri="http://schemas.openxmlformats.org/presentationml/2006/ole">
            <mc:AlternateContent xmlns:mc="http://schemas.openxmlformats.org/markup-compatibility/2006">
              <mc:Choice xmlns:v="urn:schemas-microsoft-com:vml" Requires="v">
                <p:oleObj spid="_x0000_s22533" name="Equation" r:id="rId9" imgW="17373600" imgH="5486400" progId="Equation.3">
                  <p:embed/>
                </p:oleObj>
              </mc:Choice>
              <mc:Fallback>
                <p:oleObj name="Equation" r:id="rId9" imgW="17373600" imgH="5486400" progId="Equation.3">
                  <p:embed/>
                  <p:pic>
                    <p:nvPicPr>
                      <p:cNvPr id="0" name="图片 22532"/>
                      <p:cNvPicPr>
                        <a:picLocks noChangeAspect="1"/>
                      </p:cNvPicPr>
                      <p:nvPr/>
                    </p:nvPicPr>
                    <p:blipFill>
                      <a:blip r:embed="rId10"/>
                      <a:stretch>
                        <a:fillRect/>
                      </a:stretch>
                    </p:blipFill>
                    <p:spPr>
                      <a:xfrm>
                        <a:off x="5029200" y="4305303"/>
                        <a:ext cx="1450975" cy="460375"/>
                      </a:xfrm>
                      <a:prstGeom prst="rect">
                        <a:avLst/>
                      </a:prstGeom>
                      <a:noFill/>
                      <a:ln w="19050">
                        <a:noFill/>
                      </a:ln>
                    </p:spPr>
                  </p:pic>
                </p:oleObj>
              </mc:Fallback>
            </mc:AlternateContent>
          </a:graphicData>
        </a:graphic>
      </p:graphicFrame>
      <p:graphicFrame>
        <p:nvGraphicFramePr>
          <p:cNvPr id="26" name="Object 11"/>
          <p:cNvGraphicFramePr>
            <a:graphicFrameLocks noChangeAspect="1"/>
          </p:cNvGraphicFramePr>
          <p:nvPr/>
        </p:nvGraphicFramePr>
        <p:xfrm>
          <a:off x="2763838" y="4311653"/>
          <a:ext cx="1808162" cy="460375"/>
        </p:xfrm>
        <a:graphic>
          <a:graphicData uri="http://schemas.openxmlformats.org/presentationml/2006/ole">
            <mc:AlternateContent xmlns:mc="http://schemas.openxmlformats.org/markup-compatibility/2006">
              <mc:Choice xmlns:v="urn:schemas-microsoft-com:vml" Requires="v">
                <p:oleObj spid="_x0000_s22534" name="Equation" r:id="rId11" imgW="21640800" imgH="5486400" progId="Equation.3">
                  <p:embed/>
                </p:oleObj>
              </mc:Choice>
              <mc:Fallback>
                <p:oleObj name="Equation" r:id="rId11" imgW="21640800" imgH="5486400" progId="Equation.3">
                  <p:embed/>
                  <p:pic>
                    <p:nvPicPr>
                      <p:cNvPr id="0" name="图片 22533"/>
                      <p:cNvPicPr>
                        <a:picLocks noChangeAspect="1"/>
                      </p:cNvPicPr>
                      <p:nvPr/>
                    </p:nvPicPr>
                    <p:blipFill>
                      <a:blip r:embed="rId12"/>
                      <a:stretch>
                        <a:fillRect/>
                      </a:stretch>
                    </p:blipFill>
                    <p:spPr>
                      <a:xfrm>
                        <a:off x="2763838" y="4311653"/>
                        <a:ext cx="1808162" cy="460375"/>
                      </a:xfrm>
                      <a:prstGeom prst="rect">
                        <a:avLst/>
                      </a:prstGeom>
                      <a:noFill/>
                      <a:ln w="19050">
                        <a:noFill/>
                      </a:ln>
                    </p:spPr>
                  </p:pic>
                </p:oleObj>
              </mc:Fallback>
            </mc:AlternateContent>
          </a:graphicData>
        </a:graphic>
      </p:graphicFrame>
      <p:graphicFrame>
        <p:nvGraphicFramePr>
          <p:cNvPr id="27" name="Object 12"/>
          <p:cNvGraphicFramePr>
            <a:graphicFrameLocks noChangeAspect="1"/>
          </p:cNvGraphicFramePr>
          <p:nvPr/>
        </p:nvGraphicFramePr>
        <p:xfrm>
          <a:off x="6554788" y="4308478"/>
          <a:ext cx="1628775" cy="460375"/>
        </p:xfrm>
        <a:graphic>
          <a:graphicData uri="http://schemas.openxmlformats.org/presentationml/2006/ole">
            <mc:AlternateContent xmlns:mc="http://schemas.openxmlformats.org/markup-compatibility/2006">
              <mc:Choice xmlns:v="urn:schemas-microsoft-com:vml" Requires="v">
                <p:oleObj spid="_x0000_s22535" name="Equation" r:id="rId13" imgW="19507200" imgH="5486400" progId="Equation.3">
                  <p:embed/>
                </p:oleObj>
              </mc:Choice>
              <mc:Fallback>
                <p:oleObj name="Equation" r:id="rId13" imgW="19507200" imgH="5486400" progId="Equation.3">
                  <p:embed/>
                  <p:pic>
                    <p:nvPicPr>
                      <p:cNvPr id="0" name="图片 22534"/>
                      <p:cNvPicPr>
                        <a:picLocks noChangeAspect="1"/>
                      </p:cNvPicPr>
                      <p:nvPr/>
                    </p:nvPicPr>
                    <p:blipFill>
                      <a:blip r:embed="rId14"/>
                      <a:stretch>
                        <a:fillRect/>
                      </a:stretch>
                    </p:blipFill>
                    <p:spPr>
                      <a:xfrm>
                        <a:off x="6554788" y="4308478"/>
                        <a:ext cx="1628775" cy="460375"/>
                      </a:xfrm>
                      <a:prstGeom prst="rect">
                        <a:avLst/>
                      </a:prstGeom>
                      <a:noFill/>
                      <a:ln w="19050">
                        <a:noFill/>
                      </a:ln>
                    </p:spPr>
                  </p:pic>
                </p:oleObj>
              </mc:Fallback>
            </mc:AlternateContent>
          </a:graphicData>
        </a:graphic>
      </p:graphicFrame>
      <p:graphicFrame>
        <p:nvGraphicFramePr>
          <p:cNvPr id="28" name="Object 13"/>
          <p:cNvGraphicFramePr>
            <a:graphicFrameLocks noChangeAspect="1"/>
          </p:cNvGraphicFramePr>
          <p:nvPr/>
        </p:nvGraphicFramePr>
        <p:xfrm>
          <a:off x="1828800" y="4991103"/>
          <a:ext cx="2012950" cy="460375"/>
        </p:xfrm>
        <a:graphic>
          <a:graphicData uri="http://schemas.openxmlformats.org/presentationml/2006/ole">
            <mc:AlternateContent xmlns:mc="http://schemas.openxmlformats.org/markup-compatibility/2006">
              <mc:Choice xmlns:v="urn:schemas-microsoft-com:vml" Requires="v">
                <p:oleObj spid="_x0000_s22536" name="Equation" r:id="rId15" imgW="24079200" imgH="5486400" progId="Equation.3">
                  <p:embed/>
                </p:oleObj>
              </mc:Choice>
              <mc:Fallback>
                <p:oleObj name="Equation" r:id="rId15" imgW="24079200" imgH="5486400" progId="Equation.3">
                  <p:embed/>
                  <p:pic>
                    <p:nvPicPr>
                      <p:cNvPr id="0" name="图片 22535"/>
                      <p:cNvPicPr>
                        <a:picLocks noChangeAspect="1"/>
                      </p:cNvPicPr>
                      <p:nvPr/>
                    </p:nvPicPr>
                    <p:blipFill>
                      <a:blip r:embed="rId16"/>
                      <a:stretch>
                        <a:fillRect/>
                      </a:stretch>
                    </p:blipFill>
                    <p:spPr>
                      <a:xfrm>
                        <a:off x="1828800" y="4991103"/>
                        <a:ext cx="2012950" cy="460375"/>
                      </a:xfrm>
                      <a:prstGeom prst="rect">
                        <a:avLst/>
                      </a:prstGeom>
                      <a:noFill/>
                      <a:ln w="38100" cap="flat" cmpd="sng">
                        <a:solidFill>
                          <a:srgbClr val="CC6600"/>
                        </a:solidFill>
                        <a:prstDash val="solid"/>
                        <a:miter/>
                        <a:headEnd type="none" w="med" len="med"/>
                        <a:tailEnd type="none" w="med" len="med"/>
                      </a:ln>
                    </p:spPr>
                  </p:pic>
                </p:oleObj>
              </mc:Fallback>
            </mc:AlternateContent>
          </a:graphicData>
        </a:graphic>
      </p:graphicFrame>
      <p:graphicFrame>
        <p:nvGraphicFramePr>
          <p:cNvPr id="29" name="Object 14"/>
          <p:cNvGraphicFramePr>
            <a:graphicFrameLocks noChangeAspect="1"/>
          </p:cNvGraphicFramePr>
          <p:nvPr/>
        </p:nvGraphicFramePr>
        <p:xfrm>
          <a:off x="5151438" y="4991103"/>
          <a:ext cx="2163762" cy="460375"/>
        </p:xfrm>
        <a:graphic>
          <a:graphicData uri="http://schemas.openxmlformats.org/presentationml/2006/ole">
            <mc:AlternateContent xmlns:mc="http://schemas.openxmlformats.org/markup-compatibility/2006">
              <mc:Choice xmlns:v="urn:schemas-microsoft-com:vml" Requires="v">
                <p:oleObj spid="_x0000_s22537" name="Equation" r:id="rId17" imgW="25908000" imgH="5486400" progId="Equation.3">
                  <p:embed/>
                </p:oleObj>
              </mc:Choice>
              <mc:Fallback>
                <p:oleObj name="Equation" r:id="rId17" imgW="25908000" imgH="5486400" progId="Equation.3">
                  <p:embed/>
                  <p:pic>
                    <p:nvPicPr>
                      <p:cNvPr id="0" name="图片 22536"/>
                      <p:cNvPicPr>
                        <a:picLocks noChangeAspect="1"/>
                      </p:cNvPicPr>
                      <p:nvPr/>
                    </p:nvPicPr>
                    <p:blipFill>
                      <a:blip r:embed="rId18"/>
                      <a:stretch>
                        <a:fillRect/>
                      </a:stretch>
                    </p:blipFill>
                    <p:spPr>
                      <a:xfrm>
                        <a:off x="5151438" y="4991103"/>
                        <a:ext cx="2163762" cy="460375"/>
                      </a:xfrm>
                      <a:prstGeom prst="rect">
                        <a:avLst/>
                      </a:prstGeom>
                      <a:noFill/>
                      <a:ln w="38100" cap="flat" cmpd="sng">
                        <a:solidFill>
                          <a:srgbClr val="CC6600"/>
                        </a:solidFill>
                        <a:prstDash val="solid"/>
                        <a:miter/>
                        <a:headEnd type="none" w="med" len="med"/>
                        <a:tailEnd type="none" w="med" len="med"/>
                      </a:ln>
                    </p:spPr>
                  </p:pic>
                </p:oleObj>
              </mc:Fallback>
            </mc:AlternateContent>
          </a:graphicData>
        </a:graphic>
      </p:graphicFrame>
      <p:graphicFrame>
        <p:nvGraphicFramePr>
          <p:cNvPr id="30" name="Object 15"/>
          <p:cNvGraphicFramePr>
            <a:graphicFrameLocks noChangeAspect="1"/>
          </p:cNvGraphicFramePr>
          <p:nvPr/>
        </p:nvGraphicFramePr>
        <p:xfrm>
          <a:off x="3663950" y="5753103"/>
          <a:ext cx="1784350" cy="460375"/>
        </p:xfrm>
        <a:graphic>
          <a:graphicData uri="http://schemas.openxmlformats.org/presentationml/2006/ole">
            <mc:AlternateContent xmlns:mc="http://schemas.openxmlformats.org/markup-compatibility/2006">
              <mc:Choice xmlns:v="urn:schemas-microsoft-com:vml" Requires="v">
                <p:oleObj spid="_x0000_s22538" name="Equation" r:id="rId19" imgW="21336000" imgH="5486400" progId="Equation.3">
                  <p:embed/>
                </p:oleObj>
              </mc:Choice>
              <mc:Fallback>
                <p:oleObj name="Equation" r:id="rId19" imgW="21336000" imgH="5486400" progId="Equation.3">
                  <p:embed/>
                  <p:pic>
                    <p:nvPicPr>
                      <p:cNvPr id="0" name="图片 22537"/>
                      <p:cNvPicPr>
                        <a:picLocks noChangeAspect="1"/>
                      </p:cNvPicPr>
                      <p:nvPr/>
                    </p:nvPicPr>
                    <p:blipFill>
                      <a:blip r:embed="rId20"/>
                      <a:stretch>
                        <a:fillRect/>
                      </a:stretch>
                    </p:blipFill>
                    <p:spPr>
                      <a:xfrm>
                        <a:off x="3663950" y="5753103"/>
                        <a:ext cx="1784350" cy="460375"/>
                      </a:xfrm>
                      <a:prstGeom prst="rect">
                        <a:avLst/>
                      </a:prstGeom>
                      <a:noFill/>
                      <a:ln w="38100" cap="flat" cmpd="sng">
                        <a:solidFill>
                          <a:srgbClr val="EF2F09"/>
                        </a:solidFill>
                        <a:prstDash val="solid"/>
                        <a:miter/>
                        <a:headEnd type="none" w="med" len="med"/>
                        <a:tailEnd type="none" w="med" len="med"/>
                      </a:ln>
                    </p:spPr>
                  </p:pic>
                </p:oleObj>
              </mc:Fallback>
            </mc:AlternateContent>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17" name="Rectangle 2"/>
          <p:cNvSpPr>
            <a:spLocks noChangeArrowheads="1"/>
          </p:cNvSpPr>
          <p:nvPr/>
        </p:nvSpPr>
        <p:spPr bwMode="auto">
          <a:xfrm>
            <a:off x="827584" y="1134611"/>
            <a:ext cx="7325816" cy="3662541"/>
          </a:xfrm>
          <a:prstGeom prst="rect">
            <a:avLst/>
          </a:prstGeom>
          <a:noFill/>
          <a:ln w="9525">
            <a:noFill/>
            <a:miter lim="800000"/>
          </a:ln>
        </p:spPr>
        <p:txBody>
          <a:bodyPr wrap="square">
            <a:spAutoFit/>
          </a:bodyPr>
          <a:lstStyle/>
          <a:p>
            <a:r>
              <a:rPr lang="zh-CN" altLang="en-US" sz="3200" b="1" dirty="0">
                <a:solidFill>
                  <a:srgbClr val="EF2F09"/>
                </a:solidFill>
                <a:latin typeface="Times New Roman" panose="02020603050405020304" pitchFamily="18" charset="0"/>
                <a:ea typeface="楷体_GB2312" pitchFamily="49" charset="-122"/>
              </a:rPr>
              <a:t>定理</a:t>
            </a:r>
            <a:r>
              <a:rPr lang="en-US" altLang="zh-CN" sz="3200" b="1" dirty="0">
                <a:solidFill>
                  <a:srgbClr val="EF2F09"/>
                </a:solidFill>
                <a:latin typeface="Times New Roman" panose="02020603050405020304" pitchFamily="18" charset="0"/>
                <a:ea typeface="楷体_GB2312" pitchFamily="49" charset="-122"/>
              </a:rPr>
              <a:t>3.5(</a:t>
            </a:r>
            <a:r>
              <a:rPr lang="zh-CN" altLang="en-US" sz="3200" b="1" dirty="0">
                <a:solidFill>
                  <a:srgbClr val="EF2F09"/>
                </a:solidFill>
                <a:latin typeface="Times New Roman" panose="02020603050405020304" pitchFamily="18" charset="0"/>
                <a:ea typeface="楷体_GB2312" pitchFamily="49" charset="-122"/>
              </a:rPr>
              <a:t>互补松弛定理</a:t>
            </a:r>
            <a:r>
              <a:rPr lang="en-US" altLang="zh-CN" sz="3200" b="1" dirty="0">
                <a:solidFill>
                  <a:srgbClr val="EF2F09"/>
                </a:solidFill>
                <a:latin typeface="Times New Roman" panose="02020603050405020304" pitchFamily="18" charset="0"/>
                <a:ea typeface="楷体_GB2312" pitchFamily="49" charset="-122"/>
              </a:rPr>
              <a:t>)</a:t>
            </a:r>
            <a:endParaRPr lang="en-US" altLang="zh-CN" sz="3200" b="1" dirty="0">
              <a:solidFill>
                <a:srgbClr val="EF2F09"/>
              </a:solidFill>
              <a:latin typeface="Times New Roman" panose="02020603050405020304" pitchFamily="18" charset="0"/>
              <a:ea typeface="楷体_GB2312" pitchFamily="49" charset="-122"/>
            </a:endParaRPr>
          </a:p>
          <a:p>
            <a:endParaRPr lang="en-US" altLang="zh-CN" sz="2000" b="1" u="sng" dirty="0">
              <a:solidFill>
                <a:srgbClr val="EF2F09"/>
              </a:solidFill>
              <a:latin typeface="Times New Roman" panose="02020603050405020304" pitchFamily="18" charset="0"/>
              <a:ea typeface="楷体_GB2312" pitchFamily="49" charset="-122"/>
            </a:endParaRPr>
          </a:p>
          <a:p>
            <a:endParaRPr lang="en-US" altLang="zh-CN" sz="2000" b="1" u="sng" dirty="0">
              <a:solidFill>
                <a:srgbClr val="EF2F09"/>
              </a:solidFill>
              <a:latin typeface="Times New Roman" panose="02020603050405020304" pitchFamily="18" charset="0"/>
              <a:ea typeface="楷体_GB2312" pitchFamily="49" charset="-122"/>
            </a:endParaRPr>
          </a:p>
          <a:p>
            <a:r>
              <a:rPr lang="en-US" altLang="zh-CN" sz="2400" dirty="0">
                <a:solidFill>
                  <a:srgbClr val="0000FF"/>
                </a:solidFill>
                <a:latin typeface="Times New Roman" panose="02020603050405020304" pitchFamily="18" charset="0"/>
                <a:ea typeface="楷体_GB2312" pitchFamily="49" charset="-122"/>
              </a:rPr>
              <a:t>1.</a:t>
            </a:r>
            <a:r>
              <a:rPr lang="zh-CN" altLang="en-US" sz="2400" dirty="0">
                <a:solidFill>
                  <a:srgbClr val="0000FF"/>
                </a:solidFill>
                <a:latin typeface="Times New Roman" panose="02020603050405020304" pitchFamily="18" charset="0"/>
                <a:ea typeface="楷体_GB2312" pitchFamily="49" charset="-122"/>
              </a:rPr>
              <a:t> 假如一个问题的某个变量取</a:t>
            </a:r>
            <a:r>
              <a:rPr lang="zh-CN" altLang="x-none" sz="2400" dirty="0">
                <a:solidFill>
                  <a:srgbClr val="0000FF"/>
                </a:solidFill>
                <a:latin typeface="Times New Roman" panose="02020603050405020304" pitchFamily="18" charset="0"/>
                <a:ea typeface="楷体_GB2312" pitchFamily="49" charset="-122"/>
              </a:rPr>
              <a:t>非零数</a:t>
            </a:r>
            <a:r>
              <a:rPr lang="zh-CN" altLang="en-US" sz="2400" dirty="0">
                <a:solidFill>
                  <a:srgbClr val="0000FF"/>
                </a:solidFill>
                <a:latin typeface="Times New Roman" panose="02020603050405020304" pitchFamily="18" charset="0"/>
                <a:ea typeface="楷体_GB2312" pitchFamily="49" charset="-122"/>
              </a:rPr>
              <a:t>，则相应问题的另外一个约束条件必取等式</a:t>
            </a:r>
            <a:endParaRPr lang="en-US" altLang="zh-CN" sz="2400" dirty="0">
              <a:solidFill>
                <a:srgbClr val="0000FF"/>
              </a:solidFill>
              <a:latin typeface="Times New Roman" panose="02020603050405020304" pitchFamily="18" charset="0"/>
              <a:ea typeface="楷体_GB2312" pitchFamily="49" charset="-122"/>
            </a:endParaRPr>
          </a:p>
          <a:p>
            <a:endParaRPr lang="en-US" altLang="zh-CN" sz="2400" dirty="0">
              <a:solidFill>
                <a:srgbClr val="0000FF"/>
              </a:solidFill>
              <a:latin typeface="Times New Roman" panose="02020603050405020304" pitchFamily="18" charset="0"/>
              <a:ea typeface="楷体_GB2312" pitchFamily="49" charset="-122"/>
            </a:endParaRPr>
          </a:p>
          <a:p>
            <a:r>
              <a:rPr lang="en-US" altLang="zh-CN" sz="2400" dirty="0">
                <a:solidFill>
                  <a:srgbClr val="0000FF"/>
                </a:solidFill>
                <a:latin typeface="Times New Roman" panose="02020603050405020304" pitchFamily="18" charset="0"/>
                <a:ea typeface="楷体_GB2312" pitchFamily="49" charset="-122"/>
              </a:rPr>
              <a:t>2.</a:t>
            </a:r>
            <a:r>
              <a:rPr lang="zh-CN" altLang="en-US" sz="2400" dirty="0">
                <a:solidFill>
                  <a:srgbClr val="0000FF"/>
                </a:solidFill>
                <a:latin typeface="Times New Roman" panose="02020603050405020304" pitchFamily="18" charset="0"/>
                <a:ea typeface="楷体_GB2312" pitchFamily="49" charset="-122"/>
              </a:rPr>
              <a:t>或者一个问题中的约束条件不取等式，则相应于另一个问题中的变量为零。</a:t>
            </a:r>
            <a:endParaRPr lang="en-US" altLang="zh-CN" sz="2400" dirty="0">
              <a:solidFill>
                <a:srgbClr val="0000FF"/>
              </a:solidFill>
              <a:latin typeface="Times New Roman" panose="02020603050405020304" pitchFamily="18" charset="0"/>
              <a:ea typeface="楷体_GB2312" pitchFamily="49" charset="-122"/>
            </a:endParaRPr>
          </a:p>
          <a:p>
            <a:pPr marL="457200" indent="-457200">
              <a:buAutoNum type="arabicPeriod"/>
            </a:pPr>
            <a:endParaRPr lang="en-US" altLang="zh-CN" sz="2000" b="1" u="sng" dirty="0">
              <a:solidFill>
                <a:srgbClr val="EF2F09"/>
              </a:solidFill>
              <a:latin typeface="Times New Roman" panose="02020603050405020304" pitchFamily="18" charset="0"/>
              <a:ea typeface="楷体_GB2312" pitchFamily="49" charset="-122"/>
            </a:endParaRPr>
          </a:p>
          <a:p>
            <a:endParaRPr lang="zh-CN" altLang="en-US" sz="2000" b="1" dirty="0">
              <a:solidFill>
                <a:srgbClr val="EF2F09"/>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graphicFrame>
        <p:nvGraphicFramePr>
          <p:cNvPr id="28" name="Object 5"/>
          <p:cNvGraphicFramePr/>
          <p:nvPr/>
        </p:nvGraphicFramePr>
        <p:xfrm>
          <a:off x="1258888" y="1754204"/>
          <a:ext cx="5184775" cy="1968500"/>
        </p:xfrm>
        <a:graphic>
          <a:graphicData uri="http://schemas.openxmlformats.org/presentationml/2006/ole">
            <mc:AlternateContent xmlns:mc="http://schemas.openxmlformats.org/markup-compatibility/2006">
              <mc:Choice xmlns:v="urn:schemas-microsoft-com:vml" Requires="v">
                <p:oleObj spid="_x0000_s23553" name="" r:id="rId1" imgW="45720000" imgH="22860000" progId="Equation.3">
                  <p:embed/>
                </p:oleObj>
              </mc:Choice>
              <mc:Fallback>
                <p:oleObj name="" r:id="rId1" imgW="45720000" imgH="22860000" progId="Equation.3">
                  <p:embed/>
                  <p:pic>
                    <p:nvPicPr>
                      <p:cNvPr id="0" name="图片 23552"/>
                      <p:cNvPicPr/>
                      <p:nvPr/>
                    </p:nvPicPr>
                    <p:blipFill>
                      <a:blip r:embed="rId2"/>
                      <a:stretch>
                        <a:fillRect/>
                      </a:stretch>
                    </p:blipFill>
                    <p:spPr>
                      <a:xfrm>
                        <a:off x="1258888" y="1754204"/>
                        <a:ext cx="5184775" cy="1968500"/>
                      </a:xfrm>
                      <a:prstGeom prst="rect">
                        <a:avLst/>
                      </a:prstGeom>
                      <a:noFill/>
                      <a:ln w="38100">
                        <a:noFill/>
                      </a:ln>
                    </p:spPr>
                  </p:pic>
                </p:oleObj>
              </mc:Fallback>
            </mc:AlternateContent>
          </a:graphicData>
        </a:graphic>
      </p:graphicFrame>
      <p:sp>
        <p:nvSpPr>
          <p:cNvPr id="29" name="Text Box 6"/>
          <p:cNvSpPr txBox="1">
            <a:spLocks noChangeArrowheads="1"/>
          </p:cNvSpPr>
          <p:nvPr/>
        </p:nvSpPr>
        <p:spPr bwMode="auto">
          <a:xfrm>
            <a:off x="611188" y="3913204"/>
            <a:ext cx="7993062" cy="1801812"/>
          </a:xfrm>
          <a:prstGeom prst="rect">
            <a:avLst/>
          </a:prstGeom>
          <a:noFill/>
          <a:ln w="9525">
            <a:noFill/>
            <a:miter lim="800000"/>
          </a:ln>
        </p:spPr>
        <p:txBody>
          <a:bodyPr>
            <a:spAutoFit/>
          </a:bodyPr>
          <a:lstStyle/>
          <a:p>
            <a:pPr>
              <a:spcBef>
                <a:spcPct val="50000"/>
              </a:spcBef>
            </a:pPr>
            <a:r>
              <a:rPr lang="zh-CN" altLang="en-US" sz="2800" b="1">
                <a:solidFill>
                  <a:srgbClr val="000000"/>
                </a:solidFill>
              </a:rPr>
              <a:t>要求：</a:t>
            </a:r>
            <a:r>
              <a:rPr lang="en-US" altLang="zh-CN" sz="2800" b="1">
                <a:solidFill>
                  <a:srgbClr val="000000"/>
                </a:solidFill>
              </a:rPr>
              <a:t>1</a:t>
            </a:r>
            <a:r>
              <a:rPr lang="zh-CN" altLang="en-US" sz="2800" b="1">
                <a:solidFill>
                  <a:srgbClr val="000000"/>
                </a:solidFill>
              </a:rPr>
              <a:t>）写出对偶问题；</a:t>
            </a:r>
            <a:endParaRPr lang="zh-CN" altLang="en-US" sz="2800" b="1">
              <a:solidFill>
                <a:srgbClr val="000000"/>
              </a:solidFill>
            </a:endParaRPr>
          </a:p>
          <a:p>
            <a:pPr>
              <a:spcBef>
                <a:spcPct val="50000"/>
              </a:spcBef>
            </a:pPr>
            <a:r>
              <a:rPr lang="en-US" altLang="zh-CN" sz="2800" b="1">
                <a:solidFill>
                  <a:srgbClr val="000000"/>
                </a:solidFill>
              </a:rPr>
              <a:t>2</a:t>
            </a:r>
            <a:r>
              <a:rPr lang="zh-CN" altLang="en-US" sz="2800" b="1">
                <a:solidFill>
                  <a:srgbClr val="000000"/>
                </a:solidFill>
              </a:rPr>
              <a:t>）已知原问题的最优解为</a:t>
            </a:r>
            <a:r>
              <a:rPr lang="en-US" altLang="zh-CN" sz="2800" b="1" i="1">
                <a:solidFill>
                  <a:srgbClr val="000000"/>
                </a:solidFill>
                <a:latin typeface="Times New Roman" panose="02020603050405020304" pitchFamily="18" charset="0"/>
              </a:rPr>
              <a:t>x</a:t>
            </a:r>
            <a:r>
              <a:rPr lang="en-US" altLang="zh-CN" sz="2800" b="1" baseline="-25000">
                <a:solidFill>
                  <a:srgbClr val="000000"/>
                </a:solidFill>
                <a:latin typeface="Times New Roman" panose="02020603050405020304" pitchFamily="18" charset="0"/>
              </a:rPr>
              <a:t>1</a:t>
            </a:r>
            <a:r>
              <a:rPr lang="en-US" altLang="zh-CN" sz="2800" b="1">
                <a:solidFill>
                  <a:srgbClr val="000000"/>
                </a:solidFill>
                <a:latin typeface="Times New Roman" panose="02020603050405020304" pitchFamily="18" charset="0"/>
              </a:rPr>
              <a:t>= -5,   </a:t>
            </a:r>
            <a:r>
              <a:rPr lang="en-US" altLang="zh-CN" sz="2800" b="1" i="1">
                <a:solidFill>
                  <a:srgbClr val="000000"/>
                </a:solidFill>
                <a:latin typeface="Times New Roman" panose="02020603050405020304" pitchFamily="18" charset="0"/>
              </a:rPr>
              <a:t>x</a:t>
            </a:r>
            <a:r>
              <a:rPr lang="en-US" altLang="zh-CN" sz="2800" b="1" baseline="-25000">
                <a:solidFill>
                  <a:srgbClr val="000000"/>
                </a:solidFill>
                <a:latin typeface="Times New Roman" panose="02020603050405020304" pitchFamily="18" charset="0"/>
              </a:rPr>
              <a:t>2</a:t>
            </a:r>
            <a:r>
              <a:rPr lang="en-US" altLang="zh-CN" sz="2800" b="1">
                <a:solidFill>
                  <a:srgbClr val="000000"/>
                </a:solidFill>
                <a:latin typeface="Times New Roman" panose="02020603050405020304" pitchFamily="18" charset="0"/>
              </a:rPr>
              <a:t>=0,   </a:t>
            </a:r>
            <a:r>
              <a:rPr lang="en-US" altLang="zh-CN" sz="2800" i="1">
                <a:solidFill>
                  <a:srgbClr val="000000"/>
                </a:solidFill>
                <a:latin typeface="Times New Roman" panose="02020603050405020304" pitchFamily="18" charset="0"/>
              </a:rPr>
              <a:t>x</a:t>
            </a:r>
            <a:r>
              <a:rPr lang="en-US" altLang="zh-CN" sz="2800" b="1" baseline="-25000">
                <a:solidFill>
                  <a:srgbClr val="000000"/>
                </a:solidFill>
                <a:latin typeface="Times New Roman" panose="02020603050405020304" pitchFamily="18" charset="0"/>
              </a:rPr>
              <a:t>3</a:t>
            </a:r>
            <a:r>
              <a:rPr lang="en-US" altLang="zh-CN" sz="2800" b="1">
                <a:solidFill>
                  <a:srgbClr val="000000"/>
                </a:solidFill>
                <a:latin typeface="Times New Roman" panose="02020603050405020304" pitchFamily="18" charset="0"/>
              </a:rPr>
              <a:t>= -1</a:t>
            </a:r>
            <a:r>
              <a:rPr lang="en-US" altLang="zh-CN" sz="2800" b="1">
                <a:solidFill>
                  <a:srgbClr val="000000"/>
                </a:solidFill>
              </a:rPr>
              <a:t>;</a:t>
            </a:r>
            <a:endParaRPr lang="en-US" altLang="zh-CN" sz="2800" b="1">
              <a:solidFill>
                <a:srgbClr val="000000"/>
              </a:solidFill>
            </a:endParaRPr>
          </a:p>
          <a:p>
            <a:pPr>
              <a:spcBef>
                <a:spcPct val="50000"/>
              </a:spcBef>
            </a:pPr>
            <a:r>
              <a:rPr lang="zh-CN" altLang="en-US" sz="2800" b="1">
                <a:solidFill>
                  <a:srgbClr val="000000"/>
                </a:solidFill>
              </a:rPr>
              <a:t>试根据对偶理论直接求出对偶问题最优解。</a:t>
            </a:r>
            <a:endParaRPr lang="zh-CN" altLang="en-US" sz="2800" b="1">
              <a:solidFill>
                <a:srgbClr val="000000"/>
              </a:solidFill>
            </a:endParaRPr>
          </a:p>
        </p:txBody>
      </p:sp>
      <p:sp>
        <p:nvSpPr>
          <p:cNvPr id="30" name="Text Box 4"/>
          <p:cNvSpPr txBox="1">
            <a:spLocks noChangeArrowheads="1"/>
          </p:cNvSpPr>
          <p:nvPr/>
        </p:nvSpPr>
        <p:spPr bwMode="auto">
          <a:xfrm>
            <a:off x="214282" y="857232"/>
            <a:ext cx="5689600" cy="579438"/>
          </a:xfrm>
          <a:prstGeom prst="rect">
            <a:avLst/>
          </a:prstGeom>
          <a:solidFill>
            <a:schemeClr val="bg1"/>
          </a:solidFill>
          <a:ln w="9525">
            <a:noFill/>
            <a:miter lim="800000"/>
          </a:ln>
        </p:spPr>
        <p:txBody>
          <a:bodyPr>
            <a:spAutoFit/>
          </a:bodyPr>
          <a:lstStyle/>
          <a:p>
            <a:pPr>
              <a:spcBef>
                <a:spcPct val="50000"/>
              </a:spcBef>
            </a:pPr>
            <a:r>
              <a:rPr lang="zh-CN" altLang="en-US" sz="3200" b="1" dirty="0">
                <a:solidFill>
                  <a:srgbClr val="000000"/>
                </a:solidFill>
              </a:rPr>
              <a:t>例</a:t>
            </a:r>
            <a:r>
              <a:rPr lang="en-US" altLang="zh-CN" sz="3200" b="1" dirty="0">
                <a:solidFill>
                  <a:srgbClr val="000000"/>
                </a:solidFill>
              </a:rPr>
              <a:t>3</a:t>
            </a:r>
            <a:r>
              <a:rPr lang="zh-CN" altLang="en-US" sz="3200" b="1" dirty="0">
                <a:solidFill>
                  <a:srgbClr val="000000"/>
                </a:solidFill>
              </a:rPr>
              <a:t>：已知线性规划问题</a:t>
            </a:r>
            <a:endParaRPr lang="zh-CN" altLang="en-US" sz="32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linds(horizontal)">
                                      <p:cBhvr>
                                        <p:cTn id="7" dur="500"/>
                                        <p:tgtEl>
                                          <p:spTgt spid="2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blinds(horizontal)">
                                      <p:cBhvr>
                                        <p:cTn id="10" dur="500"/>
                                        <p:tgtEl>
                                          <p:spTgt spid="30"/>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blinds(horizontal)">
                                      <p:cBhvr>
                                        <p:cTn id="1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43" name="Text Box 4"/>
          <p:cNvSpPr txBox="1">
            <a:spLocks noChangeArrowheads="1"/>
          </p:cNvSpPr>
          <p:nvPr/>
        </p:nvSpPr>
        <p:spPr bwMode="auto">
          <a:xfrm>
            <a:off x="785786" y="928670"/>
            <a:ext cx="3457575" cy="519112"/>
          </a:xfrm>
          <a:prstGeom prst="rect">
            <a:avLst/>
          </a:prstGeom>
          <a:noFill/>
          <a:ln w="9525">
            <a:noFill/>
            <a:miter lim="800000"/>
          </a:ln>
        </p:spPr>
        <p:txBody>
          <a:bodyPr>
            <a:spAutoFit/>
          </a:bodyPr>
          <a:lstStyle/>
          <a:p>
            <a:pPr>
              <a:spcBef>
                <a:spcPct val="50000"/>
              </a:spcBef>
            </a:pPr>
            <a:r>
              <a:rPr lang="zh-CN" altLang="en-US" sz="2800" b="1">
                <a:solidFill>
                  <a:srgbClr val="000000"/>
                </a:solidFill>
              </a:rPr>
              <a:t>解：</a:t>
            </a:r>
            <a:r>
              <a:rPr lang="en-US" altLang="zh-CN" sz="2800" b="1">
                <a:solidFill>
                  <a:srgbClr val="000000"/>
                </a:solidFill>
              </a:rPr>
              <a:t>1</a:t>
            </a:r>
            <a:r>
              <a:rPr lang="zh-CN" altLang="en-US" sz="2800" b="1">
                <a:solidFill>
                  <a:srgbClr val="000000"/>
                </a:solidFill>
              </a:rPr>
              <a:t>）对偶问题</a:t>
            </a:r>
            <a:endParaRPr lang="zh-CN" altLang="en-US" sz="2800" b="1">
              <a:solidFill>
                <a:srgbClr val="000000"/>
              </a:solidFill>
            </a:endParaRPr>
          </a:p>
        </p:txBody>
      </p:sp>
      <p:graphicFrame>
        <p:nvGraphicFramePr>
          <p:cNvPr id="44" name="Object 5"/>
          <p:cNvGraphicFramePr/>
          <p:nvPr/>
        </p:nvGraphicFramePr>
        <p:xfrm>
          <a:off x="4071934" y="1071546"/>
          <a:ext cx="3594100" cy="2416175"/>
        </p:xfrm>
        <a:graphic>
          <a:graphicData uri="http://schemas.openxmlformats.org/presentationml/2006/ole">
            <mc:AlternateContent xmlns:mc="http://schemas.openxmlformats.org/markup-compatibility/2006">
              <mc:Choice xmlns:v="urn:schemas-microsoft-com:vml" Requires="v">
                <p:oleObj spid="_x0000_s24577" name="" r:id="rId1" imgW="31699200" imgH="28041600" progId="Equation.3">
                  <p:embed/>
                </p:oleObj>
              </mc:Choice>
              <mc:Fallback>
                <p:oleObj name="" r:id="rId1" imgW="31699200" imgH="28041600" progId="Equation.3">
                  <p:embed/>
                  <p:pic>
                    <p:nvPicPr>
                      <p:cNvPr id="0" name="图片 24576"/>
                      <p:cNvPicPr/>
                      <p:nvPr/>
                    </p:nvPicPr>
                    <p:blipFill>
                      <a:blip r:embed="rId2"/>
                      <a:stretch>
                        <a:fillRect/>
                      </a:stretch>
                    </p:blipFill>
                    <p:spPr>
                      <a:xfrm>
                        <a:off x="4071934" y="1071546"/>
                        <a:ext cx="3594100" cy="2416175"/>
                      </a:xfrm>
                      <a:prstGeom prst="rect">
                        <a:avLst/>
                      </a:prstGeom>
                      <a:noFill/>
                      <a:ln w="38100">
                        <a:noFill/>
                      </a:ln>
                    </p:spPr>
                  </p:pic>
                </p:oleObj>
              </mc:Fallback>
            </mc:AlternateContent>
          </a:graphicData>
        </a:graphic>
      </p:graphicFrame>
      <p:sp>
        <p:nvSpPr>
          <p:cNvPr id="48" name="Text Box 7"/>
          <p:cNvSpPr txBox="1">
            <a:spLocks noChangeArrowheads="1"/>
          </p:cNvSpPr>
          <p:nvPr/>
        </p:nvSpPr>
        <p:spPr bwMode="auto">
          <a:xfrm>
            <a:off x="498448" y="3665520"/>
            <a:ext cx="8208963" cy="1160462"/>
          </a:xfrm>
          <a:prstGeom prst="rect">
            <a:avLst/>
          </a:prstGeom>
          <a:noFill/>
          <a:ln w="9525">
            <a:noFill/>
            <a:miter lim="800000"/>
          </a:ln>
        </p:spPr>
        <p:txBody>
          <a:bodyPr>
            <a:spAutoFit/>
          </a:bodyPr>
          <a:lstStyle/>
          <a:p>
            <a:pPr>
              <a:spcBef>
                <a:spcPct val="50000"/>
              </a:spcBef>
            </a:pPr>
            <a:r>
              <a:rPr lang="en-US" altLang="zh-CN" sz="2800" b="1">
                <a:solidFill>
                  <a:srgbClr val="000000"/>
                </a:solidFill>
              </a:rPr>
              <a:t>2</a:t>
            </a:r>
            <a:r>
              <a:rPr lang="zh-CN" altLang="en-US" sz="2800" b="1">
                <a:solidFill>
                  <a:srgbClr val="000000"/>
                </a:solidFill>
              </a:rPr>
              <a:t>）由互补松弛定理，因原问题最优解中</a:t>
            </a:r>
            <a:r>
              <a:rPr lang="en-US" altLang="zh-CN" sz="2800" b="1" i="1">
                <a:solidFill>
                  <a:srgbClr val="000000"/>
                </a:solidFill>
                <a:latin typeface="Times New Roman" panose="02020603050405020304" pitchFamily="18" charset="0"/>
              </a:rPr>
              <a:t>x</a:t>
            </a:r>
            <a:r>
              <a:rPr lang="en-US" altLang="zh-CN" sz="2800" b="1" baseline="-25000">
                <a:solidFill>
                  <a:srgbClr val="000000"/>
                </a:solidFill>
                <a:latin typeface="Times New Roman" panose="02020603050405020304" pitchFamily="18" charset="0"/>
              </a:rPr>
              <a:t>1</a:t>
            </a:r>
            <a:r>
              <a:rPr lang="en-US" altLang="zh-CN" sz="2800" b="1">
                <a:solidFill>
                  <a:srgbClr val="000000"/>
                </a:solidFill>
                <a:latin typeface="Times New Roman" panose="02020603050405020304" pitchFamily="18" charset="0"/>
              </a:rPr>
              <a:t>= -5≠0</a:t>
            </a:r>
            <a:r>
              <a:rPr lang="en-US" altLang="zh-CN" sz="2800" b="1">
                <a:solidFill>
                  <a:srgbClr val="000000"/>
                </a:solidFill>
              </a:rPr>
              <a:t>,</a:t>
            </a:r>
            <a:endParaRPr lang="en-US" altLang="zh-CN" sz="2800" b="1">
              <a:solidFill>
                <a:srgbClr val="000000"/>
              </a:solidFill>
            </a:endParaRPr>
          </a:p>
          <a:p>
            <a:pPr>
              <a:spcBef>
                <a:spcPct val="50000"/>
              </a:spcBef>
            </a:pPr>
            <a:r>
              <a:rPr lang="zh-CN" altLang="en-US" sz="2800" b="1">
                <a:solidFill>
                  <a:srgbClr val="000000"/>
                </a:solidFill>
              </a:rPr>
              <a:t>必使对偶问题第一个约束条件为等式，于是有，</a:t>
            </a:r>
            <a:endParaRPr lang="zh-CN" altLang="en-US" sz="2800" b="1">
              <a:solidFill>
                <a:srgbClr val="000000"/>
              </a:solidFill>
            </a:endParaRPr>
          </a:p>
        </p:txBody>
      </p:sp>
      <p:graphicFrame>
        <p:nvGraphicFramePr>
          <p:cNvPr id="49" name="Object 8"/>
          <p:cNvGraphicFramePr/>
          <p:nvPr/>
        </p:nvGraphicFramePr>
        <p:xfrm>
          <a:off x="1650973" y="5032357"/>
          <a:ext cx="2452688" cy="971550"/>
        </p:xfrm>
        <a:graphic>
          <a:graphicData uri="http://schemas.openxmlformats.org/presentationml/2006/ole">
            <mc:AlternateContent xmlns:mc="http://schemas.openxmlformats.org/markup-compatibility/2006">
              <mc:Choice xmlns:v="urn:schemas-microsoft-com:vml" Requires="v">
                <p:oleObj spid="_x0000_s24578" name="" r:id="rId3" imgW="21640800" imgH="11277600" progId="Equation.3">
                  <p:embed/>
                </p:oleObj>
              </mc:Choice>
              <mc:Fallback>
                <p:oleObj name="" r:id="rId3" imgW="21640800" imgH="11277600" progId="Equation.3">
                  <p:embed/>
                  <p:pic>
                    <p:nvPicPr>
                      <p:cNvPr id="0" name="图片 24577"/>
                      <p:cNvPicPr/>
                      <p:nvPr/>
                    </p:nvPicPr>
                    <p:blipFill>
                      <a:blip r:embed="rId4"/>
                      <a:stretch>
                        <a:fillRect/>
                      </a:stretch>
                    </p:blipFill>
                    <p:spPr>
                      <a:xfrm>
                        <a:off x="1650973" y="5032357"/>
                        <a:ext cx="2452688" cy="971550"/>
                      </a:xfrm>
                      <a:prstGeom prst="rect">
                        <a:avLst/>
                      </a:prstGeom>
                      <a:noFill/>
                      <a:ln w="38100">
                        <a:noFill/>
                      </a:ln>
                    </p:spPr>
                  </p:pic>
                </p:oleObj>
              </mc:Fallback>
            </mc:AlternateContent>
          </a:graphicData>
        </a:graphic>
      </p:graphicFrame>
      <p:graphicFrame>
        <p:nvGraphicFramePr>
          <p:cNvPr id="50" name="Object 9"/>
          <p:cNvGraphicFramePr/>
          <p:nvPr/>
        </p:nvGraphicFramePr>
        <p:xfrm>
          <a:off x="4386236" y="5176820"/>
          <a:ext cx="2735262" cy="522287"/>
        </p:xfrm>
        <a:graphic>
          <a:graphicData uri="http://schemas.openxmlformats.org/presentationml/2006/ole">
            <mc:AlternateContent xmlns:mc="http://schemas.openxmlformats.org/markup-compatibility/2006">
              <mc:Choice xmlns:v="urn:schemas-microsoft-com:vml" Requires="v">
                <p:oleObj spid="_x0000_s24579" name="" r:id="rId5" imgW="27127200" imgH="5181600" progId="Equation.3">
                  <p:embed/>
                </p:oleObj>
              </mc:Choice>
              <mc:Fallback>
                <p:oleObj name="" r:id="rId5" imgW="27127200" imgH="5181600" progId="Equation.3">
                  <p:embed/>
                  <p:pic>
                    <p:nvPicPr>
                      <p:cNvPr id="0" name="图片 24578"/>
                      <p:cNvPicPr/>
                      <p:nvPr/>
                    </p:nvPicPr>
                    <p:blipFill>
                      <a:blip r:embed="rId6"/>
                      <a:stretch>
                        <a:fillRect/>
                      </a:stretch>
                    </p:blipFill>
                    <p:spPr>
                      <a:xfrm>
                        <a:off x="4386236" y="5176820"/>
                        <a:ext cx="2735262" cy="522287"/>
                      </a:xfrm>
                      <a:prstGeom prst="rect">
                        <a:avLst/>
                      </a:prstGeom>
                      <a:noFill/>
                      <a:ln w="38100">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wipe(left)">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wipe(left)">
                                      <p:cBhvr>
                                        <p:cTn id="17" dur="500"/>
                                        <p:tgtEl>
                                          <p:spTgt spid="4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wipe(left)">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0"/>
                                        </p:tgtEl>
                                        <p:attrNameLst>
                                          <p:attrName>style.visibility</p:attrName>
                                        </p:attrNameLst>
                                      </p:cBhvr>
                                      <p:to>
                                        <p:strVal val="visible"/>
                                      </p:to>
                                    </p:set>
                                    <p:animEffect transition="in" filter="wipe(left)">
                                      <p:cBhvr>
                                        <p:cTn id="2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17" name="Group 2"/>
          <p:cNvGrpSpPr/>
          <p:nvPr/>
        </p:nvGrpSpPr>
        <p:grpSpPr bwMode="auto">
          <a:xfrm>
            <a:off x="1509682" y="1912941"/>
            <a:ext cx="4032250" cy="2087563"/>
            <a:chOff x="1111" y="618"/>
            <a:chExt cx="2540" cy="1315"/>
          </a:xfrm>
        </p:grpSpPr>
        <p:pic>
          <p:nvPicPr>
            <p:cNvPr id="18" name="Picture 3"/>
            <p:cNvPicPr>
              <a:picLocks noChangeAspect="1" noChangeArrowheads="1"/>
            </p:cNvPicPr>
            <p:nvPr/>
          </p:nvPicPr>
          <p:blipFill>
            <a:blip r:embed="rId1"/>
            <a:srcRect/>
            <a:stretch>
              <a:fillRect/>
            </a:stretch>
          </p:blipFill>
          <p:spPr bwMode="auto">
            <a:xfrm>
              <a:off x="1111" y="618"/>
              <a:ext cx="2540" cy="322"/>
            </a:xfrm>
            <a:prstGeom prst="rect">
              <a:avLst/>
            </a:prstGeom>
            <a:noFill/>
            <a:ln w="9525">
              <a:noFill/>
              <a:miter lim="800000"/>
              <a:headEnd/>
              <a:tailEnd/>
            </a:ln>
          </p:spPr>
        </p:pic>
        <p:pic>
          <p:nvPicPr>
            <p:cNvPr id="19" name="Picture 4"/>
            <p:cNvPicPr>
              <a:picLocks noChangeAspect="1" noChangeArrowheads="1"/>
            </p:cNvPicPr>
            <p:nvPr/>
          </p:nvPicPr>
          <p:blipFill>
            <a:blip r:embed="rId2"/>
            <a:srcRect/>
            <a:stretch>
              <a:fillRect/>
            </a:stretch>
          </p:blipFill>
          <p:spPr bwMode="auto">
            <a:xfrm>
              <a:off x="1202" y="1015"/>
              <a:ext cx="2086" cy="918"/>
            </a:xfrm>
            <a:prstGeom prst="rect">
              <a:avLst/>
            </a:prstGeom>
            <a:noFill/>
            <a:ln w="9525">
              <a:noFill/>
              <a:miter lim="800000"/>
              <a:headEnd/>
              <a:tailEnd/>
            </a:ln>
          </p:spPr>
        </p:pic>
      </p:grpSp>
      <p:pic>
        <p:nvPicPr>
          <p:cNvPr id="20" name="Picture 5"/>
          <p:cNvPicPr>
            <a:picLocks noChangeAspect="1" noChangeArrowheads="1"/>
          </p:cNvPicPr>
          <p:nvPr/>
        </p:nvPicPr>
        <p:blipFill>
          <a:blip r:embed="rId3"/>
          <a:srcRect/>
          <a:stretch>
            <a:fillRect/>
          </a:stretch>
        </p:blipFill>
        <p:spPr bwMode="auto">
          <a:xfrm>
            <a:off x="3214678" y="4714884"/>
            <a:ext cx="2951163" cy="485775"/>
          </a:xfrm>
          <a:prstGeom prst="rect">
            <a:avLst/>
          </a:prstGeom>
          <a:noFill/>
          <a:ln w="9525">
            <a:noFill/>
            <a:miter lim="800000"/>
            <a:headEnd/>
            <a:tailEnd/>
          </a:ln>
        </p:spPr>
      </p:pic>
      <p:pic>
        <p:nvPicPr>
          <p:cNvPr id="21" name="Picture 6"/>
          <p:cNvPicPr>
            <a:picLocks noChangeAspect="1" noChangeArrowheads="1"/>
          </p:cNvPicPr>
          <p:nvPr/>
        </p:nvPicPr>
        <p:blipFill>
          <a:blip r:embed="rId4"/>
          <a:srcRect/>
          <a:stretch>
            <a:fillRect/>
          </a:stretch>
        </p:blipFill>
        <p:spPr bwMode="auto">
          <a:xfrm>
            <a:off x="6572264" y="3714752"/>
            <a:ext cx="2108200" cy="2590800"/>
          </a:xfrm>
          <a:prstGeom prst="rect">
            <a:avLst/>
          </a:prstGeom>
          <a:noFill/>
          <a:ln w="9525">
            <a:noFill/>
            <a:miter lim="800000"/>
            <a:headEnd/>
            <a:tailEnd/>
          </a:ln>
        </p:spPr>
      </p:pic>
      <p:sp>
        <p:nvSpPr>
          <p:cNvPr id="22" name="Rectangle 7"/>
          <p:cNvSpPr>
            <a:spLocks noChangeArrowheads="1"/>
          </p:cNvSpPr>
          <p:nvPr/>
        </p:nvSpPr>
        <p:spPr bwMode="auto">
          <a:xfrm>
            <a:off x="285719" y="904879"/>
            <a:ext cx="8353425" cy="946150"/>
          </a:xfrm>
          <a:prstGeom prst="rect">
            <a:avLst/>
          </a:prstGeom>
          <a:noFill/>
          <a:ln w="9525">
            <a:noFill/>
            <a:miter lim="800000"/>
          </a:ln>
        </p:spPr>
        <p:txBody>
          <a:bodyPr anchor="ctr">
            <a:spAutoFit/>
          </a:bodyPr>
          <a:lstStyle/>
          <a:p>
            <a:pPr indent="266700"/>
            <a:r>
              <a:rPr lang="zh-CN" altLang="en-US" sz="2800" b="1" dirty="0">
                <a:solidFill>
                  <a:srgbClr val="000000"/>
                </a:solidFill>
                <a:latin typeface="Times New Roman" panose="02020603050405020304" pitchFamily="18" charset="0"/>
              </a:rPr>
              <a:t>例 </a:t>
            </a:r>
            <a:r>
              <a:rPr lang="en-US" altLang="zh-CN" sz="2800" b="1" dirty="0">
                <a:solidFill>
                  <a:srgbClr val="000000"/>
                </a:solidFill>
                <a:latin typeface="Times New Roman" panose="02020603050405020304" pitchFamily="18" charset="0"/>
              </a:rPr>
              <a:t>4:</a:t>
            </a:r>
            <a:r>
              <a:rPr lang="zh-CN" altLang="en-US" sz="2800" b="1" dirty="0">
                <a:solidFill>
                  <a:srgbClr val="000000"/>
                </a:solidFill>
              </a:rPr>
              <a:t>已知下列线性规划问题的对偶问题的最优解为</a:t>
            </a:r>
            <a:r>
              <a:rPr lang="en-US" altLang="zh-CN" sz="2800" b="1" dirty="0">
                <a:solidFill>
                  <a:srgbClr val="000000"/>
                </a:solidFill>
              </a:rPr>
              <a:t>(6/5, 1/5),</a:t>
            </a:r>
            <a:r>
              <a:rPr lang="zh-CN" altLang="en-US" sz="2800" b="1" dirty="0">
                <a:solidFill>
                  <a:srgbClr val="000000"/>
                </a:solidFill>
              </a:rPr>
              <a:t>求该线性规划问题的最优解</a:t>
            </a:r>
            <a:r>
              <a:rPr lang="en-US" altLang="zh-CN" sz="2800" b="1" dirty="0">
                <a:solidFill>
                  <a:srgbClr val="000000"/>
                </a:solidFill>
              </a:rPr>
              <a:t>.</a:t>
            </a:r>
            <a:endParaRPr lang="en-US" altLang="zh-CN" sz="2800" b="1" dirty="0">
              <a:solidFill>
                <a:srgbClr val="000000"/>
              </a:solidFill>
            </a:endParaRPr>
          </a:p>
        </p:txBody>
      </p:sp>
      <p:sp>
        <p:nvSpPr>
          <p:cNvPr id="24" name="Rectangle 9"/>
          <p:cNvSpPr>
            <a:spLocks noChangeArrowheads="1"/>
          </p:cNvSpPr>
          <p:nvPr/>
        </p:nvSpPr>
        <p:spPr bwMode="auto">
          <a:xfrm>
            <a:off x="142844" y="4643446"/>
            <a:ext cx="2940050" cy="519113"/>
          </a:xfrm>
          <a:prstGeom prst="rect">
            <a:avLst/>
          </a:prstGeom>
          <a:noFill/>
          <a:ln w="9525">
            <a:noFill/>
            <a:miter lim="800000"/>
          </a:ln>
        </p:spPr>
        <p:txBody>
          <a:bodyPr wrap="none" anchor="ctr">
            <a:spAutoFit/>
          </a:bodyPr>
          <a:lstStyle/>
          <a:p>
            <a:pPr indent="266700"/>
            <a:r>
              <a:rPr lang="zh-CN" altLang="en-US" sz="2800" b="1" dirty="0">
                <a:solidFill>
                  <a:srgbClr val="000000"/>
                </a:solidFill>
                <a:latin typeface="Times New Roman" panose="02020603050405020304" pitchFamily="18" charset="0"/>
              </a:rPr>
              <a:t>其对偶问题为：</a:t>
            </a:r>
            <a:endParaRPr lang="zh-CN" altLang="en-US" sz="2800" b="1" dirty="0">
              <a:solidFill>
                <a:srgbClr val="000000"/>
              </a:solidFill>
              <a:latin typeface="Times New Roman" panose="02020603050405020304" pitchFamily="18" charset="0"/>
            </a:endParaRPr>
          </a:p>
        </p:txBody>
      </p:sp>
      <p:sp>
        <p:nvSpPr>
          <p:cNvPr id="26" name="Rectangle 11"/>
          <p:cNvSpPr>
            <a:spLocks noChangeArrowheads="1"/>
          </p:cNvSpPr>
          <p:nvPr/>
        </p:nvSpPr>
        <p:spPr bwMode="auto">
          <a:xfrm>
            <a:off x="430182" y="4657751"/>
            <a:ext cx="184150" cy="519112"/>
          </a:xfrm>
          <a:prstGeom prst="rect">
            <a:avLst/>
          </a:prstGeom>
          <a:noFill/>
          <a:ln w="9525">
            <a:noFill/>
            <a:miter lim="800000"/>
          </a:ln>
        </p:spPr>
        <p:txBody>
          <a:bodyPr wrap="none" anchor="ctr">
            <a:spAutoFit/>
          </a:bodyPr>
          <a:lstStyle/>
          <a:p>
            <a:endParaRPr lang="zh-CN" altLang="zh-CN"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slide(fromBottom)">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500" fill="hold"/>
                                        <p:tgtEl>
                                          <p:spTgt spid="20"/>
                                        </p:tgtEl>
                                        <p:attrNameLst>
                                          <p:attrName>ppt_w</p:attrName>
                                        </p:attrNameLst>
                                      </p:cBhvr>
                                      <p:tavLst>
                                        <p:tav tm="0">
                                          <p:val>
                                            <p:fltVal val="0"/>
                                          </p:val>
                                        </p:tav>
                                        <p:tav tm="100000">
                                          <p:val>
                                            <p:strVal val="#ppt_w"/>
                                          </p:val>
                                        </p:tav>
                                      </p:tavLst>
                                    </p:anim>
                                    <p:anim calcmode="lin" valueType="num">
                                      <p:cBhvr>
                                        <p:cTn id="23" dur="500" fill="hold"/>
                                        <p:tgtEl>
                                          <p:spTgt spid="20"/>
                                        </p:tgtEl>
                                        <p:attrNameLst>
                                          <p:attrName>ppt_h</p:attrName>
                                        </p:attrNameLst>
                                      </p:cBhvr>
                                      <p:tavLst>
                                        <p:tav tm="0">
                                          <p:val>
                                            <p:fltVal val="0"/>
                                          </p:val>
                                        </p:tav>
                                        <p:tav tm="100000">
                                          <p:val>
                                            <p:strVal val="#ppt_h"/>
                                          </p:val>
                                        </p:tav>
                                      </p:tavLst>
                                    </p:anim>
                                    <p:animEffect transition="in" filter="fade">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p:cTn id="29" dur="1000" fill="hold"/>
                                        <p:tgtEl>
                                          <p:spTgt spid="21"/>
                                        </p:tgtEl>
                                        <p:attrNameLst>
                                          <p:attrName>ppt_w</p:attrName>
                                        </p:attrNameLst>
                                      </p:cBhvr>
                                      <p:tavLst>
                                        <p:tav tm="0">
                                          <p:val>
                                            <p:strVal val="#ppt_w*0.70"/>
                                          </p:val>
                                        </p:tav>
                                        <p:tav tm="100000">
                                          <p:val>
                                            <p:strVal val="#ppt_w"/>
                                          </p:val>
                                        </p:tav>
                                      </p:tavLst>
                                    </p:anim>
                                    <p:anim calcmode="lin" valueType="num">
                                      <p:cBhvr>
                                        <p:cTn id="30" dur="1000" fill="hold"/>
                                        <p:tgtEl>
                                          <p:spTgt spid="21"/>
                                        </p:tgtEl>
                                        <p:attrNameLst>
                                          <p:attrName>ppt_h</p:attrName>
                                        </p:attrNameLst>
                                      </p:cBhvr>
                                      <p:tavLst>
                                        <p:tav tm="0">
                                          <p:val>
                                            <p:strVal val="#ppt_h"/>
                                          </p:val>
                                        </p:tav>
                                        <p:tav tm="100000">
                                          <p:val>
                                            <p:strVal val="#ppt_h"/>
                                          </p:val>
                                        </p:tav>
                                      </p:tavLst>
                                    </p:anim>
                                    <p:animEffect transition="in" filter="fade">
                                      <p:cBhvr>
                                        <p:cTn id="31"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12" name="Rectangle 2"/>
          <p:cNvSpPr txBox="1">
            <a:spLocks noChangeArrowheads="1"/>
          </p:cNvSpPr>
          <p:nvPr/>
        </p:nvSpPr>
        <p:spPr>
          <a:xfrm>
            <a:off x="179512" y="980728"/>
            <a:ext cx="8229600" cy="6248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Tx/>
              <a:buNone/>
            </a:pPr>
            <a:r>
              <a:rPr lang="zh-CN" altLang="en-US" sz="2400" dirty="0">
                <a:solidFill>
                  <a:srgbClr val="000000"/>
                </a:solidFill>
              </a:rPr>
              <a:t>原问题的松弛变量为</a:t>
            </a:r>
            <a:r>
              <a:rPr lang="en-US" altLang="zh-CN" sz="2400" dirty="0">
                <a:solidFill>
                  <a:srgbClr val="000000"/>
                </a:solidFill>
              </a:rPr>
              <a:t>: X</a:t>
            </a:r>
            <a:r>
              <a:rPr lang="en-US" altLang="zh-CN" sz="2400" baseline="-30000" dirty="0">
                <a:solidFill>
                  <a:srgbClr val="000000"/>
                </a:solidFill>
              </a:rPr>
              <a:t>5 </a:t>
            </a:r>
            <a:r>
              <a:rPr lang="en-US" altLang="zh-CN" sz="2400" dirty="0">
                <a:solidFill>
                  <a:srgbClr val="000000"/>
                </a:solidFill>
              </a:rPr>
              <a:t>, X</a:t>
            </a:r>
            <a:r>
              <a:rPr lang="en-US" altLang="zh-CN" sz="2400" baseline="-30000" dirty="0">
                <a:solidFill>
                  <a:srgbClr val="000000"/>
                </a:solidFill>
              </a:rPr>
              <a:t>6</a:t>
            </a:r>
            <a:r>
              <a:rPr lang="en-US" altLang="zh-CN" sz="2400" dirty="0">
                <a:solidFill>
                  <a:srgbClr val="000000"/>
                </a:solidFill>
              </a:rPr>
              <a:t> ,</a:t>
            </a:r>
            <a:endParaRPr lang="en-US" altLang="zh-CN" sz="2400" dirty="0">
              <a:solidFill>
                <a:srgbClr val="000000"/>
              </a:solidFill>
            </a:endParaRPr>
          </a:p>
          <a:p>
            <a:pPr>
              <a:buFontTx/>
              <a:buNone/>
            </a:pPr>
            <a:r>
              <a:rPr lang="zh-CN" altLang="en-US" sz="2400" dirty="0">
                <a:solidFill>
                  <a:srgbClr val="000000"/>
                </a:solidFill>
              </a:rPr>
              <a:t>对偶问题的剩余变量为</a:t>
            </a:r>
            <a:r>
              <a:rPr lang="en-US" altLang="zh-CN" sz="2400" dirty="0">
                <a:solidFill>
                  <a:srgbClr val="000000"/>
                </a:solidFill>
              </a:rPr>
              <a:t>: Y</a:t>
            </a:r>
            <a:r>
              <a:rPr lang="en-US" altLang="zh-CN" sz="2400" baseline="-25000" dirty="0">
                <a:solidFill>
                  <a:srgbClr val="000000"/>
                </a:solidFill>
              </a:rPr>
              <a:t>3</a:t>
            </a:r>
            <a:r>
              <a:rPr lang="en-US" altLang="zh-CN" sz="2400" dirty="0">
                <a:solidFill>
                  <a:srgbClr val="000000"/>
                </a:solidFill>
              </a:rPr>
              <a:t>,Y</a:t>
            </a:r>
            <a:r>
              <a:rPr lang="en-US" altLang="zh-CN" sz="2400" baseline="-25000" dirty="0">
                <a:solidFill>
                  <a:srgbClr val="000000"/>
                </a:solidFill>
              </a:rPr>
              <a:t>4</a:t>
            </a:r>
            <a:r>
              <a:rPr lang="en-US" altLang="zh-CN" sz="2400" dirty="0">
                <a:solidFill>
                  <a:srgbClr val="000000"/>
                </a:solidFill>
              </a:rPr>
              <a:t>, Y</a:t>
            </a:r>
            <a:r>
              <a:rPr lang="en-US" altLang="zh-CN" sz="2400" baseline="-25000" dirty="0">
                <a:solidFill>
                  <a:srgbClr val="000000"/>
                </a:solidFill>
              </a:rPr>
              <a:t>5</a:t>
            </a:r>
            <a:r>
              <a:rPr lang="en-US" altLang="zh-CN" sz="2400" dirty="0">
                <a:solidFill>
                  <a:srgbClr val="000000"/>
                </a:solidFill>
              </a:rPr>
              <a:t>,Y</a:t>
            </a:r>
            <a:r>
              <a:rPr lang="en-US" altLang="zh-CN" sz="2400" baseline="-25000" dirty="0">
                <a:solidFill>
                  <a:srgbClr val="000000"/>
                </a:solidFill>
              </a:rPr>
              <a:t>6</a:t>
            </a:r>
            <a:r>
              <a:rPr lang="en-US" altLang="zh-CN" sz="2400" dirty="0">
                <a:solidFill>
                  <a:srgbClr val="000000"/>
                </a:solidFill>
              </a:rPr>
              <a:t>,</a:t>
            </a:r>
            <a:endParaRPr lang="en-US" altLang="zh-CN" sz="2400" dirty="0">
              <a:solidFill>
                <a:srgbClr val="000000"/>
              </a:solidFill>
            </a:endParaRPr>
          </a:p>
          <a:p>
            <a:pPr>
              <a:buFontTx/>
              <a:buNone/>
            </a:pPr>
            <a:r>
              <a:rPr lang="zh-CN" altLang="en-US" sz="2400" dirty="0">
                <a:solidFill>
                  <a:srgbClr val="000000"/>
                </a:solidFill>
              </a:rPr>
              <a:t>将</a:t>
            </a:r>
            <a:r>
              <a:rPr lang="en-US" altLang="zh-CN" sz="2400" dirty="0">
                <a:solidFill>
                  <a:srgbClr val="000000"/>
                </a:solidFill>
              </a:rPr>
              <a:t>(6/5,1/5)</a:t>
            </a:r>
            <a:r>
              <a:rPr lang="zh-CN" altLang="en-US" sz="2400" dirty="0">
                <a:solidFill>
                  <a:srgbClr val="000000"/>
                </a:solidFill>
              </a:rPr>
              <a:t>代入</a:t>
            </a:r>
            <a:r>
              <a:rPr lang="en-US" altLang="zh-CN" sz="2400" dirty="0">
                <a:solidFill>
                  <a:srgbClr val="000000"/>
                </a:solidFill>
              </a:rPr>
              <a:t>1)</a:t>
            </a:r>
            <a:r>
              <a:rPr lang="zh-CN" altLang="en-US" sz="2400" dirty="0">
                <a:solidFill>
                  <a:srgbClr val="000000"/>
                </a:solidFill>
              </a:rPr>
              <a:t>和</a:t>
            </a:r>
            <a:r>
              <a:rPr lang="en-US" altLang="zh-CN" sz="2400" dirty="0">
                <a:solidFill>
                  <a:srgbClr val="000000"/>
                </a:solidFill>
              </a:rPr>
              <a:t>2)</a:t>
            </a:r>
            <a:r>
              <a:rPr lang="zh-CN" altLang="en-US" sz="2400" dirty="0">
                <a:solidFill>
                  <a:srgbClr val="000000"/>
                </a:solidFill>
              </a:rPr>
              <a:t>知</a:t>
            </a:r>
            <a:r>
              <a:rPr lang="en-US" altLang="zh-CN" sz="2400" dirty="0">
                <a:solidFill>
                  <a:srgbClr val="000000"/>
                </a:solidFill>
              </a:rPr>
              <a:t>: Y</a:t>
            </a:r>
            <a:r>
              <a:rPr lang="en-US" altLang="zh-CN" sz="2400" baseline="-25000" dirty="0">
                <a:solidFill>
                  <a:srgbClr val="000000"/>
                </a:solidFill>
              </a:rPr>
              <a:t>3</a:t>
            </a:r>
            <a:r>
              <a:rPr lang="en-US" altLang="zh-CN" sz="2400" dirty="0">
                <a:solidFill>
                  <a:srgbClr val="000000"/>
                </a:solidFill>
              </a:rPr>
              <a:t>,Y</a:t>
            </a:r>
            <a:r>
              <a:rPr lang="en-US" altLang="zh-CN" sz="2400" baseline="-25000" dirty="0">
                <a:solidFill>
                  <a:srgbClr val="000000"/>
                </a:solidFill>
              </a:rPr>
              <a:t>4</a:t>
            </a:r>
            <a:r>
              <a:rPr lang="en-US" altLang="zh-CN" sz="2400" dirty="0">
                <a:solidFill>
                  <a:srgbClr val="000000"/>
                </a:solidFill>
              </a:rPr>
              <a:t>, </a:t>
            </a:r>
            <a:r>
              <a:rPr lang="zh-CN" altLang="en-US" sz="2400" dirty="0">
                <a:solidFill>
                  <a:srgbClr val="000000"/>
                </a:solidFill>
              </a:rPr>
              <a:t>均不为</a:t>
            </a:r>
            <a:r>
              <a:rPr lang="en-US" altLang="zh-CN" sz="2400" dirty="0">
                <a:solidFill>
                  <a:srgbClr val="000000"/>
                </a:solidFill>
              </a:rPr>
              <a:t>0,</a:t>
            </a:r>
            <a:r>
              <a:rPr lang="zh-CN" altLang="en-US" sz="2400" dirty="0">
                <a:solidFill>
                  <a:srgbClr val="000000"/>
                </a:solidFill>
              </a:rPr>
              <a:t>于是由松弛互补定理知</a:t>
            </a:r>
            <a:r>
              <a:rPr lang="en-US" altLang="zh-CN" sz="2400" dirty="0">
                <a:solidFill>
                  <a:srgbClr val="000000"/>
                </a:solidFill>
              </a:rPr>
              <a:t>:</a:t>
            </a:r>
            <a:endParaRPr lang="en-US" altLang="zh-CN" sz="2400" dirty="0">
              <a:solidFill>
                <a:srgbClr val="000000"/>
              </a:solidFill>
            </a:endParaRPr>
          </a:p>
          <a:p>
            <a:pPr algn="just">
              <a:buFontTx/>
              <a:buNone/>
            </a:pPr>
            <a:r>
              <a:rPr lang="en-US" altLang="zh-CN" sz="2400" dirty="0">
                <a:solidFill>
                  <a:srgbClr val="000000"/>
                </a:solidFill>
              </a:rPr>
              <a:t>                      X</a:t>
            </a:r>
            <a:r>
              <a:rPr lang="en-US" altLang="zh-CN" sz="2400" baseline="-30000" dirty="0">
                <a:solidFill>
                  <a:srgbClr val="000000"/>
                </a:solidFill>
              </a:rPr>
              <a:t>1</a:t>
            </a:r>
            <a:r>
              <a:rPr lang="en-US" altLang="zh-CN" sz="2400" dirty="0">
                <a:solidFill>
                  <a:srgbClr val="000000"/>
                </a:solidFill>
              </a:rPr>
              <a:t>,</a:t>
            </a:r>
            <a:r>
              <a:rPr lang="en-US" altLang="zh-CN" sz="2400" baseline="-30000" dirty="0">
                <a:solidFill>
                  <a:srgbClr val="000000"/>
                </a:solidFill>
              </a:rPr>
              <a:t> </a:t>
            </a:r>
            <a:r>
              <a:rPr lang="en-US" altLang="zh-CN" sz="2400" dirty="0">
                <a:solidFill>
                  <a:srgbClr val="000000"/>
                </a:solidFill>
              </a:rPr>
              <a:t>X</a:t>
            </a:r>
            <a:r>
              <a:rPr lang="en-US" altLang="zh-CN" sz="2400" baseline="-30000" dirty="0">
                <a:solidFill>
                  <a:srgbClr val="000000"/>
                </a:solidFill>
              </a:rPr>
              <a:t>2 </a:t>
            </a:r>
            <a:r>
              <a:rPr lang="en-US" altLang="zh-CN" sz="2400" dirty="0">
                <a:solidFill>
                  <a:srgbClr val="000000"/>
                </a:solidFill>
              </a:rPr>
              <a:t>,  =0</a:t>
            </a:r>
            <a:endParaRPr lang="en-US" altLang="zh-CN" sz="2400" dirty="0">
              <a:solidFill>
                <a:srgbClr val="000000"/>
              </a:solidFill>
            </a:endParaRPr>
          </a:p>
          <a:p>
            <a:pPr>
              <a:buFontTx/>
              <a:buNone/>
            </a:pPr>
            <a:r>
              <a:rPr lang="zh-CN" altLang="en-US" sz="2400" dirty="0">
                <a:solidFill>
                  <a:srgbClr val="000000"/>
                </a:solidFill>
              </a:rPr>
              <a:t>又由 </a:t>
            </a:r>
            <a:r>
              <a:rPr lang="en-US" altLang="zh-CN" sz="2400" dirty="0">
                <a:solidFill>
                  <a:srgbClr val="000000"/>
                </a:solidFill>
              </a:rPr>
              <a:t>Y</a:t>
            </a:r>
            <a:r>
              <a:rPr lang="en-US" altLang="zh-CN" sz="2400" baseline="-25000" dirty="0">
                <a:solidFill>
                  <a:srgbClr val="000000"/>
                </a:solidFill>
              </a:rPr>
              <a:t>1</a:t>
            </a:r>
            <a:r>
              <a:rPr lang="en-US" altLang="zh-CN" sz="2400" dirty="0">
                <a:solidFill>
                  <a:srgbClr val="000000"/>
                </a:solidFill>
              </a:rPr>
              <a:t>&gt;0,Y</a:t>
            </a:r>
            <a:r>
              <a:rPr lang="en-US" altLang="zh-CN" sz="2400" baseline="-25000" dirty="0">
                <a:solidFill>
                  <a:srgbClr val="000000"/>
                </a:solidFill>
              </a:rPr>
              <a:t>2</a:t>
            </a:r>
            <a:r>
              <a:rPr lang="en-US" altLang="zh-CN" sz="2400" dirty="0">
                <a:solidFill>
                  <a:srgbClr val="000000"/>
                </a:solidFill>
              </a:rPr>
              <a:t>&gt;0</a:t>
            </a:r>
            <a:r>
              <a:rPr lang="zh-CN" altLang="en-US" sz="2400" dirty="0">
                <a:solidFill>
                  <a:srgbClr val="000000"/>
                </a:solidFill>
              </a:rPr>
              <a:t>和松弛互补定理知</a:t>
            </a:r>
            <a:r>
              <a:rPr lang="en-US" altLang="zh-CN" sz="2400" dirty="0">
                <a:solidFill>
                  <a:srgbClr val="000000"/>
                </a:solidFill>
              </a:rPr>
              <a:t>:</a:t>
            </a:r>
            <a:endParaRPr lang="en-US" altLang="zh-CN" sz="2400" dirty="0">
              <a:solidFill>
                <a:srgbClr val="000000"/>
              </a:solidFill>
            </a:endParaRPr>
          </a:p>
          <a:p>
            <a:pPr>
              <a:buFontTx/>
              <a:buNone/>
            </a:pPr>
            <a:r>
              <a:rPr lang="en-US" altLang="zh-CN" sz="2400" dirty="0">
                <a:solidFill>
                  <a:srgbClr val="000000"/>
                </a:solidFill>
              </a:rPr>
              <a:t>                     X</a:t>
            </a:r>
            <a:r>
              <a:rPr lang="en-US" altLang="zh-CN" sz="2400" baseline="-30000" dirty="0">
                <a:solidFill>
                  <a:srgbClr val="000000"/>
                </a:solidFill>
              </a:rPr>
              <a:t>5 </a:t>
            </a:r>
            <a:r>
              <a:rPr lang="en-US" altLang="zh-CN" sz="2400" dirty="0">
                <a:solidFill>
                  <a:srgbClr val="000000"/>
                </a:solidFill>
              </a:rPr>
              <a:t>, X</a:t>
            </a:r>
            <a:r>
              <a:rPr lang="en-US" altLang="zh-CN" sz="2400" baseline="-30000" dirty="0">
                <a:solidFill>
                  <a:srgbClr val="000000"/>
                </a:solidFill>
              </a:rPr>
              <a:t>6</a:t>
            </a:r>
            <a:r>
              <a:rPr lang="en-US" altLang="zh-CN" sz="2400" dirty="0">
                <a:solidFill>
                  <a:srgbClr val="000000"/>
                </a:solidFill>
              </a:rPr>
              <a:t> ,=0</a:t>
            </a:r>
            <a:endParaRPr lang="en-US" altLang="zh-CN" sz="2400" dirty="0">
              <a:solidFill>
                <a:srgbClr val="000000"/>
              </a:solidFill>
            </a:endParaRPr>
          </a:p>
          <a:p>
            <a:pPr>
              <a:buFontTx/>
              <a:buNone/>
            </a:pPr>
            <a:r>
              <a:rPr lang="zh-CN" altLang="en-US" sz="2400" dirty="0">
                <a:solidFill>
                  <a:srgbClr val="000000"/>
                </a:solidFill>
              </a:rPr>
              <a:t>从而</a:t>
            </a:r>
            <a:r>
              <a:rPr lang="en-US" altLang="zh-CN" sz="2400" dirty="0">
                <a:solidFill>
                  <a:srgbClr val="000000"/>
                </a:solidFill>
              </a:rPr>
              <a:t>,</a:t>
            </a:r>
            <a:r>
              <a:rPr lang="zh-CN" altLang="en-US" sz="2400" dirty="0">
                <a:solidFill>
                  <a:srgbClr val="000000"/>
                </a:solidFill>
              </a:rPr>
              <a:t>原问题的约束变为</a:t>
            </a:r>
            <a:r>
              <a:rPr lang="en-US" altLang="zh-CN" sz="2400" dirty="0">
                <a:solidFill>
                  <a:srgbClr val="000000"/>
                </a:solidFill>
              </a:rPr>
              <a:t>:</a:t>
            </a:r>
            <a:endParaRPr lang="en-US" altLang="zh-CN" sz="2400" dirty="0">
              <a:solidFill>
                <a:srgbClr val="000000"/>
              </a:solidFill>
            </a:endParaRPr>
          </a:p>
          <a:p>
            <a:pPr algn="just">
              <a:buFontTx/>
              <a:buNone/>
            </a:pPr>
            <a:r>
              <a:rPr lang="en-US" altLang="zh-CN" sz="2400" dirty="0">
                <a:solidFill>
                  <a:srgbClr val="000000"/>
                </a:solidFill>
              </a:rPr>
              <a:t>                2X</a:t>
            </a:r>
            <a:r>
              <a:rPr lang="en-US" altLang="zh-CN" sz="2400" baseline="-30000" dirty="0">
                <a:solidFill>
                  <a:srgbClr val="000000"/>
                </a:solidFill>
              </a:rPr>
              <a:t>3</a:t>
            </a:r>
            <a:r>
              <a:rPr lang="en-US" altLang="zh-CN" sz="2400" dirty="0">
                <a:solidFill>
                  <a:srgbClr val="000000"/>
                </a:solidFill>
              </a:rPr>
              <a:t> + 3X</a:t>
            </a:r>
            <a:r>
              <a:rPr lang="en-US" altLang="zh-CN" sz="2400" baseline="-30000" dirty="0">
                <a:solidFill>
                  <a:srgbClr val="000000"/>
                </a:solidFill>
              </a:rPr>
              <a:t>4</a:t>
            </a:r>
            <a:r>
              <a:rPr lang="en-US" altLang="zh-CN" sz="2400" dirty="0">
                <a:solidFill>
                  <a:srgbClr val="000000"/>
                </a:solidFill>
              </a:rPr>
              <a:t> =20     </a:t>
            </a:r>
            <a:endParaRPr lang="en-US" altLang="zh-CN" sz="2400" dirty="0">
              <a:solidFill>
                <a:srgbClr val="000000"/>
              </a:solidFill>
            </a:endParaRPr>
          </a:p>
          <a:p>
            <a:pPr algn="just">
              <a:buFontTx/>
              <a:buNone/>
            </a:pPr>
            <a:r>
              <a:rPr lang="en-US" altLang="zh-CN" sz="2400" dirty="0">
                <a:solidFill>
                  <a:srgbClr val="000000"/>
                </a:solidFill>
              </a:rPr>
              <a:t>	            3X</a:t>
            </a:r>
            <a:r>
              <a:rPr lang="en-US" altLang="zh-CN" sz="2400" baseline="-30000" dirty="0">
                <a:solidFill>
                  <a:srgbClr val="000000"/>
                </a:solidFill>
              </a:rPr>
              <a:t>3</a:t>
            </a:r>
            <a:r>
              <a:rPr lang="en-US" altLang="zh-CN" sz="2400" dirty="0">
                <a:solidFill>
                  <a:srgbClr val="000000"/>
                </a:solidFill>
              </a:rPr>
              <a:t>  + 2X</a:t>
            </a:r>
            <a:r>
              <a:rPr lang="en-US" altLang="zh-CN" sz="2400" baseline="-30000" dirty="0">
                <a:solidFill>
                  <a:srgbClr val="000000"/>
                </a:solidFill>
              </a:rPr>
              <a:t>4</a:t>
            </a:r>
            <a:r>
              <a:rPr lang="en-US" altLang="zh-CN" sz="2400" dirty="0">
                <a:solidFill>
                  <a:srgbClr val="000000"/>
                </a:solidFill>
              </a:rPr>
              <a:t> =20    </a:t>
            </a:r>
            <a:endParaRPr lang="en-US" altLang="zh-CN" sz="2400" dirty="0">
              <a:solidFill>
                <a:srgbClr val="000000"/>
              </a:solidFill>
            </a:endParaRPr>
          </a:p>
          <a:p>
            <a:pPr algn="just">
              <a:buFontTx/>
              <a:buNone/>
            </a:pPr>
            <a:r>
              <a:rPr lang="zh-CN" altLang="en-US" sz="2400" dirty="0">
                <a:solidFill>
                  <a:srgbClr val="000000"/>
                </a:solidFill>
              </a:rPr>
              <a:t>解此方程得</a:t>
            </a:r>
            <a:r>
              <a:rPr lang="en-US" altLang="zh-CN" sz="2400" dirty="0">
                <a:solidFill>
                  <a:srgbClr val="000000"/>
                </a:solidFill>
              </a:rPr>
              <a:t>: X</a:t>
            </a:r>
            <a:r>
              <a:rPr lang="en-US" altLang="zh-CN" sz="2400" baseline="-30000" dirty="0">
                <a:solidFill>
                  <a:srgbClr val="000000"/>
                </a:solidFill>
              </a:rPr>
              <a:t>3</a:t>
            </a:r>
            <a:r>
              <a:rPr lang="en-US" altLang="zh-CN" sz="2400" dirty="0">
                <a:solidFill>
                  <a:srgbClr val="000000"/>
                </a:solidFill>
              </a:rPr>
              <a:t> = X</a:t>
            </a:r>
            <a:r>
              <a:rPr lang="en-US" altLang="zh-CN" sz="2400" baseline="-30000" dirty="0">
                <a:solidFill>
                  <a:srgbClr val="000000"/>
                </a:solidFill>
              </a:rPr>
              <a:t>4</a:t>
            </a:r>
            <a:r>
              <a:rPr lang="en-US" altLang="zh-CN" sz="2400" dirty="0">
                <a:solidFill>
                  <a:srgbClr val="000000"/>
                </a:solidFill>
              </a:rPr>
              <a:t> =4</a:t>
            </a:r>
            <a:endParaRPr lang="en-US" altLang="zh-CN" sz="2400" dirty="0">
              <a:solidFill>
                <a:srgbClr val="000000"/>
              </a:solidFill>
            </a:endParaRPr>
          </a:p>
          <a:p>
            <a:pPr algn="just">
              <a:buFontTx/>
              <a:buNone/>
            </a:pPr>
            <a:r>
              <a:rPr lang="zh-CN" altLang="en-US" sz="2400" dirty="0">
                <a:solidFill>
                  <a:srgbClr val="000000"/>
                </a:solidFill>
              </a:rPr>
              <a:t>于是原问题的最优解为</a:t>
            </a:r>
            <a:r>
              <a:rPr lang="en-US" altLang="zh-CN" sz="2400" dirty="0">
                <a:solidFill>
                  <a:srgbClr val="000000"/>
                </a:solidFill>
              </a:rPr>
              <a:t>:(0,0,4,4)</a:t>
            </a:r>
            <a:endParaRPr lang="en-US" altLang="zh-CN" sz="2400" dirty="0">
              <a:solidFill>
                <a:srgbClr val="000000"/>
              </a:solidFill>
            </a:endParaRPr>
          </a:p>
        </p:txBody>
      </p:sp>
      <p:sp>
        <p:nvSpPr>
          <p:cNvPr id="13" name="AutoShape 3"/>
          <p:cNvSpPr/>
          <p:nvPr/>
        </p:nvSpPr>
        <p:spPr bwMode="auto">
          <a:xfrm>
            <a:off x="1187624" y="4581128"/>
            <a:ext cx="76200" cy="609600"/>
          </a:xfrm>
          <a:prstGeom prst="leftBrace">
            <a:avLst>
              <a:gd name="adj1" fmla="val 66630"/>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additive="base">
                                        <p:cTn id="13" dur="500" fill="hold"/>
                                        <p:tgtEl>
                                          <p:spTgt spid="1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 calcmode="lin" valueType="num">
                                      <p:cBhvr additive="base">
                                        <p:cTn id="19" dur="500" fill="hold"/>
                                        <p:tgtEl>
                                          <p:spTgt spid="12">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
                                            <p:txEl>
                                              <p:pRg st="3" end="3"/>
                                            </p:txEl>
                                          </p:spTgt>
                                        </p:tgtEl>
                                        <p:attrNameLst>
                                          <p:attrName>style.visibility</p:attrName>
                                        </p:attrNameLst>
                                      </p:cBhvr>
                                      <p:to>
                                        <p:strVal val="visible"/>
                                      </p:to>
                                    </p:set>
                                    <p:anim calcmode="lin" valueType="num">
                                      <p:cBhvr additive="base">
                                        <p:cTn id="25" dur="500" fill="hold"/>
                                        <p:tgtEl>
                                          <p:spTgt spid="12">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1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2">
                                            <p:txEl>
                                              <p:pRg st="4" end="4"/>
                                            </p:txEl>
                                          </p:spTgt>
                                        </p:tgtEl>
                                        <p:attrNameLst>
                                          <p:attrName>style.visibility</p:attrName>
                                        </p:attrNameLst>
                                      </p:cBhvr>
                                      <p:to>
                                        <p:strVal val="visible"/>
                                      </p:to>
                                    </p:set>
                                    <p:anim calcmode="lin" valueType="num">
                                      <p:cBhvr additive="base">
                                        <p:cTn id="31" dur="500" fill="hold"/>
                                        <p:tgtEl>
                                          <p:spTgt spid="12">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anim calcmode="lin" valueType="num">
                                      <p:cBhvr additive="base">
                                        <p:cTn id="37" dur="500" fill="hold"/>
                                        <p:tgtEl>
                                          <p:spTgt spid="12">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1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2">
                                            <p:txEl>
                                              <p:pRg st="6" end="6"/>
                                            </p:txEl>
                                          </p:spTgt>
                                        </p:tgtEl>
                                        <p:attrNameLst>
                                          <p:attrName>style.visibility</p:attrName>
                                        </p:attrNameLst>
                                      </p:cBhvr>
                                      <p:to>
                                        <p:strVal val="visible"/>
                                      </p:to>
                                    </p:set>
                                    <p:anim calcmode="lin" valueType="num">
                                      <p:cBhvr additive="base">
                                        <p:cTn id="43" dur="500" fill="hold"/>
                                        <p:tgtEl>
                                          <p:spTgt spid="12">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1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2">
                                            <p:txEl>
                                              <p:pRg st="7" end="7"/>
                                            </p:txEl>
                                          </p:spTgt>
                                        </p:tgtEl>
                                        <p:attrNameLst>
                                          <p:attrName>style.visibility</p:attrName>
                                        </p:attrNameLst>
                                      </p:cBhvr>
                                      <p:to>
                                        <p:strVal val="visible"/>
                                      </p:to>
                                    </p:set>
                                    <p:anim calcmode="lin" valueType="num">
                                      <p:cBhvr additive="base">
                                        <p:cTn id="49" dur="500" fill="hold"/>
                                        <p:tgtEl>
                                          <p:spTgt spid="12">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1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2">
                                            <p:txEl>
                                              <p:pRg st="8" end="8"/>
                                            </p:txEl>
                                          </p:spTgt>
                                        </p:tgtEl>
                                        <p:attrNameLst>
                                          <p:attrName>style.visibility</p:attrName>
                                        </p:attrNameLst>
                                      </p:cBhvr>
                                      <p:to>
                                        <p:strVal val="visible"/>
                                      </p:to>
                                    </p:set>
                                    <p:anim calcmode="lin" valueType="num">
                                      <p:cBhvr additive="base">
                                        <p:cTn id="55" dur="500" fill="hold"/>
                                        <p:tgtEl>
                                          <p:spTgt spid="12">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12">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1+#ppt_w/2"/>
                                          </p:val>
                                        </p:tav>
                                        <p:tav tm="100000">
                                          <p:val>
                                            <p:strVal val="#ppt_x"/>
                                          </p:val>
                                        </p:tav>
                                      </p:tavLst>
                                    </p:anim>
                                    <p:anim calcmode="lin" valueType="num">
                                      <p:cBhvr additive="base">
                                        <p:cTn id="62"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2" fill="hold" grpId="0" nodeType="clickEffect">
                                  <p:stCondLst>
                                    <p:cond delay="0"/>
                                  </p:stCondLst>
                                  <p:childTnLst>
                                    <p:set>
                                      <p:cBhvr>
                                        <p:cTn id="66" dur="1" fill="hold">
                                          <p:stCondLst>
                                            <p:cond delay="0"/>
                                          </p:stCondLst>
                                        </p:cTn>
                                        <p:tgtEl>
                                          <p:spTgt spid="12">
                                            <p:txEl>
                                              <p:pRg st="9" end="9"/>
                                            </p:txEl>
                                          </p:spTgt>
                                        </p:tgtEl>
                                        <p:attrNameLst>
                                          <p:attrName>style.visibility</p:attrName>
                                        </p:attrNameLst>
                                      </p:cBhvr>
                                      <p:to>
                                        <p:strVal val="visible"/>
                                      </p:to>
                                    </p:set>
                                    <p:anim calcmode="lin" valueType="num">
                                      <p:cBhvr additive="base">
                                        <p:cTn id="67" dur="500" fill="hold"/>
                                        <p:tgtEl>
                                          <p:spTgt spid="12">
                                            <p:txEl>
                                              <p:pRg st="9" end="9"/>
                                            </p:tx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12">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2" fill="hold" grpId="0" nodeType="clickEffect">
                                  <p:stCondLst>
                                    <p:cond delay="0"/>
                                  </p:stCondLst>
                                  <p:childTnLst>
                                    <p:set>
                                      <p:cBhvr>
                                        <p:cTn id="72" dur="1" fill="hold">
                                          <p:stCondLst>
                                            <p:cond delay="0"/>
                                          </p:stCondLst>
                                        </p:cTn>
                                        <p:tgtEl>
                                          <p:spTgt spid="12">
                                            <p:txEl>
                                              <p:pRg st="10" end="10"/>
                                            </p:txEl>
                                          </p:spTgt>
                                        </p:tgtEl>
                                        <p:attrNameLst>
                                          <p:attrName>style.visibility</p:attrName>
                                        </p:attrNameLst>
                                      </p:cBhvr>
                                      <p:to>
                                        <p:strVal val="visible"/>
                                      </p:to>
                                    </p:set>
                                    <p:anim calcmode="lin" valueType="num">
                                      <p:cBhvr additive="base">
                                        <p:cTn id="73" dur="500" fill="hold"/>
                                        <p:tgtEl>
                                          <p:spTgt spid="12">
                                            <p:txEl>
                                              <p:pRg st="10" end="10"/>
                                            </p:txEl>
                                          </p:spTgt>
                                        </p:tgtEl>
                                        <p:attrNameLst>
                                          <p:attrName>ppt_x</p:attrName>
                                        </p:attrNameLst>
                                      </p:cBhvr>
                                      <p:tavLst>
                                        <p:tav tm="0">
                                          <p:val>
                                            <p:strVal val="1+#ppt_w/2"/>
                                          </p:val>
                                        </p:tav>
                                        <p:tav tm="100000">
                                          <p:val>
                                            <p:strVal val="#ppt_x"/>
                                          </p:val>
                                        </p:tav>
                                      </p:tavLst>
                                    </p:anim>
                                    <p:anim calcmode="lin" valueType="num">
                                      <p:cBhvr additive="base">
                                        <p:cTn id="74" dur="500" fill="hold"/>
                                        <p:tgtEl>
                                          <p:spTgt spid="12">
                                            <p:txEl>
                                              <p:pRg st="10" end="1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12" name="Rectangle 4"/>
          <p:cNvSpPr>
            <a:spLocks noChangeArrowheads="1"/>
          </p:cNvSpPr>
          <p:nvPr/>
        </p:nvSpPr>
        <p:spPr bwMode="auto">
          <a:xfrm>
            <a:off x="395288" y="1916832"/>
            <a:ext cx="77724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755">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1155">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623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480"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6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8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30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102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min </a:t>
            </a:r>
            <a:r>
              <a:rPr lang="en-US" altLang="zh-CN" sz="2400" b="0" i="1" dirty="0">
                <a:latin typeface="Times New Roman" panose="02020603050405020304" pitchFamily="18" charset="0"/>
                <a:cs typeface="Times New Roman" panose="02020603050405020304" pitchFamily="18" charset="0"/>
              </a:rPr>
              <a:t>w</a:t>
            </a:r>
            <a:r>
              <a:rPr lang="en-US" altLang="zh-CN" sz="2400" b="0" dirty="0">
                <a:latin typeface="Times New Roman" panose="02020603050405020304" pitchFamily="18" charset="0"/>
                <a:cs typeface="Times New Roman" panose="02020603050405020304" pitchFamily="18" charset="0"/>
              </a:rPr>
              <a:t>=2x</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+3x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+5x</a:t>
            </a:r>
            <a:r>
              <a:rPr lang="en-US" altLang="zh-CN" sz="2400" b="0" baseline="-30000" dirty="0">
                <a:latin typeface="Times New Roman" panose="02020603050405020304" pitchFamily="18" charset="0"/>
                <a:cs typeface="Times New Roman" panose="02020603050405020304" pitchFamily="18" charset="0"/>
              </a:rPr>
              <a:t>3</a:t>
            </a:r>
            <a:r>
              <a:rPr lang="en-US" altLang="zh-CN" sz="2400" b="0" dirty="0">
                <a:latin typeface="Times New Roman" panose="02020603050405020304" pitchFamily="18" charset="0"/>
                <a:cs typeface="Times New Roman" panose="02020603050405020304" pitchFamily="18" charset="0"/>
              </a:rPr>
              <a:t>+2x</a:t>
            </a:r>
            <a:r>
              <a:rPr lang="en-US" altLang="zh-CN" sz="2400" b="0" baseline="-30000" dirty="0">
                <a:latin typeface="Times New Roman" panose="02020603050405020304" pitchFamily="18" charset="0"/>
                <a:cs typeface="Times New Roman" panose="02020603050405020304" pitchFamily="18" charset="0"/>
              </a:rPr>
              <a:t>4</a:t>
            </a:r>
            <a:r>
              <a:rPr lang="en-US" altLang="zh-CN" sz="2400" b="0" dirty="0">
                <a:latin typeface="Times New Roman" panose="02020603050405020304" pitchFamily="18" charset="0"/>
                <a:cs typeface="Times New Roman" panose="02020603050405020304" pitchFamily="18" charset="0"/>
              </a:rPr>
              <a:t>+3x</a:t>
            </a:r>
            <a:r>
              <a:rPr lang="en-US" altLang="zh-CN" sz="2400" b="0" baseline="-30000" dirty="0">
                <a:latin typeface="Times New Roman" panose="02020603050405020304" pitchFamily="18" charset="0"/>
                <a:cs typeface="Times New Roman" panose="02020603050405020304" pitchFamily="18" charset="0"/>
              </a:rPr>
              <a:t>5</a:t>
            </a:r>
            <a:endParaRPr lang="en-US" altLang="zh-CN" sz="2400" b="0" dirty="0">
              <a:latin typeface="Times New Roman" panose="02020603050405020304" pitchFamily="18" charset="0"/>
              <a:cs typeface="Times New Roman" panose="02020603050405020304" pitchFamily="18" charset="0"/>
            </a:endParaRPr>
          </a:p>
          <a:p>
            <a:pPr algn="ctr">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+2x</a:t>
            </a:r>
            <a:r>
              <a:rPr lang="en-US" altLang="zh-CN" sz="2400" b="0" baseline="-30000" dirty="0">
                <a:latin typeface="Times New Roman" panose="02020603050405020304" pitchFamily="18" charset="0"/>
                <a:cs typeface="Times New Roman" panose="02020603050405020304" pitchFamily="18" charset="0"/>
              </a:rPr>
              <a:t>3</a:t>
            </a:r>
            <a:r>
              <a:rPr lang="en-US" altLang="zh-CN" sz="2400" b="0"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4</a:t>
            </a:r>
            <a:r>
              <a:rPr lang="en-US" altLang="zh-CN" sz="2400" b="0" dirty="0">
                <a:latin typeface="Times New Roman" panose="02020603050405020304" pitchFamily="18" charset="0"/>
                <a:cs typeface="Times New Roman" panose="02020603050405020304" pitchFamily="18" charset="0"/>
              </a:rPr>
              <a:t>+3x</a:t>
            </a:r>
            <a:r>
              <a:rPr lang="en-US" altLang="zh-CN" sz="2400" b="0" baseline="-30000" dirty="0">
                <a:latin typeface="Times New Roman" panose="02020603050405020304" pitchFamily="18" charset="0"/>
                <a:cs typeface="Times New Roman" panose="02020603050405020304" pitchFamily="18" charset="0"/>
              </a:rPr>
              <a:t>5</a:t>
            </a:r>
            <a:r>
              <a:rPr lang="en-US" altLang="zh-CN" sz="2400" b="0" dirty="0">
                <a:latin typeface="Times New Roman" panose="02020603050405020304" pitchFamily="18" charset="0"/>
                <a:cs typeface="Times New Roman" panose="02020603050405020304" pitchFamily="18" charset="0"/>
              </a:rPr>
              <a:t>≥4</a:t>
            </a:r>
            <a:endParaRPr lang="en-US" altLang="zh-CN" sz="2400" b="0" dirty="0">
              <a:latin typeface="Times New Roman" panose="02020603050405020304" pitchFamily="18" charset="0"/>
              <a:cs typeface="Times New Roman" panose="02020603050405020304" pitchFamily="18" charset="0"/>
            </a:endParaRPr>
          </a:p>
          <a:p>
            <a:pPr algn="ctr">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2x</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+3x</a:t>
            </a:r>
            <a:r>
              <a:rPr lang="en-US" altLang="zh-CN" sz="2400" b="0" baseline="-30000" dirty="0">
                <a:latin typeface="Times New Roman" panose="02020603050405020304" pitchFamily="18" charset="0"/>
                <a:cs typeface="Times New Roman" panose="02020603050405020304" pitchFamily="18" charset="0"/>
              </a:rPr>
              <a:t>3</a:t>
            </a:r>
            <a:r>
              <a:rPr lang="en-US" altLang="zh-CN" sz="2400" b="0"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4</a:t>
            </a:r>
            <a:r>
              <a:rPr lang="en-US" altLang="zh-CN" sz="2400" b="0" dirty="0">
                <a:latin typeface="Times New Roman" panose="02020603050405020304" pitchFamily="18" charset="0"/>
                <a:cs typeface="Times New Roman" panose="02020603050405020304" pitchFamily="18" charset="0"/>
              </a:rPr>
              <a:t>+x</a:t>
            </a:r>
            <a:r>
              <a:rPr lang="en-US" altLang="zh-CN" sz="2400" b="0" baseline="-30000" dirty="0">
                <a:latin typeface="Times New Roman" panose="02020603050405020304" pitchFamily="18" charset="0"/>
                <a:cs typeface="Times New Roman" panose="02020603050405020304" pitchFamily="18" charset="0"/>
              </a:rPr>
              <a:t>5</a:t>
            </a:r>
            <a:r>
              <a:rPr lang="en-US" altLang="zh-CN" sz="2400" b="0" dirty="0">
                <a:latin typeface="Times New Roman" panose="02020603050405020304" pitchFamily="18" charset="0"/>
                <a:cs typeface="Times New Roman" panose="02020603050405020304" pitchFamily="18" charset="0"/>
              </a:rPr>
              <a:t>≥3</a:t>
            </a:r>
            <a:endParaRPr lang="en-US" altLang="zh-CN" sz="2400" b="0" dirty="0">
              <a:latin typeface="Times New Roman" panose="02020603050405020304" pitchFamily="18" charset="0"/>
              <a:cs typeface="Times New Roman" panose="02020603050405020304" pitchFamily="18" charset="0"/>
            </a:endParaRPr>
          </a:p>
          <a:p>
            <a:pPr algn="ctr">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   x</a:t>
            </a:r>
            <a:r>
              <a:rPr lang="en-US" altLang="zh-CN" sz="2400" b="0" baseline="-30000" dirty="0">
                <a:latin typeface="Times New Roman" panose="02020603050405020304" pitchFamily="18" charset="0"/>
                <a:cs typeface="Times New Roman" panose="02020603050405020304" pitchFamily="18" charset="0"/>
              </a:rPr>
              <a:t>j</a:t>
            </a:r>
            <a:r>
              <a:rPr lang="en-US" altLang="zh-CN" sz="2400" b="0" dirty="0">
                <a:latin typeface="Times New Roman" panose="02020603050405020304" pitchFamily="18" charset="0"/>
                <a:cs typeface="Times New Roman" panose="02020603050405020304" pitchFamily="18" charset="0"/>
              </a:rPr>
              <a:t>≥0</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j=1</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2</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5</a:t>
            </a:r>
            <a:endParaRPr lang="en-US" altLang="zh-CN" sz="2400" b="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   </a:t>
            </a:r>
            <a:r>
              <a:rPr lang="zh-CN" altLang="en-US" sz="2400" b="0" dirty="0">
                <a:latin typeface="Times New Roman" panose="02020603050405020304" pitchFamily="18" charset="0"/>
                <a:cs typeface="Times New Roman" panose="02020603050405020304" pitchFamily="18" charset="0"/>
              </a:rPr>
              <a:t>已知其对偶问题的最优解为</a:t>
            </a:r>
            <a:r>
              <a:rPr lang="en-US" altLang="zh-CN" sz="2400" b="0" dirty="0">
                <a:latin typeface="Times New Roman" panose="02020603050405020304" pitchFamily="18" charset="0"/>
                <a:cs typeface="Times New Roman" panose="02020603050405020304" pitchFamily="18" charset="0"/>
              </a:rPr>
              <a:t>y</a:t>
            </a:r>
            <a:r>
              <a:rPr lang="en-US" altLang="zh-CN" sz="2400" b="0" baseline="-30000" dirty="0">
                <a:latin typeface="Times New Roman" panose="02020603050405020304" pitchFamily="18" charset="0"/>
                <a:cs typeface="Times New Roman" panose="02020603050405020304" pitchFamily="18" charset="0"/>
              </a:rPr>
              <a:t>1</a:t>
            </a:r>
            <a:r>
              <a:rPr lang="en-US" altLang="zh-CN" sz="2400" b="0" baseline="3000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=4/5</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y</a:t>
            </a:r>
            <a:r>
              <a:rPr lang="en-US" altLang="zh-CN" sz="2400" b="0" baseline="-30000" dirty="0">
                <a:latin typeface="Times New Roman" panose="02020603050405020304" pitchFamily="18" charset="0"/>
                <a:cs typeface="Times New Roman" panose="02020603050405020304" pitchFamily="18" charset="0"/>
              </a:rPr>
              <a:t>2</a:t>
            </a:r>
            <a:r>
              <a:rPr lang="en-US" altLang="zh-CN" sz="2400" b="0" baseline="3000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=3/5</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z=5</a:t>
            </a:r>
            <a:r>
              <a:rPr lang="zh-CN" altLang="en-US" sz="2400" b="0" dirty="0">
                <a:latin typeface="Times New Roman" panose="02020603050405020304" pitchFamily="18" charset="0"/>
                <a:cs typeface="Times New Roman" panose="02020603050405020304" pitchFamily="18" charset="0"/>
              </a:rPr>
              <a:t>。试用对偶理论找出原问题的最优解 。</a:t>
            </a:r>
            <a:endParaRPr lang="zh-CN" altLang="en-US" sz="2400" b="0" dirty="0">
              <a:latin typeface="Times New Roman" panose="02020603050405020304" pitchFamily="18" charset="0"/>
              <a:cs typeface="Times New Roman" panose="02020603050405020304" pitchFamily="18" charset="0"/>
            </a:endParaRPr>
          </a:p>
        </p:txBody>
      </p:sp>
      <p:sp>
        <p:nvSpPr>
          <p:cNvPr id="13" name="Text Box 4"/>
          <p:cNvSpPr txBox="1">
            <a:spLocks noChangeArrowheads="1"/>
          </p:cNvSpPr>
          <p:nvPr/>
        </p:nvSpPr>
        <p:spPr bwMode="auto">
          <a:xfrm>
            <a:off x="395288" y="1027460"/>
            <a:ext cx="5689600" cy="579438"/>
          </a:xfrm>
          <a:prstGeom prst="rect">
            <a:avLst/>
          </a:prstGeom>
          <a:solidFill>
            <a:schemeClr val="bg1"/>
          </a:solidFill>
          <a:ln w="9525">
            <a:noFill/>
            <a:miter lim="800000"/>
          </a:ln>
        </p:spPr>
        <p:txBody>
          <a:bodyPr>
            <a:spAutoFit/>
          </a:bodyPr>
          <a:lstStyle/>
          <a:p>
            <a:pPr>
              <a:spcBef>
                <a:spcPct val="50000"/>
              </a:spcBef>
            </a:pPr>
            <a:r>
              <a:rPr lang="zh-CN" altLang="en-US" sz="3200" dirty="0">
                <a:solidFill>
                  <a:srgbClr val="000000"/>
                </a:solidFill>
              </a:rPr>
              <a:t>例</a:t>
            </a:r>
            <a:r>
              <a:rPr lang="en-US" altLang="zh-CN" sz="3200" dirty="0">
                <a:solidFill>
                  <a:srgbClr val="000000"/>
                </a:solidFill>
              </a:rPr>
              <a:t>5</a:t>
            </a:r>
            <a:r>
              <a:rPr lang="zh-CN" altLang="en-US" sz="3200" dirty="0">
                <a:solidFill>
                  <a:srgbClr val="000000"/>
                </a:solidFill>
              </a:rPr>
              <a:t>：已知线性规划问题</a:t>
            </a:r>
            <a:endParaRPr lang="zh-CN" altLang="en-US" sz="32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Rectangle 3"/>
          <p:cNvSpPr>
            <a:spLocks noChangeArrowheads="1"/>
          </p:cNvSpPr>
          <p:nvPr/>
        </p:nvSpPr>
        <p:spPr bwMode="auto">
          <a:xfrm>
            <a:off x="251520" y="1124744"/>
            <a:ext cx="8281988"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buNone/>
            </a:pPr>
            <a:endParaRPr lang="zh-CN" altLang="en-US" sz="2100" b="0" dirty="0">
              <a:latin typeface="宋体" panose="02010600030101010101" pitchFamily="2" charset="-122"/>
            </a:endParaRPr>
          </a:p>
        </p:txBody>
      </p:sp>
      <p:sp>
        <p:nvSpPr>
          <p:cNvPr id="6" name="Rectangle 4"/>
          <p:cNvSpPr>
            <a:spLocks noChangeArrowheads="1"/>
          </p:cNvSpPr>
          <p:nvPr/>
        </p:nvSpPr>
        <p:spPr bwMode="auto">
          <a:xfrm>
            <a:off x="610492" y="13716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755">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1155">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623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480"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6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8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30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102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r>
              <a:rPr lang="zh-CN" altLang="en-US" sz="2100" dirty="0">
                <a:latin typeface="宋体" panose="02010600030101010101" pitchFamily="2" charset="-122"/>
              </a:rPr>
              <a:t>解：先写出它的对偶问题</a:t>
            </a:r>
            <a:endParaRPr lang="en-US" altLang="zh-CN" sz="2400" dirty="0">
              <a:latin typeface="Times New Roman" panose="02020603050405020304" pitchFamily="18" charset="0"/>
              <a:cs typeface="Times New Roman" panose="02020603050405020304" pitchFamily="18" charset="0"/>
            </a:endParaRPr>
          </a:p>
          <a:p>
            <a:pPr lvl="4" algn="just">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max z=4y</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+3y</a:t>
            </a:r>
            <a:r>
              <a:rPr lang="en-US" altLang="zh-CN" sz="2400" b="0" baseline="-30000" dirty="0">
                <a:latin typeface="Times New Roman" panose="02020603050405020304" pitchFamily="18" charset="0"/>
                <a:cs typeface="Times New Roman" panose="02020603050405020304" pitchFamily="18" charset="0"/>
              </a:rPr>
              <a:t>2</a:t>
            </a:r>
            <a:endParaRPr lang="en-US" altLang="zh-CN" sz="2400" b="0" dirty="0">
              <a:latin typeface="Times New Roman" panose="02020603050405020304" pitchFamily="18" charset="0"/>
              <a:cs typeface="Times New Roman" panose="02020603050405020304" pitchFamily="18" charset="0"/>
            </a:endParaRPr>
          </a:p>
          <a:p>
            <a:pPr lvl="4" algn="just">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y</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+2y</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≤2                 ①</a:t>
            </a:r>
            <a:endParaRPr lang="en-US" altLang="zh-CN" sz="2400" b="0" dirty="0">
              <a:latin typeface="Times New Roman" panose="02020603050405020304" pitchFamily="18" charset="0"/>
              <a:cs typeface="Times New Roman" panose="02020603050405020304" pitchFamily="18" charset="0"/>
            </a:endParaRPr>
          </a:p>
          <a:p>
            <a:pPr lvl="4" algn="just">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y</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-y</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≤3                    ②</a:t>
            </a:r>
            <a:endParaRPr lang="en-US" altLang="zh-CN" sz="2400" b="0" dirty="0">
              <a:latin typeface="Times New Roman" panose="02020603050405020304" pitchFamily="18" charset="0"/>
              <a:cs typeface="Times New Roman" panose="02020603050405020304" pitchFamily="18" charset="0"/>
            </a:endParaRPr>
          </a:p>
          <a:p>
            <a:pPr lvl="4" algn="just">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2y</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+3y</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≤5               ③</a:t>
            </a:r>
            <a:endParaRPr lang="en-US" altLang="zh-CN" sz="2400" b="0" dirty="0">
              <a:latin typeface="Times New Roman" panose="02020603050405020304" pitchFamily="18" charset="0"/>
              <a:cs typeface="Times New Roman" panose="02020603050405020304" pitchFamily="18" charset="0"/>
            </a:endParaRPr>
          </a:p>
          <a:p>
            <a:pPr lvl="4" algn="just">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y</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+y</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≤2                   ④</a:t>
            </a:r>
            <a:endParaRPr lang="en-US" altLang="zh-CN" sz="2400" b="0" dirty="0">
              <a:latin typeface="Times New Roman" panose="02020603050405020304" pitchFamily="18" charset="0"/>
              <a:cs typeface="Times New Roman" panose="02020603050405020304" pitchFamily="18" charset="0"/>
            </a:endParaRPr>
          </a:p>
          <a:p>
            <a:pPr lvl="4" algn="just">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3y</a:t>
            </a:r>
            <a:r>
              <a:rPr lang="en-US" altLang="zh-CN" sz="2400" b="0" baseline="-30000" dirty="0">
                <a:latin typeface="Times New Roman" panose="02020603050405020304" pitchFamily="18" charset="0"/>
                <a:cs typeface="Times New Roman" panose="02020603050405020304" pitchFamily="18" charset="0"/>
              </a:rPr>
              <a:t>1</a:t>
            </a:r>
            <a:r>
              <a:rPr lang="en-US" altLang="zh-CN" sz="2400" b="0" dirty="0">
                <a:latin typeface="Times New Roman" panose="02020603050405020304" pitchFamily="18" charset="0"/>
                <a:cs typeface="Times New Roman" panose="02020603050405020304" pitchFamily="18" charset="0"/>
              </a:rPr>
              <a:t>+y</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≤3                 ⑤</a:t>
            </a:r>
            <a:endParaRPr lang="en-US" altLang="zh-CN" sz="2400" b="0" dirty="0">
              <a:latin typeface="Times New Roman" panose="02020603050405020304" pitchFamily="18" charset="0"/>
              <a:cs typeface="Times New Roman" panose="02020603050405020304" pitchFamily="18" charset="0"/>
            </a:endParaRPr>
          </a:p>
          <a:p>
            <a:pPr lvl="4" algn="just">
              <a:buFont typeface="Wingdings" panose="05000000000000000000" pitchFamily="2" charset="2"/>
              <a:buNone/>
            </a:pPr>
            <a:r>
              <a:rPr lang="en-US" altLang="zh-CN" sz="2400" b="0" dirty="0">
                <a:latin typeface="Times New Roman" panose="02020603050405020304" pitchFamily="18" charset="0"/>
                <a:cs typeface="Times New Roman" panose="02020603050405020304" pitchFamily="18" charset="0"/>
              </a:rPr>
              <a:t>y</a:t>
            </a:r>
            <a:r>
              <a:rPr lang="en-US" altLang="zh-CN" sz="2400" b="0" baseline="-30000" dirty="0">
                <a:latin typeface="Times New Roman" panose="02020603050405020304" pitchFamily="18" charset="0"/>
                <a:cs typeface="Times New Roman" panose="02020603050405020304" pitchFamily="18" charset="0"/>
              </a:rPr>
              <a:t>1</a:t>
            </a:r>
            <a:r>
              <a:rPr lang="zh-CN" altLang="en-US" sz="2400" b="0" dirty="0">
                <a:latin typeface="Times New Roman" panose="02020603050405020304" pitchFamily="18" charset="0"/>
                <a:cs typeface="Times New Roman" panose="02020603050405020304" pitchFamily="18" charset="0"/>
              </a:rPr>
              <a:t>，</a:t>
            </a:r>
            <a:r>
              <a:rPr lang="en-US" altLang="zh-CN" sz="2400" b="0" dirty="0">
                <a:latin typeface="Times New Roman" panose="02020603050405020304" pitchFamily="18" charset="0"/>
                <a:cs typeface="Times New Roman" panose="02020603050405020304" pitchFamily="18" charset="0"/>
              </a:rPr>
              <a:t>y</a:t>
            </a:r>
            <a:r>
              <a:rPr lang="en-US" altLang="zh-CN" sz="2400" b="0" baseline="-30000" dirty="0">
                <a:latin typeface="Times New Roman" panose="02020603050405020304" pitchFamily="18" charset="0"/>
                <a:cs typeface="Times New Roman" panose="02020603050405020304" pitchFamily="18" charset="0"/>
              </a:rPr>
              <a:t>2</a:t>
            </a:r>
            <a:r>
              <a:rPr lang="en-US" altLang="zh-CN" sz="2400" b="0" dirty="0">
                <a:latin typeface="Times New Roman" panose="02020603050405020304" pitchFamily="18" charset="0"/>
                <a:cs typeface="Times New Roman" panose="02020603050405020304" pitchFamily="18" charset="0"/>
              </a:rPr>
              <a:t>≥0</a:t>
            </a:r>
            <a:endParaRPr lang="en-US" altLang="zh-CN" sz="2400" b="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Rectangle 3"/>
          <p:cNvSpPr>
            <a:spLocks noChangeArrowheads="1"/>
          </p:cNvSpPr>
          <p:nvPr/>
        </p:nvSpPr>
        <p:spPr bwMode="auto">
          <a:xfrm>
            <a:off x="251520" y="1124744"/>
            <a:ext cx="8281988"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indent="0">
              <a:buNone/>
            </a:pPr>
            <a:endParaRPr lang="zh-CN" altLang="en-US" sz="2100" b="0" dirty="0">
              <a:latin typeface="宋体" panose="02010600030101010101" pitchFamily="2" charset="-122"/>
            </a:endParaRPr>
          </a:p>
        </p:txBody>
      </p:sp>
      <p:sp>
        <p:nvSpPr>
          <p:cNvPr id="6" name="Rectangle 4"/>
          <p:cNvSpPr>
            <a:spLocks noChangeArrowheads="1"/>
          </p:cNvSpPr>
          <p:nvPr/>
        </p:nvSpPr>
        <p:spPr bwMode="auto">
          <a:xfrm>
            <a:off x="610492" y="13716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755">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1155">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623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480"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6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8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30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102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buNone/>
            </a:pPr>
            <a:r>
              <a:rPr lang="zh-CN" altLang="en-US" sz="2400" dirty="0">
                <a:latin typeface="Times New Roman" panose="02020603050405020304" pitchFamily="18" charset="0"/>
                <a:cs typeface="Times New Roman" panose="02020603050405020304" pitchFamily="18" charset="0"/>
              </a:rPr>
              <a:t>将</a:t>
            </a:r>
            <a:r>
              <a:rPr lang="en-US" altLang="zh-CN" sz="2400" dirty="0">
                <a:latin typeface="Times New Roman" panose="02020603050405020304" pitchFamily="18" charset="0"/>
                <a:cs typeface="Times New Roman" panose="02020603050405020304" pitchFamily="18" charset="0"/>
              </a:rPr>
              <a:t>y</a:t>
            </a:r>
            <a:r>
              <a:rPr lang="en-US" altLang="zh-CN" sz="2400" baseline="-30000" dirty="0">
                <a:latin typeface="Times New Roman" panose="02020603050405020304" pitchFamily="18" charset="0"/>
                <a:cs typeface="Times New Roman" panose="02020603050405020304" pitchFamily="18" charset="0"/>
              </a:rPr>
              <a:t>1</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 =4/5,y</a:t>
            </a:r>
            <a:r>
              <a:rPr lang="en-US" altLang="zh-CN" sz="2400" baseline="-30000" dirty="0">
                <a:latin typeface="Times New Roman" panose="02020603050405020304" pitchFamily="18" charset="0"/>
                <a:cs typeface="Times New Roman" panose="02020603050405020304" pitchFamily="18" charset="0"/>
              </a:rPr>
              <a:t>2</a:t>
            </a:r>
            <a:r>
              <a:rPr lang="en-US" altLang="zh-CN" sz="2400" baseline="300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=3/5</a:t>
            </a:r>
            <a:r>
              <a:rPr lang="zh-CN" altLang="en-US" sz="2400" dirty="0">
                <a:latin typeface="Times New Roman" panose="02020603050405020304" pitchFamily="18" charset="0"/>
                <a:cs typeface="Times New Roman" panose="02020603050405020304" pitchFamily="18" charset="0"/>
              </a:rPr>
              <a:t>的值代入约束条件，</a:t>
            </a:r>
            <a:endParaRPr lang="en-US" altLang="zh-CN" sz="2400" dirty="0">
              <a:latin typeface="Times New Roman" panose="02020603050405020304" pitchFamily="18" charset="0"/>
              <a:cs typeface="Times New Roman" panose="02020603050405020304" pitchFamily="18" charset="0"/>
            </a:endParaRPr>
          </a:p>
          <a:p>
            <a:pPr algn="just">
              <a:buNone/>
            </a:pPr>
            <a:r>
              <a:rPr lang="zh-CN" altLang="en-US" sz="2400" dirty="0">
                <a:latin typeface="Times New Roman" panose="02020603050405020304" pitchFamily="18" charset="0"/>
                <a:cs typeface="Times New Roman" panose="02020603050405020304" pitchFamily="18" charset="0"/>
              </a:rPr>
              <a:t>得②</a:t>
            </a:r>
            <a:r>
              <a:rPr lang="en-US" altLang="zh-CN" sz="2400" dirty="0">
                <a:latin typeface="Times New Roman" panose="02020603050405020304" pitchFamily="18" charset="0"/>
                <a:cs typeface="Times New Roman" panose="02020603050405020304" pitchFamily="18" charset="0"/>
              </a:rPr>
              <a:t>=1/5&lt;3</a:t>
            </a:r>
            <a:r>
              <a:rPr lang="zh-CN" altLang="en-US" sz="2400" dirty="0">
                <a:latin typeface="Times New Roman" panose="02020603050405020304" pitchFamily="18" charset="0"/>
                <a:cs typeface="Times New Roman" panose="02020603050405020304" pitchFamily="18" charset="0"/>
              </a:rPr>
              <a:t>，③</a:t>
            </a:r>
            <a:r>
              <a:rPr lang="en-US" altLang="zh-CN" sz="2400" dirty="0">
                <a:latin typeface="Times New Roman" panose="02020603050405020304" pitchFamily="18" charset="0"/>
                <a:cs typeface="Times New Roman" panose="02020603050405020304" pitchFamily="18" charset="0"/>
              </a:rPr>
              <a:t>=17/5&lt;5</a:t>
            </a:r>
            <a:r>
              <a:rPr lang="zh-CN" altLang="en-US" sz="2400" dirty="0">
                <a:latin typeface="Times New Roman" panose="02020603050405020304" pitchFamily="18" charset="0"/>
                <a:cs typeface="Times New Roman" panose="02020603050405020304" pitchFamily="18" charset="0"/>
              </a:rPr>
              <a:t>，④</a:t>
            </a:r>
            <a:r>
              <a:rPr lang="en-US" altLang="zh-CN" sz="2400" dirty="0">
                <a:latin typeface="Times New Roman" panose="02020603050405020304" pitchFamily="18" charset="0"/>
                <a:cs typeface="Times New Roman" panose="02020603050405020304" pitchFamily="18" charset="0"/>
              </a:rPr>
              <a:t>=7/5&lt;2</a:t>
            </a:r>
            <a:endParaRPr lang="en-US" altLang="zh-CN" sz="2400" dirty="0">
              <a:latin typeface="Times New Roman" panose="02020603050405020304" pitchFamily="18" charset="0"/>
              <a:cs typeface="Times New Roman" panose="02020603050405020304" pitchFamily="18" charset="0"/>
            </a:endParaRPr>
          </a:p>
          <a:p>
            <a:pPr algn="just">
              <a:buNone/>
            </a:pP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它们为严格不等式；由互补松弛性得</a:t>
            </a:r>
            <a:endParaRPr lang="zh-CN" altLang="en-US" sz="2400" dirty="0">
              <a:latin typeface="Times New Roman" panose="02020603050405020304" pitchFamily="18" charset="0"/>
              <a:cs typeface="Times New Roman" panose="02020603050405020304" pitchFamily="18" charset="0"/>
            </a:endParaRPr>
          </a:p>
          <a:p>
            <a:pPr algn="just">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x</a:t>
            </a:r>
            <a:r>
              <a:rPr lang="en-US" altLang="zh-CN" sz="2400" baseline="-30000" dirty="0">
                <a:latin typeface="Times New Roman" panose="02020603050405020304" pitchFamily="18" charset="0"/>
                <a:cs typeface="Times New Roman" panose="02020603050405020304" pitchFamily="18" charset="0"/>
              </a:rPr>
              <a:t>2</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=x</a:t>
            </a:r>
            <a:r>
              <a:rPr lang="en-US" altLang="zh-CN" sz="2400" baseline="-30000" dirty="0">
                <a:latin typeface="Times New Roman" panose="02020603050405020304" pitchFamily="18" charset="0"/>
                <a:cs typeface="Times New Roman" panose="02020603050405020304" pitchFamily="18" charset="0"/>
              </a:rPr>
              <a:t>3</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=x</a:t>
            </a:r>
            <a:r>
              <a:rPr lang="en-US" altLang="zh-CN" sz="2400" baseline="-30000" dirty="0">
                <a:latin typeface="Times New Roman" panose="02020603050405020304" pitchFamily="18" charset="0"/>
                <a:cs typeface="Times New Roman" panose="02020603050405020304" pitchFamily="18" charset="0"/>
              </a:rPr>
              <a:t>4</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a:t>
            </a:r>
            <a:endParaRPr lang="zh-CN" altLang="en-US" sz="2400" dirty="0">
              <a:latin typeface="Times New Roman" panose="02020603050405020304" pitchFamily="18" charset="0"/>
              <a:cs typeface="Times New Roman" panose="02020603050405020304" pitchFamily="18" charset="0"/>
            </a:endParaRPr>
          </a:p>
          <a:p>
            <a:pPr algn="just">
              <a:buNone/>
            </a:pPr>
            <a:r>
              <a:rPr lang="zh-CN" altLang="en-US" sz="2400" dirty="0">
                <a:latin typeface="Times New Roman" panose="02020603050405020304" pitchFamily="18" charset="0"/>
                <a:cs typeface="Times New Roman" panose="02020603050405020304" pitchFamily="18" charset="0"/>
              </a:rPr>
              <a:t>因</a:t>
            </a:r>
            <a:r>
              <a:rPr lang="en-US" altLang="zh-CN" sz="2400" dirty="0">
                <a:latin typeface="Times New Roman" panose="02020603050405020304" pitchFamily="18" charset="0"/>
                <a:cs typeface="Times New Roman" panose="02020603050405020304" pitchFamily="18" charset="0"/>
              </a:rPr>
              <a:t>y</a:t>
            </a:r>
            <a:r>
              <a:rPr lang="en-US" altLang="zh-CN" sz="2400" baseline="-300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y</a:t>
            </a:r>
            <a:r>
              <a:rPr lang="en-US" altLang="zh-CN" sz="2400" baseline="-30000" dirty="0">
                <a:latin typeface="Times New Roman" panose="02020603050405020304" pitchFamily="18" charset="0"/>
                <a:cs typeface="Times New Roman" panose="02020603050405020304" pitchFamily="18" charset="0"/>
              </a:rPr>
              <a:t>2</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；原问题的两个约束条件应取等式，故有</a:t>
            </a:r>
            <a:endParaRPr lang="zh-CN" altLang="en-US" sz="2400" dirty="0">
              <a:latin typeface="Times New Roman" panose="02020603050405020304" pitchFamily="18" charset="0"/>
              <a:cs typeface="Times New Roman" panose="02020603050405020304" pitchFamily="18" charset="0"/>
            </a:endParaRPr>
          </a:p>
          <a:p>
            <a:pPr algn="just">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x</a:t>
            </a:r>
            <a:r>
              <a:rPr lang="en-US" altLang="zh-CN" sz="2400" baseline="-30000" dirty="0">
                <a:latin typeface="Times New Roman" panose="02020603050405020304" pitchFamily="18" charset="0"/>
                <a:cs typeface="Times New Roman" panose="02020603050405020304" pitchFamily="18" charset="0"/>
              </a:rPr>
              <a:t>1</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+3x</a:t>
            </a:r>
            <a:r>
              <a:rPr lang="en-US" altLang="zh-CN" sz="2400" baseline="-30000" dirty="0">
                <a:latin typeface="Times New Roman" panose="02020603050405020304" pitchFamily="18" charset="0"/>
                <a:cs typeface="Times New Roman" panose="02020603050405020304" pitchFamily="18" charset="0"/>
              </a:rPr>
              <a:t>5</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=4</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2x</a:t>
            </a:r>
            <a:r>
              <a:rPr lang="en-US" altLang="zh-CN" sz="2400" baseline="-30000" dirty="0">
                <a:latin typeface="Times New Roman" panose="02020603050405020304" pitchFamily="18" charset="0"/>
                <a:cs typeface="Times New Roman" panose="02020603050405020304" pitchFamily="18" charset="0"/>
              </a:rPr>
              <a:t>1</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+x</a:t>
            </a:r>
            <a:r>
              <a:rPr lang="en-US" altLang="zh-CN" sz="2400" baseline="-30000" dirty="0">
                <a:latin typeface="Times New Roman" panose="02020603050405020304" pitchFamily="18" charset="0"/>
                <a:cs typeface="Times New Roman" panose="02020603050405020304" pitchFamily="18" charset="0"/>
              </a:rPr>
              <a:t>5</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=3</a:t>
            </a:r>
            <a:endParaRPr lang="en-US" altLang="zh-CN" sz="2400" dirty="0">
              <a:latin typeface="Times New Roman" panose="02020603050405020304" pitchFamily="18" charset="0"/>
              <a:cs typeface="Times New Roman" panose="02020603050405020304" pitchFamily="18" charset="0"/>
            </a:endParaRPr>
          </a:p>
          <a:p>
            <a:pPr algn="just">
              <a:buNone/>
            </a:pPr>
            <a:r>
              <a:rPr lang="zh-CN" altLang="en-US" sz="2400" dirty="0">
                <a:latin typeface="Times New Roman" panose="02020603050405020304" pitchFamily="18" charset="0"/>
                <a:cs typeface="Times New Roman" panose="02020603050405020304" pitchFamily="18" charset="0"/>
              </a:rPr>
              <a:t>求解后得到</a:t>
            </a:r>
            <a:r>
              <a:rPr lang="en-US" altLang="zh-CN" sz="2400" dirty="0">
                <a:latin typeface="Times New Roman" panose="02020603050405020304" pitchFamily="18" charset="0"/>
                <a:cs typeface="Times New Roman" panose="02020603050405020304" pitchFamily="18" charset="0"/>
              </a:rPr>
              <a:t>x</a:t>
            </a:r>
            <a:r>
              <a:rPr lang="en-US" altLang="zh-CN" sz="2400" baseline="-30000" dirty="0">
                <a:latin typeface="Times New Roman" panose="02020603050405020304" pitchFamily="18" charset="0"/>
                <a:cs typeface="Times New Roman" panose="02020603050405020304" pitchFamily="18" charset="0"/>
              </a:rPr>
              <a:t>1</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=1,x</a:t>
            </a:r>
            <a:r>
              <a:rPr lang="en-US" altLang="zh-CN" sz="2400" baseline="-30000" dirty="0">
                <a:latin typeface="Times New Roman" panose="02020603050405020304" pitchFamily="18" charset="0"/>
                <a:cs typeface="Times New Roman" panose="02020603050405020304" pitchFamily="18" charset="0"/>
              </a:rPr>
              <a:t>5</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；故原问题的最优解为</a:t>
            </a:r>
            <a:endParaRPr lang="zh-CN" altLang="en-US" sz="2400" dirty="0">
              <a:latin typeface="Times New Roman" panose="02020603050405020304" pitchFamily="18" charset="0"/>
              <a:cs typeface="Times New Roman" panose="02020603050405020304" pitchFamily="18" charset="0"/>
            </a:endParaRPr>
          </a:p>
          <a:p>
            <a:pPr algn="just">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X</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1)</a:t>
            </a:r>
            <a:r>
              <a:rPr lang="en-US" altLang="zh-CN" sz="2400" baseline="30000" dirty="0">
                <a:latin typeface="Times New Roman" panose="02020603050405020304" pitchFamily="18" charset="0"/>
                <a:cs typeface="Times New Roman" panose="02020603050405020304" pitchFamily="18" charset="0"/>
              </a:rPr>
              <a:t>T</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w</a:t>
            </a:r>
            <a:r>
              <a:rPr lang="en-US" altLang="zh-CN" sz="2400" baseline="300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=5</a:t>
            </a:r>
            <a:endParaRPr lang="en-US" altLang="zh-CN" sz="2400" dirty="0">
              <a:latin typeface="Times New Roman" panose="02020603050405020304" pitchFamily="18" charset="0"/>
              <a:cs typeface="Times New Roman" panose="02020603050405020304" pitchFamily="18" charset="0"/>
            </a:endParaRPr>
          </a:p>
          <a:p>
            <a:pPr marL="0" indent="0">
              <a:buNone/>
            </a:pPr>
            <a:endParaRPr lang="en-US" altLang="zh-CN" sz="2400" b="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第六节 单纯形法和对偶问题</a:t>
            </a:r>
            <a:endParaRPr lang="zh-CN" altLang="en-US" sz="3600" dirty="0">
              <a:latin typeface="华文中宋" panose="02010600040101010101" pitchFamily="2" charset="-122"/>
              <a:ea typeface="华文中宋" panose="02010600040101010101" pitchFamily="2" charset="-122"/>
              <a:cs typeface="Times New Roman" panose="02020603050405020304" pitchFamily="18" charset="0"/>
            </a:endParaRPr>
          </a:p>
        </p:txBody>
      </p:sp>
      <p:cxnSp>
        <p:nvCxnSpPr>
          <p:cNvPr id="101" name="直接连接符 13"/>
          <p:cNvCxnSpPr>
            <a:cxnSpLocks noChangeShapeType="1"/>
          </p:cNvCxnSpPr>
          <p:nvPr/>
        </p:nvCxnSpPr>
        <p:spPr bwMode="auto">
          <a:xfrm>
            <a:off x="2674912" y="785794"/>
            <a:ext cx="0" cy="5157787"/>
          </a:xfrm>
          <a:prstGeom prst="line">
            <a:avLst/>
          </a:prstGeom>
          <a:noFill/>
          <a:ln w="6350" cmpd="sng">
            <a:solidFill>
              <a:schemeClr val="accent1"/>
            </a:solidFill>
            <a:round/>
          </a:ln>
        </p:spPr>
      </p:cxnSp>
      <p:grpSp>
        <p:nvGrpSpPr>
          <p:cNvPr id="3" name="组 2"/>
          <p:cNvGrpSpPr/>
          <p:nvPr/>
        </p:nvGrpSpPr>
        <p:grpSpPr>
          <a:xfrm>
            <a:off x="1643042" y="1268760"/>
            <a:ext cx="6169292" cy="642941"/>
            <a:chOff x="1643042" y="1268760"/>
            <a:chExt cx="6169292" cy="642941"/>
          </a:xfrm>
        </p:grpSpPr>
        <p:sp>
          <p:nvSpPr>
            <p:cNvPr id="102" name="椭圆 14"/>
            <p:cNvSpPr>
              <a:spLocks noChangeArrowheads="1"/>
            </p:cNvSpPr>
            <p:nvPr/>
          </p:nvSpPr>
          <p:spPr bwMode="auto">
            <a:xfrm>
              <a:off x="2606650" y="1497362"/>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4" name="组合 5"/>
            <p:cNvGrpSpPr/>
            <p:nvPr/>
          </p:nvGrpSpPr>
          <p:grpSpPr bwMode="auto">
            <a:xfrm>
              <a:off x="1643042" y="1268760"/>
              <a:ext cx="714380" cy="642941"/>
              <a:chOff x="0" y="0"/>
              <a:chExt cx="1275488" cy="1275488"/>
            </a:xfrm>
            <a:solidFill>
              <a:srgbClr val="004182"/>
            </a:solidFill>
          </p:grpSpPr>
          <p:sp>
            <p:nvSpPr>
              <p:cNvPr id="106"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07" name="文本框 17"/>
              <p:cNvSpPr txBox="1">
                <a:spLocks noChangeArrowheads="1"/>
              </p:cNvSpPr>
              <p:nvPr/>
            </p:nvSpPr>
            <p:spPr bwMode="auto">
              <a:xfrm>
                <a:off x="399726" y="231905"/>
                <a:ext cx="875762" cy="749344"/>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1</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14" name="矩形 20"/>
            <p:cNvSpPr>
              <a:spLocks noChangeArrowheads="1"/>
            </p:cNvSpPr>
            <p:nvPr/>
          </p:nvSpPr>
          <p:spPr bwMode="auto">
            <a:xfrm>
              <a:off x="3062261" y="1321150"/>
              <a:ext cx="4750073" cy="526172"/>
            </a:xfrm>
            <a:prstGeom prst="rect">
              <a:avLst/>
            </a:prstGeom>
            <a:solidFill>
              <a:srgbClr val="004182"/>
            </a:solidFill>
            <a:ln w="9525">
              <a:noFill/>
              <a:miter lim="800000"/>
            </a:ln>
          </p:spPr>
          <p:txBody>
            <a:bodyPr anchor="ctr"/>
            <a:lstStyle/>
            <a:p>
              <a:pPr algn="ctr"/>
              <a:r>
                <a:rPr lang="zh-CN" altLang="en-US"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大</a:t>
              </a:r>
              <a:r>
                <a:rPr lang="en-US" altLang="zh-CN"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M</a:t>
              </a:r>
              <a:r>
                <a:rPr lang="zh-CN" altLang="en-US"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法</a:t>
              </a:r>
              <a:endParaRPr lang="en-US" altLang="zh-CN"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5" name="组 3"/>
          <p:cNvGrpSpPr/>
          <p:nvPr/>
        </p:nvGrpSpPr>
        <p:grpSpPr>
          <a:xfrm>
            <a:off x="1643042" y="2422598"/>
            <a:ext cx="6169300" cy="642941"/>
            <a:chOff x="1643042" y="2439698"/>
            <a:chExt cx="6169300" cy="642941"/>
          </a:xfrm>
        </p:grpSpPr>
        <p:sp>
          <p:nvSpPr>
            <p:cNvPr id="120"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6" name="组合 5"/>
            <p:cNvGrpSpPr/>
            <p:nvPr/>
          </p:nvGrpSpPr>
          <p:grpSpPr bwMode="auto">
            <a:xfrm>
              <a:off x="1643042" y="2439698"/>
              <a:ext cx="714380" cy="642941"/>
              <a:chOff x="0" y="0"/>
              <a:chExt cx="1275488" cy="1275488"/>
            </a:xfrm>
            <a:solidFill>
              <a:srgbClr val="004182"/>
            </a:solidFill>
          </p:grpSpPr>
          <p:sp>
            <p:nvSpPr>
              <p:cNvPr id="12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2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en-US" altLang="zh-CN" sz="2400" b="1" dirty="0">
                    <a:solidFill>
                      <a:schemeClr val="bg1"/>
                    </a:solidFill>
                    <a:latin typeface="微软雅黑" panose="020B0503020204020204" pitchFamily="34" charset="-122"/>
                    <a:ea typeface="微软雅黑" panose="020B0503020204020204" pitchFamily="34" charset="-122"/>
                  </a:rPr>
                  <a:t>2</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24" name="矩形 20"/>
            <p:cNvSpPr>
              <a:spLocks noChangeArrowheads="1"/>
            </p:cNvSpPr>
            <p:nvPr/>
          </p:nvSpPr>
          <p:spPr bwMode="auto">
            <a:xfrm>
              <a:off x="3062261" y="2492088"/>
              <a:ext cx="4750081" cy="526172"/>
            </a:xfrm>
            <a:prstGeom prst="rect">
              <a:avLst/>
            </a:prstGeom>
            <a:solidFill>
              <a:srgbClr val="004182"/>
            </a:solidFill>
            <a:ln w="9525">
              <a:noFill/>
              <a:miter lim="800000"/>
            </a:ln>
          </p:spPr>
          <p:txBody>
            <a:bodyPr anchor="ctr"/>
            <a:lstStyle/>
            <a:p>
              <a:pPr algn="ctr"/>
              <a:r>
                <a:rPr lang="zh-CN" altLang="en-US"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rPr>
                <a:t>两阶段法</a:t>
              </a:r>
              <a:endParaRPr lang="en-US" altLang="zh-CN" sz="2800" b="1" dirty="0">
                <a:solidFill>
                  <a:srgbClr val="005AA5"/>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7" name="组 5"/>
          <p:cNvGrpSpPr/>
          <p:nvPr/>
        </p:nvGrpSpPr>
        <p:grpSpPr>
          <a:xfrm>
            <a:off x="1643042" y="4730275"/>
            <a:ext cx="6169274" cy="642941"/>
            <a:chOff x="1643042" y="4730275"/>
            <a:chExt cx="6169274" cy="642941"/>
          </a:xfrm>
        </p:grpSpPr>
        <p:sp>
          <p:nvSpPr>
            <p:cNvPr id="130" name="椭圆 14"/>
            <p:cNvSpPr>
              <a:spLocks noChangeArrowheads="1"/>
            </p:cNvSpPr>
            <p:nvPr/>
          </p:nvSpPr>
          <p:spPr bwMode="auto">
            <a:xfrm>
              <a:off x="2606650" y="4958877"/>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8" name="组合 5"/>
            <p:cNvGrpSpPr/>
            <p:nvPr/>
          </p:nvGrpSpPr>
          <p:grpSpPr bwMode="auto">
            <a:xfrm>
              <a:off x="1643042" y="4730275"/>
              <a:ext cx="714380" cy="642941"/>
              <a:chOff x="0" y="0"/>
              <a:chExt cx="1275488" cy="1275488"/>
            </a:xfrm>
            <a:solidFill>
              <a:srgbClr val="004182"/>
            </a:solidFill>
          </p:grpSpPr>
          <p:sp>
            <p:nvSpPr>
              <p:cNvPr id="13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13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zh-CN" altLang="zh-CN" sz="2400" b="1" dirty="0">
                    <a:solidFill>
                      <a:schemeClr val="bg1"/>
                    </a:solidFill>
                    <a:latin typeface="微软雅黑" panose="020B0503020204020204" pitchFamily="34" charset="-122"/>
                    <a:ea typeface="微软雅黑" panose="020B0503020204020204" pitchFamily="34" charset="-122"/>
                  </a:rPr>
                  <a:t>4</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134" name="矩形 20"/>
            <p:cNvSpPr>
              <a:spLocks noChangeArrowheads="1"/>
            </p:cNvSpPr>
            <p:nvPr/>
          </p:nvSpPr>
          <p:spPr bwMode="auto">
            <a:xfrm>
              <a:off x="3062261" y="4782665"/>
              <a:ext cx="4750055" cy="526172"/>
            </a:xfrm>
            <a:prstGeom prst="rect">
              <a:avLst/>
            </a:prstGeom>
            <a:solidFill>
              <a:srgbClr val="004182"/>
            </a:solidFill>
            <a:ln w="9525">
              <a:noFill/>
              <a:miter lim="800000"/>
            </a:ln>
          </p:spPr>
          <p:txBody>
            <a:bodyPr anchor="ctr"/>
            <a:lstStyle/>
            <a:p>
              <a:pPr algn="ctr"/>
              <a:r>
                <a:rPr lang="zh-CN" altLang="x-none"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sz="2800" b="1" dirty="0">
                <a:solidFill>
                  <a:schemeClr val="bg1"/>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grpSp>
        <p:nvGrpSpPr>
          <p:cNvPr id="9" name="组 27"/>
          <p:cNvGrpSpPr/>
          <p:nvPr/>
        </p:nvGrpSpPr>
        <p:grpSpPr>
          <a:xfrm>
            <a:off x="1643042" y="3576436"/>
            <a:ext cx="6169288" cy="642941"/>
            <a:chOff x="1643042" y="2439698"/>
            <a:chExt cx="6169288" cy="642941"/>
          </a:xfrm>
        </p:grpSpPr>
        <p:sp>
          <p:nvSpPr>
            <p:cNvPr id="29" name="椭圆 14"/>
            <p:cNvSpPr>
              <a:spLocks noChangeArrowheads="1"/>
            </p:cNvSpPr>
            <p:nvPr/>
          </p:nvSpPr>
          <p:spPr bwMode="auto">
            <a:xfrm>
              <a:off x="2606650" y="2668300"/>
              <a:ext cx="128587" cy="128587"/>
            </a:xfrm>
            <a:prstGeom prst="ellipse">
              <a:avLst/>
            </a:prstGeom>
            <a:solidFill>
              <a:schemeClr val="accent1"/>
            </a:solidFill>
            <a:ln w="9525">
              <a:noFill/>
              <a:round/>
            </a:ln>
          </p:spPr>
          <p:txBody>
            <a:bodyPr anchor="ctr"/>
            <a:lstStyle/>
            <a:p>
              <a:pPr algn="ctr" eaLnBrk="1" hangingPunct="1"/>
              <a:endParaRPr lang="zh-CN" altLang="en-US">
                <a:solidFill>
                  <a:srgbClr val="FFFFFF"/>
                </a:solidFill>
              </a:endParaRPr>
            </a:p>
          </p:txBody>
        </p:sp>
        <p:grpSp>
          <p:nvGrpSpPr>
            <p:cNvPr id="10" name="组合 5"/>
            <p:cNvGrpSpPr/>
            <p:nvPr/>
          </p:nvGrpSpPr>
          <p:grpSpPr bwMode="auto">
            <a:xfrm>
              <a:off x="1643042" y="2439698"/>
              <a:ext cx="714380" cy="642941"/>
              <a:chOff x="0" y="0"/>
              <a:chExt cx="1275488" cy="1275488"/>
            </a:xfrm>
            <a:solidFill>
              <a:srgbClr val="004182"/>
            </a:solidFill>
          </p:grpSpPr>
          <p:sp>
            <p:nvSpPr>
              <p:cNvPr id="32" name="泪滴形 7"/>
              <p:cNvSpPr/>
              <p:nvPr/>
            </p:nvSpPr>
            <p:spPr bwMode="auto">
              <a:xfrm rot="2700000">
                <a:off x="0" y="0"/>
                <a:ext cx="1275488" cy="1275488"/>
              </a:xfrm>
              <a:custGeom>
                <a:avLst/>
                <a:gdLst/>
                <a:ahLst/>
                <a:cxnLst>
                  <a:cxn ang="0">
                    <a:pos x="0" y="637744"/>
                  </a:cxn>
                  <a:cxn ang="0">
                    <a:pos x="637744" y="0"/>
                  </a:cxn>
                  <a:cxn ang="0">
                    <a:pos x="1275488" y="0"/>
                  </a:cxn>
                  <a:cxn ang="0">
                    <a:pos x="1275488" y="637744"/>
                  </a:cxn>
                  <a:cxn ang="0">
                    <a:pos x="637744" y="1275488"/>
                  </a:cxn>
                  <a:cxn ang="0">
                    <a:pos x="0" y="637744"/>
                  </a:cxn>
                </a:cxnLst>
                <a:rect l="0" t="0" r="r" b="b"/>
                <a:pathLst>
                  <a:path w="1275488" h="1275488">
                    <a:moveTo>
                      <a:pt x="0" y="637744"/>
                    </a:moveTo>
                    <a:cubicBezTo>
                      <a:pt x="0" y="285528"/>
                      <a:pt x="285528" y="0"/>
                      <a:pt x="637744" y="0"/>
                    </a:cubicBezTo>
                    <a:lnTo>
                      <a:pt x="1275488" y="0"/>
                    </a:lnTo>
                    <a:lnTo>
                      <a:pt x="1275488" y="637744"/>
                    </a:lnTo>
                    <a:cubicBezTo>
                      <a:pt x="1275488" y="989960"/>
                      <a:pt x="989960" y="1275488"/>
                      <a:pt x="637744" y="1275488"/>
                    </a:cubicBezTo>
                    <a:cubicBezTo>
                      <a:pt x="285528" y="1275488"/>
                      <a:pt x="0" y="989960"/>
                      <a:pt x="0" y="637744"/>
                    </a:cubicBezTo>
                    <a:close/>
                  </a:path>
                </a:pathLst>
              </a:custGeom>
              <a:grpFill/>
              <a:ln w="9525">
                <a:noFill/>
                <a:round/>
              </a:ln>
            </p:spPr>
            <p:txBody>
              <a:bodyPr anchor="ctr"/>
              <a:lstStyle/>
              <a:p>
                <a:endParaRPr lang="zh-CN" altLang="en-US"/>
              </a:p>
            </p:txBody>
          </p:sp>
          <p:sp>
            <p:nvSpPr>
              <p:cNvPr id="33" name="文本框 17"/>
              <p:cNvSpPr txBox="1">
                <a:spLocks noChangeArrowheads="1"/>
              </p:cNvSpPr>
              <p:nvPr/>
            </p:nvSpPr>
            <p:spPr bwMode="auto">
              <a:xfrm>
                <a:off x="399726" y="231904"/>
                <a:ext cx="875762" cy="915867"/>
              </a:xfrm>
              <a:prstGeom prst="rect">
                <a:avLst/>
              </a:prstGeom>
              <a:noFill/>
              <a:ln w="9525">
                <a:noFill/>
                <a:miter lim="800000"/>
              </a:ln>
            </p:spPr>
            <p:txBody>
              <a:bodyPr>
                <a:spAutoFit/>
              </a:bodyPr>
              <a:lstStyle/>
              <a:p>
                <a:pPr eaLnBrk="1" hangingPunct="1"/>
                <a:r>
                  <a:rPr lang="zh-CN" altLang="zh-CN" sz="2400" b="1" dirty="0">
                    <a:solidFill>
                      <a:schemeClr val="bg1"/>
                    </a:solidFill>
                    <a:latin typeface="微软雅黑" panose="020B0503020204020204" pitchFamily="34" charset="-122"/>
                    <a:ea typeface="微软雅黑" panose="020B0503020204020204" pitchFamily="34" charset="-122"/>
                  </a:rPr>
                  <a:t>3</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grpSp>
        <p:sp>
          <p:nvSpPr>
            <p:cNvPr id="31" name="矩形 20"/>
            <p:cNvSpPr>
              <a:spLocks noChangeArrowheads="1"/>
            </p:cNvSpPr>
            <p:nvPr/>
          </p:nvSpPr>
          <p:spPr bwMode="auto">
            <a:xfrm>
              <a:off x="3062261" y="2492088"/>
              <a:ext cx="4750069" cy="526172"/>
            </a:xfrm>
            <a:prstGeom prst="rect">
              <a:avLst/>
            </a:prstGeom>
            <a:solidFill>
              <a:srgbClr val="004182"/>
            </a:solidFill>
            <a:ln w="9525">
              <a:noFill/>
              <a:miter lim="800000"/>
            </a:ln>
          </p:spPr>
          <p:txBody>
            <a:bodyPr anchor="ctr"/>
            <a:lstStyle/>
            <a:p>
              <a:pPr algn="ctr"/>
              <a:r>
                <a:rPr lang="zh-CN" altLang="en-US"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rPr>
                <a:t>对偶问题原理</a:t>
              </a:r>
              <a:endParaRPr lang="en-US" altLang="zh-CN" sz="2800" b="1" dirty="0">
                <a:solidFill>
                  <a:srgbClr val="0070C0"/>
                </a:solidFill>
                <a:latin typeface="华文中宋" panose="02010600040101010101" pitchFamily="2" charset="-122"/>
                <a:ea typeface="华文中宋" panose="02010600040101010101" pitchFamily="2" charset="-122"/>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单纯形法</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Rectangle 3"/>
          <p:cNvSpPr>
            <a:spLocks noChangeArrowheads="1"/>
          </p:cNvSpPr>
          <p:nvPr/>
        </p:nvSpPr>
        <p:spPr bwMode="auto">
          <a:xfrm>
            <a:off x="250825" y="1139825"/>
            <a:ext cx="8642350" cy="457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2100" b="0" dirty="0">
                <a:latin typeface="Times New Roman" panose="02020603050405020304" pitchFamily="18" charset="0"/>
                <a:cs typeface="Times New Roman" panose="02020603050405020304" pitchFamily="18" charset="0"/>
              </a:rPr>
              <a:t>对偶单纯形法的计算步骤如下：</a:t>
            </a:r>
            <a:endParaRPr lang="zh-CN" altLang="en-US" sz="2100" b="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zh-CN" altLang="en-US" sz="2100" b="0" dirty="0">
                <a:latin typeface="Times New Roman" panose="02020603050405020304" pitchFamily="18" charset="0"/>
                <a:cs typeface="Times New Roman" panose="02020603050405020304" pitchFamily="18" charset="0"/>
              </a:rPr>
              <a:t>  </a:t>
            </a:r>
            <a:r>
              <a:rPr lang="en-US" altLang="zh-CN" sz="2100" b="0" dirty="0">
                <a:latin typeface="Times New Roman" panose="02020603050405020304" pitchFamily="18" charset="0"/>
                <a:cs typeface="Times New Roman" panose="02020603050405020304" pitchFamily="18" charset="0"/>
              </a:rPr>
              <a:t>(1) </a:t>
            </a:r>
            <a:r>
              <a:rPr lang="zh-CN" altLang="en-US" sz="2100" b="0" dirty="0">
                <a:latin typeface="Times New Roman" panose="02020603050405020304" pitchFamily="18" charset="0"/>
                <a:cs typeface="Times New Roman" panose="02020603050405020304" pitchFamily="18" charset="0"/>
              </a:rPr>
              <a:t>根据线性规划问题，列出初始单纯形表。检查</a:t>
            </a:r>
            <a:r>
              <a:rPr lang="en-US" altLang="zh-CN" sz="2100" b="0" i="1" dirty="0">
                <a:latin typeface="Times New Roman" panose="02020603050405020304" pitchFamily="18" charset="0"/>
                <a:cs typeface="Times New Roman" panose="02020603050405020304" pitchFamily="18" charset="0"/>
              </a:rPr>
              <a:t>b</a:t>
            </a:r>
            <a:r>
              <a:rPr lang="zh-CN" altLang="en-US" sz="2100" b="0" dirty="0">
                <a:latin typeface="Times New Roman" panose="02020603050405020304" pitchFamily="18" charset="0"/>
                <a:cs typeface="Times New Roman" panose="02020603050405020304" pitchFamily="18" charset="0"/>
              </a:rPr>
              <a:t>列的数字，若都为非负，检验数都为非正，则已得到最优解。停止计算。若检查</a:t>
            </a:r>
            <a:r>
              <a:rPr lang="en-US" altLang="zh-CN" sz="2100" b="0" i="1" dirty="0">
                <a:latin typeface="Times New Roman" panose="02020603050405020304" pitchFamily="18" charset="0"/>
                <a:cs typeface="Times New Roman" panose="02020603050405020304" pitchFamily="18" charset="0"/>
              </a:rPr>
              <a:t>b</a:t>
            </a:r>
            <a:r>
              <a:rPr lang="zh-CN" altLang="en-US" sz="2100" b="0" dirty="0">
                <a:latin typeface="Times New Roman" panose="02020603050405020304" pitchFamily="18" charset="0"/>
                <a:cs typeface="Times New Roman" panose="02020603050405020304" pitchFamily="18" charset="0"/>
              </a:rPr>
              <a:t>列的数字时，至少还有一个负分量，检验数保持非正，那么进行以下计算。</a:t>
            </a:r>
            <a:endParaRPr lang="zh-CN" altLang="en-US" sz="2100" b="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zh-CN" altLang="en-US" sz="2100" b="0" dirty="0">
                <a:latin typeface="Times New Roman" panose="02020603050405020304" pitchFamily="18" charset="0"/>
                <a:cs typeface="Times New Roman" panose="02020603050405020304" pitchFamily="18" charset="0"/>
              </a:rPr>
              <a:t>  </a:t>
            </a:r>
            <a:r>
              <a:rPr lang="en-US" altLang="zh-CN" sz="2100" b="0" dirty="0">
                <a:latin typeface="Times New Roman" panose="02020603050405020304" pitchFamily="18" charset="0"/>
                <a:cs typeface="Times New Roman" panose="02020603050405020304" pitchFamily="18" charset="0"/>
              </a:rPr>
              <a:t>(2) </a:t>
            </a:r>
            <a:r>
              <a:rPr lang="zh-CN" altLang="en-US" sz="2100" b="0" dirty="0">
                <a:latin typeface="Times New Roman" panose="02020603050405020304" pitchFamily="18" charset="0"/>
                <a:cs typeface="Times New Roman" panose="02020603050405020304" pitchFamily="18" charset="0"/>
              </a:rPr>
              <a:t>确定</a:t>
            </a:r>
            <a:r>
              <a:rPr lang="zh-CN" altLang="en-US" sz="2100" i="1" dirty="0">
                <a:solidFill>
                  <a:srgbClr val="FF0000"/>
                </a:solidFill>
                <a:latin typeface="Times New Roman" panose="02020603050405020304" pitchFamily="18" charset="0"/>
                <a:cs typeface="Times New Roman" panose="02020603050405020304" pitchFamily="18" charset="0"/>
              </a:rPr>
              <a:t>换出变量</a:t>
            </a:r>
            <a:r>
              <a:rPr lang="zh-CN" altLang="en-US" sz="2100" b="0" dirty="0">
                <a:latin typeface="Times New Roman" panose="02020603050405020304" pitchFamily="18" charset="0"/>
                <a:cs typeface="Times New Roman" panose="02020603050405020304" pitchFamily="18" charset="0"/>
              </a:rPr>
              <a:t>。按</a:t>
            </a:r>
            <a:r>
              <a:rPr lang="en-US" altLang="zh-CN" sz="2100" i="1" dirty="0">
                <a:solidFill>
                  <a:srgbClr val="FF0000"/>
                </a:solidFill>
                <a:latin typeface="Times New Roman" panose="02020603050405020304" pitchFamily="18" charset="0"/>
                <a:cs typeface="Times New Roman" panose="02020603050405020304" pitchFamily="18" charset="0"/>
              </a:rPr>
              <a:t>min</a:t>
            </a:r>
            <a:r>
              <a:rPr lang="zh-CN" altLang="en-US" sz="2100" i="1" dirty="0">
                <a:solidFill>
                  <a:srgbClr val="FF0000"/>
                </a:solidFill>
                <a:latin typeface="Times New Roman" panose="02020603050405020304" pitchFamily="18" charset="0"/>
                <a:cs typeface="Times New Roman" panose="02020603050405020304" pitchFamily="18" charset="0"/>
              </a:rPr>
              <a:t>｛</a:t>
            </a:r>
            <a:r>
              <a:rPr lang="en-US" altLang="zh-CN" sz="2100" i="1" dirty="0">
                <a:solidFill>
                  <a:srgbClr val="FF0000"/>
                </a:solidFill>
                <a:latin typeface="Times New Roman" panose="02020603050405020304" pitchFamily="18" charset="0"/>
                <a:cs typeface="Times New Roman" panose="02020603050405020304" pitchFamily="18" charset="0"/>
              </a:rPr>
              <a:t>(B</a:t>
            </a:r>
            <a:r>
              <a:rPr lang="en-US" altLang="zh-CN" sz="2100" i="1" baseline="30000" dirty="0">
                <a:solidFill>
                  <a:srgbClr val="FF0000"/>
                </a:solidFill>
                <a:latin typeface="Times New Roman" panose="02020603050405020304" pitchFamily="18" charset="0"/>
                <a:cs typeface="Times New Roman" panose="02020603050405020304" pitchFamily="18" charset="0"/>
              </a:rPr>
              <a:t>-1</a:t>
            </a:r>
            <a:r>
              <a:rPr lang="en-US" altLang="zh-CN" sz="2100" i="1" dirty="0">
                <a:solidFill>
                  <a:srgbClr val="FF0000"/>
                </a:solidFill>
                <a:latin typeface="Times New Roman" panose="02020603050405020304" pitchFamily="18" charset="0"/>
                <a:cs typeface="Times New Roman" panose="02020603050405020304" pitchFamily="18" charset="0"/>
              </a:rPr>
              <a:t>b)</a:t>
            </a:r>
            <a:r>
              <a:rPr lang="en-US" altLang="zh-CN" sz="2100" i="1" baseline="-30000" dirty="0" err="1">
                <a:solidFill>
                  <a:srgbClr val="FF0000"/>
                </a:solidFill>
                <a:latin typeface="Times New Roman" panose="02020603050405020304" pitchFamily="18" charset="0"/>
                <a:cs typeface="Times New Roman" panose="02020603050405020304" pitchFamily="18" charset="0"/>
              </a:rPr>
              <a:t>i</a:t>
            </a:r>
            <a:r>
              <a:rPr lang="zh-CN" altLang="en-US" sz="2100" i="1" dirty="0">
                <a:solidFill>
                  <a:srgbClr val="FF0000"/>
                </a:solidFill>
                <a:latin typeface="Times New Roman" panose="02020603050405020304" pitchFamily="18" charset="0"/>
                <a:cs typeface="Times New Roman" panose="02020603050405020304" pitchFamily="18" charset="0"/>
              </a:rPr>
              <a:t>｜</a:t>
            </a:r>
            <a:r>
              <a:rPr lang="en-US" altLang="zh-CN" sz="2100" i="1" dirty="0">
                <a:solidFill>
                  <a:srgbClr val="FF0000"/>
                </a:solidFill>
                <a:latin typeface="Times New Roman" panose="02020603050405020304" pitchFamily="18" charset="0"/>
                <a:cs typeface="Times New Roman" panose="02020603050405020304" pitchFamily="18" charset="0"/>
              </a:rPr>
              <a:t>(B</a:t>
            </a:r>
            <a:r>
              <a:rPr lang="en-US" altLang="zh-CN" sz="2100" i="1" baseline="30000" dirty="0">
                <a:solidFill>
                  <a:srgbClr val="FF0000"/>
                </a:solidFill>
                <a:latin typeface="Times New Roman" panose="02020603050405020304" pitchFamily="18" charset="0"/>
                <a:cs typeface="Times New Roman" panose="02020603050405020304" pitchFamily="18" charset="0"/>
              </a:rPr>
              <a:t>-1</a:t>
            </a:r>
            <a:r>
              <a:rPr lang="en-US" altLang="zh-CN" sz="2100" i="1" dirty="0">
                <a:solidFill>
                  <a:srgbClr val="FF0000"/>
                </a:solidFill>
                <a:latin typeface="Times New Roman" panose="02020603050405020304" pitchFamily="18" charset="0"/>
                <a:cs typeface="Times New Roman" panose="02020603050405020304" pitchFamily="18" charset="0"/>
              </a:rPr>
              <a:t>b)</a:t>
            </a:r>
            <a:r>
              <a:rPr lang="en-US" altLang="zh-CN" sz="2100" i="1" baseline="-30000" dirty="0" err="1">
                <a:solidFill>
                  <a:srgbClr val="FF0000"/>
                </a:solidFill>
                <a:latin typeface="Times New Roman" panose="02020603050405020304" pitchFamily="18" charset="0"/>
                <a:cs typeface="Times New Roman" panose="02020603050405020304" pitchFamily="18" charset="0"/>
              </a:rPr>
              <a:t>i</a:t>
            </a:r>
            <a:r>
              <a:rPr lang="zh-CN" altLang="en-US" sz="2100" i="1" dirty="0">
                <a:solidFill>
                  <a:srgbClr val="FF0000"/>
                </a:solidFill>
                <a:latin typeface="Times New Roman" panose="02020603050405020304" pitchFamily="18" charset="0"/>
                <a:cs typeface="Times New Roman" panose="02020603050405020304" pitchFamily="18" charset="0"/>
              </a:rPr>
              <a:t>＜</a:t>
            </a:r>
            <a:r>
              <a:rPr lang="en-US" altLang="zh-CN" sz="2100" i="1" dirty="0">
                <a:solidFill>
                  <a:srgbClr val="FF0000"/>
                </a:solidFill>
                <a:latin typeface="Times New Roman" panose="02020603050405020304" pitchFamily="18" charset="0"/>
                <a:cs typeface="Times New Roman" panose="02020603050405020304" pitchFamily="18" charset="0"/>
              </a:rPr>
              <a:t>0</a:t>
            </a:r>
            <a:r>
              <a:rPr lang="zh-CN" altLang="en-US" sz="2100" i="1" dirty="0">
                <a:solidFill>
                  <a:srgbClr val="FF0000"/>
                </a:solidFill>
                <a:latin typeface="Times New Roman" panose="02020603050405020304" pitchFamily="18" charset="0"/>
                <a:cs typeface="Times New Roman" panose="02020603050405020304" pitchFamily="18" charset="0"/>
              </a:rPr>
              <a:t>＝</a:t>
            </a:r>
            <a:r>
              <a:rPr lang="en-US" altLang="zh-CN" sz="2100" i="1" dirty="0">
                <a:solidFill>
                  <a:srgbClr val="FF0000"/>
                </a:solidFill>
                <a:latin typeface="Times New Roman" panose="02020603050405020304" pitchFamily="18" charset="0"/>
                <a:cs typeface="Times New Roman" panose="02020603050405020304" pitchFamily="18" charset="0"/>
              </a:rPr>
              <a:t>(B</a:t>
            </a:r>
            <a:r>
              <a:rPr lang="en-US" altLang="zh-CN" sz="2100" i="1" baseline="30000" dirty="0">
                <a:solidFill>
                  <a:srgbClr val="FF0000"/>
                </a:solidFill>
                <a:latin typeface="Times New Roman" panose="02020603050405020304" pitchFamily="18" charset="0"/>
                <a:cs typeface="Times New Roman" panose="02020603050405020304" pitchFamily="18" charset="0"/>
              </a:rPr>
              <a:t>-1</a:t>
            </a:r>
            <a:r>
              <a:rPr lang="en-US" altLang="zh-CN" sz="2100" i="1" dirty="0">
                <a:solidFill>
                  <a:srgbClr val="FF0000"/>
                </a:solidFill>
                <a:latin typeface="Times New Roman" panose="02020603050405020304" pitchFamily="18" charset="0"/>
                <a:cs typeface="Times New Roman" panose="02020603050405020304" pitchFamily="18" charset="0"/>
              </a:rPr>
              <a:t>b)</a:t>
            </a:r>
            <a:r>
              <a:rPr lang="en-US" altLang="zh-CN" sz="2100" i="1" baseline="-30000" dirty="0">
                <a:solidFill>
                  <a:srgbClr val="FF0000"/>
                </a:solidFill>
                <a:latin typeface="Times New Roman" panose="02020603050405020304" pitchFamily="18" charset="0"/>
                <a:cs typeface="Times New Roman" panose="02020603050405020304" pitchFamily="18" charset="0"/>
              </a:rPr>
              <a:t>l</a:t>
            </a:r>
            <a:r>
              <a:rPr lang="zh-CN" altLang="en-US" sz="2100" b="0" dirty="0">
                <a:latin typeface="Times New Roman" panose="02020603050405020304" pitchFamily="18" charset="0"/>
                <a:cs typeface="Times New Roman" panose="02020603050405020304" pitchFamily="18" charset="0"/>
              </a:rPr>
              <a:t>对应的基变量</a:t>
            </a:r>
            <a:r>
              <a:rPr lang="en-US" altLang="zh-CN" sz="2100" b="0" i="1" dirty="0">
                <a:latin typeface="Times New Roman" panose="02020603050405020304" pitchFamily="18" charset="0"/>
                <a:cs typeface="Times New Roman" panose="02020603050405020304" pitchFamily="18" charset="0"/>
              </a:rPr>
              <a:t>x</a:t>
            </a:r>
            <a:r>
              <a:rPr lang="en-US" altLang="zh-CN" sz="2100" b="0" i="1" baseline="-30000" dirty="0">
                <a:latin typeface="Times New Roman" panose="02020603050405020304" pitchFamily="18" charset="0"/>
                <a:cs typeface="Times New Roman" panose="02020603050405020304" pitchFamily="18" charset="0"/>
              </a:rPr>
              <a:t>i</a:t>
            </a:r>
            <a:r>
              <a:rPr lang="zh-CN" altLang="en-US" sz="2100" b="0" dirty="0">
                <a:latin typeface="Times New Roman" panose="02020603050405020304" pitchFamily="18" charset="0"/>
                <a:cs typeface="Times New Roman" panose="02020603050405020304" pitchFamily="18" charset="0"/>
              </a:rPr>
              <a:t>为换出变量</a:t>
            </a:r>
            <a:endParaRPr lang="zh-CN" altLang="en-US" sz="2100" b="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zh-CN" altLang="en-US" sz="2100" b="0" dirty="0">
                <a:latin typeface="Times New Roman" panose="02020603050405020304" pitchFamily="18" charset="0"/>
                <a:cs typeface="Times New Roman" panose="02020603050405020304" pitchFamily="18" charset="0"/>
              </a:rPr>
              <a:t>  </a:t>
            </a:r>
            <a:r>
              <a:rPr lang="en-US" altLang="zh-CN" sz="2100" b="0" dirty="0">
                <a:latin typeface="Times New Roman" panose="02020603050405020304" pitchFamily="18" charset="0"/>
                <a:cs typeface="Times New Roman" panose="02020603050405020304" pitchFamily="18" charset="0"/>
              </a:rPr>
              <a:t>(3) </a:t>
            </a:r>
            <a:r>
              <a:rPr lang="zh-CN" altLang="en-US" sz="2100" b="0" dirty="0">
                <a:latin typeface="Times New Roman" panose="02020603050405020304" pitchFamily="18" charset="0"/>
                <a:cs typeface="Times New Roman" panose="02020603050405020304" pitchFamily="18" charset="0"/>
              </a:rPr>
              <a:t>确定</a:t>
            </a:r>
            <a:r>
              <a:rPr lang="zh-CN" altLang="en-US" sz="2100" i="1" dirty="0">
                <a:solidFill>
                  <a:srgbClr val="FF0000"/>
                </a:solidFill>
                <a:latin typeface="Times New Roman" panose="02020603050405020304" pitchFamily="18" charset="0"/>
                <a:cs typeface="Times New Roman" panose="02020603050405020304" pitchFamily="18" charset="0"/>
              </a:rPr>
              <a:t>换入变量</a:t>
            </a:r>
            <a:r>
              <a:rPr lang="zh-CN" altLang="en-US" sz="2100" b="0" dirty="0">
                <a:latin typeface="Times New Roman" panose="02020603050405020304" pitchFamily="18" charset="0"/>
                <a:cs typeface="Times New Roman" panose="02020603050405020304" pitchFamily="18" charset="0"/>
              </a:rPr>
              <a:t>。在单纯形表中检查</a:t>
            </a:r>
            <a:r>
              <a:rPr lang="en-US" altLang="zh-CN" sz="2100" b="0" dirty="0">
                <a:latin typeface="Times New Roman" panose="02020603050405020304" pitchFamily="18" charset="0"/>
                <a:cs typeface="Times New Roman" panose="02020603050405020304" pitchFamily="18" charset="0"/>
              </a:rPr>
              <a:t>x</a:t>
            </a:r>
            <a:r>
              <a:rPr lang="en-US" altLang="zh-CN" sz="2100" b="0" baseline="-30000" dirty="0">
                <a:latin typeface="Times New Roman" panose="02020603050405020304" pitchFamily="18" charset="0"/>
                <a:cs typeface="Times New Roman" panose="02020603050405020304" pitchFamily="18" charset="0"/>
              </a:rPr>
              <a:t>l</a:t>
            </a:r>
            <a:r>
              <a:rPr lang="zh-CN" altLang="en-US" sz="2100" b="0" dirty="0">
                <a:latin typeface="Times New Roman" panose="02020603050405020304" pitchFamily="18" charset="0"/>
                <a:cs typeface="Times New Roman" panose="02020603050405020304" pitchFamily="18" charset="0"/>
              </a:rPr>
              <a:t>所在行的各系数</a:t>
            </a:r>
            <a:r>
              <a:rPr lang="en-US" altLang="zh-CN" sz="2100" b="0" i="1" dirty="0">
                <a:latin typeface="Times New Roman" panose="02020603050405020304" pitchFamily="18" charset="0"/>
                <a:cs typeface="Times New Roman" panose="02020603050405020304" pitchFamily="18" charset="0"/>
              </a:rPr>
              <a:t>α</a:t>
            </a:r>
            <a:r>
              <a:rPr lang="en-US" altLang="zh-CN" sz="2100" b="0" baseline="-30000" dirty="0" err="1">
                <a:latin typeface="Times New Roman" panose="02020603050405020304" pitchFamily="18" charset="0"/>
                <a:cs typeface="Times New Roman" panose="02020603050405020304" pitchFamily="18" charset="0"/>
              </a:rPr>
              <a:t>l</a:t>
            </a:r>
            <a:r>
              <a:rPr lang="en-US" altLang="zh-CN" sz="2100" b="0" i="1" baseline="-30000" dirty="0" err="1">
                <a:latin typeface="Times New Roman" panose="02020603050405020304" pitchFamily="18" charset="0"/>
                <a:cs typeface="Times New Roman" panose="02020603050405020304" pitchFamily="18" charset="0"/>
              </a:rPr>
              <a:t>j</a:t>
            </a:r>
            <a:r>
              <a:rPr lang="en-US" altLang="zh-CN" sz="2100" b="0" dirty="0">
                <a:latin typeface="Times New Roman" panose="02020603050405020304" pitchFamily="18" charset="0"/>
                <a:cs typeface="Times New Roman" panose="02020603050405020304" pitchFamily="18" charset="0"/>
              </a:rPr>
              <a:t>(</a:t>
            </a:r>
            <a:r>
              <a:rPr lang="en-US" altLang="zh-CN" sz="2100" b="0" i="1" dirty="0">
                <a:latin typeface="Times New Roman" panose="02020603050405020304" pitchFamily="18" charset="0"/>
                <a:cs typeface="Times New Roman" panose="02020603050405020304" pitchFamily="18" charset="0"/>
              </a:rPr>
              <a:t>j</a:t>
            </a:r>
            <a:r>
              <a:rPr lang="en-US" altLang="zh-CN" sz="2100" b="0" dirty="0">
                <a:latin typeface="Times New Roman" panose="02020603050405020304" pitchFamily="18" charset="0"/>
                <a:cs typeface="Times New Roman" panose="02020603050405020304" pitchFamily="18" charset="0"/>
              </a:rPr>
              <a:t>=1,2,…</a:t>
            </a:r>
            <a:r>
              <a:rPr lang="zh-CN" altLang="en-US" sz="2100" b="0" dirty="0">
                <a:latin typeface="Times New Roman" panose="02020603050405020304" pitchFamily="18" charset="0"/>
                <a:cs typeface="Times New Roman" panose="02020603050405020304" pitchFamily="18" charset="0"/>
              </a:rPr>
              <a:t>，</a:t>
            </a:r>
            <a:r>
              <a:rPr lang="en-US" altLang="zh-CN" sz="2100" b="0" i="1" dirty="0">
                <a:latin typeface="Times New Roman" panose="02020603050405020304" pitchFamily="18" charset="0"/>
                <a:cs typeface="Times New Roman" panose="02020603050405020304" pitchFamily="18" charset="0"/>
              </a:rPr>
              <a:t>n</a:t>
            </a:r>
            <a:r>
              <a:rPr lang="en-US" altLang="zh-CN" sz="2100" b="0" dirty="0">
                <a:latin typeface="Times New Roman" panose="02020603050405020304" pitchFamily="18" charset="0"/>
                <a:cs typeface="Times New Roman" panose="02020603050405020304" pitchFamily="18" charset="0"/>
              </a:rPr>
              <a:t>)</a:t>
            </a:r>
            <a:r>
              <a:rPr lang="zh-CN" altLang="en-US" sz="2100" b="0" dirty="0">
                <a:latin typeface="Times New Roman" panose="02020603050405020304" pitchFamily="18" charset="0"/>
                <a:cs typeface="Times New Roman" panose="02020603050405020304" pitchFamily="18" charset="0"/>
              </a:rPr>
              <a:t>。若所有</a:t>
            </a:r>
            <a:r>
              <a:rPr lang="en-US" altLang="zh-CN" sz="2100" dirty="0">
                <a:solidFill>
                  <a:srgbClr val="FF0000"/>
                </a:solidFill>
                <a:latin typeface="Times New Roman" panose="02020603050405020304" pitchFamily="18" charset="0"/>
                <a:cs typeface="Times New Roman" panose="02020603050405020304" pitchFamily="18" charset="0"/>
              </a:rPr>
              <a:t>α</a:t>
            </a:r>
            <a:r>
              <a:rPr lang="en-US" altLang="zh-CN" sz="2100" baseline="-30000" dirty="0">
                <a:solidFill>
                  <a:srgbClr val="FF0000"/>
                </a:solidFill>
                <a:latin typeface="Times New Roman" panose="02020603050405020304" pitchFamily="18" charset="0"/>
                <a:cs typeface="Times New Roman" panose="02020603050405020304" pitchFamily="18" charset="0"/>
              </a:rPr>
              <a:t>lj</a:t>
            </a:r>
            <a:r>
              <a:rPr lang="en-US" altLang="zh-CN" sz="2100" dirty="0">
                <a:solidFill>
                  <a:srgbClr val="FF0000"/>
                </a:solidFill>
                <a:latin typeface="Times New Roman" panose="02020603050405020304" pitchFamily="18" charset="0"/>
                <a:cs typeface="Times New Roman" panose="02020603050405020304" pitchFamily="18" charset="0"/>
              </a:rPr>
              <a:t>≥0</a:t>
            </a:r>
            <a:r>
              <a:rPr lang="zh-CN" altLang="en-US" sz="2100" b="0" dirty="0">
                <a:latin typeface="Times New Roman" panose="02020603050405020304" pitchFamily="18" charset="0"/>
                <a:cs typeface="Times New Roman" panose="02020603050405020304" pitchFamily="18" charset="0"/>
              </a:rPr>
              <a:t>，则无可行解，停止 计算。若存在</a:t>
            </a:r>
            <a:r>
              <a:rPr lang="en-US" altLang="zh-CN" sz="2100" dirty="0">
                <a:solidFill>
                  <a:srgbClr val="FF0000"/>
                </a:solidFill>
                <a:latin typeface="Times New Roman" panose="02020603050405020304" pitchFamily="18" charset="0"/>
                <a:cs typeface="Times New Roman" panose="02020603050405020304" pitchFamily="18" charset="0"/>
              </a:rPr>
              <a:t>α</a:t>
            </a:r>
            <a:r>
              <a:rPr lang="en-US" altLang="zh-CN" sz="2100" baseline="-30000" dirty="0" err="1">
                <a:solidFill>
                  <a:srgbClr val="FF0000"/>
                </a:solidFill>
                <a:latin typeface="Times New Roman" panose="02020603050405020304" pitchFamily="18" charset="0"/>
                <a:cs typeface="Times New Roman" panose="02020603050405020304" pitchFamily="18" charset="0"/>
              </a:rPr>
              <a:t>lj</a:t>
            </a:r>
            <a:r>
              <a:rPr lang="zh-CN" altLang="en-US" sz="2100" dirty="0">
                <a:solidFill>
                  <a:srgbClr val="FF0000"/>
                </a:solidFill>
                <a:latin typeface="Times New Roman" panose="02020603050405020304" pitchFamily="18" charset="0"/>
                <a:cs typeface="Times New Roman" panose="02020603050405020304" pitchFamily="18" charset="0"/>
              </a:rPr>
              <a:t>＜</a:t>
            </a:r>
            <a:r>
              <a:rPr lang="en-US" altLang="zh-CN" sz="2100" dirty="0">
                <a:solidFill>
                  <a:srgbClr val="FF0000"/>
                </a:solidFill>
                <a:latin typeface="Times New Roman" panose="02020603050405020304" pitchFamily="18" charset="0"/>
                <a:cs typeface="Times New Roman" panose="02020603050405020304" pitchFamily="18" charset="0"/>
              </a:rPr>
              <a:t>0</a:t>
            </a:r>
            <a:r>
              <a:rPr lang="en-US" altLang="zh-CN" sz="2100" b="0" dirty="0">
                <a:latin typeface="Times New Roman" panose="02020603050405020304" pitchFamily="18" charset="0"/>
                <a:cs typeface="Times New Roman" panose="02020603050405020304" pitchFamily="18" charset="0"/>
              </a:rPr>
              <a:t>  (</a:t>
            </a:r>
            <a:r>
              <a:rPr lang="en-US" altLang="zh-CN" sz="2100" b="0" i="1" dirty="0">
                <a:latin typeface="Times New Roman" panose="02020603050405020304" pitchFamily="18" charset="0"/>
                <a:cs typeface="Times New Roman" panose="02020603050405020304" pitchFamily="18" charset="0"/>
              </a:rPr>
              <a:t>j</a:t>
            </a:r>
            <a:r>
              <a:rPr lang="en-US" altLang="zh-CN" sz="2100" b="0" dirty="0">
                <a:latin typeface="Times New Roman" panose="02020603050405020304" pitchFamily="18" charset="0"/>
                <a:cs typeface="Times New Roman" panose="02020603050405020304" pitchFamily="18" charset="0"/>
              </a:rPr>
              <a:t>=1,2,…</a:t>
            </a:r>
            <a:r>
              <a:rPr lang="zh-CN" altLang="en-US" sz="2100" b="0" dirty="0">
                <a:latin typeface="Times New Roman" panose="02020603050405020304" pitchFamily="18" charset="0"/>
                <a:cs typeface="Times New Roman" panose="02020603050405020304" pitchFamily="18" charset="0"/>
              </a:rPr>
              <a:t>，</a:t>
            </a:r>
            <a:r>
              <a:rPr lang="en-US" altLang="zh-CN" sz="2100" b="0" i="1" dirty="0">
                <a:latin typeface="Times New Roman" panose="02020603050405020304" pitchFamily="18" charset="0"/>
                <a:cs typeface="Times New Roman" panose="02020603050405020304" pitchFamily="18" charset="0"/>
              </a:rPr>
              <a:t>n</a:t>
            </a:r>
            <a:r>
              <a:rPr lang="en-US" altLang="zh-CN" sz="2100" b="0" dirty="0">
                <a:latin typeface="Times New Roman" panose="02020603050405020304" pitchFamily="18" charset="0"/>
                <a:cs typeface="Times New Roman" panose="02020603050405020304" pitchFamily="18" charset="0"/>
              </a:rPr>
              <a:t>), </a:t>
            </a:r>
            <a:r>
              <a:rPr lang="zh-CN" altLang="en-US" sz="2100" b="0" dirty="0">
                <a:latin typeface="Times New Roman" panose="02020603050405020304" pitchFamily="18" charset="0"/>
                <a:cs typeface="Times New Roman" panose="02020603050405020304" pitchFamily="18" charset="0"/>
              </a:rPr>
              <a:t>计算 </a:t>
            </a:r>
            <a:endParaRPr lang="zh-CN" altLang="en-US" sz="2100" b="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endParaRPr lang="zh-CN" altLang="en-US" sz="2100" b="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单纯形法</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5" name="Rectangle 3"/>
          <p:cNvSpPr>
            <a:spLocks noChangeArrowheads="1"/>
          </p:cNvSpPr>
          <p:nvPr/>
        </p:nvSpPr>
        <p:spPr bwMode="auto">
          <a:xfrm>
            <a:off x="250825" y="1139825"/>
            <a:ext cx="8642350" cy="457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pPr>
            <a:r>
              <a:rPr lang="zh-CN" altLang="en-US" sz="2100" b="0" dirty="0">
                <a:latin typeface="Times New Roman" panose="02020603050405020304" pitchFamily="18" charset="0"/>
                <a:cs typeface="Times New Roman" panose="02020603050405020304" pitchFamily="18" charset="0"/>
              </a:rPr>
              <a:t>对偶单纯形法的计算步骤如下：</a:t>
            </a:r>
            <a:endParaRPr lang="zh-CN" altLang="en-US" sz="2100" b="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kumimoji="1" lang="zh-CN" altLang="en-US" sz="2100" b="0" dirty="0">
                <a:solidFill>
                  <a:schemeClr val="tx2"/>
                </a:solidFill>
                <a:latin typeface="Times New Roman" panose="02020603050405020304" pitchFamily="18" charset="0"/>
                <a:cs typeface="Times New Roman" panose="02020603050405020304" pitchFamily="18" charset="0"/>
              </a:rPr>
              <a:t>   按</a:t>
            </a:r>
            <a:r>
              <a:rPr kumimoji="1" lang="en-US" altLang="zh-CN" sz="2100" b="0" i="1" dirty="0" err="1">
                <a:solidFill>
                  <a:schemeClr val="tx2"/>
                </a:solidFill>
                <a:latin typeface="Times New Roman" panose="02020603050405020304" pitchFamily="18" charset="0"/>
                <a:cs typeface="Times New Roman" panose="02020603050405020304" pitchFamily="18" charset="0"/>
              </a:rPr>
              <a:t>θ</a:t>
            </a:r>
            <a:r>
              <a:rPr kumimoji="1" lang="zh-CN" altLang="en-US" sz="2100" b="0" dirty="0">
                <a:solidFill>
                  <a:schemeClr val="tx2"/>
                </a:solidFill>
                <a:latin typeface="Times New Roman" panose="02020603050405020304" pitchFamily="18" charset="0"/>
                <a:cs typeface="Times New Roman" panose="02020603050405020304" pitchFamily="18" charset="0"/>
              </a:rPr>
              <a:t>规则所对应的列的非基变量</a:t>
            </a:r>
            <a:r>
              <a:rPr kumimoji="1" lang="en-US" altLang="zh-CN" sz="2100" b="0" i="1" dirty="0" err="1">
                <a:solidFill>
                  <a:schemeClr val="tx2"/>
                </a:solidFill>
                <a:latin typeface="Times New Roman" panose="02020603050405020304" pitchFamily="18" charset="0"/>
                <a:cs typeface="Times New Roman" panose="02020603050405020304" pitchFamily="18" charset="0"/>
              </a:rPr>
              <a:t>x</a:t>
            </a:r>
            <a:r>
              <a:rPr kumimoji="1" lang="en-US" altLang="zh-CN" sz="2100" b="0" i="1" baseline="-25000" dirty="0" err="1">
                <a:solidFill>
                  <a:schemeClr val="tx2"/>
                </a:solidFill>
                <a:latin typeface="Times New Roman" panose="02020603050405020304" pitchFamily="18" charset="0"/>
                <a:cs typeface="Times New Roman" panose="02020603050405020304" pitchFamily="18" charset="0"/>
              </a:rPr>
              <a:t>k</a:t>
            </a:r>
            <a:r>
              <a:rPr kumimoji="1" lang="zh-CN" altLang="en-US" sz="2100" b="0" dirty="0">
                <a:solidFill>
                  <a:schemeClr val="tx2"/>
                </a:solidFill>
                <a:latin typeface="Times New Roman" panose="02020603050405020304" pitchFamily="18" charset="0"/>
                <a:cs typeface="Times New Roman" panose="02020603050405020304" pitchFamily="18" charset="0"/>
              </a:rPr>
              <a:t>为换入变量，这样才能保持得到的对偶问题解仍为可行解。</a:t>
            </a:r>
            <a:endParaRPr kumimoji="1" lang="zh-CN" altLang="en-US" sz="2100" b="0" dirty="0">
              <a:solidFill>
                <a:schemeClr val="tx2"/>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None/>
            </a:pPr>
            <a:r>
              <a:rPr lang="zh-CN" altLang="en-US" sz="2100" b="0" dirty="0">
                <a:latin typeface="Times New Roman" panose="02020603050405020304" pitchFamily="18" charset="0"/>
                <a:cs typeface="Times New Roman" panose="02020603050405020304" pitchFamily="18" charset="0"/>
              </a:rPr>
              <a:t>  </a:t>
            </a:r>
            <a:r>
              <a:rPr lang="en-US" altLang="zh-CN" sz="2100" b="0" dirty="0">
                <a:latin typeface="Times New Roman" panose="02020603050405020304" pitchFamily="18" charset="0"/>
                <a:cs typeface="Times New Roman" panose="02020603050405020304" pitchFamily="18" charset="0"/>
              </a:rPr>
              <a:t>(4) </a:t>
            </a:r>
            <a:r>
              <a:rPr lang="zh-CN" altLang="en-US" sz="2100" b="0" dirty="0">
                <a:latin typeface="Times New Roman" panose="02020603050405020304" pitchFamily="18" charset="0"/>
                <a:cs typeface="Times New Roman" panose="02020603050405020304" pitchFamily="18" charset="0"/>
              </a:rPr>
              <a:t>以</a:t>
            </a:r>
            <a:r>
              <a:rPr lang="en-US" altLang="zh-CN" sz="2100" b="0" i="1" dirty="0">
                <a:latin typeface="Times New Roman" panose="02020603050405020304" pitchFamily="18" charset="0"/>
                <a:cs typeface="Times New Roman" panose="02020603050405020304" pitchFamily="18" charset="0"/>
              </a:rPr>
              <a:t>α</a:t>
            </a:r>
            <a:r>
              <a:rPr lang="en-US" altLang="zh-CN" sz="2100" b="0" baseline="-30000" dirty="0" err="1">
                <a:latin typeface="Times New Roman" panose="02020603050405020304" pitchFamily="18" charset="0"/>
                <a:cs typeface="Times New Roman" panose="02020603050405020304" pitchFamily="18" charset="0"/>
              </a:rPr>
              <a:t>l</a:t>
            </a:r>
            <a:r>
              <a:rPr lang="en-US" altLang="zh-CN" sz="2100" b="0" i="1" baseline="-30000" dirty="0" err="1">
                <a:latin typeface="Times New Roman" panose="02020603050405020304" pitchFamily="18" charset="0"/>
                <a:cs typeface="Times New Roman" panose="02020603050405020304" pitchFamily="18" charset="0"/>
              </a:rPr>
              <a:t>k</a:t>
            </a:r>
            <a:r>
              <a:rPr lang="zh-CN" altLang="en-US" sz="2100" b="0" dirty="0">
                <a:latin typeface="Times New Roman" panose="02020603050405020304" pitchFamily="18" charset="0"/>
                <a:cs typeface="Times New Roman" panose="02020603050405020304" pitchFamily="18" charset="0"/>
              </a:rPr>
              <a:t>为主元素，按原单纯形法在表中进行迭代运算，得到新的计算表。</a:t>
            </a:r>
            <a:endParaRPr lang="zh-CN" altLang="en-US" sz="2100" b="0" dirty="0">
              <a:latin typeface="Times New Roman" panose="02020603050405020304" pitchFamily="18" charset="0"/>
              <a:cs typeface="Times New Roman" panose="02020603050405020304" pitchFamily="18" charset="0"/>
            </a:endParaRPr>
          </a:p>
          <a:p>
            <a:pPr>
              <a:buFont typeface="Wingdings" panose="05000000000000000000" pitchFamily="2" charset="2"/>
              <a:buNone/>
            </a:pPr>
            <a:r>
              <a:rPr lang="zh-CN" altLang="en-US" sz="2100" b="0" dirty="0">
                <a:latin typeface="Times New Roman" panose="02020603050405020304" pitchFamily="18" charset="0"/>
                <a:cs typeface="Times New Roman" panose="02020603050405020304" pitchFamily="18" charset="0"/>
              </a:rPr>
              <a:t>    重复步骤</a:t>
            </a:r>
            <a:r>
              <a:rPr lang="en-US" altLang="zh-CN" sz="2100" b="0" dirty="0">
                <a:latin typeface="Times New Roman" panose="02020603050405020304" pitchFamily="18" charset="0"/>
                <a:cs typeface="Times New Roman" panose="02020603050405020304" pitchFamily="18" charset="0"/>
              </a:rPr>
              <a:t>(1)</a:t>
            </a:r>
            <a:r>
              <a:rPr lang="zh-CN" altLang="en-US" sz="2100" b="0" dirty="0">
                <a:latin typeface="Times New Roman" panose="02020603050405020304" pitchFamily="18" charset="0"/>
                <a:cs typeface="Times New Roman" panose="02020603050405020304" pitchFamily="18" charset="0"/>
              </a:rPr>
              <a:t>～</a:t>
            </a:r>
            <a:r>
              <a:rPr lang="en-US" altLang="zh-CN" sz="2100" b="0" dirty="0">
                <a:latin typeface="Times New Roman" panose="02020603050405020304" pitchFamily="18" charset="0"/>
                <a:cs typeface="Times New Roman" panose="02020603050405020304" pitchFamily="18" charset="0"/>
              </a:rPr>
              <a:t>(4)</a:t>
            </a:r>
            <a:r>
              <a:rPr lang="zh-CN" altLang="en-US" sz="2100" b="0" dirty="0">
                <a:latin typeface="Times New Roman" panose="02020603050405020304" pitchFamily="18" charset="0"/>
                <a:cs typeface="Times New Roman" panose="02020603050405020304" pitchFamily="18" charset="0"/>
              </a:rPr>
              <a:t>。</a:t>
            </a:r>
            <a:endParaRPr lang="zh-CN" altLang="en-US" sz="2100" b="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单纯形法</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6" name="Rectangle 4"/>
          <p:cNvSpPr>
            <a:spLocks noChangeArrowheads="1"/>
          </p:cNvSpPr>
          <p:nvPr/>
        </p:nvSpPr>
        <p:spPr bwMode="auto">
          <a:xfrm>
            <a:off x="539552" y="1916832"/>
            <a:ext cx="7772400" cy="421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ea typeface="宋体" panose="02010600030101010101" pitchFamily="2" charset="-122"/>
              </a:defRPr>
            </a:lvl1pPr>
            <a:lvl2pPr marL="669925" indent="-325755">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ea typeface="宋体" panose="02010600030101010101" pitchFamily="2" charset="-122"/>
              </a:defRPr>
            </a:lvl2pPr>
            <a:lvl3pPr marL="1022350" indent="-351155">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ea typeface="宋体" panose="02010600030101010101" pitchFamily="2" charset="-122"/>
              </a:defRPr>
            </a:lvl3pPr>
            <a:lvl4pPr marL="1339850" indent="-31623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ea typeface="宋体" panose="02010600030101010101" pitchFamily="2" charset="-122"/>
              </a:defRPr>
            </a:lvl4pPr>
            <a:lvl5pPr marL="1681480" indent="-339725">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1386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5958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0530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510280" indent="-339725" fontAlgn="base">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endParaRPr lang="en-US" altLang="zh-CN" sz="2100" b="0" dirty="0">
              <a:latin typeface="Times New Roman" panose="02020603050405020304" pitchFamily="18" charset="0"/>
              <a:cs typeface="Times New Roman" panose="02020603050405020304" pitchFamily="18" charset="0"/>
            </a:endParaRPr>
          </a:p>
        </p:txBody>
      </p:sp>
      <p:graphicFrame>
        <p:nvGraphicFramePr>
          <p:cNvPr id="8" name="Object 7"/>
          <p:cNvGraphicFramePr/>
          <p:nvPr/>
        </p:nvGraphicFramePr>
        <p:xfrm>
          <a:off x="523578" y="908720"/>
          <a:ext cx="2905574" cy="2670461"/>
        </p:xfrm>
        <a:graphic>
          <a:graphicData uri="http://schemas.openxmlformats.org/presentationml/2006/ole">
            <mc:AlternateContent xmlns:mc="http://schemas.openxmlformats.org/markup-compatibility/2006">
              <mc:Choice xmlns:v="urn:schemas-microsoft-com:vml" Requires="v">
                <p:oleObj spid="_x0000_s25601" name="" r:id="rId1" imgW="27127200" imgH="33528000" progId="Equation.3">
                  <p:embed/>
                </p:oleObj>
              </mc:Choice>
              <mc:Fallback>
                <p:oleObj name="" r:id="rId1" imgW="27127200" imgH="33528000" progId="Equation.3">
                  <p:embed/>
                  <p:pic>
                    <p:nvPicPr>
                      <p:cNvPr id="0" name="图片 25600"/>
                      <p:cNvPicPr/>
                      <p:nvPr/>
                    </p:nvPicPr>
                    <p:blipFill>
                      <a:blip r:embed="rId2"/>
                      <a:stretch>
                        <a:fillRect/>
                      </a:stretch>
                    </p:blipFill>
                    <p:spPr>
                      <a:xfrm>
                        <a:off x="523578" y="908720"/>
                        <a:ext cx="2905574" cy="2670461"/>
                      </a:xfrm>
                      <a:prstGeom prst="rect">
                        <a:avLst/>
                      </a:prstGeom>
                      <a:noFill/>
                      <a:ln w="9525">
                        <a:noFill/>
                      </a:ln>
                    </p:spPr>
                  </p:pic>
                </p:oleObj>
              </mc:Fallback>
            </mc:AlternateContent>
          </a:graphicData>
        </a:graphic>
      </p:graphicFrame>
      <p:sp>
        <p:nvSpPr>
          <p:cNvPr id="9" name="Text Box 12"/>
          <p:cNvSpPr txBox="1">
            <a:spLocks noChangeArrowheads="1"/>
          </p:cNvSpPr>
          <p:nvPr/>
        </p:nvSpPr>
        <p:spPr bwMode="auto">
          <a:xfrm>
            <a:off x="4572000" y="739179"/>
            <a:ext cx="3960812" cy="286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800" b="1" dirty="0">
                <a:solidFill>
                  <a:srgbClr val="000000"/>
                </a:solidFill>
              </a:rPr>
              <a:t>小结：在单纯形表格中</a:t>
            </a:r>
            <a:endParaRPr lang="zh-CN" altLang="en-US" sz="2800" b="1" dirty="0">
              <a:solidFill>
                <a:srgbClr val="000000"/>
              </a:solidFill>
            </a:endParaRPr>
          </a:p>
          <a:p>
            <a:pPr>
              <a:spcBef>
                <a:spcPct val="50000"/>
              </a:spcBef>
            </a:pPr>
            <a:r>
              <a:rPr lang="en-US" altLang="zh-CN" sz="2800" b="1" dirty="0">
                <a:solidFill>
                  <a:srgbClr val="000000"/>
                </a:solidFill>
              </a:rPr>
              <a:t>1.</a:t>
            </a:r>
            <a:r>
              <a:rPr lang="zh-CN" altLang="en-US" sz="2800" b="1" dirty="0">
                <a:solidFill>
                  <a:srgbClr val="000000"/>
                </a:solidFill>
              </a:rPr>
              <a:t>得到原问题的基本可行解的同时，其检验数的相反数就构成了对偶问题的一个基本解。</a:t>
            </a:r>
            <a:endParaRPr lang="zh-CN" altLang="en-US" sz="2800" b="1" dirty="0">
              <a:solidFill>
                <a:srgbClr val="000000"/>
              </a:solidFill>
            </a:endParaRPr>
          </a:p>
        </p:txBody>
      </p:sp>
      <p:graphicFrame>
        <p:nvGraphicFramePr>
          <p:cNvPr id="10" name="Object 2"/>
          <p:cNvGraphicFramePr/>
          <p:nvPr/>
        </p:nvGraphicFramePr>
        <p:xfrm>
          <a:off x="303341" y="3675315"/>
          <a:ext cx="3243167" cy="2190503"/>
        </p:xfrm>
        <a:graphic>
          <a:graphicData uri="http://schemas.openxmlformats.org/presentationml/2006/ole">
            <mc:AlternateContent xmlns:mc="http://schemas.openxmlformats.org/markup-compatibility/2006">
              <mc:Choice xmlns:v="urn:schemas-microsoft-com:vml" Requires="v">
                <p:oleObj spid="_x0000_s25602" name="" r:id="rId3" imgW="38709600" imgH="28346400" progId="Equation.3">
                  <p:embed/>
                </p:oleObj>
              </mc:Choice>
              <mc:Fallback>
                <p:oleObj name="" r:id="rId3" imgW="38709600" imgH="28346400" progId="Equation.3">
                  <p:embed/>
                  <p:pic>
                    <p:nvPicPr>
                      <p:cNvPr id="0" name="图片 25601"/>
                      <p:cNvPicPr/>
                      <p:nvPr/>
                    </p:nvPicPr>
                    <p:blipFill>
                      <a:blip r:embed="rId4"/>
                      <a:stretch>
                        <a:fillRect/>
                      </a:stretch>
                    </p:blipFill>
                    <p:spPr>
                      <a:xfrm>
                        <a:off x="303341" y="3675315"/>
                        <a:ext cx="3243167" cy="2190503"/>
                      </a:xfrm>
                      <a:prstGeom prst="rect">
                        <a:avLst/>
                      </a:prstGeom>
                      <a:noFill/>
                      <a:ln w="9525">
                        <a:noFill/>
                      </a:ln>
                    </p:spPr>
                  </p:pic>
                </p:oleObj>
              </mc:Fallback>
            </mc:AlternateContent>
          </a:graphicData>
        </a:graphic>
      </p:graphicFrame>
      <p:sp>
        <p:nvSpPr>
          <p:cNvPr id="11" name="Rectangle 13"/>
          <p:cNvSpPr>
            <a:spLocks noChangeArrowheads="1"/>
          </p:cNvSpPr>
          <p:nvPr/>
        </p:nvSpPr>
        <p:spPr bwMode="auto">
          <a:xfrm>
            <a:off x="4444475" y="3579181"/>
            <a:ext cx="4103688" cy="265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b="1" dirty="0">
                <a:solidFill>
                  <a:srgbClr val="000000"/>
                </a:solidFill>
              </a:rPr>
              <a:t> 2.     </a:t>
            </a:r>
            <a:r>
              <a:rPr lang="zh-CN" altLang="en-US" sz="2800" b="1" dirty="0">
                <a:solidFill>
                  <a:srgbClr val="000000"/>
                </a:solidFill>
              </a:rPr>
              <a:t>原               对</a:t>
            </a:r>
            <a:endParaRPr lang="zh-CN" altLang="en-US" sz="2800" b="1" dirty="0">
              <a:solidFill>
                <a:srgbClr val="000000"/>
              </a:solidFill>
            </a:endParaRPr>
          </a:p>
          <a:p>
            <a:pPr>
              <a:lnSpc>
                <a:spcPct val="125000"/>
              </a:lnSpc>
            </a:pPr>
            <a:r>
              <a:rPr lang="zh-CN" altLang="en-US" sz="2800" b="1" dirty="0">
                <a:solidFill>
                  <a:srgbClr val="000000"/>
                </a:solidFill>
              </a:rPr>
              <a:t>  松弛变量 </a:t>
            </a:r>
            <a:r>
              <a:rPr lang="zh-CN" altLang="en-US" b="1" dirty="0">
                <a:solidFill>
                  <a:srgbClr val="000000"/>
                </a:solidFill>
              </a:rPr>
              <a:t>←→</a:t>
            </a:r>
            <a:r>
              <a:rPr lang="zh-CN" altLang="en-US" sz="2800" b="1" dirty="0">
                <a:solidFill>
                  <a:srgbClr val="000000"/>
                </a:solidFill>
              </a:rPr>
              <a:t>决策变量</a:t>
            </a:r>
            <a:endParaRPr lang="zh-CN" altLang="en-US" sz="2800" b="1" dirty="0">
              <a:solidFill>
                <a:srgbClr val="000000"/>
              </a:solidFill>
            </a:endParaRPr>
          </a:p>
          <a:p>
            <a:pPr>
              <a:lnSpc>
                <a:spcPct val="125000"/>
              </a:lnSpc>
            </a:pPr>
            <a:r>
              <a:rPr lang="zh-CN" altLang="en-US" sz="2800" b="1" dirty="0">
                <a:solidFill>
                  <a:srgbClr val="000000"/>
                </a:solidFill>
              </a:rPr>
              <a:t>  决策变量 </a:t>
            </a:r>
            <a:r>
              <a:rPr lang="zh-CN" altLang="en-US" b="1" dirty="0">
                <a:solidFill>
                  <a:srgbClr val="000000"/>
                </a:solidFill>
              </a:rPr>
              <a:t>←→</a:t>
            </a:r>
            <a:r>
              <a:rPr lang="zh-CN" altLang="en-US" sz="2800" b="1" dirty="0">
                <a:solidFill>
                  <a:srgbClr val="000000"/>
                </a:solidFill>
              </a:rPr>
              <a:t>松弛变量</a:t>
            </a:r>
            <a:endParaRPr lang="zh-CN" altLang="en-US" sz="2800" b="1" dirty="0">
              <a:solidFill>
                <a:srgbClr val="000000"/>
              </a:solidFill>
            </a:endParaRPr>
          </a:p>
          <a:p>
            <a:pPr>
              <a:lnSpc>
                <a:spcPct val="125000"/>
              </a:lnSpc>
            </a:pPr>
            <a:r>
              <a:rPr lang="zh-CN" altLang="en-US" sz="2800" b="1" dirty="0">
                <a:solidFill>
                  <a:srgbClr val="000000"/>
                </a:solidFill>
              </a:rPr>
              <a:t>  基变量     </a:t>
            </a:r>
            <a:r>
              <a:rPr lang="zh-CN" altLang="en-US" b="1" dirty="0">
                <a:solidFill>
                  <a:srgbClr val="000000"/>
                </a:solidFill>
              </a:rPr>
              <a:t>←→</a:t>
            </a:r>
            <a:r>
              <a:rPr lang="zh-CN" altLang="en-US" sz="2800" b="1" dirty="0">
                <a:solidFill>
                  <a:srgbClr val="000000"/>
                </a:solidFill>
              </a:rPr>
              <a:t>非基变量</a:t>
            </a:r>
            <a:endParaRPr lang="zh-CN" altLang="en-US" sz="2800" b="1" dirty="0">
              <a:solidFill>
                <a:srgbClr val="000000"/>
              </a:solidFill>
            </a:endParaRPr>
          </a:p>
          <a:p>
            <a:pPr>
              <a:lnSpc>
                <a:spcPct val="125000"/>
              </a:lnSpc>
            </a:pPr>
            <a:r>
              <a:rPr lang="zh-CN" altLang="en-US" sz="2800" b="1" dirty="0">
                <a:solidFill>
                  <a:srgbClr val="000000"/>
                </a:solidFill>
              </a:rPr>
              <a:t>  非基变量  </a:t>
            </a:r>
            <a:r>
              <a:rPr lang="zh-CN" altLang="en-US" b="1" dirty="0">
                <a:solidFill>
                  <a:srgbClr val="000000"/>
                </a:solidFill>
              </a:rPr>
              <a:t>←→</a:t>
            </a:r>
            <a:r>
              <a:rPr lang="zh-CN" altLang="en-US" sz="2800" b="1" dirty="0">
                <a:solidFill>
                  <a:srgbClr val="000000"/>
                </a:solidFill>
              </a:rPr>
              <a:t> 基变量</a:t>
            </a:r>
            <a:endParaRPr lang="zh-CN" altLang="en-US" sz="28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单纯形法</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82" name="Rectangle 2"/>
          <p:cNvSpPr>
            <a:spLocks noChangeArrowheads="1"/>
          </p:cNvSpPr>
          <p:nvPr/>
        </p:nvSpPr>
        <p:spPr bwMode="auto">
          <a:xfrm>
            <a:off x="2197100" y="1636662"/>
            <a:ext cx="576263" cy="503238"/>
          </a:xfrm>
          <a:prstGeom prst="rect">
            <a:avLst/>
          </a:prstGeom>
          <a:noFill/>
          <a:ln w="635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ndParaRPr>
          </a:p>
        </p:txBody>
      </p:sp>
      <p:graphicFrame>
        <p:nvGraphicFramePr>
          <p:cNvPr id="83" name="Object 2"/>
          <p:cNvGraphicFramePr/>
          <p:nvPr/>
        </p:nvGraphicFramePr>
        <p:xfrm>
          <a:off x="1620838" y="1563637"/>
          <a:ext cx="473075" cy="576263"/>
        </p:xfrm>
        <a:graphic>
          <a:graphicData uri="http://schemas.openxmlformats.org/presentationml/2006/ole">
            <mc:AlternateContent xmlns:mc="http://schemas.openxmlformats.org/markup-compatibility/2006">
              <mc:Choice xmlns:v="urn:schemas-microsoft-com:vml" Requires="v">
                <p:oleObj spid="_x0000_s26625" name="" r:id="rId1" imgW="4267200" imgH="5181600" progId="Equation.3">
                  <p:embed/>
                </p:oleObj>
              </mc:Choice>
              <mc:Fallback>
                <p:oleObj name="" r:id="rId1" imgW="4267200" imgH="5181600" progId="Equation.3">
                  <p:embed/>
                  <p:pic>
                    <p:nvPicPr>
                      <p:cNvPr id="0" name="图片 26624"/>
                      <p:cNvPicPr/>
                      <p:nvPr/>
                    </p:nvPicPr>
                    <p:blipFill>
                      <a:blip r:embed="rId2"/>
                      <a:stretch>
                        <a:fillRect/>
                      </a:stretch>
                    </p:blipFill>
                    <p:spPr>
                      <a:xfrm>
                        <a:off x="1620838" y="1563637"/>
                        <a:ext cx="473075" cy="576263"/>
                      </a:xfrm>
                      <a:prstGeom prst="rect">
                        <a:avLst/>
                      </a:prstGeom>
                      <a:noFill/>
                      <a:ln w="38100">
                        <a:noFill/>
                      </a:ln>
                    </p:spPr>
                  </p:pic>
                </p:oleObj>
              </mc:Fallback>
            </mc:AlternateContent>
          </a:graphicData>
        </a:graphic>
      </p:graphicFrame>
      <p:graphicFrame>
        <p:nvGraphicFramePr>
          <p:cNvPr id="84" name="Object 3"/>
          <p:cNvGraphicFramePr/>
          <p:nvPr/>
        </p:nvGraphicFramePr>
        <p:xfrm>
          <a:off x="1620838" y="1924000"/>
          <a:ext cx="474662" cy="609600"/>
        </p:xfrm>
        <a:graphic>
          <a:graphicData uri="http://schemas.openxmlformats.org/presentationml/2006/ole">
            <mc:AlternateContent xmlns:mc="http://schemas.openxmlformats.org/markup-compatibility/2006">
              <mc:Choice xmlns:v="urn:schemas-microsoft-com:vml" Requires="v">
                <p:oleObj spid="_x0000_s26626" name="" r:id="rId3" imgW="4267200" imgH="5486400" progId="Equation.3">
                  <p:embed/>
                </p:oleObj>
              </mc:Choice>
              <mc:Fallback>
                <p:oleObj name="" r:id="rId3" imgW="4267200" imgH="5486400" progId="Equation.3">
                  <p:embed/>
                  <p:pic>
                    <p:nvPicPr>
                      <p:cNvPr id="0" name="图片 26625"/>
                      <p:cNvPicPr/>
                      <p:nvPr/>
                    </p:nvPicPr>
                    <p:blipFill>
                      <a:blip r:embed="rId4"/>
                      <a:stretch>
                        <a:fillRect/>
                      </a:stretch>
                    </p:blipFill>
                    <p:spPr>
                      <a:xfrm>
                        <a:off x="1620838" y="1924000"/>
                        <a:ext cx="474662" cy="609600"/>
                      </a:xfrm>
                      <a:prstGeom prst="rect">
                        <a:avLst/>
                      </a:prstGeom>
                      <a:noFill/>
                      <a:ln w="38100">
                        <a:noFill/>
                      </a:ln>
                    </p:spPr>
                  </p:pic>
                </p:oleObj>
              </mc:Fallback>
            </mc:AlternateContent>
          </a:graphicData>
        </a:graphic>
      </p:graphicFrame>
      <p:sp>
        <p:nvSpPr>
          <p:cNvPr id="85" name="Text Box 7"/>
          <p:cNvSpPr txBox="1">
            <a:spLocks noChangeArrowheads="1"/>
          </p:cNvSpPr>
          <p:nvPr/>
        </p:nvSpPr>
        <p:spPr bwMode="auto">
          <a:xfrm>
            <a:off x="973138" y="1765250"/>
            <a:ext cx="431800"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graphicFrame>
        <p:nvGraphicFramePr>
          <p:cNvPr id="86" name="Object 4"/>
          <p:cNvGraphicFramePr/>
          <p:nvPr/>
        </p:nvGraphicFramePr>
        <p:xfrm>
          <a:off x="1547813" y="2644725"/>
          <a:ext cx="508000" cy="644525"/>
        </p:xfrm>
        <a:graphic>
          <a:graphicData uri="http://schemas.openxmlformats.org/presentationml/2006/ole">
            <mc:AlternateContent xmlns:mc="http://schemas.openxmlformats.org/markup-compatibility/2006">
              <mc:Choice xmlns:v="urn:schemas-microsoft-com:vml" Requires="v">
                <p:oleObj spid="_x0000_s26627" name="" r:id="rId5" imgW="4572000" imgH="5791200" progId="Equation.3">
                  <p:embed/>
                </p:oleObj>
              </mc:Choice>
              <mc:Fallback>
                <p:oleObj name="" r:id="rId5" imgW="4572000" imgH="5791200" progId="Equation.3">
                  <p:embed/>
                  <p:pic>
                    <p:nvPicPr>
                      <p:cNvPr id="0" name="图片 26626"/>
                      <p:cNvPicPr/>
                      <p:nvPr/>
                    </p:nvPicPr>
                    <p:blipFill>
                      <a:blip r:embed="rId6"/>
                      <a:stretch>
                        <a:fillRect/>
                      </a:stretch>
                    </p:blipFill>
                    <p:spPr>
                      <a:xfrm>
                        <a:off x="1547813" y="2644725"/>
                        <a:ext cx="508000" cy="644525"/>
                      </a:xfrm>
                      <a:prstGeom prst="rect">
                        <a:avLst/>
                      </a:prstGeom>
                      <a:noFill/>
                      <a:ln w="38100">
                        <a:noFill/>
                      </a:ln>
                    </p:spPr>
                  </p:pic>
                </p:oleObj>
              </mc:Fallback>
            </mc:AlternateContent>
          </a:graphicData>
        </a:graphic>
      </p:graphicFrame>
      <p:sp>
        <p:nvSpPr>
          <p:cNvPr id="87" name="Text Box 9"/>
          <p:cNvSpPr txBox="1">
            <a:spLocks noChangeArrowheads="1"/>
          </p:cNvSpPr>
          <p:nvPr/>
        </p:nvSpPr>
        <p:spPr bwMode="auto">
          <a:xfrm>
            <a:off x="2844800" y="2644725"/>
            <a:ext cx="4679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-15    -24     -5      0        0</a:t>
            </a:r>
            <a:endParaRPr lang="en-US" altLang="zh-CN" sz="2800" b="1">
              <a:solidFill>
                <a:srgbClr val="000000"/>
              </a:solidFill>
              <a:latin typeface="Times New Roman" panose="02020603050405020304" pitchFamily="18" charset="0"/>
            </a:endParaRPr>
          </a:p>
        </p:txBody>
      </p:sp>
      <p:graphicFrame>
        <p:nvGraphicFramePr>
          <p:cNvPr id="88" name="Object 5"/>
          <p:cNvGraphicFramePr/>
          <p:nvPr/>
        </p:nvGraphicFramePr>
        <p:xfrm>
          <a:off x="3678238" y="1636662"/>
          <a:ext cx="719137" cy="557213"/>
        </p:xfrm>
        <a:graphic>
          <a:graphicData uri="http://schemas.openxmlformats.org/presentationml/2006/ole">
            <mc:AlternateContent xmlns:mc="http://schemas.openxmlformats.org/markup-compatibility/2006">
              <mc:Choice xmlns:v="urn:schemas-microsoft-com:vml" Requires="v">
                <p:oleObj spid="_x0000_s26628" name="" r:id="rId7" imgW="6705600" imgH="5181600" progId="Equation.3">
                  <p:embed/>
                </p:oleObj>
              </mc:Choice>
              <mc:Fallback>
                <p:oleObj name="" r:id="rId7" imgW="6705600" imgH="5181600" progId="Equation.3">
                  <p:embed/>
                  <p:pic>
                    <p:nvPicPr>
                      <p:cNvPr id="0" name="图片 26627"/>
                      <p:cNvPicPr/>
                      <p:nvPr/>
                    </p:nvPicPr>
                    <p:blipFill>
                      <a:blip r:embed="rId8"/>
                      <a:stretch>
                        <a:fillRect/>
                      </a:stretch>
                    </p:blipFill>
                    <p:spPr>
                      <a:xfrm>
                        <a:off x="3678238" y="1636662"/>
                        <a:ext cx="719137" cy="557213"/>
                      </a:xfrm>
                      <a:prstGeom prst="rect">
                        <a:avLst/>
                      </a:prstGeom>
                      <a:noFill/>
                      <a:ln w="38100">
                        <a:noFill/>
                      </a:ln>
                    </p:spPr>
                  </p:pic>
                </p:oleObj>
              </mc:Fallback>
            </mc:AlternateContent>
          </a:graphicData>
        </a:graphic>
      </p:graphicFrame>
      <p:grpSp>
        <p:nvGrpSpPr>
          <p:cNvPr id="89" name="Group 12"/>
          <p:cNvGrpSpPr/>
          <p:nvPr/>
        </p:nvGrpSpPr>
        <p:grpSpPr bwMode="auto">
          <a:xfrm>
            <a:off x="973138" y="1015950"/>
            <a:ext cx="1635125" cy="611187"/>
            <a:chOff x="295" y="2251"/>
            <a:chExt cx="1030" cy="385"/>
          </a:xfrm>
        </p:grpSpPr>
        <p:graphicFrame>
          <p:nvGraphicFramePr>
            <p:cNvPr id="90" name="Object 26"/>
            <p:cNvGraphicFramePr/>
            <p:nvPr/>
          </p:nvGraphicFramePr>
          <p:xfrm>
            <a:off x="1111" y="2296"/>
            <a:ext cx="214" cy="299"/>
          </p:xfrm>
          <a:graphic>
            <a:graphicData uri="http://schemas.openxmlformats.org/presentationml/2006/ole">
              <mc:AlternateContent xmlns:mc="http://schemas.openxmlformats.org/markup-compatibility/2006">
                <mc:Choice xmlns:v="urn:schemas-microsoft-com:vml" Requires="v">
                  <p:oleObj spid="_x0000_s26629" name="" r:id="rId9" imgW="3048000" imgH="4267200" progId="Equation.3">
                    <p:embed/>
                  </p:oleObj>
                </mc:Choice>
                <mc:Fallback>
                  <p:oleObj name="" r:id="rId9" imgW="3048000" imgH="4267200" progId="Equation.3">
                    <p:embed/>
                    <p:pic>
                      <p:nvPicPr>
                        <p:cNvPr id="0" name="图片 26628"/>
                        <p:cNvPicPr/>
                        <p:nvPr/>
                      </p:nvPicPr>
                      <p:blipFill>
                        <a:blip r:embed="rId10"/>
                        <a:stretch>
                          <a:fillRect/>
                        </a:stretch>
                      </p:blipFill>
                      <p:spPr>
                        <a:xfrm>
                          <a:off x="1111" y="2296"/>
                          <a:ext cx="214" cy="299"/>
                        </a:xfrm>
                        <a:prstGeom prst="rect">
                          <a:avLst/>
                        </a:prstGeom>
                        <a:noFill/>
                        <a:ln w="38100">
                          <a:noFill/>
                        </a:ln>
                      </p:spPr>
                    </p:pic>
                  </p:oleObj>
                </mc:Fallback>
              </mc:AlternateContent>
            </a:graphicData>
          </a:graphic>
        </p:graphicFrame>
        <p:graphicFrame>
          <p:nvGraphicFramePr>
            <p:cNvPr id="91" name="Object 27"/>
            <p:cNvGraphicFramePr/>
            <p:nvPr/>
          </p:nvGraphicFramePr>
          <p:xfrm>
            <a:off x="295" y="2251"/>
            <a:ext cx="363" cy="385"/>
          </p:xfrm>
          <a:graphic>
            <a:graphicData uri="http://schemas.openxmlformats.org/presentationml/2006/ole">
              <mc:AlternateContent xmlns:mc="http://schemas.openxmlformats.org/markup-compatibility/2006">
                <mc:Choice xmlns:v="urn:schemas-microsoft-com:vml" Requires="v">
                  <p:oleObj spid="_x0000_s26630" name="" r:id="rId11" imgW="5181600" imgH="5486400" progId="Equation.3">
                    <p:embed/>
                  </p:oleObj>
                </mc:Choice>
                <mc:Fallback>
                  <p:oleObj name="" r:id="rId11" imgW="5181600" imgH="5486400" progId="Equation.3">
                    <p:embed/>
                    <p:pic>
                      <p:nvPicPr>
                        <p:cNvPr id="0" name="图片 26629"/>
                        <p:cNvPicPr/>
                        <p:nvPr/>
                      </p:nvPicPr>
                      <p:blipFill>
                        <a:blip r:embed="rId12"/>
                        <a:stretch>
                          <a:fillRect/>
                        </a:stretch>
                      </p:blipFill>
                      <p:spPr>
                        <a:xfrm>
                          <a:off x="295" y="2251"/>
                          <a:ext cx="363" cy="385"/>
                        </a:xfrm>
                        <a:prstGeom prst="rect">
                          <a:avLst/>
                        </a:prstGeom>
                        <a:noFill/>
                        <a:ln w="38100">
                          <a:noFill/>
                        </a:ln>
                      </p:spPr>
                    </p:pic>
                  </p:oleObj>
                </mc:Fallback>
              </mc:AlternateContent>
            </a:graphicData>
          </a:graphic>
        </p:graphicFrame>
        <p:sp>
          <p:nvSpPr>
            <p:cNvPr id="92" name="Text Box 15"/>
            <p:cNvSpPr txBox="1">
              <a:spLocks noChangeArrowheads="1"/>
            </p:cNvSpPr>
            <p:nvPr/>
          </p:nvSpPr>
          <p:spPr bwMode="auto">
            <a:xfrm>
              <a:off x="657" y="2251"/>
              <a:ext cx="4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r>
                <a:rPr lang="zh-CN" altLang="en-US" sz="2800" b="1">
                  <a:solidFill>
                    <a:srgbClr val="000000"/>
                  </a:solidFill>
                  <a:latin typeface="Times New Roman" panose="02020603050405020304" pitchFamily="18" charset="0"/>
                </a:rPr>
                <a:t>基</a:t>
              </a:r>
              <a:endParaRPr lang="zh-CN" altLang="en-US" sz="2800" b="1">
                <a:solidFill>
                  <a:srgbClr val="000000"/>
                </a:solidFill>
                <a:latin typeface="Times New Roman" panose="02020603050405020304" pitchFamily="18" charset="0"/>
              </a:endParaRPr>
            </a:p>
          </p:txBody>
        </p:sp>
      </p:grpSp>
      <p:sp>
        <p:nvSpPr>
          <p:cNvPr id="93" name="Line 17"/>
          <p:cNvSpPr>
            <a:spLocks noChangeShapeType="1"/>
          </p:cNvSpPr>
          <p:nvPr/>
        </p:nvSpPr>
        <p:spPr bwMode="auto">
          <a:xfrm>
            <a:off x="828675" y="1636662"/>
            <a:ext cx="6624638" cy="158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94" name="Line 18"/>
          <p:cNvSpPr>
            <a:spLocks noChangeShapeType="1"/>
          </p:cNvSpPr>
          <p:nvPr/>
        </p:nvSpPr>
        <p:spPr bwMode="auto">
          <a:xfrm flipH="1">
            <a:off x="2843213" y="584150"/>
            <a:ext cx="1587" cy="619283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95" name="Line 19"/>
          <p:cNvSpPr>
            <a:spLocks noChangeShapeType="1"/>
          </p:cNvSpPr>
          <p:nvPr/>
        </p:nvSpPr>
        <p:spPr bwMode="auto">
          <a:xfrm>
            <a:off x="828675" y="1131837"/>
            <a:ext cx="6696075" cy="158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96" name="Line 20"/>
          <p:cNvSpPr>
            <a:spLocks noChangeShapeType="1"/>
          </p:cNvSpPr>
          <p:nvPr/>
        </p:nvSpPr>
        <p:spPr bwMode="auto">
          <a:xfrm>
            <a:off x="755650" y="2644725"/>
            <a:ext cx="6842125" cy="158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grpSp>
        <p:nvGrpSpPr>
          <p:cNvPr id="97" name="Group 21"/>
          <p:cNvGrpSpPr/>
          <p:nvPr/>
        </p:nvGrpSpPr>
        <p:grpSpPr bwMode="auto">
          <a:xfrm>
            <a:off x="1431925" y="511125"/>
            <a:ext cx="7539038" cy="644525"/>
            <a:chOff x="580" y="1935"/>
            <a:chExt cx="4387" cy="406"/>
          </a:xfrm>
        </p:grpSpPr>
        <p:graphicFrame>
          <p:nvGraphicFramePr>
            <p:cNvPr id="98" name="Object 25"/>
            <p:cNvGraphicFramePr/>
            <p:nvPr/>
          </p:nvGraphicFramePr>
          <p:xfrm>
            <a:off x="580" y="1935"/>
            <a:ext cx="320" cy="406"/>
          </p:xfrm>
          <a:graphic>
            <a:graphicData uri="http://schemas.openxmlformats.org/presentationml/2006/ole">
              <mc:AlternateContent xmlns:mc="http://schemas.openxmlformats.org/markup-compatibility/2006">
                <mc:Choice xmlns:v="urn:schemas-microsoft-com:vml" Requires="v">
                  <p:oleObj spid="_x0000_s26631" name="" r:id="rId13" imgW="4572000" imgH="5791200" progId="Equation.3">
                    <p:embed/>
                  </p:oleObj>
                </mc:Choice>
                <mc:Fallback>
                  <p:oleObj name="" r:id="rId13" imgW="4572000" imgH="5791200" progId="Equation.3">
                    <p:embed/>
                    <p:pic>
                      <p:nvPicPr>
                        <p:cNvPr id="0" name="图片 26630"/>
                        <p:cNvPicPr/>
                        <p:nvPr/>
                      </p:nvPicPr>
                      <p:blipFill>
                        <a:blip r:embed="rId14"/>
                        <a:stretch>
                          <a:fillRect/>
                        </a:stretch>
                      </p:blipFill>
                      <p:spPr>
                        <a:xfrm>
                          <a:off x="580" y="1935"/>
                          <a:ext cx="320" cy="406"/>
                        </a:xfrm>
                        <a:prstGeom prst="rect">
                          <a:avLst/>
                        </a:prstGeom>
                        <a:noFill/>
                        <a:ln w="38100">
                          <a:noFill/>
                        </a:ln>
                      </p:spPr>
                    </p:pic>
                  </p:oleObj>
                </mc:Fallback>
              </mc:AlternateContent>
            </a:graphicData>
          </a:graphic>
        </p:graphicFrame>
        <p:sp>
          <p:nvSpPr>
            <p:cNvPr id="99" name="Text Box 23"/>
            <p:cNvSpPr txBox="1">
              <a:spLocks noChangeArrowheads="1"/>
            </p:cNvSpPr>
            <p:nvPr/>
          </p:nvSpPr>
          <p:spPr bwMode="auto">
            <a:xfrm>
              <a:off x="1520" y="1979"/>
              <a:ext cx="34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-15    -24     -5       0       0</a:t>
              </a:r>
              <a:endParaRPr lang="en-US" altLang="zh-CN" sz="2800" b="1">
                <a:solidFill>
                  <a:srgbClr val="000000"/>
                </a:solidFill>
                <a:latin typeface="Times New Roman" panose="02020603050405020304" pitchFamily="18" charset="0"/>
              </a:endParaRPr>
            </a:p>
          </p:txBody>
        </p:sp>
      </p:grpSp>
      <p:grpSp>
        <p:nvGrpSpPr>
          <p:cNvPr id="100" name="Group 24"/>
          <p:cNvGrpSpPr/>
          <p:nvPr/>
        </p:nvGrpSpPr>
        <p:grpSpPr bwMode="auto">
          <a:xfrm>
            <a:off x="2959100" y="988962"/>
            <a:ext cx="5297488" cy="611188"/>
            <a:chOff x="1557" y="2251"/>
            <a:chExt cx="3337" cy="385"/>
          </a:xfrm>
        </p:grpSpPr>
        <p:graphicFrame>
          <p:nvGraphicFramePr>
            <p:cNvPr id="101" name="Object 18"/>
            <p:cNvGraphicFramePr/>
            <p:nvPr/>
          </p:nvGraphicFramePr>
          <p:xfrm>
            <a:off x="1557" y="2251"/>
            <a:ext cx="220" cy="363"/>
          </p:xfrm>
          <a:graphic>
            <a:graphicData uri="http://schemas.openxmlformats.org/presentationml/2006/ole">
              <mc:AlternateContent xmlns:mc="http://schemas.openxmlformats.org/markup-compatibility/2006">
                <mc:Choice xmlns:v="urn:schemas-microsoft-com:vml" Requires="v">
                  <p:oleObj spid="_x0000_s26632" name="" r:id="rId15" imgW="3962400" imgH="5181600" progId="Equation.3">
                    <p:embed/>
                  </p:oleObj>
                </mc:Choice>
                <mc:Fallback>
                  <p:oleObj name="" r:id="rId15" imgW="3962400" imgH="5181600" progId="Equation.3">
                    <p:embed/>
                    <p:pic>
                      <p:nvPicPr>
                        <p:cNvPr id="0" name="图片 26631"/>
                        <p:cNvPicPr/>
                        <p:nvPr/>
                      </p:nvPicPr>
                      <p:blipFill>
                        <a:blip r:embed="rId16"/>
                        <a:stretch>
                          <a:fillRect/>
                        </a:stretch>
                      </p:blipFill>
                      <p:spPr>
                        <a:xfrm>
                          <a:off x="1557" y="2251"/>
                          <a:ext cx="220" cy="363"/>
                        </a:xfrm>
                        <a:prstGeom prst="rect">
                          <a:avLst/>
                        </a:prstGeom>
                        <a:noFill/>
                        <a:ln w="38100">
                          <a:noFill/>
                        </a:ln>
                      </p:spPr>
                    </p:pic>
                  </p:oleObj>
                </mc:Fallback>
              </mc:AlternateContent>
            </a:graphicData>
          </a:graphic>
        </p:graphicFrame>
        <p:graphicFrame>
          <p:nvGraphicFramePr>
            <p:cNvPr id="102" name="Object 19"/>
            <p:cNvGraphicFramePr/>
            <p:nvPr/>
          </p:nvGraphicFramePr>
          <p:xfrm>
            <a:off x="2080" y="2251"/>
            <a:ext cx="237" cy="363"/>
          </p:xfrm>
          <a:graphic>
            <a:graphicData uri="http://schemas.openxmlformats.org/presentationml/2006/ole">
              <mc:AlternateContent xmlns:mc="http://schemas.openxmlformats.org/markup-compatibility/2006">
                <mc:Choice xmlns:v="urn:schemas-microsoft-com:vml" Requires="v">
                  <p:oleObj spid="_x0000_s26633" name="" r:id="rId17" imgW="4267200" imgH="5181600" progId="Equation.3">
                    <p:embed/>
                  </p:oleObj>
                </mc:Choice>
                <mc:Fallback>
                  <p:oleObj name="" r:id="rId17" imgW="4267200" imgH="5181600" progId="Equation.3">
                    <p:embed/>
                    <p:pic>
                      <p:nvPicPr>
                        <p:cNvPr id="0" name="图片 26632"/>
                        <p:cNvPicPr/>
                        <p:nvPr/>
                      </p:nvPicPr>
                      <p:blipFill>
                        <a:blip r:embed="rId18"/>
                        <a:stretch>
                          <a:fillRect/>
                        </a:stretch>
                      </p:blipFill>
                      <p:spPr>
                        <a:xfrm>
                          <a:off x="2080" y="2251"/>
                          <a:ext cx="237" cy="363"/>
                        </a:xfrm>
                        <a:prstGeom prst="rect">
                          <a:avLst/>
                        </a:prstGeom>
                        <a:noFill/>
                        <a:ln w="38100">
                          <a:noFill/>
                        </a:ln>
                      </p:spPr>
                    </p:pic>
                  </p:oleObj>
                </mc:Fallback>
              </mc:AlternateContent>
            </a:graphicData>
          </a:graphic>
        </p:graphicFrame>
        <p:graphicFrame>
          <p:nvGraphicFramePr>
            <p:cNvPr id="103" name="Object 20"/>
            <p:cNvGraphicFramePr/>
            <p:nvPr/>
          </p:nvGraphicFramePr>
          <p:xfrm>
            <a:off x="3702" y="2251"/>
            <a:ext cx="237" cy="385"/>
          </p:xfrm>
          <a:graphic>
            <a:graphicData uri="http://schemas.openxmlformats.org/presentationml/2006/ole">
              <mc:AlternateContent xmlns:mc="http://schemas.openxmlformats.org/markup-compatibility/2006">
                <mc:Choice xmlns:v="urn:schemas-microsoft-com:vml" Requires="v">
                  <p:oleObj spid="_x0000_s26634" name="" r:id="rId19" imgW="4267200" imgH="5486400" progId="Equation.3">
                    <p:embed/>
                  </p:oleObj>
                </mc:Choice>
                <mc:Fallback>
                  <p:oleObj name="" r:id="rId19" imgW="4267200" imgH="5486400" progId="Equation.3">
                    <p:embed/>
                    <p:pic>
                      <p:nvPicPr>
                        <p:cNvPr id="0" name="图片 26633"/>
                        <p:cNvPicPr/>
                        <p:nvPr/>
                      </p:nvPicPr>
                      <p:blipFill>
                        <a:blip r:embed="rId20"/>
                        <a:stretch>
                          <a:fillRect/>
                        </a:stretch>
                      </p:blipFill>
                      <p:spPr>
                        <a:xfrm>
                          <a:off x="3702" y="2251"/>
                          <a:ext cx="237" cy="385"/>
                        </a:xfrm>
                        <a:prstGeom prst="rect">
                          <a:avLst/>
                        </a:prstGeom>
                        <a:noFill/>
                        <a:ln w="38100">
                          <a:noFill/>
                        </a:ln>
                      </p:spPr>
                    </p:pic>
                  </p:oleObj>
                </mc:Fallback>
              </mc:AlternateContent>
            </a:graphicData>
          </a:graphic>
        </p:graphicFrame>
        <p:graphicFrame>
          <p:nvGraphicFramePr>
            <p:cNvPr id="104" name="Object 21"/>
            <p:cNvGraphicFramePr/>
            <p:nvPr/>
          </p:nvGraphicFramePr>
          <p:xfrm>
            <a:off x="3158" y="2251"/>
            <a:ext cx="238" cy="363"/>
          </p:xfrm>
          <a:graphic>
            <a:graphicData uri="http://schemas.openxmlformats.org/presentationml/2006/ole">
              <mc:AlternateContent xmlns:mc="http://schemas.openxmlformats.org/markup-compatibility/2006">
                <mc:Choice xmlns:v="urn:schemas-microsoft-com:vml" Requires="v">
                  <p:oleObj spid="_x0000_s26635" name="" r:id="rId21" imgW="4267200" imgH="5181600" progId="Equation.3">
                    <p:embed/>
                  </p:oleObj>
                </mc:Choice>
                <mc:Fallback>
                  <p:oleObj name="" r:id="rId21" imgW="4267200" imgH="5181600" progId="Equation.3">
                    <p:embed/>
                    <p:pic>
                      <p:nvPicPr>
                        <p:cNvPr id="0" name="图片 26634"/>
                        <p:cNvPicPr/>
                        <p:nvPr/>
                      </p:nvPicPr>
                      <p:blipFill>
                        <a:blip r:embed="rId22"/>
                        <a:stretch>
                          <a:fillRect/>
                        </a:stretch>
                      </p:blipFill>
                      <p:spPr>
                        <a:xfrm>
                          <a:off x="3158" y="2251"/>
                          <a:ext cx="238" cy="363"/>
                        </a:xfrm>
                        <a:prstGeom prst="rect">
                          <a:avLst/>
                        </a:prstGeom>
                        <a:noFill/>
                        <a:ln w="38100">
                          <a:noFill/>
                        </a:ln>
                      </p:spPr>
                    </p:pic>
                  </p:oleObj>
                </mc:Fallback>
              </mc:AlternateContent>
            </a:graphicData>
          </a:graphic>
        </p:graphicFrame>
        <p:graphicFrame>
          <p:nvGraphicFramePr>
            <p:cNvPr id="105" name="Object 22"/>
            <p:cNvGraphicFramePr/>
            <p:nvPr/>
          </p:nvGraphicFramePr>
          <p:xfrm>
            <a:off x="2599" y="2251"/>
            <a:ext cx="236" cy="385"/>
          </p:xfrm>
          <a:graphic>
            <a:graphicData uri="http://schemas.openxmlformats.org/presentationml/2006/ole">
              <mc:AlternateContent xmlns:mc="http://schemas.openxmlformats.org/markup-compatibility/2006">
                <mc:Choice xmlns:v="urn:schemas-microsoft-com:vml" Requires="v">
                  <p:oleObj spid="_x0000_s26636" name="" r:id="rId23" imgW="4267200" imgH="5486400" progId="Equation.3">
                    <p:embed/>
                  </p:oleObj>
                </mc:Choice>
                <mc:Fallback>
                  <p:oleObj name="" r:id="rId23" imgW="4267200" imgH="5486400" progId="Equation.3">
                    <p:embed/>
                    <p:pic>
                      <p:nvPicPr>
                        <p:cNvPr id="0" name="图片 26635"/>
                        <p:cNvPicPr/>
                        <p:nvPr/>
                      </p:nvPicPr>
                      <p:blipFill>
                        <a:blip r:embed="rId24"/>
                        <a:stretch>
                          <a:fillRect/>
                        </a:stretch>
                      </p:blipFill>
                      <p:spPr>
                        <a:xfrm>
                          <a:off x="2599" y="2251"/>
                          <a:ext cx="236" cy="385"/>
                        </a:xfrm>
                        <a:prstGeom prst="rect">
                          <a:avLst/>
                        </a:prstGeom>
                        <a:noFill/>
                        <a:ln w="38100">
                          <a:noFill/>
                        </a:ln>
                      </p:spPr>
                    </p:pic>
                  </p:oleObj>
                </mc:Fallback>
              </mc:AlternateContent>
            </a:graphicData>
          </a:graphic>
        </p:graphicFrame>
        <p:graphicFrame>
          <p:nvGraphicFramePr>
            <p:cNvPr id="106" name="Object 23"/>
            <p:cNvGraphicFramePr/>
            <p:nvPr/>
          </p:nvGraphicFramePr>
          <p:xfrm>
            <a:off x="4243" y="2261"/>
            <a:ext cx="152" cy="364"/>
          </p:xfrm>
          <a:graphic>
            <a:graphicData uri="http://schemas.openxmlformats.org/presentationml/2006/ole">
              <mc:AlternateContent xmlns:mc="http://schemas.openxmlformats.org/markup-compatibility/2006">
                <mc:Choice xmlns:v="urn:schemas-microsoft-com:vml" Requires="v">
                  <p:oleObj spid="_x0000_s26637" name="" r:id="rId25" imgW="2743200" imgH="5181600" progId="Equation.3">
                    <p:embed/>
                  </p:oleObj>
                </mc:Choice>
                <mc:Fallback>
                  <p:oleObj name="" r:id="rId25" imgW="2743200" imgH="5181600" progId="Equation.3">
                    <p:embed/>
                    <p:pic>
                      <p:nvPicPr>
                        <p:cNvPr id="0" name="图片 26636"/>
                        <p:cNvPicPr/>
                        <p:nvPr/>
                      </p:nvPicPr>
                      <p:blipFill>
                        <a:blip r:embed="rId26"/>
                        <a:stretch>
                          <a:fillRect/>
                        </a:stretch>
                      </p:blipFill>
                      <p:spPr>
                        <a:xfrm>
                          <a:off x="4243" y="2261"/>
                          <a:ext cx="152" cy="364"/>
                        </a:xfrm>
                        <a:prstGeom prst="rect">
                          <a:avLst/>
                        </a:prstGeom>
                        <a:noFill/>
                        <a:ln w="38100">
                          <a:noFill/>
                        </a:ln>
                      </p:spPr>
                    </p:pic>
                  </p:oleObj>
                </mc:Fallback>
              </mc:AlternateContent>
            </a:graphicData>
          </a:graphic>
        </p:graphicFrame>
        <p:graphicFrame>
          <p:nvGraphicFramePr>
            <p:cNvPr id="107" name="Object 24"/>
            <p:cNvGraphicFramePr/>
            <p:nvPr/>
          </p:nvGraphicFramePr>
          <p:xfrm>
            <a:off x="4741" y="2261"/>
            <a:ext cx="153" cy="364"/>
          </p:xfrm>
          <a:graphic>
            <a:graphicData uri="http://schemas.openxmlformats.org/presentationml/2006/ole">
              <mc:AlternateContent xmlns:mc="http://schemas.openxmlformats.org/markup-compatibility/2006">
                <mc:Choice xmlns:v="urn:schemas-microsoft-com:vml" Requires="v">
                  <p:oleObj spid="_x0000_s26638" name="" r:id="rId27" imgW="2743200" imgH="5181600" progId="Equation.3">
                    <p:embed/>
                  </p:oleObj>
                </mc:Choice>
                <mc:Fallback>
                  <p:oleObj name="" r:id="rId27" imgW="2743200" imgH="5181600" progId="Equation.3">
                    <p:embed/>
                    <p:pic>
                      <p:nvPicPr>
                        <p:cNvPr id="0" name="图片 26637"/>
                        <p:cNvPicPr/>
                        <p:nvPr/>
                      </p:nvPicPr>
                      <p:blipFill>
                        <a:blip r:embed="rId26"/>
                        <a:stretch>
                          <a:fillRect/>
                        </a:stretch>
                      </p:blipFill>
                      <p:spPr>
                        <a:xfrm>
                          <a:off x="4741" y="2261"/>
                          <a:ext cx="153" cy="364"/>
                        </a:xfrm>
                        <a:prstGeom prst="rect">
                          <a:avLst/>
                        </a:prstGeom>
                        <a:noFill/>
                        <a:ln w="38100">
                          <a:noFill/>
                        </a:ln>
                      </p:spPr>
                    </p:pic>
                  </p:oleObj>
                </mc:Fallback>
              </mc:AlternateContent>
            </a:graphicData>
          </a:graphic>
        </p:graphicFrame>
      </p:grpSp>
      <p:sp>
        <p:nvSpPr>
          <p:cNvPr id="108" name="Text Box 33"/>
          <p:cNvSpPr txBox="1">
            <a:spLocks noChangeArrowheads="1"/>
          </p:cNvSpPr>
          <p:nvPr/>
        </p:nvSpPr>
        <p:spPr bwMode="auto">
          <a:xfrm>
            <a:off x="2916238" y="1836687"/>
            <a:ext cx="6477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-5</a:t>
            </a:r>
            <a:endParaRPr lang="en-US" altLang="zh-CN" sz="2800" b="1">
              <a:solidFill>
                <a:srgbClr val="000000"/>
              </a:solidFill>
              <a:latin typeface="Times New Roman" panose="02020603050405020304" pitchFamily="18" charset="0"/>
            </a:endParaRPr>
          </a:p>
        </p:txBody>
      </p:sp>
      <p:sp>
        <p:nvSpPr>
          <p:cNvPr id="109" name="Text Box 34"/>
          <p:cNvSpPr txBox="1">
            <a:spLocks noChangeArrowheads="1"/>
          </p:cNvSpPr>
          <p:nvPr/>
        </p:nvSpPr>
        <p:spPr bwMode="auto">
          <a:xfrm>
            <a:off x="3781425" y="1808112"/>
            <a:ext cx="719138"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-6</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-2</a:t>
            </a:r>
            <a:endParaRPr lang="en-US" altLang="zh-CN" sz="2800" b="1">
              <a:solidFill>
                <a:srgbClr val="000000"/>
              </a:solidFill>
              <a:latin typeface="Times New Roman" panose="02020603050405020304" pitchFamily="18" charset="0"/>
            </a:endParaRPr>
          </a:p>
        </p:txBody>
      </p:sp>
      <p:sp>
        <p:nvSpPr>
          <p:cNvPr id="110" name="Text Box 35"/>
          <p:cNvSpPr txBox="1">
            <a:spLocks noChangeArrowheads="1"/>
          </p:cNvSpPr>
          <p:nvPr/>
        </p:nvSpPr>
        <p:spPr bwMode="auto">
          <a:xfrm>
            <a:off x="4645025" y="1823987"/>
            <a:ext cx="719138"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p:txBody>
      </p:sp>
      <p:sp>
        <p:nvSpPr>
          <p:cNvPr id="111" name="Text Box 36"/>
          <p:cNvSpPr txBox="1">
            <a:spLocks noChangeArrowheads="1"/>
          </p:cNvSpPr>
          <p:nvPr/>
        </p:nvSpPr>
        <p:spPr bwMode="auto">
          <a:xfrm>
            <a:off x="5508625" y="1852562"/>
            <a:ext cx="4318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sp>
        <p:nvSpPr>
          <p:cNvPr id="112" name="Text Box 37"/>
          <p:cNvSpPr txBox="1">
            <a:spLocks noChangeArrowheads="1"/>
          </p:cNvSpPr>
          <p:nvPr/>
        </p:nvSpPr>
        <p:spPr bwMode="auto">
          <a:xfrm>
            <a:off x="6372225" y="1839862"/>
            <a:ext cx="649288"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p:txBody>
      </p:sp>
      <p:sp>
        <p:nvSpPr>
          <p:cNvPr id="113" name="Text Box 38"/>
          <p:cNvSpPr txBox="1">
            <a:spLocks noChangeArrowheads="1"/>
          </p:cNvSpPr>
          <p:nvPr/>
        </p:nvSpPr>
        <p:spPr bwMode="auto">
          <a:xfrm>
            <a:off x="2052638" y="1779537"/>
            <a:ext cx="792162"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-2</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-1</a:t>
            </a:r>
            <a:endParaRPr lang="en-US" altLang="zh-CN" sz="2800" b="1">
              <a:solidFill>
                <a:srgbClr val="000000"/>
              </a:solidFill>
              <a:latin typeface="Times New Roman" panose="02020603050405020304" pitchFamily="18" charset="0"/>
            </a:endParaRPr>
          </a:p>
        </p:txBody>
      </p:sp>
      <p:sp>
        <p:nvSpPr>
          <p:cNvPr id="114" name="Line 42"/>
          <p:cNvSpPr>
            <a:spLocks noChangeShapeType="1"/>
          </p:cNvSpPr>
          <p:nvPr/>
        </p:nvSpPr>
        <p:spPr bwMode="auto">
          <a:xfrm>
            <a:off x="755650" y="3219400"/>
            <a:ext cx="6842125" cy="158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115" name="Text Box 50"/>
          <p:cNvSpPr txBox="1">
            <a:spLocks noChangeArrowheads="1"/>
          </p:cNvSpPr>
          <p:nvPr/>
        </p:nvSpPr>
        <p:spPr bwMode="auto">
          <a:xfrm>
            <a:off x="684213" y="3363862"/>
            <a:ext cx="720725"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-24</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0</a:t>
            </a:r>
            <a:endParaRPr lang="en-US" altLang="zh-CN" sz="2800" b="1">
              <a:solidFill>
                <a:srgbClr val="000000"/>
              </a:solidFill>
              <a:latin typeface="Times New Roman" panose="02020603050405020304" pitchFamily="18" charset="0"/>
            </a:endParaRPr>
          </a:p>
        </p:txBody>
      </p:sp>
      <p:graphicFrame>
        <p:nvGraphicFramePr>
          <p:cNvPr id="116" name="Object 6"/>
          <p:cNvGraphicFramePr/>
          <p:nvPr/>
        </p:nvGraphicFramePr>
        <p:xfrm>
          <a:off x="1692275" y="4156025"/>
          <a:ext cx="508000" cy="644525"/>
        </p:xfrm>
        <a:graphic>
          <a:graphicData uri="http://schemas.openxmlformats.org/presentationml/2006/ole">
            <mc:AlternateContent xmlns:mc="http://schemas.openxmlformats.org/markup-compatibility/2006">
              <mc:Choice xmlns:v="urn:schemas-microsoft-com:vml" Requires="v">
                <p:oleObj spid="_x0000_s26639" name="" r:id="rId28" imgW="4572000" imgH="5791200" progId="Equation.3">
                  <p:embed/>
                </p:oleObj>
              </mc:Choice>
              <mc:Fallback>
                <p:oleObj name="" r:id="rId28" imgW="4572000" imgH="5791200" progId="Equation.3">
                  <p:embed/>
                  <p:pic>
                    <p:nvPicPr>
                      <p:cNvPr id="0" name="图片 26638"/>
                      <p:cNvPicPr/>
                      <p:nvPr/>
                    </p:nvPicPr>
                    <p:blipFill>
                      <a:blip r:embed="rId6"/>
                      <a:stretch>
                        <a:fillRect/>
                      </a:stretch>
                    </p:blipFill>
                    <p:spPr>
                      <a:xfrm>
                        <a:off x="1692275" y="4156025"/>
                        <a:ext cx="508000" cy="644525"/>
                      </a:xfrm>
                      <a:prstGeom prst="rect">
                        <a:avLst/>
                      </a:prstGeom>
                      <a:noFill/>
                      <a:ln w="38100">
                        <a:noFill/>
                      </a:ln>
                    </p:spPr>
                  </p:pic>
                </p:oleObj>
              </mc:Fallback>
            </mc:AlternateContent>
          </a:graphicData>
        </a:graphic>
      </p:graphicFrame>
      <p:sp>
        <p:nvSpPr>
          <p:cNvPr id="117" name="Text Box 87"/>
          <p:cNvSpPr txBox="1">
            <a:spLocks noChangeArrowheads="1"/>
          </p:cNvSpPr>
          <p:nvPr/>
        </p:nvSpPr>
        <p:spPr bwMode="auto">
          <a:xfrm>
            <a:off x="2989263" y="4156025"/>
            <a:ext cx="4679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-15     0      -1       -4      0</a:t>
            </a:r>
            <a:endParaRPr lang="en-US" altLang="zh-CN" sz="2800" b="1">
              <a:solidFill>
                <a:srgbClr val="000000"/>
              </a:solidFill>
              <a:latin typeface="Times New Roman" panose="02020603050405020304" pitchFamily="18" charset="0"/>
            </a:endParaRPr>
          </a:p>
        </p:txBody>
      </p:sp>
      <p:sp>
        <p:nvSpPr>
          <p:cNvPr id="118" name="Line 88"/>
          <p:cNvSpPr>
            <a:spLocks noChangeShapeType="1"/>
          </p:cNvSpPr>
          <p:nvPr/>
        </p:nvSpPr>
        <p:spPr bwMode="auto">
          <a:xfrm>
            <a:off x="828675" y="4156025"/>
            <a:ext cx="6842125" cy="158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grpSp>
        <p:nvGrpSpPr>
          <p:cNvPr id="119" name="Group 115"/>
          <p:cNvGrpSpPr/>
          <p:nvPr/>
        </p:nvGrpSpPr>
        <p:grpSpPr bwMode="auto">
          <a:xfrm>
            <a:off x="2197100" y="3306712"/>
            <a:ext cx="4824413" cy="806450"/>
            <a:chOff x="1066" y="1761"/>
            <a:chExt cx="3039" cy="508"/>
          </a:xfrm>
        </p:grpSpPr>
        <p:sp>
          <p:nvSpPr>
            <p:cNvPr id="120" name="Text Box 89"/>
            <p:cNvSpPr txBox="1">
              <a:spLocks noChangeArrowheads="1"/>
            </p:cNvSpPr>
            <p:nvPr/>
          </p:nvSpPr>
          <p:spPr bwMode="auto">
            <a:xfrm>
              <a:off x="1565" y="1761"/>
              <a:ext cx="408"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-5</a:t>
              </a:r>
              <a:endParaRPr lang="en-US" altLang="zh-CN" sz="2800" b="1">
                <a:solidFill>
                  <a:srgbClr val="000000"/>
                </a:solidFill>
                <a:latin typeface="Times New Roman" panose="02020603050405020304" pitchFamily="18" charset="0"/>
              </a:endParaRPr>
            </a:p>
          </p:txBody>
        </p:sp>
        <p:sp>
          <p:nvSpPr>
            <p:cNvPr id="121" name="Text Box 90"/>
            <p:cNvSpPr txBox="1">
              <a:spLocks noChangeArrowheads="1"/>
            </p:cNvSpPr>
            <p:nvPr/>
          </p:nvSpPr>
          <p:spPr bwMode="auto">
            <a:xfrm>
              <a:off x="2154" y="1778"/>
              <a:ext cx="317"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sp>
          <p:nvSpPr>
            <p:cNvPr id="122" name="Text Box 91"/>
            <p:cNvSpPr txBox="1">
              <a:spLocks noChangeArrowheads="1"/>
            </p:cNvSpPr>
            <p:nvPr/>
          </p:nvSpPr>
          <p:spPr bwMode="auto">
            <a:xfrm>
              <a:off x="2517" y="1805"/>
              <a:ext cx="635"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1/6</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-2/3</a:t>
              </a:r>
              <a:endParaRPr lang="en-US" altLang="zh-CN" sz="2800" b="1">
                <a:solidFill>
                  <a:srgbClr val="000000"/>
                </a:solidFill>
                <a:latin typeface="Times New Roman" panose="02020603050405020304" pitchFamily="18" charset="0"/>
              </a:endParaRPr>
            </a:p>
          </p:txBody>
        </p:sp>
        <p:sp>
          <p:nvSpPr>
            <p:cNvPr id="123" name="Text Box 92"/>
            <p:cNvSpPr txBox="1">
              <a:spLocks noChangeArrowheads="1"/>
            </p:cNvSpPr>
            <p:nvPr/>
          </p:nvSpPr>
          <p:spPr bwMode="auto">
            <a:xfrm>
              <a:off x="3061" y="1805"/>
              <a:ext cx="544"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-1/6</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-1/3</a:t>
              </a:r>
              <a:endParaRPr lang="en-US" altLang="zh-CN" sz="2800" b="1">
                <a:solidFill>
                  <a:srgbClr val="000000"/>
                </a:solidFill>
                <a:latin typeface="Times New Roman" panose="02020603050405020304" pitchFamily="18" charset="0"/>
              </a:endParaRPr>
            </a:p>
          </p:txBody>
        </p:sp>
        <p:sp>
          <p:nvSpPr>
            <p:cNvPr id="124" name="Text Box 93"/>
            <p:cNvSpPr txBox="1">
              <a:spLocks noChangeArrowheads="1"/>
            </p:cNvSpPr>
            <p:nvPr/>
          </p:nvSpPr>
          <p:spPr bwMode="auto">
            <a:xfrm>
              <a:off x="3696" y="1797"/>
              <a:ext cx="409"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p:txBody>
        </p:sp>
        <p:sp>
          <p:nvSpPr>
            <p:cNvPr id="125" name="Text Box 94"/>
            <p:cNvSpPr txBox="1">
              <a:spLocks noChangeArrowheads="1"/>
            </p:cNvSpPr>
            <p:nvPr/>
          </p:nvSpPr>
          <p:spPr bwMode="auto">
            <a:xfrm>
              <a:off x="1066" y="1806"/>
              <a:ext cx="499"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1/3</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-1/3</a:t>
              </a:r>
              <a:endParaRPr lang="en-US" altLang="zh-CN" sz="2800" b="1">
                <a:solidFill>
                  <a:srgbClr val="000000"/>
                </a:solidFill>
                <a:latin typeface="Times New Roman" panose="02020603050405020304" pitchFamily="18" charset="0"/>
              </a:endParaRPr>
            </a:p>
          </p:txBody>
        </p:sp>
      </p:grpSp>
      <p:graphicFrame>
        <p:nvGraphicFramePr>
          <p:cNvPr id="126" name="Object 7"/>
          <p:cNvGraphicFramePr/>
          <p:nvPr/>
        </p:nvGraphicFramePr>
        <p:xfrm>
          <a:off x="4500563" y="3621037"/>
          <a:ext cx="719137" cy="557213"/>
        </p:xfrm>
        <a:graphic>
          <a:graphicData uri="http://schemas.openxmlformats.org/presentationml/2006/ole">
            <mc:AlternateContent xmlns:mc="http://schemas.openxmlformats.org/markup-compatibility/2006">
              <mc:Choice xmlns:v="urn:schemas-microsoft-com:vml" Requires="v">
                <p:oleObj spid="_x0000_s26640" name="" r:id="rId29" imgW="6705600" imgH="5181600" progId="Equation.3">
                  <p:embed/>
                </p:oleObj>
              </mc:Choice>
              <mc:Fallback>
                <p:oleObj name="" r:id="rId29" imgW="6705600" imgH="5181600" progId="Equation.3">
                  <p:embed/>
                  <p:pic>
                    <p:nvPicPr>
                      <p:cNvPr id="0" name="图片 26639"/>
                      <p:cNvPicPr/>
                      <p:nvPr/>
                    </p:nvPicPr>
                    <p:blipFill>
                      <a:blip r:embed="rId8"/>
                      <a:stretch>
                        <a:fillRect/>
                      </a:stretch>
                    </p:blipFill>
                    <p:spPr>
                      <a:xfrm>
                        <a:off x="4500563" y="3621037"/>
                        <a:ext cx="719137" cy="557213"/>
                      </a:xfrm>
                      <a:prstGeom prst="rect">
                        <a:avLst/>
                      </a:prstGeom>
                      <a:noFill/>
                      <a:ln w="38100">
                        <a:noFill/>
                      </a:ln>
                    </p:spPr>
                  </p:pic>
                </p:oleObj>
              </mc:Fallback>
            </mc:AlternateContent>
          </a:graphicData>
        </a:graphic>
      </p:graphicFrame>
      <p:grpSp>
        <p:nvGrpSpPr>
          <p:cNvPr id="127" name="Group 114"/>
          <p:cNvGrpSpPr/>
          <p:nvPr/>
        </p:nvGrpSpPr>
        <p:grpSpPr bwMode="auto">
          <a:xfrm>
            <a:off x="1547813" y="3219400"/>
            <a:ext cx="474662" cy="969962"/>
            <a:chOff x="657" y="1706"/>
            <a:chExt cx="299" cy="611"/>
          </a:xfrm>
        </p:grpSpPr>
        <p:graphicFrame>
          <p:nvGraphicFramePr>
            <p:cNvPr id="128" name="Object 16"/>
            <p:cNvGraphicFramePr/>
            <p:nvPr/>
          </p:nvGraphicFramePr>
          <p:xfrm>
            <a:off x="657" y="1933"/>
            <a:ext cx="299" cy="384"/>
          </p:xfrm>
          <a:graphic>
            <a:graphicData uri="http://schemas.openxmlformats.org/presentationml/2006/ole">
              <mc:AlternateContent xmlns:mc="http://schemas.openxmlformats.org/markup-compatibility/2006">
                <mc:Choice xmlns:v="urn:schemas-microsoft-com:vml" Requires="v">
                  <p:oleObj spid="_x0000_s26641" name="" r:id="rId30" imgW="4267200" imgH="5486400" progId="Equation.3">
                    <p:embed/>
                  </p:oleObj>
                </mc:Choice>
                <mc:Fallback>
                  <p:oleObj name="" r:id="rId30" imgW="4267200" imgH="5486400" progId="Equation.3">
                    <p:embed/>
                    <p:pic>
                      <p:nvPicPr>
                        <p:cNvPr id="0" name="图片 26640"/>
                        <p:cNvPicPr/>
                        <p:nvPr/>
                      </p:nvPicPr>
                      <p:blipFill>
                        <a:blip r:embed="rId31"/>
                        <a:stretch>
                          <a:fillRect/>
                        </a:stretch>
                      </p:blipFill>
                      <p:spPr>
                        <a:xfrm>
                          <a:off x="657" y="1933"/>
                          <a:ext cx="299" cy="384"/>
                        </a:xfrm>
                        <a:prstGeom prst="rect">
                          <a:avLst/>
                        </a:prstGeom>
                        <a:noFill/>
                        <a:ln w="38100">
                          <a:noFill/>
                        </a:ln>
                      </p:spPr>
                    </p:pic>
                  </p:oleObj>
                </mc:Fallback>
              </mc:AlternateContent>
            </a:graphicData>
          </a:graphic>
        </p:graphicFrame>
        <p:graphicFrame>
          <p:nvGraphicFramePr>
            <p:cNvPr id="129" name="Object 17"/>
            <p:cNvGraphicFramePr/>
            <p:nvPr/>
          </p:nvGraphicFramePr>
          <p:xfrm>
            <a:off x="657" y="1706"/>
            <a:ext cx="299" cy="363"/>
          </p:xfrm>
          <a:graphic>
            <a:graphicData uri="http://schemas.openxmlformats.org/presentationml/2006/ole">
              <mc:AlternateContent xmlns:mc="http://schemas.openxmlformats.org/markup-compatibility/2006">
                <mc:Choice xmlns:v="urn:schemas-microsoft-com:vml" Requires="v">
                  <p:oleObj spid="_x0000_s26642" name="" r:id="rId32" imgW="4267200" imgH="5181600" progId="Equation.3">
                    <p:embed/>
                  </p:oleObj>
                </mc:Choice>
                <mc:Fallback>
                  <p:oleObj name="" r:id="rId32" imgW="4267200" imgH="5181600" progId="Equation.3">
                    <p:embed/>
                    <p:pic>
                      <p:nvPicPr>
                        <p:cNvPr id="0" name="图片 26641"/>
                        <p:cNvPicPr/>
                        <p:nvPr/>
                      </p:nvPicPr>
                      <p:blipFill>
                        <a:blip r:embed="rId33"/>
                        <a:stretch>
                          <a:fillRect/>
                        </a:stretch>
                      </p:blipFill>
                      <p:spPr>
                        <a:xfrm>
                          <a:off x="657" y="1706"/>
                          <a:ext cx="299" cy="363"/>
                        </a:xfrm>
                        <a:prstGeom prst="rect">
                          <a:avLst/>
                        </a:prstGeom>
                        <a:noFill/>
                        <a:ln w="38100">
                          <a:noFill/>
                        </a:ln>
                      </p:spPr>
                    </p:pic>
                  </p:oleObj>
                </mc:Fallback>
              </mc:AlternateContent>
            </a:graphicData>
          </a:graphic>
        </p:graphicFrame>
      </p:grpSp>
      <p:sp>
        <p:nvSpPr>
          <p:cNvPr id="130" name="Rectangle 98"/>
          <p:cNvSpPr>
            <a:spLocks noChangeArrowheads="1"/>
          </p:cNvSpPr>
          <p:nvPr/>
        </p:nvSpPr>
        <p:spPr bwMode="auto">
          <a:xfrm>
            <a:off x="2268538" y="3652787"/>
            <a:ext cx="576262" cy="503238"/>
          </a:xfrm>
          <a:prstGeom prst="rect">
            <a:avLst/>
          </a:prstGeom>
          <a:noFill/>
          <a:ln w="63500">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ndParaRPr>
          </a:p>
        </p:txBody>
      </p:sp>
      <p:sp>
        <p:nvSpPr>
          <p:cNvPr id="131" name="Line 99"/>
          <p:cNvSpPr>
            <a:spLocks noChangeShapeType="1"/>
          </p:cNvSpPr>
          <p:nvPr/>
        </p:nvSpPr>
        <p:spPr bwMode="auto">
          <a:xfrm>
            <a:off x="828675" y="4803725"/>
            <a:ext cx="6842125" cy="158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132" name="Text Box 100"/>
          <p:cNvSpPr txBox="1">
            <a:spLocks noChangeArrowheads="1"/>
          </p:cNvSpPr>
          <p:nvPr/>
        </p:nvSpPr>
        <p:spPr bwMode="auto">
          <a:xfrm>
            <a:off x="755650" y="5019625"/>
            <a:ext cx="720725"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-24</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-5</a:t>
            </a:r>
            <a:endParaRPr lang="en-US" altLang="zh-CN" sz="2800" b="1">
              <a:solidFill>
                <a:srgbClr val="000000"/>
              </a:solidFill>
              <a:latin typeface="Times New Roman" panose="02020603050405020304" pitchFamily="18" charset="0"/>
            </a:endParaRPr>
          </a:p>
        </p:txBody>
      </p:sp>
      <p:graphicFrame>
        <p:nvGraphicFramePr>
          <p:cNvPr id="133" name="Object 8"/>
          <p:cNvGraphicFramePr/>
          <p:nvPr/>
        </p:nvGraphicFramePr>
        <p:xfrm>
          <a:off x="1908175" y="5811787"/>
          <a:ext cx="508000" cy="644525"/>
        </p:xfrm>
        <a:graphic>
          <a:graphicData uri="http://schemas.openxmlformats.org/presentationml/2006/ole">
            <mc:AlternateContent xmlns:mc="http://schemas.openxmlformats.org/markup-compatibility/2006">
              <mc:Choice xmlns:v="urn:schemas-microsoft-com:vml" Requires="v">
                <p:oleObj spid="_x0000_s26643" name="" r:id="rId34" imgW="4572000" imgH="5791200" progId="Equation.3">
                  <p:embed/>
                </p:oleObj>
              </mc:Choice>
              <mc:Fallback>
                <p:oleObj name="" r:id="rId34" imgW="4572000" imgH="5791200" progId="Equation.3">
                  <p:embed/>
                  <p:pic>
                    <p:nvPicPr>
                      <p:cNvPr id="0" name="图片 26642"/>
                      <p:cNvPicPr/>
                      <p:nvPr/>
                    </p:nvPicPr>
                    <p:blipFill>
                      <a:blip r:embed="rId6"/>
                      <a:stretch>
                        <a:fillRect/>
                      </a:stretch>
                    </p:blipFill>
                    <p:spPr>
                      <a:xfrm>
                        <a:off x="1908175" y="5811787"/>
                        <a:ext cx="508000" cy="644525"/>
                      </a:xfrm>
                      <a:prstGeom prst="rect">
                        <a:avLst/>
                      </a:prstGeom>
                      <a:noFill/>
                      <a:ln w="38100">
                        <a:noFill/>
                      </a:ln>
                    </p:spPr>
                  </p:pic>
                </p:oleObj>
              </mc:Fallback>
            </mc:AlternateContent>
          </a:graphicData>
        </a:graphic>
      </p:graphicFrame>
      <p:sp>
        <p:nvSpPr>
          <p:cNvPr id="134" name="Text Box 103"/>
          <p:cNvSpPr txBox="1">
            <a:spLocks noChangeArrowheads="1"/>
          </p:cNvSpPr>
          <p:nvPr/>
        </p:nvSpPr>
        <p:spPr bwMode="auto">
          <a:xfrm>
            <a:off x="2844800" y="5811787"/>
            <a:ext cx="4679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-15/2   0      0      -7/2    -3/2</a:t>
            </a:r>
            <a:endParaRPr lang="en-US" altLang="zh-CN" sz="2800" b="1">
              <a:solidFill>
                <a:srgbClr val="000000"/>
              </a:solidFill>
              <a:latin typeface="Times New Roman" panose="02020603050405020304" pitchFamily="18" charset="0"/>
            </a:endParaRPr>
          </a:p>
        </p:txBody>
      </p:sp>
      <p:sp>
        <p:nvSpPr>
          <p:cNvPr id="135" name="Line 104"/>
          <p:cNvSpPr>
            <a:spLocks noChangeShapeType="1"/>
          </p:cNvSpPr>
          <p:nvPr/>
        </p:nvSpPr>
        <p:spPr bwMode="auto">
          <a:xfrm>
            <a:off x="828675" y="5740350"/>
            <a:ext cx="6842125" cy="1587"/>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grpSp>
        <p:nvGrpSpPr>
          <p:cNvPr id="136" name="Group 117"/>
          <p:cNvGrpSpPr/>
          <p:nvPr/>
        </p:nvGrpSpPr>
        <p:grpSpPr bwMode="auto">
          <a:xfrm>
            <a:off x="2124075" y="4948187"/>
            <a:ext cx="5040313" cy="820738"/>
            <a:chOff x="1066" y="2786"/>
            <a:chExt cx="3175" cy="517"/>
          </a:xfrm>
        </p:grpSpPr>
        <p:sp>
          <p:nvSpPr>
            <p:cNvPr id="137" name="Text Box 105"/>
            <p:cNvSpPr txBox="1">
              <a:spLocks noChangeArrowheads="1"/>
            </p:cNvSpPr>
            <p:nvPr/>
          </p:nvSpPr>
          <p:spPr bwMode="auto">
            <a:xfrm>
              <a:off x="1565" y="2786"/>
              <a:ext cx="635"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-5/4</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15/2</a:t>
              </a:r>
              <a:endParaRPr lang="en-US" altLang="zh-CN" sz="2800" b="1">
                <a:solidFill>
                  <a:srgbClr val="000000"/>
                </a:solidFill>
                <a:latin typeface="Times New Roman" panose="02020603050405020304" pitchFamily="18" charset="0"/>
              </a:endParaRPr>
            </a:p>
          </p:txBody>
        </p:sp>
        <p:sp>
          <p:nvSpPr>
            <p:cNvPr id="138" name="Text Box 106"/>
            <p:cNvSpPr txBox="1">
              <a:spLocks noChangeArrowheads="1"/>
            </p:cNvSpPr>
            <p:nvPr/>
          </p:nvSpPr>
          <p:spPr bwMode="auto">
            <a:xfrm>
              <a:off x="2200" y="2803"/>
              <a:ext cx="317"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sp>
          <p:nvSpPr>
            <p:cNvPr id="139" name="Text Box 107"/>
            <p:cNvSpPr txBox="1">
              <a:spLocks noChangeArrowheads="1"/>
            </p:cNvSpPr>
            <p:nvPr/>
          </p:nvSpPr>
          <p:spPr bwMode="auto">
            <a:xfrm>
              <a:off x="2653" y="2803"/>
              <a:ext cx="363"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p:txBody>
        </p:sp>
        <p:sp>
          <p:nvSpPr>
            <p:cNvPr id="140" name="Text Box 108"/>
            <p:cNvSpPr txBox="1">
              <a:spLocks noChangeArrowheads="1"/>
            </p:cNvSpPr>
            <p:nvPr/>
          </p:nvSpPr>
          <p:spPr bwMode="auto">
            <a:xfrm>
              <a:off x="3061" y="2803"/>
              <a:ext cx="544"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-1/4</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1/2</a:t>
              </a:r>
              <a:endParaRPr lang="en-US" altLang="zh-CN" sz="2800" b="1">
                <a:solidFill>
                  <a:srgbClr val="000000"/>
                </a:solidFill>
                <a:latin typeface="Times New Roman" panose="02020603050405020304" pitchFamily="18" charset="0"/>
              </a:endParaRPr>
            </a:p>
          </p:txBody>
        </p:sp>
        <p:sp>
          <p:nvSpPr>
            <p:cNvPr id="141" name="Text Box 109"/>
            <p:cNvSpPr txBox="1">
              <a:spLocks noChangeArrowheads="1"/>
            </p:cNvSpPr>
            <p:nvPr/>
          </p:nvSpPr>
          <p:spPr bwMode="auto">
            <a:xfrm>
              <a:off x="3651" y="2840"/>
              <a:ext cx="590"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1/4</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-3/2</a:t>
              </a:r>
              <a:endParaRPr lang="en-US" altLang="zh-CN" sz="2800" b="1">
                <a:solidFill>
                  <a:srgbClr val="000000"/>
                </a:solidFill>
                <a:latin typeface="Times New Roman" panose="02020603050405020304" pitchFamily="18" charset="0"/>
              </a:endParaRPr>
            </a:p>
          </p:txBody>
        </p:sp>
        <p:sp>
          <p:nvSpPr>
            <p:cNvPr id="142" name="Text Box 110"/>
            <p:cNvSpPr txBox="1">
              <a:spLocks noChangeArrowheads="1"/>
            </p:cNvSpPr>
            <p:nvPr/>
          </p:nvSpPr>
          <p:spPr bwMode="auto">
            <a:xfrm>
              <a:off x="1066" y="2786"/>
              <a:ext cx="499" cy="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1/4</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1/2</a:t>
              </a:r>
              <a:endParaRPr lang="en-US" altLang="zh-CN" sz="2800" b="1">
                <a:solidFill>
                  <a:srgbClr val="000000"/>
                </a:solidFill>
                <a:latin typeface="Times New Roman" panose="02020603050405020304" pitchFamily="18" charset="0"/>
              </a:endParaRPr>
            </a:p>
          </p:txBody>
        </p:sp>
      </p:grpSp>
      <p:grpSp>
        <p:nvGrpSpPr>
          <p:cNvPr id="143" name="Group 116"/>
          <p:cNvGrpSpPr/>
          <p:nvPr/>
        </p:nvGrpSpPr>
        <p:grpSpPr bwMode="auto">
          <a:xfrm>
            <a:off x="1620838" y="4732287"/>
            <a:ext cx="474662" cy="1041400"/>
            <a:chOff x="703" y="2659"/>
            <a:chExt cx="299" cy="656"/>
          </a:xfrm>
        </p:grpSpPr>
        <p:graphicFrame>
          <p:nvGraphicFramePr>
            <p:cNvPr id="144" name="Object 14"/>
            <p:cNvGraphicFramePr/>
            <p:nvPr/>
          </p:nvGraphicFramePr>
          <p:xfrm>
            <a:off x="703" y="2931"/>
            <a:ext cx="299" cy="384"/>
          </p:xfrm>
          <a:graphic>
            <a:graphicData uri="http://schemas.openxmlformats.org/presentationml/2006/ole">
              <mc:AlternateContent xmlns:mc="http://schemas.openxmlformats.org/markup-compatibility/2006">
                <mc:Choice xmlns:v="urn:schemas-microsoft-com:vml" Requires="v">
                  <p:oleObj spid="_x0000_s26644" name="" r:id="rId35" imgW="4267200" imgH="5486400" progId="Equation.3">
                    <p:embed/>
                  </p:oleObj>
                </mc:Choice>
                <mc:Fallback>
                  <p:oleObj name="" r:id="rId35" imgW="4267200" imgH="5486400" progId="Equation.3">
                    <p:embed/>
                    <p:pic>
                      <p:nvPicPr>
                        <p:cNvPr id="0" name="图片 26643"/>
                        <p:cNvPicPr/>
                        <p:nvPr/>
                      </p:nvPicPr>
                      <p:blipFill>
                        <a:blip r:embed="rId36"/>
                        <a:stretch>
                          <a:fillRect/>
                        </a:stretch>
                      </p:blipFill>
                      <p:spPr>
                        <a:xfrm>
                          <a:off x="703" y="2931"/>
                          <a:ext cx="299" cy="384"/>
                        </a:xfrm>
                        <a:prstGeom prst="rect">
                          <a:avLst/>
                        </a:prstGeom>
                        <a:noFill/>
                        <a:ln w="38100">
                          <a:noFill/>
                        </a:ln>
                      </p:spPr>
                    </p:pic>
                  </p:oleObj>
                </mc:Fallback>
              </mc:AlternateContent>
            </a:graphicData>
          </a:graphic>
        </p:graphicFrame>
        <p:graphicFrame>
          <p:nvGraphicFramePr>
            <p:cNvPr id="145" name="Object 15"/>
            <p:cNvGraphicFramePr/>
            <p:nvPr/>
          </p:nvGraphicFramePr>
          <p:xfrm>
            <a:off x="703" y="2659"/>
            <a:ext cx="299" cy="363"/>
          </p:xfrm>
          <a:graphic>
            <a:graphicData uri="http://schemas.openxmlformats.org/presentationml/2006/ole">
              <mc:AlternateContent xmlns:mc="http://schemas.openxmlformats.org/markup-compatibility/2006">
                <mc:Choice xmlns:v="urn:schemas-microsoft-com:vml" Requires="v">
                  <p:oleObj spid="_x0000_s26645" name="" r:id="rId37" imgW="4267200" imgH="5181600" progId="Equation.3">
                    <p:embed/>
                  </p:oleObj>
                </mc:Choice>
                <mc:Fallback>
                  <p:oleObj name="" r:id="rId37" imgW="4267200" imgH="5181600" progId="Equation.3">
                    <p:embed/>
                    <p:pic>
                      <p:nvPicPr>
                        <p:cNvPr id="0" name="图片 26644"/>
                        <p:cNvPicPr/>
                        <p:nvPr/>
                      </p:nvPicPr>
                      <p:blipFill>
                        <a:blip r:embed="rId38"/>
                        <a:stretch>
                          <a:fillRect/>
                        </a:stretch>
                      </p:blipFill>
                      <p:spPr>
                        <a:xfrm>
                          <a:off x="703" y="2659"/>
                          <a:ext cx="299" cy="363"/>
                        </a:xfrm>
                        <a:prstGeom prst="rect">
                          <a:avLst/>
                        </a:prstGeom>
                        <a:noFill/>
                        <a:ln w="38100">
                          <a:noFill/>
                        </a:ln>
                      </p:spPr>
                    </p:pic>
                  </p:oleObj>
                </mc:Fallback>
              </mc:AlternateContent>
            </a:graphicData>
          </a:graphic>
        </p:graphicFrame>
      </p:grpSp>
      <p:graphicFrame>
        <p:nvGraphicFramePr>
          <p:cNvPr id="146" name="Object 9"/>
          <p:cNvGraphicFramePr/>
          <p:nvPr/>
        </p:nvGraphicFramePr>
        <p:xfrm>
          <a:off x="5508625" y="6344870"/>
          <a:ext cx="347663" cy="577850"/>
        </p:xfrm>
        <a:graphic>
          <a:graphicData uri="http://schemas.openxmlformats.org/presentationml/2006/ole">
            <mc:AlternateContent xmlns:mc="http://schemas.openxmlformats.org/markup-compatibility/2006">
              <mc:Choice xmlns:v="urn:schemas-microsoft-com:vml" Requires="v">
                <p:oleObj spid="_x0000_s26646" name="" r:id="rId39" imgW="3962400" imgH="5181600" progId="Equation.3">
                  <p:embed/>
                </p:oleObj>
              </mc:Choice>
              <mc:Fallback>
                <p:oleObj name="" r:id="rId39" imgW="3962400" imgH="5181600" progId="Equation.3">
                  <p:embed/>
                  <p:pic>
                    <p:nvPicPr>
                      <p:cNvPr id="0" name="图片 26645"/>
                      <p:cNvPicPr/>
                      <p:nvPr/>
                    </p:nvPicPr>
                    <p:blipFill>
                      <a:blip r:embed="rId40"/>
                      <a:stretch>
                        <a:fillRect/>
                      </a:stretch>
                    </p:blipFill>
                    <p:spPr>
                      <a:xfrm>
                        <a:off x="5508625" y="6344870"/>
                        <a:ext cx="347663" cy="577850"/>
                      </a:xfrm>
                      <a:prstGeom prst="rect">
                        <a:avLst/>
                      </a:prstGeom>
                      <a:noFill/>
                      <a:ln w="38100">
                        <a:noFill/>
                      </a:ln>
                    </p:spPr>
                  </p:pic>
                </p:oleObj>
              </mc:Fallback>
            </mc:AlternateContent>
          </a:graphicData>
        </a:graphic>
      </p:graphicFrame>
      <p:sp>
        <p:nvSpPr>
          <p:cNvPr id="147" name="AutoShape 125"/>
          <p:cNvSpPr/>
          <p:nvPr/>
        </p:nvSpPr>
        <p:spPr bwMode="auto">
          <a:xfrm rot="5400000">
            <a:off x="3743325" y="5516513"/>
            <a:ext cx="358775" cy="1727200"/>
          </a:xfrm>
          <a:prstGeom prst="rightBrace">
            <a:avLst>
              <a:gd name="adj1" fmla="val 40096"/>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ndParaRPr>
          </a:p>
        </p:txBody>
      </p:sp>
      <p:sp>
        <p:nvSpPr>
          <p:cNvPr id="148" name="AutoShape 126"/>
          <p:cNvSpPr/>
          <p:nvPr/>
        </p:nvSpPr>
        <p:spPr bwMode="auto">
          <a:xfrm rot="5400000">
            <a:off x="6083301" y="5768924"/>
            <a:ext cx="360362" cy="1223963"/>
          </a:xfrm>
          <a:prstGeom prst="rightBrace">
            <a:avLst>
              <a:gd name="adj1" fmla="val 28288"/>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ndParaRPr>
          </a:p>
        </p:txBody>
      </p:sp>
      <p:graphicFrame>
        <p:nvGraphicFramePr>
          <p:cNvPr id="149" name="Object 10"/>
          <p:cNvGraphicFramePr/>
          <p:nvPr/>
        </p:nvGraphicFramePr>
        <p:xfrm>
          <a:off x="6491288" y="6344870"/>
          <a:ext cx="400050" cy="577850"/>
        </p:xfrm>
        <a:graphic>
          <a:graphicData uri="http://schemas.openxmlformats.org/presentationml/2006/ole">
            <mc:AlternateContent xmlns:mc="http://schemas.openxmlformats.org/markup-compatibility/2006">
              <mc:Choice xmlns:v="urn:schemas-microsoft-com:vml" Requires="v">
                <p:oleObj spid="_x0000_s26647" name="" r:id="rId41" imgW="4572000" imgH="5181600" progId="Equation.3">
                  <p:embed/>
                </p:oleObj>
              </mc:Choice>
              <mc:Fallback>
                <p:oleObj name="" r:id="rId41" imgW="4572000" imgH="5181600" progId="Equation.3">
                  <p:embed/>
                  <p:pic>
                    <p:nvPicPr>
                      <p:cNvPr id="0" name="图片 26646"/>
                      <p:cNvPicPr/>
                      <p:nvPr/>
                    </p:nvPicPr>
                    <p:blipFill>
                      <a:blip r:embed="rId42"/>
                      <a:stretch>
                        <a:fillRect/>
                      </a:stretch>
                    </p:blipFill>
                    <p:spPr>
                      <a:xfrm>
                        <a:off x="6491288" y="6344870"/>
                        <a:ext cx="400050" cy="577850"/>
                      </a:xfrm>
                      <a:prstGeom prst="rect">
                        <a:avLst/>
                      </a:prstGeom>
                      <a:noFill/>
                      <a:ln w="38100">
                        <a:noFill/>
                      </a:ln>
                    </p:spPr>
                  </p:pic>
                </p:oleObj>
              </mc:Fallback>
            </mc:AlternateContent>
          </a:graphicData>
        </a:graphic>
      </p:graphicFrame>
      <p:graphicFrame>
        <p:nvGraphicFramePr>
          <p:cNvPr id="150" name="Object 11"/>
          <p:cNvGraphicFramePr/>
          <p:nvPr/>
        </p:nvGraphicFramePr>
        <p:xfrm>
          <a:off x="3132138" y="6344870"/>
          <a:ext cx="374650" cy="611187"/>
        </p:xfrm>
        <a:graphic>
          <a:graphicData uri="http://schemas.openxmlformats.org/presentationml/2006/ole">
            <mc:AlternateContent xmlns:mc="http://schemas.openxmlformats.org/markup-compatibility/2006">
              <mc:Choice xmlns:v="urn:schemas-microsoft-com:vml" Requires="v">
                <p:oleObj spid="_x0000_s26648" name="" r:id="rId43" imgW="4267200" imgH="5486400" progId="Equation.3">
                  <p:embed/>
                </p:oleObj>
              </mc:Choice>
              <mc:Fallback>
                <p:oleObj name="" r:id="rId43" imgW="4267200" imgH="5486400" progId="Equation.3">
                  <p:embed/>
                  <p:pic>
                    <p:nvPicPr>
                      <p:cNvPr id="0" name="图片 26647"/>
                      <p:cNvPicPr/>
                      <p:nvPr/>
                    </p:nvPicPr>
                    <p:blipFill>
                      <a:blip r:embed="rId44"/>
                      <a:stretch>
                        <a:fillRect/>
                      </a:stretch>
                    </p:blipFill>
                    <p:spPr>
                      <a:xfrm>
                        <a:off x="3132138" y="6344870"/>
                        <a:ext cx="374650" cy="611187"/>
                      </a:xfrm>
                      <a:prstGeom prst="rect">
                        <a:avLst/>
                      </a:prstGeom>
                      <a:noFill/>
                      <a:ln w="38100">
                        <a:noFill/>
                      </a:ln>
                    </p:spPr>
                  </p:pic>
                </p:oleObj>
              </mc:Fallback>
            </mc:AlternateContent>
          </a:graphicData>
        </a:graphic>
      </p:graphicFrame>
      <p:graphicFrame>
        <p:nvGraphicFramePr>
          <p:cNvPr id="151" name="Object 12"/>
          <p:cNvGraphicFramePr/>
          <p:nvPr/>
        </p:nvGraphicFramePr>
        <p:xfrm>
          <a:off x="3924300" y="6344870"/>
          <a:ext cx="401638" cy="577850"/>
        </p:xfrm>
        <a:graphic>
          <a:graphicData uri="http://schemas.openxmlformats.org/presentationml/2006/ole">
            <mc:AlternateContent xmlns:mc="http://schemas.openxmlformats.org/markup-compatibility/2006">
              <mc:Choice xmlns:v="urn:schemas-microsoft-com:vml" Requires="v">
                <p:oleObj spid="_x0000_s26649" name="" r:id="rId45" imgW="4572000" imgH="5181600" progId="Equation.3">
                  <p:embed/>
                </p:oleObj>
              </mc:Choice>
              <mc:Fallback>
                <p:oleObj name="" r:id="rId45" imgW="4572000" imgH="5181600" progId="Equation.3">
                  <p:embed/>
                  <p:pic>
                    <p:nvPicPr>
                      <p:cNvPr id="0" name="图片 26648"/>
                      <p:cNvPicPr/>
                      <p:nvPr/>
                    </p:nvPicPr>
                    <p:blipFill>
                      <a:blip r:embed="rId46"/>
                      <a:stretch>
                        <a:fillRect/>
                      </a:stretch>
                    </p:blipFill>
                    <p:spPr>
                      <a:xfrm>
                        <a:off x="3924300" y="6344870"/>
                        <a:ext cx="401638" cy="577850"/>
                      </a:xfrm>
                      <a:prstGeom prst="rect">
                        <a:avLst/>
                      </a:prstGeom>
                      <a:noFill/>
                      <a:ln w="38100">
                        <a:noFill/>
                      </a:ln>
                    </p:spPr>
                  </p:pic>
                </p:oleObj>
              </mc:Fallback>
            </mc:AlternateContent>
          </a:graphicData>
        </a:graphic>
      </p:graphicFrame>
      <p:graphicFrame>
        <p:nvGraphicFramePr>
          <p:cNvPr id="152" name="Object 13"/>
          <p:cNvGraphicFramePr/>
          <p:nvPr/>
        </p:nvGraphicFramePr>
        <p:xfrm>
          <a:off x="4572000" y="6344870"/>
          <a:ext cx="374650" cy="612775"/>
        </p:xfrm>
        <a:graphic>
          <a:graphicData uri="http://schemas.openxmlformats.org/presentationml/2006/ole">
            <mc:AlternateContent xmlns:mc="http://schemas.openxmlformats.org/markup-compatibility/2006">
              <mc:Choice xmlns:v="urn:schemas-microsoft-com:vml" Requires="v">
                <p:oleObj spid="_x0000_s26650" name="" r:id="rId47" imgW="4267200" imgH="5486400" progId="Equation.3">
                  <p:embed/>
                </p:oleObj>
              </mc:Choice>
              <mc:Fallback>
                <p:oleObj name="" r:id="rId47" imgW="4267200" imgH="5486400" progId="Equation.3">
                  <p:embed/>
                  <p:pic>
                    <p:nvPicPr>
                      <p:cNvPr id="0" name="图片 26649"/>
                      <p:cNvPicPr/>
                      <p:nvPr/>
                    </p:nvPicPr>
                    <p:blipFill>
                      <a:blip r:embed="rId48"/>
                      <a:stretch>
                        <a:fillRect/>
                      </a:stretch>
                    </p:blipFill>
                    <p:spPr>
                      <a:xfrm>
                        <a:off x="4572000" y="6344870"/>
                        <a:ext cx="374650" cy="612775"/>
                      </a:xfrm>
                      <a:prstGeom prst="rect">
                        <a:avLst/>
                      </a:prstGeom>
                      <a:noFill/>
                      <a:ln w="38100">
                        <a:noFill/>
                      </a:ln>
                    </p:spPr>
                  </p:pic>
                </p:oleObj>
              </mc:Fallback>
            </mc:AlternateContent>
          </a:graphicData>
        </a:graphic>
      </p:graphicFrame>
      <p:sp>
        <p:nvSpPr>
          <p:cNvPr id="153" name="Text Box 131"/>
          <p:cNvSpPr txBox="1">
            <a:spLocks noChangeArrowheads="1"/>
          </p:cNvSpPr>
          <p:nvPr/>
        </p:nvSpPr>
        <p:spPr bwMode="auto">
          <a:xfrm>
            <a:off x="7740650" y="728612"/>
            <a:ext cx="1187450" cy="10668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dirty="0">
                <a:solidFill>
                  <a:srgbClr val="000000"/>
                </a:solidFill>
              </a:rPr>
              <a:t>Min</a:t>
            </a:r>
            <a:r>
              <a:rPr lang="zh-CN" altLang="en-US" sz="3200" b="1" dirty="0">
                <a:solidFill>
                  <a:srgbClr val="000000"/>
                </a:solidFill>
              </a:rPr>
              <a:t>问题</a:t>
            </a:r>
            <a:endParaRPr lang="zh-CN" altLang="en-US" sz="32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wipe(up)">
                                      <p:cBhvr>
                                        <p:cTn id="7" dur="500"/>
                                        <p:tgtEl>
                                          <p:spTgt spid="8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blinds(horizontal)">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wipe(left)">
                                      <p:cBhvr>
                                        <p:cTn id="17" dur="500"/>
                                        <p:tgtEl>
                                          <p:spTgt spid="8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2"/>
                                        </p:tgtEl>
                                        <p:attrNameLst>
                                          <p:attrName>style.visibility</p:attrName>
                                        </p:attrNameLst>
                                      </p:cBhvr>
                                      <p:to>
                                        <p:strVal val="visible"/>
                                      </p:to>
                                    </p:set>
                                    <p:animEffect transition="in" filter="blinds(horizontal)">
                                      <p:cBhvr>
                                        <p:cTn id="22" dur="500"/>
                                        <p:tgtEl>
                                          <p:spTgt spid="8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8"/>
                                        </p:tgtEl>
                                        <p:attrNameLst>
                                          <p:attrName>style.visibility</p:attrName>
                                        </p:attrNameLst>
                                      </p:cBhvr>
                                      <p:to>
                                        <p:strVal val="visible"/>
                                      </p:to>
                                    </p:set>
                                    <p:animEffect transition="in" filter="blinds(horizontal)">
                                      <p:cBhvr>
                                        <p:cTn id="27" dur="500"/>
                                        <p:tgtEl>
                                          <p:spTgt spid="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27"/>
                                        </p:tgtEl>
                                        <p:attrNameLst>
                                          <p:attrName>style.visibility</p:attrName>
                                        </p:attrNameLst>
                                      </p:cBhvr>
                                      <p:to>
                                        <p:strVal val="visible"/>
                                      </p:to>
                                    </p:set>
                                    <p:animEffect transition="in" filter="wipe(up)">
                                      <p:cBhvr>
                                        <p:cTn id="32" dur="500"/>
                                        <p:tgtEl>
                                          <p:spTgt spid="12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15"/>
                                        </p:tgtEl>
                                        <p:attrNameLst>
                                          <p:attrName>style.visibility</p:attrName>
                                        </p:attrNameLst>
                                      </p:cBhvr>
                                      <p:to>
                                        <p:strVal val="visible"/>
                                      </p:to>
                                    </p:set>
                                    <p:animEffect transition="in" filter="wipe(up)">
                                      <p:cBhvr>
                                        <p:cTn id="37" dur="500"/>
                                        <p:tgtEl>
                                          <p:spTgt spid="1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9"/>
                                        </p:tgtEl>
                                        <p:attrNameLst>
                                          <p:attrName>style.visibility</p:attrName>
                                        </p:attrNameLst>
                                      </p:cBhvr>
                                      <p:to>
                                        <p:strVal val="visible"/>
                                      </p:to>
                                    </p:set>
                                    <p:animEffect transition="in" filter="wipe(left)">
                                      <p:cBhvr>
                                        <p:cTn id="42" dur="500"/>
                                        <p:tgtEl>
                                          <p:spTgt spid="11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16"/>
                                        </p:tgtEl>
                                        <p:attrNameLst>
                                          <p:attrName>style.visibility</p:attrName>
                                        </p:attrNameLst>
                                      </p:cBhvr>
                                      <p:to>
                                        <p:strVal val="visible"/>
                                      </p:to>
                                    </p:set>
                                    <p:animEffect transition="in" filter="blinds(horizontal)">
                                      <p:cBhvr>
                                        <p:cTn id="47" dur="500"/>
                                        <p:tgtEl>
                                          <p:spTgt spid="11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17"/>
                                        </p:tgtEl>
                                        <p:attrNameLst>
                                          <p:attrName>style.visibility</p:attrName>
                                        </p:attrNameLst>
                                      </p:cBhvr>
                                      <p:to>
                                        <p:strVal val="visible"/>
                                      </p:to>
                                    </p:set>
                                    <p:animEffect transition="in" filter="wipe(left)">
                                      <p:cBhvr>
                                        <p:cTn id="52" dur="500"/>
                                        <p:tgtEl>
                                          <p:spTgt spid="11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30"/>
                                        </p:tgtEl>
                                        <p:attrNameLst>
                                          <p:attrName>style.visibility</p:attrName>
                                        </p:attrNameLst>
                                      </p:cBhvr>
                                      <p:to>
                                        <p:strVal val="visible"/>
                                      </p:to>
                                    </p:set>
                                    <p:animEffect transition="in" filter="blinds(horizontal)">
                                      <p:cBhvr>
                                        <p:cTn id="57" dur="500"/>
                                        <p:tgtEl>
                                          <p:spTgt spid="13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26"/>
                                        </p:tgtEl>
                                        <p:attrNameLst>
                                          <p:attrName>style.visibility</p:attrName>
                                        </p:attrNameLst>
                                      </p:cBhvr>
                                      <p:to>
                                        <p:strVal val="visible"/>
                                      </p:to>
                                    </p:set>
                                    <p:animEffect transition="in" filter="blinds(horizontal)">
                                      <p:cBhvr>
                                        <p:cTn id="62" dur="500"/>
                                        <p:tgtEl>
                                          <p:spTgt spid="12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43"/>
                                        </p:tgtEl>
                                        <p:attrNameLst>
                                          <p:attrName>style.visibility</p:attrName>
                                        </p:attrNameLst>
                                      </p:cBhvr>
                                      <p:to>
                                        <p:strVal val="visible"/>
                                      </p:to>
                                    </p:set>
                                    <p:animEffect transition="in" filter="wipe(up)">
                                      <p:cBhvr>
                                        <p:cTn id="67" dur="500"/>
                                        <p:tgtEl>
                                          <p:spTgt spid="14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132"/>
                                        </p:tgtEl>
                                        <p:attrNameLst>
                                          <p:attrName>style.visibility</p:attrName>
                                        </p:attrNameLst>
                                      </p:cBhvr>
                                      <p:to>
                                        <p:strVal val="visible"/>
                                      </p:to>
                                    </p:set>
                                    <p:animEffect transition="in" filter="wipe(up)">
                                      <p:cBhvr>
                                        <p:cTn id="72" dur="500"/>
                                        <p:tgtEl>
                                          <p:spTgt spid="13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36"/>
                                        </p:tgtEl>
                                        <p:attrNameLst>
                                          <p:attrName>style.visibility</p:attrName>
                                        </p:attrNameLst>
                                      </p:cBhvr>
                                      <p:to>
                                        <p:strVal val="visible"/>
                                      </p:to>
                                    </p:set>
                                    <p:animEffect transition="in" filter="wipe(left)">
                                      <p:cBhvr>
                                        <p:cTn id="77" dur="500"/>
                                        <p:tgtEl>
                                          <p:spTgt spid="136"/>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nodeType="clickEffect">
                                  <p:stCondLst>
                                    <p:cond delay="0"/>
                                  </p:stCondLst>
                                  <p:childTnLst>
                                    <p:set>
                                      <p:cBhvr>
                                        <p:cTn id="81" dur="1" fill="hold">
                                          <p:stCondLst>
                                            <p:cond delay="0"/>
                                          </p:stCondLst>
                                        </p:cTn>
                                        <p:tgtEl>
                                          <p:spTgt spid="133"/>
                                        </p:tgtEl>
                                        <p:attrNameLst>
                                          <p:attrName>style.visibility</p:attrName>
                                        </p:attrNameLst>
                                      </p:cBhvr>
                                      <p:to>
                                        <p:strVal val="visible"/>
                                      </p:to>
                                    </p:set>
                                    <p:animEffect transition="in" filter="blinds(horizontal)">
                                      <p:cBhvr>
                                        <p:cTn id="82" dur="500"/>
                                        <p:tgtEl>
                                          <p:spTgt spid="13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34"/>
                                        </p:tgtEl>
                                        <p:attrNameLst>
                                          <p:attrName>style.visibility</p:attrName>
                                        </p:attrNameLst>
                                      </p:cBhvr>
                                      <p:to>
                                        <p:strVal val="visible"/>
                                      </p:to>
                                    </p:set>
                                    <p:animEffect transition="in" filter="wipe(left)">
                                      <p:cBhvr>
                                        <p:cTn id="87" dur="500"/>
                                        <p:tgtEl>
                                          <p:spTgt spid="13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148"/>
                                        </p:tgtEl>
                                        <p:attrNameLst>
                                          <p:attrName>style.visibility</p:attrName>
                                        </p:attrNameLst>
                                      </p:cBhvr>
                                      <p:to>
                                        <p:strVal val="visible"/>
                                      </p:to>
                                    </p:set>
                                    <p:animEffect transition="in" filter="wipe(down)">
                                      <p:cBhvr>
                                        <p:cTn id="92" dur="500"/>
                                        <p:tgtEl>
                                          <p:spTgt spid="148"/>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146"/>
                                        </p:tgtEl>
                                        <p:attrNameLst>
                                          <p:attrName>style.visibility</p:attrName>
                                        </p:attrNameLst>
                                      </p:cBhvr>
                                      <p:to>
                                        <p:strVal val="visible"/>
                                      </p:to>
                                    </p:set>
                                    <p:animEffect transition="in" filter="blinds(horizontal)">
                                      <p:cBhvr>
                                        <p:cTn id="97" dur="500"/>
                                        <p:tgtEl>
                                          <p:spTgt spid="146"/>
                                        </p:tgtEl>
                                      </p:cBhvr>
                                    </p:animEffect>
                                  </p:childTnLst>
                                </p:cTn>
                              </p:par>
                            </p:childTnLst>
                          </p:cTn>
                        </p:par>
                      </p:childTnLst>
                    </p:cTn>
                  </p:par>
                  <p:par>
                    <p:cTn id="98" fill="hold">
                      <p:stCondLst>
                        <p:cond delay="indefinite"/>
                      </p:stCondLst>
                      <p:childTnLst>
                        <p:par>
                          <p:cTn id="99" fill="hold">
                            <p:stCondLst>
                              <p:cond delay="0"/>
                            </p:stCondLst>
                            <p:childTnLst>
                              <p:par>
                                <p:cTn id="100" presetID="3" presetClass="entr" presetSubtype="10" fill="hold" nodeType="clickEffect">
                                  <p:stCondLst>
                                    <p:cond delay="0"/>
                                  </p:stCondLst>
                                  <p:childTnLst>
                                    <p:set>
                                      <p:cBhvr>
                                        <p:cTn id="101" dur="1" fill="hold">
                                          <p:stCondLst>
                                            <p:cond delay="0"/>
                                          </p:stCondLst>
                                        </p:cTn>
                                        <p:tgtEl>
                                          <p:spTgt spid="149"/>
                                        </p:tgtEl>
                                        <p:attrNameLst>
                                          <p:attrName>style.visibility</p:attrName>
                                        </p:attrNameLst>
                                      </p:cBhvr>
                                      <p:to>
                                        <p:strVal val="visible"/>
                                      </p:to>
                                    </p:set>
                                    <p:animEffect transition="in" filter="blinds(horizontal)">
                                      <p:cBhvr>
                                        <p:cTn id="102" dur="500"/>
                                        <p:tgtEl>
                                          <p:spTgt spid="14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47"/>
                                        </p:tgtEl>
                                        <p:attrNameLst>
                                          <p:attrName>style.visibility</p:attrName>
                                        </p:attrNameLst>
                                      </p:cBhvr>
                                      <p:to>
                                        <p:strVal val="visible"/>
                                      </p:to>
                                    </p:set>
                                    <p:animEffect transition="in" filter="wipe(left)">
                                      <p:cBhvr>
                                        <p:cTn id="107" dur="500"/>
                                        <p:tgtEl>
                                          <p:spTgt spid="14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nodeType="clickEffect">
                                  <p:stCondLst>
                                    <p:cond delay="0"/>
                                  </p:stCondLst>
                                  <p:childTnLst>
                                    <p:set>
                                      <p:cBhvr>
                                        <p:cTn id="111" dur="1" fill="hold">
                                          <p:stCondLst>
                                            <p:cond delay="0"/>
                                          </p:stCondLst>
                                        </p:cTn>
                                        <p:tgtEl>
                                          <p:spTgt spid="150"/>
                                        </p:tgtEl>
                                        <p:attrNameLst>
                                          <p:attrName>style.visibility</p:attrName>
                                        </p:attrNameLst>
                                      </p:cBhvr>
                                      <p:to>
                                        <p:strVal val="visible"/>
                                      </p:to>
                                    </p:set>
                                    <p:animEffect transition="in" filter="wipe(down)">
                                      <p:cBhvr>
                                        <p:cTn id="112" dur="500"/>
                                        <p:tgtEl>
                                          <p:spTgt spid="150"/>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nodeType="clickEffect">
                                  <p:stCondLst>
                                    <p:cond delay="0"/>
                                  </p:stCondLst>
                                  <p:childTnLst>
                                    <p:set>
                                      <p:cBhvr>
                                        <p:cTn id="116" dur="1" fill="hold">
                                          <p:stCondLst>
                                            <p:cond delay="0"/>
                                          </p:stCondLst>
                                        </p:cTn>
                                        <p:tgtEl>
                                          <p:spTgt spid="151"/>
                                        </p:tgtEl>
                                        <p:attrNameLst>
                                          <p:attrName>style.visibility</p:attrName>
                                        </p:attrNameLst>
                                      </p:cBhvr>
                                      <p:to>
                                        <p:strVal val="visible"/>
                                      </p:to>
                                    </p:set>
                                    <p:animEffect transition="in" filter="wipe(down)">
                                      <p:cBhvr>
                                        <p:cTn id="117" dur="500"/>
                                        <p:tgtEl>
                                          <p:spTgt spid="151"/>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nodeType="clickEffect">
                                  <p:stCondLst>
                                    <p:cond delay="0"/>
                                  </p:stCondLst>
                                  <p:childTnLst>
                                    <p:set>
                                      <p:cBhvr>
                                        <p:cTn id="121" dur="1" fill="hold">
                                          <p:stCondLst>
                                            <p:cond delay="0"/>
                                          </p:stCondLst>
                                        </p:cTn>
                                        <p:tgtEl>
                                          <p:spTgt spid="152"/>
                                        </p:tgtEl>
                                        <p:attrNameLst>
                                          <p:attrName>style.visibility</p:attrName>
                                        </p:attrNameLst>
                                      </p:cBhvr>
                                      <p:to>
                                        <p:strVal val="visible"/>
                                      </p:to>
                                    </p:set>
                                    <p:animEffect transition="in" filter="wipe(down)">
                                      <p:cBhvr>
                                        <p:cTn id="122"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5" grpId="0"/>
      <p:bldP spid="87" grpId="0"/>
      <p:bldP spid="115" grpId="0"/>
      <p:bldP spid="117" grpId="0"/>
      <p:bldP spid="130" grpId="0" animBg="1"/>
      <p:bldP spid="132" grpId="0"/>
      <p:bldP spid="134" grpId="0"/>
      <p:bldP spid="147" grpId="0" animBg="1"/>
      <p:bldP spid="14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单纯形法</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2" name="组合 1"/>
          <p:cNvGrpSpPr/>
          <p:nvPr/>
        </p:nvGrpSpPr>
        <p:grpSpPr>
          <a:xfrm>
            <a:off x="180975" y="99695"/>
            <a:ext cx="8806815" cy="6786245"/>
            <a:chOff x="285" y="157"/>
            <a:chExt cx="13869" cy="10687"/>
          </a:xfrm>
        </p:grpSpPr>
        <p:grpSp>
          <p:nvGrpSpPr>
            <p:cNvPr id="169" name="Group 3"/>
            <p:cNvGrpSpPr/>
            <p:nvPr/>
          </p:nvGrpSpPr>
          <p:grpSpPr bwMode="auto">
            <a:xfrm>
              <a:off x="396" y="157"/>
              <a:ext cx="13098" cy="4403"/>
              <a:chOff x="204" y="0"/>
              <a:chExt cx="5216" cy="2017"/>
            </a:xfrm>
          </p:grpSpPr>
          <p:grpSp>
            <p:nvGrpSpPr>
              <p:cNvPr id="170" name="Group 4"/>
              <p:cNvGrpSpPr/>
              <p:nvPr/>
            </p:nvGrpSpPr>
            <p:grpSpPr bwMode="auto">
              <a:xfrm>
                <a:off x="1535" y="307"/>
                <a:ext cx="2973" cy="385"/>
                <a:chOff x="1535" y="2240"/>
                <a:chExt cx="2973" cy="385"/>
              </a:xfrm>
            </p:grpSpPr>
            <p:graphicFrame>
              <p:nvGraphicFramePr>
                <p:cNvPr id="198" name="Object 24"/>
                <p:cNvGraphicFramePr/>
                <p:nvPr/>
              </p:nvGraphicFramePr>
              <p:xfrm>
                <a:off x="1535" y="2251"/>
                <a:ext cx="256" cy="363"/>
              </p:xfrm>
              <a:graphic>
                <a:graphicData uri="http://schemas.openxmlformats.org/presentationml/2006/ole">
                  <mc:AlternateContent xmlns:mc="http://schemas.openxmlformats.org/markup-compatibility/2006">
                    <mc:Choice xmlns:v="urn:schemas-microsoft-com:vml" Requires="v">
                      <p:oleObj spid="_x0000_s27649" name="" r:id="rId1" imgW="3657600" imgH="5181600" progId="Equation.3">
                        <p:embed/>
                      </p:oleObj>
                    </mc:Choice>
                    <mc:Fallback>
                      <p:oleObj name="" r:id="rId1" imgW="3657600" imgH="5181600" progId="Equation.3">
                        <p:embed/>
                        <p:pic>
                          <p:nvPicPr>
                            <p:cNvPr id="0" name="图片 27648"/>
                            <p:cNvPicPr/>
                            <p:nvPr/>
                          </p:nvPicPr>
                          <p:blipFill>
                            <a:blip r:embed="rId2"/>
                            <a:stretch>
                              <a:fillRect/>
                            </a:stretch>
                          </p:blipFill>
                          <p:spPr>
                            <a:xfrm>
                              <a:off x="1535" y="2251"/>
                              <a:ext cx="256" cy="363"/>
                            </a:xfrm>
                            <a:prstGeom prst="rect">
                              <a:avLst/>
                            </a:prstGeom>
                            <a:noFill/>
                            <a:ln w="38100">
                              <a:noFill/>
                            </a:ln>
                          </p:spPr>
                        </p:pic>
                      </p:oleObj>
                    </mc:Fallback>
                  </mc:AlternateContent>
                </a:graphicData>
              </a:graphic>
            </p:graphicFrame>
            <p:graphicFrame>
              <p:nvGraphicFramePr>
                <p:cNvPr id="199" name="Object 25"/>
                <p:cNvGraphicFramePr/>
                <p:nvPr/>
              </p:nvGraphicFramePr>
              <p:xfrm>
                <a:off x="2195" y="2251"/>
                <a:ext cx="277" cy="363"/>
              </p:xfrm>
              <a:graphic>
                <a:graphicData uri="http://schemas.openxmlformats.org/presentationml/2006/ole">
                  <mc:AlternateContent xmlns:mc="http://schemas.openxmlformats.org/markup-compatibility/2006">
                    <mc:Choice xmlns:v="urn:schemas-microsoft-com:vml" Requires="v">
                      <p:oleObj spid="_x0000_s27650" name="" r:id="rId3" imgW="3962400" imgH="5181600" progId="Equation.3">
                        <p:embed/>
                      </p:oleObj>
                    </mc:Choice>
                    <mc:Fallback>
                      <p:oleObj name="" r:id="rId3" imgW="3962400" imgH="5181600" progId="Equation.3">
                        <p:embed/>
                        <p:pic>
                          <p:nvPicPr>
                            <p:cNvPr id="0" name="图片 27649"/>
                            <p:cNvPicPr/>
                            <p:nvPr/>
                          </p:nvPicPr>
                          <p:blipFill>
                            <a:blip r:embed="rId4"/>
                            <a:stretch>
                              <a:fillRect/>
                            </a:stretch>
                          </p:blipFill>
                          <p:spPr>
                            <a:xfrm>
                              <a:off x="2195" y="2251"/>
                              <a:ext cx="277" cy="363"/>
                            </a:xfrm>
                            <a:prstGeom prst="rect">
                              <a:avLst/>
                            </a:prstGeom>
                            <a:noFill/>
                            <a:ln w="38100">
                              <a:noFill/>
                            </a:ln>
                          </p:spPr>
                        </p:pic>
                      </p:oleObj>
                    </mc:Fallback>
                  </mc:AlternateContent>
                </a:graphicData>
              </a:graphic>
            </p:graphicFrame>
            <p:graphicFrame>
              <p:nvGraphicFramePr>
                <p:cNvPr id="200" name="Object 26"/>
                <p:cNvGraphicFramePr/>
                <p:nvPr/>
              </p:nvGraphicFramePr>
              <p:xfrm>
                <a:off x="4230" y="2240"/>
                <a:ext cx="278" cy="385"/>
              </p:xfrm>
              <a:graphic>
                <a:graphicData uri="http://schemas.openxmlformats.org/presentationml/2006/ole">
                  <mc:AlternateContent xmlns:mc="http://schemas.openxmlformats.org/markup-compatibility/2006">
                    <mc:Choice xmlns:v="urn:schemas-microsoft-com:vml" Requires="v">
                      <p:oleObj spid="_x0000_s27651" name="" r:id="rId5" imgW="3962400" imgH="5486400" progId="Equation.3">
                        <p:embed/>
                      </p:oleObj>
                    </mc:Choice>
                    <mc:Fallback>
                      <p:oleObj name="" r:id="rId5" imgW="3962400" imgH="5486400" progId="Equation.3">
                        <p:embed/>
                        <p:pic>
                          <p:nvPicPr>
                            <p:cNvPr id="0" name="图片 27650"/>
                            <p:cNvPicPr/>
                            <p:nvPr/>
                          </p:nvPicPr>
                          <p:blipFill>
                            <a:blip r:embed="rId6"/>
                            <a:stretch>
                              <a:fillRect/>
                            </a:stretch>
                          </p:blipFill>
                          <p:spPr>
                            <a:xfrm>
                              <a:off x="4230" y="2240"/>
                              <a:ext cx="278" cy="385"/>
                            </a:xfrm>
                            <a:prstGeom prst="rect">
                              <a:avLst/>
                            </a:prstGeom>
                            <a:noFill/>
                            <a:ln w="38100">
                              <a:noFill/>
                            </a:ln>
                          </p:spPr>
                        </p:pic>
                      </p:oleObj>
                    </mc:Fallback>
                  </mc:AlternateContent>
                </a:graphicData>
              </a:graphic>
            </p:graphicFrame>
            <p:graphicFrame>
              <p:nvGraphicFramePr>
                <p:cNvPr id="201" name="Object 27"/>
                <p:cNvGraphicFramePr/>
                <p:nvPr/>
              </p:nvGraphicFramePr>
              <p:xfrm>
                <a:off x="3555" y="2251"/>
                <a:ext cx="278" cy="363"/>
              </p:xfrm>
              <a:graphic>
                <a:graphicData uri="http://schemas.openxmlformats.org/presentationml/2006/ole">
                  <mc:AlternateContent xmlns:mc="http://schemas.openxmlformats.org/markup-compatibility/2006">
                    <mc:Choice xmlns:v="urn:schemas-microsoft-com:vml" Requires="v">
                      <p:oleObj spid="_x0000_s27652" name="" r:id="rId7" imgW="3962400" imgH="5181600" progId="Equation.3">
                        <p:embed/>
                      </p:oleObj>
                    </mc:Choice>
                    <mc:Fallback>
                      <p:oleObj name="" r:id="rId7" imgW="3962400" imgH="5181600" progId="Equation.3">
                        <p:embed/>
                        <p:pic>
                          <p:nvPicPr>
                            <p:cNvPr id="0" name="图片 27651"/>
                            <p:cNvPicPr/>
                            <p:nvPr/>
                          </p:nvPicPr>
                          <p:blipFill>
                            <a:blip r:embed="rId8"/>
                            <a:stretch>
                              <a:fillRect/>
                            </a:stretch>
                          </p:blipFill>
                          <p:spPr>
                            <a:xfrm>
                              <a:off x="3555" y="2251"/>
                              <a:ext cx="278" cy="363"/>
                            </a:xfrm>
                            <a:prstGeom prst="rect">
                              <a:avLst/>
                            </a:prstGeom>
                            <a:noFill/>
                            <a:ln w="38100">
                              <a:noFill/>
                            </a:ln>
                          </p:spPr>
                        </p:pic>
                      </p:oleObj>
                    </mc:Fallback>
                  </mc:AlternateContent>
                </a:graphicData>
              </a:graphic>
            </p:graphicFrame>
            <p:graphicFrame>
              <p:nvGraphicFramePr>
                <p:cNvPr id="202" name="Object 28"/>
                <p:cNvGraphicFramePr/>
                <p:nvPr/>
              </p:nvGraphicFramePr>
              <p:xfrm>
                <a:off x="2875" y="2240"/>
                <a:ext cx="277" cy="385"/>
              </p:xfrm>
              <a:graphic>
                <a:graphicData uri="http://schemas.openxmlformats.org/presentationml/2006/ole">
                  <mc:AlternateContent xmlns:mc="http://schemas.openxmlformats.org/markup-compatibility/2006">
                    <mc:Choice xmlns:v="urn:schemas-microsoft-com:vml" Requires="v">
                      <p:oleObj spid="_x0000_s27653" name="" r:id="rId9" imgW="3962400" imgH="5486400" progId="Equation.3">
                        <p:embed/>
                      </p:oleObj>
                    </mc:Choice>
                    <mc:Fallback>
                      <p:oleObj name="" r:id="rId9" imgW="3962400" imgH="5486400" progId="Equation.3">
                        <p:embed/>
                        <p:pic>
                          <p:nvPicPr>
                            <p:cNvPr id="0" name="图片 27652"/>
                            <p:cNvPicPr/>
                            <p:nvPr/>
                          </p:nvPicPr>
                          <p:blipFill>
                            <a:blip r:embed="rId10"/>
                            <a:stretch>
                              <a:fillRect/>
                            </a:stretch>
                          </p:blipFill>
                          <p:spPr>
                            <a:xfrm>
                              <a:off x="2875" y="2240"/>
                              <a:ext cx="277" cy="385"/>
                            </a:xfrm>
                            <a:prstGeom prst="rect">
                              <a:avLst/>
                            </a:prstGeom>
                            <a:noFill/>
                            <a:ln w="38100">
                              <a:noFill/>
                            </a:ln>
                          </p:spPr>
                        </p:pic>
                      </p:oleObj>
                    </mc:Fallback>
                  </mc:AlternateContent>
                </a:graphicData>
              </a:graphic>
            </p:graphicFrame>
          </p:grpSp>
          <p:grpSp>
            <p:nvGrpSpPr>
              <p:cNvPr id="171" name="Group 10"/>
              <p:cNvGrpSpPr/>
              <p:nvPr/>
            </p:nvGrpSpPr>
            <p:grpSpPr bwMode="auto">
              <a:xfrm>
                <a:off x="295" y="318"/>
                <a:ext cx="1030" cy="385"/>
                <a:chOff x="295" y="2251"/>
                <a:chExt cx="1030" cy="385"/>
              </a:xfrm>
            </p:grpSpPr>
            <p:graphicFrame>
              <p:nvGraphicFramePr>
                <p:cNvPr id="195" name="Object 22"/>
                <p:cNvGraphicFramePr/>
                <p:nvPr/>
              </p:nvGraphicFramePr>
              <p:xfrm>
                <a:off x="1111" y="2296"/>
                <a:ext cx="214" cy="299"/>
              </p:xfrm>
              <a:graphic>
                <a:graphicData uri="http://schemas.openxmlformats.org/presentationml/2006/ole">
                  <mc:AlternateContent xmlns:mc="http://schemas.openxmlformats.org/markup-compatibility/2006">
                    <mc:Choice xmlns:v="urn:schemas-microsoft-com:vml" Requires="v">
                      <p:oleObj spid="_x0000_s27654" name="" r:id="rId11" imgW="3048000" imgH="4267200" progId="Equation.3">
                        <p:embed/>
                      </p:oleObj>
                    </mc:Choice>
                    <mc:Fallback>
                      <p:oleObj name="" r:id="rId11" imgW="3048000" imgH="4267200" progId="Equation.3">
                        <p:embed/>
                        <p:pic>
                          <p:nvPicPr>
                            <p:cNvPr id="0" name="图片 27653"/>
                            <p:cNvPicPr/>
                            <p:nvPr/>
                          </p:nvPicPr>
                          <p:blipFill>
                            <a:blip r:embed="rId12"/>
                            <a:stretch>
                              <a:fillRect/>
                            </a:stretch>
                          </p:blipFill>
                          <p:spPr>
                            <a:xfrm>
                              <a:off x="1111" y="2296"/>
                              <a:ext cx="214" cy="299"/>
                            </a:xfrm>
                            <a:prstGeom prst="rect">
                              <a:avLst/>
                            </a:prstGeom>
                            <a:noFill/>
                            <a:ln w="38100">
                              <a:noFill/>
                            </a:ln>
                          </p:spPr>
                        </p:pic>
                      </p:oleObj>
                    </mc:Fallback>
                  </mc:AlternateContent>
                </a:graphicData>
              </a:graphic>
            </p:graphicFrame>
            <p:graphicFrame>
              <p:nvGraphicFramePr>
                <p:cNvPr id="196" name="Object 23"/>
                <p:cNvGraphicFramePr/>
                <p:nvPr/>
              </p:nvGraphicFramePr>
              <p:xfrm>
                <a:off x="295" y="2251"/>
                <a:ext cx="363" cy="385"/>
              </p:xfrm>
              <a:graphic>
                <a:graphicData uri="http://schemas.openxmlformats.org/presentationml/2006/ole">
                  <mc:AlternateContent xmlns:mc="http://schemas.openxmlformats.org/markup-compatibility/2006">
                    <mc:Choice xmlns:v="urn:schemas-microsoft-com:vml" Requires="v">
                      <p:oleObj spid="_x0000_s27655" name="" r:id="rId13" imgW="5181600" imgH="5486400" progId="Equation.3">
                        <p:embed/>
                      </p:oleObj>
                    </mc:Choice>
                    <mc:Fallback>
                      <p:oleObj name="" r:id="rId13" imgW="5181600" imgH="5486400" progId="Equation.3">
                        <p:embed/>
                        <p:pic>
                          <p:nvPicPr>
                            <p:cNvPr id="0" name="图片 27654"/>
                            <p:cNvPicPr/>
                            <p:nvPr/>
                          </p:nvPicPr>
                          <p:blipFill>
                            <a:blip r:embed="rId14"/>
                            <a:stretch>
                              <a:fillRect/>
                            </a:stretch>
                          </p:blipFill>
                          <p:spPr>
                            <a:xfrm>
                              <a:off x="295" y="2251"/>
                              <a:ext cx="363" cy="385"/>
                            </a:xfrm>
                            <a:prstGeom prst="rect">
                              <a:avLst/>
                            </a:prstGeom>
                            <a:noFill/>
                            <a:ln w="38100">
                              <a:noFill/>
                            </a:ln>
                          </p:spPr>
                        </p:pic>
                      </p:oleObj>
                    </mc:Fallback>
                  </mc:AlternateContent>
                </a:graphicData>
              </a:graphic>
            </p:graphicFrame>
            <p:sp>
              <p:nvSpPr>
                <p:cNvPr id="197" name="Text Box 13"/>
                <p:cNvSpPr txBox="1">
                  <a:spLocks noChangeArrowheads="1"/>
                </p:cNvSpPr>
                <p:nvPr/>
              </p:nvSpPr>
              <p:spPr bwMode="auto">
                <a:xfrm>
                  <a:off x="657" y="2251"/>
                  <a:ext cx="408"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r>
                    <a:rPr lang="zh-CN" altLang="en-US" sz="2800" b="1">
                      <a:solidFill>
                        <a:srgbClr val="000000"/>
                      </a:solidFill>
                      <a:latin typeface="Times New Roman" panose="02020603050405020304" pitchFamily="18" charset="0"/>
                    </a:rPr>
                    <a:t>基</a:t>
                  </a:r>
                  <a:endParaRPr lang="zh-CN" altLang="en-US" sz="2800" b="1">
                    <a:solidFill>
                      <a:srgbClr val="000000"/>
                    </a:solidFill>
                    <a:latin typeface="Times New Roman" panose="02020603050405020304" pitchFamily="18" charset="0"/>
                  </a:endParaRPr>
                </a:p>
              </p:txBody>
            </p:sp>
          </p:grpSp>
          <p:grpSp>
            <p:nvGrpSpPr>
              <p:cNvPr id="172" name="Group 14"/>
              <p:cNvGrpSpPr/>
              <p:nvPr/>
            </p:nvGrpSpPr>
            <p:grpSpPr bwMode="auto">
              <a:xfrm>
                <a:off x="204" y="100"/>
                <a:ext cx="5080" cy="1905"/>
                <a:chOff x="204" y="2033"/>
                <a:chExt cx="5080" cy="1905"/>
              </a:xfrm>
            </p:grpSpPr>
            <p:sp>
              <p:nvSpPr>
                <p:cNvPr id="191" name="Line 15"/>
                <p:cNvSpPr>
                  <a:spLocks noChangeShapeType="1"/>
                </p:cNvSpPr>
                <p:nvPr/>
              </p:nvSpPr>
              <p:spPr bwMode="auto">
                <a:xfrm>
                  <a:off x="204" y="2675"/>
                  <a:ext cx="4989"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192" name="Line 16"/>
                <p:cNvSpPr>
                  <a:spLocks noChangeShapeType="1"/>
                </p:cNvSpPr>
                <p:nvPr/>
              </p:nvSpPr>
              <p:spPr bwMode="auto">
                <a:xfrm flipH="1">
                  <a:off x="1520" y="2033"/>
                  <a:ext cx="0" cy="1905"/>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193" name="Line 17"/>
                <p:cNvSpPr>
                  <a:spLocks noChangeShapeType="1"/>
                </p:cNvSpPr>
                <p:nvPr/>
              </p:nvSpPr>
              <p:spPr bwMode="auto">
                <a:xfrm>
                  <a:off x="204" y="2348"/>
                  <a:ext cx="5080"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194" name="Line 18"/>
                <p:cNvSpPr>
                  <a:spLocks noChangeShapeType="1"/>
                </p:cNvSpPr>
                <p:nvPr/>
              </p:nvSpPr>
              <p:spPr bwMode="auto">
                <a:xfrm>
                  <a:off x="294" y="3625"/>
                  <a:ext cx="4989"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grpSp>
          <p:sp>
            <p:nvSpPr>
              <p:cNvPr id="173" name="Text Box 19"/>
              <p:cNvSpPr txBox="1">
                <a:spLocks noChangeArrowheads="1"/>
              </p:cNvSpPr>
              <p:nvPr/>
            </p:nvSpPr>
            <p:spPr bwMode="auto">
              <a:xfrm>
                <a:off x="4694" y="354"/>
                <a:ext cx="72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endParaRPr lang="zh-CN" altLang="zh-CN" sz="2800" b="1">
                  <a:solidFill>
                    <a:srgbClr val="000000"/>
                  </a:solidFill>
                  <a:latin typeface="Times New Roman" panose="02020603050405020304" pitchFamily="18" charset="0"/>
                </a:endParaRPr>
              </a:p>
            </p:txBody>
          </p:sp>
          <p:grpSp>
            <p:nvGrpSpPr>
              <p:cNvPr id="174" name="Group 20"/>
              <p:cNvGrpSpPr/>
              <p:nvPr/>
            </p:nvGrpSpPr>
            <p:grpSpPr bwMode="auto">
              <a:xfrm>
                <a:off x="567" y="0"/>
                <a:ext cx="4387" cy="428"/>
                <a:chOff x="580" y="1935"/>
                <a:chExt cx="4387" cy="428"/>
              </a:xfrm>
            </p:grpSpPr>
            <p:graphicFrame>
              <p:nvGraphicFramePr>
                <p:cNvPr id="189" name="Object 21"/>
                <p:cNvGraphicFramePr/>
                <p:nvPr/>
              </p:nvGraphicFramePr>
              <p:xfrm>
                <a:off x="580" y="1935"/>
                <a:ext cx="320" cy="406"/>
              </p:xfrm>
              <a:graphic>
                <a:graphicData uri="http://schemas.openxmlformats.org/presentationml/2006/ole">
                  <mc:AlternateContent xmlns:mc="http://schemas.openxmlformats.org/markup-compatibility/2006">
                    <mc:Choice xmlns:v="urn:schemas-microsoft-com:vml" Requires="v">
                      <p:oleObj spid="_x0000_s27656" name="" r:id="rId15" imgW="4572000" imgH="5791200" progId="Equation.3">
                        <p:embed/>
                      </p:oleObj>
                    </mc:Choice>
                    <mc:Fallback>
                      <p:oleObj name="" r:id="rId15" imgW="4572000" imgH="5791200" progId="Equation.3">
                        <p:embed/>
                        <p:pic>
                          <p:nvPicPr>
                            <p:cNvPr id="0" name="图片 27655"/>
                            <p:cNvPicPr/>
                            <p:nvPr/>
                          </p:nvPicPr>
                          <p:blipFill>
                            <a:blip r:embed="rId16"/>
                            <a:stretch>
                              <a:fillRect/>
                            </a:stretch>
                          </p:blipFill>
                          <p:spPr>
                            <a:xfrm>
                              <a:off x="580" y="1935"/>
                              <a:ext cx="320" cy="406"/>
                            </a:xfrm>
                            <a:prstGeom prst="rect">
                              <a:avLst/>
                            </a:prstGeom>
                            <a:noFill/>
                            <a:ln w="38100">
                              <a:noFill/>
                            </a:ln>
                          </p:spPr>
                        </p:pic>
                      </p:oleObj>
                    </mc:Fallback>
                  </mc:AlternateContent>
                </a:graphicData>
              </a:graphic>
            </p:graphicFrame>
            <p:sp>
              <p:nvSpPr>
                <p:cNvPr id="190" name="Text Box 22"/>
                <p:cNvSpPr txBox="1">
                  <a:spLocks noChangeArrowheads="1"/>
                </p:cNvSpPr>
                <p:nvPr/>
              </p:nvSpPr>
              <p:spPr bwMode="auto">
                <a:xfrm>
                  <a:off x="1521" y="1979"/>
                  <a:ext cx="34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2          1          0          0          0</a:t>
                  </a:r>
                  <a:endParaRPr lang="en-US" altLang="zh-CN" sz="2800" b="1">
                    <a:solidFill>
                      <a:srgbClr val="000000"/>
                    </a:solidFill>
                    <a:latin typeface="Times New Roman" panose="02020603050405020304" pitchFamily="18" charset="0"/>
                  </a:endParaRPr>
                </a:p>
              </p:txBody>
            </p:sp>
          </p:grpSp>
          <p:sp>
            <p:nvSpPr>
              <p:cNvPr id="175" name="Text Box 23"/>
              <p:cNvSpPr txBox="1">
                <a:spLocks noChangeArrowheads="1"/>
              </p:cNvSpPr>
              <p:nvPr/>
            </p:nvSpPr>
            <p:spPr bwMode="auto">
              <a:xfrm>
                <a:off x="1519" y="809"/>
                <a:ext cx="272" cy="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6</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p:txBody>
          </p:sp>
          <p:sp>
            <p:nvSpPr>
              <p:cNvPr id="176" name="Text Box 24"/>
              <p:cNvSpPr txBox="1">
                <a:spLocks noChangeArrowheads="1"/>
              </p:cNvSpPr>
              <p:nvPr/>
            </p:nvSpPr>
            <p:spPr bwMode="auto">
              <a:xfrm>
                <a:off x="2200" y="809"/>
                <a:ext cx="272" cy="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5</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2</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p:txBody>
          </p:sp>
          <p:sp>
            <p:nvSpPr>
              <p:cNvPr id="177" name="Text Box 25"/>
              <p:cNvSpPr txBox="1">
                <a:spLocks noChangeArrowheads="1"/>
              </p:cNvSpPr>
              <p:nvPr/>
            </p:nvSpPr>
            <p:spPr bwMode="auto">
              <a:xfrm>
                <a:off x="2880" y="809"/>
                <a:ext cx="272" cy="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sp>
            <p:nvSpPr>
              <p:cNvPr id="178" name="Text Box 26"/>
              <p:cNvSpPr txBox="1">
                <a:spLocks noChangeArrowheads="1"/>
              </p:cNvSpPr>
              <p:nvPr/>
            </p:nvSpPr>
            <p:spPr bwMode="auto">
              <a:xfrm>
                <a:off x="3560" y="809"/>
                <a:ext cx="272" cy="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sp>
            <p:nvSpPr>
              <p:cNvPr id="179" name="Text Box 27"/>
              <p:cNvSpPr txBox="1">
                <a:spLocks noChangeArrowheads="1"/>
              </p:cNvSpPr>
              <p:nvPr/>
            </p:nvSpPr>
            <p:spPr bwMode="auto">
              <a:xfrm>
                <a:off x="4105" y="809"/>
                <a:ext cx="589" cy="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1</a:t>
                </a:r>
                <a:endParaRPr lang="en-US" altLang="zh-CN" sz="2800" b="1">
                  <a:solidFill>
                    <a:srgbClr val="000000"/>
                  </a:solidFill>
                  <a:latin typeface="Times New Roman" panose="02020603050405020304" pitchFamily="18" charset="0"/>
                </a:endParaRPr>
              </a:p>
            </p:txBody>
          </p:sp>
          <p:grpSp>
            <p:nvGrpSpPr>
              <p:cNvPr id="180" name="Group 28"/>
              <p:cNvGrpSpPr/>
              <p:nvPr/>
            </p:nvGrpSpPr>
            <p:grpSpPr bwMode="auto">
              <a:xfrm>
                <a:off x="687" y="677"/>
                <a:ext cx="299" cy="933"/>
                <a:chOff x="687" y="2610"/>
                <a:chExt cx="299" cy="933"/>
              </a:xfrm>
            </p:grpSpPr>
            <p:graphicFrame>
              <p:nvGraphicFramePr>
                <p:cNvPr id="186" name="Object 18"/>
                <p:cNvGraphicFramePr/>
                <p:nvPr/>
              </p:nvGraphicFramePr>
              <p:xfrm>
                <a:off x="703" y="2610"/>
                <a:ext cx="277" cy="385"/>
              </p:xfrm>
              <a:graphic>
                <a:graphicData uri="http://schemas.openxmlformats.org/presentationml/2006/ole">
                  <mc:AlternateContent xmlns:mc="http://schemas.openxmlformats.org/markup-compatibility/2006">
                    <mc:Choice xmlns:v="urn:schemas-microsoft-com:vml" Requires="v">
                      <p:oleObj spid="_x0000_s27657" name="" r:id="rId17" imgW="3962400" imgH="5486400" progId="Equation.3">
                        <p:embed/>
                      </p:oleObj>
                    </mc:Choice>
                    <mc:Fallback>
                      <p:oleObj name="" r:id="rId17" imgW="3962400" imgH="5486400" progId="Equation.3">
                        <p:embed/>
                        <p:pic>
                          <p:nvPicPr>
                            <p:cNvPr id="0" name="图片 27656"/>
                            <p:cNvPicPr/>
                            <p:nvPr/>
                          </p:nvPicPr>
                          <p:blipFill>
                            <a:blip r:embed="rId18"/>
                            <a:stretch>
                              <a:fillRect/>
                            </a:stretch>
                          </p:blipFill>
                          <p:spPr>
                            <a:xfrm>
                              <a:off x="703" y="2610"/>
                              <a:ext cx="277" cy="385"/>
                            </a:xfrm>
                            <a:prstGeom prst="rect">
                              <a:avLst/>
                            </a:prstGeom>
                            <a:noFill/>
                            <a:ln w="38100">
                              <a:noFill/>
                            </a:ln>
                          </p:spPr>
                        </p:pic>
                      </p:oleObj>
                    </mc:Fallback>
                  </mc:AlternateContent>
                </a:graphicData>
              </a:graphic>
            </p:graphicFrame>
            <p:graphicFrame>
              <p:nvGraphicFramePr>
                <p:cNvPr id="187" name="Object 19"/>
                <p:cNvGraphicFramePr/>
                <p:nvPr/>
              </p:nvGraphicFramePr>
              <p:xfrm>
                <a:off x="697" y="2868"/>
                <a:ext cx="278" cy="363"/>
              </p:xfrm>
              <a:graphic>
                <a:graphicData uri="http://schemas.openxmlformats.org/presentationml/2006/ole">
                  <mc:AlternateContent xmlns:mc="http://schemas.openxmlformats.org/markup-compatibility/2006">
                    <mc:Choice xmlns:v="urn:schemas-microsoft-com:vml" Requires="v">
                      <p:oleObj spid="_x0000_s27658" name="" r:id="rId19" imgW="3962400" imgH="5181600" progId="Equation.3">
                        <p:embed/>
                      </p:oleObj>
                    </mc:Choice>
                    <mc:Fallback>
                      <p:oleObj name="" r:id="rId19" imgW="3962400" imgH="5181600" progId="Equation.3">
                        <p:embed/>
                        <p:pic>
                          <p:nvPicPr>
                            <p:cNvPr id="0" name="图片 27657"/>
                            <p:cNvPicPr/>
                            <p:nvPr/>
                          </p:nvPicPr>
                          <p:blipFill>
                            <a:blip r:embed="rId20"/>
                            <a:stretch>
                              <a:fillRect/>
                            </a:stretch>
                          </p:blipFill>
                          <p:spPr>
                            <a:xfrm>
                              <a:off x="697" y="2868"/>
                              <a:ext cx="278" cy="363"/>
                            </a:xfrm>
                            <a:prstGeom prst="rect">
                              <a:avLst/>
                            </a:prstGeom>
                            <a:noFill/>
                            <a:ln w="38100">
                              <a:noFill/>
                            </a:ln>
                          </p:spPr>
                        </p:pic>
                      </p:oleObj>
                    </mc:Fallback>
                  </mc:AlternateContent>
                </a:graphicData>
              </a:graphic>
            </p:graphicFrame>
            <p:graphicFrame>
              <p:nvGraphicFramePr>
                <p:cNvPr id="188" name="Object 20"/>
                <p:cNvGraphicFramePr/>
                <p:nvPr/>
              </p:nvGraphicFramePr>
              <p:xfrm>
                <a:off x="687" y="3158"/>
                <a:ext cx="299" cy="385"/>
              </p:xfrm>
              <a:graphic>
                <a:graphicData uri="http://schemas.openxmlformats.org/presentationml/2006/ole">
                  <mc:AlternateContent xmlns:mc="http://schemas.openxmlformats.org/markup-compatibility/2006">
                    <mc:Choice xmlns:v="urn:schemas-microsoft-com:vml" Requires="v">
                      <p:oleObj spid="_x0000_s27659" name="" r:id="rId21" imgW="4267200" imgH="5486400" progId="Equation.3">
                        <p:embed/>
                      </p:oleObj>
                    </mc:Choice>
                    <mc:Fallback>
                      <p:oleObj name="" r:id="rId21" imgW="4267200" imgH="5486400" progId="Equation.3">
                        <p:embed/>
                        <p:pic>
                          <p:nvPicPr>
                            <p:cNvPr id="0" name="图片 27658"/>
                            <p:cNvPicPr/>
                            <p:nvPr/>
                          </p:nvPicPr>
                          <p:blipFill>
                            <a:blip r:embed="rId22"/>
                            <a:stretch>
                              <a:fillRect/>
                            </a:stretch>
                          </p:blipFill>
                          <p:spPr>
                            <a:xfrm>
                              <a:off x="687" y="3158"/>
                              <a:ext cx="299" cy="385"/>
                            </a:xfrm>
                            <a:prstGeom prst="rect">
                              <a:avLst/>
                            </a:prstGeom>
                            <a:noFill/>
                            <a:ln w="38100">
                              <a:noFill/>
                            </a:ln>
                          </p:spPr>
                        </p:pic>
                      </p:oleObj>
                    </mc:Fallback>
                  </mc:AlternateContent>
                </a:graphicData>
              </a:graphic>
            </p:graphicFrame>
          </p:grpSp>
          <p:sp>
            <p:nvSpPr>
              <p:cNvPr id="181" name="Text Box 32"/>
              <p:cNvSpPr txBox="1">
                <a:spLocks noChangeArrowheads="1"/>
              </p:cNvSpPr>
              <p:nvPr/>
            </p:nvSpPr>
            <p:spPr bwMode="auto">
              <a:xfrm>
                <a:off x="975" y="809"/>
                <a:ext cx="408" cy="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15 </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24</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5</a:t>
                </a:r>
                <a:endParaRPr lang="en-US" altLang="zh-CN" sz="2800" b="1">
                  <a:solidFill>
                    <a:srgbClr val="000000"/>
                  </a:solidFill>
                  <a:latin typeface="Times New Roman" panose="02020603050405020304" pitchFamily="18" charset="0"/>
                </a:endParaRPr>
              </a:p>
            </p:txBody>
          </p:sp>
          <p:sp>
            <p:nvSpPr>
              <p:cNvPr id="182" name="Text Box 33"/>
              <p:cNvSpPr txBox="1">
                <a:spLocks noChangeArrowheads="1"/>
              </p:cNvSpPr>
              <p:nvPr/>
            </p:nvSpPr>
            <p:spPr bwMode="auto">
              <a:xfrm>
                <a:off x="249" y="809"/>
                <a:ext cx="272" cy="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graphicFrame>
            <p:nvGraphicFramePr>
              <p:cNvPr id="183" name="Object 17"/>
              <p:cNvGraphicFramePr/>
              <p:nvPr/>
            </p:nvGraphicFramePr>
            <p:xfrm>
              <a:off x="745" y="1692"/>
              <a:ext cx="217" cy="278"/>
            </p:xfrm>
            <a:graphic>
              <a:graphicData uri="http://schemas.openxmlformats.org/presentationml/2006/ole">
                <mc:AlternateContent xmlns:mc="http://schemas.openxmlformats.org/markup-compatibility/2006">
                  <mc:Choice xmlns:v="urn:schemas-microsoft-com:vml" Requires="v">
                    <p:oleObj spid="_x0000_s27660" name="" r:id="rId23" imgW="4572000" imgH="5791200" progId="Equation.3">
                      <p:embed/>
                    </p:oleObj>
                  </mc:Choice>
                  <mc:Fallback>
                    <p:oleObj name="" r:id="rId23" imgW="4572000" imgH="5791200" progId="Equation.3">
                      <p:embed/>
                      <p:pic>
                        <p:nvPicPr>
                          <p:cNvPr id="0" name="图片 27659"/>
                          <p:cNvPicPr/>
                          <p:nvPr/>
                        </p:nvPicPr>
                        <p:blipFill>
                          <a:blip r:embed="rId24"/>
                          <a:stretch>
                            <a:fillRect/>
                          </a:stretch>
                        </p:blipFill>
                        <p:spPr>
                          <a:xfrm>
                            <a:off x="745" y="1692"/>
                            <a:ext cx="217" cy="278"/>
                          </a:xfrm>
                          <a:prstGeom prst="rect">
                            <a:avLst/>
                          </a:prstGeom>
                          <a:noFill/>
                          <a:ln w="38100">
                            <a:noFill/>
                          </a:ln>
                        </p:spPr>
                      </p:pic>
                    </p:oleObj>
                  </mc:Fallback>
                </mc:AlternateContent>
              </a:graphicData>
            </a:graphic>
          </p:graphicFrame>
          <p:sp>
            <p:nvSpPr>
              <p:cNvPr id="184" name="Text Box 35"/>
              <p:cNvSpPr txBox="1">
                <a:spLocks noChangeArrowheads="1"/>
              </p:cNvSpPr>
              <p:nvPr/>
            </p:nvSpPr>
            <p:spPr bwMode="auto">
              <a:xfrm>
                <a:off x="1520" y="1632"/>
                <a:ext cx="3719"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2          1          0          0          0</a:t>
                </a:r>
                <a:endParaRPr lang="en-US" altLang="zh-CN" sz="2800" b="1">
                  <a:solidFill>
                    <a:srgbClr val="000000"/>
                  </a:solidFill>
                  <a:latin typeface="Times New Roman" panose="02020603050405020304" pitchFamily="18" charset="0"/>
                </a:endParaRPr>
              </a:p>
            </p:txBody>
          </p:sp>
          <p:sp>
            <p:nvSpPr>
              <p:cNvPr id="185" name="Text Box 36"/>
              <p:cNvSpPr txBox="1">
                <a:spLocks noChangeArrowheads="1"/>
              </p:cNvSpPr>
              <p:nvPr/>
            </p:nvSpPr>
            <p:spPr bwMode="auto">
              <a:xfrm>
                <a:off x="4785" y="799"/>
                <a:ext cx="408"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endParaRPr lang="en-US" altLang="zh-CN" sz="2800" b="1">
                  <a:solidFill>
                    <a:srgbClr val="000000"/>
                  </a:solidFill>
                  <a:latin typeface="Times New Roman" panose="02020603050405020304" pitchFamily="18" charset="0"/>
                </a:endParaRPr>
              </a:p>
            </p:txBody>
          </p:sp>
        </p:grpSp>
        <p:graphicFrame>
          <p:nvGraphicFramePr>
            <p:cNvPr id="203" name="Object 2"/>
            <p:cNvGraphicFramePr/>
            <p:nvPr/>
          </p:nvGraphicFramePr>
          <p:xfrm>
            <a:off x="3723" y="2476"/>
            <a:ext cx="540" cy="611"/>
          </p:xfrm>
          <a:graphic>
            <a:graphicData uri="http://schemas.openxmlformats.org/presentationml/2006/ole">
              <mc:AlternateContent xmlns:mc="http://schemas.openxmlformats.org/markup-compatibility/2006">
                <mc:Choice xmlns:v="urn:schemas-microsoft-com:vml" Requires="v">
                  <p:oleObj spid="_x0000_s27661" name="" r:id="rId25" imgW="6705600" imgH="5181600" progId="Equation.3">
                    <p:embed/>
                  </p:oleObj>
                </mc:Choice>
                <mc:Fallback>
                  <p:oleObj name="" r:id="rId25" imgW="6705600" imgH="5181600" progId="Equation.3">
                    <p:embed/>
                    <p:pic>
                      <p:nvPicPr>
                        <p:cNvPr id="0" name="图片 27660"/>
                        <p:cNvPicPr/>
                        <p:nvPr/>
                      </p:nvPicPr>
                      <p:blipFill>
                        <a:blip r:embed="rId26"/>
                        <a:stretch>
                          <a:fillRect/>
                        </a:stretch>
                      </p:blipFill>
                      <p:spPr>
                        <a:xfrm>
                          <a:off x="3723" y="2476"/>
                          <a:ext cx="540" cy="611"/>
                        </a:xfrm>
                        <a:prstGeom prst="rect">
                          <a:avLst/>
                        </a:prstGeom>
                        <a:noFill/>
                        <a:ln w="9525">
                          <a:noFill/>
                        </a:ln>
                      </p:spPr>
                    </p:pic>
                  </p:oleObj>
                </mc:Fallback>
              </mc:AlternateContent>
            </a:graphicData>
          </a:graphic>
        </p:graphicFrame>
        <p:sp>
          <p:nvSpPr>
            <p:cNvPr id="204" name="Line 41"/>
            <p:cNvSpPr>
              <a:spLocks noChangeShapeType="1"/>
            </p:cNvSpPr>
            <p:nvPr/>
          </p:nvSpPr>
          <p:spPr bwMode="auto">
            <a:xfrm>
              <a:off x="516" y="4535"/>
              <a:ext cx="12750" cy="3"/>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grpSp>
          <p:nvGrpSpPr>
            <p:cNvPr id="205" name="Group 78"/>
            <p:cNvGrpSpPr/>
            <p:nvPr/>
          </p:nvGrpSpPr>
          <p:grpSpPr bwMode="auto">
            <a:xfrm>
              <a:off x="285" y="6951"/>
              <a:ext cx="12893" cy="3051"/>
              <a:chOff x="158" y="2704"/>
              <a:chExt cx="5045" cy="1189"/>
            </a:xfrm>
          </p:grpSpPr>
          <p:sp>
            <p:nvSpPr>
              <p:cNvPr id="206" name="Line 57"/>
              <p:cNvSpPr>
                <a:spLocks noChangeShapeType="1"/>
              </p:cNvSpPr>
              <p:nvPr/>
            </p:nvSpPr>
            <p:spPr bwMode="auto">
              <a:xfrm flipH="1">
                <a:off x="1501" y="2750"/>
                <a:ext cx="0" cy="1108"/>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graphicFrame>
            <p:nvGraphicFramePr>
              <p:cNvPr id="207" name="Object 13"/>
              <p:cNvGraphicFramePr/>
              <p:nvPr/>
            </p:nvGraphicFramePr>
            <p:xfrm>
              <a:off x="609" y="3499"/>
              <a:ext cx="320" cy="354"/>
            </p:xfrm>
            <a:graphic>
              <a:graphicData uri="http://schemas.openxmlformats.org/presentationml/2006/ole">
                <mc:AlternateContent xmlns:mc="http://schemas.openxmlformats.org/markup-compatibility/2006">
                  <mc:Choice xmlns:v="urn:schemas-microsoft-com:vml" Requires="v">
                    <p:oleObj spid="_x0000_s27662" name="" r:id="rId27" imgW="4572000" imgH="5791200" progId="Equation.3">
                      <p:embed/>
                    </p:oleObj>
                  </mc:Choice>
                  <mc:Fallback>
                    <p:oleObj name="" r:id="rId27" imgW="4572000" imgH="5791200" progId="Equation.3">
                      <p:embed/>
                      <p:pic>
                        <p:nvPicPr>
                          <p:cNvPr id="0" name="图片 27661"/>
                          <p:cNvPicPr/>
                          <p:nvPr/>
                        </p:nvPicPr>
                        <p:blipFill>
                          <a:blip r:embed="rId28"/>
                          <a:stretch>
                            <a:fillRect/>
                          </a:stretch>
                        </p:blipFill>
                        <p:spPr>
                          <a:xfrm>
                            <a:off x="609" y="3499"/>
                            <a:ext cx="320" cy="354"/>
                          </a:xfrm>
                          <a:prstGeom prst="rect">
                            <a:avLst/>
                          </a:prstGeom>
                          <a:noFill/>
                          <a:ln w="38100">
                            <a:noFill/>
                          </a:ln>
                        </p:spPr>
                      </p:pic>
                    </p:oleObj>
                  </mc:Fallback>
                </mc:AlternateContent>
              </a:graphicData>
            </a:graphic>
          </p:graphicFrame>
          <p:sp>
            <p:nvSpPr>
              <p:cNvPr id="208" name="Rectangle 59"/>
              <p:cNvSpPr>
                <a:spLocks noChangeArrowheads="1"/>
              </p:cNvSpPr>
              <p:nvPr/>
            </p:nvSpPr>
            <p:spPr bwMode="auto">
              <a:xfrm>
                <a:off x="2743" y="3442"/>
                <a:ext cx="408" cy="317"/>
              </a:xfrm>
              <a:prstGeom prst="rect">
                <a:avLst/>
              </a:prstGeom>
              <a:solidFill>
                <a:srgbClr val="FFFFFF"/>
              </a:solidFill>
              <a:ln>
                <a:noFill/>
              </a:ln>
              <a:extLst>
                <a:ext uri="{91240B29-F687-4F45-9708-019B960494DF}">
                  <a14:hiddenLine xmlns:a14="http://schemas.microsoft.com/office/drawing/2010/main" w="63500">
                    <a:solidFill>
                      <a:srgbClr val="000000"/>
                    </a:solidFill>
                    <a:miter lim="800000"/>
                    <a:headEnd/>
                    <a:tailEnd/>
                  </a14:hiddenLine>
                </a:ext>
              </a:extLst>
            </p:spPr>
            <p:txBody>
              <a:bodyPr wrap="none" anchor="ctr"/>
              <a:lstStyle/>
              <a:p>
                <a:endParaRPr lang="zh-CN" altLang="en-US">
                  <a:solidFill>
                    <a:srgbClr val="000000"/>
                  </a:solidFill>
                </a:endParaRPr>
              </a:p>
            </p:txBody>
          </p:sp>
          <p:sp>
            <p:nvSpPr>
              <p:cNvPr id="209" name="Text Box 60"/>
              <p:cNvSpPr txBox="1">
                <a:spLocks noChangeArrowheads="1"/>
              </p:cNvSpPr>
              <p:nvPr/>
            </p:nvSpPr>
            <p:spPr bwMode="auto">
              <a:xfrm>
                <a:off x="2154" y="2819"/>
                <a:ext cx="272"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p:txBody>
          </p:sp>
          <p:sp>
            <p:nvSpPr>
              <p:cNvPr id="210" name="Line 62"/>
              <p:cNvSpPr>
                <a:spLocks noChangeShapeType="1"/>
              </p:cNvSpPr>
              <p:nvPr/>
            </p:nvSpPr>
            <p:spPr bwMode="auto">
              <a:xfrm>
                <a:off x="158" y="3565"/>
                <a:ext cx="4989" cy="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211" name="Text Box 63"/>
              <p:cNvSpPr txBox="1">
                <a:spLocks noChangeArrowheads="1"/>
              </p:cNvSpPr>
              <p:nvPr/>
            </p:nvSpPr>
            <p:spPr bwMode="auto">
              <a:xfrm>
                <a:off x="1473" y="2862"/>
                <a:ext cx="272"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sp>
            <p:nvSpPr>
              <p:cNvPr id="212" name="Text Box 64"/>
              <p:cNvSpPr txBox="1">
                <a:spLocks noChangeArrowheads="1"/>
              </p:cNvSpPr>
              <p:nvPr/>
            </p:nvSpPr>
            <p:spPr bwMode="auto">
              <a:xfrm>
                <a:off x="2834" y="2858"/>
                <a:ext cx="318"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sp>
            <p:nvSpPr>
              <p:cNvPr id="213" name="Text Box 65"/>
              <p:cNvSpPr txBox="1">
                <a:spLocks noChangeArrowheads="1"/>
              </p:cNvSpPr>
              <p:nvPr/>
            </p:nvSpPr>
            <p:spPr bwMode="auto">
              <a:xfrm>
                <a:off x="3514" y="2862"/>
                <a:ext cx="499"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5/4</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1/4</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-1/4</a:t>
                </a:r>
                <a:endParaRPr lang="en-US" altLang="zh-CN" sz="2800" b="1">
                  <a:solidFill>
                    <a:srgbClr val="000000"/>
                  </a:solidFill>
                  <a:latin typeface="Times New Roman" panose="02020603050405020304" pitchFamily="18" charset="0"/>
                </a:endParaRPr>
              </a:p>
            </p:txBody>
          </p:sp>
          <p:sp>
            <p:nvSpPr>
              <p:cNvPr id="214" name="Text Box 66"/>
              <p:cNvSpPr txBox="1">
                <a:spLocks noChangeArrowheads="1"/>
              </p:cNvSpPr>
              <p:nvPr/>
            </p:nvSpPr>
            <p:spPr bwMode="auto">
              <a:xfrm>
                <a:off x="4104" y="2862"/>
                <a:ext cx="726"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-15/2</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-1/2</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3/2</a:t>
                </a:r>
                <a:endParaRPr lang="en-US" altLang="zh-CN" sz="2800" b="1">
                  <a:solidFill>
                    <a:srgbClr val="000000"/>
                  </a:solidFill>
                  <a:latin typeface="Times New Roman" panose="02020603050405020304" pitchFamily="18" charset="0"/>
                </a:endParaRPr>
              </a:p>
            </p:txBody>
          </p:sp>
          <p:grpSp>
            <p:nvGrpSpPr>
              <p:cNvPr id="215" name="Group 67"/>
              <p:cNvGrpSpPr/>
              <p:nvPr/>
            </p:nvGrpSpPr>
            <p:grpSpPr bwMode="auto">
              <a:xfrm>
                <a:off x="657" y="2704"/>
                <a:ext cx="298" cy="804"/>
                <a:chOff x="693" y="2610"/>
                <a:chExt cx="298" cy="922"/>
              </a:xfrm>
            </p:grpSpPr>
            <p:graphicFrame>
              <p:nvGraphicFramePr>
                <p:cNvPr id="219" name="Object 14"/>
                <p:cNvGraphicFramePr/>
                <p:nvPr/>
              </p:nvGraphicFramePr>
              <p:xfrm>
                <a:off x="693" y="2610"/>
                <a:ext cx="298" cy="385"/>
              </p:xfrm>
              <a:graphic>
                <a:graphicData uri="http://schemas.openxmlformats.org/presentationml/2006/ole">
                  <mc:AlternateContent xmlns:mc="http://schemas.openxmlformats.org/markup-compatibility/2006">
                    <mc:Choice xmlns:v="urn:schemas-microsoft-com:vml" Requires="v">
                      <p:oleObj spid="_x0000_s27663" name="" r:id="rId29" imgW="4267200" imgH="5486400" progId="Equation.3">
                        <p:embed/>
                      </p:oleObj>
                    </mc:Choice>
                    <mc:Fallback>
                      <p:oleObj name="" r:id="rId29" imgW="4267200" imgH="5486400" progId="Equation.3">
                        <p:embed/>
                        <p:pic>
                          <p:nvPicPr>
                            <p:cNvPr id="0" name="图片 27662"/>
                            <p:cNvPicPr/>
                            <p:nvPr/>
                          </p:nvPicPr>
                          <p:blipFill>
                            <a:blip r:embed="rId30"/>
                            <a:stretch>
                              <a:fillRect/>
                            </a:stretch>
                          </p:blipFill>
                          <p:spPr>
                            <a:xfrm>
                              <a:off x="693" y="2610"/>
                              <a:ext cx="298" cy="385"/>
                            </a:xfrm>
                            <a:prstGeom prst="rect">
                              <a:avLst/>
                            </a:prstGeom>
                            <a:noFill/>
                            <a:ln w="38100">
                              <a:noFill/>
                            </a:ln>
                          </p:spPr>
                        </p:pic>
                      </p:oleObj>
                    </mc:Fallback>
                  </mc:AlternateContent>
                </a:graphicData>
              </a:graphic>
            </p:graphicFrame>
            <p:graphicFrame>
              <p:nvGraphicFramePr>
                <p:cNvPr id="220" name="Object 15"/>
                <p:cNvGraphicFramePr/>
                <p:nvPr/>
              </p:nvGraphicFramePr>
              <p:xfrm>
                <a:off x="707" y="2868"/>
                <a:ext cx="257" cy="363"/>
              </p:xfrm>
              <a:graphic>
                <a:graphicData uri="http://schemas.openxmlformats.org/presentationml/2006/ole">
                  <mc:AlternateContent xmlns:mc="http://schemas.openxmlformats.org/markup-compatibility/2006">
                    <mc:Choice xmlns:v="urn:schemas-microsoft-com:vml" Requires="v">
                      <p:oleObj spid="_x0000_s27664" name="" r:id="rId31" imgW="3657600" imgH="5181600" progId="Equation.3">
                        <p:embed/>
                      </p:oleObj>
                    </mc:Choice>
                    <mc:Fallback>
                      <p:oleObj name="" r:id="rId31" imgW="3657600" imgH="5181600" progId="Equation.3">
                        <p:embed/>
                        <p:pic>
                          <p:nvPicPr>
                            <p:cNvPr id="0" name="图片 27663"/>
                            <p:cNvPicPr/>
                            <p:nvPr/>
                          </p:nvPicPr>
                          <p:blipFill>
                            <a:blip r:embed="rId32"/>
                            <a:stretch>
                              <a:fillRect/>
                            </a:stretch>
                          </p:blipFill>
                          <p:spPr>
                            <a:xfrm>
                              <a:off x="707" y="2868"/>
                              <a:ext cx="257" cy="363"/>
                            </a:xfrm>
                            <a:prstGeom prst="rect">
                              <a:avLst/>
                            </a:prstGeom>
                            <a:noFill/>
                            <a:ln w="38100">
                              <a:noFill/>
                            </a:ln>
                          </p:spPr>
                        </p:pic>
                      </p:oleObj>
                    </mc:Fallback>
                  </mc:AlternateContent>
                </a:graphicData>
              </a:graphic>
            </p:graphicFrame>
            <p:graphicFrame>
              <p:nvGraphicFramePr>
                <p:cNvPr id="221" name="Object 16"/>
                <p:cNvGraphicFramePr/>
                <p:nvPr/>
              </p:nvGraphicFramePr>
              <p:xfrm>
                <a:off x="697" y="3168"/>
                <a:ext cx="278" cy="364"/>
              </p:xfrm>
              <a:graphic>
                <a:graphicData uri="http://schemas.openxmlformats.org/presentationml/2006/ole">
                  <mc:AlternateContent xmlns:mc="http://schemas.openxmlformats.org/markup-compatibility/2006">
                    <mc:Choice xmlns:v="urn:schemas-microsoft-com:vml" Requires="v">
                      <p:oleObj spid="_x0000_s27665" name="" r:id="rId33" imgW="3962400" imgH="5181600" progId="Equation.3">
                        <p:embed/>
                      </p:oleObj>
                    </mc:Choice>
                    <mc:Fallback>
                      <p:oleObj name="" r:id="rId33" imgW="3962400" imgH="5181600" progId="Equation.3">
                        <p:embed/>
                        <p:pic>
                          <p:nvPicPr>
                            <p:cNvPr id="0" name="图片 27664"/>
                            <p:cNvPicPr/>
                            <p:nvPr/>
                          </p:nvPicPr>
                          <p:blipFill>
                            <a:blip r:embed="rId34"/>
                            <a:stretch>
                              <a:fillRect/>
                            </a:stretch>
                          </p:blipFill>
                          <p:spPr>
                            <a:xfrm>
                              <a:off x="697" y="3168"/>
                              <a:ext cx="278" cy="364"/>
                            </a:xfrm>
                            <a:prstGeom prst="rect">
                              <a:avLst/>
                            </a:prstGeom>
                            <a:noFill/>
                            <a:ln w="38100">
                              <a:noFill/>
                            </a:ln>
                          </p:spPr>
                        </p:pic>
                      </p:oleObj>
                    </mc:Fallback>
                  </mc:AlternateContent>
                </a:graphicData>
              </a:graphic>
            </p:graphicFrame>
          </p:grpSp>
          <p:sp>
            <p:nvSpPr>
              <p:cNvPr id="216" name="Text Box 71"/>
              <p:cNvSpPr txBox="1">
                <a:spLocks noChangeArrowheads="1"/>
              </p:cNvSpPr>
              <p:nvPr/>
            </p:nvSpPr>
            <p:spPr bwMode="auto">
              <a:xfrm>
                <a:off x="929" y="2823"/>
                <a:ext cx="679"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15/2 </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7/2</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3/2</a:t>
                </a:r>
                <a:endParaRPr lang="en-US" altLang="zh-CN" sz="2800" b="1">
                  <a:solidFill>
                    <a:srgbClr val="000000"/>
                  </a:solidFill>
                  <a:latin typeface="Times New Roman" panose="02020603050405020304" pitchFamily="18" charset="0"/>
                </a:endParaRPr>
              </a:p>
            </p:txBody>
          </p:sp>
          <p:sp>
            <p:nvSpPr>
              <p:cNvPr id="217" name="Text Box 72"/>
              <p:cNvSpPr txBox="1">
                <a:spLocks noChangeArrowheads="1"/>
              </p:cNvSpPr>
              <p:nvPr/>
            </p:nvSpPr>
            <p:spPr bwMode="auto">
              <a:xfrm>
                <a:off x="204" y="2840"/>
                <a:ext cx="272"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2</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p:txBody>
          </p:sp>
          <p:sp>
            <p:nvSpPr>
              <p:cNvPr id="218" name="Text Box 73"/>
              <p:cNvSpPr txBox="1">
                <a:spLocks noChangeArrowheads="1"/>
              </p:cNvSpPr>
              <p:nvPr/>
            </p:nvSpPr>
            <p:spPr bwMode="auto">
              <a:xfrm>
                <a:off x="1484" y="3566"/>
                <a:ext cx="371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          0          0          -1/4      -1/2</a:t>
                </a:r>
                <a:endParaRPr lang="en-US" altLang="zh-CN" sz="2800" b="1">
                  <a:solidFill>
                    <a:srgbClr val="000000"/>
                  </a:solidFill>
                  <a:latin typeface="Times New Roman" panose="02020603050405020304" pitchFamily="18" charset="0"/>
                </a:endParaRPr>
              </a:p>
            </p:txBody>
          </p:sp>
        </p:grpSp>
        <p:grpSp>
          <p:nvGrpSpPr>
            <p:cNvPr id="222" name="Group 75"/>
            <p:cNvGrpSpPr/>
            <p:nvPr/>
          </p:nvGrpSpPr>
          <p:grpSpPr bwMode="auto">
            <a:xfrm>
              <a:off x="403" y="4345"/>
              <a:ext cx="12776" cy="3023"/>
              <a:chOff x="204" y="1933"/>
              <a:chExt cx="5035" cy="1316"/>
            </a:xfrm>
          </p:grpSpPr>
          <p:sp>
            <p:nvSpPr>
              <p:cNvPr id="223" name="Line 39"/>
              <p:cNvSpPr>
                <a:spLocks noChangeShapeType="1"/>
              </p:cNvSpPr>
              <p:nvPr/>
            </p:nvSpPr>
            <p:spPr bwMode="auto">
              <a:xfrm flipH="1">
                <a:off x="1519" y="1979"/>
                <a:ext cx="1" cy="127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224" name="Text Box 40"/>
              <p:cNvSpPr txBox="1">
                <a:spLocks noChangeArrowheads="1"/>
              </p:cNvSpPr>
              <p:nvPr/>
            </p:nvSpPr>
            <p:spPr bwMode="auto">
              <a:xfrm>
                <a:off x="2064" y="2065"/>
                <a:ext cx="589" cy="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5</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1/3</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2/3</a:t>
                </a:r>
                <a:endParaRPr lang="en-US" altLang="zh-CN" sz="2800" b="1">
                  <a:solidFill>
                    <a:srgbClr val="000000"/>
                  </a:solidFill>
                  <a:latin typeface="Times New Roman" panose="02020603050405020304" pitchFamily="18" charset="0"/>
                </a:endParaRPr>
              </a:p>
            </p:txBody>
          </p:sp>
          <p:sp>
            <p:nvSpPr>
              <p:cNvPr id="225" name="Line 42"/>
              <p:cNvSpPr>
                <a:spLocks noChangeShapeType="1"/>
              </p:cNvSpPr>
              <p:nvPr/>
            </p:nvSpPr>
            <p:spPr bwMode="auto">
              <a:xfrm>
                <a:off x="204" y="2844"/>
                <a:ext cx="4989" cy="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sp>
            <p:nvSpPr>
              <p:cNvPr id="226" name="Text Box 43"/>
              <p:cNvSpPr txBox="1">
                <a:spLocks noChangeArrowheads="1"/>
              </p:cNvSpPr>
              <p:nvPr/>
            </p:nvSpPr>
            <p:spPr bwMode="auto">
              <a:xfrm>
                <a:off x="1519" y="2107"/>
                <a:ext cx="273" cy="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sp>
            <p:nvSpPr>
              <p:cNvPr id="227" name="Text Box 44"/>
              <p:cNvSpPr txBox="1">
                <a:spLocks noChangeArrowheads="1"/>
              </p:cNvSpPr>
              <p:nvPr/>
            </p:nvSpPr>
            <p:spPr bwMode="auto">
              <a:xfrm>
                <a:off x="2880" y="2065"/>
                <a:ext cx="272" cy="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sp>
            <p:nvSpPr>
              <p:cNvPr id="228" name="Text Box 45"/>
              <p:cNvSpPr txBox="1">
                <a:spLocks noChangeArrowheads="1"/>
              </p:cNvSpPr>
              <p:nvPr/>
            </p:nvSpPr>
            <p:spPr bwMode="auto">
              <a:xfrm>
                <a:off x="3560" y="2061"/>
                <a:ext cx="499" cy="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1/6</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-1/6</a:t>
                </a:r>
                <a:endParaRPr lang="en-US" altLang="zh-CN" sz="2800" b="1">
                  <a:solidFill>
                    <a:srgbClr val="000000"/>
                  </a:solidFill>
                  <a:latin typeface="Times New Roman" panose="02020603050405020304" pitchFamily="18" charset="0"/>
                </a:endParaRPr>
              </a:p>
            </p:txBody>
          </p:sp>
          <p:sp>
            <p:nvSpPr>
              <p:cNvPr id="229" name="Text Box 46"/>
              <p:cNvSpPr txBox="1">
                <a:spLocks noChangeArrowheads="1"/>
              </p:cNvSpPr>
              <p:nvPr/>
            </p:nvSpPr>
            <p:spPr bwMode="auto">
              <a:xfrm>
                <a:off x="4195" y="2069"/>
                <a:ext cx="408" cy="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1</a:t>
                </a:r>
                <a:endParaRPr lang="en-US" altLang="zh-CN" sz="2800" b="1">
                  <a:solidFill>
                    <a:srgbClr val="000000"/>
                  </a:solidFill>
                  <a:latin typeface="Times New Roman" panose="02020603050405020304" pitchFamily="18" charset="0"/>
                </a:endParaRPr>
              </a:p>
            </p:txBody>
          </p:sp>
          <p:grpSp>
            <p:nvGrpSpPr>
              <p:cNvPr id="230" name="Group 47"/>
              <p:cNvGrpSpPr/>
              <p:nvPr/>
            </p:nvGrpSpPr>
            <p:grpSpPr bwMode="auto">
              <a:xfrm>
                <a:off x="687" y="1933"/>
                <a:ext cx="299" cy="933"/>
                <a:chOff x="687" y="2610"/>
                <a:chExt cx="299" cy="933"/>
              </a:xfrm>
            </p:grpSpPr>
            <p:graphicFrame>
              <p:nvGraphicFramePr>
                <p:cNvPr id="237" name="Object 10"/>
                <p:cNvGraphicFramePr/>
                <p:nvPr/>
              </p:nvGraphicFramePr>
              <p:xfrm>
                <a:off x="703" y="2610"/>
                <a:ext cx="277" cy="385"/>
              </p:xfrm>
              <a:graphic>
                <a:graphicData uri="http://schemas.openxmlformats.org/presentationml/2006/ole">
                  <mc:AlternateContent xmlns:mc="http://schemas.openxmlformats.org/markup-compatibility/2006">
                    <mc:Choice xmlns:v="urn:schemas-microsoft-com:vml" Requires="v">
                      <p:oleObj spid="_x0000_s27666" name="" r:id="rId35" imgW="3962400" imgH="5486400" progId="Equation.3">
                        <p:embed/>
                      </p:oleObj>
                    </mc:Choice>
                    <mc:Fallback>
                      <p:oleObj name="" r:id="rId35" imgW="3962400" imgH="5486400" progId="Equation.3">
                        <p:embed/>
                        <p:pic>
                          <p:nvPicPr>
                            <p:cNvPr id="0" name="图片 27665"/>
                            <p:cNvPicPr/>
                            <p:nvPr/>
                          </p:nvPicPr>
                          <p:blipFill>
                            <a:blip r:embed="rId18"/>
                            <a:stretch>
                              <a:fillRect/>
                            </a:stretch>
                          </p:blipFill>
                          <p:spPr>
                            <a:xfrm>
                              <a:off x="703" y="2610"/>
                              <a:ext cx="277" cy="385"/>
                            </a:xfrm>
                            <a:prstGeom prst="rect">
                              <a:avLst/>
                            </a:prstGeom>
                            <a:noFill/>
                            <a:ln w="38100">
                              <a:noFill/>
                            </a:ln>
                          </p:spPr>
                        </p:pic>
                      </p:oleObj>
                    </mc:Fallback>
                  </mc:AlternateContent>
                </a:graphicData>
              </a:graphic>
            </p:graphicFrame>
            <p:graphicFrame>
              <p:nvGraphicFramePr>
                <p:cNvPr id="238" name="Object 11"/>
                <p:cNvGraphicFramePr/>
                <p:nvPr/>
              </p:nvGraphicFramePr>
              <p:xfrm>
                <a:off x="707" y="2868"/>
                <a:ext cx="257" cy="363"/>
              </p:xfrm>
              <a:graphic>
                <a:graphicData uri="http://schemas.openxmlformats.org/presentationml/2006/ole">
                  <mc:AlternateContent xmlns:mc="http://schemas.openxmlformats.org/markup-compatibility/2006">
                    <mc:Choice xmlns:v="urn:schemas-microsoft-com:vml" Requires="v">
                      <p:oleObj spid="_x0000_s27667" name="" r:id="rId36" imgW="3657600" imgH="5181600" progId="Equation.3">
                        <p:embed/>
                      </p:oleObj>
                    </mc:Choice>
                    <mc:Fallback>
                      <p:oleObj name="" r:id="rId36" imgW="3657600" imgH="5181600" progId="Equation.3">
                        <p:embed/>
                        <p:pic>
                          <p:nvPicPr>
                            <p:cNvPr id="0" name="图片 27666"/>
                            <p:cNvPicPr/>
                            <p:nvPr/>
                          </p:nvPicPr>
                          <p:blipFill>
                            <a:blip r:embed="rId37"/>
                            <a:stretch>
                              <a:fillRect/>
                            </a:stretch>
                          </p:blipFill>
                          <p:spPr>
                            <a:xfrm>
                              <a:off x="707" y="2868"/>
                              <a:ext cx="257" cy="363"/>
                            </a:xfrm>
                            <a:prstGeom prst="rect">
                              <a:avLst/>
                            </a:prstGeom>
                            <a:noFill/>
                            <a:ln w="38100">
                              <a:noFill/>
                            </a:ln>
                          </p:spPr>
                        </p:pic>
                      </p:oleObj>
                    </mc:Fallback>
                  </mc:AlternateContent>
                </a:graphicData>
              </a:graphic>
            </p:graphicFrame>
            <p:graphicFrame>
              <p:nvGraphicFramePr>
                <p:cNvPr id="239" name="Object 12"/>
                <p:cNvGraphicFramePr/>
                <p:nvPr/>
              </p:nvGraphicFramePr>
              <p:xfrm>
                <a:off x="687" y="3158"/>
                <a:ext cx="299" cy="385"/>
              </p:xfrm>
              <a:graphic>
                <a:graphicData uri="http://schemas.openxmlformats.org/presentationml/2006/ole">
                  <mc:AlternateContent xmlns:mc="http://schemas.openxmlformats.org/markup-compatibility/2006">
                    <mc:Choice xmlns:v="urn:schemas-microsoft-com:vml" Requires="v">
                      <p:oleObj spid="_x0000_s27668" name="" r:id="rId38" imgW="4267200" imgH="5486400" progId="Equation.3">
                        <p:embed/>
                      </p:oleObj>
                    </mc:Choice>
                    <mc:Fallback>
                      <p:oleObj name="" r:id="rId38" imgW="4267200" imgH="5486400" progId="Equation.3">
                        <p:embed/>
                        <p:pic>
                          <p:nvPicPr>
                            <p:cNvPr id="0" name="图片 27667"/>
                            <p:cNvPicPr/>
                            <p:nvPr/>
                          </p:nvPicPr>
                          <p:blipFill>
                            <a:blip r:embed="rId39"/>
                            <a:stretch>
                              <a:fillRect/>
                            </a:stretch>
                          </p:blipFill>
                          <p:spPr>
                            <a:xfrm>
                              <a:off x="687" y="3158"/>
                              <a:ext cx="299" cy="385"/>
                            </a:xfrm>
                            <a:prstGeom prst="rect">
                              <a:avLst/>
                            </a:prstGeom>
                            <a:noFill/>
                            <a:ln w="38100">
                              <a:noFill/>
                            </a:ln>
                          </p:spPr>
                        </p:pic>
                      </p:oleObj>
                    </mc:Fallback>
                  </mc:AlternateContent>
                </a:graphicData>
              </a:graphic>
            </p:graphicFrame>
          </p:grpSp>
          <p:sp>
            <p:nvSpPr>
              <p:cNvPr id="231" name="Text Box 51"/>
              <p:cNvSpPr txBox="1">
                <a:spLocks noChangeArrowheads="1"/>
              </p:cNvSpPr>
              <p:nvPr/>
            </p:nvSpPr>
            <p:spPr bwMode="auto">
              <a:xfrm>
                <a:off x="976" y="2073"/>
                <a:ext cx="408" cy="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15 </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4</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  1</a:t>
                </a:r>
                <a:endParaRPr lang="en-US" altLang="zh-CN" sz="2800" b="1">
                  <a:solidFill>
                    <a:srgbClr val="000000"/>
                  </a:solidFill>
                  <a:latin typeface="Times New Roman" panose="02020603050405020304" pitchFamily="18" charset="0"/>
                </a:endParaRPr>
              </a:p>
            </p:txBody>
          </p:sp>
          <p:sp>
            <p:nvSpPr>
              <p:cNvPr id="232" name="Text Box 52"/>
              <p:cNvSpPr txBox="1">
                <a:spLocks noChangeArrowheads="1"/>
              </p:cNvSpPr>
              <p:nvPr/>
            </p:nvSpPr>
            <p:spPr bwMode="auto">
              <a:xfrm>
                <a:off x="249" y="2107"/>
                <a:ext cx="272" cy="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2</a:t>
                </a:r>
                <a:endParaRPr lang="en-US" altLang="zh-CN" sz="2800" b="1">
                  <a:solidFill>
                    <a:srgbClr val="000000"/>
                  </a:solidFill>
                  <a:latin typeface="Times New Roman" panose="02020603050405020304" pitchFamily="18" charset="0"/>
                </a:endParaRPr>
              </a:p>
              <a:p>
                <a:pPr>
                  <a:lnSpc>
                    <a:spcPct val="50000"/>
                  </a:lnSpc>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a:t>
                </a:r>
                <a:endParaRPr lang="en-US" altLang="zh-CN" sz="2800" b="1">
                  <a:solidFill>
                    <a:srgbClr val="000000"/>
                  </a:solidFill>
                  <a:latin typeface="Times New Roman" panose="02020603050405020304" pitchFamily="18" charset="0"/>
                </a:endParaRPr>
              </a:p>
            </p:txBody>
          </p:sp>
          <p:graphicFrame>
            <p:nvGraphicFramePr>
              <p:cNvPr id="233" name="Object 8"/>
              <p:cNvGraphicFramePr/>
              <p:nvPr/>
            </p:nvGraphicFramePr>
            <p:xfrm>
              <a:off x="655" y="2795"/>
              <a:ext cx="320" cy="406"/>
            </p:xfrm>
            <a:graphic>
              <a:graphicData uri="http://schemas.openxmlformats.org/presentationml/2006/ole">
                <mc:AlternateContent xmlns:mc="http://schemas.openxmlformats.org/markup-compatibility/2006">
                  <mc:Choice xmlns:v="urn:schemas-microsoft-com:vml" Requires="v">
                    <p:oleObj spid="_x0000_s27669" name="" r:id="rId40" imgW="4572000" imgH="5791200" progId="Equation.3">
                      <p:embed/>
                    </p:oleObj>
                  </mc:Choice>
                  <mc:Fallback>
                    <p:oleObj name="" r:id="rId40" imgW="4572000" imgH="5791200" progId="Equation.3">
                      <p:embed/>
                      <p:pic>
                        <p:nvPicPr>
                          <p:cNvPr id="0" name="图片 27668"/>
                          <p:cNvPicPr/>
                          <p:nvPr/>
                        </p:nvPicPr>
                        <p:blipFill>
                          <a:blip r:embed="rId28"/>
                          <a:stretch>
                            <a:fillRect/>
                          </a:stretch>
                        </p:blipFill>
                        <p:spPr>
                          <a:xfrm>
                            <a:off x="655" y="2795"/>
                            <a:ext cx="320" cy="406"/>
                          </a:xfrm>
                          <a:prstGeom prst="rect">
                            <a:avLst/>
                          </a:prstGeom>
                          <a:noFill/>
                          <a:ln w="38100">
                            <a:noFill/>
                          </a:ln>
                        </p:spPr>
                      </p:pic>
                    </p:oleObj>
                  </mc:Fallback>
                </mc:AlternateContent>
              </a:graphicData>
            </a:graphic>
          </p:graphicFrame>
          <p:sp>
            <p:nvSpPr>
              <p:cNvPr id="234" name="Text Box 54"/>
              <p:cNvSpPr txBox="1">
                <a:spLocks noChangeArrowheads="1"/>
              </p:cNvSpPr>
              <p:nvPr/>
            </p:nvSpPr>
            <p:spPr bwMode="auto">
              <a:xfrm>
                <a:off x="1520" y="2840"/>
                <a:ext cx="371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buClr>
                    <a:srgbClr val="FF3300"/>
                  </a:buClr>
                  <a:buSzPct val="70000"/>
                  <a:buFont typeface="Wingdings" panose="05000000000000000000" pitchFamily="2" charset="2"/>
                  <a:buNone/>
                </a:pPr>
                <a:r>
                  <a:rPr lang="en-US" altLang="zh-CN" sz="2800" b="1">
                    <a:solidFill>
                      <a:srgbClr val="000000"/>
                    </a:solidFill>
                    <a:latin typeface="Times New Roman" panose="02020603050405020304" pitchFamily="18" charset="0"/>
                  </a:rPr>
                  <a:t>0         1/3         0          -1/3       0</a:t>
                </a:r>
                <a:endParaRPr lang="en-US" altLang="zh-CN" sz="2800" b="1">
                  <a:solidFill>
                    <a:srgbClr val="000000"/>
                  </a:solidFill>
                  <a:latin typeface="Times New Roman" panose="02020603050405020304" pitchFamily="18" charset="0"/>
                </a:endParaRPr>
              </a:p>
            </p:txBody>
          </p:sp>
          <p:sp>
            <p:nvSpPr>
              <p:cNvPr id="235" name="Line 61"/>
              <p:cNvSpPr>
                <a:spLocks noChangeShapeType="1"/>
              </p:cNvSpPr>
              <p:nvPr/>
            </p:nvSpPr>
            <p:spPr bwMode="auto">
              <a:xfrm>
                <a:off x="204" y="3159"/>
                <a:ext cx="4989" cy="1"/>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x-none"/>
              </a:p>
            </p:txBody>
          </p:sp>
          <p:graphicFrame>
            <p:nvGraphicFramePr>
              <p:cNvPr id="236" name="Object 9"/>
              <p:cNvGraphicFramePr/>
              <p:nvPr/>
            </p:nvGraphicFramePr>
            <p:xfrm>
              <a:off x="2018" y="2554"/>
              <a:ext cx="453" cy="275"/>
            </p:xfrm>
            <a:graphic>
              <a:graphicData uri="http://schemas.openxmlformats.org/presentationml/2006/ole">
                <mc:AlternateContent xmlns:mc="http://schemas.openxmlformats.org/markup-compatibility/2006">
                  <mc:Choice xmlns:v="urn:schemas-microsoft-com:vml" Requires="v">
                    <p:oleObj spid="_x0000_s27670" name="" r:id="rId41" imgW="6705600" imgH="5181600" progId="Equation.3">
                      <p:embed/>
                    </p:oleObj>
                  </mc:Choice>
                  <mc:Fallback>
                    <p:oleObj name="" r:id="rId41" imgW="6705600" imgH="5181600" progId="Equation.3">
                      <p:embed/>
                      <p:pic>
                        <p:nvPicPr>
                          <p:cNvPr id="0" name="图片 27669"/>
                          <p:cNvPicPr/>
                          <p:nvPr/>
                        </p:nvPicPr>
                        <p:blipFill>
                          <a:blip r:embed="rId26"/>
                          <a:stretch>
                            <a:fillRect/>
                          </a:stretch>
                        </p:blipFill>
                        <p:spPr>
                          <a:xfrm>
                            <a:off x="2018" y="2554"/>
                            <a:ext cx="453" cy="275"/>
                          </a:xfrm>
                          <a:prstGeom prst="rect">
                            <a:avLst/>
                          </a:prstGeom>
                          <a:noFill/>
                          <a:ln w="38100">
                            <a:noFill/>
                          </a:ln>
                        </p:spPr>
                      </p:pic>
                    </p:oleObj>
                  </mc:Fallback>
                </mc:AlternateContent>
              </a:graphicData>
            </a:graphic>
          </p:graphicFrame>
        </p:grpSp>
        <p:graphicFrame>
          <p:nvGraphicFramePr>
            <p:cNvPr id="240" name="Object 3"/>
            <p:cNvGraphicFramePr/>
            <p:nvPr/>
          </p:nvGraphicFramePr>
          <p:xfrm>
            <a:off x="3954" y="9912"/>
            <a:ext cx="649" cy="931"/>
          </p:xfrm>
          <a:graphic>
            <a:graphicData uri="http://schemas.openxmlformats.org/presentationml/2006/ole">
              <mc:AlternateContent xmlns:mc="http://schemas.openxmlformats.org/markup-compatibility/2006">
                <mc:Choice xmlns:v="urn:schemas-microsoft-com:vml" Requires="v">
                  <p:oleObj spid="_x0000_s27671" name="" r:id="rId42" imgW="4572000" imgH="5181600" progId="Equation.3">
                    <p:embed/>
                  </p:oleObj>
                </mc:Choice>
                <mc:Fallback>
                  <p:oleObj name="" r:id="rId42" imgW="4572000" imgH="5181600" progId="Equation.3">
                    <p:embed/>
                    <p:pic>
                      <p:nvPicPr>
                        <p:cNvPr id="0" name="图片 27670"/>
                        <p:cNvPicPr/>
                        <p:nvPr/>
                      </p:nvPicPr>
                      <p:blipFill>
                        <a:blip r:embed="rId43"/>
                        <a:stretch>
                          <a:fillRect/>
                        </a:stretch>
                      </p:blipFill>
                      <p:spPr>
                        <a:xfrm>
                          <a:off x="3954" y="9912"/>
                          <a:ext cx="649" cy="931"/>
                        </a:xfrm>
                        <a:prstGeom prst="rect">
                          <a:avLst/>
                        </a:prstGeom>
                        <a:noFill/>
                        <a:ln w="9525">
                          <a:noFill/>
                        </a:ln>
                      </p:spPr>
                    </p:pic>
                  </p:oleObj>
                </mc:Fallback>
              </mc:AlternateContent>
            </a:graphicData>
          </a:graphic>
        </p:graphicFrame>
        <p:graphicFrame>
          <p:nvGraphicFramePr>
            <p:cNvPr id="241" name="Object 4"/>
            <p:cNvGraphicFramePr/>
            <p:nvPr/>
          </p:nvGraphicFramePr>
          <p:xfrm>
            <a:off x="5543" y="9856"/>
            <a:ext cx="606" cy="988"/>
          </p:xfrm>
          <a:graphic>
            <a:graphicData uri="http://schemas.openxmlformats.org/presentationml/2006/ole">
              <mc:AlternateContent xmlns:mc="http://schemas.openxmlformats.org/markup-compatibility/2006">
                <mc:Choice xmlns:v="urn:schemas-microsoft-com:vml" Requires="v">
                  <p:oleObj spid="_x0000_s27672" name="" r:id="rId44" imgW="4267200" imgH="5486400" progId="Equation.3">
                    <p:embed/>
                  </p:oleObj>
                </mc:Choice>
                <mc:Fallback>
                  <p:oleObj name="" r:id="rId44" imgW="4267200" imgH="5486400" progId="Equation.3">
                    <p:embed/>
                    <p:pic>
                      <p:nvPicPr>
                        <p:cNvPr id="0" name="图片 27671"/>
                        <p:cNvPicPr/>
                        <p:nvPr/>
                      </p:nvPicPr>
                      <p:blipFill>
                        <a:blip r:embed="rId45"/>
                        <a:stretch>
                          <a:fillRect/>
                        </a:stretch>
                      </p:blipFill>
                      <p:spPr>
                        <a:xfrm>
                          <a:off x="5543" y="9856"/>
                          <a:ext cx="606" cy="988"/>
                        </a:xfrm>
                        <a:prstGeom prst="rect">
                          <a:avLst/>
                        </a:prstGeom>
                        <a:noFill/>
                        <a:ln w="9525">
                          <a:noFill/>
                        </a:ln>
                      </p:spPr>
                    </p:pic>
                  </p:oleObj>
                </mc:Fallback>
              </mc:AlternateContent>
            </a:graphicData>
          </a:graphic>
        </p:graphicFrame>
        <p:graphicFrame>
          <p:nvGraphicFramePr>
            <p:cNvPr id="242" name="Object 5"/>
            <p:cNvGraphicFramePr/>
            <p:nvPr/>
          </p:nvGraphicFramePr>
          <p:xfrm>
            <a:off x="9172" y="9910"/>
            <a:ext cx="649" cy="934"/>
          </p:xfrm>
          <a:graphic>
            <a:graphicData uri="http://schemas.openxmlformats.org/presentationml/2006/ole">
              <mc:AlternateContent xmlns:mc="http://schemas.openxmlformats.org/markup-compatibility/2006">
                <mc:Choice xmlns:v="urn:schemas-microsoft-com:vml" Requires="v">
                  <p:oleObj spid="_x0000_s27673" name="" r:id="rId46" imgW="4572000" imgH="5181600" progId="Equation.3">
                    <p:embed/>
                  </p:oleObj>
                </mc:Choice>
                <mc:Fallback>
                  <p:oleObj name="" r:id="rId46" imgW="4572000" imgH="5181600" progId="Equation.3">
                    <p:embed/>
                    <p:pic>
                      <p:nvPicPr>
                        <p:cNvPr id="0" name="图片 27672"/>
                        <p:cNvPicPr/>
                        <p:nvPr/>
                      </p:nvPicPr>
                      <p:blipFill>
                        <a:blip r:embed="rId47"/>
                        <a:stretch>
                          <a:fillRect/>
                        </a:stretch>
                      </p:blipFill>
                      <p:spPr>
                        <a:xfrm>
                          <a:off x="9172" y="9910"/>
                          <a:ext cx="649" cy="934"/>
                        </a:xfrm>
                        <a:prstGeom prst="rect">
                          <a:avLst/>
                        </a:prstGeom>
                        <a:noFill/>
                        <a:ln w="9525">
                          <a:noFill/>
                        </a:ln>
                      </p:spPr>
                    </p:pic>
                  </p:oleObj>
                </mc:Fallback>
              </mc:AlternateContent>
            </a:graphicData>
          </a:graphic>
        </p:graphicFrame>
        <p:graphicFrame>
          <p:nvGraphicFramePr>
            <p:cNvPr id="243" name="Object 6"/>
            <p:cNvGraphicFramePr/>
            <p:nvPr/>
          </p:nvGraphicFramePr>
          <p:xfrm>
            <a:off x="7358" y="9912"/>
            <a:ext cx="565" cy="931"/>
          </p:xfrm>
          <a:graphic>
            <a:graphicData uri="http://schemas.openxmlformats.org/presentationml/2006/ole">
              <mc:AlternateContent xmlns:mc="http://schemas.openxmlformats.org/markup-compatibility/2006">
                <mc:Choice xmlns:v="urn:schemas-microsoft-com:vml" Requires="v">
                  <p:oleObj spid="_x0000_s27674" name="" r:id="rId48" imgW="3962400" imgH="5181600" progId="Equation.3">
                    <p:embed/>
                  </p:oleObj>
                </mc:Choice>
                <mc:Fallback>
                  <p:oleObj name="" r:id="rId48" imgW="3962400" imgH="5181600" progId="Equation.3">
                    <p:embed/>
                    <p:pic>
                      <p:nvPicPr>
                        <p:cNvPr id="0" name="图片 27673"/>
                        <p:cNvPicPr/>
                        <p:nvPr/>
                      </p:nvPicPr>
                      <p:blipFill>
                        <a:blip r:embed="rId49"/>
                        <a:stretch>
                          <a:fillRect/>
                        </a:stretch>
                      </p:blipFill>
                      <p:spPr>
                        <a:xfrm>
                          <a:off x="7358" y="9912"/>
                          <a:ext cx="565" cy="931"/>
                        </a:xfrm>
                        <a:prstGeom prst="rect">
                          <a:avLst/>
                        </a:prstGeom>
                        <a:noFill/>
                        <a:ln w="9525">
                          <a:noFill/>
                        </a:ln>
                      </p:spPr>
                    </p:pic>
                  </p:oleObj>
                </mc:Fallback>
              </mc:AlternateContent>
            </a:graphicData>
          </a:graphic>
        </p:graphicFrame>
        <p:graphicFrame>
          <p:nvGraphicFramePr>
            <p:cNvPr id="244" name="Object 7"/>
            <p:cNvGraphicFramePr/>
            <p:nvPr/>
          </p:nvGraphicFramePr>
          <p:xfrm>
            <a:off x="10988" y="9856"/>
            <a:ext cx="603" cy="988"/>
          </p:xfrm>
          <a:graphic>
            <a:graphicData uri="http://schemas.openxmlformats.org/presentationml/2006/ole">
              <mc:AlternateContent xmlns:mc="http://schemas.openxmlformats.org/markup-compatibility/2006">
                <mc:Choice xmlns:v="urn:schemas-microsoft-com:vml" Requires="v">
                  <p:oleObj spid="_x0000_s27675" name="" r:id="rId50" imgW="4267200" imgH="5486400" progId="Equation.3">
                    <p:embed/>
                  </p:oleObj>
                </mc:Choice>
                <mc:Fallback>
                  <p:oleObj name="" r:id="rId50" imgW="4267200" imgH="5486400" progId="Equation.3">
                    <p:embed/>
                    <p:pic>
                      <p:nvPicPr>
                        <p:cNvPr id="0" name="图片 27674"/>
                        <p:cNvPicPr/>
                        <p:nvPr/>
                      </p:nvPicPr>
                      <p:blipFill>
                        <a:blip r:embed="rId51"/>
                        <a:stretch>
                          <a:fillRect/>
                        </a:stretch>
                      </p:blipFill>
                      <p:spPr>
                        <a:xfrm>
                          <a:off x="10988" y="9856"/>
                          <a:ext cx="603" cy="988"/>
                        </a:xfrm>
                        <a:prstGeom prst="rect">
                          <a:avLst/>
                        </a:prstGeom>
                        <a:noFill/>
                        <a:ln w="9525">
                          <a:noFill/>
                        </a:ln>
                      </p:spPr>
                    </p:pic>
                  </p:oleObj>
                </mc:Fallback>
              </mc:AlternateContent>
            </a:graphicData>
          </a:graphic>
        </p:graphicFrame>
        <p:sp>
          <p:nvSpPr>
            <p:cNvPr id="245" name="AutoShape 88"/>
            <p:cNvSpPr/>
            <p:nvPr/>
          </p:nvSpPr>
          <p:spPr bwMode="auto">
            <a:xfrm rot="5400000">
              <a:off x="9224" y="7653"/>
              <a:ext cx="582" cy="4406"/>
            </a:xfrm>
            <a:prstGeom prst="rightBrace">
              <a:avLst>
                <a:gd name="adj1" fmla="val 63254"/>
                <a:gd name="adj2" fmla="val 50000"/>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ndParaRPr>
            </a:p>
          </p:txBody>
        </p:sp>
        <p:sp>
          <p:nvSpPr>
            <p:cNvPr id="246" name="AutoShape 89"/>
            <p:cNvSpPr/>
            <p:nvPr/>
          </p:nvSpPr>
          <p:spPr bwMode="auto">
            <a:xfrm rot="5400000">
              <a:off x="4633" y="8959"/>
              <a:ext cx="582" cy="1970"/>
            </a:xfrm>
            <a:prstGeom prst="rightBrace">
              <a:avLst>
                <a:gd name="adj1" fmla="val 28288"/>
                <a:gd name="adj2" fmla="val 50000"/>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00"/>
                </a:solidFill>
              </a:endParaRPr>
            </a:p>
          </p:txBody>
        </p:sp>
        <p:sp>
          <p:nvSpPr>
            <p:cNvPr id="247" name="Text Box 90"/>
            <p:cNvSpPr txBox="1">
              <a:spLocks noChangeArrowheads="1"/>
            </p:cNvSpPr>
            <p:nvPr/>
          </p:nvSpPr>
          <p:spPr bwMode="auto">
            <a:xfrm>
              <a:off x="12242" y="1686"/>
              <a:ext cx="1912" cy="1696"/>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pPr>
              <a:r>
                <a:rPr lang="en-US" altLang="zh-CN" sz="3200" b="1" dirty="0">
                  <a:solidFill>
                    <a:srgbClr val="000000"/>
                  </a:solidFill>
                </a:rPr>
                <a:t>Max</a:t>
              </a:r>
              <a:r>
                <a:rPr lang="zh-CN" altLang="en-US" sz="3200" b="1" dirty="0">
                  <a:solidFill>
                    <a:srgbClr val="000000"/>
                  </a:solidFill>
                </a:rPr>
                <a:t>问题</a:t>
              </a:r>
              <a:endParaRPr lang="zh-CN" altLang="en-US" sz="3200" b="1" dirty="0">
                <a:solidFill>
                  <a:srgbClr val="000000"/>
                </a:solidFill>
              </a:endParaRPr>
            </a:p>
          </p:txBody>
        </p:sp>
      </p:gr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grpSp>
        <p:nvGrpSpPr>
          <p:cNvPr id="8" name="Group 11"/>
          <p:cNvGrpSpPr/>
          <p:nvPr/>
        </p:nvGrpSpPr>
        <p:grpSpPr bwMode="auto">
          <a:xfrm>
            <a:off x="323850" y="1234752"/>
            <a:ext cx="3960813" cy="2554288"/>
            <a:chOff x="204" y="527"/>
            <a:chExt cx="2495" cy="1609"/>
          </a:xfrm>
        </p:grpSpPr>
        <p:sp>
          <p:nvSpPr>
            <p:cNvPr id="9" name="Text Box 4"/>
            <p:cNvSpPr txBox="1">
              <a:spLocks noChangeArrowheads="1"/>
            </p:cNvSpPr>
            <p:nvPr/>
          </p:nvSpPr>
          <p:spPr bwMode="auto">
            <a:xfrm>
              <a:off x="204" y="527"/>
              <a:ext cx="2495" cy="1609"/>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dirty="0">
                  <a:solidFill>
                    <a:srgbClr val="000000"/>
                  </a:solidFill>
                </a:rPr>
                <a:t>         </a:t>
              </a:r>
              <a:r>
                <a:rPr lang="zh-CN" altLang="en-US" sz="3200" b="1" dirty="0">
                  <a:solidFill>
                    <a:srgbClr val="000000"/>
                  </a:solidFill>
                </a:rPr>
                <a:t>单纯形法</a:t>
              </a:r>
              <a:endParaRPr lang="zh-CN" altLang="en-US" sz="3200" b="1" dirty="0">
                <a:solidFill>
                  <a:srgbClr val="000000"/>
                </a:solidFill>
              </a:endParaRPr>
            </a:p>
            <a:p>
              <a:pPr>
                <a:spcBef>
                  <a:spcPct val="50000"/>
                </a:spcBef>
              </a:pPr>
              <a:r>
                <a:rPr lang="zh-CN" altLang="en-US" sz="3200" b="1" dirty="0">
                  <a:solidFill>
                    <a:srgbClr val="000000"/>
                  </a:solidFill>
                </a:rPr>
                <a:t>（</a:t>
              </a:r>
              <a:r>
                <a:rPr lang="en-US" altLang="zh-CN" sz="3200" b="1" dirty="0">
                  <a:solidFill>
                    <a:srgbClr val="000000"/>
                  </a:solidFill>
                </a:rPr>
                <a:t>1</a:t>
              </a:r>
              <a:r>
                <a:rPr lang="zh-CN" altLang="en-US" sz="3200" b="1" dirty="0">
                  <a:solidFill>
                    <a:srgbClr val="000000"/>
                  </a:solidFill>
                </a:rPr>
                <a:t>）保持原问题的可行性，即</a:t>
              </a:r>
              <a:endParaRPr lang="zh-CN" altLang="en-US" sz="3200" b="1" dirty="0">
                <a:solidFill>
                  <a:srgbClr val="000000"/>
                </a:solidFill>
              </a:endParaRPr>
            </a:p>
            <a:p>
              <a:pPr>
                <a:spcBef>
                  <a:spcPct val="50000"/>
                </a:spcBef>
              </a:pPr>
              <a:r>
                <a:rPr lang="zh-CN" altLang="en-US" sz="3200" b="1" dirty="0">
                  <a:solidFill>
                    <a:srgbClr val="000000"/>
                  </a:solidFill>
                </a:rPr>
                <a:t>（</a:t>
              </a:r>
              <a:r>
                <a:rPr lang="en-US" altLang="zh-CN" sz="3200" b="1" dirty="0">
                  <a:solidFill>
                    <a:srgbClr val="000000"/>
                  </a:solidFill>
                </a:rPr>
                <a:t>2</a:t>
              </a:r>
              <a:r>
                <a:rPr lang="zh-CN" altLang="en-US" sz="3200" b="1" dirty="0">
                  <a:solidFill>
                    <a:srgbClr val="000000"/>
                  </a:solidFill>
                </a:rPr>
                <a:t>）最优性：</a:t>
              </a:r>
              <a:endParaRPr lang="zh-CN" altLang="en-US" sz="3200" b="1" dirty="0">
                <a:solidFill>
                  <a:srgbClr val="000000"/>
                </a:solidFill>
              </a:endParaRPr>
            </a:p>
          </p:txBody>
        </p:sp>
        <p:graphicFrame>
          <p:nvGraphicFramePr>
            <p:cNvPr id="10" name="Object 4"/>
            <p:cNvGraphicFramePr/>
            <p:nvPr/>
          </p:nvGraphicFramePr>
          <p:xfrm>
            <a:off x="1565" y="1298"/>
            <a:ext cx="771" cy="463"/>
          </p:xfrm>
          <a:graphic>
            <a:graphicData uri="http://schemas.openxmlformats.org/presentationml/2006/ole">
              <mc:AlternateContent xmlns:mc="http://schemas.openxmlformats.org/markup-compatibility/2006">
                <mc:Choice xmlns:v="urn:schemas-microsoft-com:vml" Requires="v">
                  <p:oleObj spid="_x0000_s28673" name="" r:id="rId1" imgW="9144000" imgH="5486400" progId="Equation.3">
                    <p:embed/>
                  </p:oleObj>
                </mc:Choice>
                <mc:Fallback>
                  <p:oleObj name="" r:id="rId1" imgW="9144000" imgH="5486400" progId="Equation.3">
                    <p:embed/>
                    <p:pic>
                      <p:nvPicPr>
                        <p:cNvPr id="0" name="图片 28672"/>
                        <p:cNvPicPr/>
                        <p:nvPr/>
                      </p:nvPicPr>
                      <p:blipFill>
                        <a:blip r:embed="rId2"/>
                        <a:stretch>
                          <a:fillRect/>
                        </a:stretch>
                      </p:blipFill>
                      <p:spPr>
                        <a:xfrm>
                          <a:off x="1565" y="1298"/>
                          <a:ext cx="771" cy="463"/>
                        </a:xfrm>
                        <a:prstGeom prst="rect">
                          <a:avLst/>
                        </a:prstGeom>
                        <a:noFill/>
                        <a:ln w="38100">
                          <a:noFill/>
                        </a:ln>
                      </p:spPr>
                    </p:pic>
                  </p:oleObj>
                </mc:Fallback>
              </mc:AlternateContent>
            </a:graphicData>
          </a:graphic>
        </p:graphicFrame>
        <p:graphicFrame>
          <p:nvGraphicFramePr>
            <p:cNvPr id="11" name="Object 5"/>
            <p:cNvGraphicFramePr/>
            <p:nvPr/>
          </p:nvGraphicFramePr>
          <p:xfrm>
            <a:off x="1791" y="1752"/>
            <a:ext cx="680" cy="340"/>
          </p:xfrm>
          <a:graphic>
            <a:graphicData uri="http://schemas.openxmlformats.org/presentationml/2006/ole">
              <mc:AlternateContent xmlns:mc="http://schemas.openxmlformats.org/markup-compatibility/2006">
                <mc:Choice xmlns:v="urn:schemas-microsoft-com:vml" Requires="v">
                  <p:oleObj spid="_x0000_s28674" name="" r:id="rId3" imgW="9144000" imgH="4267200" progId="Equation.3">
                    <p:embed/>
                  </p:oleObj>
                </mc:Choice>
                <mc:Fallback>
                  <p:oleObj name="" r:id="rId3" imgW="9144000" imgH="4267200" progId="Equation.3">
                    <p:embed/>
                    <p:pic>
                      <p:nvPicPr>
                        <p:cNvPr id="0" name="图片 28673"/>
                        <p:cNvPicPr/>
                        <p:nvPr/>
                      </p:nvPicPr>
                      <p:blipFill>
                        <a:blip r:embed="rId4"/>
                        <a:stretch>
                          <a:fillRect/>
                        </a:stretch>
                      </p:blipFill>
                      <p:spPr>
                        <a:xfrm>
                          <a:off x="1791" y="1752"/>
                          <a:ext cx="680" cy="340"/>
                        </a:xfrm>
                        <a:prstGeom prst="rect">
                          <a:avLst/>
                        </a:prstGeom>
                        <a:noFill/>
                        <a:ln w="38100">
                          <a:noFill/>
                        </a:ln>
                      </p:spPr>
                    </p:pic>
                  </p:oleObj>
                </mc:Fallback>
              </mc:AlternateContent>
            </a:graphicData>
          </a:graphic>
        </p:graphicFrame>
      </p:grpSp>
      <p:grpSp>
        <p:nvGrpSpPr>
          <p:cNvPr id="12" name="Group 12"/>
          <p:cNvGrpSpPr/>
          <p:nvPr/>
        </p:nvGrpSpPr>
        <p:grpSpPr bwMode="auto">
          <a:xfrm>
            <a:off x="4643440" y="1124744"/>
            <a:ext cx="3960813" cy="4968877"/>
            <a:chOff x="2925" y="527"/>
            <a:chExt cx="2495" cy="3130"/>
          </a:xfrm>
        </p:grpSpPr>
        <p:sp>
          <p:nvSpPr>
            <p:cNvPr id="13" name="Text Box 5"/>
            <p:cNvSpPr txBox="1">
              <a:spLocks noChangeArrowheads="1"/>
            </p:cNvSpPr>
            <p:nvPr/>
          </p:nvSpPr>
          <p:spPr bwMode="auto">
            <a:xfrm>
              <a:off x="2925" y="527"/>
              <a:ext cx="2495" cy="313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3200" b="1" dirty="0">
                  <a:solidFill>
                    <a:srgbClr val="000000"/>
                  </a:solidFill>
                </a:rPr>
                <a:t>      </a:t>
              </a:r>
              <a:r>
                <a:rPr lang="zh-CN" altLang="en-US" sz="3200" b="1" dirty="0">
                  <a:solidFill>
                    <a:srgbClr val="000000"/>
                  </a:solidFill>
                </a:rPr>
                <a:t>对偶单纯形法</a:t>
              </a:r>
              <a:endParaRPr lang="zh-CN" altLang="en-US" sz="3200" b="1" dirty="0">
                <a:solidFill>
                  <a:srgbClr val="000000"/>
                </a:solidFill>
              </a:endParaRPr>
            </a:p>
            <a:p>
              <a:pPr>
                <a:spcBef>
                  <a:spcPct val="50000"/>
                </a:spcBef>
              </a:pPr>
              <a:r>
                <a:rPr lang="zh-CN" altLang="en-US" sz="3200" b="1" dirty="0">
                  <a:solidFill>
                    <a:srgbClr val="000000"/>
                  </a:solidFill>
                </a:rPr>
                <a:t>（</a:t>
              </a:r>
              <a:r>
                <a:rPr lang="en-US" altLang="zh-CN" sz="3200" b="1" dirty="0">
                  <a:solidFill>
                    <a:srgbClr val="000000"/>
                  </a:solidFill>
                </a:rPr>
                <a:t>1</a:t>
              </a:r>
              <a:r>
                <a:rPr lang="zh-CN" altLang="en-US" sz="3200" b="1" dirty="0">
                  <a:solidFill>
                    <a:srgbClr val="000000"/>
                  </a:solidFill>
                </a:rPr>
                <a:t>）保持对偶问题的可行性，即</a:t>
              </a:r>
              <a:endParaRPr lang="zh-CN" altLang="en-US" sz="3200" b="1" dirty="0">
                <a:solidFill>
                  <a:srgbClr val="000000"/>
                </a:solidFill>
              </a:endParaRPr>
            </a:p>
            <a:p>
              <a:pPr>
                <a:spcBef>
                  <a:spcPct val="50000"/>
                </a:spcBef>
              </a:pPr>
              <a:r>
                <a:rPr lang="zh-CN" altLang="en-US" sz="3200" b="1" dirty="0">
                  <a:solidFill>
                    <a:srgbClr val="000000"/>
                  </a:solidFill>
                </a:rPr>
                <a:t>（</a:t>
              </a:r>
              <a:r>
                <a:rPr lang="en-US" altLang="zh-CN" sz="3200" b="1" dirty="0">
                  <a:solidFill>
                    <a:srgbClr val="000000"/>
                  </a:solidFill>
                </a:rPr>
                <a:t>2</a:t>
              </a:r>
              <a:r>
                <a:rPr lang="zh-CN" altLang="en-US" sz="3200" b="1" dirty="0">
                  <a:solidFill>
                    <a:srgbClr val="000000"/>
                  </a:solidFill>
                </a:rPr>
                <a:t>）最优性：</a:t>
              </a:r>
              <a:endParaRPr lang="zh-CN" altLang="en-US" sz="3200" b="1" dirty="0">
                <a:solidFill>
                  <a:srgbClr val="000000"/>
                </a:solidFill>
              </a:endParaRPr>
            </a:p>
            <a:p>
              <a:pPr>
                <a:spcBef>
                  <a:spcPct val="50000"/>
                </a:spcBef>
              </a:pPr>
              <a:r>
                <a:rPr lang="zh-CN" altLang="en-US" sz="3200" b="1" dirty="0">
                  <a:solidFill>
                    <a:srgbClr val="000000"/>
                  </a:solidFill>
                </a:rPr>
                <a:t>即使原问题达到可行；</a:t>
              </a:r>
              <a:endParaRPr lang="zh-CN" altLang="en-US" sz="3200" b="1" dirty="0">
                <a:solidFill>
                  <a:srgbClr val="000000"/>
                </a:solidFill>
              </a:endParaRPr>
            </a:p>
            <a:p>
              <a:pPr>
                <a:spcBef>
                  <a:spcPct val="50000"/>
                </a:spcBef>
              </a:pPr>
              <a:r>
                <a:rPr lang="zh-CN" altLang="en-US" sz="3200" b="1" dirty="0">
                  <a:solidFill>
                    <a:srgbClr val="000000"/>
                  </a:solidFill>
                </a:rPr>
                <a:t>（</a:t>
              </a:r>
              <a:r>
                <a:rPr lang="en-US" altLang="zh-CN" sz="3200" b="1" dirty="0">
                  <a:solidFill>
                    <a:srgbClr val="000000"/>
                  </a:solidFill>
                </a:rPr>
                <a:t>3</a:t>
              </a:r>
              <a:r>
                <a:rPr lang="zh-CN" altLang="en-US" sz="3200" b="1" dirty="0">
                  <a:solidFill>
                    <a:srgbClr val="000000"/>
                  </a:solidFill>
                </a:rPr>
                <a:t>）同时得到原问题与对偶问题最优解</a:t>
              </a:r>
              <a:endParaRPr lang="zh-CN" altLang="en-US" sz="3200" b="1" dirty="0">
                <a:solidFill>
                  <a:srgbClr val="000000"/>
                </a:solidFill>
              </a:endParaRPr>
            </a:p>
          </p:txBody>
        </p:sp>
        <p:graphicFrame>
          <p:nvGraphicFramePr>
            <p:cNvPr id="14" name="Object 2"/>
            <p:cNvGraphicFramePr/>
            <p:nvPr/>
          </p:nvGraphicFramePr>
          <p:xfrm>
            <a:off x="4513" y="1297"/>
            <a:ext cx="680" cy="340"/>
          </p:xfrm>
          <a:graphic>
            <a:graphicData uri="http://schemas.openxmlformats.org/presentationml/2006/ole">
              <mc:AlternateContent xmlns:mc="http://schemas.openxmlformats.org/markup-compatibility/2006">
                <mc:Choice xmlns:v="urn:schemas-microsoft-com:vml" Requires="v">
                  <p:oleObj spid="_x0000_s28675" name="" r:id="rId5" imgW="9144000" imgH="4267200" progId="Equation.3">
                    <p:embed/>
                  </p:oleObj>
                </mc:Choice>
                <mc:Fallback>
                  <p:oleObj name="" r:id="rId5" imgW="9144000" imgH="4267200" progId="Equation.3">
                    <p:embed/>
                    <p:pic>
                      <p:nvPicPr>
                        <p:cNvPr id="0" name="图片 28674"/>
                        <p:cNvPicPr/>
                        <p:nvPr/>
                      </p:nvPicPr>
                      <p:blipFill>
                        <a:blip r:embed="rId6"/>
                        <a:stretch>
                          <a:fillRect/>
                        </a:stretch>
                      </p:blipFill>
                      <p:spPr>
                        <a:xfrm>
                          <a:off x="4513" y="1297"/>
                          <a:ext cx="680" cy="340"/>
                        </a:xfrm>
                        <a:prstGeom prst="rect">
                          <a:avLst/>
                        </a:prstGeom>
                        <a:noFill/>
                        <a:ln w="38100">
                          <a:noFill/>
                        </a:ln>
                      </p:spPr>
                    </p:pic>
                  </p:oleObj>
                </mc:Fallback>
              </mc:AlternateContent>
            </a:graphicData>
          </a:graphic>
        </p:graphicFrame>
        <p:graphicFrame>
          <p:nvGraphicFramePr>
            <p:cNvPr id="15" name="Object 3"/>
            <p:cNvGraphicFramePr/>
            <p:nvPr/>
          </p:nvGraphicFramePr>
          <p:xfrm>
            <a:off x="4513" y="1752"/>
            <a:ext cx="680" cy="408"/>
          </p:xfrm>
          <a:graphic>
            <a:graphicData uri="http://schemas.openxmlformats.org/presentationml/2006/ole">
              <mc:AlternateContent xmlns:mc="http://schemas.openxmlformats.org/markup-compatibility/2006">
                <mc:Choice xmlns:v="urn:schemas-microsoft-com:vml" Requires="v">
                  <p:oleObj spid="_x0000_s28676" name="" r:id="rId7" imgW="9144000" imgH="5486400" progId="Equation.3">
                    <p:embed/>
                  </p:oleObj>
                </mc:Choice>
                <mc:Fallback>
                  <p:oleObj name="" r:id="rId7" imgW="9144000" imgH="5486400" progId="Equation.3">
                    <p:embed/>
                    <p:pic>
                      <p:nvPicPr>
                        <p:cNvPr id="0" name="图片 28675"/>
                        <p:cNvPicPr/>
                        <p:nvPr/>
                      </p:nvPicPr>
                      <p:blipFill>
                        <a:blip r:embed="rId8"/>
                        <a:stretch>
                          <a:fillRect/>
                        </a:stretch>
                      </p:blipFill>
                      <p:spPr>
                        <a:xfrm>
                          <a:off x="4513" y="1752"/>
                          <a:ext cx="680" cy="408"/>
                        </a:xfrm>
                        <a:prstGeom prst="rect">
                          <a:avLst/>
                        </a:prstGeom>
                        <a:noFill/>
                        <a:ln w="38100">
                          <a:noFill/>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x-none" dirty="0">
                <a:latin typeface="华文中宋" panose="02010600040101010101" pitchFamily="2" charset="-122"/>
                <a:ea typeface="华文中宋" panose="02010600040101010101" pitchFamily="2" charset="-122"/>
                <a:cs typeface="Times New Roman" panose="02020603050405020304" pitchFamily="18" charset="0"/>
              </a:rPr>
              <a:t>对偶</a:t>
            </a:r>
            <a:r>
              <a:rPr lang="zh-CN" altLang="en-US" dirty="0">
                <a:latin typeface="华文中宋" panose="02010600040101010101" pitchFamily="2" charset="-122"/>
                <a:ea typeface="华文中宋" panose="02010600040101010101" pitchFamily="2" charset="-122"/>
                <a:cs typeface="Times New Roman" panose="02020603050405020304" pitchFamily="18" charset="0"/>
              </a:rPr>
              <a:t>问题求解</a:t>
            </a:r>
            <a:endParaRPr lang="en-US" altLang="zh-CN"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16" name="Rectangle 2"/>
          <p:cNvSpPr txBox="1">
            <a:spLocks noChangeArrowheads="1"/>
          </p:cNvSpPr>
          <p:nvPr/>
        </p:nvSpPr>
        <p:spPr>
          <a:xfrm>
            <a:off x="293380" y="1412776"/>
            <a:ext cx="8515350" cy="8382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3200" b="1" kern="1200">
                <a:solidFill>
                  <a:schemeClr val="bg1"/>
                </a:solidFill>
                <a:latin typeface="黑体" panose="02010609060101010101" pitchFamily="49" charset="-122"/>
                <a:ea typeface="黑体" panose="02010609060101010101" pitchFamily="49" charset="-122"/>
                <a:cs typeface="+mj-cs"/>
              </a:defRPr>
            </a:lvl1pPr>
          </a:lstStyle>
          <a:p>
            <a:r>
              <a:rPr lang="zh-CN" altLang="en-US" sz="2800">
                <a:solidFill>
                  <a:srgbClr val="000000"/>
                </a:solidFill>
                <a:latin typeface="宋体" panose="02010600030101010101" pitchFamily="2" charset="-122"/>
              </a:rPr>
              <a:t>从以上求解过程可以看到对偶单纯形法有以下优点：</a:t>
            </a:r>
            <a:br>
              <a:rPr lang="zh-CN" altLang="en-US" sz="2800">
                <a:solidFill>
                  <a:srgbClr val="000000"/>
                </a:solidFill>
                <a:latin typeface="宋体" panose="02010600030101010101" pitchFamily="2" charset="-122"/>
              </a:rPr>
            </a:br>
            <a:endParaRPr lang="zh-CN" altLang="en-US" sz="2800">
              <a:solidFill>
                <a:srgbClr val="000000"/>
              </a:solidFill>
              <a:latin typeface="宋体" panose="02010600030101010101" pitchFamily="2" charset="-122"/>
            </a:endParaRPr>
          </a:p>
        </p:txBody>
      </p:sp>
      <p:sp>
        <p:nvSpPr>
          <p:cNvPr id="17" name="Rectangle 3"/>
          <p:cNvSpPr>
            <a:spLocks noGrp="1" noChangeArrowheads="1"/>
          </p:cNvSpPr>
          <p:nvPr>
            <p:ph idx="1"/>
          </p:nvPr>
        </p:nvSpPr>
        <p:spPr>
          <a:xfrm>
            <a:off x="209550" y="2636912"/>
            <a:ext cx="8610600" cy="4953000"/>
          </a:xfrm>
        </p:spPr>
        <p:txBody>
          <a:bodyPr/>
          <a:lstStyle/>
          <a:p>
            <a:pPr>
              <a:lnSpc>
                <a:spcPct val="90000"/>
              </a:lnSpc>
            </a:pPr>
            <a:r>
              <a:rPr lang="en-US" altLang="zh-CN" sz="2800" dirty="0">
                <a:solidFill>
                  <a:srgbClr val="000000"/>
                </a:solidFill>
                <a:latin typeface="宋体" panose="02010600030101010101" pitchFamily="2" charset="-122"/>
              </a:rPr>
              <a:t>(1) </a:t>
            </a:r>
            <a:r>
              <a:rPr lang="zh-CN" altLang="en-US" sz="2800" dirty="0">
                <a:solidFill>
                  <a:srgbClr val="000000"/>
                </a:solidFill>
                <a:latin typeface="宋体" panose="02010600030101010101" pitchFamily="2" charset="-122"/>
              </a:rPr>
              <a:t>初始解可以是非可行解，当检验数都为负数时就可以进行基的变换，这时不需要加入人工变量，因此可以简化计算。</a:t>
            </a:r>
            <a:endParaRPr lang="zh-CN" altLang="en-US" sz="2800" dirty="0">
              <a:solidFill>
                <a:srgbClr val="000000"/>
              </a:solidFill>
              <a:latin typeface="宋体" panose="02010600030101010101" pitchFamily="2" charset="-122"/>
            </a:endParaRPr>
          </a:p>
          <a:p>
            <a:pPr>
              <a:lnSpc>
                <a:spcPct val="90000"/>
              </a:lnSpc>
            </a:pPr>
            <a:r>
              <a:rPr lang="en-US" altLang="zh-CN" sz="2800" dirty="0">
                <a:solidFill>
                  <a:srgbClr val="000000"/>
                </a:solidFill>
                <a:latin typeface="宋体" panose="02010600030101010101" pitchFamily="2" charset="-122"/>
              </a:rPr>
              <a:t>(2) </a:t>
            </a:r>
            <a:r>
              <a:rPr lang="zh-CN" altLang="en-US" sz="2800" dirty="0">
                <a:solidFill>
                  <a:srgbClr val="000000"/>
                </a:solidFill>
                <a:latin typeface="宋体" panose="02010600030101010101" pitchFamily="2" charset="-122"/>
              </a:rPr>
              <a:t>当变量多于约束条件，对这样的线性规划问题用对偶单纯形法计算可以减少计算工作量，因此对变量较少，而约束条件很多的线性规划问题，可先将它变换成对偶问题，然后用对偶单纯形法求解。</a:t>
            </a:r>
            <a:endParaRPr lang="zh-CN" altLang="en-US" sz="2800" dirty="0">
              <a:solidFill>
                <a:srgbClr val="000000"/>
              </a:solidFill>
              <a:latin typeface="宋体" panose="02010600030101010101" pitchFamily="2" charset="-122"/>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2800" dirty="0">
                <a:latin typeface="Times New Roman" panose="02020603050405020304" pitchFamily="18" charset="0"/>
                <a:ea typeface="华文中宋" panose="02010600040101010101" pitchFamily="2" charset="-122"/>
                <a:cs typeface="Times New Roman" panose="02020603050405020304" pitchFamily="18" charset="0"/>
              </a:rPr>
              <a:t>作业</a:t>
            </a:r>
            <a:endParaRPr kumimoji="1" lang="en-GB" altLang="zh-CN" sz="2800" dirty="0">
              <a:latin typeface="Times New Roman" panose="02020603050405020304" pitchFamily="18" charset="0"/>
              <a:cs typeface="Times New Roman" panose="02020603050405020304" pitchFamily="18" charset="0"/>
            </a:endParaRPr>
          </a:p>
        </p:txBody>
      </p:sp>
      <p:sp>
        <p:nvSpPr>
          <p:cNvPr id="9" name="Rectangle 4"/>
          <p:cNvSpPr>
            <a:spLocks noChangeArrowheads="1"/>
          </p:cNvSpPr>
          <p:nvPr/>
        </p:nvSpPr>
        <p:spPr bwMode="auto">
          <a:xfrm>
            <a:off x="1115616" y="1052736"/>
            <a:ext cx="720090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4000" b="1" dirty="0">
                <a:solidFill>
                  <a:srgbClr val="FF0000"/>
                </a:solidFill>
                <a:latin typeface="Times New Roman" panose="02020603050405020304" pitchFamily="18" charset="0"/>
                <a:ea typeface="华文宋体" panose="02010600040101010101" pitchFamily="2" charset="-122"/>
                <a:cs typeface="Times New Roman" panose="02020603050405020304" pitchFamily="18" charset="0"/>
              </a:rPr>
              <a:t>作业</a:t>
            </a:r>
            <a:r>
              <a:rPr kumimoji="1" lang="zh-CN" altLang="en-US" sz="4000" b="1" dirty="0">
                <a:latin typeface="Times New Roman" panose="02020603050405020304" pitchFamily="18" charset="0"/>
                <a:ea typeface="华文宋体" panose="02010600040101010101" pitchFamily="2" charset="-122"/>
                <a:cs typeface="Times New Roman" panose="02020603050405020304" pitchFamily="18" charset="0"/>
              </a:rPr>
              <a:t>：</a:t>
            </a:r>
            <a:endParaRPr kumimoji="1" lang="en-US" altLang="zh-CN" sz="4000" b="1" dirty="0">
              <a:latin typeface="Times New Roman" panose="02020603050405020304" pitchFamily="18" charset="0"/>
              <a:ea typeface="华文宋体" panose="02010600040101010101" pitchFamily="2" charset="-122"/>
              <a:cs typeface="Times New Roman" panose="02020603050405020304" pitchFamily="18" charset="0"/>
            </a:endParaRPr>
          </a:p>
          <a:p>
            <a:pPr eaLnBrk="1" hangingPunct="1"/>
            <a:endParaRPr kumimoji="1" lang="en-US" altLang="zh-CN" sz="2800" b="1" dirty="0">
              <a:latin typeface="Times New Roman" panose="02020603050405020304" pitchFamily="18" charset="0"/>
              <a:ea typeface="华文宋体" panose="02010600040101010101" pitchFamily="2" charset="-122"/>
              <a:cs typeface="Times New Roman" panose="02020603050405020304" pitchFamily="18" charset="0"/>
            </a:endParaRPr>
          </a:p>
          <a:p>
            <a:pPr eaLnBrk="1" hangingPunct="1"/>
            <a:endParaRPr kumimoji="1" lang="en-US" altLang="zh-CN" sz="2800" dirty="0">
              <a:latin typeface="Times New Roman" panose="02020603050405020304" pitchFamily="18" charset="0"/>
              <a:ea typeface="华文宋体" panose="02010600040101010101" pitchFamily="2" charset="-122"/>
              <a:cs typeface="Times New Roman" panose="02020603050405020304" pitchFamily="18" charset="0"/>
            </a:endParaRPr>
          </a:p>
          <a:p>
            <a:pPr eaLnBrk="1" hangingPunct="1"/>
            <a:r>
              <a:rPr kumimoji="1" lang="zh-CN" altLang="en-US" sz="2800" dirty="0">
                <a:latin typeface="Times New Roman" panose="02020603050405020304" pitchFamily="18" charset="0"/>
                <a:ea typeface="华文宋体" panose="02010600040101010101" pitchFamily="2" charset="-122"/>
                <a:cs typeface="Times New Roman" panose="02020603050405020304" pitchFamily="18" charset="0"/>
              </a:rPr>
              <a:t>习题三（</a:t>
            </a:r>
            <a:r>
              <a:rPr kumimoji="1" lang="en-US" altLang="zh-CN" sz="2800" dirty="0">
                <a:latin typeface="Times New Roman" panose="02020603050405020304" pitchFamily="18" charset="0"/>
                <a:ea typeface="华文宋体" panose="02010600040101010101" pitchFamily="2" charset="-122"/>
                <a:cs typeface="Times New Roman" panose="02020603050405020304" pitchFamily="18" charset="0"/>
              </a:rPr>
              <a:t>page</a:t>
            </a:r>
            <a:r>
              <a:rPr kumimoji="1" lang="zh-CN" altLang="en-US" sz="2800" dirty="0">
                <a:latin typeface="Times New Roman" panose="02020603050405020304" pitchFamily="18" charset="0"/>
                <a:ea typeface="华文宋体" panose="02010600040101010101" pitchFamily="2" charset="-122"/>
                <a:cs typeface="Times New Roman" panose="02020603050405020304" pitchFamily="18" charset="0"/>
              </a:rPr>
              <a:t> </a:t>
            </a:r>
            <a:r>
              <a:rPr kumimoji="1" lang="en-US" altLang="zh-CN" sz="2800" dirty="0">
                <a:latin typeface="Times New Roman" panose="02020603050405020304" pitchFamily="18" charset="0"/>
                <a:ea typeface="华文宋体" panose="02010600040101010101" pitchFamily="2" charset="-122"/>
                <a:cs typeface="Times New Roman" panose="02020603050405020304" pitchFamily="18" charset="0"/>
              </a:rPr>
              <a:t>68</a:t>
            </a:r>
            <a:r>
              <a:rPr kumimoji="1" lang="zh-CN" altLang="en-US" sz="2800" dirty="0">
                <a:latin typeface="Times New Roman" panose="02020603050405020304" pitchFamily="18" charset="0"/>
                <a:ea typeface="华文宋体" panose="02010600040101010101" pitchFamily="2" charset="-122"/>
                <a:cs typeface="Times New Roman" panose="02020603050405020304" pitchFamily="18" charset="0"/>
              </a:rPr>
              <a:t>）</a:t>
            </a:r>
            <a:endParaRPr kumimoji="1" lang="en-US" altLang="zh-CN" sz="2800" dirty="0">
              <a:latin typeface="Times New Roman" panose="02020603050405020304" pitchFamily="18" charset="0"/>
              <a:ea typeface="华文宋体" panose="02010600040101010101" pitchFamily="2" charset="-122"/>
              <a:cs typeface="Times New Roman" panose="02020603050405020304" pitchFamily="18" charset="0"/>
            </a:endParaRPr>
          </a:p>
          <a:p>
            <a:pPr eaLnBrk="1" hangingPunct="1"/>
            <a:r>
              <a:rPr kumimoji="1" lang="en-US" altLang="zh-CN" sz="2800" dirty="0" smtClean="0">
                <a:latin typeface="Times New Roman" panose="02020603050405020304" pitchFamily="18" charset="0"/>
                <a:ea typeface="华文宋体" panose="02010600040101010101" pitchFamily="2" charset="-122"/>
                <a:cs typeface="Times New Roman" panose="02020603050405020304" pitchFamily="18" charset="0"/>
              </a:rPr>
              <a:t>5</a:t>
            </a:r>
            <a:r>
              <a:rPr kumimoji="1" lang="zh-CN" altLang="en-US" sz="2800" dirty="0" smtClean="0">
                <a:latin typeface="Times New Roman" panose="02020603050405020304" pitchFamily="18" charset="0"/>
                <a:ea typeface="华文宋体" panose="02010600040101010101" pitchFamily="2" charset="-122"/>
                <a:cs typeface="Times New Roman" panose="02020603050405020304" pitchFamily="18" charset="0"/>
              </a:rPr>
              <a:t>，</a:t>
            </a:r>
            <a:r>
              <a:rPr kumimoji="1" lang="en-US" altLang="zh-CN" sz="2800" dirty="0">
                <a:latin typeface="Times New Roman" panose="02020603050405020304" pitchFamily="18" charset="0"/>
                <a:ea typeface="华文宋体" panose="02010600040101010101" pitchFamily="2" charset="-122"/>
                <a:cs typeface="Times New Roman" panose="02020603050405020304" pitchFamily="18" charset="0"/>
              </a:rPr>
              <a:t>6</a:t>
            </a:r>
            <a:r>
              <a:rPr kumimoji="1" lang="zh-CN" altLang="en-US" sz="2800" dirty="0">
                <a:latin typeface="Times New Roman" panose="02020603050405020304" pitchFamily="18" charset="0"/>
                <a:ea typeface="华文宋体" panose="02010600040101010101" pitchFamily="2" charset="-122"/>
                <a:cs typeface="Times New Roman" panose="02020603050405020304" pitchFamily="18" charset="0"/>
              </a:rPr>
              <a:t>题</a:t>
            </a:r>
            <a:endParaRPr kumimoji="1" lang="zh-CN" altLang="en-US" sz="2800" dirty="0">
              <a:latin typeface="Times New Roman" panose="02020603050405020304" pitchFamily="18" charset="0"/>
              <a:ea typeface="华文宋体" panose="02010600040101010101" pitchFamily="2"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a:spLocks noChangeArrowheads="1"/>
          </p:cNvSpPr>
          <p:nvPr/>
        </p:nvSpPr>
        <p:spPr bwMode="auto">
          <a:xfrm>
            <a:off x="0" y="2060848"/>
            <a:ext cx="9144000" cy="1434560"/>
          </a:xfrm>
          <a:prstGeom prst="rect">
            <a:avLst/>
          </a:prstGeom>
          <a:noFill/>
          <a:ln>
            <a:noFill/>
          </a:ln>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ts val="5600"/>
              </a:lnSpc>
            </a:pPr>
            <a:r>
              <a:rPr lang="en-US" altLang="zh-CN"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Key Laboratory of Intelligent Perception and Image Understanding of Ministry of Education</a:t>
            </a:r>
            <a:endParaRPr lang="en-US" altLang="zh-CN"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2172170" y="1821558"/>
            <a:ext cx="184666" cy="369332"/>
          </a:xfrm>
          <a:prstGeom prst="rect">
            <a:avLst/>
          </a:prstGeom>
          <a:noFill/>
        </p:spPr>
        <p:txBody>
          <a:bodyPr wrap="none" rtlCol="0">
            <a:spAutoFit/>
          </a:bodyPr>
          <a:lstStyle/>
          <a:p>
            <a:endParaRPr kumimoji="1" lang="zh-CN" altLang="en-US"/>
          </a:p>
        </p:txBody>
      </p:sp>
      <p:sp>
        <p:nvSpPr>
          <p:cNvPr id="4" name="矩形 6"/>
          <p:cNvSpPr/>
          <p:nvPr/>
        </p:nvSpPr>
        <p:spPr>
          <a:xfrm>
            <a:off x="971600" y="4077072"/>
            <a:ext cx="7429552" cy="2431435"/>
          </a:xfrm>
          <a:prstGeom prst="rect">
            <a:avLst/>
          </a:prstGeom>
        </p:spPr>
        <p:txBody>
          <a:bodyPr wrap="square">
            <a:spAutoFit/>
          </a:bodyPr>
          <a:lstStyle/>
          <a:p>
            <a:pPr algn="ctr"/>
            <a:r>
              <a:rPr lang="en-US" altLang="zh-CN" sz="7200" b="1" i="1"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t>THE END</a:t>
            </a:r>
            <a:br>
              <a:rPr lang="en-US" altLang="zh-CN"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br>
            <a:br>
              <a:rPr lang="en-US" altLang="zh-CN"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br>
            <a:br>
              <a:rPr lang="en-US" altLang="zh-CN"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br>
            <a:r>
              <a:rPr lang="en-US" altLang="zh-CN" sz="4400"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t>Thanks for your participation!</a:t>
            </a:r>
            <a:endParaRPr lang="zh-CN" altLang="en-US" sz="4400"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transition advTm="1100"/>
  <p:timing>
    <p:tnLst>
      <p:par>
        <p:cTn id="1" dur="indefinite" restart="never" nodeType="tmRoot"/>
      </p:par>
    </p:tnLst>
  </p:timing>
</p:sld>
</file>

<file path=ppt/tags/tag1.xml><?xml version="1.0" encoding="utf-8"?>
<p:tagLst xmlns:p="http://schemas.openxmlformats.org/presentationml/2006/main">
  <p:tag name="KSO_WM_DIAGRAM_VIRTUALLY_FRAME" val="{&quot;height&quot;:293.99999999999994,&quot;left&quot;:101.24818897637795,&quot;top&quot;:118.12393700787402,&quot;width&quot;:540}"/>
</p:tagLst>
</file>

<file path=ppt/tags/tag2.xml><?xml version="1.0" encoding="utf-8"?>
<p:tagLst xmlns:p="http://schemas.openxmlformats.org/presentationml/2006/main">
  <p:tag name="KSO_WM_DIAGRAM_VIRTUALLY_FRAME" val="{&quot;height&quot;:293.99999999999994,&quot;left&quot;:101.24818897637795,&quot;top&quot;:118.12393700787402,&quot;width&quot;:540}"/>
</p:tagLst>
</file>

<file path=ppt/tags/tag3.xml><?xml version="1.0" encoding="utf-8"?>
<p:tagLst xmlns:p="http://schemas.openxmlformats.org/presentationml/2006/main">
  <p:tag name="KSO_WM_DIAGRAM_VIRTUALLY_FRAME" val="{&quot;height&quot;:293.99999999999994,&quot;left&quot;:101.24818897637795,&quot;top&quot;:118.12393700787402,&quot;width&quot;:540}"/>
</p:tagLst>
</file>

<file path=ppt/tags/tag4.xml><?xml version="1.0" encoding="utf-8"?>
<p:tagLst xmlns:p="http://schemas.openxmlformats.org/presentationml/2006/main">
  <p:tag name="KSO_WM_DIAGRAM_VIRTUALLY_FRAME" val="{&quot;height&quot;:293.99999999999994,&quot;left&quot;:101.24818897637795,&quot;top&quot;:118.12393700787402,&quot;width&quot;:540}"/>
</p:tagLst>
</file>

<file path=ppt/tags/tag5.xml><?xml version="1.0" encoding="utf-8"?>
<p:tagLst xmlns:p="http://schemas.openxmlformats.org/presentationml/2006/main">
  <p:tag name="KSO_WM_DIAGRAM_VIRTUALLY_FRAME" val="{&quot;height&quot;:293.99999999999994,&quot;left&quot;:101.24818897637795,&quot;top&quot;:118.12393700787402,&quot;width&quot;:540}"/>
</p:tagLst>
</file>

<file path=ppt/tags/tag6.xml><?xml version="1.0" encoding="utf-8"?>
<p:tagLst xmlns:p="http://schemas.openxmlformats.org/presentationml/2006/main">
  <p:tag name="KSO_WM_DIAGRAM_VIRTUALLY_FRAME" val="{&quot;height&quot;:293.99999999999994,&quot;left&quot;:101.24818897637795,&quot;top&quot;:118.12393700787402,&quot;width&quot;:540}"/>
</p:tagLst>
</file>

<file path=ppt/tags/tag7.xml><?xml version="1.0" encoding="utf-8"?>
<p:tagLst xmlns:p="http://schemas.openxmlformats.org/presentationml/2006/main">
  <p:tag name="KSO_WM_DIAGRAM_VIRTUALLY_FRAME" val="{&quot;height&quot;:293.99999999999994,&quot;left&quot;:101.24818897637795,&quot;top&quot;:118.12393700787402,&quot;width&quot;:540}"/>
</p:tagLst>
</file>

<file path=ppt/tags/tag8.xml><?xml version="1.0" encoding="utf-8"?>
<p:tagLst xmlns:p="http://schemas.openxmlformats.org/presentationml/2006/main">
  <p:tag name="KSO_WM_DIAGRAM_VIRTUALLY_FRAME" val="{&quot;height&quot;:293.99999999999994,&quot;left&quot;:101.24818897637795,&quot;top&quot;:118.12393700787402,&quot;width&quot;:540}"/>
</p:tagLst>
</file>

<file path=ppt/tags/tag9.xml><?xml version="1.0" encoding="utf-8"?>
<p:tagLst xmlns:p="http://schemas.openxmlformats.org/presentationml/2006/main">
  <p:tag name="KSO_WM_DIAGRAM_VIRTUALLY_FRAME" val="{&quot;height&quot;:293.99999999999994,&quot;left&quot;:101.24818897637795,&quot;top&quot;:118.12393700787402,&quot;width&quot;:540}"/>
</p:tagLst>
</file>

<file path=ppt/tags/tag10.xml><?xml version="1.0" encoding="utf-8"?>
<p:tagLst xmlns:p="http://schemas.openxmlformats.org/presentationml/2006/main">
  <p:tag name="KSO_WM_DIAGRAM_VIRTUALLY_FRAME" val="{&quot;height&quot;:293.99999999999994,&quot;left&quot;:101.24818897637795,&quot;top&quot;:118.12393700787402,&quot;width&quot;:540}"/>
</p:tagLst>
</file>

<file path=ppt/tags/tag11.xml><?xml version="1.0" encoding="utf-8"?>
<p:tagLst xmlns:p="http://schemas.openxmlformats.org/presentationml/2006/main">
  <p:tag name="KSO_WM_DIAGRAM_VIRTUALLY_FRAME" val="{&quot;height&quot;:293.99999999999994,&quot;left&quot;:101.24818897637795,&quot;top&quot;:118.12393700787402,&quot;width&quot;:540}"/>
</p:tagLst>
</file>

<file path=ppt/tags/tag12.xml><?xml version="1.0" encoding="utf-8"?>
<p:tagLst xmlns:p="http://schemas.openxmlformats.org/presentationml/2006/main">
  <p:tag name="KSO_WM_DIAGRAM_VIRTUALLY_FRAME" val="{&quot;height&quot;:293.99999999999994,&quot;left&quot;:101.24818897637795,&quot;top&quot;:118.12393700787402,&quot;width&quot;:540}"/>
</p:tagLst>
</file>

<file path=ppt/tags/tag13.xml><?xml version="1.0" encoding="utf-8"?>
<p:tagLst xmlns:p="http://schemas.openxmlformats.org/presentationml/2006/main">
  <p:tag name="KSO_WM_DIAGRAM_VIRTUALLY_FRAME" val="{&quot;height&quot;:293.99999999999994,&quot;left&quot;:101.24818897637795,&quot;top&quot;:118.12393700787402,&quot;width&quot;:540}"/>
</p:tagLst>
</file>

<file path=ppt/tags/tag14.xml><?xml version="1.0" encoding="utf-8"?>
<p:tagLst xmlns:p="http://schemas.openxmlformats.org/presentationml/2006/main">
  <p:tag name="KSO_WM_DIAGRAM_VIRTUALLY_FRAME" val="{&quot;height&quot;:293.99999999999994,&quot;left&quot;:101.24818897637795,&quot;top&quot;:118.12393700787402,&quot;width&quot;:540}"/>
</p:tagLst>
</file>

<file path=ppt/tags/tag15.xml><?xml version="1.0" encoding="utf-8"?>
<p:tagLst xmlns:p="http://schemas.openxmlformats.org/presentationml/2006/main">
  <p:tag name="KSO_WM_DIAGRAM_VIRTUALLY_FRAME" val="{&quot;height&quot;:293.99999999999994,&quot;left&quot;:101.24818897637795,&quot;top&quot;:118.12393700787402,&quot;width&quot;:540}"/>
</p:tagLst>
</file>

<file path=ppt/tags/tag16.xml><?xml version="1.0" encoding="utf-8"?>
<p:tagLst xmlns:p="http://schemas.openxmlformats.org/presentationml/2006/main">
  <p:tag name="commondata" val="eyJoZGlkIjoiOGIzMzg3NWQzMGYxMWZiNTkxYjYzMDJkODQ3YzI4ZT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10561</Words>
  <Application>WPS 演示</Application>
  <PresentationFormat>全屏显示(4:3)</PresentationFormat>
  <Paragraphs>1315</Paragraphs>
  <Slides>58</Slides>
  <Notes>2</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122</vt:i4>
      </vt:variant>
      <vt:variant>
        <vt:lpstr>幻灯片标题</vt:lpstr>
      </vt:variant>
      <vt:variant>
        <vt:i4>58</vt:i4>
      </vt:variant>
    </vt:vector>
  </HeadingPairs>
  <TitlesOfParts>
    <vt:vector size="202" baseType="lpstr">
      <vt:lpstr>Arial</vt:lpstr>
      <vt:lpstr>宋体</vt:lpstr>
      <vt:lpstr>Wingdings</vt:lpstr>
      <vt:lpstr>黑体</vt:lpstr>
      <vt:lpstr>华文中宋</vt:lpstr>
      <vt:lpstr>Times New Roman</vt:lpstr>
      <vt:lpstr>微软雅黑</vt:lpstr>
      <vt:lpstr>华文楷体</vt:lpstr>
      <vt:lpstr>楷体_GB2312</vt:lpstr>
      <vt:lpstr>新宋体</vt:lpstr>
      <vt:lpstr>楷体_GB2312</vt:lpstr>
      <vt:lpstr>Symbol</vt:lpstr>
      <vt:lpstr>隶书</vt:lpstr>
      <vt:lpstr>Calibri</vt:lpstr>
      <vt:lpstr>Arial Unicode MS</vt:lpstr>
      <vt:lpstr>楷体</vt:lpstr>
      <vt:lpstr>仿宋_GB2312</vt:lpstr>
      <vt:lpstr>仿宋</vt:lpstr>
      <vt:lpstr>Tahoma</vt:lpstr>
      <vt:lpstr>MS PGothic</vt:lpstr>
      <vt:lpstr>华文宋体</vt:lpstr>
      <vt:lpstr>Office 主题</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Equation.DSMT4</vt:lpstr>
      <vt:lpstr>Equation.DSMT4</vt:lpstr>
      <vt:lpstr>Equation.3</vt:lpstr>
      <vt:lpstr>Equation.DSMT4</vt:lpstr>
      <vt:lpstr>Equation.DSMT4</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第六节 单纯形法和对偶问题</vt:lpstr>
      <vt:lpstr>第六节 单纯形法和对偶问题</vt:lpstr>
      <vt:lpstr>借助人工变量</vt:lpstr>
      <vt:lpstr>大M法</vt:lpstr>
      <vt:lpstr>大M法</vt:lpstr>
      <vt:lpstr>大M法</vt:lpstr>
      <vt:lpstr>大M法</vt:lpstr>
      <vt:lpstr>大M法</vt:lpstr>
      <vt:lpstr>大M法</vt:lpstr>
      <vt:lpstr>大M法</vt:lpstr>
      <vt:lpstr>大M法</vt:lpstr>
      <vt:lpstr>第六节 单纯形法和对偶问题</vt:lpstr>
      <vt:lpstr>两阶段法</vt:lpstr>
      <vt:lpstr>两阶段法</vt:lpstr>
      <vt:lpstr>两阶段法</vt:lpstr>
      <vt:lpstr>两阶段法</vt:lpstr>
      <vt:lpstr>两阶段法</vt:lpstr>
      <vt:lpstr>两阶段法</vt:lpstr>
      <vt:lpstr>第六节 单纯形法和对偶问题</vt:lpstr>
      <vt:lpstr>对偶问题</vt:lpstr>
      <vt:lpstr>对偶问题原理</vt:lpstr>
      <vt:lpstr>对偶问题原理</vt:lpstr>
      <vt:lpstr>对偶问题原理</vt:lpstr>
      <vt:lpstr>对偶问题原理</vt:lpstr>
      <vt:lpstr>对偶问题原理</vt:lpstr>
      <vt:lpstr>对偶问题原理</vt:lpstr>
      <vt:lpstr>对偶问题原理</vt:lpstr>
      <vt:lpstr>对偶问题原理</vt:lpstr>
      <vt:lpstr>对偶问题原理</vt:lpstr>
      <vt:lpstr>对偶问题求解</vt:lpstr>
      <vt:lpstr>对偶问题求解</vt:lpstr>
      <vt:lpstr>对偶问题求解</vt:lpstr>
      <vt:lpstr>对偶问题求解</vt:lpstr>
      <vt:lpstr>对偶问题原理</vt:lpstr>
      <vt:lpstr>对偶问题原理</vt:lpstr>
      <vt:lpstr>对偶问题原理</vt:lpstr>
      <vt:lpstr>对偶问题原理</vt:lpstr>
      <vt:lpstr>对偶问题原理</vt:lpstr>
      <vt:lpstr>对偶问题原理</vt:lpstr>
      <vt:lpstr>对偶问题原理</vt:lpstr>
      <vt:lpstr>对偶问题求解</vt:lpstr>
      <vt:lpstr>对偶问题求解</vt:lpstr>
      <vt:lpstr>对偶问题求解</vt:lpstr>
      <vt:lpstr>对偶问题求解</vt:lpstr>
      <vt:lpstr>对偶问题求解</vt:lpstr>
      <vt:lpstr>对偶问题求解</vt:lpstr>
      <vt:lpstr>对偶问题求解</vt:lpstr>
      <vt:lpstr>第六节 单纯形法和对偶问题</vt:lpstr>
      <vt:lpstr>对偶单纯形法</vt:lpstr>
      <vt:lpstr>对偶单纯形法</vt:lpstr>
      <vt:lpstr>对偶单纯形法</vt:lpstr>
      <vt:lpstr>对偶单纯形法</vt:lpstr>
      <vt:lpstr>对偶单纯形法</vt:lpstr>
      <vt:lpstr>对偶问题求解</vt:lpstr>
      <vt:lpstr>对偶问题求解</vt:lpstr>
      <vt:lpstr>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Lingling Li</cp:lastModifiedBy>
  <cp:revision>596</cp:revision>
  <dcterms:created xsi:type="dcterms:W3CDTF">2017-03-11T07:00:00Z</dcterms:created>
  <dcterms:modified xsi:type="dcterms:W3CDTF">2024-04-11T02:03:28Z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1C652FC5A38C4F5A9CC5FE071DBD6BB8_12</vt:lpwstr>
  </property>
  <property fmtid="{D5CDD505-2E9C-101B-9397-08002B2CF9AE}" pid="3" name="KSOProductBuildVer">
    <vt:lpwstr>2052-12.1.0.16417</vt:lpwstr>
  </property>
</Properties>
</file>
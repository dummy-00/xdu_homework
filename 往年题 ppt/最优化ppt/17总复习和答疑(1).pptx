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4"/>
  </p:notesMasterIdLst>
  <p:handoutMasterIdLst>
    <p:handoutMasterId r:id="rId45"/>
  </p:handoutMasterIdLst>
  <p:sldIdLst>
    <p:sldId id="256" r:id="rId2"/>
    <p:sldId id="617" r:id="rId3"/>
    <p:sldId id="704" r:id="rId4"/>
    <p:sldId id="706" r:id="rId5"/>
    <p:sldId id="707" r:id="rId6"/>
    <p:sldId id="708" r:id="rId7"/>
    <p:sldId id="709" r:id="rId8"/>
    <p:sldId id="710" r:id="rId9"/>
    <p:sldId id="711" r:id="rId10"/>
    <p:sldId id="712" r:id="rId11"/>
    <p:sldId id="713" r:id="rId12"/>
    <p:sldId id="714" r:id="rId13"/>
    <p:sldId id="715" r:id="rId14"/>
    <p:sldId id="716" r:id="rId15"/>
    <p:sldId id="718" r:id="rId16"/>
    <p:sldId id="719" r:id="rId17"/>
    <p:sldId id="720" r:id="rId18"/>
    <p:sldId id="721" r:id="rId19"/>
    <p:sldId id="722" r:id="rId20"/>
    <p:sldId id="726" r:id="rId21"/>
    <p:sldId id="723" r:id="rId22"/>
    <p:sldId id="724" r:id="rId23"/>
    <p:sldId id="725" r:id="rId24"/>
    <p:sldId id="728" r:id="rId25"/>
    <p:sldId id="727" r:id="rId26"/>
    <p:sldId id="729" r:id="rId27"/>
    <p:sldId id="730" r:id="rId28"/>
    <p:sldId id="731" r:id="rId29"/>
    <p:sldId id="732" r:id="rId30"/>
    <p:sldId id="734" r:id="rId31"/>
    <p:sldId id="735" r:id="rId32"/>
    <p:sldId id="736" r:id="rId33"/>
    <p:sldId id="738" r:id="rId34"/>
    <p:sldId id="737" r:id="rId35"/>
    <p:sldId id="739" r:id="rId36"/>
    <p:sldId id="740" r:id="rId37"/>
    <p:sldId id="741" r:id="rId38"/>
    <p:sldId id="742" r:id="rId39"/>
    <p:sldId id="743" r:id="rId40"/>
    <p:sldId id="744" r:id="rId41"/>
    <p:sldId id="705" r:id="rId42"/>
    <p:sldId id="661" r:id="rId4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97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AA5"/>
    <a:srgbClr val="99F70C"/>
    <a:srgbClr val="005A9E"/>
    <a:srgbClr val="99E307"/>
    <a:srgbClr val="0000FF"/>
    <a:srgbClr val="004182"/>
    <a:srgbClr val="99F707"/>
    <a:srgbClr val="0042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64" autoAdjust="0"/>
    <p:restoredTop sz="88707" autoAdjust="0"/>
  </p:normalViewPr>
  <p:slideViewPr>
    <p:cSldViewPr>
      <p:cViewPr varScale="1">
        <p:scale>
          <a:sx n="102" d="100"/>
          <a:sy n="102" d="100"/>
        </p:scale>
        <p:origin x="1680" y="114"/>
      </p:cViewPr>
      <p:guideLst>
        <p:guide orient="horz" pos="2160"/>
        <p:guide pos="2971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7" d="100"/>
          <a:sy n="87" d="100"/>
        </p:scale>
        <p:origin x="-3738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Relationship Id="rId5" Type="http://schemas.openxmlformats.org/officeDocument/2006/relationships/image" Target="../media/image17.wmf"/><Relationship Id="rId4" Type="http://schemas.openxmlformats.org/officeDocument/2006/relationships/image" Target="../media/image16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.wmf"/><Relationship Id="rId1" Type="http://schemas.openxmlformats.org/officeDocument/2006/relationships/image" Target="../media/image20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3" Type="http://schemas.openxmlformats.org/officeDocument/2006/relationships/image" Target="../media/image24.wmf"/><Relationship Id="rId7" Type="http://schemas.openxmlformats.org/officeDocument/2006/relationships/image" Target="../media/image28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Relationship Id="rId6" Type="http://schemas.openxmlformats.org/officeDocument/2006/relationships/image" Target="../media/image27.wmf"/><Relationship Id="rId5" Type="http://schemas.openxmlformats.org/officeDocument/2006/relationships/image" Target="../media/image26.wmf"/><Relationship Id="rId4" Type="http://schemas.openxmlformats.org/officeDocument/2006/relationships/image" Target="../media/image25.wmf"/><Relationship Id="rId9" Type="http://schemas.openxmlformats.org/officeDocument/2006/relationships/image" Target="../media/image30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7" Type="http://schemas.openxmlformats.org/officeDocument/2006/relationships/image" Target="../media/image37.emf"/><Relationship Id="rId2" Type="http://schemas.openxmlformats.org/officeDocument/2006/relationships/image" Target="../media/image32.emf"/><Relationship Id="rId1" Type="http://schemas.openxmlformats.org/officeDocument/2006/relationships/image" Target="../media/image31.emf"/><Relationship Id="rId6" Type="http://schemas.openxmlformats.org/officeDocument/2006/relationships/image" Target="../media/image36.emf"/><Relationship Id="rId5" Type="http://schemas.openxmlformats.org/officeDocument/2006/relationships/image" Target="../media/image35.emf"/><Relationship Id="rId4" Type="http://schemas.openxmlformats.org/officeDocument/2006/relationships/image" Target="../media/image34.e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image" Target="../media/image39.emf"/><Relationship Id="rId1" Type="http://schemas.openxmlformats.org/officeDocument/2006/relationships/image" Target="../media/image38.emf"/><Relationship Id="rId5" Type="http://schemas.openxmlformats.org/officeDocument/2006/relationships/image" Target="../media/image42.emf"/><Relationship Id="rId4" Type="http://schemas.openxmlformats.org/officeDocument/2006/relationships/image" Target="../media/image41.e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5.emf"/><Relationship Id="rId2" Type="http://schemas.openxmlformats.org/officeDocument/2006/relationships/image" Target="../media/image44.emf"/><Relationship Id="rId1" Type="http://schemas.openxmlformats.org/officeDocument/2006/relationships/image" Target="../media/image43.emf"/><Relationship Id="rId4" Type="http://schemas.openxmlformats.org/officeDocument/2006/relationships/image" Target="../media/image46.e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55.wmf"/><Relationship Id="rId3" Type="http://schemas.openxmlformats.org/officeDocument/2006/relationships/image" Target="../media/image50.wmf"/><Relationship Id="rId7" Type="http://schemas.openxmlformats.org/officeDocument/2006/relationships/image" Target="../media/image54.wmf"/><Relationship Id="rId2" Type="http://schemas.openxmlformats.org/officeDocument/2006/relationships/image" Target="../media/image49.wmf"/><Relationship Id="rId1" Type="http://schemas.openxmlformats.org/officeDocument/2006/relationships/image" Target="../media/image48.wmf"/><Relationship Id="rId6" Type="http://schemas.openxmlformats.org/officeDocument/2006/relationships/image" Target="../media/image53.wmf"/><Relationship Id="rId11" Type="http://schemas.openxmlformats.org/officeDocument/2006/relationships/image" Target="../media/image58.wmf"/><Relationship Id="rId5" Type="http://schemas.openxmlformats.org/officeDocument/2006/relationships/image" Target="../media/image52.wmf"/><Relationship Id="rId10" Type="http://schemas.openxmlformats.org/officeDocument/2006/relationships/image" Target="../media/image57.wmf"/><Relationship Id="rId4" Type="http://schemas.openxmlformats.org/officeDocument/2006/relationships/image" Target="../media/image51.wmf"/><Relationship Id="rId9" Type="http://schemas.openxmlformats.org/officeDocument/2006/relationships/image" Target="../media/image56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1.wmf"/><Relationship Id="rId2" Type="http://schemas.openxmlformats.org/officeDocument/2006/relationships/image" Target="../media/image60.wmf"/><Relationship Id="rId1" Type="http://schemas.openxmlformats.org/officeDocument/2006/relationships/image" Target="../media/image59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70.wmf"/><Relationship Id="rId13" Type="http://schemas.openxmlformats.org/officeDocument/2006/relationships/image" Target="../media/image75.wmf"/><Relationship Id="rId3" Type="http://schemas.openxmlformats.org/officeDocument/2006/relationships/image" Target="../media/image65.wmf"/><Relationship Id="rId7" Type="http://schemas.openxmlformats.org/officeDocument/2006/relationships/image" Target="../media/image69.wmf"/><Relationship Id="rId12" Type="http://schemas.openxmlformats.org/officeDocument/2006/relationships/image" Target="../media/image74.wmf"/><Relationship Id="rId2" Type="http://schemas.openxmlformats.org/officeDocument/2006/relationships/image" Target="../media/image64.wmf"/><Relationship Id="rId1" Type="http://schemas.openxmlformats.org/officeDocument/2006/relationships/image" Target="../media/image63.wmf"/><Relationship Id="rId6" Type="http://schemas.openxmlformats.org/officeDocument/2006/relationships/image" Target="../media/image68.wmf"/><Relationship Id="rId11" Type="http://schemas.openxmlformats.org/officeDocument/2006/relationships/image" Target="../media/image73.wmf"/><Relationship Id="rId5" Type="http://schemas.openxmlformats.org/officeDocument/2006/relationships/image" Target="../media/image67.wmf"/><Relationship Id="rId10" Type="http://schemas.openxmlformats.org/officeDocument/2006/relationships/image" Target="../media/image72.wmf"/><Relationship Id="rId4" Type="http://schemas.openxmlformats.org/officeDocument/2006/relationships/image" Target="../media/image66.wmf"/><Relationship Id="rId9" Type="http://schemas.openxmlformats.org/officeDocument/2006/relationships/image" Target="../media/image71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83.wmf"/><Relationship Id="rId13" Type="http://schemas.openxmlformats.org/officeDocument/2006/relationships/image" Target="../media/image88.wmf"/><Relationship Id="rId3" Type="http://schemas.openxmlformats.org/officeDocument/2006/relationships/image" Target="../media/image78.wmf"/><Relationship Id="rId7" Type="http://schemas.openxmlformats.org/officeDocument/2006/relationships/image" Target="../media/image82.wmf"/><Relationship Id="rId12" Type="http://schemas.openxmlformats.org/officeDocument/2006/relationships/image" Target="../media/image87.wmf"/><Relationship Id="rId2" Type="http://schemas.openxmlformats.org/officeDocument/2006/relationships/image" Target="../media/image77.wmf"/><Relationship Id="rId1" Type="http://schemas.openxmlformats.org/officeDocument/2006/relationships/image" Target="../media/image76.wmf"/><Relationship Id="rId6" Type="http://schemas.openxmlformats.org/officeDocument/2006/relationships/image" Target="../media/image81.wmf"/><Relationship Id="rId11" Type="http://schemas.openxmlformats.org/officeDocument/2006/relationships/image" Target="../media/image86.wmf"/><Relationship Id="rId5" Type="http://schemas.openxmlformats.org/officeDocument/2006/relationships/image" Target="../media/image80.wmf"/><Relationship Id="rId10" Type="http://schemas.openxmlformats.org/officeDocument/2006/relationships/image" Target="../media/image85.wmf"/><Relationship Id="rId4" Type="http://schemas.openxmlformats.org/officeDocument/2006/relationships/image" Target="../media/image79.wmf"/><Relationship Id="rId9" Type="http://schemas.openxmlformats.org/officeDocument/2006/relationships/image" Target="../media/image84.wmf"/><Relationship Id="rId14" Type="http://schemas.openxmlformats.org/officeDocument/2006/relationships/image" Target="../media/image89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97.wmf"/><Relationship Id="rId13" Type="http://schemas.openxmlformats.org/officeDocument/2006/relationships/image" Target="../media/image102.wmf"/><Relationship Id="rId3" Type="http://schemas.openxmlformats.org/officeDocument/2006/relationships/image" Target="../media/image92.wmf"/><Relationship Id="rId7" Type="http://schemas.openxmlformats.org/officeDocument/2006/relationships/image" Target="../media/image96.wmf"/><Relationship Id="rId12" Type="http://schemas.openxmlformats.org/officeDocument/2006/relationships/image" Target="../media/image101.wmf"/><Relationship Id="rId2" Type="http://schemas.openxmlformats.org/officeDocument/2006/relationships/image" Target="../media/image91.wmf"/><Relationship Id="rId1" Type="http://schemas.openxmlformats.org/officeDocument/2006/relationships/image" Target="../media/image90.wmf"/><Relationship Id="rId6" Type="http://schemas.openxmlformats.org/officeDocument/2006/relationships/image" Target="../media/image95.wmf"/><Relationship Id="rId11" Type="http://schemas.openxmlformats.org/officeDocument/2006/relationships/image" Target="../media/image100.wmf"/><Relationship Id="rId5" Type="http://schemas.openxmlformats.org/officeDocument/2006/relationships/image" Target="../media/image94.wmf"/><Relationship Id="rId10" Type="http://schemas.openxmlformats.org/officeDocument/2006/relationships/image" Target="../media/image99.wmf"/><Relationship Id="rId4" Type="http://schemas.openxmlformats.org/officeDocument/2006/relationships/image" Target="../media/image93.wmf"/><Relationship Id="rId9" Type="http://schemas.openxmlformats.org/officeDocument/2006/relationships/image" Target="../media/image98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wmf"/><Relationship Id="rId2" Type="http://schemas.openxmlformats.org/officeDocument/2006/relationships/image" Target="../media/image60.wmf"/><Relationship Id="rId1" Type="http://schemas.openxmlformats.org/officeDocument/2006/relationships/image" Target="../media/image59.wmf"/><Relationship Id="rId4" Type="http://schemas.openxmlformats.org/officeDocument/2006/relationships/image" Target="../media/image104.w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emf"/><Relationship Id="rId3" Type="http://schemas.openxmlformats.org/officeDocument/2006/relationships/image" Target="../media/image107.emf"/><Relationship Id="rId7" Type="http://schemas.openxmlformats.org/officeDocument/2006/relationships/image" Target="../media/image111.wmf"/><Relationship Id="rId2" Type="http://schemas.openxmlformats.org/officeDocument/2006/relationships/image" Target="../media/image106.emf"/><Relationship Id="rId1" Type="http://schemas.openxmlformats.org/officeDocument/2006/relationships/image" Target="../media/image105.emf"/><Relationship Id="rId6" Type="http://schemas.openxmlformats.org/officeDocument/2006/relationships/image" Target="../media/image110.emf"/><Relationship Id="rId11" Type="http://schemas.openxmlformats.org/officeDocument/2006/relationships/image" Target="../media/image115.emf"/><Relationship Id="rId5" Type="http://schemas.openxmlformats.org/officeDocument/2006/relationships/image" Target="../media/image109.emf"/><Relationship Id="rId10" Type="http://schemas.openxmlformats.org/officeDocument/2006/relationships/image" Target="../media/image114.emf"/><Relationship Id="rId4" Type="http://schemas.openxmlformats.org/officeDocument/2006/relationships/image" Target="../media/image108.emf"/><Relationship Id="rId9" Type="http://schemas.openxmlformats.org/officeDocument/2006/relationships/image" Target="../media/image113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6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wmf"/><Relationship Id="rId3" Type="http://schemas.openxmlformats.org/officeDocument/2006/relationships/image" Target="../media/image120.wmf"/><Relationship Id="rId7" Type="http://schemas.openxmlformats.org/officeDocument/2006/relationships/image" Target="../media/image124.wmf"/><Relationship Id="rId2" Type="http://schemas.openxmlformats.org/officeDocument/2006/relationships/image" Target="../media/image119.wmf"/><Relationship Id="rId1" Type="http://schemas.openxmlformats.org/officeDocument/2006/relationships/image" Target="../media/image118.wmf"/><Relationship Id="rId6" Type="http://schemas.openxmlformats.org/officeDocument/2006/relationships/image" Target="../media/image123.wmf"/><Relationship Id="rId5" Type="http://schemas.openxmlformats.org/officeDocument/2006/relationships/image" Target="../media/image122.wmf"/><Relationship Id="rId4" Type="http://schemas.openxmlformats.org/officeDocument/2006/relationships/image" Target="../media/image121.w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wmf"/><Relationship Id="rId3" Type="http://schemas.openxmlformats.org/officeDocument/2006/relationships/image" Target="../media/image128.wmf"/><Relationship Id="rId7" Type="http://schemas.openxmlformats.org/officeDocument/2006/relationships/image" Target="../media/image132.wmf"/><Relationship Id="rId2" Type="http://schemas.openxmlformats.org/officeDocument/2006/relationships/image" Target="../media/image127.wmf"/><Relationship Id="rId1" Type="http://schemas.openxmlformats.org/officeDocument/2006/relationships/image" Target="../media/image126.wmf"/><Relationship Id="rId6" Type="http://schemas.openxmlformats.org/officeDocument/2006/relationships/image" Target="../media/image131.wmf"/><Relationship Id="rId5" Type="http://schemas.openxmlformats.org/officeDocument/2006/relationships/image" Target="../media/image130.wmf"/><Relationship Id="rId4" Type="http://schemas.openxmlformats.org/officeDocument/2006/relationships/image" Target="../media/image129.w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wmf"/><Relationship Id="rId3" Type="http://schemas.openxmlformats.org/officeDocument/2006/relationships/image" Target="../media/image137.wmf"/><Relationship Id="rId7" Type="http://schemas.openxmlformats.org/officeDocument/2006/relationships/image" Target="../media/image141.wmf"/><Relationship Id="rId2" Type="http://schemas.openxmlformats.org/officeDocument/2006/relationships/image" Target="../media/image136.wmf"/><Relationship Id="rId1" Type="http://schemas.openxmlformats.org/officeDocument/2006/relationships/image" Target="../media/image135.wmf"/><Relationship Id="rId6" Type="http://schemas.openxmlformats.org/officeDocument/2006/relationships/image" Target="../media/image140.wmf"/><Relationship Id="rId5" Type="http://schemas.openxmlformats.org/officeDocument/2006/relationships/image" Target="../media/image139.wmf"/><Relationship Id="rId4" Type="http://schemas.openxmlformats.org/officeDocument/2006/relationships/image" Target="../media/image138.wmf"/><Relationship Id="rId9" Type="http://schemas.openxmlformats.org/officeDocument/2006/relationships/image" Target="../media/image143.w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1.wmf"/><Relationship Id="rId13" Type="http://schemas.openxmlformats.org/officeDocument/2006/relationships/image" Target="../media/image156.wmf"/><Relationship Id="rId3" Type="http://schemas.openxmlformats.org/officeDocument/2006/relationships/image" Target="../media/image146.wmf"/><Relationship Id="rId7" Type="http://schemas.openxmlformats.org/officeDocument/2006/relationships/image" Target="../media/image150.wmf"/><Relationship Id="rId12" Type="http://schemas.openxmlformats.org/officeDocument/2006/relationships/image" Target="../media/image155.wmf"/><Relationship Id="rId2" Type="http://schemas.openxmlformats.org/officeDocument/2006/relationships/image" Target="../media/image145.wmf"/><Relationship Id="rId16" Type="http://schemas.openxmlformats.org/officeDocument/2006/relationships/image" Target="../media/image159.wmf"/><Relationship Id="rId1" Type="http://schemas.openxmlformats.org/officeDocument/2006/relationships/image" Target="../media/image144.wmf"/><Relationship Id="rId6" Type="http://schemas.openxmlformats.org/officeDocument/2006/relationships/image" Target="../media/image149.wmf"/><Relationship Id="rId11" Type="http://schemas.openxmlformats.org/officeDocument/2006/relationships/image" Target="../media/image154.wmf"/><Relationship Id="rId5" Type="http://schemas.openxmlformats.org/officeDocument/2006/relationships/image" Target="../media/image148.wmf"/><Relationship Id="rId15" Type="http://schemas.openxmlformats.org/officeDocument/2006/relationships/image" Target="../media/image158.wmf"/><Relationship Id="rId10" Type="http://schemas.openxmlformats.org/officeDocument/2006/relationships/image" Target="../media/image153.wmf"/><Relationship Id="rId4" Type="http://schemas.openxmlformats.org/officeDocument/2006/relationships/image" Target="../media/image147.wmf"/><Relationship Id="rId9" Type="http://schemas.openxmlformats.org/officeDocument/2006/relationships/image" Target="../media/image152.wmf"/><Relationship Id="rId14" Type="http://schemas.openxmlformats.org/officeDocument/2006/relationships/image" Target="../media/image157.w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0.w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7.wmf"/><Relationship Id="rId13" Type="http://schemas.openxmlformats.org/officeDocument/2006/relationships/image" Target="../media/image170.wmf"/><Relationship Id="rId3" Type="http://schemas.openxmlformats.org/officeDocument/2006/relationships/image" Target="../media/image164.wmf"/><Relationship Id="rId7" Type="http://schemas.openxmlformats.org/officeDocument/2006/relationships/image" Target="../media/image166.wmf"/><Relationship Id="rId12" Type="http://schemas.openxmlformats.org/officeDocument/2006/relationships/image" Target="../media/image169.wmf"/><Relationship Id="rId2" Type="http://schemas.openxmlformats.org/officeDocument/2006/relationships/image" Target="../media/image163.wmf"/><Relationship Id="rId1" Type="http://schemas.openxmlformats.org/officeDocument/2006/relationships/image" Target="../media/image162.wmf"/><Relationship Id="rId6" Type="http://schemas.openxmlformats.org/officeDocument/2006/relationships/image" Target="../media/image165.wmf"/><Relationship Id="rId11" Type="http://schemas.openxmlformats.org/officeDocument/2006/relationships/image" Target="../media/image154.wmf"/><Relationship Id="rId5" Type="http://schemas.openxmlformats.org/officeDocument/2006/relationships/image" Target="../media/image148.wmf"/><Relationship Id="rId10" Type="http://schemas.openxmlformats.org/officeDocument/2006/relationships/image" Target="../media/image168.wmf"/><Relationship Id="rId4" Type="http://schemas.openxmlformats.org/officeDocument/2006/relationships/image" Target="../media/image147.wmf"/><Relationship Id="rId9" Type="http://schemas.openxmlformats.org/officeDocument/2006/relationships/image" Target="../media/image152.wmf"/><Relationship Id="rId14" Type="http://schemas.openxmlformats.org/officeDocument/2006/relationships/image" Target="../media/image171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wmf"/><Relationship Id="rId7" Type="http://schemas.openxmlformats.org/officeDocument/2006/relationships/image" Target="../media/image178.wmf"/><Relationship Id="rId2" Type="http://schemas.openxmlformats.org/officeDocument/2006/relationships/image" Target="../media/image173.wmf"/><Relationship Id="rId1" Type="http://schemas.openxmlformats.org/officeDocument/2006/relationships/image" Target="../media/image172.wmf"/><Relationship Id="rId6" Type="http://schemas.openxmlformats.org/officeDocument/2006/relationships/image" Target="../media/image177.wmf"/><Relationship Id="rId5" Type="http://schemas.openxmlformats.org/officeDocument/2006/relationships/image" Target="../media/image176.wmf"/><Relationship Id="rId4" Type="http://schemas.openxmlformats.org/officeDocument/2006/relationships/image" Target="../media/image175.wmf"/></Relationships>
</file>

<file path=ppt/drawings/_rels/vmlDrawing2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wmf"/><Relationship Id="rId1" Type="http://schemas.openxmlformats.org/officeDocument/2006/relationships/image" Target="../media/image179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FF3516-2E2E-447A-BF37-AC90274693A0}" type="datetimeFigureOut">
              <a:rPr lang="zh-CN" altLang="en-US" smtClean="0"/>
              <a:pPr/>
              <a:t>2020/6/1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85B465-D402-4F10-99EF-849226EBFBE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63493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E49ED2-BFCB-4791-914F-B6D7F5D86BBE}" type="datetimeFigureOut">
              <a:rPr lang="zh-CN" altLang="en-US" smtClean="0"/>
              <a:pPr/>
              <a:t>2020/6/1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4535DC-6042-4CAB-8461-B1E0B81ED9B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9820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535DC-6042-4CAB-8461-B1E0B81ED9BA}" type="slidenum">
              <a:rPr lang="zh-CN" altLang="en-US" smtClean="0"/>
              <a:pPr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8796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535DC-6042-4CAB-8461-B1E0B81ED9BA}" type="slidenum">
              <a:rPr lang="zh-CN" altLang="en-US" smtClean="0"/>
              <a:pPr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21686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535DC-6042-4CAB-8461-B1E0B81ED9BA}" type="slidenum">
              <a:rPr lang="zh-CN" altLang="en-US" smtClean="0"/>
              <a:pPr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25255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535DC-6042-4CAB-8461-B1E0B81ED9BA}" type="slidenum">
              <a:rPr lang="zh-CN" altLang="en-US" smtClean="0"/>
              <a:pPr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7944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535DC-6042-4CAB-8461-B1E0B81ED9BA}" type="slidenum">
              <a:rPr lang="zh-CN" altLang="en-US" smtClean="0"/>
              <a:pPr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40290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a3.jp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60"/>
            <a:ext cx="9144000" cy="6856883"/>
          </a:xfrm>
          <a:prstGeom prst="rect">
            <a:avLst/>
          </a:prstGeom>
          <a:ln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424816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2020/6/1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786446" y="6356352"/>
            <a:ext cx="2895600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2786050" y="6357960"/>
            <a:ext cx="2786082" cy="365125"/>
          </a:xfrm>
        </p:spPr>
        <p:txBody>
          <a:bodyPr/>
          <a:lstStyle>
            <a:lvl1pPr>
              <a:defRPr b="1">
                <a:solidFill>
                  <a:srgbClr val="004182"/>
                </a:solidFill>
              </a:defRPr>
            </a:lvl1pPr>
          </a:lstStyle>
          <a:p>
            <a:r>
              <a:rPr lang="zh-CN" altLang="en-US" dirty="0"/>
              <a:t>智能感知与图像理解教育部重点实验室</a:t>
            </a:r>
          </a:p>
        </p:txBody>
      </p:sp>
      <p:sp>
        <p:nvSpPr>
          <p:cNvPr id="8" name="矩形 1"/>
          <p:cNvSpPr>
            <a:spLocks noChangeArrowheads="1"/>
          </p:cNvSpPr>
          <p:nvPr userDrawn="1"/>
        </p:nvSpPr>
        <p:spPr bwMode="auto">
          <a:xfrm>
            <a:off x="0" y="1989137"/>
            <a:ext cx="9144000" cy="1727200"/>
          </a:xfrm>
          <a:prstGeom prst="rect">
            <a:avLst/>
          </a:prstGeom>
          <a:solidFill>
            <a:srgbClr val="004182"/>
          </a:solidFill>
          <a:ln w="25400">
            <a:noFill/>
            <a:miter lim="800000"/>
            <a:headEnd/>
            <a:tailEnd/>
          </a:ln>
        </p:spPr>
        <p:txBody>
          <a:bodyPr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 dirty="0">
              <a:solidFill>
                <a:srgbClr val="005A9E"/>
              </a:solidFill>
            </a:endParaRPr>
          </a:p>
        </p:txBody>
      </p:sp>
      <p:sp>
        <p:nvSpPr>
          <p:cNvPr id="9" name="直接连接符 3"/>
          <p:cNvSpPr>
            <a:spLocks noChangeShapeType="1"/>
          </p:cNvSpPr>
          <p:nvPr userDrawn="1"/>
        </p:nvSpPr>
        <p:spPr bwMode="auto">
          <a:xfrm>
            <a:off x="0" y="3876675"/>
            <a:ext cx="9144000" cy="1588"/>
          </a:xfrm>
          <a:prstGeom prst="line">
            <a:avLst/>
          </a:prstGeom>
          <a:noFill/>
          <a:ln w="76200">
            <a:solidFill>
              <a:srgbClr val="004182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0" name="图片 9" descr="横版logo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5572132" y="425307"/>
            <a:ext cx="2786082" cy="93199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a4.jp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60"/>
            <a:ext cx="9144000" cy="6856883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928927" y="142852"/>
            <a:ext cx="6072230" cy="582594"/>
          </a:xfrm>
        </p:spPr>
        <p:txBody>
          <a:bodyPr>
            <a:noAutofit/>
          </a:bodyPr>
          <a:lstStyle>
            <a:lvl1pPr>
              <a:defRPr sz="32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2020/6/1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786447" y="6357960"/>
            <a:ext cx="2876560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2786050" y="6356352"/>
            <a:ext cx="2828916" cy="365125"/>
          </a:xfrm>
        </p:spPr>
        <p:txBody>
          <a:bodyPr/>
          <a:lstStyle>
            <a:lvl1pPr marL="0" algn="r" defTabSz="914400" rtl="0" eaLnBrk="1" latinLnBrk="0" hangingPunct="1">
              <a:defRPr lang="zh-CN" altLang="en-US" sz="1200" b="1" kern="1200" smtClean="0">
                <a:solidFill>
                  <a:srgbClr val="00418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zh-CN" altLang="en-US" dirty="0"/>
              <a:t>智能感知与图像理解教育部重点实验室</a:t>
            </a:r>
          </a:p>
        </p:txBody>
      </p:sp>
      <p:cxnSp>
        <p:nvCxnSpPr>
          <p:cNvPr id="10" name="直接连接符 9"/>
          <p:cNvCxnSpPr/>
          <p:nvPr userDrawn="1"/>
        </p:nvCxnSpPr>
        <p:spPr>
          <a:xfrm>
            <a:off x="-12192" y="6232551"/>
            <a:ext cx="4857750" cy="4763"/>
          </a:xfrm>
          <a:prstGeom prst="line">
            <a:avLst/>
          </a:prstGeom>
          <a:ln w="104775">
            <a:solidFill>
              <a:srgbClr val="0041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 userDrawn="1"/>
        </p:nvCxnSpPr>
        <p:spPr>
          <a:xfrm>
            <a:off x="-9910" y="6163328"/>
            <a:ext cx="4857750" cy="4763"/>
          </a:xfrm>
          <a:prstGeom prst="line">
            <a:avLst/>
          </a:prstGeom>
          <a:ln w="635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 descr="_MG_3655副本.jp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5206480" y="5860744"/>
            <a:ext cx="1080000" cy="71999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3" name="图片 12" descr="_MG_3751副本.jpg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6402535" y="5900715"/>
            <a:ext cx="960000" cy="64005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4" name="图片 13" descr="_MG_2253_2_1_0_tonemapped副本.jpg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7511125" y="5858311"/>
            <a:ext cx="1078651" cy="71916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1" name="图片 20" descr="QQ截图20170908113630.jpg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42844" y="6298957"/>
            <a:ext cx="3214710" cy="55964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新建 Microsoft Office PowerPoint 演示文稿.jp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2020/6/1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a4.jp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60"/>
            <a:ext cx="9144000" cy="6856883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2020/6/1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a4.jp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60"/>
            <a:ext cx="9144000" cy="6856883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2020/6/1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2020/6/1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2020/6/1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2020/6/1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2020/6/1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2020/6/1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2020/6/1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2020/6/1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9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1.png"/><Relationship Id="rId4" Type="http://schemas.openxmlformats.org/officeDocument/2006/relationships/image" Target="../media/image10.w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13" Type="http://schemas.openxmlformats.org/officeDocument/2006/relationships/image" Target="../media/image17.wmf"/><Relationship Id="rId3" Type="http://schemas.openxmlformats.org/officeDocument/2006/relationships/image" Target="../media/image18.png"/><Relationship Id="rId7" Type="http://schemas.openxmlformats.org/officeDocument/2006/relationships/image" Target="../media/image14.wmf"/><Relationship Id="rId12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4.bin"/><Relationship Id="rId11" Type="http://schemas.openxmlformats.org/officeDocument/2006/relationships/image" Target="../media/image16.wmf"/><Relationship Id="rId5" Type="http://schemas.openxmlformats.org/officeDocument/2006/relationships/image" Target="../media/image13.wmf"/><Relationship Id="rId10" Type="http://schemas.openxmlformats.org/officeDocument/2006/relationships/oleObject" Target="../embeddings/oleObject6.bin"/><Relationship Id="rId4" Type="http://schemas.openxmlformats.org/officeDocument/2006/relationships/oleObject" Target="../embeddings/oleObject3.bin"/><Relationship Id="rId9" Type="http://schemas.openxmlformats.org/officeDocument/2006/relationships/image" Target="../media/image15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9.e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1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20.w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13" Type="http://schemas.openxmlformats.org/officeDocument/2006/relationships/oleObject" Target="../embeddings/oleObject16.bin"/><Relationship Id="rId18" Type="http://schemas.openxmlformats.org/officeDocument/2006/relationships/image" Target="../media/image29.wmf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12" Type="http://schemas.openxmlformats.org/officeDocument/2006/relationships/image" Target="../media/image26.wmf"/><Relationship Id="rId17" Type="http://schemas.openxmlformats.org/officeDocument/2006/relationships/oleObject" Target="../embeddings/oleObject18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8.wmf"/><Relationship Id="rId20" Type="http://schemas.openxmlformats.org/officeDocument/2006/relationships/image" Target="../media/image30.w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23.wmf"/><Relationship Id="rId11" Type="http://schemas.openxmlformats.org/officeDocument/2006/relationships/oleObject" Target="../embeddings/oleObject15.bin"/><Relationship Id="rId5" Type="http://schemas.openxmlformats.org/officeDocument/2006/relationships/oleObject" Target="../embeddings/oleObject12.bin"/><Relationship Id="rId15" Type="http://schemas.openxmlformats.org/officeDocument/2006/relationships/oleObject" Target="../embeddings/oleObject17.bin"/><Relationship Id="rId10" Type="http://schemas.openxmlformats.org/officeDocument/2006/relationships/image" Target="../media/image25.wmf"/><Relationship Id="rId19" Type="http://schemas.openxmlformats.org/officeDocument/2006/relationships/oleObject" Target="../embeddings/oleObject19.bin"/><Relationship Id="rId4" Type="http://schemas.openxmlformats.org/officeDocument/2006/relationships/image" Target="../media/image22.wmf"/><Relationship Id="rId9" Type="http://schemas.openxmlformats.org/officeDocument/2006/relationships/oleObject" Target="../embeddings/oleObject14.bin"/><Relationship Id="rId14" Type="http://schemas.openxmlformats.org/officeDocument/2006/relationships/image" Target="../media/image27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emf"/><Relationship Id="rId13" Type="http://schemas.openxmlformats.org/officeDocument/2006/relationships/oleObject" Target="../embeddings/oleObject25.bin"/><Relationship Id="rId3" Type="http://schemas.openxmlformats.org/officeDocument/2006/relationships/oleObject" Target="../embeddings/oleObject20.bin"/><Relationship Id="rId7" Type="http://schemas.openxmlformats.org/officeDocument/2006/relationships/oleObject" Target="../embeddings/oleObject22.bin"/><Relationship Id="rId12" Type="http://schemas.openxmlformats.org/officeDocument/2006/relationships/image" Target="../media/image35.e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7.e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32.emf"/><Relationship Id="rId11" Type="http://schemas.openxmlformats.org/officeDocument/2006/relationships/oleObject" Target="../embeddings/oleObject24.bin"/><Relationship Id="rId5" Type="http://schemas.openxmlformats.org/officeDocument/2006/relationships/oleObject" Target="../embeddings/oleObject21.bin"/><Relationship Id="rId15" Type="http://schemas.openxmlformats.org/officeDocument/2006/relationships/oleObject" Target="../embeddings/oleObject26.bin"/><Relationship Id="rId10" Type="http://schemas.openxmlformats.org/officeDocument/2006/relationships/image" Target="../media/image34.emf"/><Relationship Id="rId4" Type="http://schemas.openxmlformats.org/officeDocument/2006/relationships/image" Target="../media/image31.emf"/><Relationship Id="rId9" Type="http://schemas.openxmlformats.org/officeDocument/2006/relationships/oleObject" Target="../embeddings/oleObject23.bin"/><Relationship Id="rId14" Type="http://schemas.openxmlformats.org/officeDocument/2006/relationships/image" Target="../media/image36.e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emf"/><Relationship Id="rId3" Type="http://schemas.openxmlformats.org/officeDocument/2006/relationships/oleObject" Target="../embeddings/oleObject27.bin"/><Relationship Id="rId7" Type="http://schemas.openxmlformats.org/officeDocument/2006/relationships/oleObject" Target="../embeddings/oleObject29.bin"/><Relationship Id="rId12" Type="http://schemas.openxmlformats.org/officeDocument/2006/relationships/image" Target="../media/image42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9.emf"/><Relationship Id="rId11" Type="http://schemas.openxmlformats.org/officeDocument/2006/relationships/oleObject" Target="../embeddings/oleObject31.bin"/><Relationship Id="rId5" Type="http://schemas.openxmlformats.org/officeDocument/2006/relationships/oleObject" Target="../embeddings/oleObject28.bin"/><Relationship Id="rId10" Type="http://schemas.openxmlformats.org/officeDocument/2006/relationships/image" Target="../media/image41.emf"/><Relationship Id="rId4" Type="http://schemas.openxmlformats.org/officeDocument/2006/relationships/image" Target="../media/image38.emf"/><Relationship Id="rId9" Type="http://schemas.openxmlformats.org/officeDocument/2006/relationships/oleObject" Target="../embeddings/oleObject30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emf"/><Relationship Id="rId3" Type="http://schemas.openxmlformats.org/officeDocument/2006/relationships/notesSlide" Target="../notesSlides/notesSlide1.xml"/><Relationship Id="rId7" Type="http://schemas.openxmlformats.org/officeDocument/2006/relationships/oleObject" Target="../embeddings/oleObject33.bin"/><Relationship Id="rId12" Type="http://schemas.openxmlformats.org/officeDocument/2006/relationships/image" Target="../media/image46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43.emf"/><Relationship Id="rId11" Type="http://schemas.openxmlformats.org/officeDocument/2006/relationships/oleObject" Target="../embeddings/oleObject35.bin"/><Relationship Id="rId5" Type="http://schemas.openxmlformats.org/officeDocument/2006/relationships/oleObject" Target="../embeddings/oleObject32.bin"/><Relationship Id="rId10" Type="http://schemas.openxmlformats.org/officeDocument/2006/relationships/image" Target="../media/image45.emf"/><Relationship Id="rId4" Type="http://schemas.openxmlformats.org/officeDocument/2006/relationships/image" Target="../media/image47.jpeg"/><Relationship Id="rId9" Type="http://schemas.openxmlformats.org/officeDocument/2006/relationships/oleObject" Target="../embeddings/oleObject34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8.bin"/><Relationship Id="rId13" Type="http://schemas.openxmlformats.org/officeDocument/2006/relationships/image" Target="../media/image52.wmf"/><Relationship Id="rId18" Type="http://schemas.openxmlformats.org/officeDocument/2006/relationships/oleObject" Target="../embeddings/oleObject43.bin"/><Relationship Id="rId3" Type="http://schemas.openxmlformats.org/officeDocument/2006/relationships/notesSlide" Target="../notesSlides/notesSlide2.xml"/><Relationship Id="rId21" Type="http://schemas.openxmlformats.org/officeDocument/2006/relationships/image" Target="../media/image56.wmf"/><Relationship Id="rId7" Type="http://schemas.openxmlformats.org/officeDocument/2006/relationships/image" Target="../media/image49.wmf"/><Relationship Id="rId12" Type="http://schemas.openxmlformats.org/officeDocument/2006/relationships/oleObject" Target="../embeddings/oleObject40.bin"/><Relationship Id="rId17" Type="http://schemas.openxmlformats.org/officeDocument/2006/relationships/image" Target="../media/image54.wmf"/><Relationship Id="rId25" Type="http://schemas.openxmlformats.org/officeDocument/2006/relationships/image" Target="../media/image58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42.bin"/><Relationship Id="rId20" Type="http://schemas.openxmlformats.org/officeDocument/2006/relationships/oleObject" Target="../embeddings/oleObject44.bin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37.bin"/><Relationship Id="rId11" Type="http://schemas.openxmlformats.org/officeDocument/2006/relationships/image" Target="../media/image51.wmf"/><Relationship Id="rId24" Type="http://schemas.openxmlformats.org/officeDocument/2006/relationships/oleObject" Target="../embeddings/oleObject46.bin"/><Relationship Id="rId5" Type="http://schemas.openxmlformats.org/officeDocument/2006/relationships/image" Target="../media/image48.wmf"/><Relationship Id="rId15" Type="http://schemas.openxmlformats.org/officeDocument/2006/relationships/image" Target="../media/image53.wmf"/><Relationship Id="rId23" Type="http://schemas.openxmlformats.org/officeDocument/2006/relationships/image" Target="../media/image57.wmf"/><Relationship Id="rId10" Type="http://schemas.openxmlformats.org/officeDocument/2006/relationships/oleObject" Target="../embeddings/oleObject39.bin"/><Relationship Id="rId19" Type="http://schemas.openxmlformats.org/officeDocument/2006/relationships/image" Target="../media/image55.wmf"/><Relationship Id="rId4" Type="http://schemas.openxmlformats.org/officeDocument/2006/relationships/oleObject" Target="../embeddings/oleObject36.bin"/><Relationship Id="rId9" Type="http://schemas.openxmlformats.org/officeDocument/2006/relationships/image" Target="../media/image50.wmf"/><Relationship Id="rId14" Type="http://schemas.openxmlformats.org/officeDocument/2006/relationships/oleObject" Target="../embeddings/oleObject41.bin"/><Relationship Id="rId22" Type="http://schemas.openxmlformats.org/officeDocument/2006/relationships/oleObject" Target="../embeddings/oleObject45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wmf"/><Relationship Id="rId3" Type="http://schemas.openxmlformats.org/officeDocument/2006/relationships/notesSlide" Target="../notesSlides/notesSlide3.xml"/><Relationship Id="rId7" Type="http://schemas.openxmlformats.org/officeDocument/2006/relationships/oleObject" Target="../embeddings/oleObject4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59.wmf"/><Relationship Id="rId11" Type="http://schemas.openxmlformats.org/officeDocument/2006/relationships/oleObject" Target="../embeddings/oleObject50.bin"/><Relationship Id="rId5" Type="http://schemas.openxmlformats.org/officeDocument/2006/relationships/oleObject" Target="../embeddings/oleObject47.bin"/><Relationship Id="rId10" Type="http://schemas.openxmlformats.org/officeDocument/2006/relationships/image" Target="../media/image61.wmf"/><Relationship Id="rId4" Type="http://schemas.openxmlformats.org/officeDocument/2006/relationships/image" Target="../media/image62.jpeg"/><Relationship Id="rId9" Type="http://schemas.openxmlformats.org/officeDocument/2006/relationships/oleObject" Target="../embeddings/oleObject49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3.bin"/><Relationship Id="rId13" Type="http://schemas.openxmlformats.org/officeDocument/2006/relationships/image" Target="../media/image67.wmf"/><Relationship Id="rId18" Type="http://schemas.openxmlformats.org/officeDocument/2006/relationships/oleObject" Target="../embeddings/oleObject58.bin"/><Relationship Id="rId26" Type="http://schemas.openxmlformats.org/officeDocument/2006/relationships/oleObject" Target="../embeddings/oleObject62.bin"/><Relationship Id="rId3" Type="http://schemas.openxmlformats.org/officeDocument/2006/relationships/notesSlide" Target="../notesSlides/notesSlide4.xml"/><Relationship Id="rId21" Type="http://schemas.openxmlformats.org/officeDocument/2006/relationships/image" Target="../media/image71.wmf"/><Relationship Id="rId7" Type="http://schemas.openxmlformats.org/officeDocument/2006/relationships/image" Target="../media/image64.wmf"/><Relationship Id="rId12" Type="http://schemas.openxmlformats.org/officeDocument/2006/relationships/oleObject" Target="../embeddings/oleObject55.bin"/><Relationship Id="rId17" Type="http://schemas.openxmlformats.org/officeDocument/2006/relationships/image" Target="../media/image69.wmf"/><Relationship Id="rId25" Type="http://schemas.openxmlformats.org/officeDocument/2006/relationships/image" Target="../media/image73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57.bin"/><Relationship Id="rId20" Type="http://schemas.openxmlformats.org/officeDocument/2006/relationships/oleObject" Target="../embeddings/oleObject59.bin"/><Relationship Id="rId29" Type="http://schemas.openxmlformats.org/officeDocument/2006/relationships/image" Target="../media/image75.wmf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52.bin"/><Relationship Id="rId11" Type="http://schemas.openxmlformats.org/officeDocument/2006/relationships/image" Target="../media/image66.wmf"/><Relationship Id="rId24" Type="http://schemas.openxmlformats.org/officeDocument/2006/relationships/oleObject" Target="../embeddings/oleObject61.bin"/><Relationship Id="rId5" Type="http://schemas.openxmlformats.org/officeDocument/2006/relationships/image" Target="../media/image63.wmf"/><Relationship Id="rId15" Type="http://schemas.openxmlformats.org/officeDocument/2006/relationships/image" Target="../media/image68.wmf"/><Relationship Id="rId23" Type="http://schemas.openxmlformats.org/officeDocument/2006/relationships/image" Target="../media/image72.wmf"/><Relationship Id="rId28" Type="http://schemas.openxmlformats.org/officeDocument/2006/relationships/oleObject" Target="../embeddings/oleObject63.bin"/><Relationship Id="rId10" Type="http://schemas.openxmlformats.org/officeDocument/2006/relationships/oleObject" Target="../embeddings/oleObject54.bin"/><Relationship Id="rId19" Type="http://schemas.openxmlformats.org/officeDocument/2006/relationships/image" Target="../media/image70.wmf"/><Relationship Id="rId4" Type="http://schemas.openxmlformats.org/officeDocument/2006/relationships/oleObject" Target="../embeddings/oleObject51.bin"/><Relationship Id="rId9" Type="http://schemas.openxmlformats.org/officeDocument/2006/relationships/image" Target="../media/image65.wmf"/><Relationship Id="rId14" Type="http://schemas.openxmlformats.org/officeDocument/2006/relationships/oleObject" Target="../embeddings/oleObject56.bin"/><Relationship Id="rId22" Type="http://schemas.openxmlformats.org/officeDocument/2006/relationships/oleObject" Target="../embeddings/oleObject60.bin"/><Relationship Id="rId27" Type="http://schemas.openxmlformats.org/officeDocument/2006/relationships/image" Target="../media/image74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wmf"/><Relationship Id="rId13" Type="http://schemas.openxmlformats.org/officeDocument/2006/relationships/oleObject" Target="../embeddings/oleObject69.bin"/><Relationship Id="rId18" Type="http://schemas.openxmlformats.org/officeDocument/2006/relationships/image" Target="../media/image83.wmf"/><Relationship Id="rId26" Type="http://schemas.openxmlformats.org/officeDocument/2006/relationships/image" Target="../media/image87.wmf"/><Relationship Id="rId3" Type="http://schemas.openxmlformats.org/officeDocument/2006/relationships/oleObject" Target="../embeddings/oleObject64.bin"/><Relationship Id="rId21" Type="http://schemas.openxmlformats.org/officeDocument/2006/relationships/oleObject" Target="../embeddings/oleObject73.bin"/><Relationship Id="rId7" Type="http://schemas.openxmlformats.org/officeDocument/2006/relationships/oleObject" Target="../embeddings/oleObject66.bin"/><Relationship Id="rId12" Type="http://schemas.openxmlformats.org/officeDocument/2006/relationships/image" Target="../media/image80.wmf"/><Relationship Id="rId17" Type="http://schemas.openxmlformats.org/officeDocument/2006/relationships/oleObject" Target="../embeddings/oleObject71.bin"/><Relationship Id="rId25" Type="http://schemas.openxmlformats.org/officeDocument/2006/relationships/oleObject" Target="../embeddings/oleObject75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82.wmf"/><Relationship Id="rId20" Type="http://schemas.openxmlformats.org/officeDocument/2006/relationships/image" Target="../media/image84.wmf"/><Relationship Id="rId29" Type="http://schemas.openxmlformats.org/officeDocument/2006/relationships/oleObject" Target="../embeddings/oleObject77.bin"/><Relationship Id="rId1" Type="http://schemas.openxmlformats.org/officeDocument/2006/relationships/vmlDrawing" Target="../drawings/vmlDrawing13.vml"/><Relationship Id="rId6" Type="http://schemas.openxmlformats.org/officeDocument/2006/relationships/image" Target="../media/image77.wmf"/><Relationship Id="rId11" Type="http://schemas.openxmlformats.org/officeDocument/2006/relationships/oleObject" Target="../embeddings/oleObject68.bin"/><Relationship Id="rId24" Type="http://schemas.openxmlformats.org/officeDocument/2006/relationships/image" Target="../media/image86.wmf"/><Relationship Id="rId5" Type="http://schemas.openxmlformats.org/officeDocument/2006/relationships/oleObject" Target="../embeddings/oleObject65.bin"/><Relationship Id="rId15" Type="http://schemas.openxmlformats.org/officeDocument/2006/relationships/oleObject" Target="../embeddings/oleObject70.bin"/><Relationship Id="rId23" Type="http://schemas.openxmlformats.org/officeDocument/2006/relationships/oleObject" Target="../embeddings/oleObject74.bin"/><Relationship Id="rId28" Type="http://schemas.openxmlformats.org/officeDocument/2006/relationships/image" Target="../media/image88.wmf"/><Relationship Id="rId10" Type="http://schemas.openxmlformats.org/officeDocument/2006/relationships/image" Target="../media/image79.wmf"/><Relationship Id="rId19" Type="http://schemas.openxmlformats.org/officeDocument/2006/relationships/oleObject" Target="../embeddings/oleObject72.bin"/><Relationship Id="rId4" Type="http://schemas.openxmlformats.org/officeDocument/2006/relationships/image" Target="../media/image76.wmf"/><Relationship Id="rId9" Type="http://schemas.openxmlformats.org/officeDocument/2006/relationships/oleObject" Target="../embeddings/oleObject67.bin"/><Relationship Id="rId14" Type="http://schemas.openxmlformats.org/officeDocument/2006/relationships/image" Target="../media/image81.wmf"/><Relationship Id="rId22" Type="http://schemas.openxmlformats.org/officeDocument/2006/relationships/image" Target="../media/image85.wmf"/><Relationship Id="rId27" Type="http://schemas.openxmlformats.org/officeDocument/2006/relationships/oleObject" Target="../embeddings/oleObject76.bin"/><Relationship Id="rId30" Type="http://schemas.openxmlformats.org/officeDocument/2006/relationships/image" Target="../media/image89.wmf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wmf"/><Relationship Id="rId13" Type="http://schemas.openxmlformats.org/officeDocument/2006/relationships/oleObject" Target="../embeddings/oleObject83.bin"/><Relationship Id="rId18" Type="http://schemas.openxmlformats.org/officeDocument/2006/relationships/image" Target="../media/image97.wmf"/><Relationship Id="rId26" Type="http://schemas.openxmlformats.org/officeDocument/2006/relationships/image" Target="../media/image101.wmf"/><Relationship Id="rId3" Type="http://schemas.openxmlformats.org/officeDocument/2006/relationships/oleObject" Target="../embeddings/oleObject78.bin"/><Relationship Id="rId21" Type="http://schemas.openxmlformats.org/officeDocument/2006/relationships/oleObject" Target="../embeddings/oleObject87.bin"/><Relationship Id="rId7" Type="http://schemas.openxmlformats.org/officeDocument/2006/relationships/oleObject" Target="../embeddings/oleObject80.bin"/><Relationship Id="rId12" Type="http://schemas.openxmlformats.org/officeDocument/2006/relationships/image" Target="../media/image94.wmf"/><Relationship Id="rId17" Type="http://schemas.openxmlformats.org/officeDocument/2006/relationships/oleObject" Target="../embeddings/oleObject85.bin"/><Relationship Id="rId25" Type="http://schemas.openxmlformats.org/officeDocument/2006/relationships/oleObject" Target="../embeddings/oleObject89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96.wmf"/><Relationship Id="rId20" Type="http://schemas.openxmlformats.org/officeDocument/2006/relationships/image" Target="../media/image98.wmf"/><Relationship Id="rId1" Type="http://schemas.openxmlformats.org/officeDocument/2006/relationships/vmlDrawing" Target="../drawings/vmlDrawing14.vml"/><Relationship Id="rId6" Type="http://schemas.openxmlformats.org/officeDocument/2006/relationships/image" Target="../media/image91.wmf"/><Relationship Id="rId11" Type="http://schemas.openxmlformats.org/officeDocument/2006/relationships/oleObject" Target="../embeddings/oleObject82.bin"/><Relationship Id="rId24" Type="http://schemas.openxmlformats.org/officeDocument/2006/relationships/image" Target="../media/image100.wmf"/><Relationship Id="rId5" Type="http://schemas.openxmlformats.org/officeDocument/2006/relationships/oleObject" Target="../embeddings/oleObject79.bin"/><Relationship Id="rId15" Type="http://schemas.openxmlformats.org/officeDocument/2006/relationships/oleObject" Target="../embeddings/oleObject84.bin"/><Relationship Id="rId23" Type="http://schemas.openxmlformats.org/officeDocument/2006/relationships/oleObject" Target="../embeddings/oleObject88.bin"/><Relationship Id="rId28" Type="http://schemas.openxmlformats.org/officeDocument/2006/relationships/image" Target="../media/image102.wmf"/><Relationship Id="rId10" Type="http://schemas.openxmlformats.org/officeDocument/2006/relationships/image" Target="../media/image93.wmf"/><Relationship Id="rId19" Type="http://schemas.openxmlformats.org/officeDocument/2006/relationships/oleObject" Target="../embeddings/oleObject86.bin"/><Relationship Id="rId4" Type="http://schemas.openxmlformats.org/officeDocument/2006/relationships/image" Target="../media/image90.wmf"/><Relationship Id="rId9" Type="http://schemas.openxmlformats.org/officeDocument/2006/relationships/oleObject" Target="../embeddings/oleObject81.bin"/><Relationship Id="rId14" Type="http://schemas.openxmlformats.org/officeDocument/2006/relationships/image" Target="../media/image95.wmf"/><Relationship Id="rId22" Type="http://schemas.openxmlformats.org/officeDocument/2006/relationships/image" Target="../media/image99.wmf"/><Relationship Id="rId27" Type="http://schemas.openxmlformats.org/officeDocument/2006/relationships/oleObject" Target="../embeddings/oleObject90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wmf"/><Relationship Id="rId3" Type="http://schemas.openxmlformats.org/officeDocument/2006/relationships/oleObject" Target="../embeddings/oleObject91.bin"/><Relationship Id="rId7" Type="http://schemas.openxmlformats.org/officeDocument/2006/relationships/oleObject" Target="../embeddings/oleObject9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60.wmf"/><Relationship Id="rId5" Type="http://schemas.openxmlformats.org/officeDocument/2006/relationships/oleObject" Target="../embeddings/oleObject92.bin"/><Relationship Id="rId10" Type="http://schemas.openxmlformats.org/officeDocument/2006/relationships/image" Target="../media/image104.wmf"/><Relationship Id="rId4" Type="http://schemas.openxmlformats.org/officeDocument/2006/relationships/image" Target="../media/image59.wmf"/><Relationship Id="rId9" Type="http://schemas.openxmlformats.org/officeDocument/2006/relationships/oleObject" Target="../embeddings/oleObject94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emf"/><Relationship Id="rId13" Type="http://schemas.openxmlformats.org/officeDocument/2006/relationships/oleObject" Target="../embeddings/oleObject100.bin"/><Relationship Id="rId18" Type="http://schemas.openxmlformats.org/officeDocument/2006/relationships/image" Target="../media/image112.emf"/><Relationship Id="rId3" Type="http://schemas.openxmlformats.org/officeDocument/2006/relationships/oleObject" Target="../embeddings/oleObject95.bin"/><Relationship Id="rId21" Type="http://schemas.openxmlformats.org/officeDocument/2006/relationships/oleObject" Target="../embeddings/oleObject104.bin"/><Relationship Id="rId7" Type="http://schemas.openxmlformats.org/officeDocument/2006/relationships/oleObject" Target="../embeddings/oleObject97.bin"/><Relationship Id="rId12" Type="http://schemas.openxmlformats.org/officeDocument/2006/relationships/image" Target="../media/image109.emf"/><Relationship Id="rId17" Type="http://schemas.openxmlformats.org/officeDocument/2006/relationships/oleObject" Target="../embeddings/oleObject102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11.wmf"/><Relationship Id="rId20" Type="http://schemas.openxmlformats.org/officeDocument/2006/relationships/image" Target="../media/image113.wmf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06.emf"/><Relationship Id="rId11" Type="http://schemas.openxmlformats.org/officeDocument/2006/relationships/oleObject" Target="../embeddings/oleObject99.bin"/><Relationship Id="rId24" Type="http://schemas.openxmlformats.org/officeDocument/2006/relationships/image" Target="../media/image115.emf"/><Relationship Id="rId5" Type="http://schemas.openxmlformats.org/officeDocument/2006/relationships/oleObject" Target="../embeddings/oleObject96.bin"/><Relationship Id="rId15" Type="http://schemas.openxmlformats.org/officeDocument/2006/relationships/oleObject" Target="../embeddings/oleObject101.bin"/><Relationship Id="rId23" Type="http://schemas.openxmlformats.org/officeDocument/2006/relationships/oleObject" Target="../embeddings/oleObject105.bin"/><Relationship Id="rId10" Type="http://schemas.openxmlformats.org/officeDocument/2006/relationships/image" Target="../media/image108.emf"/><Relationship Id="rId19" Type="http://schemas.openxmlformats.org/officeDocument/2006/relationships/oleObject" Target="../embeddings/oleObject103.bin"/><Relationship Id="rId4" Type="http://schemas.openxmlformats.org/officeDocument/2006/relationships/image" Target="../media/image105.emf"/><Relationship Id="rId9" Type="http://schemas.openxmlformats.org/officeDocument/2006/relationships/oleObject" Target="../embeddings/oleObject98.bin"/><Relationship Id="rId14" Type="http://schemas.openxmlformats.org/officeDocument/2006/relationships/image" Target="../media/image110.emf"/><Relationship Id="rId22" Type="http://schemas.openxmlformats.org/officeDocument/2006/relationships/image" Target="../media/image114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5" Type="http://schemas.openxmlformats.org/officeDocument/2006/relationships/image" Target="../media/image117.png"/><Relationship Id="rId4" Type="http://schemas.openxmlformats.org/officeDocument/2006/relationships/image" Target="../media/image116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wmf"/><Relationship Id="rId13" Type="http://schemas.openxmlformats.org/officeDocument/2006/relationships/oleObject" Target="../embeddings/oleObject112.bin"/><Relationship Id="rId18" Type="http://schemas.openxmlformats.org/officeDocument/2006/relationships/image" Target="../media/image125.wmf"/><Relationship Id="rId3" Type="http://schemas.openxmlformats.org/officeDocument/2006/relationships/oleObject" Target="../embeddings/oleObject107.bin"/><Relationship Id="rId7" Type="http://schemas.openxmlformats.org/officeDocument/2006/relationships/oleObject" Target="../embeddings/oleObject109.bin"/><Relationship Id="rId12" Type="http://schemas.openxmlformats.org/officeDocument/2006/relationships/image" Target="../media/image122.wmf"/><Relationship Id="rId17" Type="http://schemas.openxmlformats.org/officeDocument/2006/relationships/oleObject" Target="../embeddings/oleObject114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24.wmf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19.wmf"/><Relationship Id="rId11" Type="http://schemas.openxmlformats.org/officeDocument/2006/relationships/oleObject" Target="../embeddings/oleObject111.bin"/><Relationship Id="rId5" Type="http://schemas.openxmlformats.org/officeDocument/2006/relationships/oleObject" Target="../embeddings/oleObject108.bin"/><Relationship Id="rId15" Type="http://schemas.openxmlformats.org/officeDocument/2006/relationships/oleObject" Target="../embeddings/oleObject113.bin"/><Relationship Id="rId10" Type="http://schemas.openxmlformats.org/officeDocument/2006/relationships/image" Target="../media/image121.wmf"/><Relationship Id="rId4" Type="http://schemas.openxmlformats.org/officeDocument/2006/relationships/image" Target="../media/image118.wmf"/><Relationship Id="rId9" Type="http://schemas.openxmlformats.org/officeDocument/2006/relationships/oleObject" Target="../embeddings/oleObject110.bin"/><Relationship Id="rId14" Type="http://schemas.openxmlformats.org/officeDocument/2006/relationships/image" Target="../media/image123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wmf"/><Relationship Id="rId13" Type="http://schemas.openxmlformats.org/officeDocument/2006/relationships/oleObject" Target="../embeddings/oleObject120.bin"/><Relationship Id="rId18" Type="http://schemas.openxmlformats.org/officeDocument/2006/relationships/image" Target="../media/image133.wmf"/><Relationship Id="rId3" Type="http://schemas.openxmlformats.org/officeDocument/2006/relationships/oleObject" Target="../embeddings/oleObject115.bin"/><Relationship Id="rId7" Type="http://schemas.openxmlformats.org/officeDocument/2006/relationships/oleObject" Target="../embeddings/oleObject117.bin"/><Relationship Id="rId12" Type="http://schemas.openxmlformats.org/officeDocument/2006/relationships/image" Target="../media/image130.wmf"/><Relationship Id="rId17" Type="http://schemas.openxmlformats.org/officeDocument/2006/relationships/oleObject" Target="../embeddings/oleObject122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32.wmf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27.wmf"/><Relationship Id="rId11" Type="http://schemas.openxmlformats.org/officeDocument/2006/relationships/oleObject" Target="../embeddings/oleObject119.bin"/><Relationship Id="rId5" Type="http://schemas.openxmlformats.org/officeDocument/2006/relationships/oleObject" Target="../embeddings/oleObject116.bin"/><Relationship Id="rId15" Type="http://schemas.openxmlformats.org/officeDocument/2006/relationships/oleObject" Target="../embeddings/oleObject121.bin"/><Relationship Id="rId10" Type="http://schemas.openxmlformats.org/officeDocument/2006/relationships/image" Target="../media/image129.wmf"/><Relationship Id="rId19" Type="http://schemas.openxmlformats.org/officeDocument/2006/relationships/image" Target="../media/image134.jpeg"/><Relationship Id="rId4" Type="http://schemas.openxmlformats.org/officeDocument/2006/relationships/image" Target="../media/image126.wmf"/><Relationship Id="rId9" Type="http://schemas.openxmlformats.org/officeDocument/2006/relationships/oleObject" Target="../embeddings/oleObject118.bin"/><Relationship Id="rId14" Type="http://schemas.openxmlformats.org/officeDocument/2006/relationships/image" Target="../media/image131.wmf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wmf"/><Relationship Id="rId13" Type="http://schemas.openxmlformats.org/officeDocument/2006/relationships/oleObject" Target="../embeddings/oleObject128.bin"/><Relationship Id="rId18" Type="http://schemas.openxmlformats.org/officeDocument/2006/relationships/oleObject" Target="../embeddings/oleObject131.bin"/><Relationship Id="rId3" Type="http://schemas.openxmlformats.org/officeDocument/2006/relationships/oleObject" Target="../embeddings/oleObject123.bin"/><Relationship Id="rId21" Type="http://schemas.openxmlformats.org/officeDocument/2006/relationships/image" Target="../media/image143.wmf"/><Relationship Id="rId7" Type="http://schemas.openxmlformats.org/officeDocument/2006/relationships/oleObject" Target="../embeddings/oleObject125.bin"/><Relationship Id="rId12" Type="http://schemas.openxmlformats.org/officeDocument/2006/relationships/image" Target="../media/image139.wmf"/><Relationship Id="rId17" Type="http://schemas.openxmlformats.org/officeDocument/2006/relationships/image" Target="../media/image141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30.bin"/><Relationship Id="rId20" Type="http://schemas.openxmlformats.org/officeDocument/2006/relationships/oleObject" Target="../embeddings/oleObject132.bin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36.wmf"/><Relationship Id="rId11" Type="http://schemas.openxmlformats.org/officeDocument/2006/relationships/oleObject" Target="../embeddings/oleObject127.bin"/><Relationship Id="rId5" Type="http://schemas.openxmlformats.org/officeDocument/2006/relationships/oleObject" Target="../embeddings/oleObject124.bin"/><Relationship Id="rId15" Type="http://schemas.openxmlformats.org/officeDocument/2006/relationships/image" Target="../media/image140.wmf"/><Relationship Id="rId10" Type="http://schemas.openxmlformats.org/officeDocument/2006/relationships/image" Target="../media/image138.wmf"/><Relationship Id="rId19" Type="http://schemas.openxmlformats.org/officeDocument/2006/relationships/image" Target="../media/image142.wmf"/><Relationship Id="rId4" Type="http://schemas.openxmlformats.org/officeDocument/2006/relationships/image" Target="../media/image135.wmf"/><Relationship Id="rId9" Type="http://schemas.openxmlformats.org/officeDocument/2006/relationships/oleObject" Target="../embeddings/oleObject126.bin"/><Relationship Id="rId14" Type="http://schemas.openxmlformats.org/officeDocument/2006/relationships/oleObject" Target="../embeddings/oleObject129.bin"/></Relationships>
</file>

<file path=ppt/slides/_rels/slide34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38.bin"/><Relationship Id="rId18" Type="http://schemas.openxmlformats.org/officeDocument/2006/relationships/image" Target="../media/image151.wmf"/><Relationship Id="rId26" Type="http://schemas.openxmlformats.org/officeDocument/2006/relationships/image" Target="../media/image155.wmf"/><Relationship Id="rId3" Type="http://schemas.openxmlformats.org/officeDocument/2006/relationships/oleObject" Target="../embeddings/oleObject133.bin"/><Relationship Id="rId21" Type="http://schemas.openxmlformats.org/officeDocument/2006/relationships/oleObject" Target="../embeddings/oleObject142.bin"/><Relationship Id="rId34" Type="http://schemas.openxmlformats.org/officeDocument/2006/relationships/image" Target="../media/image159.wmf"/><Relationship Id="rId7" Type="http://schemas.openxmlformats.org/officeDocument/2006/relationships/oleObject" Target="../embeddings/oleObject135.bin"/><Relationship Id="rId12" Type="http://schemas.openxmlformats.org/officeDocument/2006/relationships/image" Target="../media/image148.wmf"/><Relationship Id="rId17" Type="http://schemas.openxmlformats.org/officeDocument/2006/relationships/oleObject" Target="../embeddings/oleObject140.bin"/><Relationship Id="rId25" Type="http://schemas.openxmlformats.org/officeDocument/2006/relationships/oleObject" Target="../embeddings/oleObject144.bin"/><Relationship Id="rId33" Type="http://schemas.openxmlformats.org/officeDocument/2006/relationships/oleObject" Target="../embeddings/oleObject148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50.wmf"/><Relationship Id="rId20" Type="http://schemas.openxmlformats.org/officeDocument/2006/relationships/image" Target="../media/image152.wmf"/><Relationship Id="rId29" Type="http://schemas.openxmlformats.org/officeDocument/2006/relationships/oleObject" Target="../embeddings/oleObject146.bin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45.wmf"/><Relationship Id="rId11" Type="http://schemas.openxmlformats.org/officeDocument/2006/relationships/oleObject" Target="../embeddings/oleObject137.bin"/><Relationship Id="rId24" Type="http://schemas.openxmlformats.org/officeDocument/2006/relationships/image" Target="../media/image154.wmf"/><Relationship Id="rId32" Type="http://schemas.openxmlformats.org/officeDocument/2006/relationships/image" Target="../media/image158.wmf"/><Relationship Id="rId5" Type="http://schemas.openxmlformats.org/officeDocument/2006/relationships/oleObject" Target="../embeddings/oleObject134.bin"/><Relationship Id="rId15" Type="http://schemas.openxmlformats.org/officeDocument/2006/relationships/oleObject" Target="../embeddings/oleObject139.bin"/><Relationship Id="rId23" Type="http://schemas.openxmlformats.org/officeDocument/2006/relationships/oleObject" Target="../embeddings/oleObject143.bin"/><Relationship Id="rId28" Type="http://schemas.openxmlformats.org/officeDocument/2006/relationships/image" Target="../media/image156.wmf"/><Relationship Id="rId10" Type="http://schemas.openxmlformats.org/officeDocument/2006/relationships/image" Target="../media/image147.wmf"/><Relationship Id="rId19" Type="http://schemas.openxmlformats.org/officeDocument/2006/relationships/oleObject" Target="../embeddings/oleObject141.bin"/><Relationship Id="rId31" Type="http://schemas.openxmlformats.org/officeDocument/2006/relationships/oleObject" Target="../embeddings/oleObject147.bin"/><Relationship Id="rId4" Type="http://schemas.openxmlformats.org/officeDocument/2006/relationships/image" Target="../media/image144.wmf"/><Relationship Id="rId9" Type="http://schemas.openxmlformats.org/officeDocument/2006/relationships/oleObject" Target="../embeddings/oleObject136.bin"/><Relationship Id="rId14" Type="http://schemas.openxmlformats.org/officeDocument/2006/relationships/image" Target="../media/image149.wmf"/><Relationship Id="rId22" Type="http://schemas.openxmlformats.org/officeDocument/2006/relationships/image" Target="../media/image153.wmf"/><Relationship Id="rId27" Type="http://schemas.openxmlformats.org/officeDocument/2006/relationships/oleObject" Target="../embeddings/oleObject145.bin"/><Relationship Id="rId30" Type="http://schemas.openxmlformats.org/officeDocument/2006/relationships/image" Target="../media/image157.wmf"/><Relationship Id="rId8" Type="http://schemas.openxmlformats.org/officeDocument/2006/relationships/image" Target="../media/image146.w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5" Type="http://schemas.openxmlformats.org/officeDocument/2006/relationships/image" Target="../media/image161.png"/><Relationship Id="rId4" Type="http://schemas.openxmlformats.org/officeDocument/2006/relationships/image" Target="../media/image160.w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4.wmf"/><Relationship Id="rId13" Type="http://schemas.openxmlformats.org/officeDocument/2006/relationships/oleObject" Target="../embeddings/oleObject155.bin"/><Relationship Id="rId18" Type="http://schemas.openxmlformats.org/officeDocument/2006/relationships/image" Target="../media/image167.wmf"/><Relationship Id="rId26" Type="http://schemas.openxmlformats.org/officeDocument/2006/relationships/image" Target="../media/image169.wmf"/><Relationship Id="rId3" Type="http://schemas.openxmlformats.org/officeDocument/2006/relationships/oleObject" Target="../embeddings/oleObject150.bin"/><Relationship Id="rId21" Type="http://schemas.openxmlformats.org/officeDocument/2006/relationships/oleObject" Target="../embeddings/oleObject159.bin"/><Relationship Id="rId7" Type="http://schemas.openxmlformats.org/officeDocument/2006/relationships/oleObject" Target="../embeddings/oleObject152.bin"/><Relationship Id="rId12" Type="http://schemas.openxmlformats.org/officeDocument/2006/relationships/image" Target="../media/image148.wmf"/><Relationship Id="rId17" Type="http://schemas.openxmlformats.org/officeDocument/2006/relationships/oleObject" Target="../embeddings/oleObject157.bin"/><Relationship Id="rId25" Type="http://schemas.openxmlformats.org/officeDocument/2006/relationships/oleObject" Target="../embeddings/oleObject161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66.wmf"/><Relationship Id="rId20" Type="http://schemas.openxmlformats.org/officeDocument/2006/relationships/image" Target="../media/image152.wmf"/><Relationship Id="rId29" Type="http://schemas.openxmlformats.org/officeDocument/2006/relationships/oleObject" Target="../embeddings/oleObject163.bin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63.wmf"/><Relationship Id="rId11" Type="http://schemas.openxmlformats.org/officeDocument/2006/relationships/oleObject" Target="../embeddings/oleObject154.bin"/><Relationship Id="rId24" Type="http://schemas.openxmlformats.org/officeDocument/2006/relationships/image" Target="../media/image154.wmf"/><Relationship Id="rId5" Type="http://schemas.openxmlformats.org/officeDocument/2006/relationships/oleObject" Target="../embeddings/oleObject151.bin"/><Relationship Id="rId15" Type="http://schemas.openxmlformats.org/officeDocument/2006/relationships/oleObject" Target="../embeddings/oleObject156.bin"/><Relationship Id="rId23" Type="http://schemas.openxmlformats.org/officeDocument/2006/relationships/oleObject" Target="../embeddings/oleObject160.bin"/><Relationship Id="rId28" Type="http://schemas.openxmlformats.org/officeDocument/2006/relationships/image" Target="../media/image170.wmf"/><Relationship Id="rId10" Type="http://schemas.openxmlformats.org/officeDocument/2006/relationships/image" Target="../media/image147.wmf"/><Relationship Id="rId19" Type="http://schemas.openxmlformats.org/officeDocument/2006/relationships/oleObject" Target="../embeddings/oleObject158.bin"/><Relationship Id="rId4" Type="http://schemas.openxmlformats.org/officeDocument/2006/relationships/image" Target="../media/image162.wmf"/><Relationship Id="rId9" Type="http://schemas.openxmlformats.org/officeDocument/2006/relationships/oleObject" Target="../embeddings/oleObject153.bin"/><Relationship Id="rId14" Type="http://schemas.openxmlformats.org/officeDocument/2006/relationships/image" Target="../media/image165.wmf"/><Relationship Id="rId22" Type="http://schemas.openxmlformats.org/officeDocument/2006/relationships/image" Target="../media/image168.wmf"/><Relationship Id="rId27" Type="http://schemas.openxmlformats.org/officeDocument/2006/relationships/oleObject" Target="../embeddings/oleObject162.bin"/><Relationship Id="rId30" Type="http://schemas.openxmlformats.org/officeDocument/2006/relationships/image" Target="../media/image171.wmf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4.wmf"/><Relationship Id="rId13" Type="http://schemas.openxmlformats.org/officeDocument/2006/relationships/image" Target="../media/image176.wmf"/><Relationship Id="rId3" Type="http://schemas.openxmlformats.org/officeDocument/2006/relationships/oleObject" Target="../embeddings/oleObject164.bin"/><Relationship Id="rId7" Type="http://schemas.openxmlformats.org/officeDocument/2006/relationships/oleObject" Target="../embeddings/oleObject166.bin"/><Relationship Id="rId12" Type="http://schemas.openxmlformats.org/officeDocument/2006/relationships/oleObject" Target="../embeddings/oleObject169.bin"/><Relationship Id="rId17" Type="http://schemas.openxmlformats.org/officeDocument/2006/relationships/image" Target="../media/image178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71.bin"/><Relationship Id="rId1" Type="http://schemas.openxmlformats.org/officeDocument/2006/relationships/vmlDrawing" Target="../drawings/vmlDrawing24.vml"/><Relationship Id="rId6" Type="http://schemas.openxmlformats.org/officeDocument/2006/relationships/image" Target="../media/image173.wmf"/><Relationship Id="rId11" Type="http://schemas.openxmlformats.org/officeDocument/2006/relationships/oleObject" Target="../embeddings/oleObject168.bin"/><Relationship Id="rId5" Type="http://schemas.openxmlformats.org/officeDocument/2006/relationships/oleObject" Target="../embeddings/oleObject165.bin"/><Relationship Id="rId15" Type="http://schemas.openxmlformats.org/officeDocument/2006/relationships/image" Target="../media/image177.wmf"/><Relationship Id="rId10" Type="http://schemas.openxmlformats.org/officeDocument/2006/relationships/image" Target="../media/image175.wmf"/><Relationship Id="rId4" Type="http://schemas.openxmlformats.org/officeDocument/2006/relationships/image" Target="../media/image172.wmf"/><Relationship Id="rId9" Type="http://schemas.openxmlformats.org/officeDocument/2006/relationships/oleObject" Target="../embeddings/oleObject167.bin"/><Relationship Id="rId14" Type="http://schemas.openxmlformats.org/officeDocument/2006/relationships/oleObject" Target="../embeddings/oleObject170.bin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2.bin"/><Relationship Id="rId7" Type="http://schemas.openxmlformats.org/officeDocument/2006/relationships/image" Target="../media/image181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80.wmf"/><Relationship Id="rId5" Type="http://schemas.openxmlformats.org/officeDocument/2006/relationships/oleObject" Target="../embeddings/oleObject173.bin"/><Relationship Id="rId4" Type="http://schemas.openxmlformats.org/officeDocument/2006/relationships/image" Target="../media/image179.wmf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4"/>
          <p:cNvSpPr>
            <a:spLocks noChangeArrowheads="1"/>
          </p:cNvSpPr>
          <p:nvPr/>
        </p:nvSpPr>
        <p:spPr bwMode="auto">
          <a:xfrm>
            <a:off x="395536" y="2060848"/>
            <a:ext cx="8460432" cy="1528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ts val="5600"/>
              </a:lnSpc>
            </a:pPr>
            <a:r>
              <a:rPr lang="zh-CN" altLang="en-US" sz="4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最优化理论</a:t>
            </a:r>
            <a:endParaRPr lang="en-US" altLang="zh-CN" sz="44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微软雅黑" panose="020B0503020204020204" pitchFamily="34" charset="-122"/>
            </a:endParaRPr>
          </a:p>
          <a:p>
            <a:pPr algn="ctr">
              <a:lnSpc>
                <a:spcPts val="5600"/>
              </a:lnSpc>
            </a:pPr>
            <a:r>
              <a:rPr lang="zh-CN" altLang="en-US" sz="44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知识点复习和答疑</a:t>
            </a:r>
            <a:endParaRPr lang="zh-CN" altLang="en-US" sz="44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0" y="4941888"/>
            <a:ext cx="9144000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algn="ctr"/>
            <a:r>
              <a:rPr kumimoji="0" lang="zh-CN" altLang="x-none" sz="3200" b="1" dirty="0">
                <a:latin typeface="华文楷体" charset="0"/>
                <a:ea typeface="华文楷体" charset="0"/>
                <a:cs typeface="华文楷体" charset="0"/>
              </a:rPr>
              <a:t>人工</a:t>
            </a:r>
            <a:r>
              <a:rPr kumimoji="0" lang="zh-CN" altLang="en-US" sz="3200" b="1" dirty="0">
                <a:latin typeface="华文楷体" charset="0"/>
                <a:ea typeface="华文楷体" charset="0"/>
                <a:cs typeface="华文楷体" charset="0"/>
              </a:rPr>
              <a:t>智能学院</a:t>
            </a:r>
            <a:endParaRPr kumimoji="0" lang="en-US" altLang="zh-CN" sz="3200" b="1" dirty="0">
              <a:latin typeface="华文楷体" charset="0"/>
              <a:ea typeface="华文楷体" charset="0"/>
              <a:cs typeface="华文楷体" charset="0"/>
            </a:endParaRPr>
          </a:p>
          <a:p>
            <a:pPr algn="ctr"/>
            <a:r>
              <a:rPr kumimoji="0" lang="zh-CN" altLang="x-none" sz="3200" b="1" dirty="0">
                <a:latin typeface="华文楷体" charset="0"/>
                <a:ea typeface="华文楷体" charset="0"/>
                <a:cs typeface="楷体_GB2312" charset="0"/>
              </a:rPr>
              <a:t>智能感知与图像理解</a:t>
            </a:r>
            <a:r>
              <a:rPr kumimoji="0" lang="zh-CN" altLang="en-US" sz="3200" b="1" dirty="0">
                <a:latin typeface="华文楷体" charset="0"/>
                <a:ea typeface="华文楷体" charset="0"/>
                <a:cs typeface="楷体_GB2312" charset="0"/>
              </a:rPr>
              <a:t>实验室</a:t>
            </a:r>
            <a:endParaRPr lang="zh-CN" altLang="en-US" sz="3200" dirty="0">
              <a:latin typeface="楷体_GB2312" charset="0"/>
              <a:ea typeface="楷体_GB2312" charset="0"/>
              <a:cs typeface="楷体_GB231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928927" y="44624"/>
            <a:ext cx="6072230" cy="582594"/>
          </a:xfrm>
        </p:spPr>
        <p:txBody>
          <a:bodyPr/>
          <a:lstStyle/>
          <a:p>
            <a:pPr>
              <a:lnSpc>
                <a:spcPts val="5600"/>
              </a:lnSpc>
            </a:pPr>
            <a:r>
              <a:rPr lang="zh-CN" altLang="en-US" sz="3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无约束最优化方法</a:t>
            </a:r>
          </a:p>
        </p:txBody>
      </p:sp>
      <p:cxnSp>
        <p:nvCxnSpPr>
          <p:cNvPr id="101" name="直接连接符 13"/>
          <p:cNvCxnSpPr>
            <a:cxnSpLocks noChangeShapeType="1"/>
          </p:cNvCxnSpPr>
          <p:nvPr/>
        </p:nvCxnSpPr>
        <p:spPr bwMode="auto">
          <a:xfrm>
            <a:off x="2674912" y="785794"/>
            <a:ext cx="0" cy="5157787"/>
          </a:xfrm>
          <a:prstGeom prst="line">
            <a:avLst/>
          </a:prstGeom>
          <a:noFill/>
          <a:ln w="6350" cmpd="sng">
            <a:solidFill>
              <a:schemeClr val="accent1"/>
            </a:solidFill>
            <a:round/>
            <a:headEnd/>
            <a:tailEnd/>
          </a:ln>
        </p:spPr>
      </p:cxnSp>
      <p:grpSp>
        <p:nvGrpSpPr>
          <p:cNvPr id="3" name="组 2"/>
          <p:cNvGrpSpPr/>
          <p:nvPr/>
        </p:nvGrpSpPr>
        <p:grpSpPr>
          <a:xfrm>
            <a:off x="1643042" y="1849955"/>
            <a:ext cx="6169292" cy="642941"/>
            <a:chOff x="1643042" y="1268760"/>
            <a:chExt cx="6169292" cy="642941"/>
          </a:xfrm>
        </p:grpSpPr>
        <p:sp>
          <p:nvSpPr>
            <p:cNvPr id="102" name="椭圆 14"/>
            <p:cNvSpPr>
              <a:spLocks noChangeArrowheads="1"/>
            </p:cNvSpPr>
            <p:nvPr/>
          </p:nvSpPr>
          <p:spPr bwMode="auto">
            <a:xfrm>
              <a:off x="2606650" y="1497362"/>
              <a:ext cx="128587" cy="12858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 eaLnBrk="1" hangingPunct="1"/>
              <a:endParaRPr lang="zh-CN" altLang="en-US">
                <a:solidFill>
                  <a:srgbClr val="FFFFFF"/>
                </a:solidFill>
              </a:endParaRPr>
            </a:p>
          </p:txBody>
        </p:sp>
        <p:grpSp>
          <p:nvGrpSpPr>
            <p:cNvPr id="4" name="组合 5"/>
            <p:cNvGrpSpPr>
              <a:grpSpLocks/>
            </p:cNvGrpSpPr>
            <p:nvPr/>
          </p:nvGrpSpPr>
          <p:grpSpPr bwMode="auto">
            <a:xfrm>
              <a:off x="1643042" y="1268760"/>
              <a:ext cx="714380" cy="642941"/>
              <a:chOff x="0" y="0"/>
              <a:chExt cx="1275488" cy="1275488"/>
            </a:xfrm>
            <a:solidFill>
              <a:srgbClr val="004182"/>
            </a:solidFill>
          </p:grpSpPr>
          <p:sp>
            <p:nvSpPr>
              <p:cNvPr id="106" name="泪滴形 7"/>
              <p:cNvSpPr>
                <a:spLocks/>
              </p:cNvSpPr>
              <p:nvPr/>
            </p:nvSpPr>
            <p:spPr bwMode="auto">
              <a:xfrm rot="2700000">
                <a:off x="0" y="0"/>
                <a:ext cx="1275488" cy="1275488"/>
              </a:xfrm>
              <a:custGeom>
                <a:avLst/>
                <a:gdLst/>
                <a:ahLst/>
                <a:cxnLst>
                  <a:cxn ang="0">
                    <a:pos x="0" y="637744"/>
                  </a:cxn>
                  <a:cxn ang="0">
                    <a:pos x="637744" y="0"/>
                  </a:cxn>
                  <a:cxn ang="0">
                    <a:pos x="1275488" y="0"/>
                  </a:cxn>
                  <a:cxn ang="0">
                    <a:pos x="1275488" y="637744"/>
                  </a:cxn>
                  <a:cxn ang="0">
                    <a:pos x="637744" y="1275488"/>
                  </a:cxn>
                  <a:cxn ang="0">
                    <a:pos x="0" y="637744"/>
                  </a:cxn>
                </a:cxnLst>
                <a:rect l="0" t="0" r="r" b="b"/>
                <a:pathLst>
                  <a:path w="1275488" h="1275488">
                    <a:moveTo>
                      <a:pt x="0" y="637744"/>
                    </a:moveTo>
                    <a:cubicBezTo>
                      <a:pt x="0" y="285528"/>
                      <a:pt x="285528" y="0"/>
                      <a:pt x="637744" y="0"/>
                    </a:cubicBezTo>
                    <a:lnTo>
                      <a:pt x="1275488" y="0"/>
                    </a:lnTo>
                    <a:lnTo>
                      <a:pt x="1275488" y="637744"/>
                    </a:lnTo>
                    <a:cubicBezTo>
                      <a:pt x="1275488" y="989960"/>
                      <a:pt x="989960" y="1275488"/>
                      <a:pt x="637744" y="1275488"/>
                    </a:cubicBezTo>
                    <a:cubicBezTo>
                      <a:pt x="285528" y="1275488"/>
                      <a:pt x="0" y="989960"/>
                      <a:pt x="0" y="637744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107" name="文本框 17"/>
              <p:cNvSpPr txBox="1">
                <a:spLocks noChangeArrowheads="1"/>
              </p:cNvSpPr>
              <p:nvPr/>
            </p:nvSpPr>
            <p:spPr bwMode="auto">
              <a:xfrm>
                <a:off x="399726" y="231905"/>
                <a:ext cx="875762" cy="7493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/>
                <a:r>
                  <a:rPr lang="en-US" altLang="zh-CN" sz="2400" b="1" dirty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1</a:t>
                </a:r>
                <a:endParaRPr lang="zh-CN" altLang="en-US" sz="24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sp>
          <p:nvSpPr>
            <p:cNvPr id="114" name="矩形 20"/>
            <p:cNvSpPr>
              <a:spLocks noChangeArrowheads="1"/>
            </p:cNvSpPr>
            <p:nvPr/>
          </p:nvSpPr>
          <p:spPr bwMode="auto">
            <a:xfrm>
              <a:off x="3062261" y="1321150"/>
              <a:ext cx="4750073" cy="526172"/>
            </a:xfrm>
            <a:prstGeom prst="rect">
              <a:avLst/>
            </a:prstGeom>
            <a:solidFill>
              <a:srgbClr val="004182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r>
                <a:rPr lang="zh-CN" altLang="en-US" sz="2400" b="1" dirty="0" smtClean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itchFamily="34" charset="-122"/>
                  <a:cs typeface="Times New Roman" panose="02020603050405020304" pitchFamily="18" charset="0"/>
                </a:rPr>
                <a:t>知识点复习</a:t>
              </a:r>
              <a:endPara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6" name="组 2"/>
          <p:cNvGrpSpPr/>
          <p:nvPr/>
        </p:nvGrpSpPr>
        <p:grpSpPr>
          <a:xfrm>
            <a:off x="1643042" y="2847209"/>
            <a:ext cx="6169292" cy="642941"/>
            <a:chOff x="1643042" y="1268760"/>
            <a:chExt cx="6169292" cy="642941"/>
          </a:xfrm>
        </p:grpSpPr>
        <p:sp>
          <p:nvSpPr>
            <p:cNvPr id="17" name="椭圆 14"/>
            <p:cNvSpPr>
              <a:spLocks noChangeArrowheads="1"/>
            </p:cNvSpPr>
            <p:nvPr/>
          </p:nvSpPr>
          <p:spPr bwMode="auto">
            <a:xfrm>
              <a:off x="2606650" y="1497362"/>
              <a:ext cx="128587" cy="12858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 eaLnBrk="1" hangingPunct="1"/>
              <a:endParaRPr lang="zh-CN" altLang="en-US">
                <a:solidFill>
                  <a:srgbClr val="FFFFFF"/>
                </a:solidFill>
              </a:endParaRPr>
            </a:p>
          </p:txBody>
        </p:sp>
        <p:grpSp>
          <p:nvGrpSpPr>
            <p:cNvPr id="18" name="组合 5"/>
            <p:cNvGrpSpPr>
              <a:grpSpLocks/>
            </p:cNvGrpSpPr>
            <p:nvPr/>
          </p:nvGrpSpPr>
          <p:grpSpPr bwMode="auto">
            <a:xfrm>
              <a:off x="1643042" y="1268760"/>
              <a:ext cx="714380" cy="642941"/>
              <a:chOff x="0" y="0"/>
              <a:chExt cx="1275488" cy="1275488"/>
            </a:xfrm>
            <a:solidFill>
              <a:srgbClr val="004182"/>
            </a:solidFill>
          </p:grpSpPr>
          <p:sp>
            <p:nvSpPr>
              <p:cNvPr id="20" name="泪滴形 7"/>
              <p:cNvSpPr>
                <a:spLocks/>
              </p:cNvSpPr>
              <p:nvPr/>
            </p:nvSpPr>
            <p:spPr bwMode="auto">
              <a:xfrm rot="2700000">
                <a:off x="0" y="0"/>
                <a:ext cx="1275488" cy="1275488"/>
              </a:xfrm>
              <a:custGeom>
                <a:avLst/>
                <a:gdLst/>
                <a:ahLst/>
                <a:cxnLst>
                  <a:cxn ang="0">
                    <a:pos x="0" y="637744"/>
                  </a:cxn>
                  <a:cxn ang="0">
                    <a:pos x="637744" y="0"/>
                  </a:cxn>
                  <a:cxn ang="0">
                    <a:pos x="1275488" y="0"/>
                  </a:cxn>
                  <a:cxn ang="0">
                    <a:pos x="1275488" y="637744"/>
                  </a:cxn>
                  <a:cxn ang="0">
                    <a:pos x="637744" y="1275488"/>
                  </a:cxn>
                  <a:cxn ang="0">
                    <a:pos x="0" y="637744"/>
                  </a:cxn>
                </a:cxnLst>
                <a:rect l="0" t="0" r="r" b="b"/>
                <a:pathLst>
                  <a:path w="1275488" h="1275488">
                    <a:moveTo>
                      <a:pt x="0" y="637744"/>
                    </a:moveTo>
                    <a:cubicBezTo>
                      <a:pt x="0" y="285528"/>
                      <a:pt x="285528" y="0"/>
                      <a:pt x="637744" y="0"/>
                    </a:cubicBezTo>
                    <a:lnTo>
                      <a:pt x="1275488" y="0"/>
                    </a:lnTo>
                    <a:lnTo>
                      <a:pt x="1275488" y="637744"/>
                    </a:lnTo>
                    <a:cubicBezTo>
                      <a:pt x="1275488" y="989960"/>
                      <a:pt x="989960" y="1275488"/>
                      <a:pt x="637744" y="1275488"/>
                    </a:cubicBezTo>
                    <a:cubicBezTo>
                      <a:pt x="285528" y="1275488"/>
                      <a:pt x="0" y="989960"/>
                      <a:pt x="0" y="637744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21" name="文本框 17"/>
              <p:cNvSpPr txBox="1">
                <a:spLocks noChangeArrowheads="1"/>
              </p:cNvSpPr>
              <p:nvPr/>
            </p:nvSpPr>
            <p:spPr bwMode="auto">
              <a:xfrm>
                <a:off x="399726" y="231904"/>
                <a:ext cx="875762" cy="9158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/>
                <a:r>
                  <a:rPr lang="en-US" altLang="zh-CN" sz="2400" b="1" dirty="0" smtClean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2</a:t>
                </a:r>
                <a:endParaRPr lang="zh-CN" altLang="en-US" sz="24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sp>
          <p:nvSpPr>
            <p:cNvPr id="19" name="矩形 20"/>
            <p:cNvSpPr>
              <a:spLocks noChangeArrowheads="1"/>
            </p:cNvSpPr>
            <p:nvPr/>
          </p:nvSpPr>
          <p:spPr bwMode="auto">
            <a:xfrm>
              <a:off x="3062261" y="1321150"/>
              <a:ext cx="4750073" cy="526172"/>
            </a:xfrm>
            <a:prstGeom prst="rect">
              <a:avLst/>
            </a:prstGeom>
            <a:solidFill>
              <a:srgbClr val="004182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r>
                <a:rPr lang="zh-CN" altLang="en-US" sz="2400" b="1" dirty="0" smtClean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itchFamily="34" charset="-122"/>
                  <a:cs typeface="Times New Roman" panose="02020603050405020304" pitchFamily="18" charset="0"/>
                </a:rPr>
                <a:t>答疑</a:t>
              </a:r>
              <a:endPara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06667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928927" y="44624"/>
            <a:ext cx="6072230" cy="582594"/>
          </a:xfrm>
        </p:spPr>
        <p:txBody>
          <a:bodyPr/>
          <a:lstStyle/>
          <a:p>
            <a:pPr>
              <a:lnSpc>
                <a:spcPts val="5600"/>
              </a:lnSpc>
            </a:pPr>
            <a:r>
              <a:rPr lang="zh-CN" altLang="en-US" sz="3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无约束最优化方法</a:t>
            </a:r>
          </a:p>
        </p:txBody>
      </p:sp>
      <p:cxnSp>
        <p:nvCxnSpPr>
          <p:cNvPr id="101" name="直接连接符 13"/>
          <p:cNvCxnSpPr>
            <a:cxnSpLocks noChangeShapeType="1"/>
          </p:cNvCxnSpPr>
          <p:nvPr/>
        </p:nvCxnSpPr>
        <p:spPr bwMode="auto">
          <a:xfrm>
            <a:off x="2674912" y="785794"/>
            <a:ext cx="0" cy="5157787"/>
          </a:xfrm>
          <a:prstGeom prst="line">
            <a:avLst/>
          </a:prstGeom>
          <a:noFill/>
          <a:ln w="6350" cmpd="sng">
            <a:solidFill>
              <a:schemeClr val="accent1"/>
            </a:solidFill>
            <a:round/>
            <a:headEnd/>
            <a:tailEnd/>
          </a:ln>
        </p:spPr>
      </p:cxnSp>
      <p:grpSp>
        <p:nvGrpSpPr>
          <p:cNvPr id="3" name="组 2"/>
          <p:cNvGrpSpPr/>
          <p:nvPr/>
        </p:nvGrpSpPr>
        <p:grpSpPr>
          <a:xfrm>
            <a:off x="1643042" y="1849955"/>
            <a:ext cx="6169292" cy="642941"/>
            <a:chOff x="1643042" y="1268760"/>
            <a:chExt cx="6169292" cy="642941"/>
          </a:xfrm>
        </p:grpSpPr>
        <p:sp>
          <p:nvSpPr>
            <p:cNvPr id="102" name="椭圆 14"/>
            <p:cNvSpPr>
              <a:spLocks noChangeArrowheads="1"/>
            </p:cNvSpPr>
            <p:nvPr/>
          </p:nvSpPr>
          <p:spPr bwMode="auto">
            <a:xfrm>
              <a:off x="2606650" y="1497362"/>
              <a:ext cx="128587" cy="12858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 eaLnBrk="1" hangingPunct="1"/>
              <a:endParaRPr lang="zh-CN" altLang="en-US">
                <a:solidFill>
                  <a:srgbClr val="FFFFFF"/>
                </a:solidFill>
              </a:endParaRPr>
            </a:p>
          </p:txBody>
        </p:sp>
        <p:grpSp>
          <p:nvGrpSpPr>
            <p:cNvPr id="4" name="组合 5"/>
            <p:cNvGrpSpPr>
              <a:grpSpLocks/>
            </p:cNvGrpSpPr>
            <p:nvPr/>
          </p:nvGrpSpPr>
          <p:grpSpPr bwMode="auto">
            <a:xfrm>
              <a:off x="1643042" y="1268760"/>
              <a:ext cx="714380" cy="642941"/>
              <a:chOff x="0" y="0"/>
              <a:chExt cx="1275488" cy="1275488"/>
            </a:xfrm>
            <a:solidFill>
              <a:srgbClr val="004182"/>
            </a:solidFill>
          </p:grpSpPr>
          <p:sp>
            <p:nvSpPr>
              <p:cNvPr id="106" name="泪滴形 7"/>
              <p:cNvSpPr>
                <a:spLocks/>
              </p:cNvSpPr>
              <p:nvPr/>
            </p:nvSpPr>
            <p:spPr bwMode="auto">
              <a:xfrm rot="2700000">
                <a:off x="0" y="0"/>
                <a:ext cx="1275488" cy="1275488"/>
              </a:xfrm>
              <a:custGeom>
                <a:avLst/>
                <a:gdLst/>
                <a:ahLst/>
                <a:cxnLst>
                  <a:cxn ang="0">
                    <a:pos x="0" y="637744"/>
                  </a:cxn>
                  <a:cxn ang="0">
                    <a:pos x="637744" y="0"/>
                  </a:cxn>
                  <a:cxn ang="0">
                    <a:pos x="1275488" y="0"/>
                  </a:cxn>
                  <a:cxn ang="0">
                    <a:pos x="1275488" y="637744"/>
                  </a:cxn>
                  <a:cxn ang="0">
                    <a:pos x="637744" y="1275488"/>
                  </a:cxn>
                  <a:cxn ang="0">
                    <a:pos x="0" y="637744"/>
                  </a:cxn>
                </a:cxnLst>
                <a:rect l="0" t="0" r="r" b="b"/>
                <a:pathLst>
                  <a:path w="1275488" h="1275488">
                    <a:moveTo>
                      <a:pt x="0" y="637744"/>
                    </a:moveTo>
                    <a:cubicBezTo>
                      <a:pt x="0" y="285528"/>
                      <a:pt x="285528" y="0"/>
                      <a:pt x="637744" y="0"/>
                    </a:cubicBezTo>
                    <a:lnTo>
                      <a:pt x="1275488" y="0"/>
                    </a:lnTo>
                    <a:lnTo>
                      <a:pt x="1275488" y="637744"/>
                    </a:lnTo>
                    <a:cubicBezTo>
                      <a:pt x="1275488" y="989960"/>
                      <a:pt x="989960" y="1275488"/>
                      <a:pt x="637744" y="1275488"/>
                    </a:cubicBezTo>
                    <a:cubicBezTo>
                      <a:pt x="285528" y="1275488"/>
                      <a:pt x="0" y="989960"/>
                      <a:pt x="0" y="637744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107" name="文本框 17"/>
              <p:cNvSpPr txBox="1">
                <a:spLocks noChangeArrowheads="1"/>
              </p:cNvSpPr>
              <p:nvPr/>
            </p:nvSpPr>
            <p:spPr bwMode="auto">
              <a:xfrm>
                <a:off x="399726" y="231905"/>
                <a:ext cx="875762" cy="7493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/>
                <a:r>
                  <a:rPr lang="en-US" altLang="zh-CN" sz="2400" b="1" dirty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1</a:t>
                </a:r>
                <a:endParaRPr lang="zh-CN" altLang="en-US" sz="24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sp>
          <p:nvSpPr>
            <p:cNvPr id="114" name="矩形 20"/>
            <p:cNvSpPr>
              <a:spLocks noChangeArrowheads="1"/>
            </p:cNvSpPr>
            <p:nvPr/>
          </p:nvSpPr>
          <p:spPr bwMode="auto">
            <a:xfrm>
              <a:off x="3062261" y="1321150"/>
              <a:ext cx="4750073" cy="526172"/>
            </a:xfrm>
            <a:prstGeom prst="rect">
              <a:avLst/>
            </a:prstGeom>
            <a:solidFill>
              <a:srgbClr val="004182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r>
                <a:rPr lang="zh-CN" altLang="en-US" sz="2400" b="1" dirty="0" smtClean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itchFamily="34" charset="-122"/>
                  <a:cs typeface="Times New Roman" panose="02020603050405020304" pitchFamily="18" charset="0"/>
                </a:rPr>
                <a:t>知识点复习</a:t>
              </a:r>
              <a:endPara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6" name="组 2"/>
          <p:cNvGrpSpPr/>
          <p:nvPr/>
        </p:nvGrpSpPr>
        <p:grpSpPr>
          <a:xfrm>
            <a:off x="1643042" y="2847209"/>
            <a:ext cx="6169292" cy="642941"/>
            <a:chOff x="1643042" y="1268760"/>
            <a:chExt cx="6169292" cy="642941"/>
          </a:xfrm>
        </p:grpSpPr>
        <p:sp>
          <p:nvSpPr>
            <p:cNvPr id="17" name="椭圆 14"/>
            <p:cNvSpPr>
              <a:spLocks noChangeArrowheads="1"/>
            </p:cNvSpPr>
            <p:nvPr/>
          </p:nvSpPr>
          <p:spPr bwMode="auto">
            <a:xfrm>
              <a:off x="2606650" y="1497362"/>
              <a:ext cx="128587" cy="12858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 eaLnBrk="1" hangingPunct="1"/>
              <a:endParaRPr lang="zh-CN" altLang="en-US">
                <a:solidFill>
                  <a:srgbClr val="FFFFFF"/>
                </a:solidFill>
              </a:endParaRPr>
            </a:p>
          </p:txBody>
        </p:sp>
        <p:grpSp>
          <p:nvGrpSpPr>
            <p:cNvPr id="18" name="组合 5"/>
            <p:cNvGrpSpPr>
              <a:grpSpLocks/>
            </p:cNvGrpSpPr>
            <p:nvPr/>
          </p:nvGrpSpPr>
          <p:grpSpPr bwMode="auto">
            <a:xfrm>
              <a:off x="1643042" y="1268760"/>
              <a:ext cx="714380" cy="642941"/>
              <a:chOff x="0" y="0"/>
              <a:chExt cx="1275488" cy="1275488"/>
            </a:xfrm>
            <a:solidFill>
              <a:srgbClr val="004182"/>
            </a:solidFill>
          </p:grpSpPr>
          <p:sp>
            <p:nvSpPr>
              <p:cNvPr id="20" name="泪滴形 7"/>
              <p:cNvSpPr>
                <a:spLocks/>
              </p:cNvSpPr>
              <p:nvPr/>
            </p:nvSpPr>
            <p:spPr bwMode="auto">
              <a:xfrm rot="2700000">
                <a:off x="0" y="0"/>
                <a:ext cx="1275488" cy="1275488"/>
              </a:xfrm>
              <a:custGeom>
                <a:avLst/>
                <a:gdLst/>
                <a:ahLst/>
                <a:cxnLst>
                  <a:cxn ang="0">
                    <a:pos x="0" y="637744"/>
                  </a:cxn>
                  <a:cxn ang="0">
                    <a:pos x="637744" y="0"/>
                  </a:cxn>
                  <a:cxn ang="0">
                    <a:pos x="1275488" y="0"/>
                  </a:cxn>
                  <a:cxn ang="0">
                    <a:pos x="1275488" y="637744"/>
                  </a:cxn>
                  <a:cxn ang="0">
                    <a:pos x="637744" y="1275488"/>
                  </a:cxn>
                  <a:cxn ang="0">
                    <a:pos x="0" y="637744"/>
                  </a:cxn>
                </a:cxnLst>
                <a:rect l="0" t="0" r="r" b="b"/>
                <a:pathLst>
                  <a:path w="1275488" h="1275488">
                    <a:moveTo>
                      <a:pt x="0" y="637744"/>
                    </a:moveTo>
                    <a:cubicBezTo>
                      <a:pt x="0" y="285528"/>
                      <a:pt x="285528" y="0"/>
                      <a:pt x="637744" y="0"/>
                    </a:cubicBezTo>
                    <a:lnTo>
                      <a:pt x="1275488" y="0"/>
                    </a:lnTo>
                    <a:lnTo>
                      <a:pt x="1275488" y="637744"/>
                    </a:lnTo>
                    <a:cubicBezTo>
                      <a:pt x="1275488" y="989960"/>
                      <a:pt x="989960" y="1275488"/>
                      <a:pt x="637744" y="1275488"/>
                    </a:cubicBezTo>
                    <a:cubicBezTo>
                      <a:pt x="285528" y="1275488"/>
                      <a:pt x="0" y="989960"/>
                      <a:pt x="0" y="637744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21" name="文本框 17"/>
              <p:cNvSpPr txBox="1">
                <a:spLocks noChangeArrowheads="1"/>
              </p:cNvSpPr>
              <p:nvPr/>
            </p:nvSpPr>
            <p:spPr bwMode="auto">
              <a:xfrm>
                <a:off x="399726" y="231904"/>
                <a:ext cx="875762" cy="9158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/>
                <a:r>
                  <a:rPr lang="en-US" altLang="zh-CN" sz="2400" b="1" dirty="0" smtClean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2</a:t>
                </a:r>
                <a:endParaRPr lang="zh-CN" altLang="en-US" sz="24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sp>
          <p:nvSpPr>
            <p:cNvPr id="19" name="矩形 20"/>
            <p:cNvSpPr>
              <a:spLocks noChangeArrowheads="1"/>
            </p:cNvSpPr>
            <p:nvPr/>
          </p:nvSpPr>
          <p:spPr bwMode="auto">
            <a:xfrm>
              <a:off x="3062261" y="1321150"/>
              <a:ext cx="4750073" cy="526172"/>
            </a:xfrm>
            <a:prstGeom prst="rect">
              <a:avLst/>
            </a:prstGeom>
            <a:solidFill>
              <a:srgbClr val="004182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r>
                <a:rPr lang="zh-CN" altLang="en-US" sz="2400" b="1" dirty="0" smtClean="0">
                  <a:solidFill>
                    <a:schemeClr val="bg1">
                      <a:lumMod val="65000"/>
                    </a:schemeClr>
                  </a:solidFill>
                  <a:latin typeface="Times New Roman" panose="02020603050405020304" pitchFamily="18" charset="0"/>
                  <a:ea typeface="微软雅黑" pitchFamily="34" charset="-122"/>
                  <a:cs typeface="Times New Roman" panose="02020603050405020304" pitchFamily="18" charset="0"/>
                </a:rPr>
                <a:t>答疑</a:t>
              </a:r>
              <a:endParaRPr lang="en-US" altLang="zh-CN" sz="2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86064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2987824" y="103601"/>
            <a:ext cx="6072230" cy="582594"/>
          </a:xfrm>
        </p:spPr>
        <p:txBody>
          <a:bodyPr/>
          <a:lstStyle/>
          <a:p>
            <a:r>
              <a:rPr lang="zh-CN" altLang="en-US" dirty="0" smtClean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第二章 最优化</a:t>
            </a:r>
            <a:r>
              <a:rPr lang="zh-CN" altLang="en-US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问题的数学基础</a:t>
            </a:r>
            <a:endParaRPr lang="en-US" altLang="zh-CN" dirty="0"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61E1913-C44E-C440-96C6-CAA6B15B09E5}"/>
              </a:ext>
            </a:extLst>
          </p:cNvPr>
          <p:cNvSpPr txBox="1">
            <a:spLocks noChangeArrowheads="1"/>
          </p:cNvSpPr>
          <p:nvPr/>
        </p:nvSpPr>
        <p:spPr>
          <a:xfrm>
            <a:off x="611560" y="1412776"/>
            <a:ext cx="6482292" cy="583442"/>
          </a:xfrm>
          <a:prstGeom prst="rect">
            <a:avLst/>
          </a:prstGeom>
        </p:spPr>
        <p:txBody>
          <a:bodyPr vert="horz" anchor="b" anchorCtr="0">
            <a:noAutofit/>
          </a:bodyPr>
          <a:lstStyle/>
          <a:p>
            <a:pPr lvl="0">
              <a:spcBef>
                <a:spcPct val="0"/>
              </a:spcBef>
              <a:defRPr/>
            </a:pPr>
            <a:r>
              <a:rPr lang="zh-CN" altLang="en-US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正定矩阵的</a:t>
            </a:r>
            <a:r>
              <a:rPr lang="zh-CN" altLang="en-US" sz="32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判定</a:t>
            </a:r>
            <a:r>
              <a:rPr lang="en-US" altLang="zh-CN" sz="32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  <a:sym typeface="Wingdings" panose="05000000000000000000" pitchFamily="2" charset="2"/>
              </a:rPr>
              <a:t>&lt;-&gt;</a:t>
            </a:r>
            <a:r>
              <a:rPr lang="zh-CN" altLang="en-US" sz="32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  <a:sym typeface="Wingdings" panose="05000000000000000000" pitchFamily="2" charset="2"/>
              </a:rPr>
              <a:t>函数的凹凸性</a:t>
            </a:r>
            <a:endParaRPr lang="en-US" altLang="zh-CN" sz="3200" b="1" dirty="0">
              <a:solidFill>
                <a:srgbClr val="C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Times New Roman" pitchFamily="18" charset="0"/>
            </a:endParaRPr>
          </a:p>
        </p:txBody>
      </p:sp>
      <p:graphicFrame>
        <p:nvGraphicFramePr>
          <p:cNvPr id="7" name="Object 6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1952439015"/>
              </p:ext>
            </p:extLst>
          </p:nvPr>
        </p:nvGraphicFramePr>
        <p:xfrm>
          <a:off x="1043608" y="2708920"/>
          <a:ext cx="6571043" cy="14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000" name="Equation" r:id="rId3" imgW="5410080" imgH="1168200" progId="Equation.DSMT4">
                  <p:embed/>
                </p:oleObj>
              </mc:Choice>
              <mc:Fallback>
                <p:oleObj name="Equation" r:id="rId3" imgW="5410080" imgH="1168200" progId="Equation.DSMT4">
                  <p:embed/>
                  <p:pic>
                    <p:nvPicPr>
                      <p:cNvPr id="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3608" y="2708920"/>
                        <a:ext cx="6571043" cy="141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843138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3"/>
          <p:cNvSpPr>
            <a:spLocks noGrp="1"/>
          </p:cNvSpPr>
          <p:nvPr>
            <p:ph type="title"/>
          </p:nvPr>
        </p:nvSpPr>
        <p:spPr>
          <a:xfrm>
            <a:off x="2928928" y="142852"/>
            <a:ext cx="6072230" cy="582595"/>
          </a:xfrm>
        </p:spPr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第二章 最优化问题的数学基础</a:t>
            </a:r>
            <a:endParaRPr kumimoji="1"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361E1913-C44E-C440-96C6-CAA6B15B09E5}"/>
              </a:ext>
            </a:extLst>
          </p:cNvPr>
          <p:cNvSpPr txBox="1">
            <a:spLocks noChangeArrowheads="1"/>
          </p:cNvSpPr>
          <p:nvPr/>
        </p:nvSpPr>
        <p:spPr>
          <a:xfrm>
            <a:off x="25575" y="1556792"/>
            <a:ext cx="5544616" cy="700130"/>
          </a:xfrm>
          <a:prstGeom prst="rect">
            <a:avLst/>
          </a:prstGeom>
        </p:spPr>
        <p:txBody>
          <a:bodyPr vert="horz" anchor="b" anchorCtr="0">
            <a:noAutofit/>
          </a:bodyPr>
          <a:lstStyle/>
          <a:p>
            <a:pPr lvl="0">
              <a:spcBef>
                <a:spcPct val="0"/>
              </a:spcBef>
              <a:defRPr/>
            </a:pPr>
            <a:r>
              <a:rPr lang="zh-CN" altLang="en-US" sz="32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梯度</a:t>
            </a:r>
            <a:r>
              <a:rPr lang="zh-CN" altLang="en-US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与方向导数的结论</a:t>
            </a:r>
            <a:endParaRPr lang="en-US" altLang="zh-CN" sz="3200" b="1" dirty="0">
              <a:solidFill>
                <a:srgbClr val="C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Times New Roman" pitchFamily="18" charset="0"/>
            </a:endParaRPr>
          </a:p>
        </p:txBody>
      </p:sp>
      <p:graphicFrame>
        <p:nvGraphicFramePr>
          <p:cNvPr id="5" name="Object 6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3578303343"/>
              </p:ext>
            </p:extLst>
          </p:nvPr>
        </p:nvGraphicFramePr>
        <p:xfrm>
          <a:off x="177800" y="2716213"/>
          <a:ext cx="4633913" cy="2465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023" name="Equation" r:id="rId3" imgW="3962160" imgH="2108160" progId="Equation.DSMT4">
                  <p:embed/>
                </p:oleObj>
              </mc:Choice>
              <mc:Fallback>
                <p:oleObj name="Equation" r:id="rId3" imgW="3962160" imgH="2108160" progId="Equation.DSMT4">
                  <p:embed/>
                  <p:pic>
                    <p:nvPicPr>
                      <p:cNvPr id="5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800" y="2716213"/>
                        <a:ext cx="4633913" cy="2465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2835" y="3865216"/>
            <a:ext cx="4501165" cy="2648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1066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第二章 最优化问题的数学基础</a:t>
            </a:r>
            <a:endParaRPr kumimoji="1"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361E1913-C44E-C440-96C6-CAA6B15B09E5}"/>
              </a:ext>
            </a:extLst>
          </p:cNvPr>
          <p:cNvSpPr txBox="1">
            <a:spLocks noChangeArrowheads="1"/>
          </p:cNvSpPr>
          <p:nvPr/>
        </p:nvSpPr>
        <p:spPr>
          <a:xfrm>
            <a:off x="761680" y="1243241"/>
            <a:ext cx="7778750" cy="700130"/>
          </a:xfrm>
          <a:prstGeom prst="rect">
            <a:avLst/>
          </a:prstGeom>
        </p:spPr>
        <p:txBody>
          <a:bodyPr vert="horz" anchor="b" anchorCtr="0">
            <a:noAutofit/>
          </a:bodyPr>
          <a:lstStyle/>
          <a:p>
            <a:pPr lvl="0">
              <a:spcBef>
                <a:spcPct val="0"/>
              </a:spcBef>
              <a:defRPr/>
            </a:pPr>
            <a:r>
              <a:rPr lang="zh-CN" altLang="en-US" sz="32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凸组合，凸集的定义</a:t>
            </a:r>
            <a:endParaRPr lang="en-US" altLang="zh-CN" sz="3200" b="1" dirty="0">
              <a:solidFill>
                <a:srgbClr val="C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Times New Roman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81" y="2132856"/>
            <a:ext cx="2920405" cy="3672408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4139078" y="4293096"/>
            <a:ext cx="4899532" cy="1173808"/>
            <a:chOff x="3059832" y="3573016"/>
            <a:chExt cx="6267684" cy="1533848"/>
          </a:xfrm>
        </p:grpSpPr>
        <p:grpSp>
          <p:nvGrpSpPr>
            <p:cNvPr id="22" name="Group 563"/>
            <p:cNvGrpSpPr>
              <a:grpSpLocks/>
            </p:cNvGrpSpPr>
            <p:nvPr/>
          </p:nvGrpSpPr>
          <p:grpSpPr bwMode="auto">
            <a:xfrm>
              <a:off x="3059832" y="3573016"/>
              <a:ext cx="6267684" cy="1533848"/>
              <a:chOff x="567" y="2102"/>
              <a:chExt cx="4581" cy="1193"/>
            </a:xfrm>
          </p:grpSpPr>
          <p:sp>
            <p:nvSpPr>
              <p:cNvPr id="23" name="Line 7"/>
              <p:cNvSpPr>
                <a:spLocks noChangeShapeType="1"/>
              </p:cNvSpPr>
              <p:nvPr/>
            </p:nvSpPr>
            <p:spPr bwMode="auto">
              <a:xfrm flipV="1">
                <a:off x="719" y="2454"/>
                <a:ext cx="635" cy="272"/>
              </a:xfrm>
              <a:prstGeom prst="line">
                <a:avLst/>
              </a:prstGeom>
              <a:noFill/>
              <a:ln w="12700" algn="ctr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4" name="Arc 8"/>
              <p:cNvSpPr>
                <a:spLocks/>
              </p:cNvSpPr>
              <p:nvPr/>
            </p:nvSpPr>
            <p:spPr bwMode="auto">
              <a:xfrm rot="-180000">
                <a:off x="578" y="2102"/>
                <a:ext cx="1014" cy="691"/>
              </a:xfrm>
              <a:custGeom>
                <a:avLst/>
                <a:gdLst>
                  <a:gd name="T0" fmla="*/ 0 w 31661"/>
                  <a:gd name="T1" fmla="*/ 91 h 21600"/>
                  <a:gd name="T2" fmla="*/ 344 w 31661"/>
                  <a:gd name="T3" fmla="*/ 0 h 21600"/>
                  <a:gd name="T4" fmla="*/ 1014 w 31661"/>
                  <a:gd name="T5" fmla="*/ 519 h 21600"/>
                  <a:gd name="T6" fmla="*/ 0 w 31661"/>
                  <a:gd name="T7" fmla="*/ 91 h 21600"/>
                  <a:gd name="T8" fmla="*/ 344 w 31661"/>
                  <a:gd name="T9" fmla="*/ 0 h 21600"/>
                  <a:gd name="T10" fmla="*/ 1014 w 31661"/>
                  <a:gd name="T11" fmla="*/ 519 h 21600"/>
                  <a:gd name="T12" fmla="*/ 344 w 31661"/>
                  <a:gd name="T13" fmla="*/ 691 h 21600"/>
                  <a:gd name="T14" fmla="*/ 0 w 31661"/>
                  <a:gd name="T15" fmla="*/ 91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1661" h="21600" fill="none">
                    <a:moveTo>
                      <a:pt x="-1" y="2860"/>
                    </a:moveTo>
                    <a:cubicBezTo>
                      <a:pt x="3269" y="986"/>
                      <a:pt x="6973" y="-1"/>
                      <a:pt x="10742" y="0"/>
                    </a:cubicBezTo>
                    <a:cubicBezTo>
                      <a:pt x="20598" y="0"/>
                      <a:pt x="29205" y="6672"/>
                      <a:pt x="31661" y="16218"/>
                    </a:cubicBezTo>
                  </a:path>
                  <a:path w="31661" h="21600" stroke="0">
                    <a:moveTo>
                      <a:pt x="-1" y="2860"/>
                    </a:moveTo>
                    <a:cubicBezTo>
                      <a:pt x="3269" y="986"/>
                      <a:pt x="6973" y="-1"/>
                      <a:pt x="10742" y="0"/>
                    </a:cubicBezTo>
                    <a:cubicBezTo>
                      <a:pt x="20598" y="0"/>
                      <a:pt x="29205" y="6672"/>
                      <a:pt x="31661" y="16218"/>
                    </a:cubicBezTo>
                    <a:lnTo>
                      <a:pt x="10742" y="21600"/>
                    </a:lnTo>
                    <a:lnTo>
                      <a:pt x="-1" y="2860"/>
                    </a:lnTo>
                    <a:close/>
                  </a:path>
                </a:pathLst>
              </a:custGeom>
              <a:noFill/>
              <a:ln w="38100" cap="flat" algn="ctr">
                <a:solidFill>
                  <a:srgbClr val="003366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5" name="Line 9"/>
              <p:cNvSpPr>
                <a:spLocks noChangeShapeType="1"/>
              </p:cNvSpPr>
              <p:nvPr/>
            </p:nvSpPr>
            <p:spPr bwMode="auto">
              <a:xfrm>
                <a:off x="567" y="2205"/>
                <a:ext cx="1" cy="1090"/>
              </a:xfrm>
              <a:prstGeom prst="line">
                <a:avLst/>
              </a:prstGeom>
              <a:noFill/>
              <a:ln w="38100" algn="ctr">
                <a:solidFill>
                  <a:srgbClr val="0033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6" name="Line 10"/>
              <p:cNvSpPr>
                <a:spLocks noChangeShapeType="1"/>
              </p:cNvSpPr>
              <p:nvPr/>
            </p:nvSpPr>
            <p:spPr bwMode="auto">
              <a:xfrm flipV="1">
                <a:off x="567" y="2579"/>
                <a:ext cx="1034" cy="708"/>
              </a:xfrm>
              <a:prstGeom prst="line">
                <a:avLst/>
              </a:prstGeom>
              <a:noFill/>
              <a:ln w="38100" algn="ctr">
                <a:solidFill>
                  <a:srgbClr val="0033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7" name="Oval 11"/>
              <p:cNvSpPr>
                <a:spLocks noChangeArrowheads="1"/>
              </p:cNvSpPr>
              <p:nvPr/>
            </p:nvSpPr>
            <p:spPr bwMode="auto">
              <a:xfrm>
                <a:off x="703" y="2704"/>
                <a:ext cx="45" cy="45"/>
              </a:xfrm>
              <a:prstGeom prst="ellipse">
                <a:avLst/>
              </a:prstGeom>
              <a:solidFill>
                <a:srgbClr val="00CC99"/>
              </a:solidFill>
              <a:ln w="9525" algn="ctr">
                <a:solidFill>
                  <a:srgbClr val="003366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SzPct val="100000"/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 i="0"/>
              </a:p>
            </p:txBody>
          </p:sp>
          <p:sp>
            <p:nvSpPr>
              <p:cNvPr id="28" name="Oval 12"/>
              <p:cNvSpPr>
                <a:spLocks noChangeArrowheads="1"/>
              </p:cNvSpPr>
              <p:nvPr/>
            </p:nvSpPr>
            <p:spPr bwMode="auto">
              <a:xfrm>
                <a:off x="1338" y="2432"/>
                <a:ext cx="45" cy="46"/>
              </a:xfrm>
              <a:prstGeom prst="ellipse">
                <a:avLst/>
              </a:prstGeom>
              <a:solidFill>
                <a:srgbClr val="00CC99"/>
              </a:solidFill>
              <a:ln w="9525" algn="ctr">
                <a:solidFill>
                  <a:srgbClr val="003366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SzPct val="100000"/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 i="0"/>
              </a:p>
            </p:txBody>
          </p:sp>
          <p:sp>
            <p:nvSpPr>
              <p:cNvPr id="29" name="Arc 13"/>
              <p:cNvSpPr>
                <a:spLocks/>
              </p:cNvSpPr>
              <p:nvPr/>
            </p:nvSpPr>
            <p:spPr bwMode="auto">
              <a:xfrm rot="5760000">
                <a:off x="2049" y="2129"/>
                <a:ext cx="1089" cy="1242"/>
              </a:xfrm>
              <a:custGeom>
                <a:avLst/>
                <a:gdLst>
                  <a:gd name="T0" fmla="*/ 404 w 34320"/>
                  <a:gd name="T1" fmla="*/ 0 h 43200"/>
                  <a:gd name="T2" fmla="*/ 1089 w 34320"/>
                  <a:gd name="T3" fmla="*/ 621 h 43200"/>
                  <a:gd name="T4" fmla="*/ 404 w 34320"/>
                  <a:gd name="T5" fmla="*/ 1242 h 43200"/>
                  <a:gd name="T6" fmla="*/ 0 w 34320"/>
                  <a:gd name="T7" fmla="*/ 1123 h 43200"/>
                  <a:gd name="T8" fmla="*/ 404 w 34320"/>
                  <a:gd name="T9" fmla="*/ 0 h 43200"/>
                  <a:gd name="T10" fmla="*/ 1089 w 34320"/>
                  <a:gd name="T11" fmla="*/ 621 h 43200"/>
                  <a:gd name="T12" fmla="*/ 404 w 34320"/>
                  <a:gd name="T13" fmla="*/ 1242 h 43200"/>
                  <a:gd name="T14" fmla="*/ 0 w 34320"/>
                  <a:gd name="T15" fmla="*/ 1123 h 43200"/>
                  <a:gd name="T16" fmla="*/ 404 w 34320"/>
                  <a:gd name="T17" fmla="*/ 621 h 43200"/>
                  <a:gd name="T18" fmla="*/ 404 w 34320"/>
                  <a:gd name="T19" fmla="*/ 0 h 4320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34320" h="43200" fill="none">
                    <a:moveTo>
                      <a:pt x="12719" y="0"/>
                    </a:moveTo>
                    <a:cubicBezTo>
                      <a:pt x="24649" y="0"/>
                      <a:pt x="34320" y="9670"/>
                      <a:pt x="34320" y="21600"/>
                    </a:cubicBezTo>
                    <a:cubicBezTo>
                      <a:pt x="34320" y="33529"/>
                      <a:pt x="24649" y="43200"/>
                      <a:pt x="12720" y="43200"/>
                    </a:cubicBezTo>
                    <a:cubicBezTo>
                      <a:pt x="8148" y="43200"/>
                      <a:pt x="3695" y="41749"/>
                      <a:pt x="0" y="39057"/>
                    </a:cubicBezTo>
                  </a:path>
                  <a:path w="34320" h="43200" stroke="0">
                    <a:moveTo>
                      <a:pt x="12719" y="0"/>
                    </a:moveTo>
                    <a:cubicBezTo>
                      <a:pt x="24649" y="0"/>
                      <a:pt x="34320" y="9670"/>
                      <a:pt x="34320" y="21600"/>
                    </a:cubicBezTo>
                    <a:cubicBezTo>
                      <a:pt x="34320" y="33529"/>
                      <a:pt x="24649" y="43200"/>
                      <a:pt x="12720" y="43200"/>
                    </a:cubicBezTo>
                    <a:cubicBezTo>
                      <a:pt x="8148" y="43200"/>
                      <a:pt x="3695" y="41749"/>
                      <a:pt x="0" y="39057"/>
                    </a:cubicBezTo>
                    <a:lnTo>
                      <a:pt x="12720" y="21600"/>
                    </a:lnTo>
                    <a:lnTo>
                      <a:pt x="12719" y="0"/>
                    </a:lnTo>
                    <a:close/>
                  </a:path>
                </a:pathLst>
              </a:custGeom>
              <a:noFill/>
              <a:ln w="38100" cap="flat" algn="ctr">
                <a:solidFill>
                  <a:srgbClr val="003366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0" name="Line 14"/>
              <p:cNvSpPr>
                <a:spLocks noChangeShapeType="1"/>
              </p:cNvSpPr>
              <p:nvPr/>
            </p:nvSpPr>
            <p:spPr bwMode="auto">
              <a:xfrm>
                <a:off x="2154" y="2160"/>
                <a:ext cx="408" cy="680"/>
              </a:xfrm>
              <a:prstGeom prst="line">
                <a:avLst/>
              </a:prstGeom>
              <a:noFill/>
              <a:ln w="38100" algn="ctr">
                <a:solidFill>
                  <a:srgbClr val="0033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1" name="Line 15"/>
              <p:cNvSpPr>
                <a:spLocks noChangeShapeType="1"/>
              </p:cNvSpPr>
              <p:nvPr/>
            </p:nvSpPr>
            <p:spPr bwMode="auto">
              <a:xfrm flipV="1">
                <a:off x="2562" y="2659"/>
                <a:ext cx="681" cy="181"/>
              </a:xfrm>
              <a:prstGeom prst="line">
                <a:avLst/>
              </a:prstGeom>
              <a:noFill/>
              <a:ln w="38100" algn="ctr">
                <a:solidFill>
                  <a:srgbClr val="0033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2" name="Oval 16"/>
              <p:cNvSpPr>
                <a:spLocks noChangeArrowheads="1"/>
              </p:cNvSpPr>
              <p:nvPr/>
            </p:nvSpPr>
            <p:spPr bwMode="auto">
              <a:xfrm>
                <a:off x="2154" y="2568"/>
                <a:ext cx="46" cy="46"/>
              </a:xfrm>
              <a:prstGeom prst="ellipse">
                <a:avLst/>
              </a:prstGeom>
              <a:solidFill>
                <a:srgbClr val="00CC99"/>
              </a:solidFill>
              <a:ln w="9525" algn="ctr">
                <a:solidFill>
                  <a:srgbClr val="003366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SzPct val="100000"/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 i="0"/>
              </a:p>
            </p:txBody>
          </p:sp>
          <p:sp>
            <p:nvSpPr>
              <p:cNvPr id="33" name="Oval 17"/>
              <p:cNvSpPr>
                <a:spLocks noChangeArrowheads="1"/>
              </p:cNvSpPr>
              <p:nvPr/>
            </p:nvSpPr>
            <p:spPr bwMode="auto">
              <a:xfrm>
                <a:off x="3061" y="2795"/>
                <a:ext cx="46" cy="45"/>
              </a:xfrm>
              <a:prstGeom prst="ellipse">
                <a:avLst/>
              </a:prstGeom>
              <a:solidFill>
                <a:srgbClr val="00CC99"/>
              </a:solidFill>
              <a:ln w="9525" algn="ctr">
                <a:solidFill>
                  <a:srgbClr val="003366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SzPct val="100000"/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 i="0"/>
              </a:p>
            </p:txBody>
          </p:sp>
          <p:sp>
            <p:nvSpPr>
              <p:cNvPr id="34" name="Line 18"/>
              <p:cNvSpPr>
                <a:spLocks noChangeShapeType="1"/>
              </p:cNvSpPr>
              <p:nvPr/>
            </p:nvSpPr>
            <p:spPr bwMode="auto">
              <a:xfrm>
                <a:off x="2200" y="2592"/>
                <a:ext cx="861" cy="227"/>
              </a:xfrm>
              <a:prstGeom prst="line">
                <a:avLst/>
              </a:prstGeom>
              <a:noFill/>
              <a:ln w="9525" algn="ctr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5" name="AutoShape 19"/>
              <p:cNvSpPr>
                <a:spLocks noChangeArrowheads="1"/>
              </p:cNvSpPr>
              <p:nvPr/>
            </p:nvSpPr>
            <p:spPr bwMode="auto">
              <a:xfrm rot="-660000">
                <a:off x="3833" y="2251"/>
                <a:ext cx="1315" cy="952"/>
              </a:xfrm>
              <a:prstGeom prst="hexagon">
                <a:avLst>
                  <a:gd name="adj" fmla="val 33720"/>
                  <a:gd name="vf" fmla="val 115470"/>
                </a:avLst>
              </a:prstGeom>
              <a:solidFill>
                <a:srgbClr val="FFFFFF"/>
              </a:solidFill>
              <a:ln w="38100" algn="ctr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SzPct val="100000"/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 i="0"/>
              </a:p>
            </p:txBody>
          </p:sp>
          <p:sp>
            <p:nvSpPr>
              <p:cNvPr id="36" name="Oval 20"/>
              <p:cNvSpPr>
                <a:spLocks noChangeArrowheads="1"/>
              </p:cNvSpPr>
              <p:nvPr/>
            </p:nvSpPr>
            <p:spPr bwMode="auto">
              <a:xfrm>
                <a:off x="3832" y="2827"/>
                <a:ext cx="41" cy="48"/>
              </a:xfrm>
              <a:prstGeom prst="ellipse">
                <a:avLst/>
              </a:prstGeom>
              <a:solidFill>
                <a:srgbClr val="00CC99"/>
              </a:solidFill>
              <a:ln w="9525" algn="ctr">
                <a:solidFill>
                  <a:srgbClr val="003366"/>
                </a:solidFill>
                <a:round/>
                <a:headEnd/>
                <a:tailEnd/>
              </a:ln>
            </p:spPr>
            <p:txBody>
              <a:bodyPr wrap="square" anchor="ctr">
                <a:spAutoFit/>
              </a:bodyPr>
              <a:lstStyle>
                <a:lvl1pPr>
                  <a:spcBef>
                    <a:spcPct val="20000"/>
                  </a:spcBef>
                  <a:buSzPct val="100000"/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 i="0"/>
              </a:p>
            </p:txBody>
          </p:sp>
          <p:sp>
            <p:nvSpPr>
              <p:cNvPr id="37" name="Oval 21"/>
              <p:cNvSpPr>
                <a:spLocks noChangeArrowheads="1"/>
              </p:cNvSpPr>
              <p:nvPr/>
            </p:nvSpPr>
            <p:spPr bwMode="auto">
              <a:xfrm>
                <a:off x="4558" y="2523"/>
                <a:ext cx="46" cy="45"/>
              </a:xfrm>
              <a:prstGeom prst="ellipse">
                <a:avLst/>
              </a:prstGeom>
              <a:solidFill>
                <a:srgbClr val="00CC99"/>
              </a:solidFill>
              <a:ln w="9525" algn="ctr">
                <a:solidFill>
                  <a:srgbClr val="003366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SzPct val="100000"/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 i="0"/>
              </a:p>
            </p:txBody>
          </p:sp>
        </p:grpSp>
        <p:sp>
          <p:nvSpPr>
            <p:cNvPr id="38" name="Line 18"/>
            <p:cNvSpPr>
              <a:spLocks noChangeShapeType="1"/>
            </p:cNvSpPr>
            <p:nvPr/>
          </p:nvSpPr>
          <p:spPr bwMode="auto">
            <a:xfrm flipV="1">
              <a:off x="7573495" y="4154964"/>
              <a:ext cx="945419" cy="366903"/>
            </a:xfrm>
            <a:prstGeom prst="line">
              <a:avLst/>
            </a:prstGeom>
            <a:noFill/>
            <a:ln w="9525" algn="ctr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>
              <a:spAutoFit/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240189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第二章 最优化问题的数学基础</a:t>
            </a:r>
            <a:endParaRPr kumimoji="1"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361E1913-C44E-C440-96C6-CAA6B15B09E5}"/>
              </a:ext>
            </a:extLst>
          </p:cNvPr>
          <p:cNvSpPr txBox="1">
            <a:spLocks noChangeArrowheads="1"/>
          </p:cNvSpPr>
          <p:nvPr/>
        </p:nvSpPr>
        <p:spPr>
          <a:xfrm>
            <a:off x="395537" y="706174"/>
            <a:ext cx="7778750" cy="1658136"/>
          </a:xfrm>
          <a:prstGeom prst="rect">
            <a:avLst/>
          </a:prstGeom>
        </p:spPr>
        <p:txBody>
          <a:bodyPr vert="horz" anchor="b" anchorCtr="0">
            <a:noAutofit/>
          </a:bodyPr>
          <a:lstStyle/>
          <a:p>
            <a:pPr lvl="0">
              <a:spcBef>
                <a:spcPct val="0"/>
              </a:spcBef>
              <a:defRPr/>
            </a:pPr>
            <a:r>
              <a:rPr lang="zh-CN" altLang="en-US" sz="32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凸函数的定义及其判定</a:t>
            </a:r>
            <a:endParaRPr lang="en-US" altLang="zh-CN" sz="3200" b="1" dirty="0" smtClean="0">
              <a:solidFill>
                <a:srgbClr val="C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Times New Roman" pitchFamily="18" charset="0"/>
            </a:endParaRPr>
          </a:p>
          <a:p>
            <a:pPr lvl="0">
              <a:spcBef>
                <a:spcPct val="0"/>
              </a:spcBef>
              <a:defRPr/>
            </a:pPr>
            <a:r>
              <a:rPr lang="zh-CN" altLang="en-US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（</a:t>
            </a:r>
            <a:r>
              <a:rPr lang="en-US" altLang="zh-CN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Hesse</a:t>
            </a:r>
            <a:r>
              <a:rPr lang="zh-CN" altLang="en-US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矩阵半正定</a:t>
            </a:r>
            <a:r>
              <a:rPr lang="en-US" altLang="zh-CN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&lt;-&gt;</a:t>
            </a:r>
            <a:r>
              <a:rPr lang="zh-CN" altLang="en-US" sz="3200" b="1" dirty="0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凸函数</a:t>
            </a:r>
            <a:r>
              <a:rPr lang="zh-CN" altLang="en-US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）</a:t>
            </a:r>
            <a:endParaRPr lang="en-US" altLang="zh-CN" sz="3200" b="1" dirty="0">
              <a:solidFill>
                <a:srgbClr val="0070C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Times New Roman" pitchFamily="18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3438" y="2420888"/>
            <a:ext cx="4656874" cy="2902730"/>
          </a:xfrm>
          <a:prstGeom prst="rect">
            <a:avLst/>
          </a:prstGeom>
        </p:spPr>
      </p:pic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5746516"/>
              </p:ext>
            </p:extLst>
          </p:nvPr>
        </p:nvGraphicFramePr>
        <p:xfrm>
          <a:off x="6228184" y="5533042"/>
          <a:ext cx="345638" cy="336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62" name="Equation" r:id="rId4" imgW="215640" imgH="228600" progId="Equation.DSMT4">
                  <p:embed/>
                </p:oleObj>
              </mc:Choice>
              <mc:Fallback>
                <p:oleObj name="Equation" r:id="rId4" imgW="215640" imgH="228600" progId="Equation.DSMT4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8184" y="5533042"/>
                        <a:ext cx="345638" cy="3368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/>
          </p:nvPr>
        </p:nvGraphicFramePr>
        <p:xfrm>
          <a:off x="3448675" y="5377157"/>
          <a:ext cx="313030" cy="3243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63" name="Equation" r:id="rId6" imgW="203040" imgH="228600" progId="Equation.DSMT4">
                  <p:embed/>
                </p:oleObj>
              </mc:Choice>
              <mc:Fallback>
                <p:oleObj name="Equation" r:id="rId6" imgW="203040" imgH="228600" progId="Equation.DSMT4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8675" y="5377157"/>
                        <a:ext cx="313030" cy="3243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/>
          </p:nvPr>
        </p:nvGraphicFramePr>
        <p:xfrm>
          <a:off x="4053543" y="5380196"/>
          <a:ext cx="1530935" cy="3212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64" name="Equation" r:id="rId8" imgW="1002960" imgH="228600" progId="Equation.DSMT4">
                  <p:embed/>
                </p:oleObj>
              </mc:Choice>
              <mc:Fallback>
                <p:oleObj name="Equation" r:id="rId8" imgW="1002960" imgH="228600" progId="Equation.DSMT4">
                  <p:embed/>
                  <p:pic>
                    <p:nvPicPr>
                      <p:cNvPr id="12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53543" y="5380196"/>
                        <a:ext cx="1530935" cy="3212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6285975"/>
              </p:ext>
            </p:extLst>
          </p:nvPr>
        </p:nvGraphicFramePr>
        <p:xfrm>
          <a:off x="539552" y="4221088"/>
          <a:ext cx="2019607" cy="3459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65" name="Equation" r:id="rId10" imgW="1231560" imgH="228600" progId="Equation.DSMT4">
                  <p:embed/>
                </p:oleObj>
              </mc:Choice>
              <mc:Fallback>
                <p:oleObj name="Equation" r:id="rId10" imgW="1231560" imgH="228600" progId="Equation.DSMT4">
                  <p:embed/>
                  <p:pic>
                    <p:nvPicPr>
                      <p:cNvPr id="14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552" y="4221088"/>
                        <a:ext cx="2019607" cy="3459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5500085"/>
              </p:ext>
            </p:extLst>
          </p:nvPr>
        </p:nvGraphicFramePr>
        <p:xfrm>
          <a:off x="454582" y="3817800"/>
          <a:ext cx="2268856" cy="3467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66" name="Equation" r:id="rId12" imgW="1384200" imgH="228600" progId="Equation.DSMT4">
                  <p:embed/>
                </p:oleObj>
              </mc:Choice>
              <mc:Fallback>
                <p:oleObj name="Equation" r:id="rId12" imgW="1384200" imgH="228600" progId="Equation.DSMT4">
                  <p:embed/>
                  <p:pic>
                    <p:nvPicPr>
                      <p:cNvPr id="15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4582" y="3817800"/>
                        <a:ext cx="2268856" cy="3467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69377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2928927" y="44624"/>
            <a:ext cx="6072230" cy="582594"/>
          </a:xfrm>
        </p:spPr>
        <p:txBody>
          <a:bodyPr/>
          <a:lstStyle/>
          <a:p>
            <a:pPr>
              <a:lnSpc>
                <a:spcPts val="5600"/>
              </a:lnSpc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第三章：线性规划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  <p:sp>
        <p:nvSpPr>
          <p:cNvPr id="14" name="Rectangle 9"/>
          <p:cNvSpPr>
            <a:spLocks noChangeArrowheads="1"/>
          </p:cNvSpPr>
          <p:nvPr/>
        </p:nvSpPr>
        <p:spPr bwMode="auto">
          <a:xfrm>
            <a:off x="3833813" y="4724400"/>
            <a:ext cx="2159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900"/>
              <a:t> </a:t>
            </a:r>
            <a:endParaRPr lang="en-US" altLang="zh-CN" sz="1800"/>
          </a:p>
        </p:txBody>
      </p:sp>
      <p:sp>
        <p:nvSpPr>
          <p:cNvPr id="2" name="矩形 1"/>
          <p:cNvSpPr/>
          <p:nvPr/>
        </p:nvSpPr>
        <p:spPr>
          <a:xfrm>
            <a:off x="754043" y="1335841"/>
            <a:ext cx="677621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spcBef>
                <a:spcPct val="0"/>
              </a:spcBef>
              <a:defRPr/>
            </a:pPr>
            <a:r>
              <a:rPr lang="zh-CN" altLang="en-US" sz="32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线性规划的任意形式转化为标准形式</a:t>
            </a:r>
            <a:endParaRPr lang="en-US" altLang="zh-CN" sz="3200" b="1" dirty="0">
              <a:solidFill>
                <a:srgbClr val="C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Times New Roman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747396"/>
              </p:ext>
            </p:extLst>
          </p:nvPr>
        </p:nvGraphicFramePr>
        <p:xfrm>
          <a:off x="1547664" y="2305050"/>
          <a:ext cx="3990975" cy="2647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070" name="Equation" r:id="rId3" imgW="3991087" imgH="2647860" progId="Equation.DSMT4">
                  <p:embed/>
                </p:oleObj>
              </mc:Choice>
              <mc:Fallback>
                <p:oleObj name="Equation" r:id="rId3" imgW="3991087" imgH="26478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47664" y="2305050"/>
                        <a:ext cx="3990975" cy="2647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58753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2928927" y="44624"/>
            <a:ext cx="6072230" cy="582594"/>
          </a:xfrm>
        </p:spPr>
        <p:txBody>
          <a:bodyPr/>
          <a:lstStyle/>
          <a:p>
            <a:pPr>
              <a:lnSpc>
                <a:spcPts val="5600"/>
              </a:lnSpc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第三章：线性规划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  <p:sp>
        <p:nvSpPr>
          <p:cNvPr id="14" name="Rectangle 9"/>
          <p:cNvSpPr>
            <a:spLocks noChangeArrowheads="1"/>
          </p:cNvSpPr>
          <p:nvPr/>
        </p:nvSpPr>
        <p:spPr bwMode="auto">
          <a:xfrm>
            <a:off x="3833813" y="4724400"/>
            <a:ext cx="2159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900"/>
              <a:t> </a:t>
            </a:r>
            <a:endParaRPr lang="en-US" altLang="zh-CN" sz="1800"/>
          </a:p>
        </p:txBody>
      </p:sp>
      <p:sp>
        <p:nvSpPr>
          <p:cNvPr id="2" name="矩形 1"/>
          <p:cNvSpPr/>
          <p:nvPr/>
        </p:nvSpPr>
        <p:spPr>
          <a:xfrm>
            <a:off x="754043" y="1335841"/>
            <a:ext cx="677621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spcBef>
                <a:spcPct val="0"/>
              </a:spcBef>
              <a:defRPr/>
            </a:pPr>
            <a:r>
              <a:rPr lang="zh-CN" altLang="en-US" sz="32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单纯型法以及表格型单纯型法的运用</a:t>
            </a:r>
            <a:endParaRPr lang="en-US" altLang="zh-CN" sz="3200" b="1" dirty="0">
              <a:solidFill>
                <a:srgbClr val="C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Times New Roman" pitchFamily="18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8C04B63-C41F-6649-A6D4-12BDB2DDA0CA}"/>
              </a:ext>
            </a:extLst>
          </p:cNvPr>
          <p:cNvSpPr txBox="1">
            <a:spLocks noChangeArrowheads="1"/>
          </p:cNvSpPr>
          <p:nvPr/>
        </p:nvSpPr>
        <p:spPr>
          <a:xfrm>
            <a:off x="539552" y="2266896"/>
            <a:ext cx="7200800" cy="195419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1 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确定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初始的基本可行解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buNone/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2.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判断现行的基本可行解是否最优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buNone/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3.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基本可行解的改进 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基变换</a:t>
            </a:r>
            <a:endParaRPr lang="en-US" altLang="zh-CN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buNone/>
            </a:pP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用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初等变换求改进了的基本可行解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旋转运算  </a:t>
            </a:r>
          </a:p>
          <a:p>
            <a:pPr>
              <a:buFont typeface="Wingdings" pitchFamily="2" charset="2"/>
              <a:buNone/>
            </a:pPr>
            <a:r>
              <a:rPr lang="zh-CN" altLang="en-US" sz="2800" dirty="0" smtClean="0"/>
              <a:t> 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522171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2928927" y="44624"/>
            <a:ext cx="6072230" cy="582594"/>
          </a:xfrm>
        </p:spPr>
        <p:txBody>
          <a:bodyPr/>
          <a:lstStyle/>
          <a:p>
            <a:pPr>
              <a:lnSpc>
                <a:spcPts val="5600"/>
              </a:lnSpc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第三章：线性规划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  <p:sp>
        <p:nvSpPr>
          <p:cNvPr id="14" name="Rectangle 9"/>
          <p:cNvSpPr>
            <a:spLocks noChangeArrowheads="1"/>
          </p:cNvSpPr>
          <p:nvPr/>
        </p:nvSpPr>
        <p:spPr bwMode="auto">
          <a:xfrm>
            <a:off x="3833813" y="4724400"/>
            <a:ext cx="2159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900"/>
              <a:t> </a:t>
            </a:r>
            <a:endParaRPr lang="en-US" altLang="zh-CN" sz="1800"/>
          </a:p>
        </p:txBody>
      </p:sp>
      <p:sp>
        <p:nvSpPr>
          <p:cNvPr id="2" name="矩形 1"/>
          <p:cNvSpPr/>
          <p:nvPr/>
        </p:nvSpPr>
        <p:spPr>
          <a:xfrm>
            <a:off x="754043" y="1335841"/>
            <a:ext cx="677621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spcBef>
                <a:spcPct val="0"/>
              </a:spcBef>
              <a:defRPr/>
            </a:pPr>
            <a:r>
              <a:rPr lang="zh-CN" altLang="en-US" sz="32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单纯型法以及表格型单纯型法的运用</a:t>
            </a:r>
            <a:endParaRPr lang="en-US" altLang="zh-CN" sz="3200" b="1" dirty="0">
              <a:solidFill>
                <a:srgbClr val="C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Times New Roman" pitchFamily="18" charset="0"/>
            </a:endParaRPr>
          </a:p>
        </p:txBody>
      </p:sp>
      <p:graphicFrame>
        <p:nvGraphicFramePr>
          <p:cNvPr id="7" name="Group 5">
            <a:extLst>
              <a:ext uri="{FF2B5EF4-FFF2-40B4-BE49-F238E27FC236}">
                <a16:creationId xmlns:a16="http://schemas.microsoft.com/office/drawing/2014/main" id="{79EB47DA-C1D8-7F45-9ACF-0D4F4E4DE2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4919440"/>
              </p:ext>
            </p:extLst>
          </p:nvPr>
        </p:nvGraphicFramePr>
        <p:xfrm>
          <a:off x="727904" y="2204864"/>
          <a:ext cx="7777162" cy="3711448"/>
        </p:xfrm>
        <a:graphic>
          <a:graphicData uri="http://schemas.openxmlformats.org/drawingml/2006/table">
            <a:tbl>
              <a:tblPr/>
              <a:tblGrid>
                <a:gridCol w="703262">
                  <a:extLst>
                    <a:ext uri="{9D8B030D-6E8A-4147-A177-3AD203B41FA5}">
                      <a16:colId xmlns:a16="http://schemas.microsoft.com/office/drawing/2014/main" val="3217624366"/>
                    </a:ext>
                  </a:extLst>
                </a:gridCol>
                <a:gridCol w="703263">
                  <a:extLst>
                    <a:ext uri="{9D8B030D-6E8A-4147-A177-3AD203B41FA5}">
                      <a16:colId xmlns:a16="http://schemas.microsoft.com/office/drawing/2014/main" val="3409201234"/>
                    </a:ext>
                  </a:extLst>
                </a:gridCol>
                <a:gridCol w="738187">
                  <a:extLst>
                    <a:ext uri="{9D8B030D-6E8A-4147-A177-3AD203B41FA5}">
                      <a16:colId xmlns:a16="http://schemas.microsoft.com/office/drawing/2014/main" val="2200574590"/>
                    </a:ext>
                  </a:extLst>
                </a:gridCol>
                <a:gridCol w="2344738">
                  <a:extLst>
                    <a:ext uri="{9D8B030D-6E8A-4147-A177-3AD203B41FA5}">
                      <a16:colId xmlns:a16="http://schemas.microsoft.com/office/drawing/2014/main" val="3615869080"/>
                    </a:ext>
                  </a:extLst>
                </a:gridCol>
                <a:gridCol w="2611437">
                  <a:extLst>
                    <a:ext uri="{9D8B030D-6E8A-4147-A177-3AD203B41FA5}">
                      <a16:colId xmlns:a16="http://schemas.microsoft.com/office/drawing/2014/main" val="2739645695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622297166"/>
                    </a:ext>
                  </a:extLst>
                </a:gridCol>
              </a:tblGrid>
              <a:tr h="504825">
                <a:tc grid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C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C</a:t>
                      </a:r>
                      <a:r>
                        <a:rPr kumimoji="1" lang="en-US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C</a:t>
                      </a:r>
                      <a:r>
                        <a:rPr kumimoji="1" lang="en-US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N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θ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0796112"/>
                  </a:ext>
                </a:extLst>
              </a:tr>
              <a:tr h="5365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C</a:t>
                      </a:r>
                      <a:r>
                        <a:rPr kumimoji="1" lang="en-US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B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X</a:t>
                      </a:r>
                      <a:r>
                        <a:rPr kumimoji="1" lang="en-US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B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b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x</a:t>
                      </a:r>
                      <a:r>
                        <a:rPr kumimoji="1" lang="en-US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   x</a:t>
                      </a:r>
                      <a:r>
                        <a:rPr kumimoji="1" lang="en-US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2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   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···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  x</a:t>
                      </a:r>
                      <a:r>
                        <a:rPr kumimoji="1" lang="en-US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m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x</a:t>
                      </a:r>
                      <a:r>
                        <a:rPr kumimoji="1" lang="en-US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 m+1 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 x</a:t>
                      </a:r>
                      <a:r>
                        <a:rPr kumimoji="1" lang="en-US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m+2  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···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  x</a:t>
                      </a:r>
                      <a:r>
                        <a:rPr kumimoji="1" lang="en-US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n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4056157"/>
                  </a:ext>
                </a:extLst>
              </a:tr>
              <a:tr h="9350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c</a:t>
                      </a:r>
                      <a:r>
                        <a:rPr kumimoji="1" lang="en-US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c</a:t>
                      </a:r>
                      <a:r>
                        <a:rPr kumimoji="1" lang="en-US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2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.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.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c</a:t>
                      </a:r>
                      <a:r>
                        <a:rPr kumimoji="1" lang="en-US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m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x</a:t>
                      </a:r>
                      <a:r>
                        <a:rPr kumimoji="1" lang="en-US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x</a:t>
                      </a:r>
                      <a:r>
                        <a:rPr kumimoji="1" lang="en-US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2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 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.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x</a:t>
                      </a:r>
                      <a:r>
                        <a:rPr kumimoji="1" lang="en-US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m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b</a:t>
                      </a:r>
                      <a:r>
                        <a:rPr kumimoji="1" lang="en-US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b</a:t>
                      </a:r>
                      <a:r>
                        <a:rPr kumimoji="1" lang="en-US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2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.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.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b</a:t>
                      </a:r>
                      <a:r>
                        <a:rPr kumimoji="1" lang="en-US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m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4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</a:t>
                      </a:r>
                      <a:r>
                        <a:rPr kumimoji="1" lang="en-US" altLang="zh-CN" sz="4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4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N</a:t>
                      </a:r>
                      <a:r>
                        <a:rPr kumimoji="1" lang="en-US" altLang="zh-CN" sz="4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θ</a:t>
                      </a:r>
                      <a:r>
                        <a:rPr kumimoji="1" lang="en-US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θ</a:t>
                      </a:r>
                      <a:r>
                        <a:rPr kumimoji="1" lang="en-US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2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.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.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θ</a:t>
                      </a:r>
                      <a:r>
                        <a:rPr kumimoji="1" lang="en-US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m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1846768"/>
                  </a:ext>
                </a:extLst>
              </a:tr>
              <a:tr h="442913">
                <a:tc gridSpan="2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Z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C</a:t>
                      </a:r>
                      <a:r>
                        <a:rPr kumimoji="1" lang="en-US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B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b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0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C</a:t>
                      </a:r>
                      <a:r>
                        <a:rPr kumimoji="1" lang="en-US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N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 C</a:t>
                      </a:r>
                      <a:r>
                        <a:rPr kumimoji="1" lang="en-US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B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N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NL" altLang="en-NL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51173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7372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2928927" y="44624"/>
            <a:ext cx="6072230" cy="582594"/>
          </a:xfrm>
        </p:spPr>
        <p:txBody>
          <a:bodyPr/>
          <a:lstStyle/>
          <a:p>
            <a:pPr>
              <a:lnSpc>
                <a:spcPts val="5600"/>
              </a:lnSpc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第三章：线性规划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  <p:sp>
        <p:nvSpPr>
          <p:cNvPr id="14" name="Rectangle 9"/>
          <p:cNvSpPr>
            <a:spLocks noChangeArrowheads="1"/>
          </p:cNvSpPr>
          <p:nvPr/>
        </p:nvSpPr>
        <p:spPr bwMode="auto">
          <a:xfrm>
            <a:off x="3833813" y="4724400"/>
            <a:ext cx="2159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900"/>
              <a:t> </a:t>
            </a:r>
            <a:endParaRPr lang="en-US" altLang="zh-CN" sz="1800"/>
          </a:p>
        </p:txBody>
      </p:sp>
      <p:sp>
        <p:nvSpPr>
          <p:cNvPr id="2" name="矩形 1"/>
          <p:cNvSpPr/>
          <p:nvPr/>
        </p:nvSpPr>
        <p:spPr>
          <a:xfrm>
            <a:off x="755576" y="828001"/>
            <a:ext cx="265649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spcBef>
                <a:spcPct val="0"/>
              </a:spcBef>
              <a:defRPr/>
            </a:pPr>
            <a:r>
              <a:rPr lang="zh-CN" altLang="en-US" sz="32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线性对偶问题</a:t>
            </a:r>
            <a:endParaRPr lang="en-US" altLang="zh-CN" sz="3200" b="1" dirty="0">
              <a:solidFill>
                <a:srgbClr val="C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Times New Roman" pitchFamily="18" charset="0"/>
            </a:endParaRPr>
          </a:p>
        </p:txBody>
      </p:sp>
      <p:graphicFrame>
        <p:nvGraphicFramePr>
          <p:cNvPr id="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8900200"/>
              </p:ext>
            </p:extLst>
          </p:nvPr>
        </p:nvGraphicFramePr>
        <p:xfrm>
          <a:off x="477838" y="2100181"/>
          <a:ext cx="3449637" cy="217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098" name="Equation" r:id="rId3" imgW="2298600" imgH="1447560" progId="Equation.DSMT4">
                  <p:embed/>
                </p:oleObj>
              </mc:Choice>
              <mc:Fallback>
                <p:oleObj name="Equation" r:id="rId3" imgW="2298600" imgH="1447560" progId="Equation.DSMT4">
                  <p:embed/>
                  <p:pic>
                    <p:nvPicPr>
                      <p:cNvPr id="1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838" y="2100181"/>
                        <a:ext cx="3449637" cy="2171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428596" y="1412776"/>
            <a:ext cx="7696200" cy="42068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zh-CN" altLang="en-US" sz="2400" b="1" dirty="0">
                <a:latin typeface="楷体_GB2312" pitchFamily="49" charset="-122"/>
                <a:ea typeface="楷体_GB2312" pitchFamily="49" charset="-122"/>
              </a:rPr>
              <a:t>定义 设原线性规划问题为     则称下列线性规划问题</a:t>
            </a:r>
          </a:p>
        </p:txBody>
      </p:sp>
      <p:graphicFrame>
        <p:nvGraphicFramePr>
          <p:cNvPr id="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7523128"/>
              </p:ext>
            </p:extLst>
          </p:nvPr>
        </p:nvGraphicFramePr>
        <p:xfrm>
          <a:off x="4589463" y="2168443"/>
          <a:ext cx="3582987" cy="217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099" name="Equation" r:id="rId5" imgW="2387520" imgH="1447560" progId="Equation.DSMT4">
                  <p:embed/>
                </p:oleObj>
              </mc:Choice>
              <mc:Fallback>
                <p:oleObj name="Equation" r:id="rId5" imgW="2387520" imgH="1447560" progId="Equation.DSMT4">
                  <p:embed/>
                  <p:pic>
                    <p:nvPicPr>
                      <p:cNvPr id="1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9463" y="2168443"/>
                        <a:ext cx="3582987" cy="2171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1000100" y="4484610"/>
            <a:ext cx="6934200" cy="480131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zh-CN" altLang="en-US" sz="2800" dirty="0">
                <a:latin typeface="Times New Roman" pitchFamily="18" charset="0"/>
                <a:ea typeface="楷体_GB2312" pitchFamily="49" charset="-122"/>
              </a:rPr>
              <a:t>上述对偶问题称为</a:t>
            </a:r>
            <a:r>
              <a:rPr kumimoji="1" lang="zh-CN" altLang="en-US" sz="2800" i="1" u="sng" dirty="0">
                <a:solidFill>
                  <a:srgbClr val="EF2F09"/>
                </a:solidFill>
                <a:latin typeface="Times New Roman" pitchFamily="18" charset="0"/>
                <a:ea typeface="楷体_GB2312" pitchFamily="49" charset="-122"/>
              </a:rPr>
              <a:t>对称型对偶问题</a:t>
            </a:r>
            <a:r>
              <a:rPr kumimoji="1" lang="zh-CN" altLang="en-US" sz="2800" dirty="0">
                <a:latin typeface="Times New Roman" pitchFamily="18" charset="0"/>
                <a:ea typeface="楷体_GB2312" pitchFamily="49" charset="-122"/>
              </a:rPr>
              <a:t>。</a:t>
            </a:r>
          </a:p>
        </p:txBody>
      </p:sp>
      <p:sp>
        <p:nvSpPr>
          <p:cNvPr id="11" name="Text Box 8"/>
          <p:cNvSpPr txBox="1">
            <a:spLocks noChangeArrowheads="1"/>
          </p:cNvSpPr>
          <p:nvPr/>
        </p:nvSpPr>
        <p:spPr bwMode="auto">
          <a:xfrm>
            <a:off x="1104872" y="5532339"/>
            <a:ext cx="6610400" cy="480131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zh-CN" altLang="en-US" sz="2800" dirty="0">
                <a:latin typeface="Times New Roman" pitchFamily="18" charset="0"/>
                <a:ea typeface="楷体_GB2312" pitchFamily="49" charset="-122"/>
              </a:rPr>
              <a:t>原问题简记为</a:t>
            </a:r>
            <a:r>
              <a:rPr kumimoji="1" lang="en-US" altLang="zh-CN" sz="2800" dirty="0">
                <a:latin typeface="Times New Roman" pitchFamily="18" charset="0"/>
                <a:ea typeface="楷体_GB2312" pitchFamily="49" charset="-122"/>
              </a:rPr>
              <a:t>(P)</a:t>
            </a:r>
            <a:r>
              <a:rPr kumimoji="1" lang="zh-CN" altLang="en-US" sz="2800" dirty="0">
                <a:latin typeface="Times New Roman" pitchFamily="18" charset="0"/>
                <a:ea typeface="楷体_GB2312" pitchFamily="49" charset="-122"/>
              </a:rPr>
              <a:t>，对偶问题简记为</a:t>
            </a:r>
            <a:r>
              <a:rPr kumimoji="1" lang="en-US" altLang="zh-CN" sz="2800" dirty="0">
                <a:latin typeface="Times New Roman" pitchFamily="18" charset="0"/>
                <a:ea typeface="楷体_GB2312" pitchFamily="49" charset="-122"/>
              </a:rPr>
              <a:t>(D)</a:t>
            </a:r>
          </a:p>
        </p:txBody>
      </p:sp>
    </p:spTree>
    <p:extLst>
      <p:ext uri="{BB962C8B-B14F-4D97-AF65-F5344CB8AC3E}">
        <p14:creationId xmlns:p14="http://schemas.microsoft.com/office/powerpoint/2010/main" val="3045237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第三章：线性规划</a:t>
            </a:r>
            <a:endParaRPr lang="en-US" altLang="zh-CN" dirty="0">
              <a:latin typeface="华文中宋" pitchFamily="2" charset="-122"/>
              <a:ea typeface="华文中宋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Line 4">
            <a:extLst>
              <a:ext uri="{FF2B5EF4-FFF2-40B4-BE49-F238E27FC236}">
                <a16:creationId xmlns:a16="http://schemas.microsoft.com/office/drawing/2014/main" id="{8CFFD889-0ABA-7241-9F38-BC8FA7A19CFF}"/>
              </a:ext>
            </a:extLst>
          </p:cNvPr>
          <p:cNvSpPr>
            <a:spLocks noChangeShapeType="1"/>
          </p:cNvSpPr>
          <p:nvPr/>
        </p:nvSpPr>
        <p:spPr bwMode="auto">
          <a:xfrm>
            <a:off x="466757" y="1312843"/>
            <a:ext cx="8534400" cy="0"/>
          </a:xfrm>
          <a:prstGeom prst="line">
            <a:avLst/>
          </a:prstGeom>
          <a:noFill/>
          <a:ln w="57150" cmpd="thickThin">
            <a:solidFill>
              <a:srgbClr val="66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x-none"/>
          </a:p>
        </p:txBody>
      </p: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1430660" y="787441"/>
            <a:ext cx="5562600" cy="5254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EF2F09"/>
                </a:solidFill>
                <a:latin typeface="Times New Roman" pitchFamily="18" charset="0"/>
                <a:ea typeface="楷体_GB2312" pitchFamily="49" charset="-122"/>
              </a:rPr>
              <a:t>对偶关系对应表</a:t>
            </a: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1066800" y="1314431"/>
            <a:ext cx="7086600" cy="44957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zh-CN" altLang="en-US" sz="2000" dirty="0" smtClean="0">
                <a:latin typeface="Times New Roman" pitchFamily="18" charset="0"/>
                <a:ea typeface="楷体_GB2312" pitchFamily="49" charset="-122"/>
              </a:rPr>
              <a:t>原问题（对偶问题）              对偶问题（原问题）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kumimoji="1" lang="en-US" altLang="zh-CN" sz="2000" dirty="0">
                <a:latin typeface="Times New Roman" pitchFamily="18" charset="0"/>
                <a:ea typeface="楷体_GB2312" pitchFamily="49" charset="-122"/>
              </a:rPr>
              <a:t>m</a:t>
            </a:r>
            <a:r>
              <a:rPr kumimoji="1" lang="en-US" altLang="zh-CN" sz="2000" dirty="0" smtClean="0">
                <a:latin typeface="Times New Roman" pitchFamily="18" charset="0"/>
                <a:ea typeface="楷体_GB2312" pitchFamily="49" charset="-122"/>
              </a:rPr>
              <a:t>in                                            max</a:t>
            </a:r>
            <a:endParaRPr kumimoji="1" lang="en-US" altLang="zh-CN" sz="2000" dirty="0"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2000" dirty="0" smtClean="0">
                <a:latin typeface="Times New Roman" pitchFamily="18" charset="0"/>
                <a:ea typeface="楷体_GB2312" pitchFamily="49" charset="-122"/>
              </a:rPr>
              <a:t>目标函数</a:t>
            </a:r>
            <a:r>
              <a:rPr kumimoji="1" lang="zh-CN" altLang="en-US" sz="2000" dirty="0">
                <a:latin typeface="Times New Roman" pitchFamily="18" charset="0"/>
                <a:ea typeface="楷体_GB2312" pitchFamily="49" charset="-122"/>
              </a:rPr>
              <a:t>系数            </a:t>
            </a:r>
            <a:r>
              <a:rPr kumimoji="1" lang="zh-CN" altLang="en-US" sz="2000" dirty="0" smtClean="0">
                <a:latin typeface="Times New Roman" pitchFamily="18" charset="0"/>
                <a:ea typeface="楷体_GB2312" pitchFamily="49" charset="-122"/>
              </a:rPr>
              <a:t>              右边常数</a:t>
            </a:r>
            <a:endParaRPr kumimoji="1" lang="en-US" altLang="zh-CN" sz="2000" dirty="0" smtClean="0"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2000" dirty="0">
                <a:latin typeface="Times New Roman" pitchFamily="18" charset="0"/>
                <a:ea typeface="楷体_GB2312" pitchFamily="49" charset="-122"/>
              </a:rPr>
              <a:t>右边</a:t>
            </a:r>
            <a:r>
              <a:rPr kumimoji="1" lang="zh-CN" altLang="en-US" sz="2000" dirty="0" smtClean="0">
                <a:latin typeface="Times New Roman" pitchFamily="18" charset="0"/>
                <a:ea typeface="楷体_GB2312" pitchFamily="49" charset="-122"/>
              </a:rPr>
              <a:t>常数</a:t>
            </a:r>
            <a:r>
              <a:rPr kumimoji="1" lang="en-US" altLang="zh-CN" sz="2000" dirty="0" smtClean="0">
                <a:latin typeface="Times New Roman" pitchFamily="18" charset="0"/>
                <a:ea typeface="楷体_GB2312" pitchFamily="49" charset="-122"/>
              </a:rPr>
              <a:t>                                  </a:t>
            </a:r>
            <a:r>
              <a:rPr kumimoji="1" lang="zh-CN" altLang="en-US" sz="2000" dirty="0" smtClean="0">
                <a:latin typeface="Times New Roman" pitchFamily="18" charset="0"/>
                <a:ea typeface="楷体_GB2312" pitchFamily="49" charset="-122"/>
              </a:rPr>
              <a:t>目标函数</a:t>
            </a:r>
            <a:r>
              <a:rPr kumimoji="1" lang="zh-CN" altLang="en-US" sz="2000" dirty="0">
                <a:latin typeface="Times New Roman" pitchFamily="18" charset="0"/>
                <a:ea typeface="楷体_GB2312" pitchFamily="49" charset="-122"/>
              </a:rPr>
              <a:t>系数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kumimoji="1" lang="zh-CN" altLang="en-US" sz="2000" dirty="0" smtClean="0">
                <a:latin typeface="Times New Roman" pitchFamily="18" charset="0"/>
                <a:ea typeface="楷体_GB2312" pitchFamily="49" charset="-122"/>
              </a:rPr>
              <a:t>约束条件系数矩阵                  系数矩阵的转置</a:t>
            </a:r>
            <a:endParaRPr kumimoji="1" lang="en-US" altLang="zh-CN" sz="2000" dirty="0" smtClean="0"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kumimoji="1" lang="zh-CN" altLang="en-US" sz="2000" dirty="0" smtClean="0">
                <a:latin typeface="Times New Roman" pitchFamily="18" charset="0"/>
                <a:ea typeface="楷体_GB2312" pitchFamily="49" charset="-122"/>
              </a:rPr>
              <a:t>第</a:t>
            </a:r>
            <a:r>
              <a:rPr kumimoji="1" lang="en-US" altLang="zh-CN" sz="2000" i="1" dirty="0" err="1" smtClean="0">
                <a:latin typeface="Times New Roman" pitchFamily="18" charset="0"/>
                <a:ea typeface="楷体_GB2312" pitchFamily="49" charset="-122"/>
              </a:rPr>
              <a:t>i</a:t>
            </a:r>
            <a:r>
              <a:rPr kumimoji="1" lang="zh-CN" altLang="en-US" sz="2000" dirty="0" smtClean="0">
                <a:latin typeface="Times New Roman" pitchFamily="18" charset="0"/>
                <a:ea typeface="楷体_GB2312" pitchFamily="49" charset="-122"/>
              </a:rPr>
              <a:t>个约束条件为“</a:t>
            </a:r>
            <a:r>
              <a:rPr kumimoji="1" lang="en-US" altLang="zh-CN" sz="2000" i="1" dirty="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</a:t>
            </a:r>
            <a:r>
              <a:rPr kumimoji="1" lang="zh-CN" altLang="en-US" sz="2000" dirty="0" smtClean="0">
                <a:latin typeface="Times New Roman" pitchFamily="18" charset="0"/>
                <a:ea typeface="楷体_GB2312" pitchFamily="49" charset="-122"/>
              </a:rPr>
              <a:t>”型       第</a:t>
            </a:r>
            <a:r>
              <a:rPr kumimoji="1" lang="en-US" altLang="zh-CN" sz="2000" i="1" dirty="0" err="1" smtClean="0">
                <a:latin typeface="Times New Roman" pitchFamily="18" charset="0"/>
                <a:ea typeface="楷体_GB2312" pitchFamily="49" charset="-122"/>
              </a:rPr>
              <a:t>i</a:t>
            </a:r>
            <a:r>
              <a:rPr kumimoji="1" lang="zh-CN" altLang="en-US" sz="2000" dirty="0" smtClean="0">
                <a:latin typeface="Times New Roman" pitchFamily="18" charset="0"/>
                <a:ea typeface="楷体_GB2312" pitchFamily="49" charset="-122"/>
              </a:rPr>
              <a:t>个变量</a:t>
            </a:r>
            <a:r>
              <a:rPr kumimoji="1" lang="zh-CN" altLang="en-US" sz="2000" i="1" dirty="0" smtClean="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</a:t>
            </a:r>
            <a:r>
              <a:rPr kumimoji="1" lang="zh-CN" altLang="en-US" sz="2000" i="1" baseline="-25000" dirty="0" smtClean="0"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000" i="1" dirty="0">
                <a:latin typeface="Times New Roman" pitchFamily="18" charset="0"/>
                <a:ea typeface="楷体_GB2312" pitchFamily="49" charset="-122"/>
              </a:rPr>
              <a:t>0                          </a:t>
            </a:r>
            <a:endParaRPr kumimoji="1" lang="en-US" altLang="zh-CN" sz="2000" dirty="0"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kumimoji="1" lang="zh-CN" altLang="en-US" sz="2000" dirty="0" smtClean="0">
                <a:latin typeface="Times New Roman" pitchFamily="18" charset="0"/>
                <a:ea typeface="楷体_GB2312" pitchFamily="49" charset="-122"/>
              </a:rPr>
              <a:t>第</a:t>
            </a:r>
            <a:r>
              <a:rPr kumimoji="1" lang="en-US" altLang="zh-CN" sz="2000" i="1" dirty="0" err="1">
                <a:latin typeface="Times New Roman" pitchFamily="18" charset="0"/>
                <a:ea typeface="楷体_GB2312" pitchFamily="49" charset="-122"/>
              </a:rPr>
              <a:t>i</a:t>
            </a:r>
            <a:r>
              <a:rPr kumimoji="1" lang="zh-CN" altLang="en-US" sz="2000" dirty="0">
                <a:latin typeface="Times New Roman" pitchFamily="18" charset="0"/>
                <a:ea typeface="楷体_GB2312" pitchFamily="49" charset="-122"/>
              </a:rPr>
              <a:t>个约束条件为</a:t>
            </a:r>
            <a:r>
              <a:rPr kumimoji="1" lang="zh-CN" altLang="en-US" sz="2000" dirty="0" smtClean="0">
                <a:latin typeface="Times New Roman" pitchFamily="18" charset="0"/>
                <a:ea typeface="楷体_GB2312" pitchFamily="49" charset="-122"/>
              </a:rPr>
              <a:t>“</a:t>
            </a:r>
            <a:r>
              <a:rPr kumimoji="1" lang="en-US" altLang="zh-CN" sz="2000" i="1" dirty="0" smtClean="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=</a:t>
            </a:r>
            <a:r>
              <a:rPr kumimoji="1" lang="zh-CN" altLang="en-US" sz="2000" dirty="0" smtClean="0">
                <a:latin typeface="Times New Roman" pitchFamily="18" charset="0"/>
                <a:ea typeface="楷体_GB2312" pitchFamily="49" charset="-122"/>
              </a:rPr>
              <a:t>”型       第</a:t>
            </a:r>
            <a:r>
              <a:rPr kumimoji="1" lang="en-US" altLang="zh-CN" sz="2000" i="1" dirty="0" err="1">
                <a:latin typeface="Times New Roman" pitchFamily="18" charset="0"/>
                <a:ea typeface="楷体_GB2312" pitchFamily="49" charset="-122"/>
              </a:rPr>
              <a:t>i</a:t>
            </a:r>
            <a:r>
              <a:rPr kumimoji="1" lang="zh-CN" altLang="en-US" sz="2000" dirty="0">
                <a:latin typeface="Times New Roman" pitchFamily="18" charset="0"/>
                <a:ea typeface="楷体_GB2312" pitchFamily="49" charset="-122"/>
              </a:rPr>
              <a:t>个</a:t>
            </a:r>
            <a:r>
              <a:rPr kumimoji="1" lang="zh-CN" altLang="en-US" sz="2000" dirty="0" smtClean="0">
                <a:latin typeface="Times New Roman" pitchFamily="18" charset="0"/>
                <a:ea typeface="楷体_GB2312" pitchFamily="49" charset="-122"/>
              </a:rPr>
              <a:t>变量</a:t>
            </a:r>
            <a:r>
              <a:rPr kumimoji="1" lang="zh-CN" altLang="en-US" sz="2000" dirty="0" smtClean="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无限制</a:t>
            </a:r>
            <a:endParaRPr kumimoji="1" lang="en-US" altLang="zh-CN" sz="2000" dirty="0"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kumimoji="1" lang="zh-CN" altLang="en-US" sz="2000" dirty="0" smtClean="0">
                <a:latin typeface="Times New Roman" pitchFamily="18" charset="0"/>
                <a:ea typeface="楷体_GB2312" pitchFamily="49" charset="-122"/>
              </a:rPr>
              <a:t>第</a:t>
            </a:r>
            <a:r>
              <a:rPr kumimoji="1" lang="en-US" altLang="zh-CN" sz="2000" i="1" dirty="0" err="1">
                <a:latin typeface="Times New Roman" pitchFamily="18" charset="0"/>
                <a:ea typeface="楷体_GB2312" pitchFamily="49" charset="-122"/>
              </a:rPr>
              <a:t>i</a:t>
            </a:r>
            <a:r>
              <a:rPr kumimoji="1" lang="zh-CN" altLang="en-US" sz="2000" dirty="0">
                <a:latin typeface="Times New Roman" pitchFamily="18" charset="0"/>
                <a:ea typeface="楷体_GB2312" pitchFamily="49" charset="-122"/>
              </a:rPr>
              <a:t>个约束条件为</a:t>
            </a:r>
            <a:r>
              <a:rPr kumimoji="1" lang="zh-CN" altLang="en-US" sz="2000" dirty="0" smtClean="0">
                <a:latin typeface="Times New Roman" pitchFamily="18" charset="0"/>
                <a:ea typeface="楷体_GB2312" pitchFamily="49" charset="-122"/>
              </a:rPr>
              <a:t>“</a:t>
            </a:r>
            <a:r>
              <a:rPr kumimoji="1" lang="zh-CN" altLang="en-US" sz="2000" i="1" dirty="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</a:t>
            </a:r>
            <a:r>
              <a:rPr kumimoji="1" lang="zh-CN" altLang="en-US" sz="2000" i="1" baseline="-25000" dirty="0"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000" dirty="0" smtClean="0">
                <a:latin typeface="Times New Roman" pitchFamily="18" charset="0"/>
                <a:ea typeface="楷体_GB2312" pitchFamily="49" charset="-122"/>
              </a:rPr>
              <a:t>”型       第</a:t>
            </a:r>
            <a:r>
              <a:rPr kumimoji="1" lang="en-US" altLang="zh-CN" sz="2000" i="1" dirty="0" err="1">
                <a:latin typeface="Times New Roman" pitchFamily="18" charset="0"/>
                <a:ea typeface="楷体_GB2312" pitchFamily="49" charset="-122"/>
              </a:rPr>
              <a:t>i</a:t>
            </a:r>
            <a:r>
              <a:rPr kumimoji="1" lang="zh-CN" altLang="en-US" sz="2000" dirty="0">
                <a:latin typeface="Times New Roman" pitchFamily="18" charset="0"/>
                <a:ea typeface="楷体_GB2312" pitchFamily="49" charset="-122"/>
              </a:rPr>
              <a:t>个</a:t>
            </a:r>
            <a:r>
              <a:rPr kumimoji="1" lang="zh-CN" altLang="en-US" sz="2000" dirty="0" smtClean="0">
                <a:latin typeface="Times New Roman" pitchFamily="18" charset="0"/>
                <a:ea typeface="楷体_GB2312" pitchFamily="49" charset="-122"/>
              </a:rPr>
              <a:t>变量</a:t>
            </a:r>
            <a:r>
              <a:rPr kumimoji="1" lang="zh-CN" altLang="en-US" sz="2000" i="1" dirty="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</a:t>
            </a:r>
            <a:r>
              <a:rPr kumimoji="1" lang="zh-CN" altLang="en-US" sz="2000" i="1" baseline="-25000" dirty="0" smtClean="0"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000" i="1" dirty="0">
                <a:latin typeface="Times New Roman" pitchFamily="18" charset="0"/>
                <a:ea typeface="楷体_GB2312" pitchFamily="49" charset="-122"/>
              </a:rPr>
              <a:t>0                          </a:t>
            </a:r>
            <a:endParaRPr kumimoji="1" lang="en-US" altLang="zh-CN" sz="2000" dirty="0"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kumimoji="1" lang="zh-CN" altLang="en-US" sz="2000" dirty="0" smtClean="0">
                <a:latin typeface="Times New Roman" pitchFamily="18" charset="0"/>
                <a:ea typeface="楷体_GB2312" pitchFamily="49" charset="-122"/>
              </a:rPr>
              <a:t>第</a:t>
            </a:r>
            <a:r>
              <a:rPr kumimoji="1" lang="en-US" altLang="zh-CN" sz="2000" i="1" dirty="0" err="1" smtClean="0">
                <a:latin typeface="Times New Roman" pitchFamily="18" charset="0"/>
                <a:ea typeface="楷体_GB2312" pitchFamily="49" charset="-122"/>
              </a:rPr>
              <a:t>j</a:t>
            </a:r>
            <a:r>
              <a:rPr kumimoji="1" lang="zh-CN" altLang="en-US" sz="2000" dirty="0" smtClean="0">
                <a:latin typeface="Times New Roman" pitchFamily="18" charset="0"/>
                <a:ea typeface="楷体_GB2312" pitchFamily="49" charset="-122"/>
              </a:rPr>
              <a:t>个</a:t>
            </a:r>
            <a:r>
              <a:rPr kumimoji="1" lang="zh-CN" altLang="en-US" sz="2000" dirty="0">
                <a:latin typeface="Times New Roman" pitchFamily="18" charset="0"/>
                <a:ea typeface="楷体_GB2312" pitchFamily="49" charset="-122"/>
              </a:rPr>
              <a:t>变量</a:t>
            </a:r>
            <a:r>
              <a:rPr kumimoji="1" lang="zh-CN" altLang="en-US" sz="2000" i="1" dirty="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</a:t>
            </a:r>
            <a:r>
              <a:rPr kumimoji="1" lang="zh-CN" altLang="en-US" sz="2000" i="1" baseline="-25000" dirty="0"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000" i="1" dirty="0" smtClean="0">
                <a:latin typeface="Times New Roman" pitchFamily="18" charset="0"/>
                <a:ea typeface="楷体_GB2312" pitchFamily="49" charset="-122"/>
              </a:rPr>
              <a:t>0                             </a:t>
            </a:r>
            <a:r>
              <a:rPr kumimoji="1" lang="zh-CN" altLang="en-US" sz="2000" dirty="0" smtClean="0">
                <a:latin typeface="Times New Roman" pitchFamily="18" charset="0"/>
                <a:ea typeface="楷体_GB2312" pitchFamily="49" charset="-122"/>
              </a:rPr>
              <a:t>第</a:t>
            </a:r>
            <a:r>
              <a:rPr kumimoji="1" lang="en-US" altLang="zh-CN" sz="2000" i="1" dirty="0" err="1" smtClean="0">
                <a:latin typeface="Times New Roman" pitchFamily="18" charset="0"/>
                <a:ea typeface="楷体_GB2312" pitchFamily="49" charset="-122"/>
              </a:rPr>
              <a:t>j</a:t>
            </a:r>
            <a:r>
              <a:rPr kumimoji="1" lang="zh-CN" altLang="en-US" sz="2000" dirty="0" smtClean="0">
                <a:latin typeface="Times New Roman" pitchFamily="18" charset="0"/>
                <a:ea typeface="楷体_GB2312" pitchFamily="49" charset="-122"/>
              </a:rPr>
              <a:t>个</a:t>
            </a:r>
            <a:r>
              <a:rPr kumimoji="1" lang="zh-CN" altLang="en-US" sz="2000" dirty="0">
                <a:latin typeface="Times New Roman" pitchFamily="18" charset="0"/>
                <a:ea typeface="楷体_GB2312" pitchFamily="49" charset="-122"/>
              </a:rPr>
              <a:t>约束条件为</a:t>
            </a:r>
            <a:r>
              <a:rPr kumimoji="1" lang="zh-CN" altLang="en-US" sz="2000" dirty="0" smtClean="0">
                <a:latin typeface="Times New Roman" pitchFamily="18" charset="0"/>
                <a:ea typeface="楷体_GB2312" pitchFamily="49" charset="-122"/>
              </a:rPr>
              <a:t>“</a:t>
            </a:r>
            <a:r>
              <a:rPr kumimoji="1" lang="zh-CN" altLang="en-US" sz="2000" i="1" dirty="0" smtClean="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</a:t>
            </a:r>
            <a:r>
              <a:rPr kumimoji="1" lang="zh-CN" altLang="en-US" sz="2000" i="1" baseline="-25000" dirty="0" smtClean="0"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000" dirty="0" smtClean="0">
                <a:latin typeface="Times New Roman" pitchFamily="18" charset="0"/>
                <a:ea typeface="楷体_GB2312" pitchFamily="49" charset="-122"/>
              </a:rPr>
              <a:t>”型</a:t>
            </a:r>
            <a:endParaRPr kumimoji="1" lang="en-US" altLang="zh-CN" sz="2000" dirty="0" smtClean="0"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kumimoji="1" lang="zh-CN" altLang="en-US" sz="2000" dirty="0" smtClean="0">
                <a:latin typeface="Times New Roman" pitchFamily="18" charset="0"/>
                <a:ea typeface="楷体_GB2312" pitchFamily="49" charset="-122"/>
              </a:rPr>
              <a:t>第</a:t>
            </a:r>
            <a:r>
              <a:rPr kumimoji="1" lang="en-US" altLang="zh-CN" sz="2000" i="1" dirty="0" err="1" smtClean="0">
                <a:latin typeface="Times New Roman" pitchFamily="18" charset="0"/>
                <a:ea typeface="楷体_GB2312" pitchFamily="49" charset="-122"/>
              </a:rPr>
              <a:t>j</a:t>
            </a:r>
            <a:r>
              <a:rPr kumimoji="1" lang="zh-CN" altLang="en-US" sz="2000" dirty="0" smtClean="0">
                <a:latin typeface="Times New Roman" pitchFamily="18" charset="0"/>
                <a:ea typeface="楷体_GB2312" pitchFamily="49" charset="-122"/>
              </a:rPr>
              <a:t>个</a:t>
            </a:r>
            <a:r>
              <a:rPr kumimoji="1" lang="zh-CN" altLang="en-US" sz="2000" dirty="0">
                <a:latin typeface="Times New Roman" pitchFamily="18" charset="0"/>
                <a:ea typeface="楷体_GB2312" pitchFamily="49" charset="-122"/>
              </a:rPr>
              <a:t>变量</a:t>
            </a:r>
            <a:r>
              <a:rPr kumimoji="1" lang="zh-CN" altLang="en-US" sz="2000" dirty="0" smtClean="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无限制                      </a:t>
            </a:r>
            <a:r>
              <a:rPr kumimoji="1" lang="zh-CN" altLang="en-US" sz="2000" dirty="0" smtClean="0">
                <a:latin typeface="Times New Roman" pitchFamily="18" charset="0"/>
                <a:ea typeface="楷体_GB2312" pitchFamily="49" charset="-122"/>
              </a:rPr>
              <a:t>第</a:t>
            </a:r>
            <a:r>
              <a:rPr kumimoji="1" lang="en-US" altLang="zh-CN" sz="2000" i="1" dirty="0" err="1" smtClean="0">
                <a:latin typeface="Times New Roman" pitchFamily="18" charset="0"/>
                <a:ea typeface="楷体_GB2312" pitchFamily="49" charset="-122"/>
              </a:rPr>
              <a:t>j</a:t>
            </a:r>
            <a:r>
              <a:rPr kumimoji="1" lang="zh-CN" altLang="en-US" sz="2000" dirty="0" smtClean="0">
                <a:latin typeface="Times New Roman" pitchFamily="18" charset="0"/>
                <a:ea typeface="楷体_GB2312" pitchFamily="49" charset="-122"/>
              </a:rPr>
              <a:t>个</a:t>
            </a:r>
            <a:r>
              <a:rPr kumimoji="1" lang="zh-CN" altLang="en-US" sz="2000" dirty="0">
                <a:latin typeface="Times New Roman" pitchFamily="18" charset="0"/>
                <a:ea typeface="楷体_GB2312" pitchFamily="49" charset="-122"/>
              </a:rPr>
              <a:t>约束条件为“</a:t>
            </a:r>
            <a:r>
              <a:rPr kumimoji="1" lang="en-US" altLang="zh-CN" sz="2000" i="1" dirty="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=</a:t>
            </a:r>
            <a:r>
              <a:rPr kumimoji="1" lang="zh-CN" altLang="en-US" sz="2000" dirty="0">
                <a:latin typeface="Times New Roman" pitchFamily="18" charset="0"/>
                <a:ea typeface="楷体_GB2312" pitchFamily="49" charset="-122"/>
              </a:rPr>
              <a:t>”型</a:t>
            </a:r>
            <a:endParaRPr kumimoji="1" lang="en-US" altLang="zh-CN" sz="2000" dirty="0"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kumimoji="1" lang="zh-CN" altLang="en-US" sz="2000" dirty="0" smtClean="0">
                <a:latin typeface="Times New Roman" pitchFamily="18" charset="0"/>
                <a:ea typeface="楷体_GB2312" pitchFamily="49" charset="-122"/>
              </a:rPr>
              <a:t>第</a:t>
            </a:r>
            <a:r>
              <a:rPr kumimoji="1" lang="en-US" altLang="zh-CN" sz="2000" i="1" dirty="0" err="1" smtClean="0">
                <a:latin typeface="Times New Roman" pitchFamily="18" charset="0"/>
                <a:ea typeface="楷体_GB2312" pitchFamily="49" charset="-122"/>
              </a:rPr>
              <a:t>j</a:t>
            </a:r>
            <a:r>
              <a:rPr kumimoji="1" lang="zh-CN" altLang="en-US" sz="2000" dirty="0" smtClean="0">
                <a:latin typeface="Times New Roman" pitchFamily="18" charset="0"/>
                <a:ea typeface="楷体_GB2312" pitchFamily="49" charset="-122"/>
              </a:rPr>
              <a:t>个</a:t>
            </a:r>
            <a:r>
              <a:rPr kumimoji="1" lang="zh-CN" altLang="en-US" sz="2000" dirty="0">
                <a:latin typeface="Times New Roman" pitchFamily="18" charset="0"/>
                <a:ea typeface="楷体_GB2312" pitchFamily="49" charset="-122"/>
              </a:rPr>
              <a:t>变量</a:t>
            </a:r>
            <a:r>
              <a:rPr kumimoji="1" lang="zh-CN" altLang="en-US" sz="2000" i="1" dirty="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</a:t>
            </a:r>
            <a:r>
              <a:rPr kumimoji="1" lang="zh-CN" altLang="en-US" sz="2000" i="1" baseline="-25000" dirty="0"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000" i="1" dirty="0" smtClean="0">
                <a:latin typeface="Times New Roman" pitchFamily="18" charset="0"/>
                <a:ea typeface="楷体_GB2312" pitchFamily="49" charset="-122"/>
              </a:rPr>
              <a:t>0                             </a:t>
            </a:r>
            <a:r>
              <a:rPr kumimoji="1" lang="zh-CN" altLang="en-US" sz="2000" dirty="0" smtClean="0">
                <a:latin typeface="Times New Roman" pitchFamily="18" charset="0"/>
                <a:ea typeface="楷体_GB2312" pitchFamily="49" charset="-122"/>
              </a:rPr>
              <a:t>第</a:t>
            </a:r>
            <a:r>
              <a:rPr kumimoji="1" lang="en-US" altLang="zh-CN" sz="2000" i="1" dirty="0" err="1" smtClean="0">
                <a:latin typeface="Times New Roman" pitchFamily="18" charset="0"/>
                <a:ea typeface="楷体_GB2312" pitchFamily="49" charset="-122"/>
              </a:rPr>
              <a:t>j</a:t>
            </a:r>
            <a:r>
              <a:rPr kumimoji="1" lang="zh-CN" altLang="en-US" sz="2000" dirty="0" smtClean="0">
                <a:latin typeface="Times New Roman" pitchFamily="18" charset="0"/>
                <a:ea typeface="楷体_GB2312" pitchFamily="49" charset="-122"/>
              </a:rPr>
              <a:t>个</a:t>
            </a:r>
            <a:r>
              <a:rPr kumimoji="1" lang="zh-CN" altLang="en-US" sz="2000" dirty="0">
                <a:latin typeface="Times New Roman" pitchFamily="18" charset="0"/>
                <a:ea typeface="楷体_GB2312" pitchFamily="49" charset="-122"/>
              </a:rPr>
              <a:t>约束条件为“</a:t>
            </a:r>
            <a:r>
              <a:rPr kumimoji="1" lang="en-US" altLang="zh-CN" sz="2000" i="1" dirty="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</a:t>
            </a:r>
            <a:r>
              <a:rPr kumimoji="1" lang="zh-CN" altLang="en-US" sz="2000" dirty="0">
                <a:latin typeface="Times New Roman" pitchFamily="18" charset="0"/>
                <a:ea typeface="楷体_GB2312" pitchFamily="49" charset="-122"/>
              </a:rPr>
              <a:t>”型 </a:t>
            </a:r>
          </a:p>
        </p:txBody>
      </p:sp>
      <p:sp>
        <p:nvSpPr>
          <p:cNvPr id="8" name="Line 4"/>
          <p:cNvSpPr>
            <a:spLocks noChangeShapeType="1"/>
          </p:cNvSpPr>
          <p:nvPr/>
        </p:nvSpPr>
        <p:spPr bwMode="auto">
          <a:xfrm>
            <a:off x="1066800" y="2152631"/>
            <a:ext cx="6858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9" name="Line 5"/>
          <p:cNvSpPr>
            <a:spLocks noChangeShapeType="1"/>
          </p:cNvSpPr>
          <p:nvPr/>
        </p:nvSpPr>
        <p:spPr bwMode="auto">
          <a:xfrm>
            <a:off x="1066800" y="1770043"/>
            <a:ext cx="68580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10" name="Line 6"/>
          <p:cNvSpPr>
            <a:spLocks noChangeShapeType="1"/>
          </p:cNvSpPr>
          <p:nvPr/>
        </p:nvSpPr>
        <p:spPr bwMode="auto">
          <a:xfrm>
            <a:off x="1066800" y="1312843"/>
            <a:ext cx="69342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11" name="Line 7"/>
          <p:cNvSpPr>
            <a:spLocks noChangeShapeType="1"/>
          </p:cNvSpPr>
          <p:nvPr/>
        </p:nvSpPr>
        <p:spPr bwMode="auto">
          <a:xfrm>
            <a:off x="1042988" y="3356992"/>
            <a:ext cx="6858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12" name="Line 8"/>
          <p:cNvSpPr>
            <a:spLocks noChangeShapeType="1"/>
          </p:cNvSpPr>
          <p:nvPr/>
        </p:nvSpPr>
        <p:spPr bwMode="auto">
          <a:xfrm>
            <a:off x="632676" y="6165304"/>
            <a:ext cx="6858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14" name="Line 10"/>
          <p:cNvSpPr>
            <a:spLocks noChangeShapeType="1"/>
          </p:cNvSpPr>
          <p:nvPr/>
        </p:nvSpPr>
        <p:spPr bwMode="auto">
          <a:xfrm>
            <a:off x="1038052" y="4543722"/>
            <a:ext cx="6858000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15" name="Line 12"/>
          <p:cNvSpPr>
            <a:spLocks noChangeShapeType="1"/>
          </p:cNvSpPr>
          <p:nvPr/>
        </p:nvSpPr>
        <p:spPr bwMode="auto">
          <a:xfrm>
            <a:off x="4211960" y="1312842"/>
            <a:ext cx="0" cy="487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9153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第三章：线性规划</a:t>
            </a:r>
            <a:endParaRPr lang="en-US" altLang="zh-CN" dirty="0">
              <a:latin typeface="华文中宋" pitchFamily="2" charset="-122"/>
              <a:ea typeface="华文中宋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55576" y="828001"/>
            <a:ext cx="4716356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spcBef>
                <a:spcPct val="0"/>
              </a:spcBef>
              <a:defRPr/>
            </a:pPr>
            <a:r>
              <a:rPr lang="zh-CN" altLang="en-US" sz="32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对偶问题之间的相互联系</a:t>
            </a:r>
            <a:endParaRPr lang="en-US" altLang="zh-CN" sz="3200" b="1" dirty="0" smtClean="0">
              <a:solidFill>
                <a:srgbClr val="C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Times New Roman" pitchFamily="18" charset="0"/>
            </a:endParaRPr>
          </a:p>
          <a:p>
            <a:pPr lvl="0">
              <a:spcBef>
                <a:spcPct val="0"/>
              </a:spcBef>
              <a:defRPr/>
            </a:pPr>
            <a:endParaRPr lang="en-US" altLang="zh-CN" sz="3200" b="1" dirty="0">
              <a:solidFill>
                <a:srgbClr val="0070C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Times New Roman" pitchFamily="18" charset="0"/>
            </a:endParaRPr>
          </a:p>
          <a:p>
            <a:pPr lvl="0">
              <a:spcBef>
                <a:spcPct val="0"/>
              </a:spcBef>
              <a:defRPr/>
            </a:pPr>
            <a:r>
              <a:rPr lang="zh-CN" altLang="en-US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对偶定理、互补松弛定理</a:t>
            </a:r>
            <a:endParaRPr lang="en-US" altLang="zh-CN" sz="3200" b="1" dirty="0">
              <a:solidFill>
                <a:srgbClr val="0070C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7528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第四章：一维搜索法</a:t>
            </a:r>
            <a:endParaRPr lang="en-US" altLang="zh-CN" dirty="0">
              <a:latin typeface="华文中宋" pitchFamily="2" charset="-122"/>
              <a:ea typeface="华文中宋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55576" y="828001"/>
            <a:ext cx="554029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spcBef>
                <a:spcPct val="0"/>
              </a:spcBef>
              <a:defRPr/>
            </a:pPr>
            <a:r>
              <a:rPr lang="zh-CN" altLang="en-US" sz="32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搜索极小点所在区间：进退法</a:t>
            </a:r>
            <a:endParaRPr lang="en-US" altLang="zh-CN" sz="3200" b="1" dirty="0" smtClean="0">
              <a:solidFill>
                <a:srgbClr val="C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Times New Roman" pitchFamily="18" charset="0"/>
            </a:endParaRPr>
          </a:p>
        </p:txBody>
      </p:sp>
      <p:sp>
        <p:nvSpPr>
          <p:cNvPr id="5" name="Rectangle 58">
            <a:extLst>
              <a:ext uri="{FF2B5EF4-FFF2-40B4-BE49-F238E27FC236}">
                <a16:creationId xmlns:a16="http://schemas.microsoft.com/office/drawing/2014/main" id="{31144B0C-B4DD-1C4D-B6D1-6154371536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1012" y="2349575"/>
            <a:ext cx="9144000" cy="3068637"/>
          </a:xfrm>
          <a:prstGeom prst="rect">
            <a:avLst/>
          </a:prstGeom>
          <a:solidFill>
            <a:srgbClr val="CCFFFF"/>
          </a:soli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904E6B27-E97C-6F4F-B84A-5B442550DA96}"/>
              </a:ext>
            </a:extLst>
          </p:cNvPr>
          <p:cNvGrpSpPr>
            <a:grpSpLocks/>
          </p:cNvGrpSpPr>
          <p:nvPr/>
        </p:nvGrpSpPr>
        <p:grpSpPr bwMode="auto">
          <a:xfrm>
            <a:off x="2370238" y="2492896"/>
            <a:ext cx="3270250" cy="2665413"/>
            <a:chOff x="1348" y="2161"/>
            <a:chExt cx="2060" cy="1679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235879E3-D963-5F45-A5CC-5A8CBBDA3A7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76" y="2161"/>
              <a:ext cx="1584" cy="1488"/>
              <a:chOff x="776" y="1968"/>
              <a:chExt cx="1584" cy="1488"/>
            </a:xfrm>
          </p:grpSpPr>
          <p:sp>
            <p:nvSpPr>
              <p:cNvPr id="20" name="Rectangle 8">
                <a:extLst>
                  <a:ext uri="{FF2B5EF4-FFF2-40B4-BE49-F238E27FC236}">
                    <a16:creationId xmlns:a16="http://schemas.microsoft.com/office/drawing/2014/main" id="{3E57AAE9-A525-E248-87B3-691A1B92F1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0" y="2496"/>
                <a:ext cx="1104" cy="96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rgbClr val="0000FF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1" name="Arc 9">
                <a:extLst>
                  <a:ext uri="{FF2B5EF4-FFF2-40B4-BE49-F238E27FC236}">
                    <a16:creationId xmlns:a16="http://schemas.microsoft.com/office/drawing/2014/main" id="{38EDC763-5334-4D4A-B337-9F6ECA251C78}"/>
                  </a:ext>
                </a:extLst>
              </p:cNvPr>
              <p:cNvSpPr>
                <a:spLocks/>
              </p:cNvSpPr>
              <p:nvPr/>
            </p:nvSpPr>
            <p:spPr bwMode="auto">
              <a:xfrm rot="7208220">
                <a:off x="1381" y="2242"/>
                <a:ext cx="912" cy="619"/>
              </a:xfrm>
              <a:custGeom>
                <a:avLst/>
                <a:gdLst>
                  <a:gd name="T0" fmla="*/ 0 w 21600"/>
                  <a:gd name="T1" fmla="*/ 0 h 22361"/>
                  <a:gd name="T2" fmla="*/ 0 w 21600"/>
                  <a:gd name="T3" fmla="*/ 0 h 22361"/>
                  <a:gd name="T4" fmla="*/ 0 w 21600"/>
                  <a:gd name="T5" fmla="*/ 0 h 22361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2361"/>
                  <a:gd name="T11" fmla="*/ 21600 w 21600"/>
                  <a:gd name="T12" fmla="*/ 22361 h 2236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2361" fill="none" extrusionOk="0">
                    <a:moveTo>
                      <a:pt x="549" y="0"/>
                    </a:moveTo>
                    <a:cubicBezTo>
                      <a:pt x="12261" y="298"/>
                      <a:pt x="21600" y="9877"/>
                      <a:pt x="21600" y="21593"/>
                    </a:cubicBezTo>
                    <a:cubicBezTo>
                      <a:pt x="21600" y="21849"/>
                      <a:pt x="21595" y="22105"/>
                      <a:pt x="21586" y="22361"/>
                    </a:cubicBezTo>
                  </a:path>
                  <a:path w="21600" h="22361" stroke="0" extrusionOk="0">
                    <a:moveTo>
                      <a:pt x="549" y="0"/>
                    </a:moveTo>
                    <a:cubicBezTo>
                      <a:pt x="12261" y="298"/>
                      <a:pt x="21600" y="9877"/>
                      <a:pt x="21600" y="21593"/>
                    </a:cubicBezTo>
                    <a:cubicBezTo>
                      <a:pt x="21600" y="21849"/>
                      <a:pt x="21595" y="22105"/>
                      <a:pt x="21586" y="22361"/>
                    </a:cubicBezTo>
                    <a:lnTo>
                      <a:pt x="0" y="21593"/>
                    </a:lnTo>
                    <a:close/>
                  </a:path>
                </a:pathLst>
              </a:custGeom>
              <a:solidFill>
                <a:srgbClr val="CCFFFF"/>
              </a:solidFill>
              <a:ln w="1905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rot="10800000" vert="eaVert"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2" name="Arc 10">
                <a:extLst>
                  <a:ext uri="{FF2B5EF4-FFF2-40B4-BE49-F238E27FC236}">
                    <a16:creationId xmlns:a16="http://schemas.microsoft.com/office/drawing/2014/main" id="{1E7E0746-1C80-6247-93B3-8726DFEA89F6}"/>
                  </a:ext>
                </a:extLst>
              </p:cNvPr>
              <p:cNvSpPr>
                <a:spLocks/>
              </p:cNvSpPr>
              <p:nvPr/>
            </p:nvSpPr>
            <p:spPr bwMode="auto">
              <a:xfrm rot="14385203" flipH="1">
                <a:off x="818" y="2305"/>
                <a:ext cx="912" cy="525"/>
              </a:xfrm>
              <a:custGeom>
                <a:avLst/>
                <a:gdLst>
                  <a:gd name="T0" fmla="*/ 0 w 21600"/>
                  <a:gd name="T1" fmla="*/ 0 h 22361"/>
                  <a:gd name="T2" fmla="*/ 0 w 21600"/>
                  <a:gd name="T3" fmla="*/ 0 h 22361"/>
                  <a:gd name="T4" fmla="*/ 0 w 21600"/>
                  <a:gd name="T5" fmla="*/ 0 h 22361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2361"/>
                  <a:gd name="T11" fmla="*/ 21600 w 21600"/>
                  <a:gd name="T12" fmla="*/ 22361 h 2236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2361" fill="none" extrusionOk="0">
                    <a:moveTo>
                      <a:pt x="549" y="0"/>
                    </a:moveTo>
                    <a:cubicBezTo>
                      <a:pt x="12261" y="298"/>
                      <a:pt x="21600" y="9877"/>
                      <a:pt x="21600" y="21593"/>
                    </a:cubicBezTo>
                    <a:cubicBezTo>
                      <a:pt x="21600" y="21849"/>
                      <a:pt x="21595" y="22105"/>
                      <a:pt x="21586" y="22361"/>
                    </a:cubicBezTo>
                  </a:path>
                  <a:path w="21600" h="22361" stroke="0" extrusionOk="0">
                    <a:moveTo>
                      <a:pt x="549" y="0"/>
                    </a:moveTo>
                    <a:cubicBezTo>
                      <a:pt x="12261" y="298"/>
                      <a:pt x="21600" y="9877"/>
                      <a:pt x="21600" y="21593"/>
                    </a:cubicBezTo>
                    <a:cubicBezTo>
                      <a:pt x="21600" y="21849"/>
                      <a:pt x="21595" y="22105"/>
                      <a:pt x="21586" y="22361"/>
                    </a:cubicBezTo>
                    <a:lnTo>
                      <a:pt x="0" y="21593"/>
                    </a:lnTo>
                    <a:close/>
                  </a:path>
                </a:pathLst>
              </a:custGeom>
              <a:solidFill>
                <a:srgbClr val="CCFFFF"/>
              </a:solidFill>
              <a:ln w="1905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vert="eaVert"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3" name="Rectangle 11">
                <a:extLst>
                  <a:ext uri="{FF2B5EF4-FFF2-40B4-BE49-F238E27FC236}">
                    <a16:creationId xmlns:a16="http://schemas.microsoft.com/office/drawing/2014/main" id="{3853EC4E-F068-554E-B528-5C5ABDF482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417416">
                <a:off x="776" y="1968"/>
                <a:ext cx="1584" cy="600"/>
              </a:xfrm>
              <a:prstGeom prst="rect">
                <a:avLst/>
              </a:prstGeom>
              <a:solidFill>
                <a:srgbClr val="CC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kumimoji="1" lang="zh-CN" altLang="zh-CN" sz="2000"/>
              </a:p>
            </p:txBody>
          </p:sp>
          <p:sp>
            <p:nvSpPr>
              <p:cNvPr id="24" name="Rectangle 12">
                <a:extLst>
                  <a:ext uri="{FF2B5EF4-FFF2-40B4-BE49-F238E27FC236}">
                    <a16:creationId xmlns:a16="http://schemas.microsoft.com/office/drawing/2014/main" id="{C114660A-46A3-7D4D-B090-16C95C12AE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8" y="2352"/>
                <a:ext cx="192" cy="288"/>
              </a:xfrm>
              <a:prstGeom prst="rect">
                <a:avLst/>
              </a:prstGeom>
              <a:solidFill>
                <a:srgbClr val="CC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8" name="Group 13">
              <a:extLst>
                <a:ext uri="{FF2B5EF4-FFF2-40B4-BE49-F238E27FC236}">
                  <a16:creationId xmlns:a16="http://schemas.microsoft.com/office/drawing/2014/main" id="{0D185B63-E77E-8247-A872-0371BBD262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48" y="2433"/>
              <a:ext cx="2060" cy="1388"/>
              <a:chOff x="340" y="2240"/>
              <a:chExt cx="2060" cy="1388"/>
            </a:xfrm>
          </p:grpSpPr>
          <p:grpSp>
            <p:nvGrpSpPr>
              <p:cNvPr id="12" name="Group 14">
                <a:extLst>
                  <a:ext uri="{FF2B5EF4-FFF2-40B4-BE49-F238E27FC236}">
                    <a16:creationId xmlns:a16="http://schemas.microsoft.com/office/drawing/2014/main" id="{56AA2F0D-A224-4049-953B-0918A7230A5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0" y="2240"/>
                <a:ext cx="2060" cy="1360"/>
                <a:chOff x="240" y="2400"/>
                <a:chExt cx="2060" cy="1360"/>
              </a:xfrm>
            </p:grpSpPr>
            <p:sp>
              <p:nvSpPr>
                <p:cNvPr id="16" name="Line 15">
                  <a:extLst>
                    <a:ext uri="{FF2B5EF4-FFF2-40B4-BE49-F238E27FC236}">
                      <a16:creationId xmlns:a16="http://schemas.microsoft.com/office/drawing/2014/main" id="{F3064B79-C705-0A40-A655-9B07BB91279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89" y="2460"/>
                  <a:ext cx="0" cy="1157"/>
                </a:xfrm>
                <a:prstGeom prst="line">
                  <a:avLst/>
                </a:prstGeom>
                <a:noFill/>
                <a:ln w="12700">
                  <a:solidFill>
                    <a:srgbClr val="0000FF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x-none"/>
                </a:p>
              </p:txBody>
            </p:sp>
            <p:sp>
              <p:nvSpPr>
                <p:cNvPr id="17" name="Line 16">
                  <a:extLst>
                    <a:ext uri="{FF2B5EF4-FFF2-40B4-BE49-F238E27FC236}">
                      <a16:creationId xmlns:a16="http://schemas.microsoft.com/office/drawing/2014/main" id="{26D54E93-2F71-6542-82F2-1DD1DD774DF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97" y="3617"/>
                  <a:ext cx="1551" cy="0"/>
                </a:xfrm>
                <a:prstGeom prst="line">
                  <a:avLst/>
                </a:prstGeom>
                <a:noFill/>
                <a:ln w="12700">
                  <a:solidFill>
                    <a:srgbClr val="0000FF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x-none"/>
                </a:p>
              </p:txBody>
            </p: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168F3F20-862F-5A45-A70D-A015FFE1720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0" y="2400"/>
                  <a:ext cx="34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kumimoji="1" lang="en-US" altLang="zh-CN" sz="2000">
                      <a:solidFill>
                        <a:srgbClr val="0000FF"/>
                      </a:solidFill>
                    </a:rPr>
                    <a:t>f(x)</a:t>
                  </a:r>
                  <a:endParaRPr kumimoji="1" lang="en-US" altLang="zh-CN" sz="2000" baseline="-30000">
                    <a:solidFill>
                      <a:srgbClr val="0000FF"/>
                    </a:solidFill>
                  </a:endParaRPr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77E54C20-74C5-8B42-8DA8-365F74476D2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04" y="3510"/>
                  <a:ext cx="19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kumimoji="1" lang="en-US" altLang="zh-CN" sz="2000">
                      <a:solidFill>
                        <a:srgbClr val="0000FF"/>
                      </a:solidFill>
                    </a:rPr>
                    <a:t>x</a:t>
                  </a:r>
                  <a:endParaRPr kumimoji="1" lang="en-US" altLang="zh-CN" sz="2000" baseline="-30000">
                    <a:solidFill>
                      <a:srgbClr val="0000FF"/>
                    </a:solidFill>
                  </a:endParaRPr>
                </a:p>
              </p:txBody>
            </p:sp>
          </p:grpSp>
          <p:sp>
            <p:nvSpPr>
              <p:cNvPr id="14" name="Text Box 19">
                <a:extLst>
                  <a:ext uri="{FF2B5EF4-FFF2-40B4-BE49-F238E27FC236}">
                    <a16:creationId xmlns:a16="http://schemas.microsoft.com/office/drawing/2014/main" id="{47987594-B40A-254D-912C-F5393B39C3F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76" y="3376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>
                    <a:solidFill>
                      <a:srgbClr val="0000FF"/>
                    </a:solidFill>
                  </a:rPr>
                  <a:t>a</a:t>
                </a:r>
              </a:p>
            </p:txBody>
          </p:sp>
          <p:sp>
            <p:nvSpPr>
              <p:cNvPr id="15" name="Text Box 20">
                <a:extLst>
                  <a:ext uri="{FF2B5EF4-FFF2-40B4-BE49-F238E27FC236}">
                    <a16:creationId xmlns:a16="http://schemas.microsoft.com/office/drawing/2014/main" id="{F4F99BF0-DF07-3A43-85FB-FA7951678F3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92" y="3416"/>
                <a:ext cx="192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1600">
                    <a:solidFill>
                      <a:srgbClr val="0000FF"/>
                    </a:solidFill>
                  </a:rPr>
                  <a:t>b</a:t>
                </a:r>
              </a:p>
            </p:txBody>
          </p:sp>
        </p:grpSp>
        <p:grpSp>
          <p:nvGrpSpPr>
            <p:cNvPr id="9" name="Group 21">
              <a:extLst>
                <a:ext uri="{FF2B5EF4-FFF2-40B4-BE49-F238E27FC236}">
                  <a16:creationId xmlns:a16="http://schemas.microsoft.com/office/drawing/2014/main" id="{EF2CD34B-09CA-BE43-9FBC-4A26B0638CD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48" y="3073"/>
              <a:ext cx="225" cy="767"/>
              <a:chOff x="1440" y="2880"/>
              <a:chExt cx="225" cy="767"/>
            </a:xfrm>
          </p:grpSpPr>
          <p:sp>
            <p:nvSpPr>
              <p:cNvPr id="10" name="Line 22">
                <a:extLst>
                  <a:ext uri="{FF2B5EF4-FFF2-40B4-BE49-F238E27FC236}">
                    <a16:creationId xmlns:a16="http://schemas.microsoft.com/office/drawing/2014/main" id="{FBBCCAAF-3DF5-114D-8AD8-BBB91BE898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6" y="2880"/>
                <a:ext cx="0" cy="576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x-none"/>
              </a:p>
            </p:txBody>
          </p:sp>
          <p:sp>
            <p:nvSpPr>
              <p:cNvPr id="11" name="Rectangle 23">
                <a:extLst>
                  <a:ext uri="{FF2B5EF4-FFF2-40B4-BE49-F238E27FC236}">
                    <a16:creationId xmlns:a16="http://schemas.microsoft.com/office/drawing/2014/main" id="{EF4D92FC-D08D-4F44-9647-1ED11D83C1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0" y="3416"/>
                <a:ext cx="225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1" lang="en-US" altLang="zh-CN">
                    <a:solidFill>
                      <a:srgbClr val="FF0000"/>
                    </a:solidFill>
                  </a:rPr>
                  <a:t>x</a:t>
                </a:r>
                <a:r>
                  <a:rPr kumimoji="1" lang="en-US" altLang="zh-CN" baseline="30000">
                    <a:solidFill>
                      <a:srgbClr val="FF0000"/>
                    </a:solidFill>
                  </a:rPr>
                  <a:t>*</a:t>
                </a:r>
              </a:p>
            </p:txBody>
          </p:sp>
        </p:grp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94CA766-5137-A446-9A68-3CC5A4B4A607}"/>
              </a:ext>
            </a:extLst>
          </p:cNvPr>
          <p:cNvGrpSpPr>
            <a:grpSpLocks/>
          </p:cNvGrpSpPr>
          <p:nvPr/>
        </p:nvGrpSpPr>
        <p:grpSpPr bwMode="auto">
          <a:xfrm>
            <a:off x="3456088" y="3635896"/>
            <a:ext cx="382588" cy="1471613"/>
            <a:chOff x="1024" y="2688"/>
            <a:chExt cx="241" cy="927"/>
          </a:xfrm>
        </p:grpSpPr>
        <p:sp>
          <p:nvSpPr>
            <p:cNvPr id="26" name="Line 25">
              <a:extLst>
                <a:ext uri="{FF2B5EF4-FFF2-40B4-BE49-F238E27FC236}">
                  <a16:creationId xmlns:a16="http://schemas.microsoft.com/office/drawing/2014/main" id="{5CEB88E7-DAC9-154F-8EF4-13FF9DB65F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0" y="2688"/>
              <a:ext cx="0" cy="768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x-none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5A9E270-0281-E14D-B080-079932E35E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4" y="3384"/>
              <a:ext cx="24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>
                  <a:solidFill>
                    <a:srgbClr val="0000FF"/>
                  </a:solidFill>
                </a:rPr>
                <a:t>x</a:t>
              </a:r>
              <a:r>
                <a:rPr kumimoji="1" lang="en-US" altLang="zh-CN" baseline="-30000">
                  <a:solidFill>
                    <a:srgbClr val="0000FF"/>
                  </a:solidFill>
                </a:rPr>
                <a:t>0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A16ECB0-7BD7-644A-85D5-E0FB56722BC0}"/>
              </a:ext>
            </a:extLst>
          </p:cNvPr>
          <p:cNvGrpSpPr>
            <a:grpSpLocks/>
          </p:cNvGrpSpPr>
          <p:nvPr/>
        </p:nvGrpSpPr>
        <p:grpSpPr bwMode="auto">
          <a:xfrm>
            <a:off x="3767238" y="3864496"/>
            <a:ext cx="382588" cy="1255713"/>
            <a:chOff x="1220" y="2832"/>
            <a:chExt cx="241" cy="791"/>
          </a:xfrm>
        </p:grpSpPr>
        <p:sp>
          <p:nvSpPr>
            <p:cNvPr id="29" name="Line 28">
              <a:extLst>
                <a:ext uri="{FF2B5EF4-FFF2-40B4-BE49-F238E27FC236}">
                  <a16:creationId xmlns:a16="http://schemas.microsoft.com/office/drawing/2014/main" id="{E826B756-96BF-874A-A70A-13915139D8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28" y="2832"/>
              <a:ext cx="0" cy="624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x-none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B44FD307-6822-B849-BCC1-FD8903B7AE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0" y="3392"/>
              <a:ext cx="24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>
                  <a:solidFill>
                    <a:srgbClr val="0000FF"/>
                  </a:solidFill>
                </a:rPr>
                <a:t>x</a:t>
              </a:r>
              <a:r>
                <a:rPr kumimoji="1" lang="en-US" altLang="zh-CN" baseline="-30000">
                  <a:solidFill>
                    <a:srgbClr val="0000FF"/>
                  </a:solidFill>
                </a:rPr>
                <a:t>1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FEE01E09-A312-8A47-B345-530E4C9513B9}"/>
              </a:ext>
            </a:extLst>
          </p:cNvPr>
          <p:cNvGrpSpPr>
            <a:grpSpLocks/>
          </p:cNvGrpSpPr>
          <p:nvPr/>
        </p:nvGrpSpPr>
        <p:grpSpPr bwMode="auto">
          <a:xfrm>
            <a:off x="4541938" y="3827984"/>
            <a:ext cx="382588" cy="1293812"/>
            <a:chOff x="2716" y="3002"/>
            <a:chExt cx="241" cy="815"/>
          </a:xfrm>
        </p:grpSpPr>
        <p:sp>
          <p:nvSpPr>
            <p:cNvPr id="32" name="Line 31">
              <a:extLst>
                <a:ext uri="{FF2B5EF4-FFF2-40B4-BE49-F238E27FC236}">
                  <a16:creationId xmlns:a16="http://schemas.microsoft.com/office/drawing/2014/main" id="{B64294D2-F8FB-E843-A4C8-DD50BFA415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24" y="3002"/>
              <a:ext cx="0" cy="646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x-none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5119D462-5473-B64F-BFF8-1019D9429E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6" y="3586"/>
              <a:ext cx="24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>
                  <a:solidFill>
                    <a:srgbClr val="0000FF"/>
                  </a:solidFill>
                </a:rPr>
                <a:t>x</a:t>
              </a:r>
              <a:r>
                <a:rPr kumimoji="1" lang="en-US" altLang="zh-CN" baseline="-30000">
                  <a:solidFill>
                    <a:srgbClr val="0000FF"/>
                  </a:solidFill>
                </a:rPr>
                <a:t>2</a:t>
              </a:r>
            </a:p>
          </p:txBody>
        </p:sp>
      </p:grpSp>
      <p:sp>
        <p:nvSpPr>
          <p:cNvPr id="34" name="AutoShape 33">
            <a:extLst>
              <a:ext uri="{FF2B5EF4-FFF2-40B4-BE49-F238E27FC236}">
                <a16:creationId xmlns:a16="http://schemas.microsoft.com/office/drawing/2014/main" id="{C8281210-74E7-6D43-85BE-52896B887B5E}"/>
              </a:ext>
            </a:extLst>
          </p:cNvPr>
          <p:cNvSpPr>
            <a:spLocks noChangeArrowheads="1"/>
          </p:cNvSpPr>
          <p:nvPr/>
        </p:nvSpPr>
        <p:spPr bwMode="auto">
          <a:xfrm rot="19036271">
            <a:off x="3506888" y="2643709"/>
            <a:ext cx="304800" cy="1295400"/>
          </a:xfrm>
          <a:prstGeom prst="curvedRightArrow">
            <a:avLst>
              <a:gd name="adj1" fmla="val 85000"/>
              <a:gd name="adj2" fmla="val 170000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5" name="AutoShape 34">
            <a:extLst>
              <a:ext uri="{FF2B5EF4-FFF2-40B4-BE49-F238E27FC236}">
                <a16:creationId xmlns:a16="http://schemas.microsoft.com/office/drawing/2014/main" id="{7714E0B9-B942-E640-81F1-B347657A1196}"/>
              </a:ext>
            </a:extLst>
          </p:cNvPr>
          <p:cNvSpPr>
            <a:spLocks noChangeArrowheads="1"/>
          </p:cNvSpPr>
          <p:nvPr/>
        </p:nvSpPr>
        <p:spPr bwMode="auto">
          <a:xfrm rot="13847042">
            <a:off x="4840388" y="2605609"/>
            <a:ext cx="304800" cy="1295400"/>
          </a:xfrm>
          <a:prstGeom prst="curvedRightArrow">
            <a:avLst>
              <a:gd name="adj1" fmla="val 85000"/>
              <a:gd name="adj2" fmla="val 170000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36" name="Group 36">
            <a:extLst>
              <a:ext uri="{FF2B5EF4-FFF2-40B4-BE49-F238E27FC236}">
                <a16:creationId xmlns:a16="http://schemas.microsoft.com/office/drawing/2014/main" id="{43094676-B670-FF46-820B-5AFF2150AD46}"/>
              </a:ext>
            </a:extLst>
          </p:cNvPr>
          <p:cNvGrpSpPr>
            <a:grpSpLocks/>
          </p:cNvGrpSpPr>
          <p:nvPr/>
        </p:nvGrpSpPr>
        <p:grpSpPr bwMode="auto">
          <a:xfrm>
            <a:off x="3697388" y="3861321"/>
            <a:ext cx="1050925" cy="992188"/>
            <a:chOff x="2344" y="3024"/>
            <a:chExt cx="456" cy="625"/>
          </a:xfrm>
        </p:grpSpPr>
        <p:grpSp>
          <p:nvGrpSpPr>
            <p:cNvPr id="37" name="Group 37">
              <a:extLst>
                <a:ext uri="{FF2B5EF4-FFF2-40B4-BE49-F238E27FC236}">
                  <a16:creationId xmlns:a16="http://schemas.microsoft.com/office/drawing/2014/main" id="{36B12A1D-527A-B94F-8CCB-42B3046FA7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44" y="3032"/>
              <a:ext cx="192" cy="617"/>
              <a:chOff x="960" y="2592"/>
              <a:chExt cx="144" cy="857"/>
            </a:xfrm>
          </p:grpSpPr>
          <p:sp>
            <p:nvSpPr>
              <p:cNvPr id="48" name="Line 38">
                <a:extLst>
                  <a:ext uri="{FF2B5EF4-FFF2-40B4-BE49-F238E27FC236}">
                    <a16:creationId xmlns:a16="http://schemas.microsoft.com/office/drawing/2014/main" id="{DD808708-1A59-1544-82B6-B3F0FF9E1D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0" y="2592"/>
                <a:ext cx="144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x-none"/>
              </a:p>
            </p:txBody>
          </p:sp>
          <p:sp>
            <p:nvSpPr>
              <p:cNvPr id="49" name="Line 39">
                <a:extLst>
                  <a:ext uri="{FF2B5EF4-FFF2-40B4-BE49-F238E27FC236}">
                    <a16:creationId xmlns:a16="http://schemas.microsoft.com/office/drawing/2014/main" id="{FE7793EF-312D-AA40-A2CF-3EF188B5E8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0" y="2688"/>
                <a:ext cx="144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x-none"/>
              </a:p>
            </p:txBody>
          </p:sp>
          <p:sp>
            <p:nvSpPr>
              <p:cNvPr id="50" name="Line 40">
                <a:extLst>
                  <a:ext uri="{FF2B5EF4-FFF2-40B4-BE49-F238E27FC236}">
                    <a16:creationId xmlns:a16="http://schemas.microsoft.com/office/drawing/2014/main" id="{546B505C-0453-7A4F-AD42-BA7983B95A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0" y="2784"/>
                <a:ext cx="144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x-none"/>
              </a:p>
            </p:txBody>
          </p:sp>
          <p:sp>
            <p:nvSpPr>
              <p:cNvPr id="51" name="Line 41">
                <a:extLst>
                  <a:ext uri="{FF2B5EF4-FFF2-40B4-BE49-F238E27FC236}">
                    <a16:creationId xmlns:a16="http://schemas.microsoft.com/office/drawing/2014/main" id="{140805F5-AEBC-C84B-AB31-8B1A2F6F16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0" y="2880"/>
                <a:ext cx="144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x-none"/>
              </a:p>
            </p:txBody>
          </p:sp>
          <p:sp>
            <p:nvSpPr>
              <p:cNvPr id="52" name="Line 42">
                <a:extLst>
                  <a:ext uri="{FF2B5EF4-FFF2-40B4-BE49-F238E27FC236}">
                    <a16:creationId xmlns:a16="http://schemas.microsoft.com/office/drawing/2014/main" id="{CB3928A3-0C38-2247-BA66-73C4DB30BE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0" y="2976"/>
                <a:ext cx="144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x-none"/>
              </a:p>
            </p:txBody>
          </p:sp>
          <p:sp>
            <p:nvSpPr>
              <p:cNvPr id="53" name="Line 43">
                <a:extLst>
                  <a:ext uri="{FF2B5EF4-FFF2-40B4-BE49-F238E27FC236}">
                    <a16:creationId xmlns:a16="http://schemas.microsoft.com/office/drawing/2014/main" id="{ED33E804-2637-EE4E-AAF7-693C0CB422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0" y="3072"/>
                <a:ext cx="144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x-none"/>
              </a:p>
            </p:txBody>
          </p:sp>
          <p:sp>
            <p:nvSpPr>
              <p:cNvPr id="54" name="Line 44">
                <a:extLst>
                  <a:ext uri="{FF2B5EF4-FFF2-40B4-BE49-F238E27FC236}">
                    <a16:creationId xmlns:a16="http://schemas.microsoft.com/office/drawing/2014/main" id="{EF8FF8A9-756E-3E4E-9D5F-2665F251AB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0" y="3168"/>
                <a:ext cx="144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x-none"/>
              </a:p>
            </p:txBody>
          </p:sp>
          <p:sp>
            <p:nvSpPr>
              <p:cNvPr id="55" name="Line 45">
                <a:extLst>
                  <a:ext uri="{FF2B5EF4-FFF2-40B4-BE49-F238E27FC236}">
                    <a16:creationId xmlns:a16="http://schemas.microsoft.com/office/drawing/2014/main" id="{C0D74688-12AD-E74E-887D-476ECC0EFF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0" y="3264"/>
                <a:ext cx="144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x-none"/>
              </a:p>
            </p:txBody>
          </p:sp>
          <p:sp>
            <p:nvSpPr>
              <p:cNvPr id="56" name="Line 46">
                <a:extLst>
                  <a:ext uri="{FF2B5EF4-FFF2-40B4-BE49-F238E27FC236}">
                    <a16:creationId xmlns:a16="http://schemas.microsoft.com/office/drawing/2014/main" id="{A766EA4E-14B6-0F45-BD3D-A915F1A4CB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8" y="3376"/>
                <a:ext cx="73" cy="7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x-none"/>
              </a:p>
            </p:txBody>
          </p:sp>
        </p:grpSp>
        <p:grpSp>
          <p:nvGrpSpPr>
            <p:cNvPr id="38" name="Group 47">
              <a:extLst>
                <a:ext uri="{FF2B5EF4-FFF2-40B4-BE49-F238E27FC236}">
                  <a16:creationId xmlns:a16="http://schemas.microsoft.com/office/drawing/2014/main" id="{A20C1868-05D1-044A-9226-0AB0CA0FA430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2560" y="3024"/>
              <a:ext cx="240" cy="617"/>
              <a:chOff x="960" y="2592"/>
              <a:chExt cx="144" cy="857"/>
            </a:xfrm>
          </p:grpSpPr>
          <p:sp>
            <p:nvSpPr>
              <p:cNvPr id="39" name="Line 48">
                <a:extLst>
                  <a:ext uri="{FF2B5EF4-FFF2-40B4-BE49-F238E27FC236}">
                    <a16:creationId xmlns:a16="http://schemas.microsoft.com/office/drawing/2014/main" id="{F7491726-112E-4B44-991A-68BDDB4E78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0" y="2592"/>
                <a:ext cx="144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x-none"/>
              </a:p>
            </p:txBody>
          </p:sp>
          <p:sp>
            <p:nvSpPr>
              <p:cNvPr id="40" name="Line 49">
                <a:extLst>
                  <a:ext uri="{FF2B5EF4-FFF2-40B4-BE49-F238E27FC236}">
                    <a16:creationId xmlns:a16="http://schemas.microsoft.com/office/drawing/2014/main" id="{6FA91CD9-E1E9-B04E-A6DA-4C634C760F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0" y="2688"/>
                <a:ext cx="144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x-none"/>
              </a:p>
            </p:txBody>
          </p:sp>
          <p:sp>
            <p:nvSpPr>
              <p:cNvPr id="41" name="Line 50">
                <a:extLst>
                  <a:ext uri="{FF2B5EF4-FFF2-40B4-BE49-F238E27FC236}">
                    <a16:creationId xmlns:a16="http://schemas.microsoft.com/office/drawing/2014/main" id="{AD0099BC-2D4F-0C44-BCB0-2E982C4004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0" y="2784"/>
                <a:ext cx="144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x-none"/>
              </a:p>
            </p:txBody>
          </p:sp>
          <p:sp>
            <p:nvSpPr>
              <p:cNvPr id="42" name="Line 51">
                <a:extLst>
                  <a:ext uri="{FF2B5EF4-FFF2-40B4-BE49-F238E27FC236}">
                    <a16:creationId xmlns:a16="http://schemas.microsoft.com/office/drawing/2014/main" id="{25D43075-1F73-C543-8E7B-C071CC96C9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0" y="2880"/>
                <a:ext cx="144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x-none"/>
              </a:p>
            </p:txBody>
          </p:sp>
          <p:sp>
            <p:nvSpPr>
              <p:cNvPr id="43" name="Line 52">
                <a:extLst>
                  <a:ext uri="{FF2B5EF4-FFF2-40B4-BE49-F238E27FC236}">
                    <a16:creationId xmlns:a16="http://schemas.microsoft.com/office/drawing/2014/main" id="{EA56C044-99E2-5C44-85C2-A3CA2B4C24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0" y="2976"/>
                <a:ext cx="144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x-none"/>
              </a:p>
            </p:txBody>
          </p:sp>
          <p:sp>
            <p:nvSpPr>
              <p:cNvPr id="44" name="Line 53">
                <a:extLst>
                  <a:ext uri="{FF2B5EF4-FFF2-40B4-BE49-F238E27FC236}">
                    <a16:creationId xmlns:a16="http://schemas.microsoft.com/office/drawing/2014/main" id="{FB92165B-85AF-1F40-A4C8-69655DB6CD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0" y="3072"/>
                <a:ext cx="144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x-none"/>
              </a:p>
            </p:txBody>
          </p:sp>
          <p:sp>
            <p:nvSpPr>
              <p:cNvPr id="45" name="Line 54">
                <a:extLst>
                  <a:ext uri="{FF2B5EF4-FFF2-40B4-BE49-F238E27FC236}">
                    <a16:creationId xmlns:a16="http://schemas.microsoft.com/office/drawing/2014/main" id="{CC873486-0A81-D744-90BA-037628D606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0" y="3168"/>
                <a:ext cx="144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x-none"/>
              </a:p>
            </p:txBody>
          </p:sp>
          <p:sp>
            <p:nvSpPr>
              <p:cNvPr id="46" name="Line 55">
                <a:extLst>
                  <a:ext uri="{FF2B5EF4-FFF2-40B4-BE49-F238E27FC236}">
                    <a16:creationId xmlns:a16="http://schemas.microsoft.com/office/drawing/2014/main" id="{A3FBF3A2-CDE3-1E4C-A5E0-D70F18D81B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0" y="3264"/>
                <a:ext cx="144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x-none"/>
              </a:p>
            </p:txBody>
          </p:sp>
          <p:sp>
            <p:nvSpPr>
              <p:cNvPr id="47" name="Line 56">
                <a:extLst>
                  <a:ext uri="{FF2B5EF4-FFF2-40B4-BE49-F238E27FC236}">
                    <a16:creationId xmlns:a16="http://schemas.microsoft.com/office/drawing/2014/main" id="{66A59236-DDFB-9C44-88A8-5ED654BB3A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8" y="3376"/>
                <a:ext cx="73" cy="7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x-none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480935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9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第四章：一维搜索法</a:t>
            </a:r>
            <a:endParaRPr lang="en-US" altLang="zh-CN" dirty="0">
              <a:latin typeface="华文中宋" pitchFamily="2" charset="-122"/>
              <a:ea typeface="华文中宋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55576" y="828001"/>
            <a:ext cx="801213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spcBef>
                <a:spcPct val="0"/>
              </a:spcBef>
              <a:defRPr/>
            </a:pPr>
            <a:r>
              <a:rPr lang="zh-CN" altLang="en-US" sz="32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利用单谷（峰）函数性质求最优值：对分法</a:t>
            </a:r>
            <a:endParaRPr lang="en-US" altLang="zh-CN" sz="3200" b="1" dirty="0" smtClean="0">
              <a:solidFill>
                <a:srgbClr val="C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Times New Roman" pitchFamily="18" charset="0"/>
            </a:endParaRPr>
          </a:p>
        </p:txBody>
      </p:sp>
      <p:sp>
        <p:nvSpPr>
          <p:cNvPr id="57" name="Rectangle 25">
            <a:extLst>
              <a:ext uri="{FF2B5EF4-FFF2-40B4-BE49-F238E27FC236}">
                <a16:creationId xmlns:a16="http://schemas.microsoft.com/office/drawing/2014/main" id="{487080A5-77DD-1D45-AD54-7BECE06847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341" y="5168900"/>
            <a:ext cx="777557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rgbClr val="FF0000"/>
                </a:solidFill>
              </a:rPr>
              <a:t>优点：计算量较少，而且总能收敛到一个局部极小点。</a:t>
            </a:r>
          </a:p>
          <a:p>
            <a:pPr eaLnBrk="1" hangingPunct="1"/>
            <a:r>
              <a:rPr lang="zh-CN" altLang="en-US" sz="2400" b="1" dirty="0">
                <a:solidFill>
                  <a:srgbClr val="FF0000"/>
                </a:solidFill>
              </a:rPr>
              <a:t>缺点：收敛速度较慢</a:t>
            </a:r>
          </a:p>
        </p:txBody>
      </p:sp>
      <p:graphicFrame>
        <p:nvGraphicFramePr>
          <p:cNvPr id="58" name="Object 30">
            <a:extLst>
              <a:ext uri="{FF2B5EF4-FFF2-40B4-BE49-F238E27FC236}">
                <a16:creationId xmlns:a16="http://schemas.microsoft.com/office/drawing/2014/main" id="{E56AF566-A921-C540-91A8-0564F216EE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7705979"/>
              </p:ext>
            </p:extLst>
          </p:nvPr>
        </p:nvGraphicFramePr>
        <p:xfrm>
          <a:off x="2484438" y="1701775"/>
          <a:ext cx="12954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150" name="Equation" r:id="rId3" imgW="14046200" imgH="9067800" progId="">
                  <p:embed/>
                </p:oleObj>
              </mc:Choice>
              <mc:Fallback>
                <p:oleObj name="Equation" r:id="rId3" imgW="14046200" imgH="9067800" progId="">
                  <p:embed/>
                  <p:pic>
                    <p:nvPicPr>
                      <p:cNvPr id="58" name="Object 30">
                        <a:extLst>
                          <a:ext uri="{FF2B5EF4-FFF2-40B4-BE49-F238E27FC236}">
                            <a16:creationId xmlns:a16="http://schemas.microsoft.com/office/drawing/2014/main" id="{E56AF566-A921-C540-91A8-0564F216EE7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1701775"/>
                        <a:ext cx="1295400" cy="863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" name="Rectangle 32">
            <a:extLst>
              <a:ext uri="{FF2B5EF4-FFF2-40B4-BE49-F238E27FC236}">
                <a16:creationId xmlns:a16="http://schemas.microsoft.com/office/drawing/2014/main" id="{23A167F4-CEEE-354E-AECC-6E35CB797A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701775"/>
            <a:ext cx="8424863" cy="3527425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sym typeface="Wingdings" pitchFamily="2" charset="2"/>
              </a:rPr>
              <a:t>步骤</a:t>
            </a:r>
            <a:r>
              <a:rPr lang="en-US" altLang="zh-CN" sz="2400" b="1" dirty="0">
                <a:latin typeface="Times New Roman" panose="02020603050405020304" pitchFamily="18" charset="0"/>
                <a:sym typeface="Wingdings" pitchFamily="2" charset="2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  <a:sym typeface="Wingdings" pitchFamily="2" charset="2"/>
              </a:rPr>
              <a:t>：计算</a:t>
            </a:r>
            <a:endParaRPr lang="zh-CN" altLang="en-US" sz="24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FontTx/>
              <a:buChar char="•"/>
            </a:pPr>
            <a:endParaRPr lang="zh-CN" altLang="en-US" sz="2400" b="1" dirty="0">
              <a:latin typeface="Times New Roman" panose="02020603050405020304" pitchFamily="18" charset="0"/>
              <a:sym typeface="Wingdings" pitchFamily="2" charset="2"/>
            </a:endParaRPr>
          </a:p>
          <a:p>
            <a:pPr eaLnBrk="1" hangingPunct="1">
              <a:lnSpc>
                <a:spcPct val="120000"/>
              </a:lnSpc>
              <a:spcBef>
                <a:spcPct val="2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sym typeface="Wingdings" pitchFamily="2" charset="2"/>
              </a:rPr>
              <a:t>步骤</a:t>
            </a:r>
            <a:r>
              <a:rPr lang="en-US" altLang="zh-CN" sz="2400" b="1" dirty="0" smtClean="0">
                <a:latin typeface="Times New Roman" panose="02020603050405020304" pitchFamily="18" charset="0"/>
                <a:sym typeface="Wingdings" pitchFamily="2" charset="2"/>
              </a:rPr>
              <a:t>2</a:t>
            </a:r>
            <a:r>
              <a:rPr lang="zh-CN" altLang="en-US" sz="2400" b="1" dirty="0" smtClean="0">
                <a:latin typeface="Times New Roman" panose="02020603050405020304" pitchFamily="18" charset="0"/>
                <a:sym typeface="Wingdings" pitchFamily="2" charset="2"/>
              </a:rPr>
              <a:t>：若                   ，</a:t>
            </a:r>
            <a:r>
              <a:rPr lang="zh-CN" altLang="en-US" sz="2400" b="1" dirty="0">
                <a:latin typeface="Times New Roman" panose="02020603050405020304" pitchFamily="18" charset="0"/>
                <a:sym typeface="Wingdings" pitchFamily="2" charset="2"/>
              </a:rPr>
              <a:t>令               ，转步骤</a:t>
            </a:r>
            <a:r>
              <a:rPr lang="en-US" altLang="zh-CN" sz="2400" b="1" dirty="0">
                <a:latin typeface="Times New Roman" panose="02020603050405020304" pitchFamily="18" charset="0"/>
                <a:sym typeface="Wingdings" pitchFamily="2" charset="2"/>
              </a:rPr>
              <a:t>3</a:t>
            </a:r>
            <a:r>
              <a:rPr lang="zh-CN" altLang="en-US" sz="2400" b="1" dirty="0">
                <a:latin typeface="Times New Roman" panose="02020603050405020304" pitchFamily="18" charset="0"/>
                <a:sym typeface="Wingdings" pitchFamily="2" charset="2"/>
              </a:rPr>
              <a:t>；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sym typeface="Wingdings" pitchFamily="2" charset="2"/>
              </a:rPr>
              <a:t>             若                </a:t>
            </a:r>
            <a:r>
              <a:rPr lang="zh-CN" altLang="en-US" sz="2400" b="1" dirty="0" smtClean="0">
                <a:latin typeface="Times New Roman" panose="02020603050405020304" pitchFamily="18" charset="0"/>
                <a:sym typeface="Wingdings" pitchFamily="2" charset="2"/>
              </a:rPr>
              <a:t>    ，</a:t>
            </a:r>
            <a:r>
              <a:rPr lang="zh-CN" altLang="en-US" sz="2400" b="1" dirty="0">
                <a:latin typeface="Times New Roman" panose="02020603050405020304" pitchFamily="18" charset="0"/>
                <a:sym typeface="Wingdings" pitchFamily="2" charset="2"/>
              </a:rPr>
              <a:t>令               ，转步骤</a:t>
            </a:r>
            <a:r>
              <a:rPr lang="en-US" altLang="zh-CN" sz="2400" b="1" dirty="0">
                <a:latin typeface="Times New Roman" panose="02020603050405020304" pitchFamily="18" charset="0"/>
                <a:sym typeface="Wingdings" pitchFamily="2" charset="2"/>
              </a:rPr>
              <a:t>3</a:t>
            </a:r>
            <a:r>
              <a:rPr lang="zh-CN" altLang="en-US" sz="2400" b="1" dirty="0">
                <a:latin typeface="Times New Roman" panose="02020603050405020304" pitchFamily="18" charset="0"/>
                <a:sym typeface="Wingdings" pitchFamily="2" charset="2"/>
              </a:rPr>
              <a:t>；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sym typeface="Wingdings" pitchFamily="2" charset="2"/>
              </a:rPr>
              <a:t>             若                </a:t>
            </a:r>
            <a:r>
              <a:rPr lang="zh-CN" altLang="en-US" sz="2400" b="1" dirty="0" smtClean="0">
                <a:latin typeface="Times New Roman" panose="02020603050405020304" pitchFamily="18" charset="0"/>
                <a:sym typeface="Wingdings" pitchFamily="2" charset="2"/>
              </a:rPr>
              <a:t>    ，</a:t>
            </a:r>
            <a:r>
              <a:rPr lang="zh-CN" altLang="en-US" sz="2400" b="1" dirty="0">
                <a:latin typeface="Times New Roman" panose="02020603050405020304" pitchFamily="18" charset="0"/>
                <a:sym typeface="Wingdings" pitchFamily="2" charset="2"/>
              </a:rPr>
              <a:t>停止，              。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sym typeface="Wingdings" pitchFamily="2" charset="2"/>
              </a:rPr>
              <a:t>步骤</a:t>
            </a:r>
            <a:r>
              <a:rPr lang="en-US" altLang="zh-CN" sz="2400" b="1" dirty="0">
                <a:latin typeface="Times New Roman" panose="02020603050405020304" pitchFamily="18" charset="0"/>
                <a:sym typeface="Wingdings" pitchFamily="2" charset="2"/>
              </a:rPr>
              <a:t>3</a:t>
            </a:r>
            <a:r>
              <a:rPr lang="zh-CN" altLang="en-US" sz="2400" b="1" dirty="0">
                <a:latin typeface="Times New Roman" panose="02020603050405020304" pitchFamily="18" charset="0"/>
                <a:sym typeface="Wingdings" pitchFamily="2" charset="2"/>
              </a:rPr>
              <a:t>：若                    ，则                    ，停止，否则，转步骤</a:t>
            </a:r>
            <a:r>
              <a:rPr lang="en-US" altLang="zh-CN" sz="2400" b="1" dirty="0">
                <a:latin typeface="Times New Roman" panose="02020603050405020304" pitchFamily="18" charset="0"/>
                <a:sym typeface="Wingdings" pitchFamily="2" charset="2"/>
              </a:rPr>
              <a:t>1.</a:t>
            </a:r>
          </a:p>
        </p:txBody>
      </p:sp>
      <p:graphicFrame>
        <p:nvGraphicFramePr>
          <p:cNvPr id="60" name="Object 33">
            <a:extLst>
              <a:ext uri="{FF2B5EF4-FFF2-40B4-BE49-F238E27FC236}">
                <a16:creationId xmlns:a16="http://schemas.microsoft.com/office/drawing/2014/main" id="{9B221E03-90E2-B44F-BDC3-C3D0F83121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1963127"/>
              </p:ext>
            </p:extLst>
          </p:nvPr>
        </p:nvGraphicFramePr>
        <p:xfrm>
          <a:off x="4143372" y="2668659"/>
          <a:ext cx="1081087" cy="620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151" name="Equation" r:id="rId5" imgW="9067800" imgH="5270500" progId="">
                  <p:embed/>
                </p:oleObj>
              </mc:Choice>
              <mc:Fallback>
                <p:oleObj name="Equation" r:id="rId5" imgW="9067800" imgH="5270500" progId="">
                  <p:embed/>
                  <p:pic>
                    <p:nvPicPr>
                      <p:cNvPr id="60" name="Object 33">
                        <a:extLst>
                          <a:ext uri="{FF2B5EF4-FFF2-40B4-BE49-F238E27FC236}">
                            <a16:creationId xmlns:a16="http://schemas.microsoft.com/office/drawing/2014/main" id="{9B221E03-90E2-B44F-BDC3-C3D0F831216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3372" y="2668659"/>
                        <a:ext cx="1081087" cy="6207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" name="Object 41">
            <a:extLst>
              <a:ext uri="{FF2B5EF4-FFF2-40B4-BE49-F238E27FC236}">
                <a16:creationId xmlns:a16="http://schemas.microsoft.com/office/drawing/2014/main" id="{1EF5940F-AD3C-B840-A0EB-C936ABC36F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6078912"/>
              </p:ext>
            </p:extLst>
          </p:nvPr>
        </p:nvGraphicFramePr>
        <p:xfrm>
          <a:off x="1979613" y="3286100"/>
          <a:ext cx="1439862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152" name="Equation" r:id="rId7" imgW="15798800" imgH="5854700" progId="">
                  <p:embed/>
                </p:oleObj>
              </mc:Choice>
              <mc:Fallback>
                <p:oleObj name="Equation" r:id="rId7" imgW="15798800" imgH="5854700" progId="">
                  <p:embed/>
                  <p:pic>
                    <p:nvPicPr>
                      <p:cNvPr id="61" name="Object 41">
                        <a:extLst>
                          <a:ext uri="{FF2B5EF4-FFF2-40B4-BE49-F238E27FC236}">
                            <a16:creationId xmlns:a16="http://schemas.microsoft.com/office/drawing/2014/main" id="{1EF5940F-AD3C-B840-A0EB-C936ABC36F1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3286100"/>
                        <a:ext cx="1439862" cy="536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" name="Object 42">
            <a:extLst>
              <a:ext uri="{FF2B5EF4-FFF2-40B4-BE49-F238E27FC236}">
                <a16:creationId xmlns:a16="http://schemas.microsoft.com/office/drawing/2014/main" id="{4957ECCC-3730-544A-8B69-2C8224B9BA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1837006"/>
              </p:ext>
            </p:extLst>
          </p:nvPr>
        </p:nvGraphicFramePr>
        <p:xfrm>
          <a:off x="1979613" y="2781275"/>
          <a:ext cx="1439862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153" name="Equation" r:id="rId9" imgW="15798800" imgH="5854700" progId="">
                  <p:embed/>
                </p:oleObj>
              </mc:Choice>
              <mc:Fallback>
                <p:oleObj name="Equation" r:id="rId9" imgW="15798800" imgH="5854700" progId="">
                  <p:embed/>
                  <p:pic>
                    <p:nvPicPr>
                      <p:cNvPr id="62" name="Object 42">
                        <a:extLst>
                          <a:ext uri="{FF2B5EF4-FFF2-40B4-BE49-F238E27FC236}">
                            <a16:creationId xmlns:a16="http://schemas.microsoft.com/office/drawing/2014/main" id="{4957ECCC-3730-544A-8B69-2C8224B9BA7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2781275"/>
                        <a:ext cx="1439862" cy="538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" name="Object 43">
            <a:extLst>
              <a:ext uri="{FF2B5EF4-FFF2-40B4-BE49-F238E27FC236}">
                <a16:creationId xmlns:a16="http://schemas.microsoft.com/office/drawing/2014/main" id="{623795AC-E883-754C-8A42-351A2577FC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386931"/>
              </p:ext>
            </p:extLst>
          </p:nvPr>
        </p:nvGraphicFramePr>
        <p:xfrm>
          <a:off x="2051050" y="3789338"/>
          <a:ext cx="1368425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154" name="Equation" r:id="rId11" imgW="15798800" imgH="5854700" progId="">
                  <p:embed/>
                </p:oleObj>
              </mc:Choice>
              <mc:Fallback>
                <p:oleObj name="Equation" r:id="rId11" imgW="15798800" imgH="5854700" progId="">
                  <p:embed/>
                  <p:pic>
                    <p:nvPicPr>
                      <p:cNvPr id="63" name="Object 43">
                        <a:extLst>
                          <a:ext uri="{FF2B5EF4-FFF2-40B4-BE49-F238E27FC236}">
                            <a16:creationId xmlns:a16="http://schemas.microsoft.com/office/drawing/2014/main" id="{623795AC-E883-754C-8A42-351A2577FC6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3789338"/>
                        <a:ext cx="1368425" cy="536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" name="Object 44">
            <a:extLst>
              <a:ext uri="{FF2B5EF4-FFF2-40B4-BE49-F238E27FC236}">
                <a16:creationId xmlns:a16="http://schemas.microsoft.com/office/drawing/2014/main" id="{62742A6B-5A05-0B4F-83CA-39F3154213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2767128"/>
              </p:ext>
            </p:extLst>
          </p:nvPr>
        </p:nvGraphicFramePr>
        <p:xfrm>
          <a:off x="4140200" y="3213075"/>
          <a:ext cx="1081088" cy="620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155" name="Equation" r:id="rId13" imgW="9067800" imgH="5270500" progId="">
                  <p:embed/>
                </p:oleObj>
              </mc:Choice>
              <mc:Fallback>
                <p:oleObj name="Equation" r:id="rId13" imgW="9067800" imgH="5270500" progId="">
                  <p:embed/>
                  <p:pic>
                    <p:nvPicPr>
                      <p:cNvPr id="64" name="Object 44">
                        <a:extLst>
                          <a:ext uri="{FF2B5EF4-FFF2-40B4-BE49-F238E27FC236}">
                            <a16:creationId xmlns:a16="http://schemas.microsoft.com/office/drawing/2014/main" id="{62742A6B-5A05-0B4F-83CA-39F31542132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0200" y="3213075"/>
                        <a:ext cx="1081088" cy="620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" name="Object 45">
            <a:extLst>
              <a:ext uri="{FF2B5EF4-FFF2-40B4-BE49-F238E27FC236}">
                <a16:creationId xmlns:a16="http://schemas.microsoft.com/office/drawing/2014/main" id="{365C5617-DBBD-6C4D-991D-603F05B3C5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095843"/>
              </p:ext>
            </p:extLst>
          </p:nvPr>
        </p:nvGraphicFramePr>
        <p:xfrm>
          <a:off x="4500563" y="3717900"/>
          <a:ext cx="1254125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156" name="Equation" r:id="rId15" imgW="10528300" imgH="5270500" progId="">
                  <p:embed/>
                </p:oleObj>
              </mc:Choice>
              <mc:Fallback>
                <p:oleObj name="Equation" r:id="rId15" imgW="10528300" imgH="5270500" progId="">
                  <p:embed/>
                  <p:pic>
                    <p:nvPicPr>
                      <p:cNvPr id="65" name="Object 45">
                        <a:extLst>
                          <a:ext uri="{FF2B5EF4-FFF2-40B4-BE49-F238E27FC236}">
                            <a16:creationId xmlns:a16="http://schemas.microsoft.com/office/drawing/2014/main" id="{365C5617-DBBD-6C4D-991D-603F05B3C58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3717900"/>
                        <a:ext cx="1254125" cy="549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" name="Object 46">
            <a:extLst>
              <a:ext uri="{FF2B5EF4-FFF2-40B4-BE49-F238E27FC236}">
                <a16:creationId xmlns:a16="http://schemas.microsoft.com/office/drawing/2014/main" id="{3E32FDC6-165D-7A45-A97A-6E3C26F548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6897027"/>
              </p:ext>
            </p:extLst>
          </p:nvPr>
        </p:nvGraphicFramePr>
        <p:xfrm>
          <a:off x="1979613" y="4294163"/>
          <a:ext cx="1584325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157" name="Equation" r:id="rId17" imgW="14630400" imgH="4686300" progId="">
                  <p:embed/>
                </p:oleObj>
              </mc:Choice>
              <mc:Fallback>
                <p:oleObj name="Equation" r:id="rId17" imgW="14630400" imgH="4686300" progId="">
                  <p:embed/>
                  <p:pic>
                    <p:nvPicPr>
                      <p:cNvPr id="66" name="Object 46">
                        <a:extLst>
                          <a:ext uri="{FF2B5EF4-FFF2-40B4-BE49-F238E27FC236}">
                            <a16:creationId xmlns:a16="http://schemas.microsoft.com/office/drawing/2014/main" id="{3E32FDC6-165D-7A45-A97A-6E3C26F5488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4294163"/>
                        <a:ext cx="1584325" cy="5000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" name="Object 47">
            <a:extLst>
              <a:ext uri="{FF2B5EF4-FFF2-40B4-BE49-F238E27FC236}">
                <a16:creationId xmlns:a16="http://schemas.microsoft.com/office/drawing/2014/main" id="{1DFCF523-90F6-424C-BE5F-659477DDCD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2190542"/>
              </p:ext>
            </p:extLst>
          </p:nvPr>
        </p:nvGraphicFramePr>
        <p:xfrm>
          <a:off x="4140200" y="4149700"/>
          <a:ext cx="1584325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158" name="Equation" r:id="rId19" imgW="15214600" imgH="9067800" progId="">
                  <p:embed/>
                </p:oleObj>
              </mc:Choice>
              <mc:Fallback>
                <p:oleObj name="Equation" r:id="rId19" imgW="15214600" imgH="9067800" progId="">
                  <p:embed/>
                  <p:pic>
                    <p:nvPicPr>
                      <p:cNvPr id="67" name="Object 47">
                        <a:extLst>
                          <a:ext uri="{FF2B5EF4-FFF2-40B4-BE49-F238E27FC236}">
                            <a16:creationId xmlns:a16="http://schemas.microsoft.com/office/drawing/2014/main" id="{1DFCF523-90F6-424C-BE5F-659477DDCDD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0200" y="4149700"/>
                        <a:ext cx="1584325" cy="815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34845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第四章：一维搜索法</a:t>
            </a:r>
            <a:endParaRPr lang="en-US" altLang="zh-CN" dirty="0">
              <a:latin typeface="华文中宋" pitchFamily="2" charset="-122"/>
              <a:ea typeface="华文中宋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77228" y="760323"/>
            <a:ext cx="276069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spcBef>
                <a:spcPct val="0"/>
              </a:spcBef>
              <a:defRPr/>
            </a:pPr>
            <a:r>
              <a:rPr lang="en-GB" altLang="zh-CN" sz="32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Newton</a:t>
            </a:r>
            <a:r>
              <a:rPr lang="zh-CN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切线法</a:t>
            </a:r>
            <a:endParaRPr lang="en-US" altLang="zh-CN" sz="3200" b="1" dirty="0" smtClean="0">
              <a:solidFill>
                <a:srgbClr val="C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Times New Roman" pitchFamily="18" charset="0"/>
            </a:endParaRP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1C68D6DA-B96F-E044-BBD7-B7A6B38846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584" y="1556295"/>
            <a:ext cx="7416750" cy="3096841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2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sym typeface="Wingdings" pitchFamily="2" charset="2"/>
              </a:rPr>
              <a:t>步骤</a:t>
            </a:r>
            <a:r>
              <a:rPr lang="en-US" altLang="zh-CN" sz="2400" b="1" dirty="0">
                <a:latin typeface="Times New Roman" panose="02020603050405020304" pitchFamily="18" charset="0"/>
                <a:sym typeface="Wingdings" pitchFamily="2" charset="2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  <a:sym typeface="Wingdings" pitchFamily="2" charset="2"/>
              </a:rPr>
              <a:t>：给定初始点                     令        。</a:t>
            </a:r>
          </a:p>
          <a:p>
            <a:pPr eaLnBrk="1" hangingPunct="1">
              <a:lnSpc>
                <a:spcPct val="140000"/>
              </a:lnSpc>
              <a:spcBef>
                <a:spcPct val="2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sym typeface="Wingdings" pitchFamily="2" charset="2"/>
              </a:rPr>
              <a:t>步骤</a:t>
            </a:r>
            <a:r>
              <a:rPr lang="en-US" altLang="zh-CN" sz="2400" b="1" dirty="0">
                <a:latin typeface="Times New Roman" panose="02020603050405020304" pitchFamily="18" charset="0"/>
                <a:sym typeface="Wingdings" pitchFamily="2" charset="2"/>
              </a:rPr>
              <a:t>2</a:t>
            </a:r>
            <a:r>
              <a:rPr lang="zh-CN" altLang="en-US" sz="2400" b="1" dirty="0">
                <a:latin typeface="Times New Roman" panose="02020603050405020304" pitchFamily="18" charset="0"/>
                <a:sym typeface="Wingdings" pitchFamily="2" charset="2"/>
              </a:rPr>
              <a:t>：计算                      。</a:t>
            </a:r>
          </a:p>
          <a:p>
            <a:pPr eaLnBrk="1" hangingPunct="1">
              <a:lnSpc>
                <a:spcPct val="140000"/>
              </a:lnSpc>
              <a:spcBef>
                <a:spcPct val="2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sym typeface="Wingdings" pitchFamily="2" charset="2"/>
              </a:rPr>
              <a:t>步骤</a:t>
            </a:r>
            <a:r>
              <a:rPr lang="en-US" altLang="zh-CN" sz="2400" b="1" dirty="0">
                <a:latin typeface="Times New Roman" panose="02020603050405020304" pitchFamily="18" charset="0"/>
                <a:sym typeface="Wingdings" pitchFamily="2" charset="2"/>
              </a:rPr>
              <a:t>3</a:t>
            </a:r>
            <a:r>
              <a:rPr lang="zh-CN" altLang="en-US" sz="2400" b="1" dirty="0">
                <a:latin typeface="Times New Roman" panose="02020603050405020304" pitchFamily="18" charset="0"/>
                <a:sym typeface="Wingdings" pitchFamily="2" charset="2"/>
              </a:rPr>
              <a:t>：若                  ，停止，          ，否则转步骤</a:t>
            </a:r>
            <a:r>
              <a:rPr lang="en-US" altLang="zh-CN" sz="2400" b="1" dirty="0">
                <a:latin typeface="Times New Roman" panose="02020603050405020304" pitchFamily="18" charset="0"/>
                <a:sym typeface="Wingdings" pitchFamily="2" charset="2"/>
              </a:rPr>
              <a:t>4</a:t>
            </a:r>
            <a:r>
              <a:rPr lang="zh-CN" altLang="en-US" sz="2400" b="1" dirty="0">
                <a:latin typeface="Times New Roman" panose="02020603050405020304" pitchFamily="18" charset="0"/>
                <a:sym typeface="Wingdings" pitchFamily="2" charset="2"/>
              </a:rPr>
              <a:t>。</a:t>
            </a:r>
          </a:p>
          <a:p>
            <a:pPr eaLnBrk="1" hangingPunct="1">
              <a:lnSpc>
                <a:spcPct val="140000"/>
              </a:lnSpc>
              <a:spcBef>
                <a:spcPct val="2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sym typeface="Wingdings" pitchFamily="2" charset="2"/>
              </a:rPr>
              <a:t>步骤</a:t>
            </a:r>
            <a:r>
              <a:rPr lang="en-US" altLang="zh-CN" sz="2400" b="1" dirty="0">
                <a:latin typeface="Times New Roman" panose="02020603050405020304" pitchFamily="18" charset="0"/>
                <a:sym typeface="Wingdings" pitchFamily="2" charset="2"/>
              </a:rPr>
              <a:t>4</a:t>
            </a:r>
            <a:r>
              <a:rPr lang="zh-CN" altLang="en-US" sz="2400" b="1" dirty="0">
                <a:latin typeface="Times New Roman" panose="02020603050405020304" pitchFamily="18" charset="0"/>
                <a:sym typeface="Wingdings" pitchFamily="2" charset="2"/>
              </a:rPr>
              <a:t>：计算                                                           </a:t>
            </a:r>
          </a:p>
          <a:p>
            <a:pPr eaLnBrk="1" hangingPunct="1">
              <a:lnSpc>
                <a:spcPct val="140000"/>
              </a:lnSpc>
              <a:spcBef>
                <a:spcPct val="20000"/>
              </a:spcBef>
            </a:pPr>
            <a:r>
              <a:rPr lang="zh-CN" altLang="en-US" sz="2400" b="1" dirty="0" smtClean="0">
                <a:latin typeface="Times New Roman" panose="02020603050405020304" pitchFamily="18" charset="0"/>
                <a:sym typeface="Wingdings" pitchFamily="2" charset="2"/>
              </a:rPr>
              <a:t>令              </a:t>
            </a:r>
            <a:r>
              <a:rPr lang="zh-CN" altLang="en-US" sz="2400" b="1" dirty="0">
                <a:latin typeface="Times New Roman" panose="02020603050405020304" pitchFamily="18" charset="0"/>
                <a:sym typeface="Wingdings" pitchFamily="2" charset="2"/>
              </a:rPr>
              <a:t>，转步骤</a:t>
            </a:r>
            <a:r>
              <a:rPr lang="en-US" altLang="zh-CN" sz="2400" b="1" dirty="0">
                <a:latin typeface="Times New Roman" panose="02020603050405020304" pitchFamily="18" charset="0"/>
                <a:sym typeface="Wingdings" pitchFamily="2" charset="2"/>
              </a:rPr>
              <a:t>2</a:t>
            </a:r>
            <a:r>
              <a:rPr lang="zh-CN" altLang="en-US" sz="2400" b="1" dirty="0">
                <a:latin typeface="Times New Roman" panose="02020603050405020304" pitchFamily="18" charset="0"/>
                <a:sym typeface="Wingdings" pitchFamily="2" charset="2"/>
              </a:rPr>
              <a:t>。</a:t>
            </a:r>
          </a:p>
        </p:txBody>
      </p:sp>
      <p:graphicFrame>
        <p:nvGraphicFramePr>
          <p:cNvPr id="16" name="Object 4">
            <a:extLst>
              <a:ext uri="{FF2B5EF4-FFF2-40B4-BE49-F238E27FC236}">
                <a16:creationId xmlns:a16="http://schemas.microsoft.com/office/drawing/2014/main" id="{6EB4A98B-DD42-ED49-9DFD-B491E3F209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2488979"/>
              </p:ext>
            </p:extLst>
          </p:nvPr>
        </p:nvGraphicFramePr>
        <p:xfrm>
          <a:off x="3570784" y="1665833"/>
          <a:ext cx="1720850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166" name="Equation" r:id="rId3" imgW="19900900" imgH="5270500" progId="">
                  <p:embed/>
                </p:oleObj>
              </mc:Choice>
              <mc:Fallback>
                <p:oleObj name="Equation" r:id="rId3" imgW="19900900" imgH="5270500" progId="">
                  <p:embed/>
                  <p:pic>
                    <p:nvPicPr>
                      <p:cNvPr id="9" name="Object 4">
                        <a:extLst>
                          <a:ext uri="{FF2B5EF4-FFF2-40B4-BE49-F238E27FC236}">
                            <a16:creationId xmlns:a16="http://schemas.microsoft.com/office/drawing/2014/main" id="{6EB4A98B-DD42-ED49-9DFD-B491E3F209F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0784" y="1665833"/>
                        <a:ext cx="1720850" cy="5032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5">
            <a:extLst>
              <a:ext uri="{FF2B5EF4-FFF2-40B4-BE49-F238E27FC236}">
                <a16:creationId xmlns:a16="http://schemas.microsoft.com/office/drawing/2014/main" id="{7DA05906-C31C-B143-BDEA-A707322BFD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4332182"/>
              </p:ext>
            </p:extLst>
          </p:nvPr>
        </p:nvGraphicFramePr>
        <p:xfrm>
          <a:off x="5436096" y="1700758"/>
          <a:ext cx="657225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167" name="Equation" r:id="rId5" imgW="7607300" imgH="4102100" progId="">
                  <p:embed/>
                </p:oleObj>
              </mc:Choice>
              <mc:Fallback>
                <p:oleObj name="Equation" r:id="rId5" imgW="7607300" imgH="4102100" progId="">
                  <p:embed/>
                  <p:pic>
                    <p:nvPicPr>
                      <p:cNvPr id="10" name="Object 5">
                        <a:extLst>
                          <a:ext uri="{FF2B5EF4-FFF2-40B4-BE49-F238E27FC236}">
                            <a16:creationId xmlns:a16="http://schemas.microsoft.com/office/drawing/2014/main" id="{7DA05906-C31C-B143-BDEA-A707322BFD3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6096" y="1700758"/>
                        <a:ext cx="657225" cy="3921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6">
            <a:extLst>
              <a:ext uri="{FF2B5EF4-FFF2-40B4-BE49-F238E27FC236}">
                <a16:creationId xmlns:a16="http://schemas.microsoft.com/office/drawing/2014/main" id="{BDB5A031-17D8-5449-8DC2-C7B3F08BC2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0884839"/>
              </p:ext>
            </p:extLst>
          </p:nvPr>
        </p:nvGraphicFramePr>
        <p:xfrm>
          <a:off x="2529384" y="2275433"/>
          <a:ext cx="1825625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168" name="Equation" r:id="rId7" imgW="21069300" imgH="5270500" progId="">
                  <p:embed/>
                </p:oleObj>
              </mc:Choice>
              <mc:Fallback>
                <p:oleObj name="Equation" r:id="rId7" imgW="21069300" imgH="5270500" progId="">
                  <p:embed/>
                  <p:pic>
                    <p:nvPicPr>
                      <p:cNvPr id="11" name="Object 6">
                        <a:extLst>
                          <a:ext uri="{FF2B5EF4-FFF2-40B4-BE49-F238E27FC236}">
                            <a16:creationId xmlns:a16="http://schemas.microsoft.com/office/drawing/2014/main" id="{BDB5A031-17D8-5449-8DC2-C7B3F08BC2E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9384" y="2275433"/>
                        <a:ext cx="1825625" cy="501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7">
            <a:extLst>
              <a:ext uri="{FF2B5EF4-FFF2-40B4-BE49-F238E27FC236}">
                <a16:creationId xmlns:a16="http://schemas.microsoft.com/office/drawing/2014/main" id="{47668902-38A2-5243-9DC0-97A0CDF149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8376156"/>
              </p:ext>
            </p:extLst>
          </p:nvPr>
        </p:nvGraphicFramePr>
        <p:xfrm>
          <a:off x="2303711" y="2780258"/>
          <a:ext cx="1419225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169" name="Equation" r:id="rId9" imgW="16383000" imgH="5854700" progId="Equation.DSMT4">
                  <p:embed/>
                </p:oleObj>
              </mc:Choice>
              <mc:Fallback>
                <p:oleObj name="Equation" r:id="rId9" imgW="16383000" imgH="5854700" progId="Equation.DSMT4">
                  <p:embed/>
                  <p:pic>
                    <p:nvPicPr>
                      <p:cNvPr id="12" name="Object 7">
                        <a:extLst>
                          <a:ext uri="{FF2B5EF4-FFF2-40B4-BE49-F238E27FC236}">
                            <a16:creationId xmlns:a16="http://schemas.microsoft.com/office/drawing/2014/main" id="{47668902-38A2-5243-9DC0-97A0CDF1497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3711" y="2780258"/>
                        <a:ext cx="1419225" cy="558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8">
            <a:extLst>
              <a:ext uri="{FF2B5EF4-FFF2-40B4-BE49-F238E27FC236}">
                <a16:creationId xmlns:a16="http://schemas.microsoft.com/office/drawing/2014/main" id="{A7D6F538-600A-C34C-A44D-C759D52068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4551230"/>
              </p:ext>
            </p:extLst>
          </p:nvPr>
        </p:nvGraphicFramePr>
        <p:xfrm>
          <a:off x="4821734" y="2851695"/>
          <a:ext cx="911225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170" name="Equation" r:id="rId11" imgW="10528300" imgH="5270500" progId="">
                  <p:embed/>
                </p:oleObj>
              </mc:Choice>
              <mc:Fallback>
                <p:oleObj name="Equation" r:id="rId11" imgW="10528300" imgH="5270500" progId="">
                  <p:embed/>
                  <p:pic>
                    <p:nvPicPr>
                      <p:cNvPr id="13" name="Object 8">
                        <a:extLst>
                          <a:ext uri="{FF2B5EF4-FFF2-40B4-BE49-F238E27FC236}">
                            <a16:creationId xmlns:a16="http://schemas.microsoft.com/office/drawing/2014/main" id="{A7D6F538-600A-C34C-A44D-C759D52068A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1734" y="2851695"/>
                        <a:ext cx="911225" cy="501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9">
            <a:extLst>
              <a:ext uri="{FF2B5EF4-FFF2-40B4-BE49-F238E27FC236}">
                <a16:creationId xmlns:a16="http://schemas.microsoft.com/office/drawing/2014/main" id="{65201FFB-204A-974A-920E-36847EB835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291612"/>
              </p:ext>
            </p:extLst>
          </p:nvPr>
        </p:nvGraphicFramePr>
        <p:xfrm>
          <a:off x="2968597" y="3220645"/>
          <a:ext cx="2103438" cy="947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171" name="Equation" r:id="rId13" imgW="24282400" imgH="9944100" progId="">
                  <p:embed/>
                </p:oleObj>
              </mc:Choice>
              <mc:Fallback>
                <p:oleObj name="Equation" r:id="rId13" imgW="24282400" imgH="9944100" progId="">
                  <p:embed/>
                  <p:pic>
                    <p:nvPicPr>
                      <p:cNvPr id="14" name="Object 9">
                        <a:extLst>
                          <a:ext uri="{FF2B5EF4-FFF2-40B4-BE49-F238E27FC236}">
                            <a16:creationId xmlns:a16="http://schemas.microsoft.com/office/drawing/2014/main" id="{65201FFB-204A-974A-920E-36847EB8354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8597" y="3220645"/>
                        <a:ext cx="2103438" cy="947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10">
            <a:extLst>
              <a:ext uri="{FF2B5EF4-FFF2-40B4-BE49-F238E27FC236}">
                <a16:creationId xmlns:a16="http://schemas.microsoft.com/office/drawing/2014/main" id="{8B296085-F880-264F-B447-A6FE1A841F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908286"/>
              </p:ext>
            </p:extLst>
          </p:nvPr>
        </p:nvGraphicFramePr>
        <p:xfrm>
          <a:off x="1217861" y="4016151"/>
          <a:ext cx="108585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172" name="Equation" r:id="rId15" imgW="12585700" imgH="4102100" progId="">
                  <p:embed/>
                </p:oleObj>
              </mc:Choice>
              <mc:Fallback>
                <p:oleObj name="Equation" r:id="rId15" imgW="12585700" imgH="4102100" progId="">
                  <p:embed/>
                  <p:pic>
                    <p:nvPicPr>
                      <p:cNvPr id="15" name="Object 10">
                        <a:extLst>
                          <a:ext uri="{FF2B5EF4-FFF2-40B4-BE49-F238E27FC236}">
                            <a16:creationId xmlns:a16="http://schemas.microsoft.com/office/drawing/2014/main" id="{8B296085-F880-264F-B447-A6FE1A841F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7861" y="4016151"/>
                        <a:ext cx="1085850" cy="392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Rectangle 11">
            <a:extLst>
              <a:ext uri="{FF2B5EF4-FFF2-40B4-BE49-F238E27FC236}">
                <a16:creationId xmlns:a16="http://schemas.microsoft.com/office/drawing/2014/main" id="{96065A86-20EC-B144-ADA5-C332DF73FC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049" y="4750241"/>
            <a:ext cx="8607425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000" b="1" dirty="0">
                <a:solidFill>
                  <a:srgbClr val="FF0000"/>
                </a:solidFill>
              </a:rPr>
              <a:t>特点：收敛速度快，局部二阶收敛。</a:t>
            </a:r>
          </a:p>
          <a:p>
            <a:pPr eaLnBrk="1" hangingPunct="1"/>
            <a:r>
              <a:rPr kumimoji="1" lang="zh-CN" altLang="en-US" sz="2000" b="1" dirty="0">
                <a:solidFill>
                  <a:srgbClr val="FF0000"/>
                </a:solidFill>
              </a:rPr>
              <a:t>缺点：须计算二阶导数，工作量大；对初始点要求高，要求初 </a:t>
            </a:r>
          </a:p>
          <a:p>
            <a:pPr eaLnBrk="1" hangingPunct="1"/>
            <a:r>
              <a:rPr kumimoji="1" lang="zh-CN" altLang="en-US" sz="2000" b="1" dirty="0">
                <a:solidFill>
                  <a:srgbClr val="FF0000"/>
                </a:solidFill>
              </a:rPr>
              <a:t>始点离极小点不太远，否则有可能使极小化发散或收敛到非极 </a:t>
            </a:r>
          </a:p>
          <a:p>
            <a:pPr eaLnBrk="1" hangingPunct="1"/>
            <a:r>
              <a:rPr kumimoji="1" lang="zh-CN" altLang="en-US" sz="2000" b="1" dirty="0">
                <a:solidFill>
                  <a:srgbClr val="FF0000"/>
                </a:solidFill>
              </a:rPr>
              <a:t>小点；局部收敛。</a:t>
            </a:r>
          </a:p>
        </p:txBody>
      </p:sp>
    </p:spTree>
    <p:extLst>
      <p:ext uri="{BB962C8B-B14F-4D97-AF65-F5344CB8AC3E}">
        <p14:creationId xmlns:p14="http://schemas.microsoft.com/office/powerpoint/2010/main" val="432987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第四章：一维搜索法</a:t>
            </a:r>
            <a:endParaRPr lang="en-US" altLang="zh-CN" dirty="0">
              <a:latin typeface="华文中宋" pitchFamily="2" charset="-122"/>
              <a:ea typeface="华文中宋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77228" y="760323"/>
            <a:ext cx="224452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spcBef>
                <a:spcPct val="0"/>
              </a:spcBef>
              <a:defRPr/>
            </a:pPr>
            <a:r>
              <a:rPr lang="zh-CN" altLang="en-US" sz="32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黄金分割法</a:t>
            </a:r>
            <a:endParaRPr lang="en-US" altLang="zh-CN" sz="3200" b="1" dirty="0" smtClean="0">
              <a:solidFill>
                <a:srgbClr val="C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Times New Roman" pitchFamily="18" charset="0"/>
            </a:endParaRPr>
          </a:p>
        </p:txBody>
      </p:sp>
      <p:sp>
        <p:nvSpPr>
          <p:cNvPr id="14" name="Rectangle 2"/>
          <p:cNvSpPr txBox="1">
            <a:spLocks noChangeArrowheads="1"/>
          </p:cNvSpPr>
          <p:nvPr/>
        </p:nvSpPr>
        <p:spPr>
          <a:xfrm>
            <a:off x="457200" y="932656"/>
            <a:ext cx="86868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  <a:sym typeface="Wingdings" pitchFamily="2" charset="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itchFamily="18" charset="0"/>
                <a:ea typeface="+mn-ea"/>
                <a:cs typeface="+mn-cs"/>
                <a:sym typeface="Wingdings" pitchFamily="2" charset="2"/>
              </a:rPr>
              <a:t>定理：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  <a:sym typeface="Wingdings" pitchFamily="2" charset="2"/>
              </a:rPr>
              <a:t>设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  <a:sym typeface="Wingdings" pitchFamily="2" charset="2"/>
              </a:rPr>
              <a:t>f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  <a:sym typeface="Wingdings" pitchFamily="2" charset="2"/>
              </a:rPr>
              <a:t>：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  <a:sym typeface="Wingdings" pitchFamily="2" charset="2"/>
              </a:rPr>
              <a:t>R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  <a:sym typeface="Wingdings" pitchFamily="2" charset="2"/>
              </a:rPr>
              <a:t>→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  <a:sym typeface="Wingdings" pitchFamily="2" charset="2"/>
              </a:rPr>
              <a:t>R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  <a:sym typeface="Wingdings" pitchFamily="2" charset="2"/>
              </a:rPr>
              <a:t>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  <a:sym typeface="Wingdings" pitchFamily="2" charset="2"/>
              </a:rPr>
              <a:t>在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  <a:sym typeface="Wingdings" pitchFamily="2" charset="2"/>
              </a:rPr>
              <a:t>[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  <a:sym typeface="Wingdings" pitchFamily="2" charset="2"/>
              </a:rPr>
              <a:t>a, b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  <a:sym typeface="Wingdings" pitchFamily="2" charset="2"/>
              </a:rPr>
              <a:t> ]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  <a:sym typeface="Wingdings" pitchFamily="2" charset="2"/>
              </a:rPr>
              <a:t>上是单谷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  <a:sym typeface="Wingdings" pitchFamily="2" charset="2"/>
              </a:rPr>
              <a:t>(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  <a:sym typeface="Wingdings" pitchFamily="2" charset="2"/>
              </a:rPr>
              <a:t>峰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  <a:sym typeface="Wingdings" pitchFamily="2" charset="2"/>
              </a:rPr>
              <a:t>)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  <a:sym typeface="Wingdings" pitchFamily="2" charset="2"/>
              </a:rPr>
              <a:t>函数</a:t>
            </a:r>
            <a:r>
              <a:rPr kumimoji="0" lang="en-US" altLang="zh-CN" sz="2400" b="1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a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≤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  <a:sym typeface="Symbol" pitchFamily="18" charset="2"/>
              </a:rPr>
              <a:t>x</a:t>
            </a: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  <a:sym typeface="Symbol" pitchFamily="18" charset="2"/>
              </a:rPr>
              <a:t>1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  <a:sym typeface="Symbol" pitchFamily="18" charset="2"/>
              </a:rPr>
              <a:t> &lt; x</a:t>
            </a: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  <a:sym typeface="Symbol" pitchFamily="18" charset="2"/>
              </a:rPr>
              <a:t>2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  <a:sym typeface="Symbol" pitchFamily="18" charset="2"/>
              </a:rPr>
              <a:t>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≤b 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  <a:sym typeface="Wingdings" pitchFamily="2" charset="2"/>
              </a:rPr>
              <a:t>那么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  <a:sym typeface="Wingdings" pitchFamily="2" charset="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  <a:sym typeface="Wingdings" pitchFamily="2" charset="2"/>
              </a:rPr>
              <a:t>       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  <a:sym typeface="Wingdings" pitchFamily="2" charset="2"/>
              </a:rPr>
              <a:t>1°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  <a:sym typeface="Wingdings" pitchFamily="2" charset="2"/>
              </a:rPr>
              <a:t>若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  <a:sym typeface="Wingdings" pitchFamily="2" charset="2"/>
              </a:rPr>
              <a:t>f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  <a:sym typeface="Wingdings" pitchFamily="2" charset="2"/>
              </a:rPr>
              <a:t>(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  <a:sym typeface="Symbol" pitchFamily="18" charset="2"/>
              </a:rPr>
              <a:t>x</a:t>
            </a: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  <a:sym typeface="Symbol" pitchFamily="18" charset="2"/>
              </a:rPr>
              <a:t>1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  <a:sym typeface="Wingdings" pitchFamily="2" charset="2"/>
              </a:rPr>
              <a:t>)≥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  <a:sym typeface="Wingdings" pitchFamily="2" charset="2"/>
              </a:rPr>
              <a:t>f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  <a:sym typeface="Wingdings" pitchFamily="2" charset="2"/>
              </a:rPr>
              <a:t>(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  <a:sym typeface="Symbol" pitchFamily="18" charset="2"/>
              </a:rPr>
              <a:t>x</a:t>
            </a: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  <a:sym typeface="Symbol" pitchFamily="18" charset="2"/>
              </a:rPr>
              <a:t>2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  <a:sym typeface="Wingdings" pitchFamily="2" charset="2"/>
              </a:rPr>
              <a:t>)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  <a:sym typeface="Wingdings" pitchFamily="2" charset="2"/>
              </a:rPr>
              <a:t>，则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  <a:sym typeface="Wingdings" pitchFamily="2" charset="2"/>
              </a:rPr>
              <a:t>x</a:t>
            </a:r>
            <a:r>
              <a:rPr kumimoji="0" lang="en-US" altLang="zh-CN" sz="2400" b="1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  <a:sym typeface="Wingdings" pitchFamily="2" charset="2"/>
              </a:rPr>
              <a:t>*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  <a:sym typeface="Wingdings" pitchFamily="2" charset="2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∈[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  <a:sym typeface="Symbol" pitchFamily="18" charset="2"/>
              </a:rPr>
              <a:t>x</a:t>
            </a: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  <a:sym typeface="Symbol" pitchFamily="18" charset="2"/>
              </a:rPr>
              <a:t>1</a:t>
            </a:r>
            <a:r>
              <a:rPr kumimoji="0" lang="en-US" altLang="zh-CN" sz="2400" b="1" i="1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  <a:sym typeface="Symbol" pitchFamily="18" charset="2"/>
              </a:rPr>
              <a:t>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  <a:sym typeface="Wingdings" pitchFamily="2" charset="2"/>
              </a:rPr>
              <a:t>, b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] ,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如左下图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       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2°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  <a:sym typeface="Wingdings" pitchFamily="2" charset="2"/>
              </a:rPr>
              <a:t>若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  <a:sym typeface="Wingdings" pitchFamily="2" charset="2"/>
              </a:rPr>
              <a:t>f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  <a:sym typeface="Wingdings" pitchFamily="2" charset="2"/>
              </a:rPr>
              <a:t>(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  <a:sym typeface="Symbol" pitchFamily="18" charset="2"/>
              </a:rPr>
              <a:t>x</a:t>
            </a: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  <a:sym typeface="Symbol" pitchFamily="18" charset="2"/>
              </a:rPr>
              <a:t>1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  <a:sym typeface="Wingdings" pitchFamily="2" charset="2"/>
              </a:rPr>
              <a:t>)&lt;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  <a:sym typeface="Wingdings" pitchFamily="2" charset="2"/>
              </a:rPr>
              <a:t>f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  <a:sym typeface="Wingdings" pitchFamily="2" charset="2"/>
              </a:rPr>
              <a:t>(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  <a:sym typeface="Symbol" pitchFamily="18" charset="2"/>
              </a:rPr>
              <a:t>x</a:t>
            </a: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  <a:sym typeface="Symbol" pitchFamily="18" charset="2"/>
              </a:rPr>
              <a:t>2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  <a:sym typeface="Wingdings" pitchFamily="2" charset="2"/>
              </a:rPr>
              <a:t>)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  <a:sym typeface="Wingdings" pitchFamily="2" charset="2"/>
              </a:rPr>
              <a:t>，则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  <a:sym typeface="Wingdings" pitchFamily="2" charset="2"/>
              </a:rPr>
              <a:t>x</a:t>
            </a:r>
            <a:r>
              <a:rPr kumimoji="0" lang="en-US" altLang="zh-CN" sz="2400" b="1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  <a:sym typeface="Wingdings" pitchFamily="2" charset="2"/>
              </a:rPr>
              <a:t>*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  <a:sym typeface="Wingdings" pitchFamily="2" charset="2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∈[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  <a:sym typeface="Symbol" pitchFamily="18" charset="2"/>
              </a:rPr>
              <a:t>a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  <a:sym typeface="Wingdings" pitchFamily="2" charset="2"/>
              </a:rPr>
              <a:t>,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  <a:sym typeface="Symbol" pitchFamily="18" charset="2"/>
              </a:rPr>
              <a:t>x</a:t>
            </a: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  <a:sym typeface="Symbol" pitchFamily="18" charset="2"/>
              </a:rPr>
              <a:t>2</a:t>
            </a:r>
            <a:r>
              <a:rPr kumimoji="0" lang="en-US" altLang="zh-CN" sz="2400" b="1" i="1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  <a:sym typeface="Symbol" pitchFamily="18" charset="2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],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如右下图</a:t>
            </a:r>
          </a:p>
        </p:txBody>
      </p:sp>
      <p:grpSp>
        <p:nvGrpSpPr>
          <p:cNvPr id="24" name="Group 4"/>
          <p:cNvGrpSpPr>
            <a:grpSpLocks/>
          </p:cNvGrpSpPr>
          <p:nvPr/>
        </p:nvGrpSpPr>
        <p:grpSpPr bwMode="auto">
          <a:xfrm>
            <a:off x="1219200" y="2890166"/>
            <a:ext cx="2514600" cy="2362200"/>
            <a:chOff x="776" y="1968"/>
            <a:chExt cx="1584" cy="1488"/>
          </a:xfrm>
        </p:grpSpPr>
        <p:sp>
          <p:nvSpPr>
            <p:cNvPr id="25" name="Rectangle 5"/>
            <p:cNvSpPr>
              <a:spLocks noChangeArrowheads="1"/>
            </p:cNvSpPr>
            <p:nvPr/>
          </p:nvSpPr>
          <p:spPr bwMode="auto">
            <a:xfrm>
              <a:off x="960" y="2496"/>
              <a:ext cx="1104" cy="96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00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Arc 6"/>
            <p:cNvSpPr>
              <a:spLocks/>
            </p:cNvSpPr>
            <p:nvPr/>
          </p:nvSpPr>
          <p:spPr bwMode="auto">
            <a:xfrm rot="7208220">
              <a:off x="1381" y="2242"/>
              <a:ext cx="912" cy="619"/>
            </a:xfrm>
            <a:custGeom>
              <a:avLst/>
              <a:gdLst>
                <a:gd name="T0" fmla="*/ 0 w 21600"/>
                <a:gd name="T1" fmla="*/ 0 h 22361"/>
                <a:gd name="T2" fmla="*/ 0 w 21600"/>
                <a:gd name="T3" fmla="*/ 0 h 22361"/>
                <a:gd name="T4" fmla="*/ 0 w 21600"/>
                <a:gd name="T5" fmla="*/ 0 h 22361"/>
                <a:gd name="T6" fmla="*/ 0 60000 65536"/>
                <a:gd name="T7" fmla="*/ 0 60000 65536"/>
                <a:gd name="T8" fmla="*/ 0 60000 65536"/>
                <a:gd name="T9" fmla="*/ 0 w 21600"/>
                <a:gd name="T10" fmla="*/ 0 h 22361"/>
                <a:gd name="T11" fmla="*/ 21600 w 21600"/>
                <a:gd name="T12" fmla="*/ 22361 h 223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2361" fill="none" extrusionOk="0">
                  <a:moveTo>
                    <a:pt x="549" y="0"/>
                  </a:moveTo>
                  <a:cubicBezTo>
                    <a:pt x="12261" y="298"/>
                    <a:pt x="21600" y="9877"/>
                    <a:pt x="21600" y="21593"/>
                  </a:cubicBezTo>
                  <a:cubicBezTo>
                    <a:pt x="21600" y="21849"/>
                    <a:pt x="21595" y="22105"/>
                    <a:pt x="21586" y="22361"/>
                  </a:cubicBezTo>
                </a:path>
                <a:path w="21600" h="22361" stroke="0" extrusionOk="0">
                  <a:moveTo>
                    <a:pt x="549" y="0"/>
                  </a:moveTo>
                  <a:cubicBezTo>
                    <a:pt x="12261" y="298"/>
                    <a:pt x="21600" y="9877"/>
                    <a:pt x="21600" y="21593"/>
                  </a:cubicBezTo>
                  <a:cubicBezTo>
                    <a:pt x="21600" y="21849"/>
                    <a:pt x="21595" y="22105"/>
                    <a:pt x="21586" y="22361"/>
                  </a:cubicBezTo>
                  <a:lnTo>
                    <a:pt x="0" y="21593"/>
                  </a:lnTo>
                  <a:close/>
                </a:path>
              </a:pathLst>
            </a:custGeom>
            <a:solidFill>
              <a:srgbClr val="CCFFFF"/>
            </a:solidFill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 rot="10800000" vert="eaVert" wrap="none" anchor="ctr"/>
            <a:lstStyle/>
            <a:p>
              <a:endParaRPr lang="zh-CN" altLang="en-US"/>
            </a:p>
          </p:txBody>
        </p:sp>
        <p:sp>
          <p:nvSpPr>
            <p:cNvPr id="27" name="Arc 7"/>
            <p:cNvSpPr>
              <a:spLocks/>
            </p:cNvSpPr>
            <p:nvPr/>
          </p:nvSpPr>
          <p:spPr bwMode="auto">
            <a:xfrm rot="14385203" flipH="1">
              <a:off x="818" y="2305"/>
              <a:ext cx="912" cy="525"/>
            </a:xfrm>
            <a:custGeom>
              <a:avLst/>
              <a:gdLst>
                <a:gd name="T0" fmla="*/ 0 w 21600"/>
                <a:gd name="T1" fmla="*/ 0 h 22361"/>
                <a:gd name="T2" fmla="*/ 0 w 21600"/>
                <a:gd name="T3" fmla="*/ 0 h 22361"/>
                <a:gd name="T4" fmla="*/ 0 w 21600"/>
                <a:gd name="T5" fmla="*/ 0 h 22361"/>
                <a:gd name="T6" fmla="*/ 0 60000 65536"/>
                <a:gd name="T7" fmla="*/ 0 60000 65536"/>
                <a:gd name="T8" fmla="*/ 0 60000 65536"/>
                <a:gd name="T9" fmla="*/ 0 w 21600"/>
                <a:gd name="T10" fmla="*/ 0 h 22361"/>
                <a:gd name="T11" fmla="*/ 21600 w 21600"/>
                <a:gd name="T12" fmla="*/ 22361 h 223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2361" fill="none" extrusionOk="0">
                  <a:moveTo>
                    <a:pt x="549" y="0"/>
                  </a:moveTo>
                  <a:cubicBezTo>
                    <a:pt x="12261" y="298"/>
                    <a:pt x="21600" y="9877"/>
                    <a:pt x="21600" y="21593"/>
                  </a:cubicBezTo>
                  <a:cubicBezTo>
                    <a:pt x="21600" y="21849"/>
                    <a:pt x="21595" y="22105"/>
                    <a:pt x="21586" y="22361"/>
                  </a:cubicBezTo>
                </a:path>
                <a:path w="21600" h="22361" stroke="0" extrusionOk="0">
                  <a:moveTo>
                    <a:pt x="549" y="0"/>
                  </a:moveTo>
                  <a:cubicBezTo>
                    <a:pt x="12261" y="298"/>
                    <a:pt x="21600" y="9877"/>
                    <a:pt x="21600" y="21593"/>
                  </a:cubicBezTo>
                  <a:cubicBezTo>
                    <a:pt x="21600" y="21849"/>
                    <a:pt x="21595" y="22105"/>
                    <a:pt x="21586" y="22361"/>
                  </a:cubicBezTo>
                  <a:lnTo>
                    <a:pt x="0" y="21593"/>
                  </a:lnTo>
                  <a:close/>
                </a:path>
              </a:pathLst>
            </a:custGeom>
            <a:solidFill>
              <a:srgbClr val="CCFFFF"/>
            </a:solidFill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28" name="Rectangle 8"/>
            <p:cNvSpPr>
              <a:spLocks noChangeArrowheads="1"/>
            </p:cNvSpPr>
            <p:nvPr/>
          </p:nvSpPr>
          <p:spPr bwMode="auto">
            <a:xfrm rot="417416">
              <a:off x="776" y="1968"/>
              <a:ext cx="1584" cy="600"/>
            </a:xfrm>
            <a:prstGeom prst="rect">
              <a:avLst/>
            </a:prstGeom>
            <a:solidFill>
              <a:srgbClr val="CCFFFF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kumimoji="1" lang="zh-CN" altLang="zh-CN" sz="2000"/>
            </a:p>
          </p:txBody>
        </p:sp>
        <p:sp>
          <p:nvSpPr>
            <p:cNvPr id="29" name="Rectangle 9"/>
            <p:cNvSpPr>
              <a:spLocks noChangeArrowheads="1"/>
            </p:cNvSpPr>
            <p:nvPr/>
          </p:nvSpPr>
          <p:spPr bwMode="auto">
            <a:xfrm>
              <a:off x="1348" y="2352"/>
              <a:ext cx="192" cy="288"/>
            </a:xfrm>
            <a:prstGeom prst="rect">
              <a:avLst/>
            </a:prstGeom>
            <a:solidFill>
              <a:srgbClr val="CCFFFF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0" name="Group 10"/>
          <p:cNvGrpSpPr>
            <a:grpSpLocks/>
          </p:cNvGrpSpPr>
          <p:nvPr/>
        </p:nvGrpSpPr>
        <p:grpSpPr bwMode="auto">
          <a:xfrm>
            <a:off x="539750" y="3321966"/>
            <a:ext cx="3270250" cy="2203450"/>
            <a:chOff x="340" y="2240"/>
            <a:chExt cx="2060" cy="1388"/>
          </a:xfrm>
        </p:grpSpPr>
        <p:grpSp>
          <p:nvGrpSpPr>
            <p:cNvPr id="31" name="Group 11"/>
            <p:cNvGrpSpPr>
              <a:grpSpLocks/>
            </p:cNvGrpSpPr>
            <p:nvPr/>
          </p:nvGrpSpPr>
          <p:grpSpPr bwMode="auto">
            <a:xfrm>
              <a:off x="340" y="2240"/>
              <a:ext cx="2060" cy="1360"/>
              <a:chOff x="240" y="2400"/>
              <a:chExt cx="2060" cy="1360"/>
            </a:xfrm>
          </p:grpSpPr>
          <p:sp>
            <p:nvSpPr>
              <p:cNvPr id="34" name="Line 12"/>
              <p:cNvSpPr>
                <a:spLocks noChangeShapeType="1"/>
              </p:cNvSpPr>
              <p:nvPr/>
            </p:nvSpPr>
            <p:spPr bwMode="auto">
              <a:xfrm flipV="1">
                <a:off x="589" y="2460"/>
                <a:ext cx="0" cy="1157"/>
              </a:xfrm>
              <a:prstGeom prst="line">
                <a:avLst/>
              </a:prstGeom>
              <a:noFill/>
              <a:ln w="12700">
                <a:solidFill>
                  <a:srgbClr val="0000FF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" name="Line 13"/>
              <p:cNvSpPr>
                <a:spLocks noChangeShapeType="1"/>
              </p:cNvSpPr>
              <p:nvPr/>
            </p:nvSpPr>
            <p:spPr bwMode="auto">
              <a:xfrm>
                <a:off x="597" y="3617"/>
                <a:ext cx="1551" cy="0"/>
              </a:xfrm>
              <a:prstGeom prst="line">
                <a:avLst/>
              </a:prstGeom>
              <a:noFill/>
              <a:ln w="12700">
                <a:solidFill>
                  <a:srgbClr val="0000FF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" name="Rectangle 14"/>
              <p:cNvSpPr>
                <a:spLocks noChangeArrowheads="1"/>
              </p:cNvSpPr>
              <p:nvPr/>
            </p:nvSpPr>
            <p:spPr bwMode="auto">
              <a:xfrm>
                <a:off x="240" y="2400"/>
                <a:ext cx="346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kumimoji="1" lang="en-US" altLang="zh-CN" sz="2000">
                    <a:solidFill>
                      <a:srgbClr val="0000FF"/>
                    </a:solidFill>
                  </a:rPr>
                  <a:t>f(x)</a:t>
                </a:r>
                <a:endParaRPr kumimoji="1" lang="en-US" altLang="zh-CN" sz="2000" baseline="-30000">
                  <a:solidFill>
                    <a:srgbClr val="0000FF"/>
                  </a:solidFill>
                </a:endParaRPr>
              </a:p>
            </p:txBody>
          </p:sp>
          <p:sp>
            <p:nvSpPr>
              <p:cNvPr id="37" name="Rectangle 15"/>
              <p:cNvSpPr>
                <a:spLocks noChangeArrowheads="1"/>
              </p:cNvSpPr>
              <p:nvPr/>
            </p:nvSpPr>
            <p:spPr bwMode="auto">
              <a:xfrm>
                <a:off x="2104" y="3510"/>
                <a:ext cx="196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kumimoji="1" lang="en-US" altLang="zh-CN" sz="2000">
                    <a:solidFill>
                      <a:srgbClr val="0000FF"/>
                    </a:solidFill>
                  </a:rPr>
                  <a:t>x</a:t>
                </a:r>
                <a:endParaRPr kumimoji="1" lang="en-US" altLang="zh-CN" sz="2000" baseline="-30000">
                  <a:solidFill>
                    <a:srgbClr val="0000FF"/>
                  </a:solidFill>
                </a:endParaRPr>
              </a:p>
            </p:txBody>
          </p:sp>
        </p:grpSp>
        <p:sp>
          <p:nvSpPr>
            <p:cNvPr id="32" name="Text Box 16"/>
            <p:cNvSpPr txBox="1">
              <a:spLocks noChangeArrowheads="1"/>
            </p:cNvSpPr>
            <p:nvPr/>
          </p:nvSpPr>
          <p:spPr bwMode="auto">
            <a:xfrm>
              <a:off x="876" y="3376"/>
              <a:ext cx="28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>
                  <a:solidFill>
                    <a:srgbClr val="0000FF"/>
                  </a:solidFill>
                </a:rPr>
                <a:t>a</a:t>
              </a:r>
            </a:p>
          </p:txBody>
        </p:sp>
        <p:sp>
          <p:nvSpPr>
            <p:cNvPr id="33" name="Text Box 17"/>
            <p:cNvSpPr txBox="1">
              <a:spLocks noChangeArrowheads="1"/>
            </p:cNvSpPr>
            <p:nvPr/>
          </p:nvSpPr>
          <p:spPr bwMode="auto">
            <a:xfrm>
              <a:off x="1992" y="3416"/>
              <a:ext cx="192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1600">
                  <a:solidFill>
                    <a:srgbClr val="0000FF"/>
                  </a:solidFill>
                </a:rPr>
                <a:t>b</a:t>
              </a:r>
            </a:p>
          </p:txBody>
        </p:sp>
      </p:grpSp>
      <p:sp>
        <p:nvSpPr>
          <p:cNvPr id="38" name="Text Box 18"/>
          <p:cNvSpPr txBox="1">
            <a:spLocks noChangeArrowheads="1"/>
          </p:cNvSpPr>
          <p:nvPr/>
        </p:nvSpPr>
        <p:spPr bwMode="auto">
          <a:xfrm>
            <a:off x="1562100" y="5543193"/>
            <a:ext cx="1828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dirty="0">
                <a:solidFill>
                  <a:srgbClr val="0000FF"/>
                </a:solidFill>
              </a:rPr>
              <a:t>(I) </a:t>
            </a:r>
            <a:r>
              <a:rPr kumimoji="1" lang="zh-CN" altLang="en-US" dirty="0">
                <a:solidFill>
                  <a:srgbClr val="0000FF"/>
                </a:solidFill>
              </a:rPr>
              <a:t>消去</a:t>
            </a:r>
            <a:r>
              <a:rPr kumimoji="1" lang="en-US" altLang="zh-CN" dirty="0">
                <a:solidFill>
                  <a:srgbClr val="0000FF"/>
                </a:solidFill>
              </a:rPr>
              <a:t>[a, x</a:t>
            </a:r>
            <a:r>
              <a:rPr kumimoji="1" lang="en-US" altLang="zh-CN" baseline="-30000" dirty="0">
                <a:solidFill>
                  <a:srgbClr val="0000FF"/>
                </a:solidFill>
              </a:rPr>
              <a:t>1 </a:t>
            </a:r>
            <a:r>
              <a:rPr kumimoji="1" lang="en-US" altLang="zh-CN" dirty="0">
                <a:solidFill>
                  <a:srgbClr val="0000FF"/>
                </a:solidFill>
              </a:rPr>
              <a:t>]</a:t>
            </a:r>
            <a:endParaRPr kumimoji="1" lang="en-US" altLang="zh-CN" baseline="-30000" dirty="0">
              <a:solidFill>
                <a:srgbClr val="0000FF"/>
              </a:solidFill>
            </a:endParaRPr>
          </a:p>
        </p:txBody>
      </p:sp>
      <p:grpSp>
        <p:nvGrpSpPr>
          <p:cNvPr id="39" name="Group 19"/>
          <p:cNvGrpSpPr>
            <a:grpSpLocks/>
          </p:cNvGrpSpPr>
          <p:nvPr/>
        </p:nvGrpSpPr>
        <p:grpSpPr bwMode="auto">
          <a:xfrm>
            <a:off x="2286000" y="4337966"/>
            <a:ext cx="357188" cy="1217613"/>
            <a:chOff x="1440" y="2880"/>
            <a:chExt cx="225" cy="767"/>
          </a:xfrm>
        </p:grpSpPr>
        <p:sp>
          <p:nvSpPr>
            <p:cNvPr id="40" name="Line 20"/>
            <p:cNvSpPr>
              <a:spLocks noChangeShapeType="1"/>
            </p:cNvSpPr>
            <p:nvPr/>
          </p:nvSpPr>
          <p:spPr bwMode="auto">
            <a:xfrm>
              <a:off x="1536" y="2880"/>
              <a:ext cx="0" cy="576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Rectangle 21"/>
            <p:cNvSpPr>
              <a:spLocks noChangeArrowheads="1"/>
            </p:cNvSpPr>
            <p:nvPr/>
          </p:nvSpPr>
          <p:spPr bwMode="auto">
            <a:xfrm>
              <a:off x="1440" y="3416"/>
              <a:ext cx="225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solidFill>
                    <a:srgbClr val="FF0000"/>
                  </a:solidFill>
                </a:rPr>
                <a:t>x</a:t>
              </a:r>
              <a:r>
                <a:rPr kumimoji="1" lang="en-US" altLang="zh-CN" baseline="30000">
                  <a:solidFill>
                    <a:srgbClr val="FF0000"/>
                  </a:solidFill>
                </a:rPr>
                <a:t>*</a:t>
              </a:r>
            </a:p>
          </p:txBody>
        </p:sp>
      </p:grpSp>
      <p:grpSp>
        <p:nvGrpSpPr>
          <p:cNvPr id="42" name="Group 22"/>
          <p:cNvGrpSpPr>
            <a:grpSpLocks/>
          </p:cNvGrpSpPr>
          <p:nvPr/>
        </p:nvGrpSpPr>
        <p:grpSpPr bwMode="auto">
          <a:xfrm>
            <a:off x="1625600" y="4033166"/>
            <a:ext cx="382588" cy="1471613"/>
            <a:chOff x="1024" y="2688"/>
            <a:chExt cx="241" cy="927"/>
          </a:xfrm>
        </p:grpSpPr>
        <p:sp>
          <p:nvSpPr>
            <p:cNvPr id="43" name="Line 23"/>
            <p:cNvSpPr>
              <a:spLocks noChangeShapeType="1"/>
            </p:cNvSpPr>
            <p:nvPr/>
          </p:nvSpPr>
          <p:spPr bwMode="auto">
            <a:xfrm>
              <a:off x="1120" y="2688"/>
              <a:ext cx="0" cy="768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Rectangle 24"/>
            <p:cNvSpPr>
              <a:spLocks noChangeArrowheads="1"/>
            </p:cNvSpPr>
            <p:nvPr/>
          </p:nvSpPr>
          <p:spPr bwMode="auto">
            <a:xfrm>
              <a:off x="1024" y="3384"/>
              <a:ext cx="241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solidFill>
                    <a:srgbClr val="0000FF"/>
                  </a:solidFill>
                </a:rPr>
                <a:t>x</a:t>
              </a:r>
              <a:r>
                <a:rPr kumimoji="1" lang="en-US" altLang="zh-CN" baseline="-30000">
                  <a:solidFill>
                    <a:srgbClr val="0000FF"/>
                  </a:solidFill>
                </a:rPr>
                <a:t>1</a:t>
              </a:r>
            </a:p>
          </p:txBody>
        </p:sp>
      </p:grpSp>
      <p:grpSp>
        <p:nvGrpSpPr>
          <p:cNvPr id="45" name="Group 25"/>
          <p:cNvGrpSpPr>
            <a:grpSpLocks/>
          </p:cNvGrpSpPr>
          <p:nvPr/>
        </p:nvGrpSpPr>
        <p:grpSpPr bwMode="auto">
          <a:xfrm>
            <a:off x="1936750" y="4261766"/>
            <a:ext cx="382588" cy="1255713"/>
            <a:chOff x="1220" y="2832"/>
            <a:chExt cx="241" cy="791"/>
          </a:xfrm>
        </p:grpSpPr>
        <p:sp>
          <p:nvSpPr>
            <p:cNvPr id="46" name="Line 26"/>
            <p:cNvSpPr>
              <a:spLocks noChangeShapeType="1"/>
            </p:cNvSpPr>
            <p:nvPr/>
          </p:nvSpPr>
          <p:spPr bwMode="auto">
            <a:xfrm>
              <a:off x="1328" y="2832"/>
              <a:ext cx="0" cy="624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Rectangle 27"/>
            <p:cNvSpPr>
              <a:spLocks noChangeArrowheads="1"/>
            </p:cNvSpPr>
            <p:nvPr/>
          </p:nvSpPr>
          <p:spPr bwMode="auto">
            <a:xfrm>
              <a:off x="1220" y="3392"/>
              <a:ext cx="241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solidFill>
                    <a:srgbClr val="0000FF"/>
                  </a:solidFill>
                </a:rPr>
                <a:t>x</a:t>
              </a:r>
              <a:r>
                <a:rPr kumimoji="1" lang="en-US" altLang="zh-CN" baseline="-30000">
                  <a:solidFill>
                    <a:srgbClr val="0000FF"/>
                  </a:solidFill>
                </a:rPr>
                <a:t>2</a:t>
              </a:r>
            </a:p>
          </p:txBody>
        </p:sp>
      </p:grpSp>
      <p:grpSp>
        <p:nvGrpSpPr>
          <p:cNvPr id="48" name="Group 28"/>
          <p:cNvGrpSpPr>
            <a:grpSpLocks/>
          </p:cNvGrpSpPr>
          <p:nvPr/>
        </p:nvGrpSpPr>
        <p:grpSpPr bwMode="auto">
          <a:xfrm>
            <a:off x="1524000" y="3880766"/>
            <a:ext cx="228600" cy="1360488"/>
            <a:chOff x="960" y="2592"/>
            <a:chExt cx="144" cy="857"/>
          </a:xfrm>
        </p:grpSpPr>
        <p:sp>
          <p:nvSpPr>
            <p:cNvPr id="49" name="Line 29"/>
            <p:cNvSpPr>
              <a:spLocks noChangeShapeType="1"/>
            </p:cNvSpPr>
            <p:nvPr/>
          </p:nvSpPr>
          <p:spPr bwMode="auto">
            <a:xfrm>
              <a:off x="960" y="2592"/>
              <a:ext cx="14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Line 30"/>
            <p:cNvSpPr>
              <a:spLocks noChangeShapeType="1"/>
            </p:cNvSpPr>
            <p:nvPr/>
          </p:nvSpPr>
          <p:spPr bwMode="auto">
            <a:xfrm>
              <a:off x="960" y="2688"/>
              <a:ext cx="14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Line 31"/>
            <p:cNvSpPr>
              <a:spLocks noChangeShapeType="1"/>
            </p:cNvSpPr>
            <p:nvPr/>
          </p:nvSpPr>
          <p:spPr bwMode="auto">
            <a:xfrm>
              <a:off x="960" y="2784"/>
              <a:ext cx="14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Line 32"/>
            <p:cNvSpPr>
              <a:spLocks noChangeShapeType="1"/>
            </p:cNvSpPr>
            <p:nvPr/>
          </p:nvSpPr>
          <p:spPr bwMode="auto">
            <a:xfrm>
              <a:off x="960" y="2880"/>
              <a:ext cx="14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Line 33"/>
            <p:cNvSpPr>
              <a:spLocks noChangeShapeType="1"/>
            </p:cNvSpPr>
            <p:nvPr/>
          </p:nvSpPr>
          <p:spPr bwMode="auto">
            <a:xfrm>
              <a:off x="960" y="2976"/>
              <a:ext cx="14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Line 34"/>
            <p:cNvSpPr>
              <a:spLocks noChangeShapeType="1"/>
            </p:cNvSpPr>
            <p:nvPr/>
          </p:nvSpPr>
          <p:spPr bwMode="auto">
            <a:xfrm>
              <a:off x="960" y="3072"/>
              <a:ext cx="14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Line 35"/>
            <p:cNvSpPr>
              <a:spLocks noChangeShapeType="1"/>
            </p:cNvSpPr>
            <p:nvPr/>
          </p:nvSpPr>
          <p:spPr bwMode="auto">
            <a:xfrm>
              <a:off x="960" y="3168"/>
              <a:ext cx="14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Line 36"/>
            <p:cNvSpPr>
              <a:spLocks noChangeShapeType="1"/>
            </p:cNvSpPr>
            <p:nvPr/>
          </p:nvSpPr>
          <p:spPr bwMode="auto">
            <a:xfrm>
              <a:off x="960" y="3264"/>
              <a:ext cx="14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Line 37"/>
            <p:cNvSpPr>
              <a:spLocks noChangeShapeType="1"/>
            </p:cNvSpPr>
            <p:nvPr/>
          </p:nvSpPr>
          <p:spPr bwMode="auto">
            <a:xfrm>
              <a:off x="968" y="3376"/>
              <a:ext cx="73" cy="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8" name="Group 38"/>
          <p:cNvGrpSpPr>
            <a:grpSpLocks/>
          </p:cNvGrpSpPr>
          <p:nvPr/>
        </p:nvGrpSpPr>
        <p:grpSpPr bwMode="auto">
          <a:xfrm>
            <a:off x="5486400" y="2890166"/>
            <a:ext cx="2514600" cy="2362200"/>
            <a:chOff x="776" y="1968"/>
            <a:chExt cx="1584" cy="1488"/>
          </a:xfrm>
        </p:grpSpPr>
        <p:sp>
          <p:nvSpPr>
            <p:cNvPr id="59" name="Rectangle 39"/>
            <p:cNvSpPr>
              <a:spLocks noChangeArrowheads="1"/>
            </p:cNvSpPr>
            <p:nvPr/>
          </p:nvSpPr>
          <p:spPr bwMode="auto">
            <a:xfrm>
              <a:off x="960" y="2496"/>
              <a:ext cx="1104" cy="96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00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" name="Arc 40"/>
            <p:cNvSpPr>
              <a:spLocks/>
            </p:cNvSpPr>
            <p:nvPr/>
          </p:nvSpPr>
          <p:spPr bwMode="auto">
            <a:xfrm rot="7208220">
              <a:off x="1381" y="2242"/>
              <a:ext cx="912" cy="619"/>
            </a:xfrm>
            <a:custGeom>
              <a:avLst/>
              <a:gdLst>
                <a:gd name="T0" fmla="*/ 0 w 21600"/>
                <a:gd name="T1" fmla="*/ 0 h 22361"/>
                <a:gd name="T2" fmla="*/ 0 w 21600"/>
                <a:gd name="T3" fmla="*/ 0 h 22361"/>
                <a:gd name="T4" fmla="*/ 0 w 21600"/>
                <a:gd name="T5" fmla="*/ 0 h 22361"/>
                <a:gd name="T6" fmla="*/ 0 60000 65536"/>
                <a:gd name="T7" fmla="*/ 0 60000 65536"/>
                <a:gd name="T8" fmla="*/ 0 60000 65536"/>
                <a:gd name="T9" fmla="*/ 0 w 21600"/>
                <a:gd name="T10" fmla="*/ 0 h 22361"/>
                <a:gd name="T11" fmla="*/ 21600 w 21600"/>
                <a:gd name="T12" fmla="*/ 22361 h 223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2361" fill="none" extrusionOk="0">
                  <a:moveTo>
                    <a:pt x="549" y="0"/>
                  </a:moveTo>
                  <a:cubicBezTo>
                    <a:pt x="12261" y="298"/>
                    <a:pt x="21600" y="9877"/>
                    <a:pt x="21600" y="21593"/>
                  </a:cubicBezTo>
                  <a:cubicBezTo>
                    <a:pt x="21600" y="21849"/>
                    <a:pt x="21595" y="22105"/>
                    <a:pt x="21586" y="22361"/>
                  </a:cubicBezTo>
                </a:path>
                <a:path w="21600" h="22361" stroke="0" extrusionOk="0">
                  <a:moveTo>
                    <a:pt x="549" y="0"/>
                  </a:moveTo>
                  <a:cubicBezTo>
                    <a:pt x="12261" y="298"/>
                    <a:pt x="21600" y="9877"/>
                    <a:pt x="21600" y="21593"/>
                  </a:cubicBezTo>
                  <a:cubicBezTo>
                    <a:pt x="21600" y="21849"/>
                    <a:pt x="21595" y="22105"/>
                    <a:pt x="21586" y="22361"/>
                  </a:cubicBezTo>
                  <a:lnTo>
                    <a:pt x="0" y="21593"/>
                  </a:lnTo>
                  <a:close/>
                </a:path>
              </a:pathLst>
            </a:custGeom>
            <a:solidFill>
              <a:srgbClr val="CCFFFF"/>
            </a:solidFill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 rot="10800000" vert="eaVert" wrap="none" anchor="ctr"/>
            <a:lstStyle/>
            <a:p>
              <a:endParaRPr lang="zh-CN" altLang="en-US"/>
            </a:p>
          </p:txBody>
        </p:sp>
        <p:sp>
          <p:nvSpPr>
            <p:cNvPr id="61" name="Arc 41"/>
            <p:cNvSpPr>
              <a:spLocks/>
            </p:cNvSpPr>
            <p:nvPr/>
          </p:nvSpPr>
          <p:spPr bwMode="auto">
            <a:xfrm rot="14385203" flipH="1">
              <a:off x="818" y="2305"/>
              <a:ext cx="912" cy="525"/>
            </a:xfrm>
            <a:custGeom>
              <a:avLst/>
              <a:gdLst>
                <a:gd name="T0" fmla="*/ 0 w 21600"/>
                <a:gd name="T1" fmla="*/ 0 h 22361"/>
                <a:gd name="T2" fmla="*/ 0 w 21600"/>
                <a:gd name="T3" fmla="*/ 0 h 22361"/>
                <a:gd name="T4" fmla="*/ 0 w 21600"/>
                <a:gd name="T5" fmla="*/ 0 h 22361"/>
                <a:gd name="T6" fmla="*/ 0 60000 65536"/>
                <a:gd name="T7" fmla="*/ 0 60000 65536"/>
                <a:gd name="T8" fmla="*/ 0 60000 65536"/>
                <a:gd name="T9" fmla="*/ 0 w 21600"/>
                <a:gd name="T10" fmla="*/ 0 h 22361"/>
                <a:gd name="T11" fmla="*/ 21600 w 21600"/>
                <a:gd name="T12" fmla="*/ 22361 h 223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2361" fill="none" extrusionOk="0">
                  <a:moveTo>
                    <a:pt x="549" y="0"/>
                  </a:moveTo>
                  <a:cubicBezTo>
                    <a:pt x="12261" y="298"/>
                    <a:pt x="21600" y="9877"/>
                    <a:pt x="21600" y="21593"/>
                  </a:cubicBezTo>
                  <a:cubicBezTo>
                    <a:pt x="21600" y="21849"/>
                    <a:pt x="21595" y="22105"/>
                    <a:pt x="21586" y="22361"/>
                  </a:cubicBezTo>
                </a:path>
                <a:path w="21600" h="22361" stroke="0" extrusionOk="0">
                  <a:moveTo>
                    <a:pt x="549" y="0"/>
                  </a:moveTo>
                  <a:cubicBezTo>
                    <a:pt x="12261" y="298"/>
                    <a:pt x="21600" y="9877"/>
                    <a:pt x="21600" y="21593"/>
                  </a:cubicBezTo>
                  <a:cubicBezTo>
                    <a:pt x="21600" y="21849"/>
                    <a:pt x="21595" y="22105"/>
                    <a:pt x="21586" y="22361"/>
                  </a:cubicBezTo>
                  <a:lnTo>
                    <a:pt x="0" y="21593"/>
                  </a:lnTo>
                  <a:close/>
                </a:path>
              </a:pathLst>
            </a:custGeom>
            <a:solidFill>
              <a:srgbClr val="CCFFFF"/>
            </a:solidFill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62" name="Rectangle 42"/>
            <p:cNvSpPr>
              <a:spLocks noChangeArrowheads="1"/>
            </p:cNvSpPr>
            <p:nvPr/>
          </p:nvSpPr>
          <p:spPr bwMode="auto">
            <a:xfrm rot="417416">
              <a:off x="776" y="1968"/>
              <a:ext cx="1584" cy="600"/>
            </a:xfrm>
            <a:prstGeom prst="rect">
              <a:avLst/>
            </a:prstGeom>
            <a:solidFill>
              <a:srgbClr val="CCFFFF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kumimoji="1" lang="zh-CN" altLang="zh-CN" sz="2000"/>
            </a:p>
          </p:txBody>
        </p:sp>
        <p:sp>
          <p:nvSpPr>
            <p:cNvPr id="63" name="Rectangle 43"/>
            <p:cNvSpPr>
              <a:spLocks noChangeArrowheads="1"/>
            </p:cNvSpPr>
            <p:nvPr/>
          </p:nvSpPr>
          <p:spPr bwMode="auto">
            <a:xfrm>
              <a:off x="1348" y="2352"/>
              <a:ext cx="192" cy="288"/>
            </a:xfrm>
            <a:prstGeom prst="rect">
              <a:avLst/>
            </a:prstGeom>
            <a:solidFill>
              <a:srgbClr val="CCFFFF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4" name="Group 44"/>
          <p:cNvGrpSpPr>
            <a:grpSpLocks/>
          </p:cNvGrpSpPr>
          <p:nvPr/>
        </p:nvGrpSpPr>
        <p:grpSpPr bwMode="auto">
          <a:xfrm>
            <a:off x="4806950" y="3321966"/>
            <a:ext cx="3270250" cy="2203450"/>
            <a:chOff x="340" y="2240"/>
            <a:chExt cx="2060" cy="1388"/>
          </a:xfrm>
        </p:grpSpPr>
        <p:grpSp>
          <p:nvGrpSpPr>
            <p:cNvPr id="65" name="Group 45"/>
            <p:cNvGrpSpPr>
              <a:grpSpLocks/>
            </p:cNvGrpSpPr>
            <p:nvPr/>
          </p:nvGrpSpPr>
          <p:grpSpPr bwMode="auto">
            <a:xfrm>
              <a:off x="340" y="2240"/>
              <a:ext cx="2060" cy="1360"/>
              <a:chOff x="240" y="2400"/>
              <a:chExt cx="2060" cy="1360"/>
            </a:xfrm>
          </p:grpSpPr>
          <p:sp>
            <p:nvSpPr>
              <p:cNvPr id="68" name="Line 46"/>
              <p:cNvSpPr>
                <a:spLocks noChangeShapeType="1"/>
              </p:cNvSpPr>
              <p:nvPr/>
            </p:nvSpPr>
            <p:spPr bwMode="auto">
              <a:xfrm flipV="1">
                <a:off x="589" y="2460"/>
                <a:ext cx="0" cy="1157"/>
              </a:xfrm>
              <a:prstGeom prst="line">
                <a:avLst/>
              </a:prstGeom>
              <a:noFill/>
              <a:ln w="12700">
                <a:solidFill>
                  <a:srgbClr val="0000FF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9" name="Line 47"/>
              <p:cNvSpPr>
                <a:spLocks noChangeShapeType="1"/>
              </p:cNvSpPr>
              <p:nvPr/>
            </p:nvSpPr>
            <p:spPr bwMode="auto">
              <a:xfrm>
                <a:off x="597" y="3617"/>
                <a:ext cx="1551" cy="0"/>
              </a:xfrm>
              <a:prstGeom prst="line">
                <a:avLst/>
              </a:prstGeom>
              <a:noFill/>
              <a:ln w="12700">
                <a:solidFill>
                  <a:srgbClr val="0000FF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0" name="Rectangle 48"/>
              <p:cNvSpPr>
                <a:spLocks noChangeArrowheads="1"/>
              </p:cNvSpPr>
              <p:nvPr/>
            </p:nvSpPr>
            <p:spPr bwMode="auto">
              <a:xfrm>
                <a:off x="240" y="2400"/>
                <a:ext cx="346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kumimoji="1" lang="en-US" altLang="zh-CN" sz="2000">
                    <a:solidFill>
                      <a:srgbClr val="0000FF"/>
                    </a:solidFill>
                  </a:rPr>
                  <a:t>f(x)</a:t>
                </a:r>
                <a:endParaRPr kumimoji="1" lang="en-US" altLang="zh-CN" sz="2000" baseline="-30000">
                  <a:solidFill>
                    <a:srgbClr val="0000FF"/>
                  </a:solidFill>
                </a:endParaRPr>
              </a:p>
            </p:txBody>
          </p:sp>
          <p:sp>
            <p:nvSpPr>
              <p:cNvPr id="71" name="Rectangle 49"/>
              <p:cNvSpPr>
                <a:spLocks noChangeArrowheads="1"/>
              </p:cNvSpPr>
              <p:nvPr/>
            </p:nvSpPr>
            <p:spPr bwMode="auto">
              <a:xfrm>
                <a:off x="2104" y="3510"/>
                <a:ext cx="196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kumimoji="1" lang="en-US" altLang="zh-CN" sz="2000">
                    <a:solidFill>
                      <a:srgbClr val="0000FF"/>
                    </a:solidFill>
                  </a:rPr>
                  <a:t>x</a:t>
                </a:r>
                <a:endParaRPr kumimoji="1" lang="en-US" altLang="zh-CN" sz="2000" baseline="-30000">
                  <a:solidFill>
                    <a:srgbClr val="0000FF"/>
                  </a:solidFill>
                </a:endParaRPr>
              </a:p>
            </p:txBody>
          </p:sp>
        </p:grpSp>
        <p:sp>
          <p:nvSpPr>
            <p:cNvPr id="66" name="Text Box 50"/>
            <p:cNvSpPr txBox="1">
              <a:spLocks noChangeArrowheads="1"/>
            </p:cNvSpPr>
            <p:nvPr/>
          </p:nvSpPr>
          <p:spPr bwMode="auto">
            <a:xfrm>
              <a:off x="876" y="3376"/>
              <a:ext cx="28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>
                  <a:solidFill>
                    <a:srgbClr val="0000FF"/>
                  </a:solidFill>
                </a:rPr>
                <a:t>a</a:t>
              </a:r>
            </a:p>
          </p:txBody>
        </p:sp>
        <p:sp>
          <p:nvSpPr>
            <p:cNvPr id="67" name="Text Box 51"/>
            <p:cNvSpPr txBox="1">
              <a:spLocks noChangeArrowheads="1"/>
            </p:cNvSpPr>
            <p:nvPr/>
          </p:nvSpPr>
          <p:spPr bwMode="auto">
            <a:xfrm>
              <a:off x="1992" y="3416"/>
              <a:ext cx="192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1600">
                  <a:solidFill>
                    <a:srgbClr val="0000FF"/>
                  </a:solidFill>
                </a:rPr>
                <a:t>b</a:t>
              </a:r>
            </a:p>
          </p:txBody>
        </p:sp>
      </p:grpSp>
      <p:sp>
        <p:nvSpPr>
          <p:cNvPr id="72" name="Text Box 52"/>
          <p:cNvSpPr txBox="1">
            <a:spLocks noChangeArrowheads="1"/>
          </p:cNvSpPr>
          <p:nvPr/>
        </p:nvSpPr>
        <p:spPr bwMode="auto">
          <a:xfrm>
            <a:off x="5944912" y="5582567"/>
            <a:ext cx="1828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dirty="0">
                <a:solidFill>
                  <a:srgbClr val="0000FF"/>
                </a:solidFill>
              </a:rPr>
              <a:t>(II) </a:t>
            </a:r>
            <a:r>
              <a:rPr kumimoji="1" lang="zh-CN" altLang="en-US" dirty="0">
                <a:solidFill>
                  <a:srgbClr val="0000FF"/>
                </a:solidFill>
              </a:rPr>
              <a:t>消去</a:t>
            </a:r>
            <a:r>
              <a:rPr kumimoji="1" lang="en-US" altLang="zh-CN" dirty="0">
                <a:solidFill>
                  <a:srgbClr val="0000FF"/>
                </a:solidFill>
              </a:rPr>
              <a:t>[x</a:t>
            </a:r>
            <a:r>
              <a:rPr kumimoji="1" lang="en-US" altLang="zh-CN" baseline="-30000" dirty="0">
                <a:solidFill>
                  <a:srgbClr val="0000FF"/>
                </a:solidFill>
              </a:rPr>
              <a:t>2</a:t>
            </a:r>
            <a:r>
              <a:rPr kumimoji="1" lang="en-US" altLang="zh-CN" dirty="0">
                <a:solidFill>
                  <a:srgbClr val="0000FF"/>
                </a:solidFill>
              </a:rPr>
              <a:t>, b]</a:t>
            </a:r>
            <a:endParaRPr kumimoji="1" lang="en-US" altLang="zh-CN" baseline="-30000" dirty="0">
              <a:solidFill>
                <a:srgbClr val="0000FF"/>
              </a:solidFill>
            </a:endParaRPr>
          </a:p>
        </p:txBody>
      </p:sp>
      <p:grpSp>
        <p:nvGrpSpPr>
          <p:cNvPr id="73" name="Group 53"/>
          <p:cNvGrpSpPr>
            <a:grpSpLocks/>
          </p:cNvGrpSpPr>
          <p:nvPr/>
        </p:nvGrpSpPr>
        <p:grpSpPr bwMode="auto">
          <a:xfrm>
            <a:off x="6553200" y="4337966"/>
            <a:ext cx="357188" cy="1217613"/>
            <a:chOff x="1440" y="2880"/>
            <a:chExt cx="225" cy="767"/>
          </a:xfrm>
        </p:grpSpPr>
        <p:sp>
          <p:nvSpPr>
            <p:cNvPr id="74" name="Line 54"/>
            <p:cNvSpPr>
              <a:spLocks noChangeShapeType="1"/>
            </p:cNvSpPr>
            <p:nvPr/>
          </p:nvSpPr>
          <p:spPr bwMode="auto">
            <a:xfrm>
              <a:off x="1536" y="2880"/>
              <a:ext cx="0" cy="576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" name="Rectangle 55"/>
            <p:cNvSpPr>
              <a:spLocks noChangeArrowheads="1"/>
            </p:cNvSpPr>
            <p:nvPr/>
          </p:nvSpPr>
          <p:spPr bwMode="auto">
            <a:xfrm>
              <a:off x="1440" y="3416"/>
              <a:ext cx="225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solidFill>
                    <a:srgbClr val="FF0000"/>
                  </a:solidFill>
                </a:rPr>
                <a:t>x</a:t>
              </a:r>
              <a:r>
                <a:rPr kumimoji="1" lang="en-US" altLang="zh-CN" baseline="30000">
                  <a:solidFill>
                    <a:srgbClr val="FF0000"/>
                  </a:solidFill>
                </a:rPr>
                <a:t>*</a:t>
              </a:r>
            </a:p>
          </p:txBody>
        </p:sp>
      </p:grpSp>
      <p:grpSp>
        <p:nvGrpSpPr>
          <p:cNvPr id="76" name="Group 56"/>
          <p:cNvGrpSpPr>
            <a:grpSpLocks/>
          </p:cNvGrpSpPr>
          <p:nvPr/>
        </p:nvGrpSpPr>
        <p:grpSpPr bwMode="auto">
          <a:xfrm>
            <a:off x="7169150" y="4139529"/>
            <a:ext cx="382588" cy="1365250"/>
            <a:chOff x="4228" y="2755"/>
            <a:chExt cx="241" cy="860"/>
          </a:xfrm>
        </p:grpSpPr>
        <p:sp>
          <p:nvSpPr>
            <p:cNvPr id="77" name="Line 57"/>
            <p:cNvSpPr>
              <a:spLocks noChangeShapeType="1"/>
            </p:cNvSpPr>
            <p:nvPr/>
          </p:nvSpPr>
          <p:spPr bwMode="auto">
            <a:xfrm>
              <a:off x="4324" y="2755"/>
              <a:ext cx="0" cy="701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" name="Rectangle 58"/>
            <p:cNvSpPr>
              <a:spLocks noChangeArrowheads="1"/>
            </p:cNvSpPr>
            <p:nvPr/>
          </p:nvSpPr>
          <p:spPr bwMode="auto">
            <a:xfrm>
              <a:off x="4228" y="3384"/>
              <a:ext cx="241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solidFill>
                    <a:srgbClr val="0000FF"/>
                  </a:solidFill>
                </a:rPr>
                <a:t>x</a:t>
              </a:r>
              <a:r>
                <a:rPr kumimoji="1" lang="en-US" altLang="zh-CN" baseline="-30000">
                  <a:solidFill>
                    <a:srgbClr val="0000FF"/>
                  </a:solidFill>
                </a:rPr>
                <a:t>2</a:t>
              </a:r>
            </a:p>
          </p:txBody>
        </p:sp>
      </p:grpSp>
      <p:grpSp>
        <p:nvGrpSpPr>
          <p:cNvPr id="79" name="Group 59"/>
          <p:cNvGrpSpPr>
            <a:grpSpLocks/>
          </p:cNvGrpSpPr>
          <p:nvPr/>
        </p:nvGrpSpPr>
        <p:grpSpPr bwMode="auto">
          <a:xfrm>
            <a:off x="6864350" y="4261766"/>
            <a:ext cx="382588" cy="1255713"/>
            <a:chOff x="1220" y="2832"/>
            <a:chExt cx="241" cy="791"/>
          </a:xfrm>
        </p:grpSpPr>
        <p:sp>
          <p:nvSpPr>
            <p:cNvPr id="80" name="Line 60"/>
            <p:cNvSpPr>
              <a:spLocks noChangeShapeType="1"/>
            </p:cNvSpPr>
            <p:nvPr/>
          </p:nvSpPr>
          <p:spPr bwMode="auto">
            <a:xfrm>
              <a:off x="1328" y="2832"/>
              <a:ext cx="0" cy="624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" name="Rectangle 61"/>
            <p:cNvSpPr>
              <a:spLocks noChangeArrowheads="1"/>
            </p:cNvSpPr>
            <p:nvPr/>
          </p:nvSpPr>
          <p:spPr bwMode="auto">
            <a:xfrm>
              <a:off x="1220" y="3392"/>
              <a:ext cx="241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solidFill>
                    <a:srgbClr val="0000FF"/>
                  </a:solidFill>
                </a:rPr>
                <a:t>x</a:t>
              </a:r>
              <a:r>
                <a:rPr kumimoji="1" lang="en-US" altLang="zh-CN" baseline="-30000">
                  <a:solidFill>
                    <a:srgbClr val="0000FF"/>
                  </a:solidFill>
                </a:rPr>
                <a:t>1</a:t>
              </a:r>
            </a:p>
          </p:txBody>
        </p:sp>
      </p:grpSp>
      <p:grpSp>
        <p:nvGrpSpPr>
          <p:cNvPr id="82" name="Group 62"/>
          <p:cNvGrpSpPr>
            <a:grpSpLocks/>
          </p:cNvGrpSpPr>
          <p:nvPr/>
        </p:nvGrpSpPr>
        <p:grpSpPr bwMode="auto">
          <a:xfrm flipH="1">
            <a:off x="7340600" y="4028404"/>
            <a:ext cx="173038" cy="1223962"/>
            <a:chOff x="960" y="2592"/>
            <a:chExt cx="144" cy="857"/>
          </a:xfrm>
        </p:grpSpPr>
        <p:sp>
          <p:nvSpPr>
            <p:cNvPr id="83" name="Line 63"/>
            <p:cNvSpPr>
              <a:spLocks noChangeShapeType="1"/>
            </p:cNvSpPr>
            <p:nvPr/>
          </p:nvSpPr>
          <p:spPr bwMode="auto">
            <a:xfrm>
              <a:off x="960" y="2592"/>
              <a:ext cx="14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" name="Line 64"/>
            <p:cNvSpPr>
              <a:spLocks noChangeShapeType="1"/>
            </p:cNvSpPr>
            <p:nvPr/>
          </p:nvSpPr>
          <p:spPr bwMode="auto">
            <a:xfrm>
              <a:off x="960" y="2688"/>
              <a:ext cx="14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" name="Line 65"/>
            <p:cNvSpPr>
              <a:spLocks noChangeShapeType="1"/>
            </p:cNvSpPr>
            <p:nvPr/>
          </p:nvSpPr>
          <p:spPr bwMode="auto">
            <a:xfrm>
              <a:off x="960" y="2784"/>
              <a:ext cx="14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" name="Line 66"/>
            <p:cNvSpPr>
              <a:spLocks noChangeShapeType="1"/>
            </p:cNvSpPr>
            <p:nvPr/>
          </p:nvSpPr>
          <p:spPr bwMode="auto">
            <a:xfrm>
              <a:off x="960" y="2880"/>
              <a:ext cx="14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" name="Line 67"/>
            <p:cNvSpPr>
              <a:spLocks noChangeShapeType="1"/>
            </p:cNvSpPr>
            <p:nvPr/>
          </p:nvSpPr>
          <p:spPr bwMode="auto">
            <a:xfrm>
              <a:off x="960" y="2976"/>
              <a:ext cx="14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" name="Line 68"/>
            <p:cNvSpPr>
              <a:spLocks noChangeShapeType="1"/>
            </p:cNvSpPr>
            <p:nvPr/>
          </p:nvSpPr>
          <p:spPr bwMode="auto">
            <a:xfrm>
              <a:off x="960" y="3072"/>
              <a:ext cx="14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" name="Line 69"/>
            <p:cNvSpPr>
              <a:spLocks noChangeShapeType="1"/>
            </p:cNvSpPr>
            <p:nvPr/>
          </p:nvSpPr>
          <p:spPr bwMode="auto">
            <a:xfrm>
              <a:off x="960" y="3168"/>
              <a:ext cx="14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" name="Line 70"/>
            <p:cNvSpPr>
              <a:spLocks noChangeShapeType="1"/>
            </p:cNvSpPr>
            <p:nvPr/>
          </p:nvSpPr>
          <p:spPr bwMode="auto">
            <a:xfrm>
              <a:off x="960" y="3264"/>
              <a:ext cx="14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" name="Line 71"/>
            <p:cNvSpPr>
              <a:spLocks noChangeShapeType="1"/>
            </p:cNvSpPr>
            <p:nvPr/>
          </p:nvSpPr>
          <p:spPr bwMode="auto">
            <a:xfrm>
              <a:off x="968" y="3376"/>
              <a:ext cx="73" cy="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2" name="Rectangle 72"/>
          <p:cNvSpPr>
            <a:spLocks noChangeArrowheads="1"/>
          </p:cNvSpPr>
          <p:nvPr/>
        </p:nvSpPr>
        <p:spPr bwMode="auto">
          <a:xfrm>
            <a:off x="4595813" y="2890166"/>
            <a:ext cx="32448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en-US" altLang="zh-CN">
                <a:solidFill>
                  <a:srgbClr val="0000FF"/>
                </a:solidFill>
                <a:latin typeface="宋体" charset="-122"/>
              </a:rPr>
              <a:t>(II) </a:t>
            </a:r>
            <a:r>
              <a:rPr kumimoji="1" lang="zh-CN" altLang="en-US">
                <a:solidFill>
                  <a:srgbClr val="0000FF"/>
                </a:solidFill>
                <a:latin typeface="宋体" charset="-122"/>
              </a:rPr>
              <a:t>若</a:t>
            </a:r>
            <a:r>
              <a:rPr kumimoji="1" lang="en-US" altLang="zh-CN">
                <a:solidFill>
                  <a:srgbClr val="0000FF"/>
                </a:solidFill>
              </a:rPr>
              <a:t>f(x</a:t>
            </a:r>
            <a:r>
              <a:rPr kumimoji="1" lang="en-US" altLang="zh-CN" baseline="-30000">
                <a:solidFill>
                  <a:srgbClr val="0000FF"/>
                </a:solidFill>
              </a:rPr>
              <a:t>1</a:t>
            </a:r>
            <a:r>
              <a:rPr kumimoji="1" lang="en-US" altLang="zh-CN">
                <a:solidFill>
                  <a:srgbClr val="0000FF"/>
                </a:solidFill>
              </a:rPr>
              <a:t>) &lt; f(x</a:t>
            </a:r>
            <a:r>
              <a:rPr kumimoji="1" lang="en-US" altLang="zh-CN" baseline="-30000">
                <a:solidFill>
                  <a:srgbClr val="0000FF"/>
                </a:solidFill>
              </a:rPr>
              <a:t>2</a:t>
            </a:r>
            <a:r>
              <a:rPr kumimoji="1" lang="en-US" altLang="zh-CN">
                <a:solidFill>
                  <a:srgbClr val="0000FF"/>
                </a:solidFill>
              </a:rPr>
              <a:t>),   x</a:t>
            </a:r>
            <a:r>
              <a:rPr kumimoji="1" lang="en-US" altLang="zh-CN" baseline="30000">
                <a:solidFill>
                  <a:srgbClr val="0000FF"/>
                </a:solidFill>
              </a:rPr>
              <a:t>*</a:t>
            </a:r>
            <a:r>
              <a:rPr kumimoji="1" lang="en-US" altLang="zh-CN">
                <a:solidFill>
                  <a:srgbClr val="0000FF"/>
                </a:solidFill>
                <a:latin typeface="宋体" charset="-122"/>
              </a:rPr>
              <a:t>∈</a:t>
            </a:r>
            <a:r>
              <a:rPr kumimoji="1" lang="en-US" altLang="zh-CN">
                <a:solidFill>
                  <a:srgbClr val="0000FF"/>
                </a:solidFill>
              </a:rPr>
              <a:t>[a,x</a:t>
            </a:r>
            <a:r>
              <a:rPr kumimoji="1" lang="en-US" altLang="zh-CN" baseline="-30000">
                <a:solidFill>
                  <a:srgbClr val="0000FF"/>
                </a:solidFill>
              </a:rPr>
              <a:t>2</a:t>
            </a:r>
            <a:r>
              <a:rPr kumimoji="1" lang="en-US" altLang="zh-CN">
                <a:solidFill>
                  <a:srgbClr val="0000FF"/>
                </a:solidFill>
              </a:rPr>
              <a:t>]</a:t>
            </a:r>
          </a:p>
        </p:txBody>
      </p:sp>
      <p:sp>
        <p:nvSpPr>
          <p:cNvPr id="93" name="Rectangle 74"/>
          <p:cNvSpPr>
            <a:spLocks noChangeArrowheads="1"/>
          </p:cNvSpPr>
          <p:nvPr/>
        </p:nvSpPr>
        <p:spPr bwMode="auto">
          <a:xfrm>
            <a:off x="179388" y="2890166"/>
            <a:ext cx="32639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zh-CN" altLang="en-US">
                <a:solidFill>
                  <a:srgbClr val="0000FF"/>
                </a:solidFill>
              </a:rPr>
              <a:t>（</a:t>
            </a:r>
            <a:r>
              <a:rPr kumimoji="1" lang="en-US" altLang="zh-CN">
                <a:solidFill>
                  <a:srgbClr val="0000FF"/>
                </a:solidFill>
              </a:rPr>
              <a:t>I</a:t>
            </a:r>
            <a:r>
              <a:rPr kumimoji="1" lang="zh-CN" altLang="en-US">
                <a:solidFill>
                  <a:srgbClr val="0000FF"/>
                </a:solidFill>
              </a:rPr>
              <a:t>）  若</a:t>
            </a:r>
            <a:r>
              <a:rPr kumimoji="1" lang="en-US" altLang="zh-CN">
                <a:solidFill>
                  <a:srgbClr val="0000FF"/>
                </a:solidFill>
              </a:rPr>
              <a:t>f(x</a:t>
            </a:r>
            <a:r>
              <a:rPr kumimoji="1" lang="en-US" altLang="zh-CN" baseline="-30000">
                <a:solidFill>
                  <a:srgbClr val="0000FF"/>
                </a:solidFill>
              </a:rPr>
              <a:t>1</a:t>
            </a:r>
            <a:r>
              <a:rPr kumimoji="1" lang="en-US" altLang="zh-CN">
                <a:solidFill>
                  <a:srgbClr val="0000FF"/>
                </a:solidFill>
              </a:rPr>
              <a:t>)≥f(x</a:t>
            </a:r>
            <a:r>
              <a:rPr kumimoji="1" lang="en-US" altLang="zh-CN" baseline="-30000">
                <a:solidFill>
                  <a:srgbClr val="0000FF"/>
                </a:solidFill>
              </a:rPr>
              <a:t>2</a:t>
            </a:r>
            <a:r>
              <a:rPr kumimoji="1" lang="en-US" altLang="zh-CN">
                <a:solidFill>
                  <a:srgbClr val="0000FF"/>
                </a:solidFill>
              </a:rPr>
              <a:t>)</a:t>
            </a:r>
            <a:r>
              <a:rPr kumimoji="1" lang="zh-CN" altLang="en-US">
                <a:solidFill>
                  <a:srgbClr val="0000FF"/>
                </a:solidFill>
              </a:rPr>
              <a:t>，</a:t>
            </a:r>
            <a:r>
              <a:rPr kumimoji="1" lang="en-US" altLang="zh-CN">
                <a:solidFill>
                  <a:srgbClr val="0000FF"/>
                </a:solidFill>
              </a:rPr>
              <a:t>x</a:t>
            </a:r>
            <a:r>
              <a:rPr kumimoji="1" lang="en-US" altLang="zh-CN" baseline="30000">
                <a:solidFill>
                  <a:srgbClr val="0000FF"/>
                </a:solidFill>
              </a:rPr>
              <a:t>*</a:t>
            </a:r>
            <a:r>
              <a:rPr kumimoji="1" lang="en-US" altLang="zh-CN">
                <a:solidFill>
                  <a:srgbClr val="0000FF"/>
                </a:solidFill>
              </a:rPr>
              <a:t>∈[x</a:t>
            </a:r>
            <a:r>
              <a:rPr kumimoji="1" lang="en-US" altLang="zh-CN" baseline="-30000">
                <a:solidFill>
                  <a:srgbClr val="0000FF"/>
                </a:solidFill>
              </a:rPr>
              <a:t>1</a:t>
            </a:r>
            <a:r>
              <a:rPr kumimoji="1" lang="en-US" altLang="zh-CN">
                <a:solidFill>
                  <a:srgbClr val="0000FF"/>
                </a:solidFill>
              </a:rPr>
              <a:t>,b]</a:t>
            </a:r>
          </a:p>
        </p:txBody>
      </p:sp>
    </p:spTree>
    <p:extLst>
      <p:ext uri="{BB962C8B-B14F-4D97-AF65-F5344CB8AC3E}">
        <p14:creationId xmlns:p14="http://schemas.microsoft.com/office/powerpoint/2010/main" val="3632931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9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61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6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9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0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utoUpdateAnimBg="0"/>
      <p:bldP spid="72" grpId="0" autoUpdateAnimBg="0"/>
      <p:bldP spid="92" grpId="0" autoUpdateAnimBg="0"/>
      <p:bldP spid="93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第四章：一维搜索法</a:t>
            </a:r>
            <a:endParaRPr lang="en-US" altLang="zh-CN" dirty="0">
              <a:latin typeface="华文中宋" pitchFamily="2" charset="-122"/>
              <a:ea typeface="华文中宋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77228" y="760323"/>
            <a:ext cx="265649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spcBef>
                <a:spcPct val="0"/>
              </a:spcBef>
              <a:defRPr/>
            </a:pPr>
            <a:r>
              <a:rPr lang="zh-CN" altLang="en-US" sz="32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抛物线插值法</a:t>
            </a:r>
            <a:endParaRPr lang="en-US" altLang="zh-CN" sz="3200" b="1" dirty="0" smtClean="0">
              <a:solidFill>
                <a:srgbClr val="C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Times New Roman" pitchFamily="18" charset="0"/>
            </a:endParaRPr>
          </a:p>
        </p:txBody>
      </p:sp>
      <p:sp>
        <p:nvSpPr>
          <p:cNvPr id="94" name="Rectangle 2">
            <a:extLst>
              <a:ext uri="{FF2B5EF4-FFF2-40B4-BE49-F238E27FC236}">
                <a16:creationId xmlns:a16="http://schemas.microsoft.com/office/drawing/2014/main" id="{F0A81E70-B055-5241-9A45-AE91AC10AC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208" y="1484784"/>
            <a:ext cx="8305800" cy="451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1. 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寻找满足如下条件的点（进退法寻找），成为两头大中间小的点： </a:t>
            </a:r>
            <a:r>
              <a:rPr kumimoji="1"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kumimoji="1" lang="en-US" altLang="zh-CN" sz="2400" b="1" baseline="-25000" dirty="0">
                <a:latin typeface="Times New Roman" panose="02020603050405020304" pitchFamily="18" charset="0"/>
              </a:rPr>
              <a:t> 1 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&lt;</a:t>
            </a:r>
            <a:r>
              <a:rPr kumimoji="1" lang="en-US" altLang="zh-CN" sz="2400" b="1" baseline="-25000" dirty="0"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baseline="-25000" dirty="0">
                <a:latin typeface="Times New Roman" panose="02020603050405020304" pitchFamily="18" charset="0"/>
              </a:rPr>
              <a:t>2 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&lt; </a:t>
            </a:r>
            <a:r>
              <a:rPr kumimoji="1"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kumimoji="1" lang="en-US" altLang="zh-CN" sz="2400" b="1" baseline="-25000" dirty="0">
                <a:latin typeface="Times New Roman" panose="02020603050405020304" pitchFamily="18" charset="0"/>
              </a:rPr>
              <a:t>3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，</a:t>
            </a:r>
            <a:r>
              <a:rPr kumimoji="1" lang="en-US" altLang="zh-CN" sz="2400" b="1" i="1" dirty="0">
                <a:latin typeface="Times New Roman" panose="02020603050405020304" pitchFamily="18" charset="0"/>
              </a:rPr>
              <a:t>f 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(</a:t>
            </a:r>
            <a:r>
              <a:rPr kumimoji="1"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kumimoji="1" lang="en-US" altLang="zh-CN" sz="2400" b="1" i="1" baseline="-25000" dirty="0">
                <a:latin typeface="Times New Roman" panose="02020603050405020304" pitchFamily="18" charset="0"/>
              </a:rPr>
              <a:t>1 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) &gt; </a:t>
            </a:r>
            <a:r>
              <a:rPr kumimoji="1" lang="en-US" altLang="zh-CN" sz="2400" b="1" i="1" dirty="0">
                <a:latin typeface="Times New Roman" panose="02020603050405020304" pitchFamily="18" charset="0"/>
              </a:rPr>
              <a:t>f 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(</a:t>
            </a:r>
            <a:r>
              <a:rPr kumimoji="1"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kumimoji="1" lang="en-US" altLang="zh-CN" sz="2400" b="1" i="1" baseline="-25000" dirty="0">
                <a:latin typeface="Times New Roman" panose="02020603050405020304" pitchFamily="18" charset="0"/>
              </a:rPr>
              <a:t>2 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), </a:t>
            </a:r>
            <a:r>
              <a:rPr kumimoji="1" lang="en-US" altLang="zh-CN" sz="2400" b="1" i="1" dirty="0">
                <a:latin typeface="Times New Roman" panose="02020603050405020304" pitchFamily="18" charset="0"/>
              </a:rPr>
              <a:t>f 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(</a:t>
            </a:r>
            <a:r>
              <a:rPr kumimoji="1"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kumimoji="1" lang="en-US" altLang="zh-CN" sz="2400" b="1" i="1" baseline="-25000" dirty="0">
                <a:latin typeface="Times New Roman" panose="02020603050405020304" pitchFamily="18" charset="0"/>
              </a:rPr>
              <a:t>2 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) &lt; </a:t>
            </a:r>
            <a:r>
              <a:rPr kumimoji="1" lang="en-US" altLang="zh-CN" sz="2400" b="1" i="1" dirty="0">
                <a:latin typeface="Times New Roman" panose="02020603050405020304" pitchFamily="18" charset="0"/>
              </a:rPr>
              <a:t>f 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(</a:t>
            </a:r>
            <a:r>
              <a:rPr kumimoji="1"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kumimoji="1" lang="en-US" altLang="zh-CN" sz="2400" b="1" i="1" baseline="-25000" dirty="0">
                <a:latin typeface="Times New Roman" panose="02020603050405020304" pitchFamily="18" charset="0"/>
              </a:rPr>
              <a:t>3</a:t>
            </a:r>
            <a:r>
              <a:rPr kumimoji="1" lang="en-US" altLang="zh-CN" sz="2400" b="1" baseline="-25000" dirty="0"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2. 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两头大中间小，可得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a</a:t>
            </a:r>
            <a:r>
              <a:rPr kumimoji="1" lang="en-US" altLang="zh-CN" sz="2400" b="1" baseline="-25000" dirty="0">
                <a:latin typeface="Times New Roman" panose="02020603050405020304" pitchFamily="18" charset="0"/>
              </a:rPr>
              <a:t>2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&gt;0</a:t>
            </a:r>
            <a:r>
              <a:rPr kumimoji="1" lang="en-US" altLang="zh-CN" sz="2400" b="1" i="1" baseline="-25000" dirty="0"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,   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则       为</a:t>
            </a:r>
            <a:r>
              <a:rPr kumimoji="1" lang="en-US" altLang="zh-CN" sz="2400" b="1" i="1" dirty="0">
                <a:latin typeface="Times New Roman" panose="02020603050405020304" pitchFamily="18" charset="0"/>
              </a:rPr>
              <a:t>P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(</a:t>
            </a:r>
            <a:r>
              <a:rPr kumimoji="1"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)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的极小值点，且</a:t>
            </a:r>
          </a:p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endParaRPr kumimoji="1" lang="zh-CN" altLang="en-US" sz="24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3.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若                   ，则迭代结束，取             ，否则在点                  </a:t>
            </a:r>
          </a:p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kumimoji="1" lang="zh-CN" altLang="en-US" sz="2400" b="1" dirty="0">
                <a:latin typeface="Times New Roman" panose="02020603050405020304" pitchFamily="18" charset="0"/>
              </a:rPr>
              <a:t>                     </a:t>
            </a:r>
            <a:r>
              <a:rPr kumimoji="1" lang="zh-CN" altLang="en-US" sz="2400" b="1" dirty="0"/>
              <a:t>中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，选取使</a:t>
            </a:r>
            <a:r>
              <a:rPr kumimoji="1" lang="en-US" altLang="zh-CN" sz="2400" b="1" i="1" dirty="0">
                <a:latin typeface="Times New Roman" panose="02020603050405020304" pitchFamily="18" charset="0"/>
              </a:rPr>
              <a:t>f 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(</a:t>
            </a:r>
            <a:r>
              <a:rPr kumimoji="1"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) 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最小的点作为新的</a:t>
            </a:r>
            <a:r>
              <a:rPr kumimoji="1"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kumimoji="1" lang="en-US" altLang="zh-CN" sz="2400" b="1" i="1" baseline="-25000" dirty="0">
                <a:latin typeface="Times New Roman" panose="02020603050405020304" pitchFamily="18" charset="0"/>
              </a:rPr>
              <a:t>2</a:t>
            </a:r>
            <a:r>
              <a:rPr kumimoji="1" lang="zh-CN" altLang="en-US" sz="2400" b="1" i="1" baseline="-25000" dirty="0">
                <a:latin typeface="Times New Roman" panose="02020603050405020304" pitchFamily="18" charset="0"/>
              </a:rPr>
              <a:t>，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并使新的</a:t>
            </a:r>
          </a:p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kumimoji="1"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kumimoji="1" lang="en-US" altLang="zh-CN" sz="2400" b="1" baseline="-25000" dirty="0">
                <a:latin typeface="Times New Roman" panose="02020603050405020304" pitchFamily="18" charset="0"/>
              </a:rPr>
              <a:t> 1 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， </a:t>
            </a:r>
            <a:r>
              <a:rPr kumimoji="1"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kumimoji="1" lang="en-US" altLang="zh-CN" sz="2400" b="1" baseline="-25000" dirty="0">
                <a:latin typeface="Times New Roman" panose="02020603050405020304" pitchFamily="18" charset="0"/>
              </a:rPr>
              <a:t>3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各是新的</a:t>
            </a:r>
            <a:r>
              <a:rPr kumimoji="1"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kumimoji="1" lang="en-US" altLang="zh-CN" sz="2400" b="1" baseline="-25000" dirty="0">
                <a:latin typeface="Times New Roman" panose="02020603050405020304" pitchFamily="18" charset="0"/>
              </a:rPr>
              <a:t>2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近旁的左右两点，继续进行迭代，直到满足终止准则。</a:t>
            </a:r>
          </a:p>
        </p:txBody>
      </p:sp>
      <p:graphicFrame>
        <p:nvGraphicFramePr>
          <p:cNvPr id="95" name="Object 3">
            <a:extLst>
              <a:ext uri="{FF2B5EF4-FFF2-40B4-BE49-F238E27FC236}">
                <a16:creationId xmlns:a16="http://schemas.microsoft.com/office/drawing/2014/main" id="{74F1B8DE-D64D-3044-9265-50A61304D35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9506668"/>
              </p:ext>
            </p:extLst>
          </p:nvPr>
        </p:nvGraphicFramePr>
        <p:xfrm>
          <a:off x="5117796" y="2602384"/>
          <a:ext cx="395287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182" name="Equation" r:id="rId3" imgW="3213100" imgH="3797300" progId="Equation.DSMT4">
                  <p:embed/>
                </p:oleObj>
              </mc:Choice>
              <mc:Fallback>
                <p:oleObj name="Equation" r:id="rId3" imgW="3213100" imgH="3797300" progId="Equation.DSMT4">
                  <p:embed/>
                  <p:pic>
                    <p:nvPicPr>
                      <p:cNvPr id="6" name="Object 3">
                        <a:extLst>
                          <a:ext uri="{FF2B5EF4-FFF2-40B4-BE49-F238E27FC236}">
                            <a16:creationId xmlns:a16="http://schemas.microsoft.com/office/drawing/2014/main" id="{74F1B8DE-D64D-3044-9265-50A61304D35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7796" y="2602384"/>
                        <a:ext cx="395287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" name="Object 4">
            <a:extLst>
              <a:ext uri="{FF2B5EF4-FFF2-40B4-BE49-F238E27FC236}">
                <a16:creationId xmlns:a16="http://schemas.microsoft.com/office/drawing/2014/main" id="{6C2BCF7D-D578-D348-BEC9-9C9E3A3236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2188093"/>
              </p:ext>
            </p:extLst>
          </p:nvPr>
        </p:nvGraphicFramePr>
        <p:xfrm>
          <a:off x="2995308" y="3156421"/>
          <a:ext cx="1708150" cy="633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183" name="Equation" r:id="rId5" imgW="15798800" imgH="5854700" progId="Equation.DSMT4">
                  <p:embed/>
                </p:oleObj>
              </mc:Choice>
              <mc:Fallback>
                <p:oleObj name="Equation" r:id="rId5" imgW="15798800" imgH="5854700" progId="Equation.DSMT4">
                  <p:embed/>
                  <p:pic>
                    <p:nvPicPr>
                      <p:cNvPr id="7" name="Object 4">
                        <a:extLst>
                          <a:ext uri="{FF2B5EF4-FFF2-40B4-BE49-F238E27FC236}">
                            <a16:creationId xmlns:a16="http://schemas.microsoft.com/office/drawing/2014/main" id="{6C2BCF7D-D578-D348-BEC9-9C9E3A32368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5308" y="3156421"/>
                        <a:ext cx="1708150" cy="633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" name="Object 5">
            <a:extLst>
              <a:ext uri="{FF2B5EF4-FFF2-40B4-BE49-F238E27FC236}">
                <a16:creationId xmlns:a16="http://schemas.microsoft.com/office/drawing/2014/main" id="{BA0DD8F0-A700-E343-945E-7DD86557A3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3682043"/>
              </p:ext>
            </p:extLst>
          </p:nvPr>
        </p:nvGraphicFramePr>
        <p:xfrm>
          <a:off x="1306208" y="3843809"/>
          <a:ext cx="1474788" cy="54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184" name="Equation" r:id="rId7" imgW="15798800" imgH="5854700" progId="Equation.DSMT4">
                  <p:embed/>
                </p:oleObj>
              </mc:Choice>
              <mc:Fallback>
                <p:oleObj name="Equation" r:id="rId7" imgW="15798800" imgH="5854700" progId="Equation.DSMT4">
                  <p:embed/>
                  <p:pic>
                    <p:nvPicPr>
                      <p:cNvPr id="8" name="Object 5">
                        <a:extLst>
                          <a:ext uri="{FF2B5EF4-FFF2-40B4-BE49-F238E27FC236}">
                            <a16:creationId xmlns:a16="http://schemas.microsoft.com/office/drawing/2014/main" id="{BA0DD8F0-A700-E343-945E-7DD86557A3B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6208" y="3843809"/>
                        <a:ext cx="1474788" cy="547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" name="Object 6">
            <a:extLst>
              <a:ext uri="{FF2B5EF4-FFF2-40B4-BE49-F238E27FC236}">
                <a16:creationId xmlns:a16="http://schemas.microsoft.com/office/drawing/2014/main" id="{CD7F2403-F326-8B47-BBAB-74BDAEA0FA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1062031"/>
              </p:ext>
            </p:extLst>
          </p:nvPr>
        </p:nvGraphicFramePr>
        <p:xfrm>
          <a:off x="5195583" y="3873971"/>
          <a:ext cx="8636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185" name="Equation" r:id="rId9" imgW="9652000" imgH="4686300" progId="Equation.DSMT4">
                  <p:embed/>
                </p:oleObj>
              </mc:Choice>
              <mc:Fallback>
                <p:oleObj name="Equation" r:id="rId9" imgW="9652000" imgH="4686300" progId="Equation.DSMT4">
                  <p:embed/>
                  <p:pic>
                    <p:nvPicPr>
                      <p:cNvPr id="10" name="Object 6">
                        <a:extLst>
                          <a:ext uri="{FF2B5EF4-FFF2-40B4-BE49-F238E27FC236}">
                            <a16:creationId xmlns:a16="http://schemas.microsoft.com/office/drawing/2014/main" id="{CD7F2403-F326-8B47-BBAB-74BDAEA0FA8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5583" y="3873971"/>
                        <a:ext cx="8636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" name="Object 7">
            <a:extLst>
              <a:ext uri="{FF2B5EF4-FFF2-40B4-BE49-F238E27FC236}">
                <a16:creationId xmlns:a16="http://schemas.microsoft.com/office/drawing/2014/main" id="{4613B711-7F14-8F4E-9F1E-EF15FDA4A4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3634481"/>
              </p:ext>
            </p:extLst>
          </p:nvPr>
        </p:nvGraphicFramePr>
        <p:xfrm>
          <a:off x="709308" y="4456584"/>
          <a:ext cx="1554163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186" name="Equation" r:id="rId11" imgW="15798800" imgH="5270500" progId="Equation.DSMT4">
                  <p:embed/>
                </p:oleObj>
              </mc:Choice>
              <mc:Fallback>
                <p:oleObj name="Equation" r:id="rId11" imgW="15798800" imgH="5270500" progId="Equation.DSMT4">
                  <p:embed/>
                  <p:pic>
                    <p:nvPicPr>
                      <p:cNvPr id="11" name="Object 7">
                        <a:extLst>
                          <a:ext uri="{FF2B5EF4-FFF2-40B4-BE49-F238E27FC236}">
                            <a16:creationId xmlns:a16="http://schemas.microsoft.com/office/drawing/2014/main" id="{4613B711-7F14-8F4E-9F1E-EF15FDA4A40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308" y="4456584"/>
                        <a:ext cx="1554163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40027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" grpId="0" build="allAtOnce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第五章 无约束最优化方法</a:t>
            </a:r>
            <a:endParaRPr lang="en-US" altLang="zh-CN" dirty="0">
              <a:latin typeface="华文中宋" pitchFamily="2" charset="-122"/>
              <a:ea typeface="华文中宋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77228" y="760323"/>
            <a:ext cx="389241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spcBef>
                <a:spcPct val="0"/>
              </a:spcBef>
              <a:defRPr/>
            </a:pPr>
            <a:r>
              <a:rPr lang="zh-CN" altLang="en-US" sz="32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最速下降法基本原理</a:t>
            </a:r>
            <a:endParaRPr lang="en-US" altLang="zh-CN" sz="3200" b="1" dirty="0" smtClean="0">
              <a:solidFill>
                <a:srgbClr val="C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Times New Roman" pitchFamily="18" charset="0"/>
            </a:endParaRPr>
          </a:p>
        </p:txBody>
      </p:sp>
      <p:sp>
        <p:nvSpPr>
          <p:cNvPr id="68" name="矩形 1"/>
          <p:cNvSpPr>
            <a:spLocks noChangeArrowheads="1"/>
          </p:cNvSpPr>
          <p:nvPr/>
        </p:nvSpPr>
        <p:spPr bwMode="auto">
          <a:xfrm>
            <a:off x="0" y="1347465"/>
            <a:ext cx="9144000" cy="244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zh-CN" altLang="en-US" sz="2800" dirty="0" smtClean="0">
                <a:latin typeface="Arial" panose="020B0604020202020204" pitchFamily="34" charset="0"/>
              </a:rPr>
              <a:t>如</a:t>
            </a:r>
            <a:r>
              <a:rPr lang="zh-CN" altLang="en-US" sz="2800" dirty="0">
                <a:latin typeface="Arial" panose="020B0604020202020204" pitchFamily="34" charset="0"/>
              </a:rPr>
              <a:t>图所示，假定我们 已经迭代</a:t>
            </a:r>
            <a:r>
              <a:rPr lang="zh-CN" altLang="en-US" sz="2800" dirty="0" smtClean="0">
                <a:latin typeface="Arial" panose="020B0604020202020204" pitchFamily="34" charset="0"/>
              </a:rPr>
              <a:t>了</a:t>
            </a:r>
            <a:r>
              <a:rPr lang="en-US" altLang="zh-CN" sz="2800" i="1" dirty="0" smtClean="0">
                <a:latin typeface="Arial" panose="020B0604020202020204" pitchFamily="34" charset="0"/>
              </a:rPr>
              <a:t>k</a:t>
            </a:r>
            <a:r>
              <a:rPr lang="zh-CN" altLang="en-US" sz="2800" dirty="0" smtClean="0">
                <a:latin typeface="Arial" panose="020B0604020202020204" pitchFamily="34" charset="0"/>
              </a:rPr>
              <a:t> 次获得</a:t>
            </a:r>
            <a:r>
              <a:rPr lang="zh-CN" altLang="en-US" sz="2800" dirty="0">
                <a:latin typeface="Arial" panose="020B0604020202020204" pitchFamily="34" charset="0"/>
              </a:rPr>
              <a:t>了</a:t>
            </a:r>
            <a:r>
              <a:rPr lang="zh-CN" altLang="en-US" sz="2800" dirty="0" smtClean="0">
                <a:latin typeface="Arial" panose="020B0604020202020204" pitchFamily="34" charset="0"/>
              </a:rPr>
              <a:t>第</a:t>
            </a:r>
            <a:r>
              <a:rPr lang="en-US" altLang="zh-CN" sz="2800" i="1" dirty="0" smtClean="0">
                <a:latin typeface="Arial" panose="020B0604020202020204" pitchFamily="34" charset="0"/>
              </a:rPr>
              <a:t>k</a:t>
            </a:r>
            <a:r>
              <a:rPr lang="zh-CN" altLang="en-US" sz="2800" dirty="0" smtClean="0">
                <a:latin typeface="Arial" panose="020B0604020202020204" pitchFamily="34" charset="0"/>
              </a:rPr>
              <a:t>个</a:t>
            </a:r>
            <a:r>
              <a:rPr lang="zh-CN" altLang="en-US" sz="2800" dirty="0">
                <a:latin typeface="Arial" panose="020B0604020202020204" pitchFamily="34" charset="0"/>
              </a:rPr>
              <a:t>迭代点      ．现在从      出发，可选择的下降方向很多，一个非常自然的想法是沿最速下降方向（即负梯度方向）进行搜索应该是有利的，至少在      邻近的范围内是这样。因此，取搜索方向为                    </a:t>
            </a:r>
            <a:r>
              <a:rPr lang="en-US" altLang="zh-CN" sz="2800" dirty="0">
                <a:latin typeface="Arial" panose="020B0604020202020204" pitchFamily="34" charset="0"/>
              </a:rPr>
              <a:t>. 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69" name="Picture 8" descr="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112" y="3557610"/>
            <a:ext cx="2857500" cy="277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74" name="对象 7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3486503"/>
              </p:ext>
            </p:extLst>
          </p:nvPr>
        </p:nvGraphicFramePr>
        <p:xfrm>
          <a:off x="434340" y="1900161"/>
          <a:ext cx="485775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213" name="Equation" r:id="rId5" imgW="485829" imgH="447624" progId="Equation.DSMT4">
                  <p:embed/>
                </p:oleObj>
              </mc:Choice>
              <mc:Fallback>
                <p:oleObj name="Equation" r:id="rId5" imgW="485829" imgH="447624" progId="Equation.DSMT4">
                  <p:embed/>
                  <p:pic>
                    <p:nvPicPr>
                      <p:cNvPr id="70" name="对象 6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34340" y="1900161"/>
                        <a:ext cx="485775" cy="447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" name="对象 7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7783967"/>
              </p:ext>
            </p:extLst>
          </p:nvPr>
        </p:nvGraphicFramePr>
        <p:xfrm>
          <a:off x="2408099" y="1900161"/>
          <a:ext cx="495300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214" name="Equation" r:id="rId7" imgW="495199" imgH="447624" progId="Equation.DSMT4">
                  <p:embed/>
                </p:oleObj>
              </mc:Choice>
              <mc:Fallback>
                <p:oleObj name="Equation" r:id="rId7" imgW="495199" imgH="447624" progId="Equation.DSMT4">
                  <p:embed/>
                  <p:pic>
                    <p:nvPicPr>
                      <p:cNvPr id="71" name="对象 7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408099" y="1900161"/>
                        <a:ext cx="495300" cy="447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" name="对象 7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1037946"/>
              </p:ext>
            </p:extLst>
          </p:nvPr>
        </p:nvGraphicFramePr>
        <p:xfrm>
          <a:off x="4427984" y="2798926"/>
          <a:ext cx="485775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215" name="Equation" r:id="rId9" imgW="485829" imgH="438240" progId="Equation.DSMT4">
                  <p:embed/>
                </p:oleObj>
              </mc:Choice>
              <mc:Fallback>
                <p:oleObj name="Equation" r:id="rId9" imgW="485829" imgH="438240" progId="Equation.DSMT4">
                  <p:embed/>
                  <p:pic>
                    <p:nvPicPr>
                      <p:cNvPr id="72" name="对象 7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427984" y="2798926"/>
                        <a:ext cx="485775" cy="438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" name="对象 7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1377661"/>
              </p:ext>
            </p:extLst>
          </p:nvPr>
        </p:nvGraphicFramePr>
        <p:xfrm>
          <a:off x="3280330" y="3329010"/>
          <a:ext cx="206692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216" name="Equation" r:id="rId11" imgW="2066856" imgH="457354" progId="Equation.DSMT4">
                  <p:embed/>
                </p:oleObj>
              </mc:Choice>
              <mc:Fallback>
                <p:oleObj name="Equation" r:id="rId11" imgW="2066856" imgH="457354" progId="Equation.DSMT4">
                  <p:embed/>
                  <p:pic>
                    <p:nvPicPr>
                      <p:cNvPr id="73" name="对象 72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280330" y="3329010"/>
                        <a:ext cx="2066925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67385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第五章 无约束最优化方法</a:t>
            </a:r>
            <a:endParaRPr lang="en-US" altLang="zh-CN" dirty="0">
              <a:latin typeface="华文中宋" pitchFamily="2" charset="-122"/>
              <a:ea typeface="华文中宋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77228" y="760323"/>
            <a:ext cx="389241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spcBef>
                <a:spcPct val="0"/>
              </a:spcBef>
              <a:defRPr/>
            </a:pPr>
            <a:r>
              <a:rPr lang="zh-CN" altLang="en-US" sz="32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最速下降法迭代步骤</a:t>
            </a:r>
            <a:endParaRPr lang="en-US" altLang="zh-CN" sz="3200" b="1" dirty="0" smtClean="0">
              <a:solidFill>
                <a:srgbClr val="C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Times New Roman" pitchFamily="18" charset="0"/>
            </a:endParaRPr>
          </a:p>
        </p:txBody>
      </p:sp>
      <p:sp>
        <p:nvSpPr>
          <p:cNvPr id="11" name="Rectangle 2"/>
          <p:cNvSpPr txBox="1">
            <a:spLocks noChangeArrowheads="1"/>
          </p:cNvSpPr>
          <p:nvPr/>
        </p:nvSpPr>
        <p:spPr>
          <a:xfrm>
            <a:off x="468560" y="1340768"/>
            <a:ext cx="9144000" cy="482453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altLang="zh-CN" sz="2800" dirty="0" smtClean="0"/>
          </a:p>
          <a:p>
            <a:pPr marL="0" indent="0">
              <a:buNone/>
              <a:defRPr/>
            </a:pPr>
            <a:r>
              <a:rPr lang="zh-CN" altLang="en-US" sz="2800" dirty="0" smtClean="0"/>
              <a:t>已知目标函数          及其梯度           ，  终止</a:t>
            </a:r>
            <a:r>
              <a:rPr lang="zh-CN" altLang="en-US" sz="2800" dirty="0"/>
              <a:t>限</a:t>
            </a:r>
            <a:r>
              <a:rPr lang="zh-CN" altLang="en-US" sz="2800" dirty="0" smtClean="0"/>
              <a:t>          </a:t>
            </a:r>
          </a:p>
          <a:p>
            <a:pPr>
              <a:defRPr/>
            </a:pPr>
            <a:r>
              <a:rPr lang="zh-CN" altLang="en-US" sz="2800" dirty="0" smtClean="0"/>
              <a:t>（</a:t>
            </a:r>
            <a:r>
              <a:rPr lang="en-US" altLang="zh-CN" sz="2800" dirty="0" smtClean="0"/>
              <a:t>1</a:t>
            </a:r>
            <a:r>
              <a:rPr lang="zh-CN" altLang="en-US" sz="2800" dirty="0" smtClean="0"/>
              <a:t>）选定初始点        </a:t>
            </a:r>
            <a:r>
              <a:rPr lang="en-US" altLang="zh-CN" sz="2800" dirty="0" smtClean="0"/>
              <a:t>,   </a:t>
            </a:r>
            <a:r>
              <a:rPr lang="zh-CN" altLang="en-US" sz="2800" dirty="0" smtClean="0"/>
              <a:t>计算                                           置          ．</a:t>
            </a:r>
          </a:p>
          <a:p>
            <a:pPr>
              <a:defRPr/>
            </a:pPr>
            <a:r>
              <a:rPr lang="zh-CN" altLang="en-US" sz="2800" dirty="0" smtClean="0"/>
              <a:t>（</a:t>
            </a:r>
            <a:r>
              <a:rPr lang="en-US" altLang="zh-CN" sz="2800" dirty="0" smtClean="0"/>
              <a:t>2</a:t>
            </a:r>
            <a:r>
              <a:rPr lang="zh-CN" altLang="en-US" sz="2800" dirty="0" smtClean="0"/>
              <a:t>）作直线搜索：                          ；计算   </a:t>
            </a:r>
            <a:endParaRPr lang="en-US" altLang="zh-CN" sz="2800" dirty="0" smtClean="0"/>
          </a:p>
          <a:p>
            <a:pPr>
              <a:defRPr/>
            </a:pPr>
            <a:endParaRPr lang="en-US" altLang="zh-CN" sz="2800" dirty="0" smtClean="0"/>
          </a:p>
          <a:p>
            <a:pPr>
              <a:defRPr/>
            </a:pPr>
            <a:endParaRPr lang="en-US" altLang="zh-CN" sz="2800" dirty="0" smtClean="0"/>
          </a:p>
          <a:p>
            <a:pPr>
              <a:defRPr/>
            </a:pPr>
            <a:r>
              <a:rPr lang="zh-CN" altLang="en-US" sz="2800" dirty="0" smtClean="0"/>
              <a:t>（</a:t>
            </a:r>
            <a:r>
              <a:rPr lang="en-US" altLang="zh-CN" sz="2800" dirty="0" smtClean="0"/>
              <a:t>3</a:t>
            </a:r>
            <a:r>
              <a:rPr lang="zh-CN" altLang="en-US" sz="2800" dirty="0" smtClean="0"/>
              <a:t>）</a:t>
            </a:r>
            <a:r>
              <a:rPr lang="zh-CN" altLang="en-US" sz="2800" dirty="0"/>
              <a:t>检测</a:t>
            </a:r>
            <a:r>
              <a:rPr lang="zh-CN" altLang="en-US" sz="2800" dirty="0" smtClean="0"/>
              <a:t>终止准则                                   是否满足：</a:t>
            </a:r>
            <a:endParaRPr lang="en-US" altLang="zh-CN" sz="2800" dirty="0" smtClean="0"/>
          </a:p>
          <a:p>
            <a:pPr marL="0" indent="0">
              <a:buNone/>
              <a:defRPr/>
            </a:pPr>
            <a:r>
              <a:rPr lang="zh-CN" altLang="en-US" sz="2800" dirty="0" smtClean="0"/>
              <a:t>若满足，则打印最优解                           停止迭代；</a:t>
            </a:r>
            <a:endParaRPr lang="en-US" altLang="zh-CN" sz="2800" dirty="0" smtClean="0"/>
          </a:p>
          <a:p>
            <a:pPr marL="0" indent="0">
              <a:buNone/>
              <a:defRPr/>
            </a:pPr>
            <a:r>
              <a:rPr lang="zh-CN" altLang="en-US" sz="2800" dirty="0" smtClean="0"/>
              <a:t>否则，置                     转</a:t>
            </a:r>
            <a:r>
              <a:rPr lang="en-US" altLang="zh-CN" sz="2800" dirty="0" smtClean="0"/>
              <a:t>(2)</a:t>
            </a:r>
            <a:r>
              <a:rPr lang="zh-CN" altLang="en-US" sz="2800" dirty="0" smtClean="0"/>
              <a:t>．</a:t>
            </a:r>
          </a:p>
          <a:p>
            <a:pPr>
              <a:buFontTx/>
              <a:buNone/>
              <a:defRPr/>
            </a:pPr>
            <a:endParaRPr lang="zh-CN" altLang="en-US" sz="2800" dirty="0" smtClean="0"/>
          </a:p>
        </p:txBody>
      </p:sp>
      <p:graphicFrame>
        <p:nvGraphicFramePr>
          <p:cNvPr id="12" name="Object 4"/>
          <p:cNvGraphicFramePr>
            <a:graphicFrameLocks noChangeAspect="1"/>
          </p:cNvGraphicFramePr>
          <p:nvPr>
            <p:extLst/>
          </p:nvPr>
        </p:nvGraphicFramePr>
        <p:xfrm>
          <a:off x="3024336" y="1844824"/>
          <a:ext cx="647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267" name="公式" r:id="rId4" imgW="355446" imgH="190417" progId="Equation.3">
                  <p:embed/>
                </p:oleObj>
              </mc:Choice>
              <mc:Fallback>
                <p:oleObj name="公式" r:id="rId4" imgW="355446" imgH="190417" progId="Equation.3">
                  <p:embed/>
                  <p:pic>
                    <p:nvPicPr>
                      <p:cNvPr id="1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4336" y="1844824"/>
                        <a:ext cx="6477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5"/>
          <p:cNvSpPr>
            <a:spLocks noChangeArrowheads="1"/>
          </p:cNvSpPr>
          <p:nvPr/>
        </p:nvSpPr>
        <p:spPr bwMode="auto">
          <a:xfrm>
            <a:off x="468560" y="340575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graphicFrame>
        <p:nvGraphicFramePr>
          <p:cNvPr id="15" name="Object 6"/>
          <p:cNvGraphicFramePr>
            <a:graphicFrameLocks noChangeAspect="1"/>
          </p:cNvGraphicFramePr>
          <p:nvPr>
            <p:extLst/>
          </p:nvPr>
        </p:nvGraphicFramePr>
        <p:xfrm>
          <a:off x="5256584" y="1844824"/>
          <a:ext cx="647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268" name="Equation" r:id="rId6" imgW="342751" imgH="190417" progId="Equation.DSMT4">
                  <p:embed/>
                </p:oleObj>
              </mc:Choice>
              <mc:Fallback>
                <p:oleObj name="Equation" r:id="rId6" imgW="342751" imgH="190417" progId="Equation.DSMT4">
                  <p:embed/>
                  <p:pic>
                    <p:nvPicPr>
                      <p:cNvPr id="15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6584" y="1844824"/>
                        <a:ext cx="6477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7"/>
          <p:cNvSpPr>
            <a:spLocks noChangeArrowheads="1"/>
          </p:cNvSpPr>
          <p:nvPr/>
        </p:nvSpPr>
        <p:spPr bwMode="auto">
          <a:xfrm>
            <a:off x="468560" y="3400996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graphicFrame>
        <p:nvGraphicFramePr>
          <p:cNvPr id="17" name="Object 8"/>
          <p:cNvGraphicFramePr>
            <a:graphicFrameLocks noChangeAspect="1"/>
          </p:cNvGraphicFramePr>
          <p:nvPr>
            <p:extLst/>
          </p:nvPr>
        </p:nvGraphicFramePr>
        <p:xfrm>
          <a:off x="7704856" y="1906984"/>
          <a:ext cx="255587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269" name="Equation" r:id="rId8" imgW="126720" imgH="139680" progId="Equation.DSMT4">
                  <p:embed/>
                </p:oleObj>
              </mc:Choice>
              <mc:Fallback>
                <p:oleObj name="Equation" r:id="rId8" imgW="126720" imgH="139680" progId="Equation.DSMT4">
                  <p:embed/>
                  <p:pic>
                    <p:nvPicPr>
                      <p:cNvPr id="17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04856" y="1906984"/>
                        <a:ext cx="255587" cy="369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9"/>
          <p:cNvSpPr>
            <a:spLocks noChangeArrowheads="1"/>
          </p:cNvSpPr>
          <p:nvPr/>
        </p:nvSpPr>
        <p:spPr bwMode="auto">
          <a:xfrm>
            <a:off x="468560" y="3400996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19" name="Rectangle 13"/>
          <p:cNvSpPr>
            <a:spLocks noChangeArrowheads="1"/>
          </p:cNvSpPr>
          <p:nvPr/>
        </p:nvSpPr>
        <p:spPr bwMode="auto">
          <a:xfrm>
            <a:off x="468560" y="3400996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graphicFrame>
        <p:nvGraphicFramePr>
          <p:cNvPr id="20" name="Object 14"/>
          <p:cNvGraphicFramePr>
            <a:graphicFrameLocks noChangeAspect="1"/>
          </p:cNvGraphicFramePr>
          <p:nvPr>
            <p:extLst/>
          </p:nvPr>
        </p:nvGraphicFramePr>
        <p:xfrm>
          <a:off x="3672656" y="2348880"/>
          <a:ext cx="431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270" name="Equation" r:id="rId10" imgW="203024" imgH="203024" progId="Equation.DSMT4">
                  <p:embed/>
                </p:oleObj>
              </mc:Choice>
              <mc:Fallback>
                <p:oleObj name="Equation" r:id="rId10" imgW="203024" imgH="203024" progId="Equation.DSMT4">
                  <p:embed/>
                  <p:pic>
                    <p:nvPicPr>
                      <p:cNvPr id="2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2656" y="2348880"/>
                        <a:ext cx="4318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16"/>
          <p:cNvGraphicFramePr>
            <a:graphicFrameLocks noChangeAspect="1"/>
          </p:cNvGraphicFramePr>
          <p:nvPr>
            <p:extLst/>
          </p:nvPr>
        </p:nvGraphicFramePr>
        <p:xfrm>
          <a:off x="5305498" y="2348880"/>
          <a:ext cx="3119438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271" name="公式" r:id="rId12" imgW="1511280" imgH="228600" progId="Equation.3">
                  <p:embed/>
                </p:oleObj>
              </mc:Choice>
              <mc:Fallback>
                <p:oleObj name="公式" r:id="rId12" imgW="1511280" imgH="228600" progId="Equation.3">
                  <p:embed/>
                  <p:pic>
                    <p:nvPicPr>
                      <p:cNvPr id="21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5498" y="2348880"/>
                        <a:ext cx="3119438" cy="4619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0"/>
          <p:cNvGraphicFramePr>
            <a:graphicFrameLocks noChangeAspect="1"/>
          </p:cNvGraphicFramePr>
          <p:nvPr>
            <p:extLst/>
          </p:nvPr>
        </p:nvGraphicFramePr>
        <p:xfrm>
          <a:off x="1276858" y="2768679"/>
          <a:ext cx="793750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272" name="公式" r:id="rId14" imgW="330057" imgH="165028" progId="Equation.3">
                  <p:embed/>
                </p:oleObj>
              </mc:Choice>
              <mc:Fallback>
                <p:oleObj name="公式" r:id="rId14" imgW="330057" imgH="165028" progId="Equation.3">
                  <p:embed/>
                  <p:pic>
                    <p:nvPicPr>
                      <p:cNvPr id="22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6858" y="2768679"/>
                        <a:ext cx="793750" cy="384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Rectangle 21"/>
          <p:cNvSpPr>
            <a:spLocks noChangeArrowheads="1"/>
          </p:cNvSpPr>
          <p:nvPr/>
        </p:nvSpPr>
        <p:spPr bwMode="auto">
          <a:xfrm>
            <a:off x="468560" y="3400996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graphicFrame>
        <p:nvGraphicFramePr>
          <p:cNvPr id="24" name="Object 22"/>
          <p:cNvGraphicFramePr>
            <a:graphicFrameLocks noChangeAspect="1"/>
          </p:cNvGraphicFramePr>
          <p:nvPr>
            <p:extLst/>
          </p:nvPr>
        </p:nvGraphicFramePr>
        <p:xfrm>
          <a:off x="3861672" y="3152854"/>
          <a:ext cx="2058378" cy="4897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273" name="Equation" r:id="rId16" imgW="1231560" imgH="228600" progId="Equation.DSMT4">
                  <p:embed/>
                </p:oleObj>
              </mc:Choice>
              <mc:Fallback>
                <p:oleObj name="Equation" r:id="rId16" imgW="1231560" imgH="228600" progId="Equation.DSMT4">
                  <p:embed/>
                  <p:pic>
                    <p:nvPicPr>
                      <p:cNvPr id="24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1672" y="3152854"/>
                        <a:ext cx="2058378" cy="48976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4"/>
          <p:cNvGraphicFramePr>
            <a:graphicFrameLocks noChangeAspect="1"/>
          </p:cNvGraphicFramePr>
          <p:nvPr>
            <p:extLst/>
          </p:nvPr>
        </p:nvGraphicFramePr>
        <p:xfrm>
          <a:off x="2857242" y="3855807"/>
          <a:ext cx="3325812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274" name="Equation" r:id="rId18" imgW="1892160" imgH="228600" progId="Equation.DSMT4">
                  <p:embed/>
                </p:oleObj>
              </mc:Choice>
              <mc:Fallback>
                <p:oleObj name="Equation" r:id="rId18" imgW="1892160" imgH="228600" progId="Equation.DSMT4">
                  <p:embed/>
                  <p:pic>
                    <p:nvPicPr>
                      <p:cNvPr id="25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242" y="3855807"/>
                        <a:ext cx="3325812" cy="485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Rectangle 27"/>
          <p:cNvSpPr>
            <a:spLocks noChangeArrowheads="1"/>
          </p:cNvSpPr>
          <p:nvPr/>
        </p:nvSpPr>
        <p:spPr bwMode="auto">
          <a:xfrm>
            <a:off x="468560" y="3400996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graphicFrame>
        <p:nvGraphicFramePr>
          <p:cNvPr id="27" name="Object 28"/>
          <p:cNvGraphicFramePr>
            <a:graphicFrameLocks noChangeAspect="1"/>
          </p:cNvGraphicFramePr>
          <p:nvPr>
            <p:extLst/>
          </p:nvPr>
        </p:nvGraphicFramePr>
        <p:xfrm>
          <a:off x="4265707" y="5085308"/>
          <a:ext cx="197485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275" name="公式" r:id="rId20" imgW="901440" imgH="228600" progId="Equation.3">
                  <p:embed/>
                </p:oleObj>
              </mc:Choice>
              <mc:Fallback>
                <p:oleObj name="公式" r:id="rId20" imgW="901440" imgH="228600" progId="Equation.3">
                  <p:embed/>
                  <p:pic>
                    <p:nvPicPr>
                      <p:cNvPr id="27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5707" y="5085308"/>
                        <a:ext cx="197485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Rectangle 31"/>
          <p:cNvSpPr>
            <a:spLocks noChangeArrowheads="1"/>
          </p:cNvSpPr>
          <p:nvPr/>
        </p:nvSpPr>
        <p:spPr bwMode="auto">
          <a:xfrm>
            <a:off x="468560" y="3420046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graphicFrame>
        <p:nvGraphicFramePr>
          <p:cNvPr id="29" name="Object 32"/>
          <p:cNvGraphicFramePr>
            <a:graphicFrameLocks noChangeAspect="1"/>
          </p:cNvGraphicFramePr>
          <p:nvPr>
            <p:extLst/>
          </p:nvPr>
        </p:nvGraphicFramePr>
        <p:xfrm>
          <a:off x="2173823" y="5526141"/>
          <a:ext cx="1366837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276" name="公式" r:id="rId22" imgW="507780" imgH="165028" progId="Equation.3">
                  <p:embed/>
                </p:oleObj>
              </mc:Choice>
              <mc:Fallback>
                <p:oleObj name="公式" r:id="rId22" imgW="507780" imgH="165028" progId="Equation.3">
                  <p:embed/>
                  <p:pic>
                    <p:nvPicPr>
                      <p:cNvPr id="29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3823" y="5526141"/>
                        <a:ext cx="1366837" cy="4397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Rectangle 33"/>
          <p:cNvSpPr>
            <a:spLocks noChangeArrowheads="1"/>
          </p:cNvSpPr>
          <p:nvPr/>
        </p:nvSpPr>
        <p:spPr bwMode="auto">
          <a:xfrm>
            <a:off x="468560" y="3324796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31" name="Rectangle 37"/>
          <p:cNvSpPr>
            <a:spLocks noChangeArrowheads="1"/>
          </p:cNvSpPr>
          <p:nvPr/>
        </p:nvSpPr>
        <p:spPr bwMode="auto">
          <a:xfrm>
            <a:off x="468560" y="3400996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32" name="Rectangle 41"/>
          <p:cNvSpPr>
            <a:spLocks noChangeArrowheads="1"/>
          </p:cNvSpPr>
          <p:nvPr/>
        </p:nvSpPr>
        <p:spPr bwMode="auto">
          <a:xfrm>
            <a:off x="468560" y="342480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33" name="Rectangle 43"/>
          <p:cNvSpPr>
            <a:spLocks noChangeArrowheads="1"/>
          </p:cNvSpPr>
          <p:nvPr/>
        </p:nvSpPr>
        <p:spPr bwMode="auto">
          <a:xfrm>
            <a:off x="468560" y="340575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34" name="Rectangle 47"/>
          <p:cNvSpPr>
            <a:spLocks noChangeArrowheads="1"/>
          </p:cNvSpPr>
          <p:nvPr/>
        </p:nvSpPr>
        <p:spPr bwMode="auto">
          <a:xfrm>
            <a:off x="468560" y="3400996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35" name="Rectangle 48"/>
          <p:cNvSpPr>
            <a:spLocks noChangeArrowheads="1"/>
          </p:cNvSpPr>
          <p:nvPr/>
        </p:nvSpPr>
        <p:spPr bwMode="auto">
          <a:xfrm>
            <a:off x="468560" y="3400996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36" name="Rectangle 52"/>
          <p:cNvSpPr>
            <a:spLocks noChangeArrowheads="1"/>
          </p:cNvSpPr>
          <p:nvPr/>
        </p:nvSpPr>
        <p:spPr bwMode="auto">
          <a:xfrm>
            <a:off x="468560" y="3400996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37" name="Rectangle 55"/>
          <p:cNvSpPr>
            <a:spLocks noChangeArrowheads="1"/>
          </p:cNvSpPr>
          <p:nvPr/>
        </p:nvSpPr>
        <p:spPr bwMode="auto">
          <a:xfrm>
            <a:off x="468560" y="329145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38" name="Rectangle 56"/>
          <p:cNvSpPr>
            <a:spLocks noChangeArrowheads="1"/>
          </p:cNvSpPr>
          <p:nvPr/>
        </p:nvSpPr>
        <p:spPr bwMode="auto">
          <a:xfrm>
            <a:off x="468560" y="329145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graphicFrame>
        <p:nvGraphicFramePr>
          <p:cNvPr id="39" name="对象 38"/>
          <p:cNvGraphicFramePr>
            <a:graphicFrameLocks noChangeAspect="1"/>
          </p:cNvGraphicFramePr>
          <p:nvPr>
            <p:extLst/>
          </p:nvPr>
        </p:nvGraphicFramePr>
        <p:xfrm>
          <a:off x="4442073" y="4563046"/>
          <a:ext cx="1758950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277" name="Equation" r:id="rId24" imgW="927000" imgH="253800" progId="Equation.DSMT4">
                  <p:embed/>
                </p:oleObj>
              </mc:Choice>
              <mc:Fallback>
                <p:oleObj name="Equation" r:id="rId24" imgW="927000" imgH="253800" progId="Equation.DSMT4">
                  <p:embed/>
                  <p:pic>
                    <p:nvPicPr>
                      <p:cNvPr id="39" name="对象 38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4442073" y="4563046"/>
                        <a:ext cx="1758950" cy="4810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81477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第五章 无约束最优化方法</a:t>
            </a:r>
            <a:endParaRPr lang="en-US" altLang="zh-CN" dirty="0">
              <a:latin typeface="华文中宋" pitchFamily="2" charset="-122"/>
              <a:ea typeface="华文中宋" pitchFamily="2" charset="-122"/>
              <a:cs typeface="Times New Roman" panose="02020603050405020304" pitchFamily="18" charset="0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323529" y="1124744"/>
            <a:ext cx="8280920" cy="20005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n-US" altLang="zh-CN" sz="2800" b="1" dirty="0" smtClean="0">
                <a:solidFill>
                  <a:srgbClr val="C00000"/>
                </a:solidFill>
              </a:rPr>
              <a:t>Newton</a:t>
            </a:r>
            <a:r>
              <a:rPr lang="zh-CN" altLang="en-US" sz="2800" b="1" dirty="0">
                <a:solidFill>
                  <a:srgbClr val="C00000"/>
                </a:solidFill>
              </a:rPr>
              <a:t>法基本原理</a:t>
            </a:r>
          </a:p>
          <a:p>
            <a:pPr algn="just">
              <a:defRPr/>
            </a:pPr>
            <a:r>
              <a:rPr lang="zh-CN" altLang="en-US" sz="2400" dirty="0">
                <a:latin typeface="Arial" charset="0"/>
              </a:rPr>
              <a:t>为寻求收敛速度快的算法，我们考虑在应用基本迭代</a:t>
            </a:r>
            <a:r>
              <a:rPr lang="zh-CN" altLang="en-US" sz="2400" dirty="0" smtClean="0">
                <a:latin typeface="Arial" charset="0"/>
              </a:rPr>
              <a:t>公式                                    </a:t>
            </a:r>
            <a:endParaRPr lang="en-US" altLang="zh-CN" sz="2400" dirty="0" smtClean="0">
              <a:latin typeface="Arial" charset="0"/>
            </a:endParaRPr>
          </a:p>
          <a:p>
            <a:pPr algn="just">
              <a:defRPr/>
            </a:pPr>
            <a:r>
              <a:rPr lang="en-US" altLang="zh-CN" sz="2400" dirty="0" smtClean="0">
                <a:latin typeface="Arial" charset="0"/>
              </a:rPr>
              <a:t>                           </a:t>
            </a:r>
            <a:r>
              <a:rPr lang="zh-CN" altLang="en-US" sz="2400" dirty="0" smtClean="0">
                <a:latin typeface="Arial" charset="0"/>
              </a:rPr>
              <a:t>中</a:t>
            </a:r>
            <a:r>
              <a:rPr lang="zh-CN" altLang="en-US" sz="2400" dirty="0">
                <a:latin typeface="Arial" charset="0"/>
              </a:rPr>
              <a:t>，每轮迭代在迭代的起始点    处</a:t>
            </a:r>
            <a:r>
              <a:rPr lang="zh-CN" altLang="en-US" sz="2400" dirty="0" smtClean="0">
                <a:latin typeface="Arial" charset="0"/>
              </a:rPr>
              <a:t>用一</a:t>
            </a:r>
            <a:r>
              <a:rPr lang="zh-CN" altLang="en-US" sz="2400" dirty="0">
                <a:latin typeface="Arial" charset="0"/>
              </a:rPr>
              <a:t>个适当的二次函数来近似该点处的目标函数，</a:t>
            </a:r>
            <a:r>
              <a:rPr lang="zh-CN" altLang="en-US" sz="2400" dirty="0" smtClean="0">
                <a:latin typeface="Arial" charset="0"/>
              </a:rPr>
              <a:t>由此用</a:t>
            </a:r>
            <a:r>
              <a:rPr lang="zh-CN" altLang="en-US" sz="2400" dirty="0">
                <a:latin typeface="Arial" charset="0"/>
              </a:rPr>
              <a:t>点   指向近似二次函数极小点的方向来构造</a:t>
            </a:r>
            <a:r>
              <a:rPr lang="zh-CN" altLang="en-US" sz="2400" dirty="0" smtClean="0">
                <a:latin typeface="Arial" charset="0"/>
              </a:rPr>
              <a:t>搜索方向  </a:t>
            </a:r>
            <a:r>
              <a:rPr lang="en-US" altLang="zh-CN" sz="2400" dirty="0" smtClean="0">
                <a:latin typeface="Arial" charset="0"/>
              </a:rPr>
              <a:t>  </a:t>
            </a:r>
            <a:r>
              <a:rPr lang="en-US" altLang="zh-CN" sz="2400" dirty="0">
                <a:latin typeface="Arial" charset="0"/>
              </a:rPr>
              <a:t>(</a:t>
            </a:r>
            <a:r>
              <a:rPr lang="zh-CN" altLang="en-US" sz="2400" dirty="0">
                <a:latin typeface="Arial" charset="0"/>
              </a:rPr>
              <a:t>如图所示</a:t>
            </a:r>
            <a:r>
              <a:rPr lang="en-US" altLang="zh-CN" sz="2400" dirty="0">
                <a:latin typeface="Arial" charset="0"/>
              </a:rPr>
              <a:t>)</a:t>
            </a:r>
            <a:r>
              <a:rPr lang="zh-CN" altLang="en-US" sz="2400" dirty="0">
                <a:latin typeface="Arial" charset="0"/>
              </a:rPr>
              <a:t>．</a:t>
            </a:r>
          </a:p>
        </p:txBody>
      </p:sp>
      <p:pic>
        <p:nvPicPr>
          <p:cNvPr id="41" name="Picture 12" descr="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5125" y="3356992"/>
            <a:ext cx="3016250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2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0130856"/>
              </p:ext>
            </p:extLst>
          </p:nvPr>
        </p:nvGraphicFramePr>
        <p:xfrm>
          <a:off x="402903" y="1941156"/>
          <a:ext cx="204787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233" name="公式" r:id="rId5" imgW="1091880" imgH="228600" progId="Equation.3">
                  <p:embed/>
                </p:oleObj>
              </mc:Choice>
              <mc:Fallback>
                <p:oleObj name="公式" r:id="rId5" imgW="1091880" imgH="228600" progId="Equation.3">
                  <p:embed/>
                  <p:pic>
                    <p:nvPicPr>
                      <p:cNvPr id="9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903" y="1941156"/>
                        <a:ext cx="2047875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3154167"/>
              </p:ext>
            </p:extLst>
          </p:nvPr>
        </p:nvGraphicFramePr>
        <p:xfrm>
          <a:off x="5921375" y="2708920"/>
          <a:ext cx="33337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234" name="公式" r:id="rId7" imgW="177480" imgH="228600" progId="Equation.3">
                  <p:embed/>
                </p:oleObj>
              </mc:Choice>
              <mc:Fallback>
                <p:oleObj name="公式" r:id="rId7" imgW="177480" imgH="228600" progId="Equation.3">
                  <p:embed/>
                  <p:pic>
                    <p:nvPicPr>
                      <p:cNvPr id="13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1375" y="2708920"/>
                        <a:ext cx="333375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4303099"/>
              </p:ext>
            </p:extLst>
          </p:nvPr>
        </p:nvGraphicFramePr>
        <p:xfrm>
          <a:off x="6625902" y="1942791"/>
          <a:ext cx="404812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235" name="公式" r:id="rId9" imgW="215640" imgH="228600" progId="Equation.3">
                  <p:embed/>
                </p:oleObj>
              </mc:Choice>
              <mc:Fallback>
                <p:oleObj name="公式" r:id="rId9" imgW="215640" imgH="228600" progId="Equation.3">
                  <p:embed/>
                  <p:pic>
                    <p:nvPicPr>
                      <p:cNvPr id="14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5902" y="1942791"/>
                        <a:ext cx="404812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6563101"/>
              </p:ext>
            </p:extLst>
          </p:nvPr>
        </p:nvGraphicFramePr>
        <p:xfrm>
          <a:off x="7210362" y="2328885"/>
          <a:ext cx="404813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236" name="公式" r:id="rId11" imgW="215640" imgH="228600" progId="Equation.3">
                  <p:embed/>
                </p:oleObj>
              </mc:Choice>
              <mc:Fallback>
                <p:oleObj name="公式" r:id="rId11" imgW="215640" imgH="228600" progId="Equation.3">
                  <p:embed/>
                  <p:pic>
                    <p:nvPicPr>
                      <p:cNvPr id="15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10362" y="2328885"/>
                        <a:ext cx="404813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62172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第五章 无约束最优化方法</a:t>
            </a:r>
            <a:endParaRPr lang="en-US" altLang="zh-CN" dirty="0">
              <a:latin typeface="华文中宋" pitchFamily="2" charset="-122"/>
              <a:ea typeface="华文中宋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55576" y="947513"/>
            <a:ext cx="306846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spcBef>
                <a:spcPct val="0"/>
              </a:spcBef>
              <a:defRPr/>
            </a:pPr>
            <a:r>
              <a:rPr lang="zh-CN" altLang="en-US" sz="3200" b="1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牛顿法迭代步骤</a:t>
            </a:r>
            <a:endParaRPr lang="en-US" altLang="zh-CN" sz="3200" b="1" dirty="0" smtClean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itchFamily="18" charset="0"/>
            </a:endParaRP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>
          <a:xfrm>
            <a:off x="179512" y="1196752"/>
            <a:ext cx="9286875" cy="5429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40000"/>
              </a:lnSpc>
              <a:defRPr/>
            </a:pPr>
            <a:endParaRPr lang="en-US" altLang="zh-CN" sz="2400" dirty="0" smtClean="0">
              <a:solidFill>
                <a:srgbClr val="009999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>
              <a:lnSpc>
                <a:spcPct val="140000"/>
              </a:lnSpc>
              <a:defRPr/>
            </a:pPr>
            <a:r>
              <a:rPr lang="zh-CN" altLang="en-US" sz="2400" dirty="0" smtClean="0"/>
              <a:t>已知目标函数          及其梯度             </a:t>
            </a:r>
            <a:r>
              <a:rPr lang="en-US" altLang="zh-CN" sz="2400" dirty="0" smtClean="0"/>
              <a:t>Hesse</a:t>
            </a:r>
            <a:r>
              <a:rPr lang="zh-CN" altLang="en-US" sz="2400" dirty="0" smtClean="0"/>
              <a:t>矩阵          </a:t>
            </a:r>
            <a:r>
              <a:rPr lang="en-US" altLang="zh-CN" sz="2400" dirty="0" smtClean="0"/>
              <a:t>,</a:t>
            </a:r>
            <a:r>
              <a:rPr lang="zh-CN" altLang="en-US" sz="2400" dirty="0" smtClean="0"/>
              <a:t>终止限    </a:t>
            </a:r>
          </a:p>
          <a:p>
            <a:pPr>
              <a:lnSpc>
                <a:spcPct val="140000"/>
              </a:lnSpc>
              <a:defRPr/>
            </a:pPr>
            <a:r>
              <a:rPr lang="en-US" altLang="zh-CN" sz="2400" dirty="0" smtClean="0"/>
              <a:t>(1)</a:t>
            </a:r>
            <a:r>
              <a:rPr lang="zh-CN" altLang="en-US" sz="2400" dirty="0" smtClean="0"/>
              <a:t>选定初始点        计算                                     置             ．</a:t>
            </a:r>
          </a:p>
          <a:p>
            <a:pPr>
              <a:lnSpc>
                <a:spcPct val="140000"/>
              </a:lnSpc>
              <a:defRPr/>
            </a:pPr>
            <a:r>
              <a:rPr lang="en-US" altLang="zh-CN" sz="2400" dirty="0" smtClean="0"/>
              <a:t>(2)</a:t>
            </a:r>
            <a:r>
              <a:rPr lang="zh-CN" altLang="en-US" sz="2400" dirty="0" smtClean="0"/>
              <a:t>计算                    </a:t>
            </a:r>
          </a:p>
          <a:p>
            <a:pPr>
              <a:lnSpc>
                <a:spcPct val="140000"/>
              </a:lnSpc>
              <a:defRPr/>
            </a:pPr>
            <a:r>
              <a:rPr lang="en-US" altLang="zh-CN" sz="2400" dirty="0" smtClean="0"/>
              <a:t>(3)</a:t>
            </a:r>
            <a:r>
              <a:rPr lang="zh-CN" altLang="en-US" sz="2400" dirty="0" smtClean="0"/>
              <a:t>由方程                      解出       ．</a:t>
            </a:r>
          </a:p>
          <a:p>
            <a:pPr>
              <a:lnSpc>
                <a:spcPct val="140000"/>
              </a:lnSpc>
              <a:defRPr/>
            </a:pPr>
            <a:r>
              <a:rPr lang="en-US" altLang="zh-CN" sz="2400" dirty="0" smtClean="0"/>
              <a:t>(4)</a:t>
            </a:r>
            <a:r>
              <a:rPr lang="zh-CN" altLang="en-US" sz="2400" dirty="0" smtClean="0"/>
              <a:t>计算</a:t>
            </a:r>
          </a:p>
          <a:p>
            <a:pPr>
              <a:lnSpc>
                <a:spcPct val="140000"/>
              </a:lnSpc>
              <a:defRPr/>
            </a:pPr>
            <a:r>
              <a:rPr lang="en-US" altLang="zh-CN" sz="2400" dirty="0" smtClean="0"/>
              <a:t>(5)</a:t>
            </a:r>
            <a:r>
              <a:rPr lang="zh-CN" altLang="en-US" sz="2400" dirty="0" smtClean="0"/>
              <a:t>判别终止准则是否满足：若满足，则打印最优解              </a:t>
            </a:r>
          </a:p>
          <a:p>
            <a:pPr>
              <a:lnSpc>
                <a:spcPct val="140000"/>
              </a:lnSpc>
              <a:buFontTx/>
              <a:buNone/>
              <a:defRPr/>
            </a:pPr>
            <a:r>
              <a:rPr lang="zh-CN" altLang="en-US" sz="2400" dirty="0" smtClean="0"/>
              <a:t>                 停机；否则置                 转</a:t>
            </a:r>
            <a:r>
              <a:rPr lang="en-US" altLang="zh-CN" sz="2400" dirty="0" smtClean="0"/>
              <a:t>(2).</a:t>
            </a:r>
            <a:endParaRPr lang="zh-CN" altLang="en-US" sz="2400" dirty="0" smtClean="0"/>
          </a:p>
          <a:p>
            <a:pPr>
              <a:lnSpc>
                <a:spcPct val="140000"/>
              </a:lnSpc>
              <a:buFontTx/>
              <a:buNone/>
              <a:defRPr/>
            </a:pPr>
            <a:r>
              <a:rPr lang="zh-CN" altLang="en-US" sz="2400" dirty="0" smtClean="0"/>
              <a:t>　　</a:t>
            </a:r>
            <a:endParaRPr lang="zh-CN" altLang="en-US" sz="2400" dirty="0"/>
          </a:p>
        </p:txBody>
      </p:sp>
      <p:graphicFrame>
        <p:nvGraphicFramePr>
          <p:cNvPr id="1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7500542"/>
              </p:ext>
            </p:extLst>
          </p:nvPr>
        </p:nvGraphicFramePr>
        <p:xfrm>
          <a:off x="2413125" y="1921989"/>
          <a:ext cx="685800" cy="3709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297" name="公式" r:id="rId4" imgW="355446" imgH="190417" progId="Equation.3">
                  <p:embed/>
                </p:oleObj>
              </mc:Choice>
              <mc:Fallback>
                <p:oleObj name="公式" r:id="rId4" imgW="355446" imgH="190417" progId="Equation.3">
                  <p:embed/>
                  <p:pic>
                    <p:nvPicPr>
                      <p:cNvPr id="4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3125" y="1921989"/>
                        <a:ext cx="685800" cy="37090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8551230"/>
              </p:ext>
            </p:extLst>
          </p:nvPr>
        </p:nvGraphicFramePr>
        <p:xfrm>
          <a:off x="4392736" y="1903984"/>
          <a:ext cx="793750" cy="38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298" name="公式" r:id="rId6" imgW="419040" imgH="203040" progId="Equation.3">
                  <p:embed/>
                </p:oleObj>
              </mc:Choice>
              <mc:Fallback>
                <p:oleObj name="公式" r:id="rId6" imgW="419040" imgH="203040" progId="Equation.3">
                  <p:embed/>
                  <p:pic>
                    <p:nvPicPr>
                      <p:cNvPr id="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2736" y="1903984"/>
                        <a:ext cx="793750" cy="3857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6535879"/>
              </p:ext>
            </p:extLst>
          </p:nvPr>
        </p:nvGraphicFramePr>
        <p:xfrm>
          <a:off x="6517007" y="1961134"/>
          <a:ext cx="714375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299" name="公式" r:id="rId8" imgW="355446" imgH="190417" progId="Equation.3">
                  <p:embed/>
                </p:oleObj>
              </mc:Choice>
              <mc:Fallback>
                <p:oleObj name="公式" r:id="rId8" imgW="355446" imgH="190417" progId="Equation.3">
                  <p:embed/>
                  <p:pic>
                    <p:nvPicPr>
                      <p:cNvPr id="6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7007" y="1961134"/>
                        <a:ext cx="714375" cy="387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0581905"/>
              </p:ext>
            </p:extLst>
          </p:nvPr>
        </p:nvGraphicFramePr>
        <p:xfrm>
          <a:off x="8327414" y="1943136"/>
          <a:ext cx="301625" cy="328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300" name="公式" r:id="rId10" imgW="126720" imgH="139680" progId="Equation.3">
                  <p:embed/>
                </p:oleObj>
              </mc:Choice>
              <mc:Fallback>
                <p:oleObj name="公式" r:id="rId10" imgW="126720" imgH="139680" progId="Equation.3">
                  <p:embed/>
                  <p:pic>
                    <p:nvPicPr>
                      <p:cNvPr id="8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27414" y="1943136"/>
                        <a:ext cx="301625" cy="328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9971613"/>
              </p:ext>
            </p:extLst>
          </p:nvPr>
        </p:nvGraphicFramePr>
        <p:xfrm>
          <a:off x="2532188" y="2464346"/>
          <a:ext cx="566737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301" name="公式" r:id="rId12" imgW="266400" imgH="228600" progId="Equation.3">
                  <p:embed/>
                </p:oleObj>
              </mc:Choice>
              <mc:Fallback>
                <p:oleObj name="公式" r:id="rId12" imgW="266400" imgH="228600" progId="Equation.3">
                  <p:embed/>
                  <p:pic>
                    <p:nvPicPr>
                      <p:cNvPr id="9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2188" y="2464346"/>
                        <a:ext cx="566737" cy="485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8304027"/>
              </p:ext>
            </p:extLst>
          </p:nvPr>
        </p:nvGraphicFramePr>
        <p:xfrm>
          <a:off x="3565648" y="2448472"/>
          <a:ext cx="2447925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302" name="公式" r:id="rId14" imgW="1333500" imgH="203200" progId="Equation.3">
                  <p:embed/>
                </p:oleObj>
              </mc:Choice>
              <mc:Fallback>
                <p:oleObj name="公式" r:id="rId14" imgW="1333500" imgH="203200" progId="Equation.3">
                  <p:embed/>
                  <p:pic>
                    <p:nvPicPr>
                      <p:cNvPr id="1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5648" y="2448472"/>
                        <a:ext cx="2447925" cy="471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2814635"/>
              </p:ext>
            </p:extLst>
          </p:nvPr>
        </p:nvGraphicFramePr>
        <p:xfrm>
          <a:off x="6480296" y="2515145"/>
          <a:ext cx="792162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303" name="公式" r:id="rId16" imgW="330057" imgH="165028" progId="Equation.3">
                  <p:embed/>
                </p:oleObj>
              </mc:Choice>
              <mc:Fallback>
                <p:oleObj name="公式" r:id="rId16" imgW="330057" imgH="165028" progId="Equation.3">
                  <p:embed/>
                  <p:pic>
                    <p:nvPicPr>
                      <p:cNvPr id="11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80296" y="2515145"/>
                        <a:ext cx="792162" cy="384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0545659"/>
              </p:ext>
            </p:extLst>
          </p:nvPr>
        </p:nvGraphicFramePr>
        <p:xfrm>
          <a:off x="1614244" y="3028730"/>
          <a:ext cx="2011363" cy="496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304" name="公式" r:id="rId18" imgW="965160" imgH="241200" progId="Equation.3">
                  <p:embed/>
                </p:oleObj>
              </mc:Choice>
              <mc:Fallback>
                <p:oleObj name="公式" r:id="rId18" imgW="965160" imgH="241200" progId="Equation.3">
                  <p:embed/>
                  <p:pic>
                    <p:nvPicPr>
                      <p:cNvPr id="12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4244" y="3028730"/>
                        <a:ext cx="2011363" cy="4968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5169493"/>
              </p:ext>
            </p:extLst>
          </p:nvPr>
        </p:nvGraphicFramePr>
        <p:xfrm>
          <a:off x="1853811" y="3610862"/>
          <a:ext cx="1571625" cy="45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305" name="公式" r:id="rId20" imgW="698197" imgH="203112" progId="Equation.3">
                  <p:embed/>
                </p:oleObj>
              </mc:Choice>
              <mc:Fallback>
                <p:oleObj name="公式" r:id="rId20" imgW="698197" imgH="203112" progId="Equation.3">
                  <p:embed/>
                  <p:pic>
                    <p:nvPicPr>
                      <p:cNvPr id="13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3811" y="3610862"/>
                        <a:ext cx="1571625" cy="4524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7988408"/>
              </p:ext>
            </p:extLst>
          </p:nvPr>
        </p:nvGraphicFramePr>
        <p:xfrm>
          <a:off x="4007571" y="3642250"/>
          <a:ext cx="477838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306" name="公式" r:id="rId22" imgW="164957" imgH="203024" progId="Equation.3">
                  <p:embed/>
                </p:oleObj>
              </mc:Choice>
              <mc:Fallback>
                <p:oleObj name="公式" r:id="rId22" imgW="164957" imgH="203024" progId="Equation.3">
                  <p:embed/>
                  <p:pic>
                    <p:nvPicPr>
                      <p:cNvPr id="14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7571" y="3642250"/>
                        <a:ext cx="477838" cy="42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7593693"/>
              </p:ext>
            </p:extLst>
          </p:nvPr>
        </p:nvGraphicFramePr>
        <p:xfrm>
          <a:off x="1638812" y="4211177"/>
          <a:ext cx="5286375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307" name="公式" r:id="rId24" imgW="2692400" imgH="203200" progId="Equation.3">
                  <p:embed/>
                </p:oleObj>
              </mc:Choice>
              <mc:Fallback>
                <p:oleObj name="公式" r:id="rId24" imgW="2692400" imgH="203200" progId="Equation.3">
                  <p:embed/>
                  <p:pic>
                    <p:nvPicPr>
                      <p:cNvPr id="15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8812" y="4211177"/>
                        <a:ext cx="5286375" cy="4714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1924167"/>
              </p:ext>
            </p:extLst>
          </p:nvPr>
        </p:nvGraphicFramePr>
        <p:xfrm>
          <a:off x="608137" y="6148166"/>
          <a:ext cx="1285875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308" name="公式" r:id="rId26" imgW="596880" imgH="228600" progId="Equation.3">
                  <p:embed/>
                </p:oleObj>
              </mc:Choice>
              <mc:Fallback>
                <p:oleObj name="公式" r:id="rId26" imgW="596880" imgH="228600" progId="Equation.3">
                  <p:embed/>
                  <p:pic>
                    <p:nvPicPr>
                      <p:cNvPr id="16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137" y="6148166"/>
                        <a:ext cx="1285875" cy="4778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5827631"/>
              </p:ext>
            </p:extLst>
          </p:nvPr>
        </p:nvGraphicFramePr>
        <p:xfrm>
          <a:off x="3307713" y="5401920"/>
          <a:ext cx="1077912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309" name="公式" r:id="rId28" imgW="583920" imgH="203040" progId="Equation.3">
                  <p:embed/>
                </p:oleObj>
              </mc:Choice>
              <mc:Fallback>
                <p:oleObj name="公式" r:id="rId28" imgW="583920" imgH="203040" progId="Equation.3">
                  <p:embed/>
                  <p:pic>
                    <p:nvPicPr>
                      <p:cNvPr id="17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7713" y="5401920"/>
                        <a:ext cx="1077912" cy="504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97835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4803163" y="-27384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4803163" y="3078437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4803163" y="-27384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4803163" y="-27384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4803163" y="-27384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404659" y="908720"/>
            <a:ext cx="9144000" cy="577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800" b="1" dirty="0" smtClean="0">
                <a:solidFill>
                  <a:srgbClr val="C00000"/>
                </a:solidFill>
              </a:rPr>
              <a:t>修正</a:t>
            </a:r>
            <a:r>
              <a:rPr lang="en-US" altLang="zh-CN" sz="2800" b="1" dirty="0">
                <a:solidFill>
                  <a:srgbClr val="C00000"/>
                </a:solidFill>
              </a:rPr>
              <a:t>Newton</a:t>
            </a:r>
            <a:r>
              <a:rPr lang="zh-CN" altLang="en-US" sz="2800" b="1" dirty="0">
                <a:solidFill>
                  <a:srgbClr val="C00000"/>
                </a:solidFill>
              </a:rPr>
              <a:t>法迭代</a:t>
            </a:r>
            <a:r>
              <a:rPr lang="zh-CN" altLang="en-US" sz="2800" b="1" dirty="0" smtClean="0">
                <a:solidFill>
                  <a:srgbClr val="C00000"/>
                </a:solidFill>
              </a:rPr>
              <a:t>步骤</a:t>
            </a:r>
            <a:endParaRPr lang="en-US" altLang="zh-CN" sz="2800" b="1" dirty="0" smtClean="0">
              <a:solidFill>
                <a:srgbClr val="C00000"/>
              </a:solidFill>
            </a:endParaRPr>
          </a:p>
          <a:p>
            <a:pPr>
              <a:buFont typeface="Arial" pitchFamily="34" charset="0"/>
              <a:buChar char="•"/>
              <a:defRPr/>
            </a:pPr>
            <a:endParaRPr lang="zh-CN" altLang="en-US" sz="2800" dirty="0">
              <a:solidFill>
                <a:schemeClr val="tx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>
              <a:lnSpc>
                <a:spcPct val="115000"/>
              </a:lnSpc>
              <a:buFont typeface="Arial" pitchFamily="34" charset="0"/>
              <a:buChar char="•"/>
              <a:defRPr/>
            </a:pPr>
            <a:r>
              <a:rPr lang="zh-CN" altLang="en-US" sz="2400" dirty="0">
                <a:latin typeface="Arial" charset="0"/>
              </a:rPr>
              <a:t>已知目标函数      </a:t>
            </a:r>
            <a:r>
              <a:rPr lang="zh-CN" altLang="en-US" sz="2400" dirty="0" smtClean="0">
                <a:latin typeface="Arial" charset="0"/>
              </a:rPr>
              <a:t>   及其</a:t>
            </a:r>
            <a:r>
              <a:rPr lang="zh-CN" altLang="en-US" sz="2400" dirty="0">
                <a:latin typeface="Arial" charset="0"/>
              </a:rPr>
              <a:t>梯度  </a:t>
            </a:r>
            <a:r>
              <a:rPr lang="zh-CN" altLang="en-US" sz="2400" dirty="0" smtClean="0">
                <a:latin typeface="Arial" charset="0"/>
              </a:rPr>
              <a:t>         </a:t>
            </a:r>
            <a:r>
              <a:rPr lang="en-US" altLang="zh-CN" sz="2400" dirty="0">
                <a:latin typeface="Arial" charset="0"/>
              </a:rPr>
              <a:t>Hesse</a:t>
            </a:r>
            <a:r>
              <a:rPr lang="zh-CN" altLang="en-US" sz="2400" dirty="0" smtClean="0">
                <a:latin typeface="Arial" charset="0"/>
              </a:rPr>
              <a:t>矩阵          </a:t>
            </a:r>
            <a:r>
              <a:rPr lang="zh-CN" altLang="en-US" sz="2400" dirty="0">
                <a:latin typeface="Arial" charset="0"/>
              </a:rPr>
              <a:t>终止限 </a:t>
            </a:r>
          </a:p>
          <a:p>
            <a:pPr>
              <a:lnSpc>
                <a:spcPct val="115000"/>
              </a:lnSpc>
              <a:buFont typeface="Arial" pitchFamily="34" charset="0"/>
              <a:buChar char="•"/>
              <a:defRPr/>
            </a:pPr>
            <a:r>
              <a:rPr lang="zh-CN" altLang="en-US" sz="2400" dirty="0">
                <a:latin typeface="Arial" charset="0"/>
              </a:rPr>
              <a:t>（</a:t>
            </a:r>
            <a:r>
              <a:rPr lang="en-US" altLang="zh-CN" sz="2400" dirty="0">
                <a:latin typeface="Arial" charset="0"/>
              </a:rPr>
              <a:t>1</a:t>
            </a:r>
            <a:r>
              <a:rPr lang="zh-CN" altLang="en-US" sz="2400" dirty="0">
                <a:latin typeface="Arial" charset="0"/>
              </a:rPr>
              <a:t>）选取初始点     令</a:t>
            </a:r>
          </a:p>
          <a:p>
            <a:pPr>
              <a:lnSpc>
                <a:spcPct val="115000"/>
              </a:lnSpc>
              <a:buFont typeface="Arial" pitchFamily="34" charset="0"/>
              <a:buChar char="•"/>
              <a:defRPr/>
            </a:pPr>
            <a:r>
              <a:rPr lang="zh-CN" altLang="en-US" sz="2400" dirty="0">
                <a:latin typeface="Arial" charset="0"/>
              </a:rPr>
              <a:t>（</a:t>
            </a:r>
            <a:r>
              <a:rPr lang="en-US" altLang="zh-CN" sz="2400" dirty="0">
                <a:latin typeface="Arial" charset="0"/>
              </a:rPr>
              <a:t>2</a:t>
            </a:r>
            <a:r>
              <a:rPr lang="zh-CN" altLang="en-US" sz="2400" dirty="0">
                <a:latin typeface="Arial" charset="0"/>
              </a:rPr>
              <a:t>）求梯度向量．</a:t>
            </a:r>
            <a:r>
              <a:rPr lang="zh-CN" altLang="en-US" sz="2400" dirty="0" smtClean="0">
                <a:latin typeface="Arial" charset="0"/>
              </a:rPr>
              <a:t>计算                       </a:t>
            </a:r>
            <a:r>
              <a:rPr lang="zh-CN" altLang="en-US" sz="2400" dirty="0">
                <a:latin typeface="Arial" charset="0"/>
              </a:rPr>
              <a:t>，若 </a:t>
            </a:r>
            <a:r>
              <a:rPr lang="zh-CN" altLang="en-US" sz="2400" dirty="0" smtClean="0">
                <a:latin typeface="Arial" charset="0"/>
              </a:rPr>
              <a:t>                   </a:t>
            </a:r>
            <a:r>
              <a:rPr lang="zh-CN" altLang="en-US" sz="2400" dirty="0">
                <a:latin typeface="Arial" charset="0"/>
              </a:rPr>
              <a:t>，停  </a:t>
            </a:r>
            <a:endParaRPr lang="en-US" altLang="zh-CN" sz="2400" dirty="0">
              <a:latin typeface="Arial" charset="0"/>
            </a:endParaRPr>
          </a:p>
          <a:p>
            <a:pPr>
              <a:lnSpc>
                <a:spcPct val="115000"/>
              </a:lnSpc>
              <a:defRPr/>
            </a:pPr>
            <a:r>
              <a:rPr lang="en-US" altLang="zh-CN" sz="2400" dirty="0">
                <a:latin typeface="Arial" charset="0"/>
              </a:rPr>
              <a:t>           </a:t>
            </a:r>
            <a:r>
              <a:rPr lang="zh-CN" altLang="en-US" sz="2400" dirty="0">
                <a:latin typeface="Arial" charset="0"/>
              </a:rPr>
              <a:t>止迭代输出      ．否则，转（</a:t>
            </a:r>
            <a:r>
              <a:rPr lang="en-US" altLang="zh-CN" sz="2400" dirty="0">
                <a:latin typeface="Arial" charset="0"/>
              </a:rPr>
              <a:t>3</a:t>
            </a:r>
            <a:r>
              <a:rPr lang="zh-CN" altLang="en-US" sz="2400" dirty="0">
                <a:latin typeface="Arial" charset="0"/>
              </a:rPr>
              <a:t>）．</a:t>
            </a:r>
          </a:p>
          <a:p>
            <a:pPr>
              <a:lnSpc>
                <a:spcPct val="115000"/>
              </a:lnSpc>
              <a:buFont typeface="Arial" pitchFamily="34" charset="0"/>
              <a:buChar char="•"/>
              <a:defRPr/>
            </a:pPr>
            <a:r>
              <a:rPr lang="zh-CN" altLang="en-US" sz="2400" dirty="0">
                <a:latin typeface="Arial" charset="0"/>
              </a:rPr>
              <a:t>（</a:t>
            </a:r>
            <a:r>
              <a:rPr lang="en-US" altLang="zh-CN" sz="2400" dirty="0">
                <a:latin typeface="Arial" charset="0"/>
              </a:rPr>
              <a:t>3</a:t>
            </a:r>
            <a:r>
              <a:rPr lang="zh-CN" altLang="en-US" sz="2400" dirty="0">
                <a:latin typeface="Arial" charset="0"/>
              </a:rPr>
              <a:t>）构造</a:t>
            </a:r>
            <a:r>
              <a:rPr lang="en-US" altLang="zh-CN" sz="2400" dirty="0">
                <a:latin typeface="Arial" charset="0"/>
              </a:rPr>
              <a:t>Newton</a:t>
            </a:r>
            <a:r>
              <a:rPr lang="zh-CN" altLang="en-US" sz="2400" dirty="0">
                <a:latin typeface="Arial" charset="0"/>
              </a:rPr>
              <a:t>方向．</a:t>
            </a:r>
            <a:r>
              <a:rPr lang="zh-CN" altLang="en-US" sz="2400" dirty="0" smtClean="0">
                <a:latin typeface="Arial" charset="0"/>
              </a:rPr>
              <a:t>计算                                    </a:t>
            </a:r>
            <a:r>
              <a:rPr lang="zh-CN" altLang="en-US" sz="2400" dirty="0">
                <a:latin typeface="Arial" charset="0"/>
              </a:rPr>
              <a:t>，</a:t>
            </a:r>
            <a:endParaRPr lang="en-US" altLang="zh-CN" sz="2400" dirty="0">
              <a:latin typeface="Arial" charset="0"/>
            </a:endParaRPr>
          </a:p>
          <a:p>
            <a:pPr>
              <a:lnSpc>
                <a:spcPct val="115000"/>
              </a:lnSpc>
              <a:defRPr/>
            </a:pPr>
            <a:r>
              <a:rPr lang="en-US" altLang="zh-CN" sz="2400" dirty="0">
                <a:latin typeface="Arial" charset="0"/>
              </a:rPr>
              <a:t>          </a:t>
            </a:r>
            <a:r>
              <a:rPr lang="zh-CN" altLang="en-US" sz="2400" dirty="0">
                <a:latin typeface="Arial" charset="0"/>
              </a:rPr>
              <a:t>取</a:t>
            </a:r>
            <a:endParaRPr lang="en-US" altLang="zh-CN" sz="2400" dirty="0">
              <a:latin typeface="Arial" charset="0"/>
            </a:endParaRPr>
          </a:p>
          <a:p>
            <a:pPr>
              <a:buFont typeface="Arial" pitchFamily="34" charset="0"/>
              <a:buChar char="•"/>
              <a:defRPr/>
            </a:pPr>
            <a:r>
              <a:rPr lang="zh-CN" altLang="en-US" sz="2400" dirty="0">
                <a:latin typeface="Arial" charset="0"/>
              </a:rPr>
              <a:t>（</a:t>
            </a:r>
            <a:r>
              <a:rPr lang="en-US" altLang="zh-CN" sz="2400" dirty="0">
                <a:latin typeface="Arial" charset="0"/>
              </a:rPr>
              <a:t>4</a:t>
            </a:r>
            <a:r>
              <a:rPr lang="zh-CN" altLang="en-US" sz="2400" dirty="0">
                <a:latin typeface="Arial" charset="0"/>
              </a:rPr>
              <a:t>）进行一维搜索．求    </a:t>
            </a:r>
            <a:r>
              <a:rPr lang="zh-CN" altLang="en-US" sz="2400" dirty="0" smtClean="0">
                <a:latin typeface="Arial" charset="0"/>
              </a:rPr>
              <a:t>  ，</a:t>
            </a:r>
            <a:r>
              <a:rPr lang="zh-CN" altLang="en-US" sz="2400" dirty="0">
                <a:latin typeface="Arial" charset="0"/>
              </a:rPr>
              <a:t>使得</a:t>
            </a:r>
          </a:p>
          <a:p>
            <a:pPr>
              <a:defRPr/>
            </a:pPr>
            <a:endParaRPr lang="zh-CN" altLang="en-US" sz="2400" dirty="0">
              <a:latin typeface="Arial" charset="0"/>
            </a:endParaRPr>
          </a:p>
          <a:p>
            <a:pPr>
              <a:defRPr/>
            </a:pPr>
            <a:r>
              <a:rPr lang="zh-CN" altLang="en-US" sz="2400" dirty="0">
                <a:latin typeface="Arial" charset="0"/>
              </a:rPr>
              <a:t>         </a:t>
            </a:r>
            <a:endParaRPr lang="en-US" altLang="zh-CN" sz="2400" dirty="0" smtClean="0">
              <a:latin typeface="Arial" charset="0"/>
            </a:endParaRPr>
          </a:p>
          <a:p>
            <a:pPr>
              <a:defRPr/>
            </a:pPr>
            <a:r>
              <a:rPr lang="en-US" altLang="zh-CN" sz="2400" dirty="0">
                <a:latin typeface="Arial" charset="0"/>
              </a:rPr>
              <a:t> </a:t>
            </a:r>
            <a:r>
              <a:rPr lang="en-US" altLang="zh-CN" sz="2400" dirty="0" smtClean="0">
                <a:latin typeface="Arial" charset="0"/>
              </a:rPr>
              <a:t>          </a:t>
            </a:r>
            <a:r>
              <a:rPr lang="zh-CN" altLang="en-US" sz="2400" dirty="0" smtClean="0">
                <a:latin typeface="Arial" charset="0"/>
              </a:rPr>
              <a:t>令                                      </a:t>
            </a:r>
            <a:r>
              <a:rPr lang="zh-CN" altLang="en-US" sz="2400" dirty="0">
                <a:latin typeface="Arial" charset="0"/>
              </a:rPr>
              <a:t>，转（</a:t>
            </a:r>
            <a:r>
              <a:rPr lang="en-US" altLang="zh-CN" sz="2400" dirty="0">
                <a:latin typeface="Arial" charset="0"/>
              </a:rPr>
              <a:t>2</a:t>
            </a:r>
            <a:r>
              <a:rPr lang="zh-CN" altLang="en-US" sz="2400" dirty="0">
                <a:latin typeface="Arial" charset="0"/>
              </a:rPr>
              <a:t>）．  </a:t>
            </a:r>
          </a:p>
          <a:p>
            <a:pPr>
              <a:lnSpc>
                <a:spcPct val="115000"/>
              </a:lnSpc>
              <a:defRPr/>
            </a:pPr>
            <a:endParaRPr lang="zh-CN" altLang="en-US" sz="2400" dirty="0">
              <a:latin typeface="Arial" charset="0"/>
            </a:endParaRPr>
          </a:p>
          <a:p>
            <a:pPr>
              <a:defRPr/>
            </a:pPr>
            <a:r>
              <a:rPr lang="zh-CN" altLang="en-US" sz="2400" dirty="0">
                <a:latin typeface="Arial" charset="0"/>
              </a:rPr>
              <a:t>      </a:t>
            </a:r>
          </a:p>
        </p:txBody>
      </p:sp>
      <p:graphicFrame>
        <p:nvGraphicFramePr>
          <p:cNvPr id="14" name="Object 6"/>
          <p:cNvGraphicFramePr>
            <a:graphicFrameLocks noChangeAspect="1"/>
          </p:cNvGraphicFramePr>
          <p:nvPr>
            <p:extLst/>
          </p:nvPr>
        </p:nvGraphicFramePr>
        <p:xfrm>
          <a:off x="2482382" y="1830716"/>
          <a:ext cx="658813" cy="35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24" name="公式" r:id="rId3" imgW="355446" imgH="190417" progId="Equation.3">
                  <p:embed/>
                </p:oleObj>
              </mc:Choice>
              <mc:Fallback>
                <p:oleObj name="公式" r:id="rId3" imgW="355446" imgH="190417" progId="Equation.3">
                  <p:embed/>
                  <p:pic>
                    <p:nvPicPr>
                      <p:cNvPr id="1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2382" y="1830716"/>
                        <a:ext cx="658813" cy="3571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8"/>
          <p:cNvGraphicFramePr>
            <a:graphicFrameLocks noChangeAspect="1"/>
          </p:cNvGraphicFramePr>
          <p:nvPr>
            <p:extLst/>
          </p:nvPr>
        </p:nvGraphicFramePr>
        <p:xfrm>
          <a:off x="4468659" y="1844550"/>
          <a:ext cx="801687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25" name="Equation" r:id="rId5" imgW="419040" imgH="203040" progId="Equation.DSMT4">
                  <p:embed/>
                </p:oleObj>
              </mc:Choice>
              <mc:Fallback>
                <p:oleObj name="Equation" r:id="rId5" imgW="419040" imgH="203040" progId="Equation.DSMT4">
                  <p:embed/>
                  <p:pic>
                    <p:nvPicPr>
                      <p:cNvPr id="15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8659" y="1844550"/>
                        <a:ext cx="801687" cy="390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0"/>
          <p:cNvGraphicFramePr>
            <a:graphicFrameLocks noChangeAspect="1"/>
          </p:cNvGraphicFramePr>
          <p:nvPr>
            <p:extLst/>
          </p:nvPr>
        </p:nvGraphicFramePr>
        <p:xfrm>
          <a:off x="6840031" y="1874214"/>
          <a:ext cx="7731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26" name="Equation" r:id="rId7" imgW="431640" imgH="203040" progId="Equation.DSMT4">
                  <p:embed/>
                </p:oleObj>
              </mc:Choice>
              <mc:Fallback>
                <p:oleObj name="Equation" r:id="rId7" imgW="431640" imgH="203040" progId="Equation.DSMT4">
                  <p:embed/>
                  <p:pic>
                    <p:nvPicPr>
                      <p:cNvPr id="16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0031" y="1874214"/>
                        <a:ext cx="7731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2"/>
          <p:cNvGraphicFramePr>
            <a:graphicFrameLocks noChangeAspect="1"/>
          </p:cNvGraphicFramePr>
          <p:nvPr>
            <p:extLst/>
          </p:nvPr>
        </p:nvGraphicFramePr>
        <p:xfrm>
          <a:off x="8548534" y="1878341"/>
          <a:ext cx="341313" cy="309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27" name="Equation" r:id="rId9" imgW="152280" imgH="139680" progId="Equation.DSMT4">
                  <p:embed/>
                </p:oleObj>
              </mc:Choice>
              <mc:Fallback>
                <p:oleObj name="Equation" r:id="rId9" imgW="152280" imgH="139680" progId="Equation.DSMT4">
                  <p:embed/>
                  <p:pic>
                    <p:nvPicPr>
                      <p:cNvPr id="17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48534" y="1878341"/>
                        <a:ext cx="341313" cy="3095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4"/>
          <p:cNvGraphicFramePr>
            <a:graphicFrameLocks noChangeAspect="1"/>
          </p:cNvGraphicFramePr>
          <p:nvPr>
            <p:extLst/>
          </p:nvPr>
        </p:nvGraphicFramePr>
        <p:xfrm>
          <a:off x="2898974" y="2234734"/>
          <a:ext cx="382587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28" name="Equation" r:id="rId11" imgW="266400" imgH="228600" progId="Equation.DSMT4">
                  <p:embed/>
                </p:oleObj>
              </mc:Choice>
              <mc:Fallback>
                <p:oleObj name="Equation" r:id="rId11" imgW="266400" imgH="228600" progId="Equation.DSMT4">
                  <p:embed/>
                  <p:pic>
                    <p:nvPicPr>
                      <p:cNvPr id="18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8974" y="2234734"/>
                        <a:ext cx="382587" cy="460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6"/>
          <p:cNvGraphicFramePr>
            <a:graphicFrameLocks noChangeAspect="1"/>
          </p:cNvGraphicFramePr>
          <p:nvPr>
            <p:extLst/>
          </p:nvPr>
        </p:nvGraphicFramePr>
        <p:xfrm>
          <a:off x="3660888" y="2249022"/>
          <a:ext cx="698500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29" name="Equation" r:id="rId13" imgW="380880" imgH="177480" progId="Equation.DSMT4">
                  <p:embed/>
                </p:oleObj>
              </mc:Choice>
              <mc:Fallback>
                <p:oleObj name="Equation" r:id="rId13" imgW="380880" imgH="177480" progId="Equation.DSMT4">
                  <p:embed/>
                  <p:pic>
                    <p:nvPicPr>
                      <p:cNvPr id="19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0888" y="2249022"/>
                        <a:ext cx="698500" cy="390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8"/>
          <p:cNvGraphicFramePr>
            <a:graphicFrameLocks noChangeAspect="1"/>
          </p:cNvGraphicFramePr>
          <p:nvPr>
            <p:extLst/>
          </p:nvPr>
        </p:nvGraphicFramePr>
        <p:xfrm>
          <a:off x="3864096" y="2637959"/>
          <a:ext cx="1812925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30" name="公式" r:id="rId15" imgW="977476" imgH="203112" progId="Equation.3">
                  <p:embed/>
                </p:oleObj>
              </mc:Choice>
              <mc:Fallback>
                <p:oleObj name="公式" r:id="rId15" imgW="977476" imgH="203112" progId="Equation.3">
                  <p:embed/>
                  <p:pic>
                    <p:nvPicPr>
                      <p:cNvPr id="2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4096" y="2637959"/>
                        <a:ext cx="1812925" cy="500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0"/>
          <p:cNvGraphicFramePr>
            <a:graphicFrameLocks noChangeAspect="1"/>
          </p:cNvGraphicFramePr>
          <p:nvPr>
            <p:extLst/>
          </p:nvPr>
        </p:nvGraphicFramePr>
        <p:xfrm>
          <a:off x="6362987" y="2637959"/>
          <a:ext cx="1727200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31" name="公式" r:id="rId17" imgW="812447" imgH="203112" progId="Equation.3">
                  <p:embed/>
                </p:oleObj>
              </mc:Choice>
              <mc:Fallback>
                <p:oleObj name="公式" r:id="rId17" imgW="812447" imgH="203112" progId="Equation.3">
                  <p:embed/>
                  <p:pic>
                    <p:nvPicPr>
                      <p:cNvPr id="21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2987" y="2637959"/>
                        <a:ext cx="1727200" cy="425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2"/>
          <p:cNvGraphicFramePr>
            <a:graphicFrameLocks noChangeAspect="1"/>
          </p:cNvGraphicFramePr>
          <p:nvPr>
            <p:extLst/>
          </p:nvPr>
        </p:nvGraphicFramePr>
        <p:xfrm>
          <a:off x="2898974" y="3026898"/>
          <a:ext cx="576263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32" name="公式" r:id="rId19" imgW="215713" imgH="203024" progId="Equation.3">
                  <p:embed/>
                </p:oleObj>
              </mc:Choice>
              <mc:Fallback>
                <p:oleObj name="公式" r:id="rId19" imgW="215713" imgH="203024" progId="Equation.3">
                  <p:embed/>
                  <p:pic>
                    <p:nvPicPr>
                      <p:cNvPr id="22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8974" y="3026898"/>
                        <a:ext cx="576263" cy="5254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4"/>
          <p:cNvGraphicFramePr>
            <a:graphicFrameLocks noChangeAspect="1"/>
          </p:cNvGraphicFramePr>
          <p:nvPr>
            <p:extLst/>
          </p:nvPr>
        </p:nvGraphicFramePr>
        <p:xfrm>
          <a:off x="4566165" y="3519362"/>
          <a:ext cx="2952750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33" name="公式" r:id="rId21" imgW="1384300" imgH="203200" progId="Equation.3">
                  <p:embed/>
                </p:oleObj>
              </mc:Choice>
              <mc:Fallback>
                <p:oleObj name="公式" r:id="rId21" imgW="1384300" imgH="203200" progId="Equation.3">
                  <p:embed/>
                  <p:pic>
                    <p:nvPicPr>
                      <p:cNvPr id="23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6165" y="3519362"/>
                        <a:ext cx="2952750" cy="42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3"/>
          <p:cNvGraphicFramePr>
            <a:graphicFrameLocks noChangeAspect="1"/>
          </p:cNvGraphicFramePr>
          <p:nvPr>
            <p:extLst/>
          </p:nvPr>
        </p:nvGraphicFramePr>
        <p:xfrm>
          <a:off x="3931244" y="4300431"/>
          <a:ext cx="500062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34" name="公式" r:id="rId23" imgW="139639" imgH="203112" progId="Equation.3">
                  <p:embed/>
                </p:oleObj>
              </mc:Choice>
              <mc:Fallback>
                <p:oleObj name="公式" r:id="rId23" imgW="139639" imgH="203112" progId="Equation.3">
                  <p:embed/>
                  <p:pic>
                    <p:nvPicPr>
                      <p:cNvPr id="2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1244" y="4300431"/>
                        <a:ext cx="500062" cy="5000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4"/>
          <p:cNvGraphicFramePr>
            <a:graphicFrameLocks noChangeAspect="1"/>
          </p:cNvGraphicFramePr>
          <p:nvPr>
            <p:extLst/>
          </p:nvPr>
        </p:nvGraphicFramePr>
        <p:xfrm>
          <a:off x="2063412" y="4824940"/>
          <a:ext cx="4786312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35" name="公式" r:id="rId25" imgW="1828800" imgH="266700" progId="Equation.3">
                  <p:embed/>
                </p:oleObj>
              </mc:Choice>
              <mc:Fallback>
                <p:oleObj name="公式" r:id="rId25" imgW="1828800" imgH="266700" progId="Equation.3">
                  <p:embed/>
                  <p:pic>
                    <p:nvPicPr>
                      <p:cNvPr id="2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412" y="4824940"/>
                        <a:ext cx="4786312" cy="588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5"/>
          <p:cNvGraphicFramePr>
            <a:graphicFrameLocks noChangeAspect="1"/>
          </p:cNvGraphicFramePr>
          <p:nvPr>
            <p:extLst/>
          </p:nvPr>
        </p:nvGraphicFramePr>
        <p:xfrm>
          <a:off x="1707538" y="5438487"/>
          <a:ext cx="3095625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36" name="公式" r:id="rId27" imgW="1536033" imgH="203112" progId="Equation.3">
                  <p:embed/>
                </p:oleObj>
              </mc:Choice>
              <mc:Fallback>
                <p:oleObj name="公式" r:id="rId27" imgW="1536033" imgH="203112" progId="Equation.3">
                  <p:embed/>
                  <p:pic>
                    <p:nvPicPr>
                      <p:cNvPr id="2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7538" y="5438487"/>
                        <a:ext cx="3095625" cy="404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6"/>
          <p:cNvGraphicFramePr>
            <a:graphicFrameLocks noChangeAspect="1"/>
          </p:cNvGraphicFramePr>
          <p:nvPr>
            <p:extLst/>
          </p:nvPr>
        </p:nvGraphicFramePr>
        <p:xfrm>
          <a:off x="1860671" y="3851296"/>
          <a:ext cx="3816350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37" name="公式" r:id="rId29" imgW="1562100" imgH="203200" progId="Equation.3">
                  <p:embed/>
                </p:oleObj>
              </mc:Choice>
              <mc:Fallback>
                <p:oleObj name="公式" r:id="rId29" imgW="1562100" imgH="203200" progId="Equation.3">
                  <p:embed/>
                  <p:pic>
                    <p:nvPicPr>
                      <p:cNvPr id="27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0671" y="3851296"/>
                        <a:ext cx="3816350" cy="4873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标题 3"/>
          <p:cNvSpPr>
            <a:spLocks noGrp="1"/>
          </p:cNvSpPr>
          <p:nvPr>
            <p:ph type="title"/>
          </p:nvPr>
        </p:nvSpPr>
        <p:spPr>
          <a:xfrm>
            <a:off x="2928927" y="142852"/>
            <a:ext cx="6072230" cy="582594"/>
          </a:xfrm>
        </p:spPr>
        <p:txBody>
          <a:bodyPr/>
          <a:lstStyle/>
          <a:p>
            <a:r>
              <a:rPr lang="zh-CN" altLang="en-US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第五章 无约束最优化方法</a:t>
            </a:r>
            <a:endParaRPr lang="en-US" altLang="zh-CN" dirty="0">
              <a:latin typeface="华文中宋" pitchFamily="2" charset="-122"/>
              <a:ea typeface="华文中宋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3831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第五章 无约束最优化方法</a:t>
            </a:r>
            <a:endParaRPr lang="en-US" altLang="zh-CN" dirty="0">
              <a:latin typeface="华文中宋" pitchFamily="2" charset="-122"/>
              <a:ea typeface="华文中宋" pitchFamily="2" charset="-122"/>
              <a:cs typeface="Times New Roman" panose="02020603050405020304" pitchFamily="18" charset="0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533033" y="1033572"/>
            <a:ext cx="828092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zh-CN" altLang="en-US" sz="2800" b="1" dirty="0" smtClean="0">
                <a:solidFill>
                  <a:srgbClr val="C00000"/>
                </a:solidFill>
              </a:rPr>
              <a:t>拟</a:t>
            </a:r>
            <a:r>
              <a:rPr lang="en-US" altLang="zh-CN" sz="2800" b="1" dirty="0" smtClean="0">
                <a:solidFill>
                  <a:srgbClr val="C00000"/>
                </a:solidFill>
              </a:rPr>
              <a:t>Newton</a:t>
            </a:r>
            <a:r>
              <a:rPr lang="zh-CN" altLang="en-US" sz="2800" b="1" dirty="0">
                <a:solidFill>
                  <a:srgbClr val="C00000"/>
                </a:solidFill>
              </a:rPr>
              <a:t>法</a:t>
            </a:r>
            <a:r>
              <a:rPr lang="zh-CN" altLang="en-US" sz="2800" b="1" dirty="0" smtClean="0">
                <a:solidFill>
                  <a:srgbClr val="C00000"/>
                </a:solidFill>
              </a:rPr>
              <a:t>基本原理</a:t>
            </a:r>
            <a:endParaRPr lang="zh-CN" altLang="en-US" sz="2800" b="1" dirty="0">
              <a:solidFill>
                <a:srgbClr val="C00000"/>
              </a:solidFill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281513" y="1856861"/>
            <a:ext cx="8532440" cy="351948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 smtClean="0"/>
              <a:t>人们希望寻找一种算法既可以保持</a:t>
            </a:r>
            <a:r>
              <a:rPr lang="en-US" altLang="zh-CN" sz="2400" dirty="0" smtClean="0"/>
              <a:t>Newton</a:t>
            </a:r>
            <a:r>
              <a:rPr lang="zh-CN" altLang="en-US" sz="2400" dirty="0" smtClean="0"/>
              <a:t>法收敛速度快的优点，又可以摆脱关于</a:t>
            </a:r>
            <a:r>
              <a:rPr lang="en-US" altLang="zh-CN" sz="2400" dirty="0" smtClean="0"/>
              <a:t>Hesse</a:t>
            </a:r>
            <a:r>
              <a:rPr lang="zh-CN" altLang="en-US" sz="2400" dirty="0" smtClean="0"/>
              <a:t>矩阵的计算，这就是本节要给大家介绍的拟牛顿法</a:t>
            </a:r>
            <a:r>
              <a:rPr lang="zh-CN" altLang="en-US" sz="2400" b="1" dirty="0" smtClean="0"/>
              <a:t>．</a:t>
            </a:r>
            <a:endParaRPr lang="en-US" altLang="zh-CN" sz="2400" b="1" dirty="0" smtClean="0"/>
          </a:p>
          <a:p>
            <a:pPr>
              <a:lnSpc>
                <a:spcPct val="150000"/>
              </a:lnSpc>
            </a:pPr>
            <a:endParaRPr lang="zh-CN" altLang="en-US" sz="1600" b="1" dirty="0" smtClean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拟牛顿法</a:t>
            </a:r>
            <a:r>
              <a:rPr lang="zh-CN" altLang="en-US" sz="2400" dirty="0" smtClean="0"/>
              <a:t>是一种非常好的方法．其中</a:t>
            </a:r>
            <a:r>
              <a:rPr lang="en-US" altLang="zh-CN" sz="2400" b="1" dirty="0" smtClean="0"/>
              <a:t>DFP</a:t>
            </a:r>
            <a:r>
              <a:rPr lang="zh-CN" altLang="en-US" sz="2400" b="1" dirty="0" smtClean="0"/>
              <a:t>算法</a:t>
            </a:r>
            <a:r>
              <a:rPr lang="zh-CN" altLang="en-US" sz="2400" dirty="0" smtClean="0"/>
              <a:t>和</a:t>
            </a:r>
            <a:r>
              <a:rPr lang="en-US" altLang="zh-CN" sz="2400" b="1" dirty="0" smtClean="0"/>
              <a:t>BFGS</a:t>
            </a:r>
            <a:r>
              <a:rPr lang="zh-CN" altLang="en-US" sz="2400" b="1" dirty="0" smtClean="0"/>
              <a:t>算法</a:t>
            </a:r>
            <a:r>
              <a:rPr lang="zh-CN" altLang="en-US" sz="2400" dirty="0" smtClean="0"/>
              <a:t>，可以说直到目前为止在不用</a:t>
            </a:r>
            <a:r>
              <a:rPr lang="en-US" altLang="zh-CN" sz="2400" dirty="0" smtClean="0"/>
              <a:t>Hesse</a:t>
            </a:r>
            <a:r>
              <a:rPr lang="zh-CN" altLang="en-US" sz="2400" dirty="0" smtClean="0"/>
              <a:t>矩阵的方法中是最好的算法．</a:t>
            </a:r>
          </a:p>
        </p:txBody>
      </p:sp>
    </p:spTree>
    <p:extLst>
      <p:ext uri="{BB962C8B-B14F-4D97-AF65-F5344CB8AC3E}">
        <p14:creationId xmlns:p14="http://schemas.microsoft.com/office/powerpoint/2010/main" val="65739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4803163" y="-27384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4803163" y="-27384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4803163" y="-27384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4803163" y="-27384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404659" y="908720"/>
            <a:ext cx="9144000" cy="13172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srgbClr val="C00000"/>
                </a:solidFill>
              </a:rPr>
              <a:t>拟</a:t>
            </a:r>
            <a:r>
              <a:rPr lang="en-US" altLang="zh-CN" sz="2800" b="1" dirty="0" smtClean="0">
                <a:solidFill>
                  <a:srgbClr val="C00000"/>
                </a:solidFill>
              </a:rPr>
              <a:t>Newton</a:t>
            </a:r>
            <a:r>
              <a:rPr lang="zh-CN" altLang="en-US" sz="2800" b="1" dirty="0">
                <a:solidFill>
                  <a:srgbClr val="C00000"/>
                </a:solidFill>
              </a:rPr>
              <a:t>法迭代</a:t>
            </a:r>
            <a:r>
              <a:rPr lang="zh-CN" altLang="en-US" sz="2800" b="1" dirty="0" smtClean="0">
                <a:solidFill>
                  <a:srgbClr val="C00000"/>
                </a:solidFill>
              </a:rPr>
              <a:t>步骤</a:t>
            </a:r>
            <a:endParaRPr lang="en-US" altLang="zh-CN" sz="2800" b="1" dirty="0" smtClean="0">
              <a:solidFill>
                <a:srgbClr val="C00000"/>
              </a:solidFill>
            </a:endParaRPr>
          </a:p>
          <a:p>
            <a:pPr>
              <a:lnSpc>
                <a:spcPct val="115000"/>
              </a:lnSpc>
              <a:defRPr/>
            </a:pPr>
            <a:endParaRPr lang="zh-CN" altLang="en-US" sz="2400" dirty="0">
              <a:latin typeface="Arial" charset="0"/>
            </a:endParaRPr>
          </a:p>
          <a:p>
            <a:pPr>
              <a:defRPr/>
            </a:pPr>
            <a:r>
              <a:rPr lang="zh-CN" altLang="en-US" sz="2400" dirty="0">
                <a:latin typeface="Arial" charset="0"/>
              </a:rPr>
              <a:t>      </a:t>
            </a:r>
          </a:p>
        </p:txBody>
      </p:sp>
      <p:sp>
        <p:nvSpPr>
          <p:cNvPr id="28" name="标题 3"/>
          <p:cNvSpPr>
            <a:spLocks noGrp="1"/>
          </p:cNvSpPr>
          <p:nvPr>
            <p:ph type="title"/>
          </p:nvPr>
        </p:nvSpPr>
        <p:spPr>
          <a:xfrm>
            <a:off x="2928927" y="142852"/>
            <a:ext cx="6072230" cy="582594"/>
          </a:xfrm>
        </p:spPr>
        <p:txBody>
          <a:bodyPr/>
          <a:lstStyle/>
          <a:p>
            <a:r>
              <a:rPr lang="zh-CN" altLang="en-US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第五章 无约束最优化方法</a:t>
            </a:r>
            <a:endParaRPr lang="en-US" altLang="zh-CN" dirty="0">
              <a:latin typeface="华文中宋" pitchFamily="2" charset="-122"/>
              <a:ea typeface="华文中宋" pitchFamily="2" charset="-122"/>
              <a:cs typeface="Times New Roman" panose="02020603050405020304" pitchFamily="18" charset="0"/>
            </a:endParaRPr>
          </a:p>
        </p:txBody>
      </p:sp>
      <p:sp>
        <p:nvSpPr>
          <p:cNvPr id="29" name="矩形 1"/>
          <p:cNvSpPr>
            <a:spLocks noChangeArrowheads="1"/>
          </p:cNvSpPr>
          <p:nvPr/>
        </p:nvSpPr>
        <p:spPr bwMode="auto">
          <a:xfrm>
            <a:off x="401850" y="1598084"/>
            <a:ext cx="8640959" cy="449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Arial" panose="020B0604020202020204" pitchFamily="34" charset="0"/>
              </a:rPr>
              <a:t>已知</a:t>
            </a:r>
            <a:r>
              <a:rPr lang="zh-CN" altLang="en-US" sz="2000" dirty="0" smtClean="0">
                <a:latin typeface="Arial" panose="020B0604020202020204" pitchFamily="34" charset="0"/>
              </a:rPr>
              <a:t>目标函数         </a:t>
            </a:r>
            <a:r>
              <a:rPr lang="zh-CN" altLang="en-US" sz="2000" dirty="0">
                <a:latin typeface="Arial" panose="020B0604020202020204" pitchFamily="34" charset="0"/>
              </a:rPr>
              <a:t>及其梯度       ,问题的维数   </a:t>
            </a:r>
            <a:r>
              <a:rPr lang="en-US" altLang="zh-CN" sz="2000" dirty="0">
                <a:latin typeface="Arial" panose="020B0604020202020204" pitchFamily="34" charset="0"/>
              </a:rPr>
              <a:t>,</a:t>
            </a:r>
            <a:r>
              <a:rPr lang="zh-CN" altLang="en-US" sz="2000" dirty="0">
                <a:latin typeface="Arial" panose="020B0604020202020204" pitchFamily="34" charset="0"/>
              </a:rPr>
              <a:t>终止限     </a:t>
            </a:r>
          </a:p>
          <a:p>
            <a:pPr eaLnBrk="1" hangingPunct="1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Arial" panose="020B0604020202020204" pitchFamily="34" charset="0"/>
              </a:rPr>
              <a:t>(1)</a:t>
            </a:r>
            <a:r>
              <a:rPr lang="zh-CN" altLang="en-US" sz="2000" dirty="0">
                <a:latin typeface="Arial" panose="020B0604020202020204" pitchFamily="34" charset="0"/>
              </a:rPr>
              <a:t>选定初始点．计算</a:t>
            </a:r>
          </a:p>
          <a:p>
            <a:pPr eaLnBrk="1" hangingPunct="1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Arial" panose="020B0604020202020204" pitchFamily="34" charset="0"/>
              </a:rPr>
              <a:t>(2)</a:t>
            </a:r>
            <a:r>
              <a:rPr lang="zh-CN" altLang="en-US" sz="2000" dirty="0">
                <a:latin typeface="Arial" panose="020B0604020202020204" pitchFamily="34" charset="0"/>
              </a:rPr>
              <a:t>置                                      </a:t>
            </a:r>
          </a:p>
          <a:p>
            <a:pPr eaLnBrk="1" hangingPunct="1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Arial" panose="020B0604020202020204" pitchFamily="34" charset="0"/>
              </a:rPr>
              <a:t>(3)</a:t>
            </a:r>
            <a:r>
              <a:rPr lang="zh-CN" altLang="en-US" sz="2000" dirty="0">
                <a:latin typeface="Arial" panose="020B0604020202020204" pitchFamily="34" charset="0"/>
              </a:rPr>
              <a:t>作直线搜索                             </a:t>
            </a:r>
            <a:endParaRPr lang="en-US" altLang="zh-CN" sz="2000" dirty="0">
              <a:latin typeface="Arial" panose="020B0604020202020204" pitchFamily="34" charset="0"/>
            </a:endParaRPr>
          </a:p>
          <a:p>
            <a:pPr eaLnBrk="1" hangingPunct="1">
              <a:lnSpc>
                <a:spcPct val="130000"/>
              </a:lnSpc>
            </a:pPr>
            <a:r>
              <a:rPr lang="en-US" altLang="zh-CN" sz="2000" dirty="0">
                <a:latin typeface="Arial" panose="020B0604020202020204" pitchFamily="34" charset="0"/>
              </a:rPr>
              <a:t>      </a:t>
            </a:r>
            <a:r>
              <a:rPr lang="zh-CN" altLang="en-US" sz="2000" dirty="0">
                <a:latin typeface="Arial" panose="020B0604020202020204" pitchFamily="34" charset="0"/>
              </a:rPr>
              <a:t>计算</a:t>
            </a:r>
            <a:endParaRPr lang="en-US" altLang="zh-CN" sz="2000" dirty="0">
              <a:latin typeface="Arial" panose="020B0604020202020204" pitchFamily="34" charset="0"/>
            </a:endParaRPr>
          </a:p>
          <a:p>
            <a:pPr eaLnBrk="1" hangingPunct="1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Arial" panose="020B0604020202020204" pitchFamily="34" charset="0"/>
              </a:rPr>
              <a:t>(4)</a:t>
            </a:r>
            <a:r>
              <a:rPr lang="zh-CN" altLang="en-US" sz="2000" dirty="0">
                <a:latin typeface="Arial" panose="020B0604020202020204" pitchFamily="34" charset="0"/>
              </a:rPr>
              <a:t>判别终止准则是否满足</a:t>
            </a:r>
            <a:r>
              <a:rPr lang="en-US" altLang="zh-CN" sz="2000" dirty="0">
                <a:latin typeface="Arial" panose="020B0604020202020204" pitchFamily="34" charset="0"/>
              </a:rPr>
              <a:t>:</a:t>
            </a:r>
            <a:r>
              <a:rPr lang="zh-CN" altLang="en-US" sz="2000" dirty="0">
                <a:latin typeface="Arial" panose="020B0604020202020204" pitchFamily="34" charset="0"/>
              </a:rPr>
              <a:t>若满足</a:t>
            </a:r>
            <a:r>
              <a:rPr lang="en-US" altLang="zh-CN" sz="2000" dirty="0">
                <a:latin typeface="Arial" panose="020B0604020202020204" pitchFamily="34" charset="0"/>
              </a:rPr>
              <a:t>,</a:t>
            </a:r>
            <a:r>
              <a:rPr lang="zh-CN" altLang="en-US" sz="2000" dirty="0">
                <a:latin typeface="Arial" panose="020B0604020202020204" pitchFamily="34" charset="0"/>
              </a:rPr>
              <a:t>则打印      </a:t>
            </a:r>
            <a:endParaRPr lang="en-US" altLang="zh-CN" sz="2000" dirty="0">
              <a:latin typeface="Arial" panose="020B0604020202020204" pitchFamily="34" charset="0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sz="2000" dirty="0">
                <a:latin typeface="Arial" panose="020B0604020202020204" pitchFamily="34" charset="0"/>
              </a:rPr>
              <a:t>     停机；否则转</a:t>
            </a:r>
            <a:r>
              <a:rPr lang="en-US" altLang="zh-CN" sz="2000" dirty="0">
                <a:latin typeface="Arial" panose="020B0604020202020204" pitchFamily="34" charset="0"/>
              </a:rPr>
              <a:t>(5)</a:t>
            </a:r>
            <a:r>
              <a:rPr lang="zh-CN" altLang="en-US" sz="2000" dirty="0">
                <a:latin typeface="Arial" panose="020B0604020202020204" pitchFamily="34" charset="0"/>
              </a:rPr>
              <a:t>．</a:t>
            </a:r>
          </a:p>
          <a:p>
            <a:pPr eaLnBrk="1" hangingPunct="1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Arial" panose="020B0604020202020204" pitchFamily="34" charset="0"/>
              </a:rPr>
              <a:t>(5)</a:t>
            </a:r>
            <a:r>
              <a:rPr lang="zh-CN" altLang="en-US" sz="2000" dirty="0" smtClean="0">
                <a:latin typeface="Arial" panose="020B0604020202020204" pitchFamily="34" charset="0"/>
              </a:rPr>
              <a:t>若             则置                                               </a:t>
            </a:r>
            <a:r>
              <a:rPr lang="zh-CN" altLang="en-US" sz="2000" dirty="0">
                <a:latin typeface="Arial" panose="020B0604020202020204" pitchFamily="34" charset="0"/>
              </a:rPr>
              <a:t>转</a:t>
            </a:r>
            <a:r>
              <a:rPr lang="en-US" altLang="zh-CN" sz="2000" dirty="0">
                <a:latin typeface="Arial" panose="020B0604020202020204" pitchFamily="34" charset="0"/>
              </a:rPr>
              <a:t>(2);</a:t>
            </a:r>
            <a:r>
              <a:rPr lang="zh-CN" altLang="en-US" sz="2000" dirty="0">
                <a:latin typeface="Arial" panose="020B0604020202020204" pitchFamily="34" charset="0"/>
              </a:rPr>
              <a:t>否则</a:t>
            </a:r>
            <a:r>
              <a:rPr lang="en-US" altLang="zh-CN" sz="2000" dirty="0">
                <a:latin typeface="Arial" panose="020B0604020202020204" pitchFamily="34" charset="0"/>
              </a:rPr>
              <a:t>,</a:t>
            </a:r>
            <a:r>
              <a:rPr lang="zh-CN" altLang="en-US" sz="2000" dirty="0">
                <a:latin typeface="Arial" panose="020B0604020202020204" pitchFamily="34" charset="0"/>
              </a:rPr>
              <a:t>转</a:t>
            </a:r>
            <a:r>
              <a:rPr lang="en-US" altLang="zh-CN" sz="2000" dirty="0">
                <a:latin typeface="Arial" panose="020B0604020202020204" pitchFamily="34" charset="0"/>
              </a:rPr>
              <a:t>(6).</a:t>
            </a:r>
            <a:endParaRPr lang="zh-CN" altLang="en-US" sz="2000" dirty="0">
              <a:latin typeface="Arial" panose="020B0604020202020204" pitchFamily="34" charset="0"/>
            </a:endParaRPr>
          </a:p>
          <a:p>
            <a:pPr eaLnBrk="1" hangingPunct="1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Arial" panose="020B0604020202020204" pitchFamily="34" charset="0"/>
              </a:rPr>
              <a:t>(6)</a:t>
            </a:r>
            <a:r>
              <a:rPr lang="zh-CN" altLang="en-US" sz="2000" dirty="0">
                <a:latin typeface="Arial" panose="020B0604020202020204" pitchFamily="34" charset="0"/>
              </a:rPr>
              <a:t>计算</a:t>
            </a:r>
          </a:p>
          <a:p>
            <a:pPr eaLnBrk="1" hangingPunct="1">
              <a:lnSpc>
                <a:spcPct val="130000"/>
              </a:lnSpc>
            </a:pPr>
            <a:endParaRPr lang="zh-CN" altLang="en-US" sz="2000" dirty="0">
              <a:latin typeface="Arial" panose="020B0604020202020204" pitchFamily="34" charset="0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sz="2000" dirty="0">
                <a:latin typeface="Arial" panose="020B0604020202020204" pitchFamily="34" charset="0"/>
              </a:rPr>
              <a:t>　 </a:t>
            </a:r>
            <a:r>
              <a:rPr lang="zh-CN" altLang="en-US" sz="2000" dirty="0" smtClean="0">
                <a:latin typeface="Arial" panose="020B0604020202020204" pitchFamily="34" charset="0"/>
              </a:rPr>
              <a:t>置                    </a:t>
            </a:r>
            <a:r>
              <a:rPr lang="zh-CN" altLang="en-US" sz="2000" dirty="0">
                <a:latin typeface="Arial" panose="020B0604020202020204" pitchFamily="34" charset="0"/>
              </a:rPr>
              <a:t>转</a:t>
            </a:r>
            <a:r>
              <a:rPr lang="en-US" altLang="zh-CN" sz="2000" dirty="0">
                <a:latin typeface="Arial" panose="020B0604020202020204" pitchFamily="34" charset="0"/>
              </a:rPr>
              <a:t>(3).</a:t>
            </a:r>
            <a:r>
              <a:rPr lang="zh-CN" altLang="en-US" sz="2000" dirty="0">
                <a:latin typeface="Arial" panose="020B0604020202020204" pitchFamily="34" charset="0"/>
              </a:rPr>
              <a:t> </a:t>
            </a:r>
            <a:endParaRPr lang="en-US" altLang="zh-CN" sz="1400" dirty="0">
              <a:latin typeface="Arial" panose="020B0604020202020204" pitchFamily="34" charset="0"/>
            </a:endParaRPr>
          </a:p>
        </p:txBody>
      </p:sp>
      <p:graphicFrame>
        <p:nvGraphicFramePr>
          <p:cNvPr id="30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8523601"/>
              </p:ext>
            </p:extLst>
          </p:nvPr>
        </p:nvGraphicFramePr>
        <p:xfrm>
          <a:off x="2148559" y="1699166"/>
          <a:ext cx="554608" cy="3940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358" name="公式" r:id="rId3" imgW="355446" imgH="190417" progId="Equation.3">
                  <p:embed/>
                </p:oleObj>
              </mc:Choice>
              <mc:Fallback>
                <p:oleObj name="公式" r:id="rId3" imgW="355446" imgH="190417" progId="Equation.3">
                  <p:embed/>
                  <p:pic>
                    <p:nvPicPr>
                      <p:cNvPr id="12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8559" y="1699166"/>
                        <a:ext cx="554608" cy="394064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5020097"/>
              </p:ext>
            </p:extLst>
          </p:nvPr>
        </p:nvGraphicFramePr>
        <p:xfrm>
          <a:off x="3695485" y="1683928"/>
          <a:ext cx="591095" cy="370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359" name="公式" r:id="rId5" imgW="342751" imgH="190417" progId="Equation.3">
                  <p:embed/>
                </p:oleObj>
              </mc:Choice>
              <mc:Fallback>
                <p:oleObj name="公式" r:id="rId5" imgW="342751" imgH="190417" progId="Equation.3">
                  <p:embed/>
                  <p:pic>
                    <p:nvPicPr>
                      <p:cNvPr id="13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5485" y="1683928"/>
                        <a:ext cx="591095" cy="370712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7491576"/>
              </p:ext>
            </p:extLst>
          </p:nvPr>
        </p:nvGraphicFramePr>
        <p:xfrm>
          <a:off x="5567444" y="1715936"/>
          <a:ext cx="305035" cy="3313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360" name="公式" r:id="rId7" imgW="114102" imgH="126780" progId="Equation.3">
                  <p:embed/>
                </p:oleObj>
              </mc:Choice>
              <mc:Fallback>
                <p:oleObj name="公式" r:id="rId7" imgW="114102" imgH="126780" progId="Equation.3">
                  <p:embed/>
                  <p:pic>
                    <p:nvPicPr>
                      <p:cNvPr id="14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7444" y="1715936"/>
                        <a:ext cx="305035" cy="331306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9270779"/>
              </p:ext>
            </p:extLst>
          </p:nvPr>
        </p:nvGraphicFramePr>
        <p:xfrm>
          <a:off x="6660232" y="1664854"/>
          <a:ext cx="361955" cy="382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361" name="Equation" r:id="rId9" imgW="152280" imgH="139680" progId="Equation.DSMT4">
                  <p:embed/>
                </p:oleObj>
              </mc:Choice>
              <mc:Fallback>
                <p:oleObj name="Equation" r:id="rId9" imgW="152280" imgH="139680" progId="Equation.DSMT4">
                  <p:embed/>
                  <p:pic>
                    <p:nvPicPr>
                      <p:cNvPr id="15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0232" y="1664854"/>
                        <a:ext cx="361955" cy="382388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127435"/>
              </p:ext>
            </p:extLst>
          </p:nvPr>
        </p:nvGraphicFramePr>
        <p:xfrm>
          <a:off x="3048357" y="2011091"/>
          <a:ext cx="2824122" cy="4188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362" name="Equation" r:id="rId11" imgW="1346040" imgH="203040" progId="Equation.DSMT4">
                  <p:embed/>
                </p:oleObj>
              </mc:Choice>
              <mc:Fallback>
                <p:oleObj name="Equation" r:id="rId11" imgW="1346040" imgH="203040" progId="Equation.DSMT4">
                  <p:embed/>
                  <p:pic>
                    <p:nvPicPr>
                      <p:cNvPr id="16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357" y="2011091"/>
                        <a:ext cx="2824122" cy="418874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4677557"/>
              </p:ext>
            </p:extLst>
          </p:nvPr>
        </p:nvGraphicFramePr>
        <p:xfrm>
          <a:off x="1290209" y="2407159"/>
          <a:ext cx="3317431" cy="4086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363" name="Equation" r:id="rId13" imgW="1295280" imgH="203040" progId="Equation.DSMT4">
                  <p:embed/>
                </p:oleObj>
              </mc:Choice>
              <mc:Fallback>
                <p:oleObj name="Equation" r:id="rId13" imgW="1295280" imgH="203040" progId="Equation.DSMT4">
                  <p:embed/>
                  <p:pic>
                    <p:nvPicPr>
                      <p:cNvPr id="17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0209" y="2407159"/>
                        <a:ext cx="3317431" cy="408658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3007764"/>
              </p:ext>
            </p:extLst>
          </p:nvPr>
        </p:nvGraphicFramePr>
        <p:xfrm>
          <a:off x="2274694" y="2847914"/>
          <a:ext cx="2713200" cy="3896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364" name="Equation" r:id="rId15" imgW="1104840" imgH="228600" progId="Equation.DSMT4">
                  <p:embed/>
                </p:oleObj>
              </mc:Choice>
              <mc:Fallback>
                <p:oleObj name="Equation" r:id="rId15" imgW="1104840" imgH="228600" progId="Equation.DSMT4">
                  <p:embed/>
                  <p:pic>
                    <p:nvPicPr>
                      <p:cNvPr id="18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4694" y="2847914"/>
                        <a:ext cx="2713200" cy="389686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2833272"/>
              </p:ext>
            </p:extLst>
          </p:nvPr>
        </p:nvGraphicFramePr>
        <p:xfrm>
          <a:off x="1507000" y="3230011"/>
          <a:ext cx="3480894" cy="3984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365" name="Equation" r:id="rId17" imgW="1663560" imgH="203040" progId="Equation.DSMT4">
                  <p:embed/>
                </p:oleObj>
              </mc:Choice>
              <mc:Fallback>
                <p:oleObj name="Equation" r:id="rId17" imgW="1663560" imgH="203040" progId="Equation.DSMT4">
                  <p:embed/>
                  <p:pic>
                    <p:nvPicPr>
                      <p:cNvPr id="19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7000" y="3230011"/>
                        <a:ext cx="3480894" cy="398442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2843624"/>
              </p:ext>
            </p:extLst>
          </p:nvPr>
        </p:nvGraphicFramePr>
        <p:xfrm>
          <a:off x="5128866" y="3628453"/>
          <a:ext cx="1182190" cy="4217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366" name="Equation" r:id="rId19" imgW="558720" imgH="203040" progId="Equation.DSMT4">
                  <p:embed/>
                </p:oleObj>
              </mc:Choice>
              <mc:Fallback>
                <p:oleObj name="Equation" r:id="rId19" imgW="558720" imgH="203040" progId="Equation.DSMT4">
                  <p:embed/>
                  <p:pic>
                    <p:nvPicPr>
                      <p:cNvPr id="2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8866" y="3628453"/>
                        <a:ext cx="1182190" cy="421793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1652795"/>
              </p:ext>
            </p:extLst>
          </p:nvPr>
        </p:nvGraphicFramePr>
        <p:xfrm>
          <a:off x="1290209" y="4400486"/>
          <a:ext cx="726828" cy="3984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367" name="Equation" r:id="rId21" imgW="393480" imgH="177480" progId="Equation.DSMT4">
                  <p:embed/>
                </p:oleObj>
              </mc:Choice>
              <mc:Fallback>
                <p:oleObj name="Equation" r:id="rId21" imgW="393480" imgH="177480" progId="Equation.DSMT4">
                  <p:embed/>
                  <p:pic>
                    <p:nvPicPr>
                      <p:cNvPr id="21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0209" y="4400486"/>
                        <a:ext cx="726828" cy="398441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9668624"/>
              </p:ext>
            </p:extLst>
          </p:nvPr>
        </p:nvGraphicFramePr>
        <p:xfrm>
          <a:off x="2612150" y="4415364"/>
          <a:ext cx="3193374" cy="4115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368" name="Equation" r:id="rId23" imgW="1650960" imgH="203040" progId="Equation.DSMT4">
                  <p:embed/>
                </p:oleObj>
              </mc:Choice>
              <mc:Fallback>
                <p:oleObj name="Equation" r:id="rId23" imgW="1650960" imgH="203040" progId="Equation.DSMT4">
                  <p:embed/>
                  <p:pic>
                    <p:nvPicPr>
                      <p:cNvPr id="22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2150" y="4415364"/>
                        <a:ext cx="3193374" cy="411577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4248923"/>
              </p:ext>
            </p:extLst>
          </p:nvPr>
        </p:nvGraphicFramePr>
        <p:xfrm>
          <a:off x="1884277" y="4798927"/>
          <a:ext cx="4426779" cy="9938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369" name="Equation" r:id="rId25" imgW="2717640" imgH="622080" progId="Equation.DSMT4">
                  <p:embed/>
                </p:oleObj>
              </mc:Choice>
              <mc:Fallback>
                <p:oleObj name="Equation" r:id="rId25" imgW="2717640" imgH="622080" progId="Equation.DSMT4">
                  <p:embed/>
                  <p:pic>
                    <p:nvPicPr>
                      <p:cNvPr id="23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4277" y="4798927"/>
                        <a:ext cx="4426779" cy="99381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7780059"/>
              </p:ext>
            </p:extLst>
          </p:nvPr>
        </p:nvGraphicFramePr>
        <p:xfrm>
          <a:off x="1202807" y="5618644"/>
          <a:ext cx="1223056" cy="3663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370" name="Equation" r:id="rId27" imgW="583920" imgH="177480" progId="Equation.DSMT4">
                  <p:embed/>
                </p:oleObj>
              </mc:Choice>
              <mc:Fallback>
                <p:oleObj name="Equation" r:id="rId27" imgW="583920" imgH="177480" progId="Equation.DSMT4">
                  <p:embed/>
                  <p:pic>
                    <p:nvPicPr>
                      <p:cNvPr id="24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2807" y="5618644"/>
                        <a:ext cx="1223056" cy="366333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15006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3"/>
          <p:cNvSpPr>
            <a:spLocks noGrp="1"/>
          </p:cNvSpPr>
          <p:nvPr>
            <p:ph type="title"/>
          </p:nvPr>
        </p:nvSpPr>
        <p:spPr>
          <a:xfrm>
            <a:off x="2928926" y="142852"/>
            <a:ext cx="6215073" cy="549844"/>
          </a:xfrm>
        </p:spPr>
        <p:txBody>
          <a:bodyPr/>
          <a:lstStyle/>
          <a:p>
            <a:r>
              <a:rPr lang="zh-CN" altLang="en-US" sz="3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第五章 无约束最优化方法</a:t>
            </a:r>
            <a:endParaRPr kumimoji="1"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539552" y="908720"/>
            <a:ext cx="8208912" cy="28614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zh-CN" altLang="en-US" sz="2400" b="1" dirty="0" smtClean="0">
                <a:solidFill>
                  <a:srgbClr val="C00000"/>
                </a:solidFill>
              </a:rPr>
              <a:t>共轭方向法原理</a:t>
            </a:r>
            <a:endParaRPr lang="en-US" altLang="zh-CN" sz="2400" b="1" dirty="0" smtClean="0">
              <a:solidFill>
                <a:srgbClr val="C00000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zh-CN" altLang="en-US" sz="1800" dirty="0" smtClean="0"/>
              <a:t>         </a:t>
            </a:r>
            <a:r>
              <a:rPr lang="zh-CN" altLang="en-US" sz="1800" dirty="0"/>
              <a:t>构成各种不同最优化方法，往往取决于如何从基本迭代公式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zh-CN" altLang="en-US" sz="1800" dirty="0"/>
              <a:t>中确定搜索方向    。</a:t>
            </a:r>
          </a:p>
        </p:txBody>
      </p:sp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4660735" y="2520228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8" name="Rectangle 10"/>
          <p:cNvSpPr>
            <a:spLocks noChangeArrowheads="1"/>
          </p:cNvSpPr>
          <p:nvPr/>
        </p:nvSpPr>
        <p:spPr bwMode="auto">
          <a:xfrm>
            <a:off x="4660735" y="2501178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10" name="Rectangle 17"/>
          <p:cNvSpPr>
            <a:spLocks noChangeArrowheads="1"/>
          </p:cNvSpPr>
          <p:nvPr/>
        </p:nvSpPr>
        <p:spPr bwMode="auto">
          <a:xfrm>
            <a:off x="4660735" y="2385290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graphicFrame>
        <p:nvGraphicFramePr>
          <p:cNvPr id="12" name="Object 13"/>
          <p:cNvGraphicFramePr>
            <a:graphicFrameLocks noChangeAspect="1"/>
          </p:cNvGraphicFramePr>
          <p:nvPr/>
        </p:nvGraphicFramePr>
        <p:xfrm>
          <a:off x="7104944" y="1616424"/>
          <a:ext cx="1512168" cy="31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342" name="公式" r:id="rId3" imgW="1091565" imgH="228600" progId="Equation.3">
                  <p:embed/>
                </p:oleObj>
              </mc:Choice>
              <mc:Fallback>
                <p:oleObj name="公式" r:id="rId3" imgW="1091565" imgH="228600" progId="Equation.3">
                  <p:embed/>
                  <p:pic>
                    <p:nvPicPr>
                      <p:cNvPr id="12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04944" y="1616424"/>
                        <a:ext cx="1512168" cy="316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4"/>
          <p:cNvGraphicFramePr>
            <a:graphicFrameLocks noChangeAspect="1"/>
          </p:cNvGraphicFramePr>
          <p:nvPr/>
        </p:nvGraphicFramePr>
        <p:xfrm>
          <a:off x="2168096" y="2072777"/>
          <a:ext cx="288032" cy="3703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343" name="公式" r:id="rId5" imgW="177800" imgH="228600" progId="Equation.3">
                  <p:embed/>
                </p:oleObj>
              </mc:Choice>
              <mc:Fallback>
                <p:oleObj name="公式" r:id="rId5" imgW="177800" imgH="228600" progId="Equation.3">
                  <p:embed/>
                  <p:pic>
                    <p:nvPicPr>
                      <p:cNvPr id="13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8096" y="2072777"/>
                        <a:ext cx="288032" cy="3703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506540" y="2606939"/>
            <a:ext cx="8208912" cy="17017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Times New Roman" panose="02020603050405020304" pitchFamily="18" charset="0"/>
              </a:rPr>
              <a:t>最速下降法：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计算步骤简单</a:t>
            </a:r>
            <a:r>
              <a:rPr lang="zh-CN" altLang="en-US" dirty="0">
                <a:latin typeface="Times New Roman" panose="02020603050405020304" pitchFamily="18" charset="0"/>
              </a:rPr>
              <a:t>，但                      导致搜索路线出现锯齿状，</a:t>
            </a:r>
            <a:r>
              <a:rPr lang="zh-CN" altLang="en-US" b="1" dirty="0">
                <a:solidFill>
                  <a:srgbClr val="004274"/>
                </a:solidFill>
                <a:latin typeface="Times New Roman" panose="02020603050405020304" pitchFamily="18" charset="0"/>
              </a:rPr>
              <a:t>收敛速    度慢</a:t>
            </a:r>
            <a:r>
              <a:rPr lang="zh-CN" altLang="en-US" dirty="0">
                <a:latin typeface="Times New Roman" panose="02020603050405020304" pitchFamily="18" charset="0"/>
              </a:rPr>
              <a:t>。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latin typeface="Times New Roman" panose="02020603050405020304" pitchFamily="18" charset="0"/>
              </a:rPr>
              <a:t>Newton</a:t>
            </a:r>
            <a:r>
              <a:rPr lang="zh-CN" altLang="en-US" b="1" dirty="0">
                <a:latin typeface="Times New Roman" panose="02020603050405020304" pitchFamily="18" charset="0"/>
              </a:rPr>
              <a:t>法和修正</a:t>
            </a:r>
            <a:r>
              <a:rPr lang="en-US" altLang="zh-CN" b="1" dirty="0">
                <a:latin typeface="Times New Roman" panose="02020603050405020304" pitchFamily="18" charset="0"/>
              </a:rPr>
              <a:t>Newton</a:t>
            </a:r>
            <a:r>
              <a:rPr lang="zh-CN" altLang="en-US" b="1" dirty="0">
                <a:latin typeface="Times New Roman" panose="02020603050405020304" pitchFamily="18" charset="0"/>
              </a:rPr>
              <a:t>法</a:t>
            </a:r>
            <a:r>
              <a:rPr lang="zh-CN" altLang="en-US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</a:rPr>
              <a:t>：                                       </a:t>
            </a:r>
            <a:r>
              <a:rPr lang="zh-CN" altLang="en-US" dirty="0">
                <a:latin typeface="Times New Roman" panose="02020603050405020304" pitchFamily="18" charset="0"/>
              </a:rPr>
              <a:t>使得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收敛速度快</a:t>
            </a:r>
            <a:r>
              <a:rPr lang="zh-CN" altLang="en-US" dirty="0">
                <a:latin typeface="Times New Roman" panose="02020603050405020304" pitchFamily="18" charset="0"/>
              </a:rPr>
              <a:t>，但</a:t>
            </a:r>
            <a:r>
              <a:rPr lang="zh-CN" altLang="en-US" b="1" dirty="0">
                <a:solidFill>
                  <a:srgbClr val="004274"/>
                </a:solidFill>
                <a:latin typeface="Times New Roman" panose="02020603050405020304" pitchFamily="18" charset="0"/>
              </a:rPr>
              <a:t>计算计算量大且要求</a:t>
            </a:r>
            <a:r>
              <a:rPr lang="en-US" altLang="zh-CN" b="1" dirty="0">
                <a:solidFill>
                  <a:srgbClr val="004274"/>
                </a:solidFill>
                <a:latin typeface="Times New Roman" panose="02020603050405020304" pitchFamily="18" charset="0"/>
              </a:rPr>
              <a:t>Hesse</a:t>
            </a:r>
            <a:r>
              <a:rPr lang="zh-CN" altLang="en-US" b="1" dirty="0">
                <a:solidFill>
                  <a:srgbClr val="004274"/>
                </a:solidFill>
                <a:latin typeface="Times New Roman" panose="02020603050405020304" pitchFamily="18" charset="0"/>
              </a:rPr>
              <a:t>矩阵正定，导致算法对初始点选择要求严格。                                    </a:t>
            </a:r>
          </a:p>
        </p:txBody>
      </p:sp>
      <p:graphicFrame>
        <p:nvGraphicFramePr>
          <p:cNvPr id="14" name="Object 7"/>
          <p:cNvGraphicFramePr>
            <a:graphicFrameLocks noChangeAspect="1"/>
          </p:cNvGraphicFramePr>
          <p:nvPr/>
        </p:nvGraphicFramePr>
        <p:xfrm>
          <a:off x="3851920" y="2742330"/>
          <a:ext cx="1233322" cy="3121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344" name="Equation" r:id="rId7" imgW="21640800" imgH="5486400" progId="Equation.DSMT4">
                  <p:embed/>
                </p:oleObj>
              </mc:Choice>
              <mc:Fallback>
                <p:oleObj name="Equation" r:id="rId7" imgW="21640800" imgH="5486400" progId="Equation.DSMT4">
                  <p:embed/>
                  <p:pic>
                    <p:nvPicPr>
                      <p:cNvPr id="14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920" y="2742330"/>
                        <a:ext cx="1233322" cy="31210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7"/>
          <p:cNvGraphicFramePr>
            <a:graphicFrameLocks noChangeAspect="1"/>
          </p:cNvGraphicFramePr>
          <p:nvPr/>
        </p:nvGraphicFramePr>
        <p:xfrm>
          <a:off x="3390222" y="3549424"/>
          <a:ext cx="2363556" cy="3075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345" name="公式" r:id="rId9" imgW="1562100" imgH="203200" progId="Equation.3">
                  <p:embed/>
                </p:oleObj>
              </mc:Choice>
              <mc:Fallback>
                <p:oleObj name="公式" r:id="rId9" imgW="1562100" imgH="203200" progId="Equation.3">
                  <p:embed/>
                  <p:pic>
                    <p:nvPicPr>
                      <p:cNvPr id="1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0222" y="3549424"/>
                        <a:ext cx="2363556" cy="30750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矩形 15"/>
          <p:cNvSpPr/>
          <p:nvPr/>
        </p:nvSpPr>
        <p:spPr>
          <a:xfrm>
            <a:off x="539552" y="4447006"/>
            <a:ext cx="8077560" cy="12862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        </a:t>
            </a:r>
            <a:r>
              <a:rPr lang="zh-CN" altLang="en-US" dirty="0">
                <a:latin typeface="Times New Roman" panose="02020603050405020304" pitchFamily="18" charset="0"/>
              </a:rPr>
              <a:t>因此需要寻找一种好的算法，它的收敛速度介于最速下降法和牛顿法之间，对于正定二次函数只需迭代有限次就可达到极小点，收敛速度快同时计算简单的算法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zh-CN" altLang="en-US" b="1" dirty="0">
                <a:latin typeface="Times New Roman" panose="02020603050405020304" pitchFamily="18" charset="0"/>
              </a:rPr>
              <a:t>共轭方向法</a:t>
            </a:r>
            <a:r>
              <a:rPr lang="zh-CN" altLang="en-US" dirty="0">
                <a:latin typeface="Times New Roman" panose="02020603050405020304" pitchFamily="18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822675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3"/>
          <p:cNvSpPr>
            <a:spLocks noGrp="1"/>
          </p:cNvSpPr>
          <p:nvPr>
            <p:ph type="title"/>
          </p:nvPr>
        </p:nvSpPr>
        <p:spPr>
          <a:xfrm>
            <a:off x="2928926" y="142852"/>
            <a:ext cx="6215073" cy="549844"/>
          </a:xfrm>
        </p:spPr>
        <p:txBody>
          <a:bodyPr/>
          <a:lstStyle/>
          <a:p>
            <a:r>
              <a:rPr lang="zh-CN" altLang="en-US" sz="3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第五章 无约束最优化方法</a:t>
            </a:r>
            <a:endParaRPr kumimoji="1"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427791" y="897543"/>
            <a:ext cx="808839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n-US" altLang="zh-CN" sz="2800" b="1" dirty="0" smtClean="0">
                <a:solidFill>
                  <a:srgbClr val="C00000"/>
                </a:solidFill>
              </a:rPr>
              <a:t>FR</a:t>
            </a:r>
            <a:r>
              <a:rPr lang="zh-CN" altLang="en-US" sz="2800" b="1" dirty="0">
                <a:solidFill>
                  <a:srgbClr val="C00000"/>
                </a:solidFill>
              </a:rPr>
              <a:t>共轭梯度法计算步骤</a:t>
            </a:r>
            <a:endParaRPr lang="en-US" altLang="zh-CN" sz="2800" b="1" dirty="0">
              <a:solidFill>
                <a:srgbClr val="C00000"/>
              </a:solidFill>
            </a:endParaRPr>
          </a:p>
        </p:txBody>
      </p:sp>
      <p:graphicFrame>
        <p:nvGraphicFramePr>
          <p:cNvPr id="18" name="Object 2">
            <a:extLst>
              <a:ext uri="{FF2B5EF4-FFF2-40B4-BE49-F238E27FC236}">
                <a16:creationId xmlns:a16="http://schemas.microsoft.com/office/drawing/2014/main" id="{D0876977-301F-494D-B6C5-E7250309A5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0670307"/>
              </p:ext>
            </p:extLst>
          </p:nvPr>
        </p:nvGraphicFramePr>
        <p:xfrm>
          <a:off x="2672146" y="1318275"/>
          <a:ext cx="364747" cy="4382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391" r:id="rId3" imgW="167964" imgH="206651" progId="Equation.DSMT4">
                  <p:embed/>
                </p:oleObj>
              </mc:Choice>
              <mc:Fallback>
                <p:oleObj r:id="rId3" imgW="167964" imgH="206651" progId="Equation.DSMT4">
                  <p:embed/>
                  <p:pic>
                    <p:nvPicPr>
                      <p:cNvPr id="18" name="Object 2">
                        <a:extLst>
                          <a:ext uri="{FF2B5EF4-FFF2-40B4-BE49-F238E27FC236}">
                            <a16:creationId xmlns:a16="http://schemas.microsoft.com/office/drawing/2014/main" id="{D0876977-301F-494D-B6C5-E7250309A55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2146" y="1318275"/>
                        <a:ext cx="364747" cy="4382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3">
            <a:extLst>
              <a:ext uri="{FF2B5EF4-FFF2-40B4-BE49-F238E27FC236}">
                <a16:creationId xmlns:a16="http://schemas.microsoft.com/office/drawing/2014/main" id="{106C1922-F05D-4773-850F-736C4EF61E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3163067"/>
              </p:ext>
            </p:extLst>
          </p:nvPr>
        </p:nvGraphicFramePr>
        <p:xfrm>
          <a:off x="2084778" y="5256257"/>
          <a:ext cx="1806091" cy="105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392" r:id="rId5" imgW="905553" imgH="535809" progId="Equation.DSMT4">
                  <p:embed/>
                </p:oleObj>
              </mc:Choice>
              <mc:Fallback>
                <p:oleObj r:id="rId5" imgW="905553" imgH="535809" progId="Equation.DSMT4">
                  <p:embed/>
                  <p:pic>
                    <p:nvPicPr>
                      <p:cNvPr id="19" name="Object 3">
                        <a:extLst>
                          <a:ext uri="{FF2B5EF4-FFF2-40B4-BE49-F238E27FC236}">
                            <a16:creationId xmlns:a16="http://schemas.microsoft.com/office/drawing/2014/main" id="{106C1922-F05D-4773-850F-736C4EF61E4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4778" y="5256257"/>
                        <a:ext cx="1806091" cy="1053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4">
            <a:extLst>
              <a:ext uri="{FF2B5EF4-FFF2-40B4-BE49-F238E27FC236}">
                <a16:creationId xmlns:a16="http://schemas.microsoft.com/office/drawing/2014/main" id="{7BAA4F44-AAEB-4292-BD6E-66D4B9A6D7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801" y="1428581"/>
            <a:ext cx="373817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dirty="0">
                <a:latin typeface="Times New Roman" panose="02020603050405020304" pitchFamily="18" charset="0"/>
              </a:rPr>
              <a:t>Step 1. </a:t>
            </a:r>
            <a:r>
              <a:rPr lang="zh-CN" altLang="en-US" dirty="0">
                <a:latin typeface="Times New Roman" panose="02020603050405020304" pitchFamily="18" charset="0"/>
              </a:rPr>
              <a:t>选定初始点      。</a:t>
            </a:r>
          </a:p>
        </p:txBody>
      </p:sp>
      <p:sp>
        <p:nvSpPr>
          <p:cNvPr id="21" name="Rectangle 5">
            <a:extLst>
              <a:ext uri="{FF2B5EF4-FFF2-40B4-BE49-F238E27FC236}">
                <a16:creationId xmlns:a16="http://schemas.microsoft.com/office/drawing/2014/main" id="{15169D9A-BEBC-4A2F-81F4-356D4008FA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576" y="2101681"/>
            <a:ext cx="668574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dirty="0">
                <a:latin typeface="Times New Roman" panose="02020603050405020304" pitchFamily="18" charset="0"/>
              </a:rPr>
              <a:t>Step 2. </a:t>
            </a:r>
            <a:r>
              <a:rPr lang="zh-CN" altLang="en-US" dirty="0">
                <a:latin typeface="Times New Roman" panose="02020603050405020304" pitchFamily="18" charset="0"/>
              </a:rPr>
              <a:t>如果               ，算法停止，            ，否则转</a:t>
            </a:r>
            <a:r>
              <a:rPr lang="en-US" altLang="zh-CN" dirty="0">
                <a:latin typeface="Times New Roman" panose="02020603050405020304" pitchFamily="18" charset="0"/>
              </a:rPr>
              <a:t>Step 3;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2" name="Rectangle 6">
            <a:extLst>
              <a:ext uri="{FF2B5EF4-FFF2-40B4-BE49-F238E27FC236}">
                <a16:creationId xmlns:a16="http://schemas.microsoft.com/office/drawing/2014/main" id="{F61CFFE5-FCBA-4E64-AC04-576099AF42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577" y="3503444"/>
            <a:ext cx="698712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Step 4. </a:t>
            </a:r>
            <a:r>
              <a:rPr lang="zh-CN" altLang="en-US" dirty="0">
                <a:latin typeface="Times New Roman" panose="02020603050405020304" pitchFamily="18" charset="0"/>
              </a:rPr>
              <a:t>精确一维搜索找最佳步长       ，令</a:t>
            </a:r>
          </a:p>
        </p:txBody>
      </p:sp>
      <p:graphicFrame>
        <p:nvGraphicFramePr>
          <p:cNvPr id="23" name="Object 7">
            <a:extLst>
              <a:ext uri="{FF2B5EF4-FFF2-40B4-BE49-F238E27FC236}">
                <a16:creationId xmlns:a16="http://schemas.microsoft.com/office/drawing/2014/main" id="{EAD492F3-2958-4D2C-8FD6-96368C1B5F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9575836"/>
              </p:ext>
            </p:extLst>
          </p:nvPr>
        </p:nvGraphicFramePr>
        <p:xfrm>
          <a:off x="1918514" y="2034560"/>
          <a:ext cx="1010412" cy="5059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393" r:id="rId7" imgW="510087" imgH="255202" progId="Equation.DSMT4">
                  <p:embed/>
                </p:oleObj>
              </mc:Choice>
              <mc:Fallback>
                <p:oleObj r:id="rId7" imgW="510087" imgH="255202" progId="Equation.DSMT4">
                  <p:embed/>
                  <p:pic>
                    <p:nvPicPr>
                      <p:cNvPr id="23" name="Object 7">
                        <a:extLst>
                          <a:ext uri="{FF2B5EF4-FFF2-40B4-BE49-F238E27FC236}">
                            <a16:creationId xmlns:a16="http://schemas.microsoft.com/office/drawing/2014/main" id="{EAD492F3-2958-4D2C-8FD6-96368C1B5FC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8514" y="2034560"/>
                        <a:ext cx="1010412" cy="5059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8">
            <a:extLst>
              <a:ext uri="{FF2B5EF4-FFF2-40B4-BE49-F238E27FC236}">
                <a16:creationId xmlns:a16="http://schemas.microsoft.com/office/drawing/2014/main" id="{9BF7C185-1FD7-4297-960E-67025007AB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0951576"/>
              </p:ext>
            </p:extLst>
          </p:nvPr>
        </p:nvGraphicFramePr>
        <p:xfrm>
          <a:off x="4109721" y="2049801"/>
          <a:ext cx="920630" cy="421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394" r:id="rId9" imgW="448317" imgH="205117" progId="Equation.DSMT4">
                  <p:embed/>
                </p:oleObj>
              </mc:Choice>
              <mc:Fallback>
                <p:oleObj r:id="rId9" imgW="448317" imgH="205117" progId="Equation.DSMT4">
                  <p:embed/>
                  <p:pic>
                    <p:nvPicPr>
                      <p:cNvPr id="24" name="Object 8">
                        <a:extLst>
                          <a:ext uri="{FF2B5EF4-FFF2-40B4-BE49-F238E27FC236}">
                            <a16:creationId xmlns:a16="http://schemas.microsoft.com/office/drawing/2014/main" id="{9BF7C185-1FD7-4297-960E-67025007AB3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09721" y="2049801"/>
                        <a:ext cx="920630" cy="421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10">
            <a:extLst>
              <a:ext uri="{FF2B5EF4-FFF2-40B4-BE49-F238E27FC236}">
                <a16:creationId xmlns:a16="http://schemas.microsoft.com/office/drawing/2014/main" id="{DFBD6EAA-F46D-4356-AF10-0589EFCC06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7707086"/>
              </p:ext>
            </p:extLst>
          </p:nvPr>
        </p:nvGraphicFramePr>
        <p:xfrm>
          <a:off x="4211960" y="4005064"/>
          <a:ext cx="1185307" cy="4362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395" r:id="rId11" imgW="625057" imgH="229813" progId="Equation.DSMT4">
                  <p:embed/>
                </p:oleObj>
              </mc:Choice>
              <mc:Fallback>
                <p:oleObj r:id="rId11" imgW="625057" imgH="229813" progId="Equation.DSMT4">
                  <p:embed/>
                  <p:pic>
                    <p:nvPicPr>
                      <p:cNvPr id="26" name="Object 10">
                        <a:extLst>
                          <a:ext uri="{FF2B5EF4-FFF2-40B4-BE49-F238E27FC236}">
                            <a16:creationId xmlns:a16="http://schemas.microsoft.com/office/drawing/2014/main" id="{DFBD6EAA-F46D-4356-AF10-0589EFCC066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960" y="4005064"/>
                        <a:ext cx="1185307" cy="4362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Rectangle 11">
            <a:extLst>
              <a:ext uri="{FF2B5EF4-FFF2-40B4-BE49-F238E27FC236}">
                <a16:creationId xmlns:a16="http://schemas.microsoft.com/office/drawing/2014/main" id="{0CC90EDD-CB90-4420-A736-218EC38BB0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576" y="2822406"/>
            <a:ext cx="159338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Step 3. </a:t>
            </a:r>
            <a:r>
              <a:rPr lang="zh-CN" altLang="en-US" dirty="0">
                <a:latin typeface="Times New Roman" panose="02020603050405020304" pitchFamily="18" charset="0"/>
              </a:rPr>
              <a:t>取</a:t>
            </a:r>
            <a:endParaRPr lang="zh-CN" altLang="en-US" i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27" name="Object 12">
            <a:extLst>
              <a:ext uri="{FF2B5EF4-FFF2-40B4-BE49-F238E27FC236}">
                <a16:creationId xmlns:a16="http://schemas.microsoft.com/office/drawing/2014/main" id="{491D5379-A500-4AC2-91C5-D6E79521E75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2483176"/>
              </p:ext>
            </p:extLst>
          </p:nvPr>
        </p:nvGraphicFramePr>
        <p:xfrm>
          <a:off x="4057874" y="3423383"/>
          <a:ext cx="394164" cy="507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396" r:id="rId13" imgW="180146" imgH="231526" progId="Equation.DSMT4">
                  <p:embed/>
                </p:oleObj>
              </mc:Choice>
              <mc:Fallback>
                <p:oleObj r:id="rId13" imgW="180146" imgH="231526" progId="Equation.DSMT4">
                  <p:embed/>
                  <p:pic>
                    <p:nvPicPr>
                      <p:cNvPr id="28" name="Object 12">
                        <a:extLst>
                          <a:ext uri="{FF2B5EF4-FFF2-40B4-BE49-F238E27FC236}">
                            <a16:creationId xmlns:a16="http://schemas.microsoft.com/office/drawing/2014/main" id="{491D5379-A500-4AC2-91C5-D6E79521E75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57874" y="3423383"/>
                        <a:ext cx="394164" cy="507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13">
            <a:extLst>
              <a:ext uri="{FF2B5EF4-FFF2-40B4-BE49-F238E27FC236}">
                <a16:creationId xmlns:a16="http://schemas.microsoft.com/office/drawing/2014/main" id="{B3173AA1-46A8-487B-9A7F-FD97E369D0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9507831"/>
              </p:ext>
            </p:extLst>
          </p:nvPr>
        </p:nvGraphicFramePr>
        <p:xfrm>
          <a:off x="5013325" y="3424239"/>
          <a:ext cx="1675433" cy="4571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397" name="Equation" r:id="rId15" imgW="1041120" imgH="241200" progId="Equation.DSMT4">
                  <p:embed/>
                </p:oleObj>
              </mc:Choice>
              <mc:Fallback>
                <p:oleObj name="Equation" r:id="rId15" imgW="1041120" imgH="241200" progId="Equation.DSMT4">
                  <p:embed/>
                  <p:pic>
                    <p:nvPicPr>
                      <p:cNvPr id="29" name="Object 13">
                        <a:extLst>
                          <a:ext uri="{FF2B5EF4-FFF2-40B4-BE49-F238E27FC236}">
                            <a16:creationId xmlns:a16="http://schemas.microsoft.com/office/drawing/2014/main" id="{B3173AA1-46A8-487B-9A7F-FD97E369D01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3325" y="3424239"/>
                        <a:ext cx="1675433" cy="4571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Rectangle 14">
            <a:extLst>
              <a:ext uri="{FF2B5EF4-FFF2-40B4-BE49-F238E27FC236}">
                <a16:creationId xmlns:a16="http://schemas.microsoft.com/office/drawing/2014/main" id="{E2152688-65F0-44F7-AAC8-A88CF52879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576" y="4067780"/>
            <a:ext cx="7237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dirty="0">
                <a:latin typeface="Times New Roman" panose="02020603050405020304" pitchFamily="18" charset="0"/>
              </a:rPr>
              <a:t>Step 5. </a:t>
            </a:r>
            <a:r>
              <a:rPr lang="zh-CN" altLang="en-US" dirty="0">
                <a:latin typeface="Times New Roman" panose="02020603050405020304" pitchFamily="18" charset="0"/>
              </a:rPr>
              <a:t>如果                 ，算法停止，                   否转</a:t>
            </a:r>
            <a:r>
              <a:rPr lang="en-US" altLang="zh-CN" dirty="0">
                <a:latin typeface="Times New Roman" panose="02020603050405020304" pitchFamily="18" charset="0"/>
              </a:rPr>
              <a:t>Step 6;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30" name="Object 15">
            <a:extLst>
              <a:ext uri="{FF2B5EF4-FFF2-40B4-BE49-F238E27FC236}">
                <a16:creationId xmlns:a16="http://schemas.microsoft.com/office/drawing/2014/main" id="{656A4D4A-D0AE-4EE2-8826-C846175978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1026722"/>
              </p:ext>
            </p:extLst>
          </p:nvPr>
        </p:nvGraphicFramePr>
        <p:xfrm>
          <a:off x="1944020" y="4017508"/>
          <a:ext cx="1043804" cy="4362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398" r:id="rId17" imgW="612041" imgH="255202" progId="Equation.DSMT4">
                  <p:embed/>
                </p:oleObj>
              </mc:Choice>
              <mc:Fallback>
                <p:oleObj r:id="rId17" imgW="612041" imgH="255202" progId="Equation.DSMT4">
                  <p:embed/>
                  <p:pic>
                    <p:nvPicPr>
                      <p:cNvPr id="31" name="Object 15">
                        <a:extLst>
                          <a:ext uri="{FF2B5EF4-FFF2-40B4-BE49-F238E27FC236}">
                            <a16:creationId xmlns:a16="http://schemas.microsoft.com/office/drawing/2014/main" id="{656A4D4A-D0AE-4EE2-8826-C8461759787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4020" y="4017508"/>
                        <a:ext cx="1043804" cy="4362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Rectangle 16">
            <a:extLst>
              <a:ext uri="{FF2B5EF4-FFF2-40B4-BE49-F238E27FC236}">
                <a16:creationId xmlns:a16="http://schemas.microsoft.com/office/drawing/2014/main" id="{04A4AE32-D888-46D8-8075-8704AF749D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576" y="4697245"/>
            <a:ext cx="7385808" cy="78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dirty="0">
                <a:latin typeface="Times New Roman" panose="02020603050405020304" pitchFamily="18" charset="0"/>
              </a:rPr>
              <a:t>Step 6. </a:t>
            </a:r>
            <a:r>
              <a:rPr lang="zh-CN" altLang="en-US" dirty="0">
                <a:latin typeface="Times New Roman" panose="02020603050405020304" pitchFamily="18" charset="0"/>
              </a:rPr>
              <a:t>如果</a:t>
            </a:r>
            <a:r>
              <a:rPr lang="en-US" altLang="zh-CN" i="1" dirty="0">
                <a:latin typeface="Times New Roman" panose="02020603050405020304" pitchFamily="18" charset="0"/>
              </a:rPr>
              <a:t>k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n, </a:t>
            </a:r>
            <a:r>
              <a:rPr lang="zh-CN" altLang="en-US" dirty="0">
                <a:latin typeface="Times New Roman" panose="02020603050405020304" pitchFamily="18" charset="0"/>
              </a:rPr>
              <a:t>令         </a:t>
            </a:r>
            <a:r>
              <a:rPr lang="zh-CN" altLang="en-US" i="1" dirty="0">
                <a:latin typeface="Times New Roman" panose="02020603050405020304" pitchFamily="18" charset="0"/>
              </a:rPr>
              <a:t>                                 </a:t>
            </a:r>
            <a:r>
              <a:rPr lang="zh-CN" altLang="en-US" dirty="0">
                <a:latin typeface="Times New Roman" panose="02020603050405020304" pitchFamily="18" charset="0"/>
              </a:rPr>
              <a:t>算法停止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k=</a:t>
            </a:r>
            <a:r>
              <a:rPr lang="en-US" altLang="zh-CN" dirty="0">
                <a:latin typeface="Times New Roman" panose="02020603050405020304" pitchFamily="18" charset="0"/>
              </a:rPr>
              <a:t>1 </a:t>
            </a:r>
            <a:r>
              <a:rPr lang="zh-CN" altLang="en-US" dirty="0">
                <a:latin typeface="Times New Roman" panose="02020603050405020304" pitchFamily="18" charset="0"/>
              </a:rPr>
              <a:t>，转</a:t>
            </a:r>
            <a:r>
              <a:rPr lang="en-US" altLang="zh-CN" dirty="0">
                <a:latin typeface="Times New Roman" panose="02020603050405020304" pitchFamily="18" charset="0"/>
              </a:rPr>
              <a:t>Step 4;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dirty="0">
                <a:latin typeface="Times New Roman" panose="02020603050405020304" pitchFamily="18" charset="0"/>
              </a:rPr>
              <a:t>            </a:t>
            </a:r>
            <a:r>
              <a:rPr lang="zh-CN" altLang="en-US" dirty="0">
                <a:latin typeface="Times New Roman" panose="02020603050405020304" pitchFamily="18" charset="0"/>
              </a:rPr>
              <a:t>否则转步骤</a:t>
            </a:r>
            <a:r>
              <a:rPr lang="en-US" altLang="zh-CN" dirty="0">
                <a:latin typeface="Times New Roman" panose="02020603050405020304" pitchFamily="18" charset="0"/>
              </a:rPr>
              <a:t>7</a:t>
            </a:r>
            <a:r>
              <a:rPr lang="zh-CN" altLang="en-US" dirty="0">
                <a:latin typeface="Times New Roman" panose="02020603050405020304" pitchFamily="18" charset="0"/>
              </a:rPr>
              <a:t>；</a:t>
            </a:r>
          </a:p>
        </p:txBody>
      </p:sp>
      <p:graphicFrame>
        <p:nvGraphicFramePr>
          <p:cNvPr id="32" name="Object 18">
            <a:extLst>
              <a:ext uri="{FF2B5EF4-FFF2-40B4-BE49-F238E27FC236}">
                <a16:creationId xmlns:a16="http://schemas.microsoft.com/office/drawing/2014/main" id="{25EEE1ED-6D08-48CB-9BE5-C76763F383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3472940"/>
              </p:ext>
            </p:extLst>
          </p:nvPr>
        </p:nvGraphicFramePr>
        <p:xfrm>
          <a:off x="1911350" y="2746375"/>
          <a:ext cx="1687513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399" name="Equation" r:id="rId19" imgW="850680" imgH="241200" progId="Equation.DSMT4">
                  <p:embed/>
                </p:oleObj>
              </mc:Choice>
              <mc:Fallback>
                <p:oleObj name="Equation" r:id="rId19" imgW="850680" imgH="241200" progId="Equation.DSMT4">
                  <p:embed/>
                  <p:pic>
                    <p:nvPicPr>
                      <p:cNvPr id="33" name="Object 18">
                        <a:extLst>
                          <a:ext uri="{FF2B5EF4-FFF2-40B4-BE49-F238E27FC236}">
                            <a16:creationId xmlns:a16="http://schemas.microsoft.com/office/drawing/2014/main" id="{25EEE1ED-6D08-48CB-9BE5-C76763F383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1350" y="2746375"/>
                        <a:ext cx="1687513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19">
            <a:extLst>
              <a:ext uri="{FF2B5EF4-FFF2-40B4-BE49-F238E27FC236}">
                <a16:creationId xmlns:a16="http://schemas.microsoft.com/office/drawing/2014/main" id="{2AD6F032-EAFD-4E3F-AA87-DEFB919F52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5569464"/>
              </p:ext>
            </p:extLst>
          </p:nvPr>
        </p:nvGraphicFramePr>
        <p:xfrm>
          <a:off x="2749316" y="4653136"/>
          <a:ext cx="2326740" cy="4794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400" r:id="rId21" imgW="1173299" imgH="242563" progId="Equation.DSMT4">
                  <p:embed/>
                </p:oleObj>
              </mc:Choice>
              <mc:Fallback>
                <p:oleObj r:id="rId21" imgW="1173299" imgH="242563" progId="Equation.DSMT4">
                  <p:embed/>
                  <p:pic>
                    <p:nvPicPr>
                      <p:cNvPr id="34" name="Object 19">
                        <a:extLst>
                          <a:ext uri="{FF2B5EF4-FFF2-40B4-BE49-F238E27FC236}">
                            <a16:creationId xmlns:a16="http://schemas.microsoft.com/office/drawing/2014/main" id="{2AD6F032-EAFD-4E3F-AA87-DEFB919F529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9316" y="4653136"/>
                        <a:ext cx="2326740" cy="4794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20">
            <a:extLst>
              <a:ext uri="{FF2B5EF4-FFF2-40B4-BE49-F238E27FC236}">
                <a16:creationId xmlns:a16="http://schemas.microsoft.com/office/drawing/2014/main" id="{5EC65C04-41AF-48EF-9E1E-C67D7409B6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1874399"/>
              </p:ext>
            </p:extLst>
          </p:nvPr>
        </p:nvGraphicFramePr>
        <p:xfrm>
          <a:off x="3890869" y="5589240"/>
          <a:ext cx="3550410" cy="4765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401" r:id="rId23" imgW="1904491" imgH="241512" progId="Equation.DSMT4">
                  <p:embed/>
                </p:oleObj>
              </mc:Choice>
              <mc:Fallback>
                <p:oleObj r:id="rId23" imgW="1904491" imgH="241512" progId="Equation.DSMT4">
                  <p:embed/>
                  <p:pic>
                    <p:nvPicPr>
                      <p:cNvPr id="35" name="Object 20">
                        <a:extLst>
                          <a:ext uri="{FF2B5EF4-FFF2-40B4-BE49-F238E27FC236}">
                            <a16:creationId xmlns:a16="http://schemas.microsoft.com/office/drawing/2014/main" id="{5EC65C04-41AF-48EF-9E1E-C67D7409B63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90869" y="5589240"/>
                        <a:ext cx="3550410" cy="4765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Rectangle 17">
            <a:extLst>
              <a:ext uri="{FF2B5EF4-FFF2-40B4-BE49-F238E27FC236}">
                <a16:creationId xmlns:a16="http://schemas.microsoft.com/office/drawing/2014/main" id="{95D8E040-51E7-4728-A076-D4C6296F30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576" y="5625000"/>
            <a:ext cx="831641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dirty="0">
                <a:latin typeface="Times New Roman" panose="02020603050405020304" pitchFamily="18" charset="0"/>
              </a:rPr>
              <a:t>Step 7. </a:t>
            </a:r>
            <a:r>
              <a:rPr lang="zh-CN" altLang="en-US" dirty="0">
                <a:latin typeface="Times New Roman" panose="02020603050405020304" pitchFamily="18" charset="0"/>
              </a:rPr>
              <a:t>计算                                                                                               转</a:t>
            </a:r>
            <a:r>
              <a:rPr lang="en-US" altLang="zh-CN" dirty="0">
                <a:latin typeface="Times New Roman" panose="02020603050405020304" pitchFamily="18" charset="0"/>
              </a:rPr>
              <a:t>Step 4</a:t>
            </a:r>
            <a:r>
              <a:rPr lang="zh-CN" altLang="en-US" dirty="0">
                <a:latin typeface="Times New Roman" panose="02020603050405020304" pitchFamily="18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199810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3"/>
          <p:cNvSpPr>
            <a:spLocks noGrp="1"/>
          </p:cNvSpPr>
          <p:nvPr>
            <p:ph type="title"/>
          </p:nvPr>
        </p:nvSpPr>
        <p:spPr>
          <a:xfrm>
            <a:off x="2928926" y="142852"/>
            <a:ext cx="6215073" cy="549844"/>
          </a:xfrm>
        </p:spPr>
        <p:txBody>
          <a:bodyPr/>
          <a:lstStyle/>
          <a:p>
            <a:r>
              <a:rPr lang="zh-CN" altLang="en-US" sz="3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第五章 无约束最优化方法</a:t>
            </a:r>
            <a:endParaRPr kumimoji="1"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323528" y="980728"/>
            <a:ext cx="828092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zh-CN" altLang="en-US" sz="2800" b="1" dirty="0" smtClean="0">
                <a:solidFill>
                  <a:srgbClr val="C00000"/>
                </a:solidFill>
              </a:rPr>
              <a:t>坐标轮换法</a:t>
            </a:r>
            <a:r>
              <a:rPr lang="zh-CN" altLang="en-US" sz="2800" b="1" dirty="0">
                <a:solidFill>
                  <a:srgbClr val="C00000"/>
                </a:solidFill>
              </a:rPr>
              <a:t>基本原理</a:t>
            </a:r>
          </a:p>
        </p:txBody>
      </p:sp>
      <p:sp>
        <p:nvSpPr>
          <p:cNvPr id="37" name="矩形 36"/>
          <p:cNvSpPr/>
          <p:nvPr/>
        </p:nvSpPr>
        <p:spPr>
          <a:xfrm>
            <a:off x="179512" y="1516774"/>
            <a:ext cx="8424936" cy="535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rgbClr val="FF3300"/>
              </a:buClr>
            </a:pPr>
            <a:r>
              <a:rPr lang="zh-CN" altLang="en-US" sz="2200" dirty="0">
                <a:latin typeface="楷体" panose="02010609060101010101" pitchFamily="49" charset="-122"/>
                <a:ea typeface="楷体_GB2312"/>
                <a:cs typeface="Times New Roman" panose="02020603050405020304" pitchFamily="18" charset="0"/>
              </a:rPr>
              <a:t>下面以二元函数为例来进行分析，然后给出</a:t>
            </a:r>
            <a:r>
              <a:rPr lang="en-US" altLang="zh-CN" sz="2200" dirty="0">
                <a:latin typeface="楷体" panose="02010609060101010101" pitchFamily="49" charset="-122"/>
                <a:ea typeface="楷体_GB2312"/>
                <a:cs typeface="Times New Roman" panose="02020603050405020304" pitchFamily="18" charset="0"/>
              </a:rPr>
              <a:t>n</a:t>
            </a:r>
            <a:r>
              <a:rPr lang="zh-CN" altLang="en-US" sz="2200" dirty="0">
                <a:latin typeface="楷体" panose="02010609060101010101" pitchFamily="49" charset="-122"/>
                <a:ea typeface="楷体_GB2312"/>
                <a:cs typeface="Times New Roman" panose="02020603050405020304" pitchFamily="18" charset="0"/>
              </a:rPr>
              <a:t>元函数的一般算法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en-US" altLang="zh-CN" sz="220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8" name="对象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016471"/>
              </p:ext>
            </p:extLst>
          </p:nvPr>
        </p:nvGraphicFramePr>
        <p:xfrm>
          <a:off x="295219" y="2235024"/>
          <a:ext cx="8669269" cy="8339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381" name="Equation" r:id="rId3" imgW="5105400" imgH="482600" progId="Equation.DSMT4">
                  <p:embed/>
                </p:oleObj>
              </mc:Choice>
              <mc:Fallback>
                <p:oleObj name="Equation" r:id="rId3" imgW="5105400" imgH="482600" progId="Equation.DSMT4">
                  <p:embed/>
                  <p:pic>
                    <p:nvPicPr>
                      <p:cNvPr id="13" name="对象 1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5219" y="2235024"/>
                        <a:ext cx="8669269" cy="8339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9" name="图片 3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3155" y="3429000"/>
            <a:ext cx="3960440" cy="3044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611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323528" y="980728"/>
            <a:ext cx="828092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zh-CN" altLang="en-US" sz="2800" b="1" dirty="0" smtClean="0">
                <a:solidFill>
                  <a:srgbClr val="C00000"/>
                </a:solidFill>
              </a:rPr>
              <a:t>坐标轮换法</a:t>
            </a:r>
            <a:r>
              <a:rPr lang="zh-CN" altLang="en-US" sz="2800" b="1" dirty="0">
                <a:solidFill>
                  <a:srgbClr val="C00000"/>
                </a:solidFill>
              </a:rPr>
              <a:t>算法流程图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-57150" y="2130425"/>
            <a:ext cx="5138420" cy="3834607"/>
            <a:chOff x="1200" y="395"/>
            <a:chExt cx="10238" cy="5662"/>
          </a:xfrm>
        </p:grpSpPr>
        <p:sp>
          <p:nvSpPr>
            <p:cNvPr id="3" name="椭圆 2"/>
            <p:cNvSpPr/>
            <p:nvPr/>
          </p:nvSpPr>
          <p:spPr>
            <a:xfrm rot="-2554614">
              <a:off x="2890" y="5288"/>
              <a:ext cx="148" cy="110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直接连接符 3"/>
            <p:cNvSpPr/>
            <p:nvPr/>
          </p:nvSpPr>
          <p:spPr>
            <a:xfrm>
              <a:off x="3050" y="5330"/>
              <a:ext cx="2050" cy="1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8" name="直接连接符 7"/>
            <p:cNvSpPr/>
            <p:nvPr/>
          </p:nvSpPr>
          <p:spPr>
            <a:xfrm flipV="1">
              <a:off x="5090" y="4265"/>
              <a:ext cx="0" cy="102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" name="直接连接符 8"/>
            <p:cNvSpPr/>
            <p:nvPr/>
          </p:nvSpPr>
          <p:spPr>
            <a:xfrm>
              <a:off x="5045" y="4265"/>
              <a:ext cx="90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0" name="直接连接符 9"/>
            <p:cNvSpPr/>
            <p:nvPr/>
          </p:nvSpPr>
          <p:spPr>
            <a:xfrm flipV="1">
              <a:off x="5953" y="3700"/>
              <a:ext cx="0" cy="56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1" name="直接连接符 10"/>
            <p:cNvSpPr/>
            <p:nvPr/>
          </p:nvSpPr>
          <p:spPr>
            <a:xfrm>
              <a:off x="5953" y="3813"/>
              <a:ext cx="34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2" name="直接连接符 11"/>
            <p:cNvSpPr/>
            <p:nvPr/>
          </p:nvSpPr>
          <p:spPr>
            <a:xfrm flipV="1">
              <a:off x="6293" y="3585"/>
              <a:ext cx="0" cy="22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3" name="直接连接符 12"/>
            <p:cNvSpPr/>
            <p:nvPr/>
          </p:nvSpPr>
          <p:spPr>
            <a:xfrm>
              <a:off x="6293" y="3585"/>
              <a:ext cx="22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4" name="直接连接符 13"/>
            <p:cNvSpPr/>
            <p:nvPr/>
          </p:nvSpPr>
          <p:spPr>
            <a:xfrm flipV="1">
              <a:off x="6520" y="3360"/>
              <a:ext cx="0" cy="22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5" name="直接连接符 14"/>
            <p:cNvSpPr/>
            <p:nvPr/>
          </p:nvSpPr>
          <p:spPr>
            <a:xfrm flipH="1" flipV="1">
              <a:off x="7033" y="2958"/>
              <a:ext cx="17" cy="29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grpSp>
          <p:nvGrpSpPr>
            <p:cNvPr id="16" name="组合 15"/>
            <p:cNvGrpSpPr/>
            <p:nvPr/>
          </p:nvGrpSpPr>
          <p:grpSpPr>
            <a:xfrm>
              <a:off x="3048" y="395"/>
              <a:ext cx="8390" cy="5423"/>
              <a:chOff x="1219" y="158"/>
              <a:chExt cx="3356" cy="2169"/>
            </a:xfrm>
          </p:grpSpPr>
          <p:sp>
            <p:nvSpPr>
              <p:cNvPr id="17" name="直接连接符 16"/>
              <p:cNvSpPr/>
              <p:nvPr/>
            </p:nvSpPr>
            <p:spPr>
              <a:xfrm flipV="1">
                <a:off x="1627" y="158"/>
                <a:ext cx="0" cy="213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18" name="直接连接符 17"/>
              <p:cNvSpPr/>
              <p:nvPr/>
            </p:nvSpPr>
            <p:spPr>
              <a:xfrm flipV="1">
                <a:off x="1627" y="2290"/>
                <a:ext cx="2495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19" name="椭圆 18"/>
              <p:cNvSpPr/>
              <p:nvPr/>
            </p:nvSpPr>
            <p:spPr>
              <a:xfrm rot="-2554614">
                <a:off x="1446" y="521"/>
                <a:ext cx="2812" cy="1270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" name="椭圆 19"/>
              <p:cNvSpPr/>
              <p:nvPr/>
            </p:nvSpPr>
            <p:spPr>
              <a:xfrm rot="-2554614">
                <a:off x="2112" y="941"/>
                <a:ext cx="1406" cy="499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" name="椭圆 20"/>
              <p:cNvSpPr/>
              <p:nvPr/>
            </p:nvSpPr>
            <p:spPr>
              <a:xfrm rot="-2554614">
                <a:off x="1517" y="630"/>
                <a:ext cx="2631" cy="1058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" name="椭圆 21"/>
              <p:cNvSpPr/>
              <p:nvPr/>
            </p:nvSpPr>
            <p:spPr>
              <a:xfrm rot="-2554614">
                <a:off x="1682" y="703"/>
                <a:ext cx="2301" cy="894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" name="椭圆 22"/>
              <p:cNvSpPr/>
              <p:nvPr/>
            </p:nvSpPr>
            <p:spPr>
              <a:xfrm rot="-2554614">
                <a:off x="1818" y="775"/>
                <a:ext cx="1986" cy="726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" name="椭圆 23"/>
              <p:cNvSpPr/>
              <p:nvPr/>
            </p:nvSpPr>
            <p:spPr>
              <a:xfrm rot="-2554614">
                <a:off x="2359" y="1050"/>
                <a:ext cx="953" cy="294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" name="椭圆 24"/>
              <p:cNvSpPr/>
              <p:nvPr/>
            </p:nvSpPr>
            <p:spPr>
              <a:xfrm rot="-2554614">
                <a:off x="2806" y="1157"/>
                <a:ext cx="59" cy="44"/>
              </a:xfrm>
              <a:prstGeom prst="ellipse">
                <a:avLst/>
              </a:prstGeom>
              <a:solidFill>
                <a:schemeClr val="hlink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" name="椭圆 25"/>
              <p:cNvSpPr/>
              <p:nvPr/>
            </p:nvSpPr>
            <p:spPr>
              <a:xfrm rot="-2554614">
                <a:off x="2256" y="1023"/>
                <a:ext cx="1104" cy="369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" name="文本框 26"/>
              <p:cNvSpPr txBox="1"/>
              <p:nvPr/>
            </p:nvSpPr>
            <p:spPr>
              <a:xfrm>
                <a:off x="4212" y="2109"/>
                <a:ext cx="363" cy="21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 i="1">
                    <a:latin typeface="Times New Roman" panose="02020603050405020304" pitchFamily="18" charset="0"/>
                  </a:rPr>
                  <a:t>x</a:t>
                </a:r>
                <a:r>
                  <a:rPr lang="en-US" altLang="zh-CN" b="1" baseline="-25000">
                    <a:latin typeface="Times New Roman" panose="02020603050405020304" pitchFamily="18" charset="0"/>
                  </a:rPr>
                  <a:t>1</a:t>
                </a:r>
                <a:endParaRPr lang="en-US" altLang="zh-CN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" name="文本框 27"/>
              <p:cNvSpPr txBox="1"/>
              <p:nvPr/>
            </p:nvSpPr>
            <p:spPr>
              <a:xfrm>
                <a:off x="1219" y="197"/>
                <a:ext cx="363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 i="1">
                    <a:latin typeface="Times New Roman" panose="02020603050405020304" pitchFamily="18" charset="0"/>
                  </a:rPr>
                  <a:t>x</a:t>
                </a:r>
                <a:r>
                  <a:rPr lang="en-US" altLang="zh-CN" b="1" baseline="-25000">
                    <a:latin typeface="Times New Roman" panose="02020603050405020304" pitchFamily="18" charset="0"/>
                  </a:rPr>
                  <a:t>2</a:t>
                </a:r>
                <a:endParaRPr lang="en-US" altLang="zh-CN" b="1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9" name="文本框 28"/>
            <p:cNvSpPr txBox="1"/>
            <p:nvPr/>
          </p:nvSpPr>
          <p:spPr>
            <a:xfrm>
              <a:off x="1200" y="4800"/>
              <a:ext cx="1465" cy="54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>
                  <a:latin typeface="Times New Roman" panose="02020603050405020304" pitchFamily="18" charset="0"/>
                </a:rPr>
                <a:t>X</a:t>
              </a:r>
              <a:r>
                <a:rPr lang="en-US" altLang="zh-CN" b="1" baseline="-25000">
                  <a:latin typeface="Times New Roman" panose="02020603050405020304" pitchFamily="18" charset="0"/>
                </a:rPr>
                <a:t>0</a:t>
              </a:r>
              <a:r>
                <a:rPr lang="en-US" altLang="zh-CN" b="1" baseline="30000">
                  <a:latin typeface="Times New Roman" panose="02020603050405020304" pitchFamily="18" charset="0"/>
                </a:rPr>
                <a:t>(1)</a:t>
              </a:r>
              <a:endParaRPr lang="en-US" altLang="zh-CN" b="1">
                <a:latin typeface="Times New Roman" panose="02020603050405020304" pitchFamily="18" charset="0"/>
              </a:endParaRP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4705" y="5513"/>
              <a:ext cx="1535" cy="54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>
                  <a:latin typeface="Times New Roman" panose="02020603050405020304" pitchFamily="18" charset="0"/>
                </a:rPr>
                <a:t>X</a:t>
              </a:r>
              <a:r>
                <a:rPr lang="en-US" altLang="zh-CN" b="1" baseline="-25000">
                  <a:latin typeface="Times New Roman" panose="02020603050405020304" pitchFamily="18" charset="0"/>
                </a:rPr>
                <a:t>1</a:t>
              </a:r>
              <a:r>
                <a:rPr lang="en-US" altLang="zh-CN" b="1" baseline="30000">
                  <a:latin typeface="Times New Roman" panose="02020603050405020304" pitchFamily="18" charset="0"/>
                </a:rPr>
                <a:t>(1)</a:t>
              </a:r>
              <a:endParaRPr lang="en-US" altLang="zh-CN" b="1">
                <a:latin typeface="Times New Roman" panose="02020603050405020304" pitchFamily="18" charset="0"/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3600" y="3245"/>
              <a:ext cx="1560" cy="54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>
                  <a:latin typeface="Times New Roman" panose="02020603050405020304" pitchFamily="18" charset="0"/>
                </a:rPr>
                <a:t>X</a:t>
              </a:r>
              <a:r>
                <a:rPr lang="en-US" altLang="zh-CN" b="1" baseline="-25000">
                  <a:latin typeface="Times New Roman" panose="02020603050405020304" pitchFamily="18" charset="0"/>
                </a:rPr>
                <a:t>2</a:t>
              </a:r>
              <a:r>
                <a:rPr lang="en-US" altLang="zh-CN" b="1" baseline="30000">
                  <a:latin typeface="Times New Roman" panose="02020603050405020304" pitchFamily="18" charset="0"/>
                </a:rPr>
                <a:t>(1)</a:t>
              </a:r>
              <a:endParaRPr lang="en-US" altLang="zh-CN" b="1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58" name="Group 1"/>
          <p:cNvGrpSpPr>
            <a:grpSpLocks/>
          </p:cNvGrpSpPr>
          <p:nvPr/>
        </p:nvGrpSpPr>
        <p:grpSpPr bwMode="auto">
          <a:xfrm>
            <a:off x="4698492" y="142851"/>
            <a:ext cx="4376049" cy="6566995"/>
            <a:chOff x="2955" y="2064"/>
            <a:chExt cx="6690" cy="10727"/>
          </a:xfrm>
        </p:grpSpPr>
        <p:sp>
          <p:nvSpPr>
            <p:cNvPr id="159" name="Line 2"/>
            <p:cNvSpPr>
              <a:spLocks noChangeShapeType="1"/>
            </p:cNvSpPr>
            <p:nvPr/>
          </p:nvSpPr>
          <p:spPr bwMode="auto">
            <a:xfrm>
              <a:off x="6301" y="6043"/>
              <a:ext cx="0" cy="3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60" name="Group 3"/>
            <p:cNvGrpSpPr>
              <a:grpSpLocks/>
            </p:cNvGrpSpPr>
            <p:nvPr/>
          </p:nvGrpSpPr>
          <p:grpSpPr bwMode="auto">
            <a:xfrm>
              <a:off x="2955" y="2064"/>
              <a:ext cx="6690" cy="10727"/>
              <a:chOff x="2955" y="2064"/>
              <a:chExt cx="6690" cy="10727"/>
            </a:xfrm>
          </p:grpSpPr>
          <p:sp>
            <p:nvSpPr>
              <p:cNvPr id="161" name="AutoShape 4"/>
              <p:cNvSpPr>
                <a:spLocks noChangeArrowheads="1"/>
              </p:cNvSpPr>
              <p:nvPr/>
            </p:nvSpPr>
            <p:spPr bwMode="auto">
              <a:xfrm>
                <a:off x="2955" y="8553"/>
                <a:ext cx="1441" cy="494"/>
              </a:xfrm>
              <a:prstGeom prst="flowChartProcess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i="1">
                    <a:latin typeface="Arial" panose="020B0604020202020204" pitchFamily="34" charset="0"/>
                  </a:rPr>
                  <a:t>k</a:t>
                </a:r>
                <a:r>
                  <a:rPr lang="en-US" altLang="zh-CN">
                    <a:latin typeface="Arial" panose="020B0604020202020204" pitchFamily="34" charset="0"/>
                  </a:rPr>
                  <a:t>=</a:t>
                </a:r>
                <a:r>
                  <a:rPr lang="en-US" altLang="zh-CN" i="1">
                    <a:latin typeface="Arial" panose="020B0604020202020204" pitchFamily="34" charset="0"/>
                  </a:rPr>
                  <a:t>k</a:t>
                </a:r>
                <a:r>
                  <a:rPr lang="en-US" altLang="zh-CN">
                    <a:latin typeface="Arial" panose="020B0604020202020204" pitchFamily="34" charset="0"/>
                  </a:rPr>
                  <a:t>+1</a:t>
                </a:r>
                <a:endParaRPr lang="zh-CN" altLang="zh-CN">
                  <a:latin typeface="Arial" panose="020B0604020202020204" pitchFamily="34" charset="0"/>
                </a:endParaRPr>
              </a:p>
            </p:txBody>
          </p:sp>
          <p:sp>
            <p:nvSpPr>
              <p:cNvPr id="162" name="AutoShape 5"/>
              <p:cNvSpPr>
                <a:spLocks noChangeArrowheads="1"/>
              </p:cNvSpPr>
              <p:nvPr/>
            </p:nvSpPr>
            <p:spPr bwMode="auto">
              <a:xfrm>
                <a:off x="5040" y="7915"/>
                <a:ext cx="2314" cy="545"/>
              </a:xfrm>
              <a:prstGeom prst="flowChartProcess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zh-CN">
                  <a:latin typeface="Arial" panose="020B0604020202020204" pitchFamily="34" charset="0"/>
                </a:endParaRPr>
              </a:p>
            </p:txBody>
          </p:sp>
          <p:sp>
            <p:nvSpPr>
              <p:cNvPr id="163" name="AutoShape 6"/>
              <p:cNvSpPr>
                <a:spLocks noChangeArrowheads="1"/>
              </p:cNvSpPr>
              <p:nvPr/>
            </p:nvSpPr>
            <p:spPr bwMode="auto">
              <a:xfrm>
                <a:off x="5760" y="3791"/>
                <a:ext cx="1081" cy="494"/>
              </a:xfrm>
              <a:prstGeom prst="flowChartProcess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>
                    <a:latin typeface="Arial" panose="020B0604020202020204" pitchFamily="34" charset="0"/>
                  </a:rPr>
                  <a:t>k=1</a:t>
                </a:r>
                <a:endParaRPr lang="zh-CN" altLang="zh-CN">
                  <a:latin typeface="Arial" panose="020B0604020202020204" pitchFamily="34" charset="0"/>
                </a:endParaRPr>
              </a:p>
            </p:txBody>
          </p:sp>
          <p:sp>
            <p:nvSpPr>
              <p:cNvPr id="164" name="AutoShape 7"/>
              <p:cNvSpPr>
                <a:spLocks noChangeArrowheads="1"/>
              </p:cNvSpPr>
              <p:nvPr/>
            </p:nvSpPr>
            <p:spPr bwMode="auto">
              <a:xfrm>
                <a:off x="5716" y="4591"/>
                <a:ext cx="1124" cy="593"/>
              </a:xfrm>
              <a:prstGeom prst="flowChartProcess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>
                    <a:latin typeface="Arial" panose="020B0604020202020204" pitchFamily="34" charset="0"/>
                  </a:rPr>
                  <a:t>X=X</a:t>
                </a:r>
                <a:r>
                  <a:rPr lang="en-US" altLang="zh-CN" baseline="-25000">
                    <a:latin typeface="Arial" panose="020B0604020202020204" pitchFamily="34" charset="0"/>
                  </a:rPr>
                  <a:t>0</a:t>
                </a:r>
                <a:endParaRPr lang="zh-CN" altLang="zh-CN" baseline="-25000">
                  <a:latin typeface="Arial" panose="020B0604020202020204" pitchFamily="34" charset="0"/>
                </a:endParaRPr>
              </a:p>
            </p:txBody>
          </p:sp>
          <p:sp>
            <p:nvSpPr>
              <p:cNvPr id="165" name="Line 8"/>
              <p:cNvSpPr>
                <a:spLocks noChangeShapeType="1"/>
              </p:cNvSpPr>
              <p:nvPr/>
            </p:nvSpPr>
            <p:spPr bwMode="auto">
              <a:xfrm>
                <a:off x="6301" y="2541"/>
                <a:ext cx="1" cy="31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6" name="Line 9"/>
              <p:cNvSpPr>
                <a:spLocks noChangeShapeType="1"/>
              </p:cNvSpPr>
              <p:nvPr/>
            </p:nvSpPr>
            <p:spPr bwMode="auto">
              <a:xfrm>
                <a:off x="6301" y="3479"/>
                <a:ext cx="1" cy="31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7" name="Line 10"/>
              <p:cNvSpPr>
                <a:spLocks noChangeShapeType="1"/>
              </p:cNvSpPr>
              <p:nvPr/>
            </p:nvSpPr>
            <p:spPr bwMode="auto">
              <a:xfrm>
                <a:off x="6301" y="4259"/>
                <a:ext cx="1" cy="31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8" name="Line 11"/>
              <p:cNvSpPr>
                <a:spLocks noChangeShapeType="1"/>
              </p:cNvSpPr>
              <p:nvPr/>
            </p:nvSpPr>
            <p:spPr bwMode="auto">
              <a:xfrm>
                <a:off x="6301" y="5263"/>
                <a:ext cx="1" cy="31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9" name="Line 12"/>
              <p:cNvSpPr>
                <a:spLocks noChangeShapeType="1"/>
              </p:cNvSpPr>
              <p:nvPr/>
            </p:nvSpPr>
            <p:spPr bwMode="auto">
              <a:xfrm>
                <a:off x="6300" y="8460"/>
                <a:ext cx="2" cy="54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0" name="AutoShape 13"/>
              <p:cNvSpPr>
                <a:spLocks noChangeArrowheads="1"/>
              </p:cNvSpPr>
              <p:nvPr/>
            </p:nvSpPr>
            <p:spPr bwMode="auto">
              <a:xfrm>
                <a:off x="5400" y="9007"/>
                <a:ext cx="1800" cy="936"/>
              </a:xfrm>
              <a:prstGeom prst="flowChartDecision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i="1">
                    <a:latin typeface="Arial" panose="020B0604020202020204" pitchFamily="34" charset="0"/>
                  </a:rPr>
                  <a:t>i=n?</a:t>
                </a:r>
                <a:endParaRPr lang="zh-CN" altLang="zh-CN" i="1">
                  <a:latin typeface="Arial" panose="020B0604020202020204" pitchFamily="34" charset="0"/>
                </a:endParaRPr>
              </a:p>
              <a:p>
                <a:pPr eaLnBrk="1" hangingPunct="1"/>
                <a:endParaRPr lang="zh-CN" altLang="zh-CN">
                  <a:latin typeface="Arial" panose="020B0604020202020204" pitchFamily="34" charset="0"/>
                </a:endParaRPr>
              </a:p>
            </p:txBody>
          </p:sp>
          <p:sp>
            <p:nvSpPr>
              <p:cNvPr id="171" name="Line 14"/>
              <p:cNvSpPr>
                <a:spLocks noChangeShapeType="1"/>
              </p:cNvSpPr>
              <p:nvPr/>
            </p:nvSpPr>
            <p:spPr bwMode="auto">
              <a:xfrm>
                <a:off x="6300" y="7368"/>
                <a:ext cx="3" cy="54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2" name="AutoShape 15"/>
              <p:cNvSpPr>
                <a:spLocks noChangeArrowheads="1"/>
              </p:cNvSpPr>
              <p:nvPr/>
            </p:nvSpPr>
            <p:spPr bwMode="auto">
              <a:xfrm>
                <a:off x="5727" y="2064"/>
                <a:ext cx="1092" cy="466"/>
              </a:xfrm>
              <a:prstGeom prst="flowChartTerminator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96000"/>
                  </a:lnSpc>
                </a:pPr>
                <a:r>
                  <a:rPr lang="zh-CN" altLang="en-US" sz="1600" dirty="0">
                    <a:latin typeface="Calibri" panose="020F0502020204030204" pitchFamily="34" charset="0"/>
                  </a:rPr>
                  <a:t>开始</a:t>
                </a:r>
                <a:endParaRPr lang="zh-CN" altLang="en-US" sz="16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73" name="AutoShape 16"/>
              <p:cNvSpPr>
                <a:spLocks noChangeArrowheads="1"/>
              </p:cNvSpPr>
              <p:nvPr/>
            </p:nvSpPr>
            <p:spPr bwMode="auto">
              <a:xfrm>
                <a:off x="3961" y="2855"/>
                <a:ext cx="4679" cy="624"/>
              </a:xfrm>
              <a:prstGeom prst="flowChartPreparation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20000"/>
                  </a:lnSpc>
                </a:pPr>
                <a:r>
                  <a:rPr lang="zh-CN" altLang="en-US" sz="1600">
                    <a:latin typeface="Calibri" panose="020F0502020204030204" pitchFamily="34" charset="0"/>
                  </a:rPr>
                  <a:t>给定</a:t>
                </a:r>
                <a:endParaRPr lang="zh-CN" altLang="en-US" sz="1600">
                  <a:latin typeface="Arial" panose="020B0604020202020204" pitchFamily="34" charset="0"/>
                </a:endParaRPr>
              </a:p>
            </p:txBody>
          </p:sp>
          <p:sp>
            <p:nvSpPr>
              <p:cNvPr id="174" name="Rectangle 17"/>
              <p:cNvSpPr>
                <a:spLocks noChangeArrowheads="1"/>
              </p:cNvSpPr>
              <p:nvPr/>
            </p:nvSpPr>
            <p:spPr bwMode="auto">
              <a:xfrm>
                <a:off x="6300" y="9786"/>
                <a:ext cx="540" cy="4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en-US" altLang="zh-CN" sz="1600">
                    <a:latin typeface="Calibri" panose="020F0502020204030204" pitchFamily="34" charset="0"/>
                  </a:rPr>
                  <a:t>Y</a:t>
                </a:r>
                <a:endParaRPr lang="zh-CN" altLang="zh-CN" sz="1600">
                  <a:latin typeface="Calibri" panose="020F0502020204030204" pitchFamily="34" charset="0"/>
                </a:endParaRPr>
              </a:p>
            </p:txBody>
          </p:sp>
          <p:sp>
            <p:nvSpPr>
              <p:cNvPr id="175" name="Rectangle 18"/>
              <p:cNvSpPr>
                <a:spLocks noChangeArrowheads="1"/>
              </p:cNvSpPr>
              <p:nvPr/>
            </p:nvSpPr>
            <p:spPr bwMode="auto">
              <a:xfrm>
                <a:off x="7740" y="9007"/>
                <a:ext cx="540" cy="4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en-US" altLang="zh-CN" sz="1600">
                    <a:latin typeface="Calibri" panose="020F0502020204030204" pitchFamily="34" charset="0"/>
                  </a:rPr>
                  <a:t>N</a:t>
                </a:r>
                <a:endParaRPr lang="zh-CN" altLang="zh-CN" sz="1600">
                  <a:latin typeface="Arial" panose="020B0604020202020204" pitchFamily="34" charset="0"/>
                </a:endParaRPr>
              </a:p>
            </p:txBody>
          </p:sp>
          <p:sp>
            <p:nvSpPr>
              <p:cNvPr id="176" name="AutoShape 19"/>
              <p:cNvSpPr>
                <a:spLocks noChangeArrowheads="1"/>
              </p:cNvSpPr>
              <p:nvPr/>
            </p:nvSpPr>
            <p:spPr bwMode="auto">
              <a:xfrm>
                <a:off x="4141" y="6355"/>
                <a:ext cx="4320" cy="1013"/>
              </a:xfrm>
              <a:prstGeom prst="flowChartProcess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20000"/>
                  </a:lnSpc>
                </a:pPr>
                <a:r>
                  <a:rPr lang="zh-CN" altLang="en-US" sz="1600">
                    <a:latin typeface="Calibri" panose="020F0502020204030204" pitchFamily="34" charset="0"/>
                  </a:rPr>
                  <a:t>沿     求      使</a:t>
                </a:r>
                <a:endParaRPr lang="zh-CN" altLang="en-US" sz="1600">
                  <a:latin typeface="Times New Roman" panose="02020603050405020304" pitchFamily="18" charset="0"/>
                </a:endParaRPr>
              </a:p>
              <a:p>
                <a:pPr eaLnBrk="1" hangingPunct="1"/>
                <a:endParaRPr lang="zh-CN" altLang="zh-CN">
                  <a:latin typeface="Arial" panose="020B0604020202020204" pitchFamily="34" charset="0"/>
                </a:endParaRPr>
              </a:p>
            </p:txBody>
          </p:sp>
          <p:sp>
            <p:nvSpPr>
              <p:cNvPr id="177" name="AutoShape 20"/>
              <p:cNvSpPr>
                <a:spLocks noChangeArrowheads="1"/>
              </p:cNvSpPr>
              <p:nvPr/>
            </p:nvSpPr>
            <p:spPr bwMode="auto">
              <a:xfrm>
                <a:off x="5940" y="5575"/>
                <a:ext cx="784" cy="495"/>
              </a:xfrm>
              <a:prstGeom prst="flowChartProcess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i="1" dirty="0" err="1">
                    <a:latin typeface="Arial" panose="020B0604020202020204" pitchFamily="34" charset="0"/>
                  </a:rPr>
                  <a:t>i</a:t>
                </a:r>
                <a:r>
                  <a:rPr lang="en-US" altLang="zh-CN" i="1" dirty="0">
                    <a:latin typeface="Arial" panose="020B0604020202020204" pitchFamily="34" charset="0"/>
                  </a:rPr>
                  <a:t>=1</a:t>
                </a:r>
                <a:endParaRPr lang="zh-CN" altLang="zh-CN" i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78" name="AutoShape 21"/>
              <p:cNvSpPr>
                <a:spLocks noChangeArrowheads="1"/>
              </p:cNvSpPr>
              <p:nvPr/>
            </p:nvSpPr>
            <p:spPr bwMode="auto">
              <a:xfrm>
                <a:off x="4692" y="10258"/>
                <a:ext cx="3063" cy="1007"/>
              </a:xfrm>
              <a:prstGeom prst="flowChartDecision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zh-CN" i="1">
                  <a:latin typeface="Arial" panose="020B0604020202020204" pitchFamily="34" charset="0"/>
                </a:endParaRPr>
              </a:p>
            </p:txBody>
          </p:sp>
          <p:sp>
            <p:nvSpPr>
              <p:cNvPr id="179" name="Line 22"/>
              <p:cNvSpPr>
                <a:spLocks noChangeShapeType="1"/>
              </p:cNvSpPr>
              <p:nvPr/>
            </p:nvSpPr>
            <p:spPr bwMode="auto">
              <a:xfrm>
                <a:off x="6255" y="11278"/>
                <a:ext cx="1" cy="31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0" name="AutoShape 23"/>
              <p:cNvSpPr>
                <a:spLocks noChangeArrowheads="1"/>
              </p:cNvSpPr>
              <p:nvPr/>
            </p:nvSpPr>
            <p:spPr bwMode="auto">
              <a:xfrm>
                <a:off x="5580" y="11673"/>
                <a:ext cx="1344" cy="829"/>
              </a:xfrm>
              <a:prstGeom prst="flowChartProcess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endParaRPr lang="zh-CN" altLang="zh-CN">
                  <a:latin typeface="Arial" panose="020B0604020202020204" pitchFamily="34" charset="0"/>
                </a:endParaRPr>
              </a:p>
            </p:txBody>
          </p:sp>
          <p:sp>
            <p:nvSpPr>
              <p:cNvPr id="181" name="AutoShape 24"/>
              <p:cNvSpPr>
                <a:spLocks noChangeArrowheads="1"/>
              </p:cNvSpPr>
              <p:nvPr/>
            </p:nvSpPr>
            <p:spPr bwMode="auto">
              <a:xfrm>
                <a:off x="8280" y="8227"/>
                <a:ext cx="1064" cy="494"/>
              </a:xfrm>
              <a:prstGeom prst="flowChartProcess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en-US" altLang="zh-CN" i="1">
                    <a:latin typeface="Arial" panose="020B0604020202020204" pitchFamily="34" charset="0"/>
                  </a:rPr>
                  <a:t>i=i+1</a:t>
                </a:r>
                <a:endParaRPr lang="zh-CN" altLang="zh-CN" i="1">
                  <a:latin typeface="Arial" panose="020B0604020202020204" pitchFamily="34" charset="0"/>
                </a:endParaRPr>
              </a:p>
            </p:txBody>
          </p:sp>
          <p:sp>
            <p:nvSpPr>
              <p:cNvPr id="182" name="Line 25"/>
              <p:cNvSpPr>
                <a:spLocks noChangeShapeType="1"/>
              </p:cNvSpPr>
              <p:nvPr/>
            </p:nvSpPr>
            <p:spPr bwMode="auto">
              <a:xfrm flipV="1">
                <a:off x="8820" y="8695"/>
                <a:ext cx="1" cy="78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3" name="Line 26"/>
              <p:cNvSpPr>
                <a:spLocks noChangeShapeType="1"/>
              </p:cNvSpPr>
              <p:nvPr/>
            </p:nvSpPr>
            <p:spPr bwMode="auto">
              <a:xfrm flipV="1">
                <a:off x="8820" y="7134"/>
                <a:ext cx="1" cy="109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" name="Line 27"/>
              <p:cNvSpPr>
                <a:spLocks noChangeShapeType="1"/>
              </p:cNvSpPr>
              <p:nvPr/>
            </p:nvSpPr>
            <p:spPr bwMode="auto">
              <a:xfrm>
                <a:off x="7200" y="9475"/>
                <a:ext cx="162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5" name="Line 28"/>
              <p:cNvSpPr>
                <a:spLocks noChangeShapeType="1"/>
              </p:cNvSpPr>
              <p:nvPr/>
            </p:nvSpPr>
            <p:spPr bwMode="auto">
              <a:xfrm flipH="1">
                <a:off x="8460" y="7134"/>
                <a:ext cx="36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6" name="Line 29"/>
              <p:cNvSpPr>
                <a:spLocks noChangeShapeType="1"/>
              </p:cNvSpPr>
              <p:nvPr/>
            </p:nvSpPr>
            <p:spPr bwMode="auto">
              <a:xfrm>
                <a:off x="6300" y="9943"/>
                <a:ext cx="0" cy="31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7" name="Rectangle 30"/>
              <p:cNvSpPr>
                <a:spLocks noChangeArrowheads="1"/>
              </p:cNvSpPr>
              <p:nvPr/>
            </p:nvSpPr>
            <p:spPr bwMode="auto">
              <a:xfrm>
                <a:off x="6300" y="11127"/>
                <a:ext cx="540" cy="4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en-US" altLang="zh-CN" sz="1600">
                    <a:latin typeface="Calibri" panose="020F0502020204030204" pitchFamily="34" charset="0"/>
                  </a:rPr>
                  <a:t>N</a:t>
                </a:r>
                <a:endParaRPr lang="zh-CN" altLang="zh-CN" sz="1600">
                  <a:latin typeface="Arial" panose="020B0604020202020204" pitchFamily="34" charset="0"/>
                </a:endParaRPr>
              </a:p>
            </p:txBody>
          </p:sp>
          <p:sp>
            <p:nvSpPr>
              <p:cNvPr id="188" name="Line 31"/>
              <p:cNvSpPr>
                <a:spLocks noChangeShapeType="1"/>
              </p:cNvSpPr>
              <p:nvPr/>
            </p:nvSpPr>
            <p:spPr bwMode="auto">
              <a:xfrm flipH="1">
                <a:off x="3600" y="11906"/>
                <a:ext cx="198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9" name="Line 32"/>
              <p:cNvSpPr>
                <a:spLocks noChangeShapeType="1"/>
              </p:cNvSpPr>
              <p:nvPr/>
            </p:nvSpPr>
            <p:spPr bwMode="auto">
              <a:xfrm flipV="1">
                <a:off x="3600" y="9078"/>
                <a:ext cx="0" cy="280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0" name="Line 33"/>
              <p:cNvSpPr>
                <a:spLocks noChangeShapeType="1"/>
              </p:cNvSpPr>
              <p:nvPr/>
            </p:nvSpPr>
            <p:spPr bwMode="auto">
              <a:xfrm flipV="1">
                <a:off x="3690" y="4902"/>
                <a:ext cx="0" cy="358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1" name="Line 34"/>
              <p:cNvSpPr>
                <a:spLocks noChangeShapeType="1"/>
              </p:cNvSpPr>
              <p:nvPr/>
            </p:nvSpPr>
            <p:spPr bwMode="auto">
              <a:xfrm>
                <a:off x="3690" y="4902"/>
                <a:ext cx="198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92" name="Group 35"/>
              <p:cNvGrpSpPr>
                <a:grpSpLocks/>
              </p:cNvGrpSpPr>
              <p:nvPr/>
            </p:nvGrpSpPr>
            <p:grpSpPr bwMode="auto">
              <a:xfrm>
                <a:off x="7845" y="10281"/>
                <a:ext cx="1800" cy="2510"/>
                <a:chOff x="7845" y="10281"/>
                <a:chExt cx="1800" cy="2510"/>
              </a:xfrm>
            </p:grpSpPr>
            <p:sp>
              <p:nvSpPr>
                <p:cNvPr id="193" name="Line 36"/>
                <p:cNvSpPr>
                  <a:spLocks noChangeShapeType="1"/>
                </p:cNvSpPr>
                <p:nvPr/>
              </p:nvSpPr>
              <p:spPr bwMode="auto">
                <a:xfrm>
                  <a:off x="7845" y="10748"/>
                  <a:ext cx="539" cy="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4" name="Line 37"/>
                <p:cNvSpPr>
                  <a:spLocks noChangeShapeType="1"/>
                </p:cNvSpPr>
                <p:nvPr/>
              </p:nvSpPr>
              <p:spPr bwMode="auto">
                <a:xfrm>
                  <a:off x="8925" y="11997"/>
                  <a:ext cx="2" cy="313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5" name="AutoShape 38"/>
                <p:cNvSpPr>
                  <a:spLocks noChangeArrowheads="1"/>
                </p:cNvSpPr>
                <p:nvPr/>
              </p:nvSpPr>
              <p:spPr bwMode="auto">
                <a:xfrm>
                  <a:off x="8448" y="12311"/>
                  <a:ext cx="1080" cy="480"/>
                </a:xfrm>
                <a:prstGeom prst="flowChartTerminator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lnSpc>
                      <a:spcPct val="96000"/>
                    </a:lnSpc>
                  </a:pPr>
                  <a:r>
                    <a:rPr lang="zh-CN" altLang="en-US" sz="1600">
                      <a:latin typeface="Calibri" panose="020F0502020204030204" pitchFamily="34" charset="0"/>
                    </a:rPr>
                    <a:t>结束</a:t>
                  </a:r>
                  <a:endParaRPr lang="zh-CN" altLang="en-US" sz="16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96" name="Rectangle 39"/>
                <p:cNvSpPr>
                  <a:spLocks noChangeArrowheads="1"/>
                </p:cNvSpPr>
                <p:nvPr/>
              </p:nvSpPr>
              <p:spPr bwMode="auto">
                <a:xfrm>
                  <a:off x="7845" y="10281"/>
                  <a:ext cx="540" cy="46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just" eaLnBrk="1" hangingPunct="1"/>
                  <a:r>
                    <a:rPr lang="en-US" altLang="zh-CN" sz="1600">
                      <a:latin typeface="Calibri" panose="020F0502020204030204" pitchFamily="34" charset="0"/>
                    </a:rPr>
                    <a:t>Y</a:t>
                  </a:r>
                  <a:endParaRPr lang="zh-CN" altLang="zh-CN" sz="16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97" name="Rectangle 40"/>
                <p:cNvSpPr>
                  <a:spLocks noChangeArrowheads="1"/>
                </p:cNvSpPr>
                <p:nvPr/>
              </p:nvSpPr>
              <p:spPr bwMode="auto">
                <a:xfrm>
                  <a:off x="8385" y="10438"/>
                  <a:ext cx="1260" cy="544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just" eaLnBrk="1" hangingPunct="1"/>
                  <a:endParaRPr lang="zh-CN" altLang="zh-CN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98" name="AutoShape 41"/>
                <p:cNvSpPr>
                  <a:spLocks noChangeArrowheads="1"/>
                </p:cNvSpPr>
                <p:nvPr/>
              </p:nvSpPr>
              <p:spPr bwMode="auto">
                <a:xfrm>
                  <a:off x="8205" y="11373"/>
                  <a:ext cx="1440" cy="624"/>
                </a:xfrm>
                <a:prstGeom prst="parallelogram">
                  <a:avLst>
                    <a:gd name="adj" fmla="val 57692"/>
                  </a:avLst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1600" i="1">
                      <a:latin typeface="Calibri" panose="020F0502020204030204" pitchFamily="34" charset="0"/>
                    </a:rPr>
                    <a:t>X</a:t>
                  </a:r>
                  <a:r>
                    <a:rPr lang="en-US" altLang="zh-CN" sz="1600" i="1" baseline="30000">
                      <a:latin typeface="Calibri" panose="020F0502020204030204" pitchFamily="34" charset="0"/>
                    </a:rPr>
                    <a:t>*</a:t>
                  </a:r>
                  <a:endParaRPr lang="zh-CN" altLang="zh-CN" sz="16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99" name="Line 42"/>
                <p:cNvSpPr>
                  <a:spLocks noChangeShapeType="1"/>
                </p:cNvSpPr>
                <p:nvPr/>
              </p:nvSpPr>
              <p:spPr bwMode="auto">
                <a:xfrm>
                  <a:off x="8925" y="11061"/>
                  <a:ext cx="1" cy="31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  <p:graphicFrame>
        <p:nvGraphicFramePr>
          <p:cNvPr id="200" name="Object 43"/>
          <p:cNvGraphicFramePr>
            <a:graphicFrameLocks noChangeAspect="1"/>
          </p:cNvGraphicFramePr>
          <p:nvPr>
            <p:extLst/>
          </p:nvPr>
        </p:nvGraphicFramePr>
        <p:xfrm>
          <a:off x="6434508" y="674704"/>
          <a:ext cx="1568471" cy="2645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426" name="Equation" r:id="rId3" imgW="1282680" imgH="228600" progId="Equation.DSMT4">
                  <p:embed/>
                </p:oleObj>
              </mc:Choice>
              <mc:Fallback>
                <p:oleObj name="Equation" r:id="rId3" imgW="1282680" imgH="228600" progId="Equation.DSMT4">
                  <p:embed/>
                  <p:pic>
                    <p:nvPicPr>
                      <p:cNvPr id="20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34508" y="674704"/>
                        <a:ext cx="1568471" cy="2645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1" name="Object 44"/>
          <p:cNvGraphicFramePr>
            <a:graphicFrameLocks noChangeAspect="1"/>
          </p:cNvGraphicFramePr>
          <p:nvPr>
            <p:extLst/>
          </p:nvPr>
        </p:nvGraphicFramePr>
        <p:xfrm>
          <a:off x="5719136" y="2702341"/>
          <a:ext cx="283593" cy="4642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427" name="Equation" r:id="rId5" imgW="139680" imgH="228600" progId="Equation.DSMT4">
                  <p:embed/>
                </p:oleObj>
              </mc:Choice>
              <mc:Fallback>
                <p:oleObj name="Equation" r:id="rId5" imgW="139680" imgH="228600" progId="Equation.DSMT4">
                  <p:embed/>
                  <p:pic>
                    <p:nvPicPr>
                      <p:cNvPr id="201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9136" y="2702341"/>
                        <a:ext cx="283593" cy="4642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2" name="Object 45"/>
          <p:cNvGraphicFramePr>
            <a:graphicFrameLocks noChangeAspect="1"/>
          </p:cNvGraphicFramePr>
          <p:nvPr>
            <p:extLst/>
          </p:nvPr>
        </p:nvGraphicFramePr>
        <p:xfrm>
          <a:off x="6193849" y="2738708"/>
          <a:ext cx="308941" cy="3913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428" name="Equation" r:id="rId7" imgW="190440" imgH="241200" progId="Equation.DSMT4">
                  <p:embed/>
                </p:oleObj>
              </mc:Choice>
              <mc:Fallback>
                <p:oleObj name="Equation" r:id="rId7" imgW="190440" imgH="241200" progId="Equation.DSMT4">
                  <p:embed/>
                  <p:pic>
                    <p:nvPicPr>
                      <p:cNvPr id="202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3849" y="2738708"/>
                        <a:ext cx="308941" cy="3913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3" name="Object 46"/>
          <p:cNvGraphicFramePr>
            <a:graphicFrameLocks noChangeAspect="1"/>
          </p:cNvGraphicFramePr>
          <p:nvPr>
            <p:extLst/>
          </p:nvPr>
        </p:nvGraphicFramePr>
        <p:xfrm>
          <a:off x="5579262" y="3059237"/>
          <a:ext cx="2566592" cy="3184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429" name="Equation" r:id="rId9" imgW="2222280" imgH="291960" progId="Equation.DSMT4">
                  <p:embed/>
                </p:oleObj>
              </mc:Choice>
              <mc:Fallback>
                <p:oleObj name="Equation" r:id="rId9" imgW="2222280" imgH="291960" progId="Equation.DSMT4">
                  <p:embed/>
                  <p:pic>
                    <p:nvPicPr>
                      <p:cNvPr id="203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9262" y="3059237"/>
                        <a:ext cx="2566592" cy="3184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" name="Object 47"/>
          <p:cNvGraphicFramePr>
            <a:graphicFrameLocks noChangeAspect="1"/>
          </p:cNvGraphicFramePr>
          <p:nvPr>
            <p:extLst/>
          </p:nvPr>
        </p:nvGraphicFramePr>
        <p:xfrm>
          <a:off x="6043839" y="3724431"/>
          <a:ext cx="1497177" cy="3342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430" name="Equation" r:id="rId11" imgW="1155600" imgH="241200" progId="Equation.DSMT4">
                  <p:embed/>
                </p:oleObj>
              </mc:Choice>
              <mc:Fallback>
                <p:oleObj name="Equation" r:id="rId11" imgW="1155600" imgH="241200" progId="Equation.DSMT4">
                  <p:embed/>
                  <p:pic>
                    <p:nvPicPr>
                      <p:cNvPr id="204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3839" y="3724431"/>
                        <a:ext cx="1497177" cy="3342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" name="Object 9"/>
          <p:cNvGraphicFramePr>
            <a:graphicFrameLocks noChangeAspect="1"/>
          </p:cNvGraphicFramePr>
          <p:nvPr>
            <p:extLst/>
          </p:nvPr>
        </p:nvGraphicFramePr>
        <p:xfrm>
          <a:off x="6094871" y="5299275"/>
          <a:ext cx="1614419" cy="3564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431" name="Equation" r:id="rId13" imgW="1079280" imgH="241200" progId="Equation.DSMT4">
                  <p:embed/>
                </p:oleObj>
              </mc:Choice>
              <mc:Fallback>
                <p:oleObj name="Equation" r:id="rId13" imgW="1079280" imgH="241200" progId="Equation.DSMT4">
                  <p:embed/>
                  <p:pic>
                    <p:nvPicPr>
                      <p:cNvPr id="205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4871" y="5299275"/>
                        <a:ext cx="1614419" cy="35647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" name="Object 49"/>
          <p:cNvGraphicFramePr>
            <a:graphicFrameLocks noChangeAspect="1"/>
          </p:cNvGraphicFramePr>
          <p:nvPr>
            <p:extLst/>
          </p:nvPr>
        </p:nvGraphicFramePr>
        <p:xfrm>
          <a:off x="6433070" y="6091374"/>
          <a:ext cx="855533" cy="3247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432" name="Equation" r:id="rId15" imgW="634680" imgH="241200" progId="Equation.DSMT4">
                  <p:embed/>
                </p:oleObj>
              </mc:Choice>
              <mc:Fallback>
                <p:oleObj name="Equation" r:id="rId15" imgW="634680" imgH="241200" progId="Equation.DSMT4">
                  <p:embed/>
                  <p:pic>
                    <p:nvPicPr>
                      <p:cNvPr id="206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33070" y="6091374"/>
                        <a:ext cx="855533" cy="3247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7" name="Object 10"/>
          <p:cNvGraphicFramePr>
            <a:graphicFrameLocks noChangeAspect="1"/>
          </p:cNvGraphicFramePr>
          <p:nvPr>
            <p:extLst/>
          </p:nvPr>
        </p:nvGraphicFramePr>
        <p:xfrm>
          <a:off x="8244409" y="5286505"/>
          <a:ext cx="855532" cy="3216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433" name="Equation" r:id="rId17" imgW="634680" imgH="241200" progId="Equation.DSMT4">
                  <p:embed/>
                </p:oleObj>
              </mc:Choice>
              <mc:Fallback>
                <p:oleObj name="Equation" r:id="rId17" imgW="634680" imgH="241200" progId="Equation.DSMT4">
                  <p:embed/>
                  <p:pic>
                    <p:nvPicPr>
                      <p:cNvPr id="207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44409" y="5286505"/>
                        <a:ext cx="855532" cy="32161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88494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3"/>
          <p:cNvSpPr>
            <a:spLocks noGrp="1"/>
          </p:cNvSpPr>
          <p:nvPr>
            <p:ph type="title"/>
          </p:nvPr>
        </p:nvSpPr>
        <p:spPr>
          <a:xfrm>
            <a:off x="2928926" y="142852"/>
            <a:ext cx="6215073" cy="549844"/>
          </a:xfrm>
        </p:spPr>
        <p:txBody>
          <a:bodyPr/>
          <a:lstStyle/>
          <a:p>
            <a:r>
              <a:rPr lang="zh-CN" altLang="en-US" sz="3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第五章 无约束最优化方法</a:t>
            </a:r>
            <a:endParaRPr kumimoji="1"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36228" y="980728"/>
            <a:ext cx="82809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zh-CN" altLang="en-US" sz="2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单形替换法基本原理</a:t>
            </a:r>
            <a:endParaRPr lang="zh-CN" altLang="en-US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Rectangle 246"/>
          <p:cNvSpPr txBox="1">
            <a:spLocks noChangeArrowheads="1"/>
          </p:cNvSpPr>
          <p:nvPr/>
        </p:nvSpPr>
        <p:spPr>
          <a:xfrm>
            <a:off x="586105" y="1340768"/>
            <a:ext cx="8301355" cy="30975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spcBef>
                <a:spcPct val="20000"/>
              </a:spcBef>
              <a:buClrTx/>
              <a:buSzTx/>
              <a:buFont typeface="Wingdings" panose="05000000000000000000" pitchFamily="2" charset="2"/>
              <a:buNone/>
            </a:pPr>
            <a:endParaRPr lang="zh-CN" altLang="ru-RU" sz="22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71437" y="1467411"/>
            <a:ext cx="9072562" cy="397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Arial" pitchFamily="34" charset="0"/>
              <a:buChar char="•"/>
              <a:defRPr/>
            </a:pPr>
            <a:r>
              <a:rPr lang="zh-CN" altLang="en-US" sz="2800" dirty="0" smtClean="0">
                <a:latin typeface="Arial" charset="0"/>
              </a:rPr>
              <a:t>设</a:t>
            </a:r>
            <a:r>
              <a:rPr lang="zh-CN" altLang="en-US" sz="2800" dirty="0">
                <a:latin typeface="Arial" charset="0"/>
              </a:rPr>
              <a:t>二元函数                      在          平面上取不在同一条 </a:t>
            </a:r>
            <a:endParaRPr lang="en-US" altLang="zh-CN" sz="2800" dirty="0">
              <a:latin typeface="Arial" charset="0"/>
            </a:endParaRPr>
          </a:p>
          <a:p>
            <a:pPr>
              <a:defRPr/>
            </a:pPr>
            <a:r>
              <a:rPr lang="en-US" altLang="zh-CN" sz="2800" dirty="0">
                <a:latin typeface="Arial" charset="0"/>
              </a:rPr>
              <a:t>  </a:t>
            </a:r>
            <a:r>
              <a:rPr lang="zh-CN" altLang="en-US" sz="2800" dirty="0">
                <a:latin typeface="Arial" charset="0"/>
              </a:rPr>
              <a:t>直线上的三个点                 并以它们为顶点构成一单纯   </a:t>
            </a:r>
            <a:endParaRPr lang="en-US" altLang="zh-CN" sz="2800" dirty="0">
              <a:latin typeface="Arial" charset="0"/>
            </a:endParaRPr>
          </a:p>
          <a:p>
            <a:pPr>
              <a:defRPr/>
            </a:pPr>
            <a:r>
              <a:rPr lang="en-US" altLang="zh-CN" sz="2800" dirty="0">
                <a:latin typeface="Arial" charset="0"/>
              </a:rPr>
              <a:t>   </a:t>
            </a:r>
            <a:r>
              <a:rPr lang="zh-CN" altLang="en-US" sz="2800" dirty="0">
                <a:latin typeface="Arial" charset="0"/>
              </a:rPr>
              <a:t>形</a:t>
            </a:r>
            <a:r>
              <a:rPr lang="en-US" altLang="zh-CN" sz="2800" dirty="0">
                <a:latin typeface="Arial" charset="0"/>
              </a:rPr>
              <a:t>——</a:t>
            </a:r>
            <a:r>
              <a:rPr lang="zh-CN" altLang="en-US" sz="2800" dirty="0">
                <a:latin typeface="Arial" charset="0"/>
              </a:rPr>
              <a:t>三角形．算出各顶点的函数值</a:t>
            </a:r>
          </a:p>
          <a:p>
            <a:pPr>
              <a:defRPr/>
            </a:pPr>
            <a:r>
              <a:rPr lang="zh-CN" altLang="en-US" sz="2800" dirty="0">
                <a:latin typeface="Arial" charset="0"/>
              </a:rPr>
              <a:t>  比较其大小，现假定比较后有</a:t>
            </a:r>
            <a:endParaRPr lang="en-US" altLang="zh-CN" sz="2800" dirty="0">
              <a:latin typeface="Arial" charset="0"/>
            </a:endParaRPr>
          </a:p>
          <a:p>
            <a:pPr>
              <a:defRPr/>
            </a:pPr>
            <a:endParaRPr lang="en-US" altLang="zh-CN" sz="2800" dirty="0">
              <a:latin typeface="Arial" charset="0"/>
            </a:endParaRPr>
          </a:p>
          <a:p>
            <a:pPr>
              <a:defRPr/>
            </a:pPr>
            <a:r>
              <a:rPr lang="zh-CN" altLang="en-US" sz="2800" dirty="0">
                <a:latin typeface="Arial" charset="0"/>
              </a:rPr>
              <a:t>   这说明点    最差，点     最好，点      次差．</a:t>
            </a:r>
            <a:endParaRPr lang="en-US" altLang="zh-CN" sz="2800" dirty="0">
              <a:latin typeface="Arial" charset="0"/>
            </a:endParaRPr>
          </a:p>
          <a:p>
            <a:pPr>
              <a:buFont typeface="Arial" pitchFamily="34" charset="0"/>
              <a:buChar char="•"/>
              <a:defRPr/>
            </a:pPr>
            <a:r>
              <a:rPr lang="zh-CN" altLang="en-US" sz="2800" dirty="0">
                <a:latin typeface="Arial" charset="0"/>
              </a:rPr>
              <a:t> 为了寻找极小点，一般来说应向最差点的反对称方向进行搜索．</a:t>
            </a:r>
          </a:p>
          <a:p>
            <a:pPr>
              <a:defRPr/>
            </a:pPr>
            <a:r>
              <a:rPr lang="zh-CN" altLang="en-US" sz="2800" dirty="0">
                <a:latin typeface="Arial" charset="0"/>
              </a:rPr>
              <a:t> </a:t>
            </a:r>
          </a:p>
        </p:txBody>
      </p:sp>
      <p:graphicFrame>
        <p:nvGraphicFramePr>
          <p:cNvPr id="1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4563186"/>
              </p:ext>
            </p:extLst>
          </p:nvPr>
        </p:nvGraphicFramePr>
        <p:xfrm>
          <a:off x="2214563" y="1484213"/>
          <a:ext cx="2071687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458" name="公式" r:id="rId3" imgW="1002865" imgH="203112" progId="Equation.3">
                  <p:embed/>
                </p:oleObj>
              </mc:Choice>
              <mc:Fallback>
                <p:oleObj name="公式" r:id="rId3" imgW="1002865" imgH="203112" progId="Equation.3">
                  <p:embed/>
                  <p:pic>
                    <p:nvPicPr>
                      <p:cNvPr id="1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4563" y="1484213"/>
                        <a:ext cx="2071687" cy="415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2857433"/>
              </p:ext>
            </p:extLst>
          </p:nvPr>
        </p:nvGraphicFramePr>
        <p:xfrm>
          <a:off x="4643438" y="1412776"/>
          <a:ext cx="1071562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459" name="公式" r:id="rId5" imgW="406048" imgH="203024" progId="Equation.3">
                  <p:embed/>
                </p:oleObj>
              </mc:Choice>
              <mc:Fallback>
                <p:oleObj name="公式" r:id="rId5" imgW="406048" imgH="203024" progId="Equation.3">
                  <p:embed/>
                  <p:pic>
                    <p:nvPicPr>
                      <p:cNvPr id="13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1412776"/>
                        <a:ext cx="1071562" cy="4429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628514"/>
              </p:ext>
            </p:extLst>
          </p:nvPr>
        </p:nvGraphicFramePr>
        <p:xfrm>
          <a:off x="2857500" y="1912838"/>
          <a:ext cx="1643063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460" name="Equation" r:id="rId7" imgW="825480" imgH="228600" progId="Equation.DSMT4">
                  <p:embed/>
                </p:oleObj>
              </mc:Choice>
              <mc:Fallback>
                <p:oleObj name="Equation" r:id="rId7" imgW="825480" imgH="228600" progId="Equation.DSMT4">
                  <p:embed/>
                  <p:pic>
                    <p:nvPicPr>
                      <p:cNvPr id="14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00" y="1912838"/>
                        <a:ext cx="1643063" cy="4460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3462388"/>
              </p:ext>
            </p:extLst>
          </p:nvPr>
        </p:nvGraphicFramePr>
        <p:xfrm>
          <a:off x="6215063" y="2319238"/>
          <a:ext cx="2500312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461" name="Equation" r:id="rId9" imgW="1473120" imgH="228600" progId="Equation.DSMT4">
                  <p:embed/>
                </p:oleObj>
              </mc:Choice>
              <mc:Fallback>
                <p:oleObj name="Equation" r:id="rId9" imgW="1473120" imgH="228600" progId="Equation.DSMT4">
                  <p:embed/>
                  <p:pic>
                    <p:nvPicPr>
                      <p:cNvPr id="15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5063" y="2319238"/>
                        <a:ext cx="2500312" cy="450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7897000"/>
              </p:ext>
            </p:extLst>
          </p:nvPr>
        </p:nvGraphicFramePr>
        <p:xfrm>
          <a:off x="2428875" y="3127276"/>
          <a:ext cx="342900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462" name="Equation" r:id="rId11" imgW="1549400" imgH="228600" progId="Equation.DSMT4">
                  <p:embed/>
                </p:oleObj>
              </mc:Choice>
              <mc:Fallback>
                <p:oleObj name="Equation" r:id="rId11" imgW="1549400" imgH="228600" progId="Equation.DSMT4">
                  <p:embed/>
                  <p:pic>
                    <p:nvPicPr>
                      <p:cNvPr id="16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8875" y="3127276"/>
                        <a:ext cx="3429000" cy="504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7561155"/>
              </p:ext>
            </p:extLst>
          </p:nvPr>
        </p:nvGraphicFramePr>
        <p:xfrm>
          <a:off x="1837785" y="3629760"/>
          <a:ext cx="411162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463" name="公式" r:id="rId13" imgW="190417" imgH="203112" progId="Equation.3">
                  <p:embed/>
                </p:oleObj>
              </mc:Choice>
              <mc:Fallback>
                <p:oleObj name="公式" r:id="rId13" imgW="190417" imgH="203112" progId="Equation.3">
                  <p:embed/>
                  <p:pic>
                    <p:nvPicPr>
                      <p:cNvPr id="1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7785" y="3629760"/>
                        <a:ext cx="411162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7748495"/>
              </p:ext>
            </p:extLst>
          </p:nvPr>
        </p:nvGraphicFramePr>
        <p:xfrm>
          <a:off x="3640138" y="3645024"/>
          <a:ext cx="431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464" name="公式" r:id="rId15" imgW="203024" imgH="203024" progId="Equation.3">
                  <p:embed/>
                </p:oleObj>
              </mc:Choice>
              <mc:Fallback>
                <p:oleObj name="公式" r:id="rId15" imgW="203024" imgH="203024" progId="Equation.3">
                  <p:embed/>
                  <p:pic>
                    <p:nvPicPr>
                      <p:cNvPr id="1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0138" y="3645024"/>
                        <a:ext cx="4318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4085846"/>
              </p:ext>
            </p:extLst>
          </p:nvPr>
        </p:nvGraphicFramePr>
        <p:xfrm>
          <a:off x="5568950" y="3645024"/>
          <a:ext cx="503238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465" name="公式" r:id="rId17" imgW="203024" imgH="203024" progId="Equation.3">
                  <p:embed/>
                </p:oleObj>
              </mc:Choice>
              <mc:Fallback>
                <p:oleObj name="公式" r:id="rId17" imgW="203024" imgH="203024" progId="Equation.3">
                  <p:embed/>
                  <p:pic>
                    <p:nvPicPr>
                      <p:cNvPr id="1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8950" y="3645024"/>
                        <a:ext cx="503238" cy="5032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" name="Picture 31" descr="5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93" b="8981"/>
          <a:stretch>
            <a:fillRect/>
          </a:stretch>
        </p:blipFill>
        <p:spPr bwMode="auto">
          <a:xfrm>
            <a:off x="4759523" y="4542216"/>
            <a:ext cx="3857625" cy="218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38705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3"/>
          <p:cNvSpPr>
            <a:spLocks noGrp="1"/>
          </p:cNvSpPr>
          <p:nvPr>
            <p:ph type="title"/>
          </p:nvPr>
        </p:nvSpPr>
        <p:spPr>
          <a:xfrm>
            <a:off x="2928926" y="142852"/>
            <a:ext cx="6215073" cy="549844"/>
          </a:xfrm>
        </p:spPr>
        <p:txBody>
          <a:bodyPr/>
          <a:lstStyle/>
          <a:p>
            <a:r>
              <a:rPr lang="zh-CN" altLang="en-US" sz="3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第五章 无约束最优化方法</a:t>
            </a:r>
            <a:endParaRPr kumimoji="1"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23528" y="836712"/>
            <a:ext cx="8280920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defRPr/>
            </a:pPr>
            <a:endParaRPr lang="zh-CN" altLang="en-US" sz="2800" dirty="0">
              <a:solidFill>
                <a:schemeClr val="tx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88" name="Rectangle 385"/>
          <p:cNvSpPr txBox="1">
            <a:spLocks noChangeArrowheads="1"/>
          </p:cNvSpPr>
          <p:nvPr/>
        </p:nvSpPr>
        <p:spPr>
          <a:xfrm>
            <a:off x="2123728" y="505097"/>
            <a:ext cx="5112569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ru-RU" sz="2400" b="1" dirty="0">
                <a:solidFill>
                  <a:srgbClr val="C00000"/>
                </a:solidFill>
                <a:latin typeface="楷体_GB2312"/>
              </a:rPr>
              <a:t>无约束优化方法</a:t>
            </a:r>
            <a:r>
              <a:rPr lang="ru-RU" altLang="zh-CN" sz="2400" b="1" dirty="0">
                <a:solidFill>
                  <a:srgbClr val="C00000"/>
                </a:solidFill>
                <a:latin typeface="楷体_GB2312"/>
              </a:rPr>
              <a:t>——</a:t>
            </a:r>
            <a:r>
              <a:rPr lang="zh-CN" altLang="ru-RU" sz="2400" b="1" dirty="0">
                <a:solidFill>
                  <a:srgbClr val="C00000"/>
                </a:solidFill>
                <a:latin typeface="楷体_GB2312"/>
              </a:rPr>
              <a:t>间接法总结</a:t>
            </a:r>
          </a:p>
        </p:txBody>
      </p:sp>
      <p:sp>
        <p:nvSpPr>
          <p:cNvPr id="131" name="Rectangle 386"/>
          <p:cNvSpPr txBox="1">
            <a:spLocks noChangeArrowheads="1"/>
          </p:cNvSpPr>
          <p:nvPr/>
        </p:nvSpPr>
        <p:spPr>
          <a:xfrm>
            <a:off x="539552" y="1412776"/>
            <a:ext cx="8208912" cy="489585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ru-RU" altLang="zh-CN" sz="2200" dirty="0">
                <a:latin typeface="楷体_GB2312"/>
              </a:rPr>
              <a:t>1</a:t>
            </a:r>
            <a:r>
              <a:rPr lang="zh-CN" altLang="ru-RU" sz="2200" dirty="0">
                <a:latin typeface="楷体_GB2312"/>
              </a:rPr>
              <a:t>、梯度法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ru-RU" sz="2200" dirty="0">
                <a:latin typeface="楷体_GB2312"/>
              </a:rPr>
              <a:t>    方向   负梯度   用到一阶导数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ru-RU" sz="2200" dirty="0">
                <a:latin typeface="楷体_GB2312"/>
              </a:rPr>
              <a:t>    适合于精度不高或用于复杂函数寻找一个好的初始点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ru-RU" altLang="zh-CN" sz="2200" dirty="0">
                <a:latin typeface="楷体_GB2312"/>
              </a:rPr>
              <a:t>2</a:t>
            </a:r>
            <a:r>
              <a:rPr lang="zh-CN" altLang="ru-RU" sz="2200" dirty="0">
                <a:latin typeface="楷体_GB2312"/>
              </a:rPr>
              <a:t>、牛顿法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ru-RU" sz="2200" dirty="0">
                <a:latin typeface="楷体_GB2312"/>
              </a:rPr>
              <a:t>       用到一阶导数</a:t>
            </a:r>
            <a:r>
              <a:rPr lang="zh-CN" altLang="ru-RU" sz="2200" dirty="0" smtClean="0">
                <a:latin typeface="楷体_GB2312"/>
              </a:rPr>
              <a:t>和</a:t>
            </a:r>
            <a:r>
              <a:rPr lang="en-US" altLang="zh-CN" sz="2200" dirty="0" smtClean="0">
                <a:latin typeface="楷体_GB2312"/>
              </a:rPr>
              <a:t>Hesse</a:t>
            </a:r>
            <a:r>
              <a:rPr lang="zh-CN" altLang="ru-RU" sz="2200" dirty="0" smtClean="0">
                <a:latin typeface="楷体_GB2312"/>
              </a:rPr>
              <a:t>矩阵</a:t>
            </a:r>
            <a:r>
              <a:rPr lang="zh-CN" altLang="ru-RU" sz="2200" dirty="0">
                <a:latin typeface="楷体_GB2312"/>
              </a:rPr>
              <a:t>，具有二次收敛性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ru-RU" sz="2200" dirty="0">
                <a:latin typeface="楷体_GB2312"/>
              </a:rPr>
              <a:t>        </a:t>
            </a:r>
            <a:r>
              <a:rPr lang="zh-CN" altLang="ru-RU" sz="2200" dirty="0" smtClean="0">
                <a:latin typeface="楷体_GB2312"/>
              </a:rPr>
              <a:t>要求</a:t>
            </a:r>
            <a:r>
              <a:rPr lang="en-US" altLang="zh-CN" sz="2200" dirty="0" smtClean="0">
                <a:latin typeface="楷体_GB2312"/>
              </a:rPr>
              <a:t>Hesse</a:t>
            </a:r>
            <a:r>
              <a:rPr lang="zh-CN" altLang="ru-RU" sz="2200" dirty="0" smtClean="0">
                <a:latin typeface="楷体_GB2312"/>
              </a:rPr>
              <a:t>矩阵</a:t>
            </a:r>
            <a:r>
              <a:rPr lang="zh-CN" altLang="en-US" sz="2200" dirty="0" smtClean="0">
                <a:latin typeface="楷体_GB2312"/>
              </a:rPr>
              <a:t>非</a:t>
            </a:r>
            <a:r>
              <a:rPr lang="zh-CN" altLang="ru-RU" sz="2200" dirty="0" smtClean="0">
                <a:latin typeface="楷体_GB2312"/>
              </a:rPr>
              <a:t>奇异</a:t>
            </a:r>
            <a:r>
              <a:rPr lang="zh-CN" altLang="ru-RU" sz="2200" dirty="0">
                <a:latin typeface="楷体_GB2312"/>
              </a:rPr>
              <a:t>，且维数不宜太高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ru-RU" altLang="zh-CN" sz="2200" dirty="0">
                <a:latin typeface="楷体_GB2312"/>
              </a:rPr>
              <a:t>3</a:t>
            </a:r>
            <a:r>
              <a:rPr lang="zh-CN" altLang="ru-RU" sz="2200" dirty="0">
                <a:latin typeface="楷体_GB2312"/>
              </a:rPr>
              <a:t>、共轭梯度法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ru-RU" sz="2200" dirty="0">
                <a:latin typeface="楷体_GB2312"/>
              </a:rPr>
              <a:t>      用到一阶导数，具有二次收敛性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ru-RU" altLang="zh-CN" sz="2200" dirty="0">
                <a:latin typeface="楷体_GB2312"/>
              </a:rPr>
              <a:t>4</a:t>
            </a:r>
            <a:r>
              <a:rPr lang="zh-CN" altLang="ru-RU" sz="2200" dirty="0">
                <a:latin typeface="楷体_GB2312"/>
              </a:rPr>
              <a:t>、变尺度法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ru-RU" sz="2200" dirty="0">
                <a:latin typeface="楷体_GB2312"/>
              </a:rPr>
              <a:t>     收敛快，效果好，被认为是目前最有效的无约束优化方法。适用于维数较高，具有一阶偏导数的目标函数  </a:t>
            </a:r>
          </a:p>
        </p:txBody>
      </p:sp>
    </p:spTree>
    <p:extLst>
      <p:ext uri="{BB962C8B-B14F-4D97-AF65-F5344CB8AC3E}">
        <p14:creationId xmlns:p14="http://schemas.microsoft.com/office/powerpoint/2010/main" val="3085314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childTnLst>
                                    <p:set>
                                      <p:cBhvr additive="base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childTnLst>
                                    <p:set>
                                      <p:cBhvr additive="base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childTnLst>
                                    <p:set>
                                      <p:cBhvr additive="base"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childTnLst>
                                    <p:set>
                                      <p:cBhvr additive="base"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childTnLst>
                                    <p:set>
                                      <p:cBhvr additive="base"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grpId="0" nodeType="clickEffect">
                                  <p:childTnLst>
                                    <p:set>
                                      <p:cBhvr additive="base"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grpId="0" nodeType="clickEffect">
                                  <p:childTnLst>
                                    <p:set>
                                      <p:cBhvr additive="base"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2" fill="hold" grpId="0" nodeType="clickEffect">
                                  <p:childTnLst>
                                    <p:set>
                                      <p:cBhvr additive="base"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2" fill="hold" grpId="0" nodeType="clickEffect">
                                  <p:childTnLst>
                                    <p:set>
                                      <p:cBhvr additive="base"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" grpId="0" uiExpand="1" build="p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3"/>
          <p:cNvSpPr>
            <a:spLocks noGrp="1"/>
          </p:cNvSpPr>
          <p:nvPr>
            <p:ph type="title"/>
          </p:nvPr>
        </p:nvSpPr>
        <p:spPr>
          <a:xfrm>
            <a:off x="2928926" y="142852"/>
            <a:ext cx="6215073" cy="549844"/>
          </a:xfrm>
        </p:spPr>
        <p:txBody>
          <a:bodyPr/>
          <a:lstStyle/>
          <a:p>
            <a:r>
              <a:rPr lang="zh-CN" altLang="en-US" sz="3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第五章 </a:t>
            </a:r>
            <a:r>
              <a:rPr lang="zh-CN" altLang="en-US" sz="36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约束最优化方法</a:t>
            </a:r>
            <a:endParaRPr kumimoji="1"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389"/>
          <p:cNvSpPr txBox="1">
            <a:spLocks noChangeArrowheads="1"/>
          </p:cNvSpPr>
          <p:nvPr/>
        </p:nvSpPr>
        <p:spPr>
          <a:xfrm>
            <a:off x="503238" y="1340768"/>
            <a:ext cx="8640762" cy="5040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ru-RU" altLang="zh-CN" sz="2200" dirty="0">
                <a:latin typeface="楷体_GB2312"/>
              </a:rPr>
              <a:t>1</a:t>
            </a:r>
            <a:r>
              <a:rPr lang="zh-CN" altLang="ru-RU" sz="2200" dirty="0">
                <a:latin typeface="楷体_GB2312"/>
              </a:rPr>
              <a:t>、坐标轮换法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ru-RU" sz="2200" dirty="0">
                <a:latin typeface="楷体_GB2312"/>
              </a:rPr>
              <a:t>    计算效率较低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ru-RU" sz="2200" dirty="0">
                <a:latin typeface="楷体_GB2312"/>
              </a:rPr>
              <a:t>    适合维数较低，目标函数无导数或导数较难求得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200" dirty="0" smtClean="0">
                <a:latin typeface="楷体_GB2312"/>
              </a:rPr>
              <a:t>2</a:t>
            </a:r>
            <a:r>
              <a:rPr lang="zh-CN" altLang="ru-RU" sz="2200" dirty="0" smtClean="0">
                <a:latin typeface="楷体_GB2312"/>
              </a:rPr>
              <a:t>、</a:t>
            </a:r>
            <a:r>
              <a:rPr kumimoji="1"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单形替换</a:t>
            </a:r>
            <a:r>
              <a:rPr lang="zh-CN" altLang="ru-RU" sz="2200" dirty="0">
                <a:latin typeface="楷体_GB2312"/>
              </a:rPr>
              <a:t>法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ru-RU" sz="2200" dirty="0">
                <a:latin typeface="楷体_GB2312"/>
              </a:rPr>
              <a:t>      </a:t>
            </a:r>
            <a:r>
              <a:rPr lang="zh-CN" altLang="en-US" sz="2200" dirty="0" smtClean="0">
                <a:latin typeface="楷体_GB2312"/>
              </a:rPr>
              <a:t>算法直观</a:t>
            </a:r>
            <a:r>
              <a:rPr lang="zh-CN" altLang="ru-RU" sz="2200" dirty="0" smtClean="0">
                <a:latin typeface="楷体_GB2312"/>
              </a:rPr>
              <a:t>，</a:t>
            </a:r>
            <a:r>
              <a:rPr lang="zh-CN" altLang="ru-RU" sz="2200" dirty="0">
                <a:latin typeface="楷体_GB2312"/>
              </a:rPr>
              <a:t>收敛慢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ru-RU" altLang="zh-CN" sz="2200" dirty="0">
              <a:latin typeface="楷体_GB2312"/>
            </a:endParaRPr>
          </a:p>
        </p:txBody>
      </p:sp>
      <p:sp>
        <p:nvSpPr>
          <p:cNvPr id="9" name="Rectangle 390"/>
          <p:cNvSpPr>
            <a:spLocks noChangeArrowheads="1"/>
          </p:cNvSpPr>
          <p:nvPr/>
        </p:nvSpPr>
        <p:spPr bwMode="auto">
          <a:xfrm>
            <a:off x="1907704" y="880393"/>
            <a:ext cx="5440804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buClrTx/>
              <a:buSzTx/>
              <a:buFontTx/>
            </a:pPr>
            <a:r>
              <a:rPr lang="zh-CN" altLang="ru-RU" sz="2400" b="1" dirty="0">
                <a:solidFill>
                  <a:srgbClr val="C00000"/>
                </a:solidFill>
                <a:latin typeface="楷体_GB2312"/>
                <a:ea typeface="+mj-ea"/>
                <a:cs typeface="+mj-cs"/>
              </a:rPr>
              <a:t>无约束优化方法——直接法总结</a:t>
            </a:r>
          </a:p>
        </p:txBody>
      </p:sp>
    </p:spTree>
    <p:extLst>
      <p:ext uri="{BB962C8B-B14F-4D97-AF65-F5344CB8AC3E}">
        <p14:creationId xmlns:p14="http://schemas.microsoft.com/office/powerpoint/2010/main" val="3177773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childTnLst>
                                    <p:set>
                                      <p:cBhvr additive="base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childTnLst>
                                    <p:set>
                                      <p:cBhvr additive="base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childTnLst>
                                    <p:set>
                                      <p:cBhvr additive="base"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childTnLst>
                                    <p:set>
                                      <p:cBhvr additive="base"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928927" y="116632"/>
            <a:ext cx="6072230" cy="608814"/>
          </a:xfrm>
        </p:spPr>
        <p:txBody>
          <a:bodyPr/>
          <a:lstStyle/>
          <a:p>
            <a:r>
              <a:rPr lang="zh-CN" altLang="en-US" sz="3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第六章 常用约束最优化方法</a:t>
            </a:r>
            <a:endParaRPr lang="zh-CN" altLang="en-US" sz="3600" dirty="0"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Line 2">
            <a:extLst>
              <a:ext uri="{FF2B5EF4-FFF2-40B4-BE49-F238E27FC236}">
                <a16:creationId xmlns:a16="http://schemas.microsoft.com/office/drawing/2014/main" id="{297904ED-52AF-47C5-8401-2B499C96C7E5}"/>
              </a:ext>
            </a:extLst>
          </p:cNvPr>
          <p:cNvSpPr>
            <a:spLocks noChangeShapeType="1"/>
          </p:cNvSpPr>
          <p:nvPr/>
        </p:nvSpPr>
        <p:spPr bwMode="auto">
          <a:xfrm>
            <a:off x="1456308" y="5456213"/>
            <a:ext cx="6934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Line 3">
            <a:extLst>
              <a:ext uri="{FF2B5EF4-FFF2-40B4-BE49-F238E27FC236}">
                <a16:creationId xmlns:a16="http://schemas.microsoft.com/office/drawing/2014/main" id="{60BB2109-51F7-4211-9A99-70B0A45D52B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94508" y="2408213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Freeform 4">
            <a:extLst>
              <a:ext uri="{FF2B5EF4-FFF2-40B4-BE49-F238E27FC236}">
                <a16:creationId xmlns:a16="http://schemas.microsoft.com/office/drawing/2014/main" id="{13C6A7BB-666C-4C97-81B2-1E57098EFF5B}"/>
              </a:ext>
            </a:extLst>
          </p:cNvPr>
          <p:cNvSpPr>
            <a:spLocks/>
          </p:cNvSpPr>
          <p:nvPr/>
        </p:nvSpPr>
        <p:spPr bwMode="auto">
          <a:xfrm>
            <a:off x="2877121" y="4187800"/>
            <a:ext cx="4756150" cy="2466975"/>
          </a:xfrm>
          <a:custGeom>
            <a:avLst/>
            <a:gdLst>
              <a:gd name="T0" fmla="*/ 0 w 2996"/>
              <a:gd name="T1" fmla="*/ 2147483647 h 1554"/>
              <a:gd name="T2" fmla="*/ 2147483647 w 2996"/>
              <a:gd name="T3" fmla="*/ 2147483647 h 1554"/>
              <a:gd name="T4" fmla="*/ 2147483647 w 2996"/>
              <a:gd name="T5" fmla="*/ 2147483647 h 1554"/>
              <a:gd name="T6" fmla="*/ 2147483647 w 2996"/>
              <a:gd name="T7" fmla="*/ 2147483647 h 1554"/>
              <a:gd name="T8" fmla="*/ 2147483647 w 2996"/>
              <a:gd name="T9" fmla="*/ 2147483647 h 1554"/>
              <a:gd name="T10" fmla="*/ 2147483647 w 2996"/>
              <a:gd name="T11" fmla="*/ 2147483647 h 1554"/>
              <a:gd name="T12" fmla="*/ 2147483647 w 2996"/>
              <a:gd name="T13" fmla="*/ 2147483647 h 1554"/>
              <a:gd name="T14" fmla="*/ 2147483647 w 2996"/>
              <a:gd name="T15" fmla="*/ 2147483647 h 1554"/>
              <a:gd name="T16" fmla="*/ 2147483647 w 2996"/>
              <a:gd name="T17" fmla="*/ 2147483647 h 1554"/>
              <a:gd name="T18" fmla="*/ 2147483647 w 2996"/>
              <a:gd name="T19" fmla="*/ 2147483647 h 1554"/>
              <a:gd name="T20" fmla="*/ 2147483647 w 2996"/>
              <a:gd name="T21" fmla="*/ 2147483647 h 1554"/>
              <a:gd name="T22" fmla="*/ 2147483647 w 2996"/>
              <a:gd name="T23" fmla="*/ 2147483647 h 1554"/>
              <a:gd name="T24" fmla="*/ 2147483647 w 2996"/>
              <a:gd name="T25" fmla="*/ 2147483647 h 1554"/>
              <a:gd name="T26" fmla="*/ 2147483647 w 2996"/>
              <a:gd name="T27" fmla="*/ 2147483647 h 1554"/>
              <a:gd name="T28" fmla="*/ 2147483647 w 2996"/>
              <a:gd name="T29" fmla="*/ 2147483647 h 1554"/>
              <a:gd name="T30" fmla="*/ 2147483647 w 2996"/>
              <a:gd name="T31" fmla="*/ 2147483647 h 1554"/>
              <a:gd name="T32" fmla="*/ 2147483647 w 2996"/>
              <a:gd name="T33" fmla="*/ 2147483647 h 1554"/>
              <a:gd name="T34" fmla="*/ 2147483647 w 2996"/>
              <a:gd name="T35" fmla="*/ 2147483647 h 1554"/>
              <a:gd name="T36" fmla="*/ 2147483647 w 2996"/>
              <a:gd name="T37" fmla="*/ 2147483647 h 1554"/>
              <a:gd name="T38" fmla="*/ 2147483647 w 2996"/>
              <a:gd name="T39" fmla="*/ 2147483647 h 1554"/>
              <a:gd name="T40" fmla="*/ 2147483647 w 2996"/>
              <a:gd name="T41" fmla="*/ 2147483647 h 1554"/>
              <a:gd name="T42" fmla="*/ 2147483647 w 2996"/>
              <a:gd name="T43" fmla="*/ 2147483647 h 1554"/>
              <a:gd name="T44" fmla="*/ 2147483647 w 2996"/>
              <a:gd name="T45" fmla="*/ 2147483647 h 1554"/>
              <a:gd name="T46" fmla="*/ 2147483647 w 2996"/>
              <a:gd name="T47" fmla="*/ 2147483647 h 1554"/>
              <a:gd name="T48" fmla="*/ 2147483647 w 2996"/>
              <a:gd name="T49" fmla="*/ 2147483647 h 1554"/>
              <a:gd name="T50" fmla="*/ 2147483647 w 2996"/>
              <a:gd name="T51" fmla="*/ 2147483647 h 1554"/>
              <a:gd name="T52" fmla="*/ 2147483647 w 2996"/>
              <a:gd name="T53" fmla="*/ 2147483647 h 1554"/>
              <a:gd name="T54" fmla="*/ 2147483647 w 2996"/>
              <a:gd name="T55" fmla="*/ 2147483647 h 1554"/>
              <a:gd name="T56" fmla="*/ 2147483647 w 2996"/>
              <a:gd name="T57" fmla="*/ 2147483647 h 1554"/>
              <a:gd name="T58" fmla="*/ 2147483647 w 2996"/>
              <a:gd name="T59" fmla="*/ 2147483647 h 1554"/>
              <a:gd name="T60" fmla="*/ 2147483647 w 2996"/>
              <a:gd name="T61" fmla="*/ 2147483647 h 1554"/>
              <a:gd name="T62" fmla="*/ 2147483647 w 2996"/>
              <a:gd name="T63" fmla="*/ 2147483647 h 1554"/>
              <a:gd name="T64" fmla="*/ 2147483647 w 2996"/>
              <a:gd name="T65" fmla="*/ 2147483647 h 1554"/>
              <a:gd name="T66" fmla="*/ 2147483647 w 2996"/>
              <a:gd name="T67" fmla="*/ 2147483647 h 1554"/>
              <a:gd name="T68" fmla="*/ 2147483647 w 2996"/>
              <a:gd name="T69" fmla="*/ 2147483647 h 1554"/>
              <a:gd name="T70" fmla="*/ 2147483647 w 2996"/>
              <a:gd name="T71" fmla="*/ 2147483647 h 1554"/>
              <a:gd name="T72" fmla="*/ 2147483647 w 2996"/>
              <a:gd name="T73" fmla="*/ 2147483647 h 1554"/>
              <a:gd name="T74" fmla="*/ 2147483647 w 2996"/>
              <a:gd name="T75" fmla="*/ 2147483647 h 1554"/>
              <a:gd name="T76" fmla="*/ 2147483647 w 2996"/>
              <a:gd name="T77" fmla="*/ 2147483647 h 1554"/>
              <a:gd name="T78" fmla="*/ 2147483647 w 2996"/>
              <a:gd name="T79" fmla="*/ 2147483647 h 1554"/>
              <a:gd name="T80" fmla="*/ 2147483647 w 2996"/>
              <a:gd name="T81" fmla="*/ 2147483647 h 1554"/>
              <a:gd name="T82" fmla="*/ 2147483647 w 2996"/>
              <a:gd name="T83" fmla="*/ 2147483647 h 1554"/>
              <a:gd name="T84" fmla="*/ 2147483647 w 2996"/>
              <a:gd name="T85" fmla="*/ 2147483647 h 1554"/>
              <a:gd name="T86" fmla="*/ 2147483647 w 2996"/>
              <a:gd name="T87" fmla="*/ 2147483647 h 1554"/>
              <a:gd name="T88" fmla="*/ 2147483647 w 2996"/>
              <a:gd name="T89" fmla="*/ 2147483647 h 1554"/>
              <a:gd name="T90" fmla="*/ 2147483647 w 2996"/>
              <a:gd name="T91" fmla="*/ 2147483647 h 1554"/>
              <a:gd name="T92" fmla="*/ 2147483647 w 2996"/>
              <a:gd name="T93" fmla="*/ 2147483647 h 1554"/>
              <a:gd name="T94" fmla="*/ 2147483647 w 2996"/>
              <a:gd name="T95" fmla="*/ 2147483647 h 1554"/>
              <a:gd name="T96" fmla="*/ 2147483647 w 2996"/>
              <a:gd name="T97" fmla="*/ 2147483647 h 1554"/>
              <a:gd name="T98" fmla="*/ 2147483647 w 2996"/>
              <a:gd name="T99" fmla="*/ 2147483647 h 1554"/>
              <a:gd name="T100" fmla="*/ 2147483647 w 2996"/>
              <a:gd name="T101" fmla="*/ 2147483647 h 1554"/>
              <a:gd name="T102" fmla="*/ 2147483647 w 2996"/>
              <a:gd name="T103" fmla="*/ 2147483647 h 1554"/>
              <a:gd name="T104" fmla="*/ 2147483647 w 2996"/>
              <a:gd name="T105" fmla="*/ 2147483647 h 1554"/>
              <a:gd name="T106" fmla="*/ 2147483647 w 2996"/>
              <a:gd name="T107" fmla="*/ 2147483647 h 1554"/>
              <a:gd name="T108" fmla="*/ 2147483647 w 2996"/>
              <a:gd name="T109" fmla="*/ 2147483647 h 1554"/>
              <a:gd name="T110" fmla="*/ 2147483647 w 2996"/>
              <a:gd name="T111" fmla="*/ 2147483647 h 1554"/>
              <a:gd name="T112" fmla="*/ 2147483647 w 2996"/>
              <a:gd name="T113" fmla="*/ 2147483647 h 1554"/>
              <a:gd name="T114" fmla="*/ 2147483647 w 2996"/>
              <a:gd name="T115" fmla="*/ 2147483647 h 1554"/>
              <a:gd name="T116" fmla="*/ 2147483647 w 2996"/>
              <a:gd name="T117" fmla="*/ 2147483647 h 1554"/>
              <a:gd name="T118" fmla="*/ 2147483647 w 2996"/>
              <a:gd name="T119" fmla="*/ 0 h 1554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w 2996"/>
              <a:gd name="T181" fmla="*/ 0 h 1554"/>
              <a:gd name="T182" fmla="*/ 2996 w 2996"/>
              <a:gd name="T183" fmla="*/ 1554 h 1554"/>
            </a:gdLst>
            <a:ahLst/>
            <a:cxnLst>
              <a:cxn ang="T120">
                <a:pos x="T0" y="T1"/>
              </a:cxn>
              <a:cxn ang="T121">
                <a:pos x="T2" y="T3"/>
              </a:cxn>
              <a:cxn ang="T122">
                <a:pos x="T4" y="T5"/>
              </a:cxn>
              <a:cxn ang="T123">
                <a:pos x="T6" y="T7"/>
              </a:cxn>
              <a:cxn ang="T124">
                <a:pos x="T8" y="T9"/>
              </a:cxn>
              <a:cxn ang="T125">
                <a:pos x="T10" y="T11"/>
              </a:cxn>
              <a:cxn ang="T126">
                <a:pos x="T12" y="T13"/>
              </a:cxn>
              <a:cxn ang="T127">
                <a:pos x="T14" y="T15"/>
              </a:cxn>
              <a:cxn ang="T128">
                <a:pos x="T16" y="T17"/>
              </a:cxn>
              <a:cxn ang="T129">
                <a:pos x="T18" y="T19"/>
              </a:cxn>
              <a:cxn ang="T130">
                <a:pos x="T20" y="T21"/>
              </a:cxn>
              <a:cxn ang="T131">
                <a:pos x="T22" y="T23"/>
              </a:cxn>
              <a:cxn ang="T132">
                <a:pos x="T24" y="T25"/>
              </a:cxn>
              <a:cxn ang="T133">
                <a:pos x="T26" y="T27"/>
              </a:cxn>
              <a:cxn ang="T134">
                <a:pos x="T28" y="T29"/>
              </a:cxn>
              <a:cxn ang="T135">
                <a:pos x="T30" y="T31"/>
              </a:cxn>
              <a:cxn ang="T136">
                <a:pos x="T32" y="T33"/>
              </a:cxn>
              <a:cxn ang="T137">
                <a:pos x="T34" y="T35"/>
              </a:cxn>
              <a:cxn ang="T138">
                <a:pos x="T36" y="T37"/>
              </a:cxn>
              <a:cxn ang="T139">
                <a:pos x="T38" y="T39"/>
              </a:cxn>
              <a:cxn ang="T140">
                <a:pos x="T40" y="T41"/>
              </a:cxn>
              <a:cxn ang="T141">
                <a:pos x="T42" y="T43"/>
              </a:cxn>
              <a:cxn ang="T142">
                <a:pos x="T44" y="T45"/>
              </a:cxn>
              <a:cxn ang="T143">
                <a:pos x="T46" y="T47"/>
              </a:cxn>
              <a:cxn ang="T144">
                <a:pos x="T48" y="T49"/>
              </a:cxn>
              <a:cxn ang="T145">
                <a:pos x="T50" y="T51"/>
              </a:cxn>
              <a:cxn ang="T146">
                <a:pos x="T52" y="T53"/>
              </a:cxn>
              <a:cxn ang="T147">
                <a:pos x="T54" y="T55"/>
              </a:cxn>
              <a:cxn ang="T148">
                <a:pos x="T56" y="T57"/>
              </a:cxn>
              <a:cxn ang="T149">
                <a:pos x="T58" y="T59"/>
              </a:cxn>
              <a:cxn ang="T150">
                <a:pos x="T60" y="T61"/>
              </a:cxn>
              <a:cxn ang="T151">
                <a:pos x="T62" y="T63"/>
              </a:cxn>
              <a:cxn ang="T152">
                <a:pos x="T64" y="T65"/>
              </a:cxn>
              <a:cxn ang="T153">
                <a:pos x="T66" y="T67"/>
              </a:cxn>
              <a:cxn ang="T154">
                <a:pos x="T68" y="T69"/>
              </a:cxn>
              <a:cxn ang="T155">
                <a:pos x="T70" y="T71"/>
              </a:cxn>
              <a:cxn ang="T156">
                <a:pos x="T72" y="T73"/>
              </a:cxn>
              <a:cxn ang="T157">
                <a:pos x="T74" y="T75"/>
              </a:cxn>
              <a:cxn ang="T158">
                <a:pos x="T76" y="T77"/>
              </a:cxn>
              <a:cxn ang="T159">
                <a:pos x="T78" y="T79"/>
              </a:cxn>
              <a:cxn ang="T160">
                <a:pos x="T80" y="T81"/>
              </a:cxn>
              <a:cxn ang="T161">
                <a:pos x="T82" y="T83"/>
              </a:cxn>
              <a:cxn ang="T162">
                <a:pos x="T84" y="T85"/>
              </a:cxn>
              <a:cxn ang="T163">
                <a:pos x="T86" y="T87"/>
              </a:cxn>
              <a:cxn ang="T164">
                <a:pos x="T88" y="T89"/>
              </a:cxn>
              <a:cxn ang="T165">
                <a:pos x="T90" y="T91"/>
              </a:cxn>
              <a:cxn ang="T166">
                <a:pos x="T92" y="T93"/>
              </a:cxn>
              <a:cxn ang="T167">
                <a:pos x="T94" y="T95"/>
              </a:cxn>
              <a:cxn ang="T168">
                <a:pos x="T96" y="T97"/>
              </a:cxn>
              <a:cxn ang="T169">
                <a:pos x="T98" y="T99"/>
              </a:cxn>
              <a:cxn ang="T170">
                <a:pos x="T100" y="T101"/>
              </a:cxn>
              <a:cxn ang="T171">
                <a:pos x="T102" y="T103"/>
              </a:cxn>
              <a:cxn ang="T172">
                <a:pos x="T104" y="T105"/>
              </a:cxn>
              <a:cxn ang="T173">
                <a:pos x="T106" y="T107"/>
              </a:cxn>
              <a:cxn ang="T174">
                <a:pos x="T108" y="T109"/>
              </a:cxn>
              <a:cxn ang="T175">
                <a:pos x="T110" y="T111"/>
              </a:cxn>
              <a:cxn ang="T176">
                <a:pos x="T112" y="T113"/>
              </a:cxn>
              <a:cxn ang="T177">
                <a:pos x="T114" y="T115"/>
              </a:cxn>
              <a:cxn ang="T178">
                <a:pos x="T116" y="T117"/>
              </a:cxn>
              <a:cxn ang="T179">
                <a:pos x="T118" y="T119"/>
              </a:cxn>
            </a:cxnLst>
            <a:rect l="T180" t="T181" r="T182" b="T183"/>
            <a:pathLst>
              <a:path w="2996" h="1554">
                <a:moveTo>
                  <a:pt x="0" y="192"/>
                </a:moveTo>
                <a:cubicBezTo>
                  <a:pt x="37" y="181"/>
                  <a:pt x="28" y="179"/>
                  <a:pt x="78" y="192"/>
                </a:cubicBezTo>
                <a:cubicBezTo>
                  <a:pt x="96" y="196"/>
                  <a:pt x="130" y="210"/>
                  <a:pt x="130" y="210"/>
                </a:cubicBezTo>
                <a:cubicBezTo>
                  <a:pt x="166" y="244"/>
                  <a:pt x="212" y="268"/>
                  <a:pt x="244" y="306"/>
                </a:cubicBezTo>
                <a:cubicBezTo>
                  <a:pt x="251" y="314"/>
                  <a:pt x="256" y="323"/>
                  <a:pt x="261" y="332"/>
                </a:cubicBezTo>
                <a:cubicBezTo>
                  <a:pt x="265" y="340"/>
                  <a:pt x="264" y="351"/>
                  <a:pt x="270" y="358"/>
                </a:cubicBezTo>
                <a:cubicBezTo>
                  <a:pt x="296" y="392"/>
                  <a:pt x="315" y="393"/>
                  <a:pt x="331" y="428"/>
                </a:cubicBezTo>
                <a:cubicBezTo>
                  <a:pt x="353" y="477"/>
                  <a:pt x="366" y="534"/>
                  <a:pt x="384" y="585"/>
                </a:cubicBezTo>
                <a:cubicBezTo>
                  <a:pt x="395" y="618"/>
                  <a:pt x="415" y="649"/>
                  <a:pt x="427" y="681"/>
                </a:cubicBezTo>
                <a:cubicBezTo>
                  <a:pt x="442" y="722"/>
                  <a:pt x="448" y="773"/>
                  <a:pt x="480" y="803"/>
                </a:cubicBezTo>
                <a:cubicBezTo>
                  <a:pt x="499" y="841"/>
                  <a:pt x="513" y="880"/>
                  <a:pt x="532" y="917"/>
                </a:cubicBezTo>
                <a:cubicBezTo>
                  <a:pt x="550" y="951"/>
                  <a:pt x="547" y="984"/>
                  <a:pt x="576" y="1013"/>
                </a:cubicBezTo>
                <a:cubicBezTo>
                  <a:pt x="585" y="1042"/>
                  <a:pt x="589" y="1061"/>
                  <a:pt x="610" y="1083"/>
                </a:cubicBezTo>
                <a:cubicBezTo>
                  <a:pt x="620" y="1112"/>
                  <a:pt x="633" y="1122"/>
                  <a:pt x="654" y="1144"/>
                </a:cubicBezTo>
                <a:cubicBezTo>
                  <a:pt x="675" y="1206"/>
                  <a:pt x="645" y="1131"/>
                  <a:pt x="689" y="1196"/>
                </a:cubicBezTo>
                <a:cubicBezTo>
                  <a:pt x="739" y="1271"/>
                  <a:pt x="657" y="1179"/>
                  <a:pt x="715" y="1240"/>
                </a:cubicBezTo>
                <a:cubicBezTo>
                  <a:pt x="736" y="1300"/>
                  <a:pt x="720" y="1279"/>
                  <a:pt x="750" y="1310"/>
                </a:cubicBezTo>
                <a:cubicBezTo>
                  <a:pt x="771" y="1372"/>
                  <a:pt x="753" y="1352"/>
                  <a:pt x="794" y="1379"/>
                </a:cubicBezTo>
                <a:cubicBezTo>
                  <a:pt x="810" y="1432"/>
                  <a:pt x="855" y="1475"/>
                  <a:pt x="907" y="1493"/>
                </a:cubicBezTo>
                <a:cubicBezTo>
                  <a:pt x="955" y="1538"/>
                  <a:pt x="972" y="1540"/>
                  <a:pt x="1038" y="1554"/>
                </a:cubicBezTo>
                <a:cubicBezTo>
                  <a:pt x="1058" y="1551"/>
                  <a:pt x="1079" y="1549"/>
                  <a:pt x="1099" y="1545"/>
                </a:cubicBezTo>
                <a:cubicBezTo>
                  <a:pt x="1152" y="1534"/>
                  <a:pt x="1154" y="1483"/>
                  <a:pt x="1186" y="1449"/>
                </a:cubicBezTo>
                <a:cubicBezTo>
                  <a:pt x="1189" y="1440"/>
                  <a:pt x="1191" y="1431"/>
                  <a:pt x="1195" y="1423"/>
                </a:cubicBezTo>
                <a:cubicBezTo>
                  <a:pt x="1200" y="1414"/>
                  <a:pt x="1209" y="1407"/>
                  <a:pt x="1213" y="1397"/>
                </a:cubicBezTo>
                <a:cubicBezTo>
                  <a:pt x="1224" y="1372"/>
                  <a:pt x="1230" y="1344"/>
                  <a:pt x="1239" y="1318"/>
                </a:cubicBezTo>
                <a:cubicBezTo>
                  <a:pt x="1242" y="1308"/>
                  <a:pt x="1252" y="1301"/>
                  <a:pt x="1256" y="1292"/>
                </a:cubicBezTo>
                <a:cubicBezTo>
                  <a:pt x="1288" y="1220"/>
                  <a:pt x="1256" y="1259"/>
                  <a:pt x="1291" y="1222"/>
                </a:cubicBezTo>
                <a:cubicBezTo>
                  <a:pt x="1306" y="1178"/>
                  <a:pt x="1320" y="1135"/>
                  <a:pt x="1335" y="1091"/>
                </a:cubicBezTo>
                <a:cubicBezTo>
                  <a:pt x="1338" y="1081"/>
                  <a:pt x="1348" y="1074"/>
                  <a:pt x="1352" y="1065"/>
                </a:cubicBezTo>
                <a:cubicBezTo>
                  <a:pt x="1360" y="1048"/>
                  <a:pt x="1364" y="1030"/>
                  <a:pt x="1370" y="1013"/>
                </a:cubicBezTo>
                <a:cubicBezTo>
                  <a:pt x="1386" y="963"/>
                  <a:pt x="1395" y="880"/>
                  <a:pt x="1422" y="838"/>
                </a:cubicBezTo>
                <a:cubicBezTo>
                  <a:pt x="1431" y="824"/>
                  <a:pt x="1446" y="815"/>
                  <a:pt x="1457" y="803"/>
                </a:cubicBezTo>
                <a:cubicBezTo>
                  <a:pt x="1465" y="805"/>
                  <a:pt x="1508" y="815"/>
                  <a:pt x="1518" y="821"/>
                </a:cubicBezTo>
                <a:cubicBezTo>
                  <a:pt x="1548" y="839"/>
                  <a:pt x="1563" y="876"/>
                  <a:pt x="1588" y="899"/>
                </a:cubicBezTo>
                <a:cubicBezTo>
                  <a:pt x="1596" y="925"/>
                  <a:pt x="1599" y="955"/>
                  <a:pt x="1614" y="978"/>
                </a:cubicBezTo>
                <a:cubicBezTo>
                  <a:pt x="1623" y="992"/>
                  <a:pt x="1639" y="1000"/>
                  <a:pt x="1649" y="1013"/>
                </a:cubicBezTo>
                <a:cubicBezTo>
                  <a:pt x="1674" y="1045"/>
                  <a:pt x="1689" y="1070"/>
                  <a:pt x="1728" y="1083"/>
                </a:cubicBezTo>
                <a:cubicBezTo>
                  <a:pt x="1734" y="1092"/>
                  <a:pt x="1737" y="1102"/>
                  <a:pt x="1745" y="1109"/>
                </a:cubicBezTo>
                <a:cubicBezTo>
                  <a:pt x="1765" y="1125"/>
                  <a:pt x="1842" y="1142"/>
                  <a:pt x="1876" y="1152"/>
                </a:cubicBezTo>
                <a:cubicBezTo>
                  <a:pt x="1954" y="1146"/>
                  <a:pt x="1998" y="1155"/>
                  <a:pt x="2050" y="1100"/>
                </a:cubicBezTo>
                <a:cubicBezTo>
                  <a:pt x="2071" y="1040"/>
                  <a:pt x="2055" y="1061"/>
                  <a:pt x="2085" y="1030"/>
                </a:cubicBezTo>
                <a:cubicBezTo>
                  <a:pt x="2106" y="970"/>
                  <a:pt x="2090" y="991"/>
                  <a:pt x="2120" y="960"/>
                </a:cubicBezTo>
                <a:cubicBezTo>
                  <a:pt x="2129" y="934"/>
                  <a:pt x="2132" y="906"/>
                  <a:pt x="2146" y="882"/>
                </a:cubicBezTo>
                <a:cubicBezTo>
                  <a:pt x="2178" y="829"/>
                  <a:pt x="2273" y="745"/>
                  <a:pt x="2330" y="725"/>
                </a:cubicBezTo>
                <a:cubicBezTo>
                  <a:pt x="2351" y="703"/>
                  <a:pt x="2362" y="691"/>
                  <a:pt x="2391" y="681"/>
                </a:cubicBezTo>
                <a:cubicBezTo>
                  <a:pt x="2424" y="631"/>
                  <a:pt x="2389" y="673"/>
                  <a:pt x="2434" y="646"/>
                </a:cubicBezTo>
                <a:cubicBezTo>
                  <a:pt x="2446" y="639"/>
                  <a:pt x="2459" y="619"/>
                  <a:pt x="2469" y="611"/>
                </a:cubicBezTo>
                <a:cubicBezTo>
                  <a:pt x="2491" y="594"/>
                  <a:pt x="2497" y="594"/>
                  <a:pt x="2522" y="585"/>
                </a:cubicBezTo>
                <a:cubicBezTo>
                  <a:pt x="2542" y="554"/>
                  <a:pt x="2557" y="545"/>
                  <a:pt x="2592" y="533"/>
                </a:cubicBezTo>
                <a:cubicBezTo>
                  <a:pt x="2619" y="504"/>
                  <a:pt x="2636" y="477"/>
                  <a:pt x="2670" y="454"/>
                </a:cubicBezTo>
                <a:cubicBezTo>
                  <a:pt x="2693" y="420"/>
                  <a:pt x="2711" y="387"/>
                  <a:pt x="2740" y="358"/>
                </a:cubicBezTo>
                <a:cubicBezTo>
                  <a:pt x="2743" y="349"/>
                  <a:pt x="2745" y="340"/>
                  <a:pt x="2749" y="332"/>
                </a:cubicBezTo>
                <a:cubicBezTo>
                  <a:pt x="2754" y="323"/>
                  <a:pt x="2762" y="315"/>
                  <a:pt x="2766" y="306"/>
                </a:cubicBezTo>
                <a:cubicBezTo>
                  <a:pt x="2798" y="234"/>
                  <a:pt x="2766" y="273"/>
                  <a:pt x="2801" y="236"/>
                </a:cubicBezTo>
                <a:cubicBezTo>
                  <a:pt x="2813" y="201"/>
                  <a:pt x="2818" y="167"/>
                  <a:pt x="2845" y="140"/>
                </a:cubicBezTo>
                <a:cubicBezTo>
                  <a:pt x="2866" y="72"/>
                  <a:pt x="2834" y="151"/>
                  <a:pt x="2880" y="105"/>
                </a:cubicBezTo>
                <a:cubicBezTo>
                  <a:pt x="2928" y="57"/>
                  <a:pt x="2842" y="95"/>
                  <a:pt x="2914" y="70"/>
                </a:cubicBezTo>
                <a:cubicBezTo>
                  <a:pt x="2930" y="25"/>
                  <a:pt x="2911" y="58"/>
                  <a:pt x="2949" y="35"/>
                </a:cubicBezTo>
                <a:cubicBezTo>
                  <a:pt x="2956" y="31"/>
                  <a:pt x="2960" y="22"/>
                  <a:pt x="2967" y="18"/>
                </a:cubicBezTo>
                <a:cubicBezTo>
                  <a:pt x="2996" y="1"/>
                  <a:pt x="2993" y="20"/>
                  <a:pt x="2993" y="0"/>
                </a:cubicBezTo>
              </a:path>
            </a:pathLst>
          </a:cu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81C77BF7-0FA8-469A-B57E-5F607CC7F4B8}"/>
              </a:ext>
            </a:extLst>
          </p:cNvPr>
          <p:cNvSpPr>
            <a:spLocks/>
          </p:cNvSpPr>
          <p:nvPr/>
        </p:nvSpPr>
        <p:spPr bwMode="auto">
          <a:xfrm>
            <a:off x="2788221" y="3706788"/>
            <a:ext cx="2436812" cy="2573337"/>
          </a:xfrm>
          <a:custGeom>
            <a:avLst/>
            <a:gdLst>
              <a:gd name="T0" fmla="*/ 2147483647 w 1535"/>
              <a:gd name="T1" fmla="*/ 2147483647 h 1621"/>
              <a:gd name="T2" fmla="*/ 2147483647 w 1535"/>
              <a:gd name="T3" fmla="*/ 2147483647 h 1621"/>
              <a:gd name="T4" fmla="*/ 2147483647 w 1535"/>
              <a:gd name="T5" fmla="*/ 2147483647 h 1621"/>
              <a:gd name="T6" fmla="*/ 2147483647 w 1535"/>
              <a:gd name="T7" fmla="*/ 2147483647 h 1621"/>
              <a:gd name="T8" fmla="*/ 2147483647 w 1535"/>
              <a:gd name="T9" fmla="*/ 2147483647 h 1621"/>
              <a:gd name="T10" fmla="*/ 2147483647 w 1535"/>
              <a:gd name="T11" fmla="*/ 2147483647 h 1621"/>
              <a:gd name="T12" fmla="*/ 2147483647 w 1535"/>
              <a:gd name="T13" fmla="*/ 2147483647 h 1621"/>
              <a:gd name="T14" fmla="*/ 2147483647 w 1535"/>
              <a:gd name="T15" fmla="*/ 2147483647 h 1621"/>
              <a:gd name="T16" fmla="*/ 2147483647 w 1535"/>
              <a:gd name="T17" fmla="*/ 2147483647 h 1621"/>
              <a:gd name="T18" fmla="*/ 2147483647 w 1535"/>
              <a:gd name="T19" fmla="*/ 2147483647 h 1621"/>
              <a:gd name="T20" fmla="*/ 2147483647 w 1535"/>
              <a:gd name="T21" fmla="*/ 2147483647 h 1621"/>
              <a:gd name="T22" fmla="*/ 2147483647 w 1535"/>
              <a:gd name="T23" fmla="*/ 2147483647 h 1621"/>
              <a:gd name="T24" fmla="*/ 2147483647 w 1535"/>
              <a:gd name="T25" fmla="*/ 2147483647 h 1621"/>
              <a:gd name="T26" fmla="*/ 2147483647 w 1535"/>
              <a:gd name="T27" fmla="*/ 2147483647 h 1621"/>
              <a:gd name="T28" fmla="*/ 2147483647 w 1535"/>
              <a:gd name="T29" fmla="*/ 2147483647 h 1621"/>
              <a:gd name="T30" fmla="*/ 2147483647 w 1535"/>
              <a:gd name="T31" fmla="*/ 2147483647 h 1621"/>
              <a:gd name="T32" fmla="*/ 2147483647 w 1535"/>
              <a:gd name="T33" fmla="*/ 2147483647 h 1621"/>
              <a:gd name="T34" fmla="*/ 2147483647 w 1535"/>
              <a:gd name="T35" fmla="*/ 2147483647 h 1621"/>
              <a:gd name="T36" fmla="*/ 2147483647 w 1535"/>
              <a:gd name="T37" fmla="*/ 2147483647 h 1621"/>
              <a:gd name="T38" fmla="*/ 2147483647 w 1535"/>
              <a:gd name="T39" fmla="*/ 2147483647 h 1621"/>
              <a:gd name="T40" fmla="*/ 2147483647 w 1535"/>
              <a:gd name="T41" fmla="*/ 2147483647 h 1621"/>
              <a:gd name="T42" fmla="*/ 2147483647 w 1535"/>
              <a:gd name="T43" fmla="*/ 2147483647 h 1621"/>
              <a:gd name="T44" fmla="*/ 2147483647 w 1535"/>
              <a:gd name="T45" fmla="*/ 2147483647 h 1621"/>
              <a:gd name="T46" fmla="*/ 2147483647 w 1535"/>
              <a:gd name="T47" fmla="*/ 2147483647 h 1621"/>
              <a:gd name="T48" fmla="*/ 2147483647 w 1535"/>
              <a:gd name="T49" fmla="*/ 2147483647 h 1621"/>
              <a:gd name="T50" fmla="*/ 2147483647 w 1535"/>
              <a:gd name="T51" fmla="*/ 2147483647 h 1621"/>
              <a:gd name="T52" fmla="*/ 2147483647 w 1535"/>
              <a:gd name="T53" fmla="*/ 2147483647 h 1621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w 1535"/>
              <a:gd name="T82" fmla="*/ 0 h 1621"/>
              <a:gd name="T83" fmla="*/ 1535 w 1535"/>
              <a:gd name="T84" fmla="*/ 1621 h 1621"/>
            </a:gdLst>
            <a:ahLst/>
            <a:cxnLst>
              <a:cxn ang="T54">
                <a:pos x="T0" y="T1"/>
              </a:cxn>
              <a:cxn ang="T55">
                <a:pos x="T2" y="T3"/>
              </a:cxn>
              <a:cxn ang="T56">
                <a:pos x="T4" y="T5"/>
              </a:cxn>
              <a:cxn ang="T57">
                <a:pos x="T6" y="T7"/>
              </a:cxn>
              <a:cxn ang="T58">
                <a:pos x="T8" y="T9"/>
              </a:cxn>
              <a:cxn ang="T59">
                <a:pos x="T10" y="T11"/>
              </a:cxn>
              <a:cxn ang="T60">
                <a:pos x="T12" y="T13"/>
              </a:cxn>
              <a:cxn ang="T61">
                <a:pos x="T14" y="T15"/>
              </a:cxn>
              <a:cxn ang="T62">
                <a:pos x="T16" y="T17"/>
              </a:cxn>
              <a:cxn ang="T63">
                <a:pos x="T18" y="T19"/>
              </a:cxn>
              <a:cxn ang="T64">
                <a:pos x="T20" y="T21"/>
              </a:cxn>
              <a:cxn ang="T65">
                <a:pos x="T22" y="T23"/>
              </a:cxn>
              <a:cxn ang="T66">
                <a:pos x="T24" y="T25"/>
              </a:cxn>
              <a:cxn ang="T67">
                <a:pos x="T26" y="T27"/>
              </a:cxn>
              <a:cxn ang="T68">
                <a:pos x="T28" y="T29"/>
              </a:cxn>
              <a:cxn ang="T69">
                <a:pos x="T30" y="T31"/>
              </a:cxn>
              <a:cxn ang="T70">
                <a:pos x="T32" y="T33"/>
              </a:cxn>
              <a:cxn ang="T71">
                <a:pos x="T34" y="T35"/>
              </a:cxn>
              <a:cxn ang="T72">
                <a:pos x="T36" y="T37"/>
              </a:cxn>
              <a:cxn ang="T73">
                <a:pos x="T38" y="T39"/>
              </a:cxn>
              <a:cxn ang="T74">
                <a:pos x="T40" y="T41"/>
              </a:cxn>
              <a:cxn ang="T75">
                <a:pos x="T42" y="T43"/>
              </a:cxn>
              <a:cxn ang="T76">
                <a:pos x="T44" y="T45"/>
              </a:cxn>
              <a:cxn ang="T77">
                <a:pos x="T46" y="T47"/>
              </a:cxn>
              <a:cxn ang="T78">
                <a:pos x="T48" y="T49"/>
              </a:cxn>
              <a:cxn ang="T79">
                <a:pos x="T50" y="T51"/>
              </a:cxn>
              <a:cxn ang="T80">
                <a:pos x="T52" y="T53"/>
              </a:cxn>
            </a:cxnLst>
            <a:rect l="T81" t="T82" r="T83" b="T84"/>
            <a:pathLst>
              <a:path w="1535" h="1621">
                <a:moveTo>
                  <a:pt x="29" y="7"/>
                </a:moveTo>
                <a:cubicBezTo>
                  <a:pt x="97" y="27"/>
                  <a:pt x="0" y="0"/>
                  <a:pt x="117" y="24"/>
                </a:cubicBezTo>
                <a:cubicBezTo>
                  <a:pt x="146" y="30"/>
                  <a:pt x="167" y="49"/>
                  <a:pt x="195" y="59"/>
                </a:cubicBezTo>
                <a:cubicBezTo>
                  <a:pt x="216" y="80"/>
                  <a:pt x="245" y="90"/>
                  <a:pt x="265" y="111"/>
                </a:cubicBezTo>
                <a:cubicBezTo>
                  <a:pt x="285" y="132"/>
                  <a:pt x="304" y="146"/>
                  <a:pt x="326" y="164"/>
                </a:cubicBezTo>
                <a:cubicBezTo>
                  <a:pt x="349" y="182"/>
                  <a:pt x="360" y="203"/>
                  <a:pt x="378" y="225"/>
                </a:cubicBezTo>
                <a:cubicBezTo>
                  <a:pt x="393" y="243"/>
                  <a:pt x="403" y="245"/>
                  <a:pt x="422" y="260"/>
                </a:cubicBezTo>
                <a:cubicBezTo>
                  <a:pt x="443" y="277"/>
                  <a:pt x="455" y="301"/>
                  <a:pt x="474" y="321"/>
                </a:cubicBezTo>
                <a:cubicBezTo>
                  <a:pt x="486" y="354"/>
                  <a:pt x="510" y="384"/>
                  <a:pt x="536" y="408"/>
                </a:cubicBezTo>
                <a:cubicBezTo>
                  <a:pt x="549" y="449"/>
                  <a:pt x="600" y="509"/>
                  <a:pt x="632" y="539"/>
                </a:cubicBezTo>
                <a:cubicBezTo>
                  <a:pt x="654" y="611"/>
                  <a:pt x="623" y="523"/>
                  <a:pt x="658" y="583"/>
                </a:cubicBezTo>
                <a:cubicBezTo>
                  <a:pt x="687" y="632"/>
                  <a:pt x="700" y="712"/>
                  <a:pt x="719" y="766"/>
                </a:cubicBezTo>
                <a:cubicBezTo>
                  <a:pt x="722" y="776"/>
                  <a:pt x="732" y="783"/>
                  <a:pt x="736" y="792"/>
                </a:cubicBezTo>
                <a:cubicBezTo>
                  <a:pt x="754" y="832"/>
                  <a:pt x="776" y="882"/>
                  <a:pt x="789" y="923"/>
                </a:cubicBezTo>
                <a:cubicBezTo>
                  <a:pt x="812" y="998"/>
                  <a:pt x="841" y="1064"/>
                  <a:pt x="876" y="1133"/>
                </a:cubicBezTo>
                <a:cubicBezTo>
                  <a:pt x="890" y="1161"/>
                  <a:pt x="887" y="1179"/>
                  <a:pt x="911" y="1202"/>
                </a:cubicBezTo>
                <a:cubicBezTo>
                  <a:pt x="934" y="1271"/>
                  <a:pt x="927" y="1367"/>
                  <a:pt x="981" y="1421"/>
                </a:cubicBezTo>
                <a:cubicBezTo>
                  <a:pt x="995" y="1466"/>
                  <a:pt x="1002" y="1475"/>
                  <a:pt x="1033" y="1508"/>
                </a:cubicBezTo>
                <a:cubicBezTo>
                  <a:pt x="1056" y="1576"/>
                  <a:pt x="1022" y="1493"/>
                  <a:pt x="1068" y="1551"/>
                </a:cubicBezTo>
                <a:cubicBezTo>
                  <a:pt x="1102" y="1593"/>
                  <a:pt x="1047" y="1569"/>
                  <a:pt x="1103" y="1586"/>
                </a:cubicBezTo>
                <a:cubicBezTo>
                  <a:pt x="1124" y="1609"/>
                  <a:pt x="1143" y="1612"/>
                  <a:pt x="1173" y="1621"/>
                </a:cubicBezTo>
                <a:cubicBezTo>
                  <a:pt x="1218" y="1607"/>
                  <a:pt x="1227" y="1600"/>
                  <a:pt x="1260" y="1569"/>
                </a:cubicBezTo>
                <a:cubicBezTo>
                  <a:pt x="1278" y="1517"/>
                  <a:pt x="1315" y="1459"/>
                  <a:pt x="1356" y="1421"/>
                </a:cubicBezTo>
                <a:cubicBezTo>
                  <a:pt x="1372" y="1371"/>
                  <a:pt x="1381" y="1311"/>
                  <a:pt x="1417" y="1272"/>
                </a:cubicBezTo>
                <a:cubicBezTo>
                  <a:pt x="1431" y="1230"/>
                  <a:pt x="1462" y="1182"/>
                  <a:pt x="1504" y="1167"/>
                </a:cubicBezTo>
                <a:cubicBezTo>
                  <a:pt x="1525" y="1107"/>
                  <a:pt x="1535" y="1102"/>
                  <a:pt x="1504" y="1133"/>
                </a:cubicBezTo>
                <a:cubicBezTo>
                  <a:pt x="1494" y="1165"/>
                  <a:pt x="1500" y="1151"/>
                  <a:pt x="1487" y="1176"/>
                </a:cubicBezTo>
              </a:path>
            </a:pathLst>
          </a:custGeom>
          <a:noFill/>
          <a:ln w="952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85A0339B-946E-49A9-82E6-C59FBD963E5E}"/>
              </a:ext>
            </a:extLst>
          </p:cNvPr>
          <p:cNvSpPr>
            <a:spLocks/>
          </p:cNvSpPr>
          <p:nvPr/>
        </p:nvSpPr>
        <p:spPr bwMode="auto">
          <a:xfrm>
            <a:off x="6382321" y="3413100"/>
            <a:ext cx="1565275" cy="2049463"/>
          </a:xfrm>
          <a:custGeom>
            <a:avLst/>
            <a:gdLst>
              <a:gd name="T0" fmla="*/ 0 w 986"/>
              <a:gd name="T1" fmla="*/ 2147483647 h 1291"/>
              <a:gd name="T2" fmla="*/ 2147483647 w 986"/>
              <a:gd name="T3" fmla="*/ 2147483647 h 1291"/>
              <a:gd name="T4" fmla="*/ 2147483647 w 986"/>
              <a:gd name="T5" fmla="*/ 2147483647 h 1291"/>
              <a:gd name="T6" fmla="*/ 2147483647 w 986"/>
              <a:gd name="T7" fmla="*/ 2147483647 h 1291"/>
              <a:gd name="T8" fmla="*/ 2147483647 w 986"/>
              <a:gd name="T9" fmla="*/ 2147483647 h 1291"/>
              <a:gd name="T10" fmla="*/ 2147483647 w 986"/>
              <a:gd name="T11" fmla="*/ 2147483647 h 1291"/>
              <a:gd name="T12" fmla="*/ 2147483647 w 986"/>
              <a:gd name="T13" fmla="*/ 2147483647 h 1291"/>
              <a:gd name="T14" fmla="*/ 2147483647 w 986"/>
              <a:gd name="T15" fmla="*/ 2147483647 h 1291"/>
              <a:gd name="T16" fmla="*/ 2147483647 w 986"/>
              <a:gd name="T17" fmla="*/ 2147483647 h 1291"/>
              <a:gd name="T18" fmla="*/ 2147483647 w 986"/>
              <a:gd name="T19" fmla="*/ 2147483647 h 1291"/>
              <a:gd name="T20" fmla="*/ 2147483647 w 986"/>
              <a:gd name="T21" fmla="*/ 2147483647 h 1291"/>
              <a:gd name="T22" fmla="*/ 2147483647 w 986"/>
              <a:gd name="T23" fmla="*/ 2147483647 h 1291"/>
              <a:gd name="T24" fmla="*/ 2147483647 w 986"/>
              <a:gd name="T25" fmla="*/ 2147483647 h 1291"/>
              <a:gd name="T26" fmla="*/ 2147483647 w 986"/>
              <a:gd name="T27" fmla="*/ 2147483647 h 1291"/>
              <a:gd name="T28" fmla="*/ 2147483647 w 986"/>
              <a:gd name="T29" fmla="*/ 2147483647 h 1291"/>
              <a:gd name="T30" fmla="*/ 2147483647 w 986"/>
              <a:gd name="T31" fmla="*/ 2147483647 h 1291"/>
              <a:gd name="T32" fmla="*/ 2147483647 w 986"/>
              <a:gd name="T33" fmla="*/ 2147483647 h 1291"/>
              <a:gd name="T34" fmla="*/ 2147483647 w 986"/>
              <a:gd name="T35" fmla="*/ 2147483647 h 1291"/>
              <a:gd name="T36" fmla="*/ 2147483647 w 986"/>
              <a:gd name="T37" fmla="*/ 2147483647 h 1291"/>
              <a:gd name="T38" fmla="*/ 2147483647 w 986"/>
              <a:gd name="T39" fmla="*/ 2147483647 h 1291"/>
              <a:gd name="T40" fmla="*/ 2147483647 w 986"/>
              <a:gd name="T41" fmla="*/ 0 h 1291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w 986"/>
              <a:gd name="T64" fmla="*/ 0 h 1291"/>
              <a:gd name="T65" fmla="*/ 986 w 986"/>
              <a:gd name="T66" fmla="*/ 1291 h 1291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T63" t="T64" r="T65" b="T66"/>
            <a:pathLst>
              <a:path w="986" h="1291">
                <a:moveTo>
                  <a:pt x="0" y="1291"/>
                </a:moveTo>
                <a:cubicBezTo>
                  <a:pt x="32" y="1270"/>
                  <a:pt x="51" y="1243"/>
                  <a:pt x="87" y="1230"/>
                </a:cubicBezTo>
                <a:cubicBezTo>
                  <a:pt x="117" y="1200"/>
                  <a:pt x="160" y="1178"/>
                  <a:pt x="183" y="1143"/>
                </a:cubicBezTo>
                <a:cubicBezTo>
                  <a:pt x="205" y="1110"/>
                  <a:pt x="193" y="1124"/>
                  <a:pt x="218" y="1099"/>
                </a:cubicBezTo>
                <a:cubicBezTo>
                  <a:pt x="227" y="1069"/>
                  <a:pt x="240" y="1060"/>
                  <a:pt x="261" y="1038"/>
                </a:cubicBezTo>
                <a:cubicBezTo>
                  <a:pt x="271" y="1009"/>
                  <a:pt x="284" y="999"/>
                  <a:pt x="305" y="977"/>
                </a:cubicBezTo>
                <a:cubicBezTo>
                  <a:pt x="328" y="909"/>
                  <a:pt x="294" y="992"/>
                  <a:pt x="340" y="934"/>
                </a:cubicBezTo>
                <a:cubicBezTo>
                  <a:pt x="388" y="874"/>
                  <a:pt x="302" y="937"/>
                  <a:pt x="375" y="890"/>
                </a:cubicBezTo>
                <a:cubicBezTo>
                  <a:pt x="389" y="868"/>
                  <a:pt x="409" y="838"/>
                  <a:pt x="427" y="820"/>
                </a:cubicBezTo>
                <a:cubicBezTo>
                  <a:pt x="473" y="774"/>
                  <a:pt x="440" y="846"/>
                  <a:pt x="497" y="759"/>
                </a:cubicBezTo>
                <a:cubicBezTo>
                  <a:pt x="514" y="734"/>
                  <a:pt x="520" y="710"/>
                  <a:pt x="541" y="689"/>
                </a:cubicBezTo>
                <a:cubicBezTo>
                  <a:pt x="550" y="659"/>
                  <a:pt x="558" y="637"/>
                  <a:pt x="576" y="611"/>
                </a:cubicBezTo>
                <a:cubicBezTo>
                  <a:pt x="587" y="573"/>
                  <a:pt x="603" y="541"/>
                  <a:pt x="619" y="506"/>
                </a:cubicBezTo>
                <a:cubicBezTo>
                  <a:pt x="651" y="434"/>
                  <a:pt x="619" y="473"/>
                  <a:pt x="654" y="436"/>
                </a:cubicBezTo>
                <a:cubicBezTo>
                  <a:pt x="664" y="407"/>
                  <a:pt x="676" y="396"/>
                  <a:pt x="698" y="375"/>
                </a:cubicBezTo>
                <a:cubicBezTo>
                  <a:pt x="707" y="345"/>
                  <a:pt x="715" y="323"/>
                  <a:pt x="733" y="296"/>
                </a:cubicBezTo>
                <a:cubicBezTo>
                  <a:pt x="742" y="267"/>
                  <a:pt x="746" y="248"/>
                  <a:pt x="768" y="227"/>
                </a:cubicBezTo>
                <a:cubicBezTo>
                  <a:pt x="783" y="176"/>
                  <a:pt x="765" y="221"/>
                  <a:pt x="794" y="183"/>
                </a:cubicBezTo>
                <a:cubicBezTo>
                  <a:pt x="842" y="121"/>
                  <a:pt x="806" y="139"/>
                  <a:pt x="855" y="122"/>
                </a:cubicBezTo>
                <a:cubicBezTo>
                  <a:pt x="876" y="100"/>
                  <a:pt x="887" y="88"/>
                  <a:pt x="916" y="78"/>
                </a:cubicBezTo>
                <a:cubicBezTo>
                  <a:pt x="929" y="42"/>
                  <a:pt x="951" y="16"/>
                  <a:pt x="986" y="0"/>
                </a:cubicBezTo>
              </a:path>
            </a:pathLst>
          </a:custGeom>
          <a:noFill/>
          <a:ln w="952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4" name="Freeform 7">
            <a:extLst>
              <a:ext uri="{FF2B5EF4-FFF2-40B4-BE49-F238E27FC236}">
                <a16:creationId xmlns:a16="http://schemas.microsoft.com/office/drawing/2014/main" id="{E84F1182-1FA4-4B24-9478-B067DA246534}"/>
              </a:ext>
            </a:extLst>
          </p:cNvPr>
          <p:cNvSpPr>
            <a:spLocks/>
          </p:cNvSpPr>
          <p:nvPr/>
        </p:nvSpPr>
        <p:spPr bwMode="auto">
          <a:xfrm>
            <a:off x="6382321" y="2914625"/>
            <a:ext cx="1677987" cy="2547938"/>
          </a:xfrm>
          <a:custGeom>
            <a:avLst/>
            <a:gdLst>
              <a:gd name="T0" fmla="*/ 0 w 1057"/>
              <a:gd name="T1" fmla="*/ 2147483647 h 1605"/>
              <a:gd name="T2" fmla="*/ 2147483647 w 1057"/>
              <a:gd name="T3" fmla="*/ 2147483647 h 1605"/>
              <a:gd name="T4" fmla="*/ 2147483647 w 1057"/>
              <a:gd name="T5" fmla="*/ 2147483647 h 1605"/>
              <a:gd name="T6" fmla="*/ 2147483647 w 1057"/>
              <a:gd name="T7" fmla="*/ 2147483647 h 1605"/>
              <a:gd name="T8" fmla="*/ 2147483647 w 1057"/>
              <a:gd name="T9" fmla="*/ 2147483647 h 1605"/>
              <a:gd name="T10" fmla="*/ 2147483647 w 1057"/>
              <a:gd name="T11" fmla="*/ 2147483647 h 1605"/>
              <a:gd name="T12" fmla="*/ 2147483647 w 1057"/>
              <a:gd name="T13" fmla="*/ 2147483647 h 1605"/>
              <a:gd name="T14" fmla="*/ 2147483647 w 1057"/>
              <a:gd name="T15" fmla="*/ 2147483647 h 1605"/>
              <a:gd name="T16" fmla="*/ 2147483647 w 1057"/>
              <a:gd name="T17" fmla="*/ 2147483647 h 1605"/>
              <a:gd name="T18" fmla="*/ 2147483647 w 1057"/>
              <a:gd name="T19" fmla="*/ 2147483647 h 1605"/>
              <a:gd name="T20" fmla="*/ 2147483647 w 1057"/>
              <a:gd name="T21" fmla="*/ 2147483647 h 1605"/>
              <a:gd name="T22" fmla="*/ 2147483647 w 1057"/>
              <a:gd name="T23" fmla="*/ 2147483647 h 1605"/>
              <a:gd name="T24" fmla="*/ 2147483647 w 1057"/>
              <a:gd name="T25" fmla="*/ 2147483647 h 1605"/>
              <a:gd name="T26" fmla="*/ 2147483647 w 1057"/>
              <a:gd name="T27" fmla="*/ 2147483647 h 1605"/>
              <a:gd name="T28" fmla="*/ 2147483647 w 1057"/>
              <a:gd name="T29" fmla="*/ 2147483647 h 1605"/>
              <a:gd name="T30" fmla="*/ 2147483647 w 1057"/>
              <a:gd name="T31" fmla="*/ 2147483647 h 1605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057"/>
              <a:gd name="T49" fmla="*/ 0 h 1605"/>
              <a:gd name="T50" fmla="*/ 1057 w 1057"/>
              <a:gd name="T51" fmla="*/ 1605 h 1605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057" h="1605">
                <a:moveTo>
                  <a:pt x="0" y="1605"/>
                </a:moveTo>
                <a:cubicBezTo>
                  <a:pt x="23" y="1570"/>
                  <a:pt x="33" y="1579"/>
                  <a:pt x="61" y="1553"/>
                </a:cubicBezTo>
                <a:cubicBezTo>
                  <a:pt x="85" y="1475"/>
                  <a:pt x="144" y="1411"/>
                  <a:pt x="200" y="1352"/>
                </a:cubicBezTo>
                <a:cubicBezTo>
                  <a:pt x="203" y="1343"/>
                  <a:pt x="205" y="1334"/>
                  <a:pt x="209" y="1326"/>
                </a:cubicBezTo>
                <a:cubicBezTo>
                  <a:pt x="214" y="1317"/>
                  <a:pt x="222" y="1310"/>
                  <a:pt x="226" y="1300"/>
                </a:cubicBezTo>
                <a:cubicBezTo>
                  <a:pt x="244" y="1257"/>
                  <a:pt x="252" y="1186"/>
                  <a:pt x="288" y="1152"/>
                </a:cubicBezTo>
                <a:cubicBezTo>
                  <a:pt x="301" y="1107"/>
                  <a:pt x="313" y="1060"/>
                  <a:pt x="340" y="1021"/>
                </a:cubicBezTo>
                <a:cubicBezTo>
                  <a:pt x="355" y="975"/>
                  <a:pt x="401" y="923"/>
                  <a:pt x="436" y="890"/>
                </a:cubicBezTo>
                <a:cubicBezTo>
                  <a:pt x="446" y="861"/>
                  <a:pt x="448" y="841"/>
                  <a:pt x="471" y="820"/>
                </a:cubicBezTo>
                <a:cubicBezTo>
                  <a:pt x="494" y="754"/>
                  <a:pt x="533" y="708"/>
                  <a:pt x="576" y="654"/>
                </a:cubicBezTo>
                <a:cubicBezTo>
                  <a:pt x="611" y="610"/>
                  <a:pt x="641" y="564"/>
                  <a:pt x="680" y="523"/>
                </a:cubicBezTo>
                <a:cubicBezTo>
                  <a:pt x="695" y="480"/>
                  <a:pt x="726" y="441"/>
                  <a:pt x="759" y="410"/>
                </a:cubicBezTo>
                <a:cubicBezTo>
                  <a:pt x="771" y="376"/>
                  <a:pt x="794" y="339"/>
                  <a:pt x="820" y="314"/>
                </a:cubicBezTo>
                <a:cubicBezTo>
                  <a:pt x="832" y="279"/>
                  <a:pt x="836" y="244"/>
                  <a:pt x="864" y="218"/>
                </a:cubicBezTo>
                <a:cubicBezTo>
                  <a:pt x="886" y="150"/>
                  <a:pt x="928" y="95"/>
                  <a:pt x="986" y="52"/>
                </a:cubicBezTo>
                <a:cubicBezTo>
                  <a:pt x="1057" y="0"/>
                  <a:pt x="1020" y="35"/>
                  <a:pt x="1047" y="8"/>
                </a:cubicBezTo>
              </a:path>
            </a:pathLst>
          </a:custGeom>
          <a:noFill/>
          <a:ln w="9525">
            <a:solidFill>
              <a:srgbClr val="80008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5" name="Freeform 8">
            <a:extLst>
              <a:ext uri="{FF2B5EF4-FFF2-40B4-BE49-F238E27FC236}">
                <a16:creationId xmlns:a16="http://schemas.microsoft.com/office/drawing/2014/main" id="{D19E9CE4-36CC-4137-A97B-A2F46CCD2B6B}"/>
              </a:ext>
            </a:extLst>
          </p:cNvPr>
          <p:cNvSpPr>
            <a:spLocks/>
          </p:cNvSpPr>
          <p:nvPr/>
        </p:nvSpPr>
        <p:spPr bwMode="auto">
          <a:xfrm>
            <a:off x="2986658" y="2414563"/>
            <a:ext cx="2230438" cy="3076575"/>
          </a:xfrm>
          <a:custGeom>
            <a:avLst/>
            <a:gdLst>
              <a:gd name="T0" fmla="*/ 0 w 1405"/>
              <a:gd name="T1" fmla="*/ 0 h 1938"/>
              <a:gd name="T2" fmla="*/ 2147483647 w 1405"/>
              <a:gd name="T3" fmla="*/ 2147483647 h 1938"/>
              <a:gd name="T4" fmla="*/ 2147483647 w 1405"/>
              <a:gd name="T5" fmla="*/ 2147483647 h 1938"/>
              <a:gd name="T6" fmla="*/ 2147483647 w 1405"/>
              <a:gd name="T7" fmla="*/ 2147483647 h 1938"/>
              <a:gd name="T8" fmla="*/ 2147483647 w 1405"/>
              <a:gd name="T9" fmla="*/ 2147483647 h 1938"/>
              <a:gd name="T10" fmla="*/ 2147483647 w 1405"/>
              <a:gd name="T11" fmla="*/ 2147483647 h 1938"/>
              <a:gd name="T12" fmla="*/ 2147483647 w 1405"/>
              <a:gd name="T13" fmla="*/ 2147483647 h 1938"/>
              <a:gd name="T14" fmla="*/ 2147483647 w 1405"/>
              <a:gd name="T15" fmla="*/ 2147483647 h 1938"/>
              <a:gd name="T16" fmla="*/ 2147483647 w 1405"/>
              <a:gd name="T17" fmla="*/ 2147483647 h 1938"/>
              <a:gd name="T18" fmla="*/ 2147483647 w 1405"/>
              <a:gd name="T19" fmla="*/ 2147483647 h 1938"/>
              <a:gd name="T20" fmla="*/ 2147483647 w 1405"/>
              <a:gd name="T21" fmla="*/ 2147483647 h 1938"/>
              <a:gd name="T22" fmla="*/ 2147483647 w 1405"/>
              <a:gd name="T23" fmla="*/ 2147483647 h 1938"/>
              <a:gd name="T24" fmla="*/ 2147483647 w 1405"/>
              <a:gd name="T25" fmla="*/ 2147483647 h 1938"/>
              <a:gd name="T26" fmla="*/ 2147483647 w 1405"/>
              <a:gd name="T27" fmla="*/ 2147483647 h 1938"/>
              <a:gd name="T28" fmla="*/ 2147483647 w 1405"/>
              <a:gd name="T29" fmla="*/ 2147483647 h 1938"/>
              <a:gd name="T30" fmla="*/ 2147483647 w 1405"/>
              <a:gd name="T31" fmla="*/ 2147483647 h 1938"/>
              <a:gd name="T32" fmla="*/ 2147483647 w 1405"/>
              <a:gd name="T33" fmla="*/ 2147483647 h 1938"/>
              <a:gd name="T34" fmla="*/ 2147483647 w 1405"/>
              <a:gd name="T35" fmla="*/ 2147483647 h 1938"/>
              <a:gd name="T36" fmla="*/ 2147483647 w 1405"/>
              <a:gd name="T37" fmla="*/ 2147483647 h 1938"/>
              <a:gd name="T38" fmla="*/ 2147483647 w 1405"/>
              <a:gd name="T39" fmla="*/ 2147483647 h 1938"/>
              <a:gd name="T40" fmla="*/ 2147483647 w 1405"/>
              <a:gd name="T41" fmla="*/ 2147483647 h 1938"/>
              <a:gd name="T42" fmla="*/ 2147483647 w 1405"/>
              <a:gd name="T43" fmla="*/ 2147483647 h 1938"/>
              <a:gd name="T44" fmla="*/ 2147483647 w 1405"/>
              <a:gd name="T45" fmla="*/ 2147483647 h 1938"/>
              <a:gd name="T46" fmla="*/ 2147483647 w 1405"/>
              <a:gd name="T47" fmla="*/ 2147483647 h 1938"/>
              <a:gd name="T48" fmla="*/ 2147483647 w 1405"/>
              <a:gd name="T49" fmla="*/ 2147483647 h 1938"/>
              <a:gd name="T50" fmla="*/ 2147483647 w 1405"/>
              <a:gd name="T51" fmla="*/ 2147483647 h 1938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w 1405"/>
              <a:gd name="T79" fmla="*/ 0 h 1938"/>
              <a:gd name="T80" fmla="*/ 1405 w 1405"/>
              <a:gd name="T81" fmla="*/ 1938 h 1938"/>
            </a:gdLst>
            <a:ahLst/>
            <a:cxnLst>
              <a:cxn ang="T52">
                <a:pos x="T0" y="T1"/>
              </a:cxn>
              <a:cxn ang="T53">
                <a:pos x="T2" y="T3"/>
              </a:cxn>
              <a:cxn ang="T54">
                <a:pos x="T4" y="T5"/>
              </a:cxn>
              <a:cxn ang="T55">
                <a:pos x="T6" y="T7"/>
              </a:cxn>
              <a:cxn ang="T56">
                <a:pos x="T8" y="T9"/>
              </a:cxn>
              <a:cxn ang="T57">
                <a:pos x="T10" y="T11"/>
              </a:cxn>
              <a:cxn ang="T58">
                <a:pos x="T12" y="T13"/>
              </a:cxn>
              <a:cxn ang="T59">
                <a:pos x="T14" y="T15"/>
              </a:cxn>
              <a:cxn ang="T60">
                <a:pos x="T16" y="T17"/>
              </a:cxn>
              <a:cxn ang="T61">
                <a:pos x="T18" y="T19"/>
              </a:cxn>
              <a:cxn ang="T62">
                <a:pos x="T20" y="T21"/>
              </a:cxn>
              <a:cxn ang="T63">
                <a:pos x="T22" y="T23"/>
              </a:cxn>
              <a:cxn ang="T64">
                <a:pos x="T24" y="T25"/>
              </a:cxn>
              <a:cxn ang="T65">
                <a:pos x="T26" y="T27"/>
              </a:cxn>
              <a:cxn ang="T66">
                <a:pos x="T28" y="T29"/>
              </a:cxn>
              <a:cxn ang="T67">
                <a:pos x="T30" y="T31"/>
              </a:cxn>
              <a:cxn ang="T68">
                <a:pos x="T32" y="T33"/>
              </a:cxn>
              <a:cxn ang="T69">
                <a:pos x="T34" y="T35"/>
              </a:cxn>
              <a:cxn ang="T70">
                <a:pos x="T36" y="T37"/>
              </a:cxn>
              <a:cxn ang="T71">
                <a:pos x="T38" y="T39"/>
              </a:cxn>
              <a:cxn ang="T72">
                <a:pos x="T40" y="T41"/>
              </a:cxn>
              <a:cxn ang="T73">
                <a:pos x="T42" y="T43"/>
              </a:cxn>
              <a:cxn ang="T74">
                <a:pos x="T44" y="T45"/>
              </a:cxn>
              <a:cxn ang="T75">
                <a:pos x="T46" y="T47"/>
              </a:cxn>
              <a:cxn ang="T76">
                <a:pos x="T48" y="T49"/>
              </a:cxn>
              <a:cxn ang="T77">
                <a:pos x="T50" y="T51"/>
              </a:cxn>
            </a:cxnLst>
            <a:rect l="T78" t="T79" r="T80" b="T81"/>
            <a:pathLst>
              <a:path w="1405" h="1938">
                <a:moveTo>
                  <a:pt x="0" y="0"/>
                </a:moveTo>
                <a:cubicBezTo>
                  <a:pt x="68" y="7"/>
                  <a:pt x="120" y="20"/>
                  <a:pt x="184" y="35"/>
                </a:cubicBezTo>
                <a:cubicBezTo>
                  <a:pt x="211" y="63"/>
                  <a:pt x="244" y="93"/>
                  <a:pt x="280" y="105"/>
                </a:cubicBezTo>
                <a:cubicBezTo>
                  <a:pt x="308" y="135"/>
                  <a:pt x="338" y="163"/>
                  <a:pt x="367" y="192"/>
                </a:cubicBezTo>
                <a:cubicBezTo>
                  <a:pt x="389" y="214"/>
                  <a:pt x="416" y="260"/>
                  <a:pt x="437" y="288"/>
                </a:cubicBezTo>
                <a:cubicBezTo>
                  <a:pt x="478" y="343"/>
                  <a:pt x="509" y="407"/>
                  <a:pt x="559" y="454"/>
                </a:cubicBezTo>
                <a:cubicBezTo>
                  <a:pt x="584" y="552"/>
                  <a:pt x="546" y="436"/>
                  <a:pt x="594" y="507"/>
                </a:cubicBezTo>
                <a:cubicBezTo>
                  <a:pt x="601" y="517"/>
                  <a:pt x="598" y="530"/>
                  <a:pt x="603" y="541"/>
                </a:cubicBezTo>
                <a:cubicBezTo>
                  <a:pt x="624" y="583"/>
                  <a:pt x="643" y="598"/>
                  <a:pt x="672" y="629"/>
                </a:cubicBezTo>
                <a:cubicBezTo>
                  <a:pt x="693" y="689"/>
                  <a:pt x="677" y="668"/>
                  <a:pt x="707" y="699"/>
                </a:cubicBezTo>
                <a:cubicBezTo>
                  <a:pt x="719" y="734"/>
                  <a:pt x="725" y="769"/>
                  <a:pt x="751" y="795"/>
                </a:cubicBezTo>
                <a:cubicBezTo>
                  <a:pt x="774" y="861"/>
                  <a:pt x="741" y="782"/>
                  <a:pt x="786" y="838"/>
                </a:cubicBezTo>
                <a:cubicBezTo>
                  <a:pt x="792" y="845"/>
                  <a:pt x="790" y="856"/>
                  <a:pt x="795" y="864"/>
                </a:cubicBezTo>
                <a:cubicBezTo>
                  <a:pt x="823" y="911"/>
                  <a:pt x="862" y="948"/>
                  <a:pt x="899" y="987"/>
                </a:cubicBezTo>
                <a:cubicBezTo>
                  <a:pt x="902" y="996"/>
                  <a:pt x="904" y="1005"/>
                  <a:pt x="908" y="1013"/>
                </a:cubicBezTo>
                <a:cubicBezTo>
                  <a:pt x="913" y="1022"/>
                  <a:pt x="921" y="1030"/>
                  <a:pt x="925" y="1039"/>
                </a:cubicBezTo>
                <a:cubicBezTo>
                  <a:pt x="933" y="1056"/>
                  <a:pt x="930" y="1078"/>
                  <a:pt x="943" y="1091"/>
                </a:cubicBezTo>
                <a:cubicBezTo>
                  <a:pt x="960" y="1109"/>
                  <a:pt x="978" y="1126"/>
                  <a:pt x="995" y="1144"/>
                </a:cubicBezTo>
                <a:cubicBezTo>
                  <a:pt x="1007" y="1177"/>
                  <a:pt x="1023" y="1215"/>
                  <a:pt x="1048" y="1240"/>
                </a:cubicBezTo>
                <a:cubicBezTo>
                  <a:pt x="1057" y="1269"/>
                  <a:pt x="1061" y="1288"/>
                  <a:pt x="1083" y="1309"/>
                </a:cubicBezTo>
                <a:cubicBezTo>
                  <a:pt x="1102" y="1373"/>
                  <a:pt x="1134" y="1433"/>
                  <a:pt x="1161" y="1493"/>
                </a:cubicBezTo>
                <a:cubicBezTo>
                  <a:pt x="1180" y="1534"/>
                  <a:pt x="1181" y="1582"/>
                  <a:pt x="1213" y="1615"/>
                </a:cubicBezTo>
                <a:cubicBezTo>
                  <a:pt x="1234" y="1675"/>
                  <a:pt x="1218" y="1654"/>
                  <a:pt x="1248" y="1685"/>
                </a:cubicBezTo>
                <a:cubicBezTo>
                  <a:pt x="1258" y="1714"/>
                  <a:pt x="1271" y="1724"/>
                  <a:pt x="1292" y="1746"/>
                </a:cubicBezTo>
                <a:cubicBezTo>
                  <a:pt x="1307" y="1789"/>
                  <a:pt x="1338" y="1828"/>
                  <a:pt x="1371" y="1859"/>
                </a:cubicBezTo>
                <a:cubicBezTo>
                  <a:pt x="1380" y="1889"/>
                  <a:pt x="1405" y="1905"/>
                  <a:pt x="1405" y="1938"/>
                </a:cubicBezTo>
              </a:path>
            </a:pathLst>
          </a:custGeom>
          <a:noFill/>
          <a:ln w="9525">
            <a:solidFill>
              <a:srgbClr val="8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6" name="Freeform 9">
            <a:extLst>
              <a:ext uri="{FF2B5EF4-FFF2-40B4-BE49-F238E27FC236}">
                <a16:creationId xmlns:a16="http://schemas.microsoft.com/office/drawing/2014/main" id="{2AAAAFE1-7701-4351-AEA1-358DD0CA548C}"/>
              </a:ext>
            </a:extLst>
          </p:cNvPr>
          <p:cNvSpPr>
            <a:spLocks/>
          </p:cNvSpPr>
          <p:nvPr/>
        </p:nvSpPr>
        <p:spPr bwMode="auto">
          <a:xfrm>
            <a:off x="6436296" y="2276450"/>
            <a:ext cx="1635125" cy="3130550"/>
          </a:xfrm>
          <a:custGeom>
            <a:avLst/>
            <a:gdLst>
              <a:gd name="T0" fmla="*/ 0 w 1030"/>
              <a:gd name="T1" fmla="*/ 2147483647 h 1972"/>
              <a:gd name="T2" fmla="*/ 2147483647 w 1030"/>
              <a:gd name="T3" fmla="*/ 2147483647 h 1972"/>
              <a:gd name="T4" fmla="*/ 2147483647 w 1030"/>
              <a:gd name="T5" fmla="*/ 2147483647 h 1972"/>
              <a:gd name="T6" fmla="*/ 2147483647 w 1030"/>
              <a:gd name="T7" fmla="*/ 2147483647 h 1972"/>
              <a:gd name="T8" fmla="*/ 2147483647 w 1030"/>
              <a:gd name="T9" fmla="*/ 2147483647 h 1972"/>
              <a:gd name="T10" fmla="*/ 2147483647 w 1030"/>
              <a:gd name="T11" fmla="*/ 2147483647 h 1972"/>
              <a:gd name="T12" fmla="*/ 2147483647 w 1030"/>
              <a:gd name="T13" fmla="*/ 2147483647 h 1972"/>
              <a:gd name="T14" fmla="*/ 2147483647 w 1030"/>
              <a:gd name="T15" fmla="*/ 2147483647 h 1972"/>
              <a:gd name="T16" fmla="*/ 2147483647 w 1030"/>
              <a:gd name="T17" fmla="*/ 2147483647 h 1972"/>
              <a:gd name="T18" fmla="*/ 2147483647 w 1030"/>
              <a:gd name="T19" fmla="*/ 2147483647 h 1972"/>
              <a:gd name="T20" fmla="*/ 2147483647 w 1030"/>
              <a:gd name="T21" fmla="*/ 2147483647 h 1972"/>
              <a:gd name="T22" fmla="*/ 2147483647 w 1030"/>
              <a:gd name="T23" fmla="*/ 2147483647 h 1972"/>
              <a:gd name="T24" fmla="*/ 2147483647 w 1030"/>
              <a:gd name="T25" fmla="*/ 2147483647 h 1972"/>
              <a:gd name="T26" fmla="*/ 2147483647 w 1030"/>
              <a:gd name="T27" fmla="*/ 2147483647 h 1972"/>
              <a:gd name="T28" fmla="*/ 2147483647 w 1030"/>
              <a:gd name="T29" fmla="*/ 2147483647 h 1972"/>
              <a:gd name="T30" fmla="*/ 2147483647 w 1030"/>
              <a:gd name="T31" fmla="*/ 2147483647 h 1972"/>
              <a:gd name="T32" fmla="*/ 2147483647 w 1030"/>
              <a:gd name="T33" fmla="*/ 2147483647 h 1972"/>
              <a:gd name="T34" fmla="*/ 2147483647 w 1030"/>
              <a:gd name="T35" fmla="*/ 2147483647 h 1972"/>
              <a:gd name="T36" fmla="*/ 2147483647 w 1030"/>
              <a:gd name="T37" fmla="*/ 2147483647 h 1972"/>
              <a:gd name="T38" fmla="*/ 2147483647 w 1030"/>
              <a:gd name="T39" fmla="*/ 2147483647 h 1972"/>
              <a:gd name="T40" fmla="*/ 2147483647 w 1030"/>
              <a:gd name="T41" fmla="*/ 2147483647 h 1972"/>
              <a:gd name="T42" fmla="*/ 2147483647 w 1030"/>
              <a:gd name="T43" fmla="*/ 2147483647 h 1972"/>
              <a:gd name="T44" fmla="*/ 2147483647 w 1030"/>
              <a:gd name="T45" fmla="*/ 2147483647 h 1972"/>
              <a:gd name="T46" fmla="*/ 2147483647 w 1030"/>
              <a:gd name="T47" fmla="*/ 2147483647 h 1972"/>
              <a:gd name="T48" fmla="*/ 2147483647 w 1030"/>
              <a:gd name="T49" fmla="*/ 0 h 197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1030"/>
              <a:gd name="T76" fmla="*/ 0 h 1972"/>
              <a:gd name="T77" fmla="*/ 1030 w 1030"/>
              <a:gd name="T78" fmla="*/ 1972 h 197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1030" h="1972">
                <a:moveTo>
                  <a:pt x="0" y="1972"/>
                </a:moveTo>
                <a:cubicBezTo>
                  <a:pt x="13" y="1933"/>
                  <a:pt x="17" y="1904"/>
                  <a:pt x="44" y="1876"/>
                </a:cubicBezTo>
                <a:cubicBezTo>
                  <a:pt x="54" y="1839"/>
                  <a:pt x="62" y="1798"/>
                  <a:pt x="79" y="1763"/>
                </a:cubicBezTo>
                <a:cubicBezTo>
                  <a:pt x="102" y="1718"/>
                  <a:pt x="92" y="1757"/>
                  <a:pt x="105" y="1711"/>
                </a:cubicBezTo>
                <a:cubicBezTo>
                  <a:pt x="128" y="1630"/>
                  <a:pt x="106" y="1659"/>
                  <a:pt x="140" y="1623"/>
                </a:cubicBezTo>
                <a:cubicBezTo>
                  <a:pt x="149" y="1597"/>
                  <a:pt x="154" y="1570"/>
                  <a:pt x="166" y="1545"/>
                </a:cubicBezTo>
                <a:cubicBezTo>
                  <a:pt x="179" y="1520"/>
                  <a:pt x="203" y="1498"/>
                  <a:pt x="219" y="1475"/>
                </a:cubicBezTo>
                <a:cubicBezTo>
                  <a:pt x="233" y="1430"/>
                  <a:pt x="223" y="1455"/>
                  <a:pt x="262" y="1396"/>
                </a:cubicBezTo>
                <a:cubicBezTo>
                  <a:pt x="268" y="1387"/>
                  <a:pt x="280" y="1370"/>
                  <a:pt x="280" y="1370"/>
                </a:cubicBezTo>
                <a:cubicBezTo>
                  <a:pt x="294" y="1325"/>
                  <a:pt x="320" y="1281"/>
                  <a:pt x="341" y="1239"/>
                </a:cubicBezTo>
                <a:cubicBezTo>
                  <a:pt x="355" y="1211"/>
                  <a:pt x="358" y="1188"/>
                  <a:pt x="376" y="1161"/>
                </a:cubicBezTo>
                <a:cubicBezTo>
                  <a:pt x="394" y="1102"/>
                  <a:pt x="371" y="1169"/>
                  <a:pt x="402" y="1108"/>
                </a:cubicBezTo>
                <a:cubicBezTo>
                  <a:pt x="420" y="1073"/>
                  <a:pt x="423" y="1038"/>
                  <a:pt x="446" y="1004"/>
                </a:cubicBezTo>
                <a:cubicBezTo>
                  <a:pt x="465" y="945"/>
                  <a:pt x="481" y="874"/>
                  <a:pt x="524" y="829"/>
                </a:cubicBezTo>
                <a:cubicBezTo>
                  <a:pt x="544" y="772"/>
                  <a:pt x="581" y="740"/>
                  <a:pt x="620" y="698"/>
                </a:cubicBezTo>
                <a:cubicBezTo>
                  <a:pt x="641" y="636"/>
                  <a:pt x="611" y="711"/>
                  <a:pt x="655" y="646"/>
                </a:cubicBezTo>
                <a:cubicBezTo>
                  <a:pt x="660" y="638"/>
                  <a:pt x="659" y="628"/>
                  <a:pt x="664" y="620"/>
                </a:cubicBezTo>
                <a:cubicBezTo>
                  <a:pt x="685" y="584"/>
                  <a:pt x="730" y="536"/>
                  <a:pt x="760" y="506"/>
                </a:cubicBezTo>
                <a:cubicBezTo>
                  <a:pt x="773" y="465"/>
                  <a:pt x="806" y="454"/>
                  <a:pt x="821" y="410"/>
                </a:cubicBezTo>
                <a:cubicBezTo>
                  <a:pt x="833" y="375"/>
                  <a:pt x="827" y="393"/>
                  <a:pt x="838" y="358"/>
                </a:cubicBezTo>
                <a:cubicBezTo>
                  <a:pt x="845" y="312"/>
                  <a:pt x="842" y="285"/>
                  <a:pt x="873" y="253"/>
                </a:cubicBezTo>
                <a:cubicBezTo>
                  <a:pt x="888" y="210"/>
                  <a:pt x="919" y="171"/>
                  <a:pt x="952" y="140"/>
                </a:cubicBezTo>
                <a:cubicBezTo>
                  <a:pt x="962" y="106"/>
                  <a:pt x="988" y="77"/>
                  <a:pt x="1013" y="52"/>
                </a:cubicBezTo>
                <a:cubicBezTo>
                  <a:pt x="1016" y="43"/>
                  <a:pt x="1019" y="35"/>
                  <a:pt x="1022" y="26"/>
                </a:cubicBezTo>
                <a:cubicBezTo>
                  <a:pt x="1025" y="17"/>
                  <a:pt x="1030" y="0"/>
                  <a:pt x="1030" y="0"/>
                </a:cubicBezTo>
              </a:path>
            </a:pathLst>
          </a:custGeom>
          <a:noFill/>
          <a:ln w="9525">
            <a:solidFill>
              <a:srgbClr val="8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7" name="Object 10">
            <a:extLst>
              <a:ext uri="{FF2B5EF4-FFF2-40B4-BE49-F238E27FC236}">
                <a16:creationId xmlns:a16="http://schemas.microsoft.com/office/drawing/2014/main" id="{5B1C6311-C435-49F0-BA72-BFD1D1A117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7912303"/>
              </p:ext>
            </p:extLst>
          </p:nvPr>
        </p:nvGraphicFramePr>
        <p:xfrm>
          <a:off x="7884096" y="3384525"/>
          <a:ext cx="844550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480" r:id="rId3" imgW="597476" imgH="229016" progId="Equation.DSMT4">
                  <p:embed/>
                </p:oleObj>
              </mc:Choice>
              <mc:Fallback>
                <p:oleObj r:id="rId3" imgW="597476" imgH="229016" progId="Equation.DSMT4">
                  <p:embed/>
                  <p:pic>
                    <p:nvPicPr>
                      <p:cNvPr id="17" name="Object 10">
                        <a:extLst>
                          <a:ext uri="{FF2B5EF4-FFF2-40B4-BE49-F238E27FC236}">
                            <a16:creationId xmlns:a16="http://schemas.microsoft.com/office/drawing/2014/main" id="{5B1C6311-C435-49F0-BA72-BFD1D1A117F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4096" y="3384525"/>
                        <a:ext cx="844550" cy="323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1">
            <a:extLst>
              <a:ext uri="{FF2B5EF4-FFF2-40B4-BE49-F238E27FC236}">
                <a16:creationId xmlns:a16="http://schemas.microsoft.com/office/drawing/2014/main" id="{9A82036B-25C3-4981-A00D-5D44D83AD8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165683"/>
              </p:ext>
            </p:extLst>
          </p:nvPr>
        </p:nvGraphicFramePr>
        <p:xfrm>
          <a:off x="8028558" y="2809850"/>
          <a:ext cx="971550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481" r:id="rId5" imgW="610182" imgH="229016" progId="Equation.DSMT4">
                  <p:embed/>
                </p:oleObj>
              </mc:Choice>
              <mc:Fallback>
                <p:oleObj r:id="rId5" imgW="610182" imgH="229016" progId="Equation.DSMT4">
                  <p:embed/>
                  <p:pic>
                    <p:nvPicPr>
                      <p:cNvPr id="18" name="Object 11">
                        <a:extLst>
                          <a:ext uri="{FF2B5EF4-FFF2-40B4-BE49-F238E27FC236}">
                            <a16:creationId xmlns:a16="http://schemas.microsoft.com/office/drawing/2014/main" id="{9A82036B-25C3-4981-A00D-5D44D83AD85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28558" y="2809850"/>
                        <a:ext cx="971550" cy="365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12">
            <a:extLst>
              <a:ext uri="{FF2B5EF4-FFF2-40B4-BE49-F238E27FC236}">
                <a16:creationId xmlns:a16="http://schemas.microsoft.com/office/drawing/2014/main" id="{C87211BB-EC2D-4C67-858E-A60D36544E2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2763458"/>
              </p:ext>
            </p:extLst>
          </p:nvPr>
        </p:nvGraphicFramePr>
        <p:xfrm>
          <a:off x="7571358" y="4256063"/>
          <a:ext cx="5842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482" r:id="rId7" imgW="584010" imgH="266786" progId="Equation.3">
                  <p:embed/>
                </p:oleObj>
              </mc:Choice>
              <mc:Fallback>
                <p:oleObj r:id="rId7" imgW="584010" imgH="266786" progId="Equation.3">
                  <p:embed/>
                  <p:pic>
                    <p:nvPicPr>
                      <p:cNvPr id="25" name="Object 12">
                        <a:extLst>
                          <a:ext uri="{FF2B5EF4-FFF2-40B4-BE49-F238E27FC236}">
                            <a16:creationId xmlns:a16="http://schemas.microsoft.com/office/drawing/2014/main" id="{C87211BB-EC2D-4C67-858E-A60D36544E2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71358" y="4256063"/>
                        <a:ext cx="58420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13">
            <a:extLst>
              <a:ext uri="{FF2B5EF4-FFF2-40B4-BE49-F238E27FC236}">
                <a16:creationId xmlns:a16="http://schemas.microsoft.com/office/drawing/2014/main" id="{43950A1F-4C70-4CD8-BB40-D27DDE3927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2393323"/>
              </p:ext>
            </p:extLst>
          </p:nvPr>
        </p:nvGraphicFramePr>
        <p:xfrm>
          <a:off x="8092058" y="1944663"/>
          <a:ext cx="908050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483" r:id="rId9" imgW="610182" imgH="229016" progId="Equation.DSMT4">
                  <p:embed/>
                </p:oleObj>
              </mc:Choice>
              <mc:Fallback>
                <p:oleObj r:id="rId9" imgW="610182" imgH="229016" progId="Equation.DSMT4">
                  <p:embed/>
                  <p:pic>
                    <p:nvPicPr>
                      <p:cNvPr id="26" name="Object 13">
                        <a:extLst>
                          <a:ext uri="{FF2B5EF4-FFF2-40B4-BE49-F238E27FC236}">
                            <a16:creationId xmlns:a16="http://schemas.microsoft.com/office/drawing/2014/main" id="{43950A1F-4C70-4CD8-BB40-D27DDE39274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92058" y="1944663"/>
                        <a:ext cx="908050" cy="341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14">
            <a:extLst>
              <a:ext uri="{FF2B5EF4-FFF2-40B4-BE49-F238E27FC236}">
                <a16:creationId xmlns:a16="http://schemas.microsoft.com/office/drawing/2014/main" id="{1E3E7173-5893-40FD-B3CB-04CC865EB5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7895255"/>
              </p:ext>
            </p:extLst>
          </p:nvPr>
        </p:nvGraphicFramePr>
        <p:xfrm>
          <a:off x="8085708" y="2484413"/>
          <a:ext cx="762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484" r:id="rId11" imgW="76385" imgH="241199" progId="Equation.3">
                  <p:embed/>
                </p:oleObj>
              </mc:Choice>
              <mc:Fallback>
                <p:oleObj r:id="rId11" imgW="76385" imgH="241199" progId="Equation.3">
                  <p:embed/>
                  <p:pic>
                    <p:nvPicPr>
                      <p:cNvPr id="27" name="Object 14">
                        <a:extLst>
                          <a:ext uri="{FF2B5EF4-FFF2-40B4-BE49-F238E27FC236}">
                            <a16:creationId xmlns:a16="http://schemas.microsoft.com/office/drawing/2014/main" id="{1E3E7173-5893-40FD-B3CB-04CC865EB53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85708" y="2484413"/>
                        <a:ext cx="762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15">
            <a:extLst>
              <a:ext uri="{FF2B5EF4-FFF2-40B4-BE49-F238E27FC236}">
                <a16:creationId xmlns:a16="http://schemas.microsoft.com/office/drawing/2014/main" id="{0FDB14CC-F240-490A-9430-3B960C3169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1700332"/>
              </p:ext>
            </p:extLst>
          </p:nvPr>
        </p:nvGraphicFramePr>
        <p:xfrm>
          <a:off x="3056508" y="2822550"/>
          <a:ext cx="762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485" r:id="rId13" imgW="76385" imgH="241199" progId="Equation.3">
                  <p:embed/>
                </p:oleObj>
              </mc:Choice>
              <mc:Fallback>
                <p:oleObj r:id="rId13" imgW="76385" imgH="241199" progId="Equation.3">
                  <p:embed/>
                  <p:pic>
                    <p:nvPicPr>
                      <p:cNvPr id="28" name="Object 15">
                        <a:extLst>
                          <a:ext uri="{FF2B5EF4-FFF2-40B4-BE49-F238E27FC236}">
                            <a16:creationId xmlns:a16="http://schemas.microsoft.com/office/drawing/2014/main" id="{0FDB14CC-F240-490A-9430-3B960C31696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6508" y="2822550"/>
                        <a:ext cx="762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Line 16">
            <a:extLst>
              <a:ext uri="{FF2B5EF4-FFF2-40B4-BE49-F238E27FC236}">
                <a16:creationId xmlns:a16="http://schemas.microsoft.com/office/drawing/2014/main" id="{4572E359-6C35-49D5-B1E2-DA9F18522B7B}"/>
              </a:ext>
            </a:extLst>
          </p:cNvPr>
          <p:cNvSpPr>
            <a:spLocks noChangeShapeType="1"/>
          </p:cNvSpPr>
          <p:nvPr/>
        </p:nvSpPr>
        <p:spPr bwMode="auto">
          <a:xfrm>
            <a:off x="5190108" y="5456213"/>
            <a:ext cx="12192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0" name="Object 17">
            <a:extLst>
              <a:ext uri="{FF2B5EF4-FFF2-40B4-BE49-F238E27FC236}">
                <a16:creationId xmlns:a16="http://schemas.microsoft.com/office/drawing/2014/main" id="{46A29711-44D6-4683-B36A-3B00A7CFCD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5703196"/>
              </p:ext>
            </p:extLst>
          </p:nvPr>
        </p:nvGraphicFramePr>
        <p:xfrm>
          <a:off x="5342508" y="5151413"/>
          <a:ext cx="2032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486" r:id="rId14" imgW="203517" imgH="216217" progId="Equation.3">
                  <p:embed/>
                </p:oleObj>
              </mc:Choice>
              <mc:Fallback>
                <p:oleObj r:id="rId14" imgW="203517" imgH="216217" progId="Equation.3">
                  <p:embed/>
                  <p:pic>
                    <p:nvPicPr>
                      <p:cNvPr id="30" name="Object 17">
                        <a:extLst>
                          <a:ext uri="{FF2B5EF4-FFF2-40B4-BE49-F238E27FC236}">
                            <a16:creationId xmlns:a16="http://schemas.microsoft.com/office/drawing/2014/main" id="{46A29711-44D6-4683-B36A-3B00A7CFCDC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42508" y="5151413"/>
                        <a:ext cx="2032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Line 18">
            <a:extLst>
              <a:ext uri="{FF2B5EF4-FFF2-40B4-BE49-F238E27FC236}">
                <a16:creationId xmlns:a16="http://schemas.microsoft.com/office/drawing/2014/main" id="{FD8EF5CA-3F29-4DBA-A05B-8433A757D09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04483" y="542287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" name="Line 19">
            <a:extLst>
              <a:ext uri="{FF2B5EF4-FFF2-40B4-BE49-F238E27FC236}">
                <a16:creationId xmlns:a16="http://schemas.microsoft.com/office/drawing/2014/main" id="{9B24A32A-70CE-484C-BFD0-2B8CBA66F1F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23358" y="5441925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3" name="Object 20">
            <a:extLst>
              <a:ext uri="{FF2B5EF4-FFF2-40B4-BE49-F238E27FC236}">
                <a16:creationId xmlns:a16="http://schemas.microsoft.com/office/drawing/2014/main" id="{F18FC724-A216-48A6-9AC8-ADD2547B42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7404530"/>
              </p:ext>
            </p:extLst>
          </p:nvPr>
        </p:nvGraphicFramePr>
        <p:xfrm>
          <a:off x="5837808" y="5157763"/>
          <a:ext cx="2794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487" r:id="rId16" imgW="279838" imgH="203605" progId="Equation.3">
                  <p:embed/>
                </p:oleObj>
              </mc:Choice>
              <mc:Fallback>
                <p:oleObj r:id="rId16" imgW="279838" imgH="203605" progId="Equation.3">
                  <p:embed/>
                  <p:pic>
                    <p:nvPicPr>
                      <p:cNvPr id="33" name="Object 20">
                        <a:extLst>
                          <a:ext uri="{FF2B5EF4-FFF2-40B4-BE49-F238E27FC236}">
                            <a16:creationId xmlns:a16="http://schemas.microsoft.com/office/drawing/2014/main" id="{F18FC724-A216-48A6-9AC8-ADD2547B423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7808" y="5157763"/>
                        <a:ext cx="279400" cy="20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21">
            <a:extLst>
              <a:ext uri="{FF2B5EF4-FFF2-40B4-BE49-F238E27FC236}">
                <a16:creationId xmlns:a16="http://schemas.microsoft.com/office/drawing/2014/main" id="{3D2BF17A-DC5F-4315-9EB4-A09AE4EE07A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9552877"/>
              </p:ext>
            </p:extLst>
          </p:nvPr>
        </p:nvGraphicFramePr>
        <p:xfrm>
          <a:off x="4297933" y="5176813"/>
          <a:ext cx="250825" cy="296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488" r:id="rId18" imgW="140078" imgH="165489" progId="Equation.DSMT4">
                  <p:embed/>
                </p:oleObj>
              </mc:Choice>
              <mc:Fallback>
                <p:oleObj r:id="rId18" imgW="140078" imgH="165489" progId="Equation.DSMT4">
                  <p:embed/>
                  <p:pic>
                    <p:nvPicPr>
                      <p:cNvPr id="34" name="Object 21">
                        <a:extLst>
                          <a:ext uri="{FF2B5EF4-FFF2-40B4-BE49-F238E27FC236}">
                            <a16:creationId xmlns:a16="http://schemas.microsoft.com/office/drawing/2014/main" id="{3D2BF17A-DC5F-4315-9EB4-A09AE4EE07A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7933" y="5176813"/>
                        <a:ext cx="250825" cy="296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Rectangle 22">
            <a:extLst>
              <a:ext uri="{FF2B5EF4-FFF2-40B4-BE49-F238E27FC236}">
                <a16:creationId xmlns:a16="http://schemas.microsoft.com/office/drawing/2014/main" id="{5817DA4A-30DE-4175-B3B8-8C07BD6BC3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397" y="2056780"/>
            <a:ext cx="1763712" cy="230832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Tx/>
            </a:pPr>
            <a:r>
              <a:rPr lang="zh-CN" altLang="en-US" dirty="0">
                <a:solidFill>
                  <a:srgbClr val="C00000"/>
                </a:solidFill>
                <a:latin typeface="宋体" panose="02010600030101010101" pitchFamily="2" charset="-122"/>
              </a:rPr>
              <a:t>几何解释</a:t>
            </a:r>
            <a:r>
              <a:rPr lang="en-US" altLang="zh-CN" dirty="0">
                <a:solidFill>
                  <a:srgbClr val="C00000"/>
                </a:solidFill>
                <a:latin typeface="宋体" panose="02010600030101010101" pitchFamily="2" charset="-122"/>
              </a:rPr>
              <a:t>:</a:t>
            </a:r>
          </a:p>
          <a:p>
            <a:pPr eaLnBrk="1" hangingPunct="1"/>
            <a:r>
              <a:rPr lang="zh-CN" altLang="en-US" dirty="0">
                <a:solidFill>
                  <a:schemeClr val="tx1"/>
                </a:solidFill>
              </a:rPr>
              <a:t>改造曲线，使其在</a:t>
            </a:r>
            <a:r>
              <a:rPr lang="en-US" altLang="zh-CN" dirty="0">
                <a:solidFill>
                  <a:schemeClr val="tx1"/>
                </a:solidFill>
              </a:rPr>
              <a:t>D</a:t>
            </a:r>
            <a:r>
              <a:rPr lang="zh-CN" altLang="en-US" dirty="0">
                <a:solidFill>
                  <a:schemeClr val="tx1"/>
                </a:solidFill>
              </a:rPr>
              <a:t>内保持不变，在</a:t>
            </a:r>
            <a:r>
              <a:rPr lang="en-US" altLang="zh-CN" dirty="0">
                <a:solidFill>
                  <a:schemeClr val="tx1"/>
                </a:solidFill>
              </a:rPr>
              <a:t>D</a:t>
            </a:r>
            <a:r>
              <a:rPr lang="zh-CN" altLang="en-US" dirty="0">
                <a:solidFill>
                  <a:schemeClr val="tx1"/>
                </a:solidFill>
              </a:rPr>
              <a:t>外将曲线逐步抬高。</a:t>
            </a:r>
          </a:p>
        </p:txBody>
      </p:sp>
      <p:sp>
        <p:nvSpPr>
          <p:cNvPr id="36" name="Oval 23">
            <a:extLst>
              <a:ext uri="{FF2B5EF4-FFF2-40B4-BE49-F238E27FC236}">
                <a16:creationId xmlns:a16="http://schemas.microsoft.com/office/drawing/2014/main" id="{9E7D2D84-93D0-4147-A682-F63330DE50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5908" y="5980088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7" name="Oval 24">
            <a:extLst>
              <a:ext uri="{FF2B5EF4-FFF2-40B4-BE49-F238E27FC236}">
                <a16:creationId xmlns:a16="http://schemas.microsoft.com/office/drawing/2014/main" id="{11967AEF-B643-490C-9538-6996E1272A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0021" y="663255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8" name="Freeform 25">
            <a:extLst>
              <a:ext uri="{FF2B5EF4-FFF2-40B4-BE49-F238E27FC236}">
                <a16:creationId xmlns:a16="http://schemas.microsoft.com/office/drawing/2014/main" id="{4433D8C8-3F18-4211-922F-0E5C0D50413C}"/>
              </a:ext>
            </a:extLst>
          </p:cNvPr>
          <p:cNvSpPr>
            <a:spLocks/>
          </p:cNvSpPr>
          <p:nvPr/>
        </p:nvSpPr>
        <p:spPr bwMode="auto">
          <a:xfrm>
            <a:off x="2807271" y="3370238"/>
            <a:ext cx="2409825" cy="2451100"/>
          </a:xfrm>
          <a:custGeom>
            <a:avLst/>
            <a:gdLst>
              <a:gd name="T0" fmla="*/ 0 w 1518"/>
              <a:gd name="T1" fmla="*/ 0 h 1544"/>
              <a:gd name="T2" fmla="*/ 2147483647 w 1518"/>
              <a:gd name="T3" fmla="*/ 2147483647 h 1544"/>
              <a:gd name="T4" fmla="*/ 2147483647 w 1518"/>
              <a:gd name="T5" fmla="*/ 2147483647 h 1544"/>
              <a:gd name="T6" fmla="*/ 2147483647 w 1518"/>
              <a:gd name="T7" fmla="*/ 2147483647 h 1544"/>
              <a:gd name="T8" fmla="*/ 2147483647 w 1518"/>
              <a:gd name="T9" fmla="*/ 2147483647 h 1544"/>
              <a:gd name="T10" fmla="*/ 2147483647 w 1518"/>
              <a:gd name="T11" fmla="*/ 2147483647 h 1544"/>
              <a:gd name="T12" fmla="*/ 2147483647 w 1518"/>
              <a:gd name="T13" fmla="*/ 2147483647 h 1544"/>
              <a:gd name="T14" fmla="*/ 2147483647 w 1518"/>
              <a:gd name="T15" fmla="*/ 2147483647 h 1544"/>
              <a:gd name="T16" fmla="*/ 2147483647 w 1518"/>
              <a:gd name="T17" fmla="*/ 2147483647 h 1544"/>
              <a:gd name="T18" fmla="*/ 2147483647 w 1518"/>
              <a:gd name="T19" fmla="*/ 2147483647 h 1544"/>
              <a:gd name="T20" fmla="*/ 2147483647 w 1518"/>
              <a:gd name="T21" fmla="*/ 2147483647 h 1544"/>
              <a:gd name="T22" fmla="*/ 2147483647 w 1518"/>
              <a:gd name="T23" fmla="*/ 2147483647 h 1544"/>
              <a:gd name="T24" fmla="*/ 2147483647 w 1518"/>
              <a:gd name="T25" fmla="*/ 2147483647 h 1544"/>
              <a:gd name="T26" fmla="*/ 2147483647 w 1518"/>
              <a:gd name="T27" fmla="*/ 2147483647 h 1544"/>
              <a:gd name="T28" fmla="*/ 2147483647 w 1518"/>
              <a:gd name="T29" fmla="*/ 2147483647 h 1544"/>
              <a:gd name="T30" fmla="*/ 2147483647 w 1518"/>
              <a:gd name="T31" fmla="*/ 2147483647 h 1544"/>
              <a:gd name="T32" fmla="*/ 2147483647 w 1518"/>
              <a:gd name="T33" fmla="*/ 2147483647 h 1544"/>
              <a:gd name="T34" fmla="*/ 2147483647 w 1518"/>
              <a:gd name="T35" fmla="*/ 2147483647 h 1544"/>
              <a:gd name="T36" fmla="*/ 2147483647 w 1518"/>
              <a:gd name="T37" fmla="*/ 2147483647 h 1544"/>
              <a:gd name="T38" fmla="*/ 2147483647 w 1518"/>
              <a:gd name="T39" fmla="*/ 2147483647 h 1544"/>
              <a:gd name="T40" fmla="*/ 2147483647 w 1518"/>
              <a:gd name="T41" fmla="*/ 2147483647 h 1544"/>
              <a:gd name="T42" fmla="*/ 2147483647 w 1518"/>
              <a:gd name="T43" fmla="*/ 2147483647 h 1544"/>
              <a:gd name="T44" fmla="*/ 2147483647 w 1518"/>
              <a:gd name="T45" fmla="*/ 2147483647 h 1544"/>
              <a:gd name="T46" fmla="*/ 2147483647 w 1518"/>
              <a:gd name="T47" fmla="*/ 2147483647 h 1544"/>
              <a:gd name="T48" fmla="*/ 2147483647 w 1518"/>
              <a:gd name="T49" fmla="*/ 2147483647 h 1544"/>
              <a:gd name="T50" fmla="*/ 2147483647 w 1518"/>
              <a:gd name="T51" fmla="*/ 2147483647 h 1544"/>
              <a:gd name="T52" fmla="*/ 2147483647 w 1518"/>
              <a:gd name="T53" fmla="*/ 2147483647 h 1544"/>
              <a:gd name="T54" fmla="*/ 2147483647 w 1518"/>
              <a:gd name="T55" fmla="*/ 2147483647 h 1544"/>
              <a:gd name="T56" fmla="*/ 2147483647 w 1518"/>
              <a:gd name="T57" fmla="*/ 2147483647 h 1544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w 1518"/>
              <a:gd name="T88" fmla="*/ 0 h 1544"/>
              <a:gd name="T89" fmla="*/ 1518 w 1518"/>
              <a:gd name="T90" fmla="*/ 1544 h 1544"/>
            </a:gdLst>
            <a:ahLst/>
            <a:cxnLst>
              <a:cxn ang="T58">
                <a:pos x="T0" y="T1"/>
              </a:cxn>
              <a:cxn ang="T59">
                <a:pos x="T2" y="T3"/>
              </a:cxn>
              <a:cxn ang="T60">
                <a:pos x="T4" y="T5"/>
              </a:cxn>
              <a:cxn ang="T61">
                <a:pos x="T6" y="T7"/>
              </a:cxn>
              <a:cxn ang="T62">
                <a:pos x="T8" y="T9"/>
              </a:cxn>
              <a:cxn ang="T63">
                <a:pos x="T10" y="T11"/>
              </a:cxn>
              <a:cxn ang="T64">
                <a:pos x="T12" y="T13"/>
              </a:cxn>
              <a:cxn ang="T65">
                <a:pos x="T14" y="T15"/>
              </a:cxn>
              <a:cxn ang="T66">
                <a:pos x="T16" y="T17"/>
              </a:cxn>
              <a:cxn ang="T67">
                <a:pos x="T18" y="T19"/>
              </a:cxn>
              <a:cxn ang="T68">
                <a:pos x="T20" y="T21"/>
              </a:cxn>
              <a:cxn ang="T69">
                <a:pos x="T22" y="T23"/>
              </a:cxn>
              <a:cxn ang="T70">
                <a:pos x="T24" y="T25"/>
              </a:cxn>
              <a:cxn ang="T71">
                <a:pos x="T26" y="T27"/>
              </a:cxn>
              <a:cxn ang="T72">
                <a:pos x="T28" y="T29"/>
              </a:cxn>
              <a:cxn ang="T73">
                <a:pos x="T30" y="T31"/>
              </a:cxn>
              <a:cxn ang="T74">
                <a:pos x="T32" y="T33"/>
              </a:cxn>
              <a:cxn ang="T75">
                <a:pos x="T34" y="T35"/>
              </a:cxn>
              <a:cxn ang="T76">
                <a:pos x="T36" y="T37"/>
              </a:cxn>
              <a:cxn ang="T77">
                <a:pos x="T38" y="T39"/>
              </a:cxn>
              <a:cxn ang="T78">
                <a:pos x="T40" y="T41"/>
              </a:cxn>
              <a:cxn ang="T79">
                <a:pos x="T42" y="T43"/>
              </a:cxn>
              <a:cxn ang="T80">
                <a:pos x="T44" y="T45"/>
              </a:cxn>
              <a:cxn ang="T81">
                <a:pos x="T46" y="T47"/>
              </a:cxn>
              <a:cxn ang="T82">
                <a:pos x="T48" y="T49"/>
              </a:cxn>
              <a:cxn ang="T83">
                <a:pos x="T50" y="T51"/>
              </a:cxn>
              <a:cxn ang="T84">
                <a:pos x="T52" y="T53"/>
              </a:cxn>
              <a:cxn ang="T85">
                <a:pos x="T54" y="T55"/>
              </a:cxn>
              <a:cxn ang="T86">
                <a:pos x="T56" y="T57"/>
              </a:cxn>
            </a:cxnLst>
            <a:rect l="T87" t="T88" r="T89" b="T90"/>
            <a:pathLst>
              <a:path w="1518" h="1544">
                <a:moveTo>
                  <a:pt x="0" y="0"/>
                </a:moveTo>
                <a:cubicBezTo>
                  <a:pt x="42" y="4"/>
                  <a:pt x="116" y="6"/>
                  <a:pt x="157" y="26"/>
                </a:cubicBezTo>
                <a:cubicBezTo>
                  <a:pt x="187" y="41"/>
                  <a:pt x="213" y="59"/>
                  <a:pt x="244" y="70"/>
                </a:cubicBezTo>
                <a:cubicBezTo>
                  <a:pt x="264" y="85"/>
                  <a:pt x="287" y="96"/>
                  <a:pt x="305" y="113"/>
                </a:cubicBezTo>
                <a:cubicBezTo>
                  <a:pt x="313" y="120"/>
                  <a:pt x="315" y="132"/>
                  <a:pt x="323" y="139"/>
                </a:cubicBezTo>
                <a:cubicBezTo>
                  <a:pt x="342" y="156"/>
                  <a:pt x="363" y="169"/>
                  <a:pt x="384" y="183"/>
                </a:cubicBezTo>
                <a:cubicBezTo>
                  <a:pt x="393" y="189"/>
                  <a:pt x="402" y="193"/>
                  <a:pt x="410" y="200"/>
                </a:cubicBezTo>
                <a:cubicBezTo>
                  <a:pt x="454" y="237"/>
                  <a:pt x="416" y="221"/>
                  <a:pt x="462" y="235"/>
                </a:cubicBezTo>
                <a:cubicBezTo>
                  <a:pt x="503" y="276"/>
                  <a:pt x="559" y="322"/>
                  <a:pt x="611" y="349"/>
                </a:cubicBezTo>
                <a:cubicBezTo>
                  <a:pt x="640" y="388"/>
                  <a:pt x="672" y="410"/>
                  <a:pt x="707" y="445"/>
                </a:cubicBezTo>
                <a:cubicBezTo>
                  <a:pt x="734" y="472"/>
                  <a:pt x="748" y="505"/>
                  <a:pt x="777" y="532"/>
                </a:cubicBezTo>
                <a:cubicBezTo>
                  <a:pt x="780" y="541"/>
                  <a:pt x="780" y="551"/>
                  <a:pt x="785" y="558"/>
                </a:cubicBezTo>
                <a:cubicBezTo>
                  <a:pt x="797" y="575"/>
                  <a:pt x="829" y="602"/>
                  <a:pt x="829" y="602"/>
                </a:cubicBezTo>
                <a:cubicBezTo>
                  <a:pt x="849" y="660"/>
                  <a:pt x="822" y="595"/>
                  <a:pt x="864" y="654"/>
                </a:cubicBezTo>
                <a:cubicBezTo>
                  <a:pt x="885" y="684"/>
                  <a:pt x="904" y="719"/>
                  <a:pt x="925" y="750"/>
                </a:cubicBezTo>
                <a:cubicBezTo>
                  <a:pt x="934" y="786"/>
                  <a:pt x="943" y="803"/>
                  <a:pt x="969" y="829"/>
                </a:cubicBezTo>
                <a:cubicBezTo>
                  <a:pt x="991" y="900"/>
                  <a:pt x="960" y="815"/>
                  <a:pt x="995" y="872"/>
                </a:cubicBezTo>
                <a:cubicBezTo>
                  <a:pt x="1036" y="939"/>
                  <a:pt x="961" y="856"/>
                  <a:pt x="1030" y="925"/>
                </a:cubicBezTo>
                <a:cubicBezTo>
                  <a:pt x="1052" y="996"/>
                  <a:pt x="1021" y="911"/>
                  <a:pt x="1056" y="968"/>
                </a:cubicBezTo>
                <a:cubicBezTo>
                  <a:pt x="1061" y="976"/>
                  <a:pt x="1061" y="986"/>
                  <a:pt x="1065" y="995"/>
                </a:cubicBezTo>
                <a:cubicBezTo>
                  <a:pt x="1078" y="1021"/>
                  <a:pt x="1096" y="1046"/>
                  <a:pt x="1108" y="1073"/>
                </a:cubicBezTo>
                <a:cubicBezTo>
                  <a:pt x="1131" y="1124"/>
                  <a:pt x="1143" y="1185"/>
                  <a:pt x="1152" y="1239"/>
                </a:cubicBezTo>
                <a:cubicBezTo>
                  <a:pt x="1156" y="1316"/>
                  <a:pt x="1126" y="1509"/>
                  <a:pt x="1239" y="1544"/>
                </a:cubicBezTo>
                <a:cubicBezTo>
                  <a:pt x="1265" y="1536"/>
                  <a:pt x="1266" y="1540"/>
                  <a:pt x="1283" y="1518"/>
                </a:cubicBezTo>
                <a:cubicBezTo>
                  <a:pt x="1296" y="1501"/>
                  <a:pt x="1318" y="1466"/>
                  <a:pt x="1318" y="1466"/>
                </a:cubicBezTo>
                <a:cubicBezTo>
                  <a:pt x="1328" y="1432"/>
                  <a:pt x="1336" y="1424"/>
                  <a:pt x="1370" y="1414"/>
                </a:cubicBezTo>
                <a:cubicBezTo>
                  <a:pt x="1389" y="1395"/>
                  <a:pt x="1415" y="1381"/>
                  <a:pt x="1440" y="1370"/>
                </a:cubicBezTo>
                <a:cubicBezTo>
                  <a:pt x="1457" y="1362"/>
                  <a:pt x="1492" y="1352"/>
                  <a:pt x="1492" y="1352"/>
                </a:cubicBezTo>
                <a:cubicBezTo>
                  <a:pt x="1512" y="1333"/>
                  <a:pt x="1502" y="1335"/>
                  <a:pt x="1518" y="1335"/>
                </a:cubicBezTo>
              </a:path>
            </a:pathLst>
          </a:custGeom>
          <a:noFill/>
          <a:ln w="9525">
            <a:solidFill>
              <a:srgbClr val="80008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9" name="Rectangle 27">
            <a:extLst>
              <a:ext uri="{FF2B5EF4-FFF2-40B4-BE49-F238E27FC236}">
                <a16:creationId xmlns:a16="http://schemas.microsoft.com/office/drawing/2014/main" id="{9AA8E478-1D63-4E44-9D1A-1388054ECB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3396" y="6428184"/>
            <a:ext cx="41767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Tx/>
            </a:pPr>
            <a:r>
              <a:rPr lang="zh-CN" altLang="en-US" dirty="0">
                <a:solidFill>
                  <a:schemeClr val="tx1"/>
                </a:solidFill>
              </a:rPr>
              <a:t>求曲线</a:t>
            </a:r>
            <a:r>
              <a:rPr lang="en-US" altLang="zh-CN" i="1" dirty="0">
                <a:solidFill>
                  <a:schemeClr val="tx1"/>
                </a:solidFill>
              </a:rPr>
              <a:t>y</a:t>
            </a:r>
            <a:r>
              <a:rPr lang="en-US" altLang="zh-CN" dirty="0">
                <a:solidFill>
                  <a:schemeClr val="tx1"/>
                </a:solidFill>
              </a:rPr>
              <a:t>=</a:t>
            </a:r>
            <a:r>
              <a:rPr lang="en-US" altLang="zh-CN" i="1" dirty="0">
                <a:solidFill>
                  <a:schemeClr val="tx1"/>
                </a:solidFill>
              </a:rPr>
              <a:t>f</a:t>
            </a:r>
            <a:r>
              <a:rPr lang="en-US" altLang="zh-CN" dirty="0">
                <a:solidFill>
                  <a:schemeClr val="tx1"/>
                </a:solidFill>
              </a:rPr>
              <a:t>(</a:t>
            </a:r>
            <a:r>
              <a:rPr lang="en-US" altLang="zh-CN" i="1" dirty="0">
                <a:solidFill>
                  <a:schemeClr val="tx1"/>
                </a:solidFill>
              </a:rPr>
              <a:t>x</a:t>
            </a:r>
            <a:r>
              <a:rPr lang="en-US" altLang="zh-CN" dirty="0">
                <a:solidFill>
                  <a:schemeClr val="tx1"/>
                </a:solidFill>
              </a:rPr>
              <a:t>)</a:t>
            </a:r>
            <a:r>
              <a:rPr lang="zh-CN" altLang="en-US" dirty="0">
                <a:solidFill>
                  <a:schemeClr val="tx1"/>
                </a:solidFill>
              </a:rPr>
              <a:t>在</a:t>
            </a:r>
            <a:r>
              <a:rPr lang="en-US" altLang="zh-CN" dirty="0">
                <a:solidFill>
                  <a:schemeClr val="tx1"/>
                </a:solidFill>
              </a:rPr>
              <a:t>D</a:t>
            </a:r>
            <a:r>
              <a:rPr lang="zh-CN" altLang="en-US" dirty="0">
                <a:solidFill>
                  <a:schemeClr val="tx1"/>
                </a:solidFill>
              </a:rPr>
              <a:t>内的最小点</a:t>
            </a:r>
          </a:p>
        </p:txBody>
      </p:sp>
      <p:sp>
        <p:nvSpPr>
          <p:cNvPr id="40" name="Rectangle 28">
            <a:extLst>
              <a:ext uri="{FF2B5EF4-FFF2-40B4-BE49-F238E27FC236}">
                <a16:creationId xmlns:a16="http://schemas.microsoft.com/office/drawing/2014/main" id="{B84243F9-761E-4F3E-8F8C-54B3843E03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9320" y="909613"/>
            <a:ext cx="607222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Tx/>
            </a:pPr>
            <a:r>
              <a:rPr lang="zh-CN" altLang="en-US" dirty="0">
                <a:solidFill>
                  <a:srgbClr val="800000"/>
                </a:solidFill>
              </a:rPr>
              <a:t>抬高到一定程度后，此曲线的无约束极小点就是原来函数在</a:t>
            </a:r>
            <a:r>
              <a:rPr lang="en-US" altLang="zh-CN" dirty="0">
                <a:solidFill>
                  <a:srgbClr val="800000"/>
                </a:solidFill>
              </a:rPr>
              <a:t>D</a:t>
            </a:r>
            <a:r>
              <a:rPr lang="zh-CN" altLang="en-US" dirty="0">
                <a:solidFill>
                  <a:srgbClr val="800000"/>
                </a:solidFill>
              </a:rPr>
              <a:t>内的最小点</a:t>
            </a:r>
            <a:r>
              <a:rPr lang="en-US" altLang="zh-CN" dirty="0">
                <a:solidFill>
                  <a:srgbClr val="800000"/>
                </a:solidFill>
              </a:rPr>
              <a:t>.</a:t>
            </a:r>
            <a:endParaRPr lang="zh-CN" altLang="en-US" dirty="0">
              <a:solidFill>
                <a:srgbClr val="800000"/>
              </a:solidFill>
            </a:endParaRPr>
          </a:p>
        </p:txBody>
      </p:sp>
      <p:graphicFrame>
        <p:nvGraphicFramePr>
          <p:cNvPr id="41" name="Object 32">
            <a:extLst>
              <a:ext uri="{FF2B5EF4-FFF2-40B4-BE49-F238E27FC236}">
                <a16:creationId xmlns:a16="http://schemas.microsoft.com/office/drawing/2014/main" id="{A7317704-D5FD-4673-A450-6DEF9E3F82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872250"/>
              </p:ext>
            </p:extLst>
          </p:nvPr>
        </p:nvGraphicFramePr>
        <p:xfrm>
          <a:off x="3780408" y="2089125"/>
          <a:ext cx="3646488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489" r:id="rId20" imgW="1802153" imgH="203341" progId="Equation.DSMT4">
                  <p:embed/>
                </p:oleObj>
              </mc:Choice>
              <mc:Fallback>
                <p:oleObj r:id="rId20" imgW="1802153" imgH="203341" progId="Equation.DSMT4">
                  <p:embed/>
                  <p:pic>
                    <p:nvPicPr>
                      <p:cNvPr id="45" name="Object 32">
                        <a:extLst>
                          <a:ext uri="{FF2B5EF4-FFF2-40B4-BE49-F238E27FC236}">
                            <a16:creationId xmlns:a16="http://schemas.microsoft.com/office/drawing/2014/main" id="{A7317704-D5FD-4673-A450-6DEF9E3F82A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0408" y="2089125"/>
                        <a:ext cx="3646488" cy="411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Rectangle 36">
            <a:extLst>
              <a:ext uri="{FF2B5EF4-FFF2-40B4-BE49-F238E27FC236}">
                <a16:creationId xmlns:a16="http://schemas.microsoft.com/office/drawing/2014/main" id="{058DE35F-BEB7-498D-881E-9874430F50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771" y="3025750"/>
            <a:ext cx="2016125" cy="346075"/>
          </a:xfrm>
          <a:prstGeom prst="rect">
            <a:avLst/>
          </a:prstGeom>
          <a:solidFill>
            <a:srgbClr val="FFFF66"/>
          </a:solidFill>
          <a:ln w="9525">
            <a:solidFill>
              <a:srgbClr val="008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Tx/>
            </a:pPr>
            <a:r>
              <a:rPr lang="zh-CN" altLang="en-US" sz="2000"/>
              <a:t>可行点不惩罚</a:t>
            </a:r>
            <a:r>
              <a:rPr lang="en-US" altLang="zh-CN" sz="2000"/>
              <a:t>,</a:t>
            </a:r>
          </a:p>
        </p:txBody>
      </p:sp>
      <p:sp>
        <p:nvSpPr>
          <p:cNvPr id="43" name="Rectangle 39">
            <a:extLst>
              <a:ext uri="{FF2B5EF4-FFF2-40B4-BE49-F238E27FC236}">
                <a16:creationId xmlns:a16="http://schemas.microsoft.com/office/drawing/2014/main" id="{A7B294DE-B080-4478-BEC3-47744EAD8E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0046" y="2520925"/>
            <a:ext cx="4895850" cy="346075"/>
          </a:xfrm>
          <a:prstGeom prst="rect">
            <a:avLst/>
          </a:prstGeom>
          <a:solidFill>
            <a:srgbClr val="FFFF66"/>
          </a:solidFill>
          <a:ln w="9525">
            <a:solidFill>
              <a:srgbClr val="008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Tx/>
            </a:pPr>
            <a:r>
              <a:rPr lang="zh-CN" altLang="en-US" sz="2000"/>
              <a:t>违反约束的点在目标函数中加入惩罚，</a:t>
            </a:r>
          </a:p>
        </p:txBody>
      </p:sp>
      <p:sp>
        <p:nvSpPr>
          <p:cNvPr id="44" name="Rectangle 3">
            <a:extLst>
              <a:ext uri="{FF2B5EF4-FFF2-40B4-BE49-F238E27FC236}">
                <a16:creationId xmlns:a16="http://schemas.microsoft.com/office/drawing/2014/main" id="{4CDFD6AF-5A3F-4944-A371-2FF31B9503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764704"/>
            <a:ext cx="2123951" cy="5810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Tx/>
              <a:defRPr/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外点罚函数法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21603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000"/>
                            </p:stCondLst>
                            <p:childTnLst>
                              <p:par>
                                <p:cTn id="9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000"/>
                            </p:stCondLst>
                            <p:childTnLst>
                              <p:par>
                                <p:cTn id="10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500"/>
                            </p:stCondLst>
                            <p:childTnLst>
                              <p:par>
                                <p:cTn id="12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500"/>
                            </p:stCondLst>
                            <p:childTnLst>
                              <p:par>
                                <p:cTn id="1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1000"/>
                            </p:stCondLst>
                            <p:childTnLst>
                              <p:par>
                                <p:cTn id="1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9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 autoUpdateAnimBg="0"/>
      <p:bldP spid="12" grpId="0" animBg="1" autoUpdateAnimBg="0"/>
      <p:bldP spid="13" grpId="0" animBg="1" autoUpdateAnimBg="0"/>
      <p:bldP spid="14" grpId="0" animBg="1" autoUpdateAnimBg="0"/>
      <p:bldP spid="15" grpId="0" animBg="1" autoUpdateAnimBg="0"/>
      <p:bldP spid="16" grpId="0" animBg="1" autoUpdateAnimBg="0"/>
      <p:bldP spid="35" grpId="0" animBg="1" autoUpdateAnimBg="0"/>
      <p:bldP spid="36" grpId="0" animBg="1" autoUpdateAnimBg="0"/>
      <p:bldP spid="37" grpId="0" animBg="1" autoUpdateAnimBg="0"/>
      <p:bldP spid="38" grpId="0" animBg="1" autoUpdateAnimBg="0"/>
      <p:bldP spid="39" grpId="0" autoUpdateAnimBg="0"/>
      <p:bldP spid="40" grpId="0" build="allAtOnce" autoUpdateAnimBg="0"/>
      <p:bldP spid="42" grpId="0" animBg="1" autoUpdateAnimBg="0"/>
      <p:bldP spid="42" grpId="1" animBg="1" autoUpdateAnimBg="0"/>
      <p:bldP spid="43" grpId="0" animBg="1" autoUpdateAnimBg="0"/>
      <p:bldP spid="43" grpId="1" animBg="1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3"/>
          <p:cNvSpPr>
            <a:spLocks noGrp="1"/>
          </p:cNvSpPr>
          <p:nvPr>
            <p:ph type="title"/>
          </p:nvPr>
        </p:nvSpPr>
        <p:spPr>
          <a:xfrm>
            <a:off x="2928926" y="142852"/>
            <a:ext cx="6215073" cy="549844"/>
          </a:xfrm>
        </p:spPr>
        <p:txBody>
          <a:bodyPr/>
          <a:lstStyle/>
          <a:p>
            <a:r>
              <a:rPr lang="zh-CN" altLang="en-US" sz="36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第六章 常用约束最优化方法</a:t>
            </a:r>
            <a:endParaRPr kumimoji="1"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CDFD6AF-5A3F-4944-A371-2FF31B9503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532" y="764704"/>
            <a:ext cx="8424936" cy="5810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Tx/>
              <a:defRPr/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外点罚函数法</a:t>
            </a:r>
            <a:endParaRPr lang="en-US" altLang="zh-CN" sz="2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5B637EE-A255-42DD-AF28-470E3F14D1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620" y="1277888"/>
            <a:ext cx="4572000" cy="4914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30000"/>
              </a:lnSpc>
              <a:buClrTx/>
              <a:defRPr/>
            </a:pPr>
            <a:endParaRPr lang="zh-CN" altLang="en-US" sz="2200" dirty="0">
              <a:solidFill>
                <a:srgbClr val="0066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68DAC99D-A397-44AD-9A86-0D40B88FC3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412825"/>
            <a:ext cx="8964612" cy="436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buClrTx/>
              <a:defRPr/>
            </a:pPr>
            <a:r>
              <a:rPr lang="zh-CN" altLang="en-US" sz="200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sz="200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给定初始点     ，初始罚因子          </a:t>
            </a:r>
            <a:r>
              <a:rPr 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可取          </a:t>
            </a:r>
            <a:r>
              <a:rPr 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),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精度</a:t>
            </a:r>
            <a:r>
              <a:rPr lang="zh-CN" altLang="en-US" sz="200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</a:t>
            </a:r>
          </a:p>
        </p:txBody>
      </p:sp>
      <p:graphicFrame>
        <p:nvGraphicFramePr>
          <p:cNvPr id="11" name="Object 4">
            <a:extLst>
              <a:ext uri="{FF2B5EF4-FFF2-40B4-BE49-F238E27FC236}">
                <a16:creationId xmlns:a16="http://schemas.microsoft.com/office/drawing/2014/main" id="{461CE3A8-7CF2-467E-A109-50C75D12F2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1827885"/>
              </p:ext>
            </p:extLst>
          </p:nvPr>
        </p:nvGraphicFramePr>
        <p:xfrm>
          <a:off x="2483768" y="1412825"/>
          <a:ext cx="320675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522" r:id="rId3" imgW="190983" imgH="229116" progId="Equation.DSMT4">
                  <p:embed/>
                </p:oleObj>
              </mc:Choice>
              <mc:Fallback>
                <p:oleObj r:id="rId3" imgW="190983" imgH="229116" progId="Equation.DSMT4">
                  <p:embed/>
                  <p:pic>
                    <p:nvPicPr>
                      <p:cNvPr id="42" name="Object 4">
                        <a:extLst>
                          <a:ext uri="{FF2B5EF4-FFF2-40B4-BE49-F238E27FC236}">
                            <a16:creationId xmlns:a16="http://schemas.microsoft.com/office/drawing/2014/main" id="{461CE3A8-7CF2-467E-A109-50C75D12F2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3768" y="1412825"/>
                        <a:ext cx="320675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5">
            <a:extLst>
              <a:ext uri="{FF2B5EF4-FFF2-40B4-BE49-F238E27FC236}">
                <a16:creationId xmlns:a16="http://schemas.microsoft.com/office/drawing/2014/main" id="{BA9C18F8-B85F-4EC6-B681-A6D73B85EA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8906957"/>
              </p:ext>
            </p:extLst>
          </p:nvPr>
        </p:nvGraphicFramePr>
        <p:xfrm>
          <a:off x="4272991" y="1461504"/>
          <a:ext cx="876300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523" r:id="rId5" imgW="521017" imgH="241617" progId="Equation.DSMT4">
                  <p:embed/>
                </p:oleObj>
              </mc:Choice>
              <mc:Fallback>
                <p:oleObj r:id="rId5" imgW="521017" imgH="241617" progId="Equation.DSMT4">
                  <p:embed/>
                  <p:pic>
                    <p:nvPicPr>
                      <p:cNvPr id="43" name="Object 5">
                        <a:extLst>
                          <a:ext uri="{FF2B5EF4-FFF2-40B4-BE49-F238E27FC236}">
                            <a16:creationId xmlns:a16="http://schemas.microsoft.com/office/drawing/2014/main" id="{BA9C18F8-B85F-4EC6-B681-A6D73B85EAC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2991" y="1461504"/>
                        <a:ext cx="876300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6">
            <a:extLst>
              <a:ext uri="{FF2B5EF4-FFF2-40B4-BE49-F238E27FC236}">
                <a16:creationId xmlns:a16="http://schemas.microsoft.com/office/drawing/2014/main" id="{A4334005-4FB4-4E0D-B3E2-881C467A90B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9121644"/>
              </p:ext>
            </p:extLst>
          </p:nvPr>
        </p:nvGraphicFramePr>
        <p:xfrm>
          <a:off x="5639989" y="1471562"/>
          <a:ext cx="833438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524" r:id="rId7" imgW="495617" imgH="241617" progId="Equation.DSMT4">
                  <p:embed/>
                </p:oleObj>
              </mc:Choice>
              <mc:Fallback>
                <p:oleObj r:id="rId7" imgW="495617" imgH="241617" progId="Equation.DSMT4">
                  <p:embed/>
                  <p:pic>
                    <p:nvPicPr>
                      <p:cNvPr id="44" name="Object 6">
                        <a:extLst>
                          <a:ext uri="{FF2B5EF4-FFF2-40B4-BE49-F238E27FC236}">
                            <a16:creationId xmlns:a16="http://schemas.microsoft.com/office/drawing/2014/main" id="{A4334005-4FB4-4E0D-B3E2-881C467A90B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9989" y="1471562"/>
                        <a:ext cx="833438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7">
            <a:extLst>
              <a:ext uri="{FF2B5EF4-FFF2-40B4-BE49-F238E27FC236}">
                <a16:creationId xmlns:a16="http://schemas.microsoft.com/office/drawing/2014/main" id="{C9459553-DDFC-4F8F-9E48-F6BE1253AB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9422653"/>
              </p:ext>
            </p:extLst>
          </p:nvPr>
        </p:nvGraphicFramePr>
        <p:xfrm>
          <a:off x="1403350" y="1917650"/>
          <a:ext cx="1474788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525" r:id="rId9" imgW="876998" imgH="229016" progId="Equation.DSMT4">
                  <p:embed/>
                </p:oleObj>
              </mc:Choice>
              <mc:Fallback>
                <p:oleObj r:id="rId9" imgW="876998" imgH="229016" progId="Equation.DSMT4">
                  <p:embed/>
                  <p:pic>
                    <p:nvPicPr>
                      <p:cNvPr id="45" name="Object 7">
                        <a:extLst>
                          <a:ext uri="{FF2B5EF4-FFF2-40B4-BE49-F238E27FC236}">
                            <a16:creationId xmlns:a16="http://schemas.microsoft.com/office/drawing/2014/main" id="{C9459553-DDFC-4F8F-9E48-F6BE1253AB8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1917650"/>
                        <a:ext cx="1474788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8">
            <a:extLst>
              <a:ext uri="{FF2B5EF4-FFF2-40B4-BE49-F238E27FC236}">
                <a16:creationId xmlns:a16="http://schemas.microsoft.com/office/drawing/2014/main" id="{70483C62-6BC2-4B20-98AF-CEFCBB16AC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900" y="2276872"/>
            <a:ext cx="6661150" cy="436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buClrTx/>
              <a:defRPr/>
            </a:pPr>
            <a:r>
              <a:rPr lang="zh-CN" altLang="en-US" sz="2000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sz="2000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       初始点，求解无约束优化问题</a:t>
            </a:r>
            <a:r>
              <a:rPr lang="zh-CN" altLang="en-US" sz="2000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</a:t>
            </a:r>
          </a:p>
        </p:txBody>
      </p:sp>
      <p:graphicFrame>
        <p:nvGraphicFramePr>
          <p:cNvPr id="16" name="Object 9">
            <a:extLst>
              <a:ext uri="{FF2B5EF4-FFF2-40B4-BE49-F238E27FC236}">
                <a16:creationId xmlns:a16="http://schemas.microsoft.com/office/drawing/2014/main" id="{092CE870-EC4B-4596-9C43-7952D0563A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046300"/>
              </p:ext>
            </p:extLst>
          </p:nvPr>
        </p:nvGraphicFramePr>
        <p:xfrm>
          <a:off x="1489175" y="2276872"/>
          <a:ext cx="490537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526" r:id="rId11" imgW="292544" imgH="229016" progId="Equation.DSMT4">
                  <p:embed/>
                </p:oleObj>
              </mc:Choice>
              <mc:Fallback>
                <p:oleObj r:id="rId11" imgW="292544" imgH="229016" progId="Equation.DSMT4">
                  <p:embed/>
                  <p:pic>
                    <p:nvPicPr>
                      <p:cNvPr id="47" name="Object 9">
                        <a:extLst>
                          <a:ext uri="{FF2B5EF4-FFF2-40B4-BE49-F238E27FC236}">
                            <a16:creationId xmlns:a16="http://schemas.microsoft.com/office/drawing/2014/main" id="{092CE870-EC4B-4596-9C43-7952D0563A2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9175" y="2276872"/>
                        <a:ext cx="490537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0">
            <a:extLst>
              <a:ext uri="{FF2B5EF4-FFF2-40B4-BE49-F238E27FC236}">
                <a16:creationId xmlns:a16="http://schemas.microsoft.com/office/drawing/2014/main" id="{C9C15D6F-3446-40B4-8442-86ED7EE699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008258"/>
              </p:ext>
            </p:extLst>
          </p:nvPr>
        </p:nvGraphicFramePr>
        <p:xfrm>
          <a:off x="1908175" y="2851547"/>
          <a:ext cx="3716338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527" r:id="rId13" imgW="1956117" imgH="228917" progId="Equation.DSMT4">
                  <p:embed/>
                </p:oleObj>
              </mc:Choice>
              <mc:Fallback>
                <p:oleObj r:id="rId13" imgW="1956117" imgH="228917" progId="Equation.DSMT4">
                  <p:embed/>
                  <p:pic>
                    <p:nvPicPr>
                      <p:cNvPr id="48" name="Object 10">
                        <a:extLst>
                          <a:ext uri="{FF2B5EF4-FFF2-40B4-BE49-F238E27FC236}">
                            <a16:creationId xmlns:a16="http://schemas.microsoft.com/office/drawing/2014/main" id="{C9C15D6F-3446-40B4-8442-86ED7EE6999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2851547"/>
                        <a:ext cx="3716338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1">
            <a:extLst>
              <a:ext uri="{FF2B5EF4-FFF2-40B4-BE49-F238E27FC236}">
                <a16:creationId xmlns:a16="http://schemas.microsoft.com/office/drawing/2014/main" id="{5DFE66FA-523F-4686-9BE7-1792717369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2181015"/>
              </p:ext>
            </p:extLst>
          </p:nvPr>
        </p:nvGraphicFramePr>
        <p:xfrm>
          <a:off x="1976636" y="3620797"/>
          <a:ext cx="3923903" cy="7717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528" r:id="rId15" imgW="2310714" imgH="444624" progId="Equation.DSMT4">
                  <p:embed/>
                </p:oleObj>
              </mc:Choice>
              <mc:Fallback>
                <p:oleObj r:id="rId15" imgW="2310714" imgH="444624" progId="Equation.DSMT4">
                  <p:embed/>
                  <p:pic>
                    <p:nvPicPr>
                      <p:cNvPr id="49" name="Object 11">
                        <a:extLst>
                          <a:ext uri="{FF2B5EF4-FFF2-40B4-BE49-F238E27FC236}">
                            <a16:creationId xmlns:a16="http://schemas.microsoft.com/office/drawing/2014/main" id="{5DFE66FA-523F-4686-9BE7-1792717369C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6636" y="3620797"/>
                        <a:ext cx="3923903" cy="7717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ectangle 12">
            <a:extLst>
              <a:ext uri="{FF2B5EF4-FFF2-40B4-BE49-F238E27FC236}">
                <a16:creationId xmlns:a16="http://schemas.microsoft.com/office/drawing/2014/main" id="{BEA8308C-E5C5-4A1E-92B2-7B68620CAE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0325" y="3284935"/>
            <a:ext cx="4537075" cy="436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buClrTx/>
              <a:defRPr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得到极小点            ，记为      ，</a:t>
            </a:r>
            <a:endParaRPr lang="zh-CN" altLang="en-US" sz="2000" dirty="0">
              <a:solidFill>
                <a:srgbClr val="0066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Rectangle 13">
            <a:extLst>
              <a:ext uri="{FF2B5EF4-FFF2-40B4-BE49-F238E27FC236}">
                <a16:creationId xmlns:a16="http://schemas.microsoft.com/office/drawing/2014/main" id="{F6186E6A-7A91-490A-8734-ACA9DED394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4048" y="3284935"/>
            <a:ext cx="1008063" cy="436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buClrTx/>
              <a:defRPr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其中</a:t>
            </a:r>
            <a:endParaRPr lang="zh-CN" altLang="en-US" sz="2000" dirty="0">
              <a:solidFill>
                <a:srgbClr val="0066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1" name="Object 14">
            <a:extLst>
              <a:ext uri="{FF2B5EF4-FFF2-40B4-BE49-F238E27FC236}">
                <a16:creationId xmlns:a16="http://schemas.microsoft.com/office/drawing/2014/main" id="{3F8B020D-0192-4C41-946A-FEC2355EC0A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4131037"/>
              </p:ext>
            </p:extLst>
          </p:nvPr>
        </p:nvGraphicFramePr>
        <p:xfrm>
          <a:off x="2696096" y="3284935"/>
          <a:ext cx="9398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529" r:id="rId17" imgW="495617" imgH="241617" progId="Equation.DSMT4">
                  <p:embed/>
                </p:oleObj>
              </mc:Choice>
              <mc:Fallback>
                <p:oleObj r:id="rId17" imgW="495617" imgH="241617" progId="Equation.DSMT4">
                  <p:embed/>
                  <p:pic>
                    <p:nvPicPr>
                      <p:cNvPr id="52" name="Object 14">
                        <a:extLst>
                          <a:ext uri="{FF2B5EF4-FFF2-40B4-BE49-F238E27FC236}">
                            <a16:creationId xmlns:a16="http://schemas.microsoft.com/office/drawing/2014/main" id="{3F8B020D-0192-4C41-946A-FEC2355EC0A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6096" y="3284935"/>
                        <a:ext cx="9398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15">
            <a:extLst>
              <a:ext uri="{FF2B5EF4-FFF2-40B4-BE49-F238E27FC236}">
                <a16:creationId xmlns:a16="http://schemas.microsoft.com/office/drawing/2014/main" id="{6E0B531D-168C-4147-905E-3B33541306F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2294676"/>
              </p:ext>
            </p:extLst>
          </p:nvPr>
        </p:nvGraphicFramePr>
        <p:xfrm>
          <a:off x="4427984" y="3285109"/>
          <a:ext cx="336550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530" r:id="rId19" imgW="178117" imgH="203517" progId="Equation.DSMT4">
                  <p:embed/>
                </p:oleObj>
              </mc:Choice>
              <mc:Fallback>
                <p:oleObj r:id="rId19" imgW="178117" imgH="203517" progId="Equation.DSMT4">
                  <p:embed/>
                  <p:pic>
                    <p:nvPicPr>
                      <p:cNvPr id="53" name="Object 15">
                        <a:extLst>
                          <a:ext uri="{FF2B5EF4-FFF2-40B4-BE49-F238E27FC236}">
                            <a16:creationId xmlns:a16="http://schemas.microsoft.com/office/drawing/2014/main" id="{6E0B531D-168C-4147-905E-3B33541306F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984" y="3285109"/>
                        <a:ext cx="336550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17">
            <a:extLst>
              <a:ext uri="{FF2B5EF4-FFF2-40B4-BE49-F238E27FC236}">
                <a16:creationId xmlns:a16="http://schemas.microsoft.com/office/drawing/2014/main" id="{7416C9A8-DAF9-45BC-820C-2E4EF6E426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5259646"/>
              </p:ext>
            </p:extLst>
          </p:nvPr>
        </p:nvGraphicFramePr>
        <p:xfrm>
          <a:off x="1486694" y="4306081"/>
          <a:ext cx="1568450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531" r:id="rId21" imgW="825817" imgH="241617" progId="Equation.DSMT4">
                  <p:embed/>
                </p:oleObj>
              </mc:Choice>
              <mc:Fallback>
                <p:oleObj r:id="rId21" imgW="825817" imgH="241617" progId="Equation.DSMT4">
                  <p:embed/>
                  <p:pic>
                    <p:nvPicPr>
                      <p:cNvPr id="54" name="Object 17">
                        <a:extLst>
                          <a:ext uri="{FF2B5EF4-FFF2-40B4-BE49-F238E27FC236}">
                            <a16:creationId xmlns:a16="http://schemas.microsoft.com/office/drawing/2014/main" id="{7416C9A8-DAF9-45BC-820C-2E4EF6E4263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6694" y="4306081"/>
                        <a:ext cx="1568450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18">
            <a:extLst>
              <a:ext uri="{FF2B5EF4-FFF2-40B4-BE49-F238E27FC236}">
                <a16:creationId xmlns:a16="http://schemas.microsoft.com/office/drawing/2014/main" id="{DD0FCB66-9D81-4224-995E-972394C421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5112880"/>
              </p:ext>
            </p:extLst>
          </p:nvPr>
        </p:nvGraphicFramePr>
        <p:xfrm>
          <a:off x="6593196" y="4274368"/>
          <a:ext cx="336550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532" r:id="rId23" imgW="178117" imgH="203517" progId="Equation.DSMT4">
                  <p:embed/>
                </p:oleObj>
              </mc:Choice>
              <mc:Fallback>
                <p:oleObj r:id="rId23" imgW="178117" imgH="203517" progId="Equation.DSMT4">
                  <p:embed/>
                  <p:pic>
                    <p:nvPicPr>
                      <p:cNvPr id="55" name="Object 18">
                        <a:extLst>
                          <a:ext uri="{FF2B5EF4-FFF2-40B4-BE49-F238E27FC236}">
                            <a16:creationId xmlns:a16="http://schemas.microsoft.com/office/drawing/2014/main" id="{DD0FCB66-9D81-4224-995E-972394C421D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93196" y="4274368"/>
                        <a:ext cx="336550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19">
            <a:extLst>
              <a:ext uri="{FF2B5EF4-FFF2-40B4-BE49-F238E27FC236}">
                <a16:creationId xmlns:a16="http://schemas.microsoft.com/office/drawing/2014/main" id="{0760A480-CEB1-402C-A6F6-B386A549C4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1872881"/>
              </p:ext>
            </p:extLst>
          </p:nvPr>
        </p:nvGraphicFramePr>
        <p:xfrm>
          <a:off x="2211387" y="4856187"/>
          <a:ext cx="1423988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533" r:id="rId25" imgW="749942" imgH="229016" progId="Equation.DSMT4">
                  <p:embed/>
                </p:oleObj>
              </mc:Choice>
              <mc:Fallback>
                <p:oleObj r:id="rId25" imgW="749942" imgH="229016" progId="Equation.DSMT4">
                  <p:embed/>
                  <p:pic>
                    <p:nvPicPr>
                      <p:cNvPr id="56" name="Object 19">
                        <a:extLst>
                          <a:ext uri="{FF2B5EF4-FFF2-40B4-BE49-F238E27FC236}">
                            <a16:creationId xmlns:a16="http://schemas.microsoft.com/office/drawing/2014/main" id="{0760A480-CEB1-402C-A6F6-B386A549C46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1387" y="4856187"/>
                        <a:ext cx="1423988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Rectangle 20">
            <a:extLst>
              <a:ext uri="{FF2B5EF4-FFF2-40B4-BE49-F238E27FC236}">
                <a16:creationId xmlns:a16="http://schemas.microsoft.com/office/drawing/2014/main" id="{017C6D29-B477-4BBC-9935-7520AF2F62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9925" y="2709812"/>
            <a:ext cx="1944688" cy="136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Tx/>
            </a:pPr>
            <a:r>
              <a:rPr lang="zh-CN" altLang="en-US" sz="20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用解析法求驻点 或者用无约束优化方法求解</a:t>
            </a:r>
          </a:p>
        </p:txBody>
      </p:sp>
      <p:sp>
        <p:nvSpPr>
          <p:cNvPr id="27" name="Line 21">
            <a:extLst>
              <a:ext uri="{FF2B5EF4-FFF2-40B4-BE49-F238E27FC236}">
                <a16:creationId xmlns:a16="http://schemas.microsoft.com/office/drawing/2014/main" id="{DC183149-40E0-42AD-831B-D27BEDAF41E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95963" y="3357512"/>
            <a:ext cx="1225550" cy="73025"/>
          </a:xfrm>
          <a:prstGeom prst="line">
            <a:avLst/>
          </a:prstGeom>
          <a:noFill/>
          <a:ln w="508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Line 22">
            <a:extLst>
              <a:ext uri="{FF2B5EF4-FFF2-40B4-BE49-F238E27FC236}">
                <a16:creationId xmlns:a16="http://schemas.microsoft.com/office/drawing/2014/main" id="{95F9DC2A-60C2-4685-94D7-EAFA6ECE274D}"/>
              </a:ext>
            </a:extLst>
          </p:cNvPr>
          <p:cNvSpPr>
            <a:spLocks noChangeShapeType="1"/>
          </p:cNvSpPr>
          <p:nvPr/>
        </p:nvSpPr>
        <p:spPr bwMode="auto">
          <a:xfrm>
            <a:off x="2235023" y="4681562"/>
            <a:ext cx="0" cy="792162"/>
          </a:xfrm>
          <a:prstGeom prst="line">
            <a:avLst/>
          </a:prstGeom>
          <a:noFill/>
          <a:ln w="508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9" name="Object 23">
            <a:extLst>
              <a:ext uri="{FF2B5EF4-FFF2-40B4-BE49-F238E27FC236}">
                <a16:creationId xmlns:a16="http://schemas.microsoft.com/office/drawing/2014/main" id="{21C26720-F65B-42CB-ACE1-A3F8902559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0866991"/>
              </p:ext>
            </p:extLst>
          </p:nvPr>
        </p:nvGraphicFramePr>
        <p:xfrm>
          <a:off x="1559718" y="5360455"/>
          <a:ext cx="1303338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534" r:id="rId27" imgW="686415" imgH="229016" progId="Equation.DSMT4">
                  <p:embed/>
                </p:oleObj>
              </mc:Choice>
              <mc:Fallback>
                <p:oleObj r:id="rId27" imgW="686415" imgH="229016" progId="Equation.DSMT4">
                  <p:embed/>
                  <p:pic>
                    <p:nvPicPr>
                      <p:cNvPr id="60" name="Object 23">
                        <a:extLst>
                          <a:ext uri="{FF2B5EF4-FFF2-40B4-BE49-F238E27FC236}">
                            <a16:creationId xmlns:a16="http://schemas.microsoft.com/office/drawing/2014/main" id="{21C26720-F65B-42CB-ACE1-A3F8902559F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9718" y="5360455"/>
                        <a:ext cx="1303338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24">
            <a:extLst>
              <a:ext uri="{FF2B5EF4-FFF2-40B4-BE49-F238E27FC236}">
                <a16:creationId xmlns:a16="http://schemas.microsoft.com/office/drawing/2014/main" id="{1121D64E-60B0-45A3-8AB3-C5E3EB6103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1064228"/>
              </p:ext>
            </p:extLst>
          </p:nvPr>
        </p:nvGraphicFramePr>
        <p:xfrm>
          <a:off x="1759422" y="5733256"/>
          <a:ext cx="868362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535" r:id="rId29" imgW="457517" imgH="203517" progId="Equation.DSMT4">
                  <p:embed/>
                </p:oleObj>
              </mc:Choice>
              <mc:Fallback>
                <p:oleObj r:id="rId29" imgW="457517" imgH="203517" progId="Equation.DSMT4">
                  <p:embed/>
                  <p:pic>
                    <p:nvPicPr>
                      <p:cNvPr id="61" name="Object 24">
                        <a:extLst>
                          <a:ext uri="{FF2B5EF4-FFF2-40B4-BE49-F238E27FC236}">
                            <a16:creationId xmlns:a16="http://schemas.microsoft.com/office/drawing/2014/main" id="{1121D64E-60B0-45A3-8AB3-C5E3EB61036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9422" y="5733256"/>
                        <a:ext cx="868362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Line 25">
            <a:extLst>
              <a:ext uri="{FF2B5EF4-FFF2-40B4-BE49-F238E27FC236}">
                <a16:creationId xmlns:a16="http://schemas.microsoft.com/office/drawing/2014/main" id="{F4F9180D-0FB6-4345-9DCC-F93669355F7C}"/>
              </a:ext>
            </a:extLst>
          </p:cNvPr>
          <p:cNvSpPr>
            <a:spLocks noChangeShapeType="1"/>
          </p:cNvSpPr>
          <p:nvPr/>
        </p:nvSpPr>
        <p:spPr bwMode="auto">
          <a:xfrm>
            <a:off x="3382962" y="5228201"/>
            <a:ext cx="504825" cy="288925"/>
          </a:xfrm>
          <a:prstGeom prst="line">
            <a:avLst/>
          </a:prstGeom>
          <a:noFill/>
          <a:ln w="508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2" name="Object 26">
            <a:extLst>
              <a:ext uri="{FF2B5EF4-FFF2-40B4-BE49-F238E27FC236}">
                <a16:creationId xmlns:a16="http://schemas.microsoft.com/office/drawing/2014/main" id="{C6D47483-1555-40BF-B8C2-AC4CCE741D0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1386615"/>
              </p:ext>
            </p:extLst>
          </p:nvPr>
        </p:nvGraphicFramePr>
        <p:xfrm>
          <a:off x="3834320" y="5346559"/>
          <a:ext cx="1182687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536" r:id="rId31" imgW="622347" imgH="203429" progId="Equation.DSMT4">
                  <p:embed/>
                </p:oleObj>
              </mc:Choice>
              <mc:Fallback>
                <p:oleObj r:id="rId31" imgW="622347" imgH="203429" progId="Equation.DSMT4">
                  <p:embed/>
                  <p:pic>
                    <p:nvPicPr>
                      <p:cNvPr id="63" name="Object 26">
                        <a:extLst>
                          <a:ext uri="{FF2B5EF4-FFF2-40B4-BE49-F238E27FC236}">
                            <a16:creationId xmlns:a16="http://schemas.microsoft.com/office/drawing/2014/main" id="{C6D47483-1555-40BF-B8C2-AC4CCE741D0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34320" y="5346559"/>
                        <a:ext cx="1182687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27">
            <a:extLst>
              <a:ext uri="{FF2B5EF4-FFF2-40B4-BE49-F238E27FC236}">
                <a16:creationId xmlns:a16="http://schemas.microsoft.com/office/drawing/2014/main" id="{9ED8B6D7-DE29-46A1-AA29-5868B1AF95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7566561"/>
              </p:ext>
            </p:extLst>
          </p:nvPr>
        </p:nvGraphicFramePr>
        <p:xfrm>
          <a:off x="4356100" y="5777706"/>
          <a:ext cx="1182688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537" r:id="rId33" imgW="622347" imgH="203429" progId="Equation.DSMT4">
                  <p:embed/>
                </p:oleObj>
              </mc:Choice>
              <mc:Fallback>
                <p:oleObj r:id="rId33" imgW="622347" imgH="203429" progId="Equation.DSMT4">
                  <p:embed/>
                  <p:pic>
                    <p:nvPicPr>
                      <p:cNvPr id="64" name="Object 27">
                        <a:extLst>
                          <a:ext uri="{FF2B5EF4-FFF2-40B4-BE49-F238E27FC236}">
                            <a16:creationId xmlns:a16="http://schemas.microsoft.com/office/drawing/2014/main" id="{9ED8B6D7-DE29-46A1-AA29-5868B1AF951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6100" y="5777706"/>
                        <a:ext cx="1182688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Rectangle 28">
            <a:extLst>
              <a:ext uri="{FF2B5EF4-FFF2-40B4-BE49-F238E27FC236}">
                <a16:creationId xmlns:a16="http://schemas.microsoft.com/office/drawing/2014/main" id="{120AC8EF-02D1-4E51-B10A-579C898AAB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3938" y="5733256"/>
            <a:ext cx="1008062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buClrTx/>
              <a:defRPr/>
            </a:pPr>
            <a:r>
              <a:rPr lang="zh-CN" altLang="en-US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常取</a:t>
            </a:r>
            <a:r>
              <a:rPr lang="zh-CN" altLang="en-US" sz="200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</a:t>
            </a:r>
          </a:p>
        </p:txBody>
      </p:sp>
      <p:sp>
        <p:nvSpPr>
          <p:cNvPr id="35" name="Rectangle 29">
            <a:extLst>
              <a:ext uri="{FF2B5EF4-FFF2-40B4-BE49-F238E27FC236}">
                <a16:creationId xmlns:a16="http://schemas.microsoft.com/office/drawing/2014/main" id="{64AC079F-6C23-4193-B307-0164CCD33D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5616" y="4811981"/>
            <a:ext cx="668337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否则，令                   ，置</a:t>
            </a:r>
            <a:r>
              <a:rPr lang="en-US" altLang="zh-CN" sz="2000" b="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k:=k</a:t>
            </a:r>
            <a:r>
              <a:rPr lang="en-US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+1</a:t>
            </a:r>
            <a:r>
              <a: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，转步骤</a:t>
            </a:r>
            <a:r>
              <a:rPr lang="en-US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36" name="Rectangle 16">
            <a:extLst>
              <a:ext uri="{FF2B5EF4-FFF2-40B4-BE49-F238E27FC236}">
                <a16:creationId xmlns:a16="http://schemas.microsoft.com/office/drawing/2014/main" id="{3334ED11-A1BF-41A8-8985-DE170E4B0B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3933056"/>
            <a:ext cx="8856662" cy="1079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lnSpc>
                <a:spcPct val="130000"/>
              </a:lnSpc>
              <a:buClrTx/>
              <a:defRPr/>
            </a:pPr>
            <a:r>
              <a:rPr lang="zh-CN" altLang="en-US" sz="2000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sz="2000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若                    ，则停止计算，得到近似极小点      ；</a:t>
            </a:r>
          </a:p>
        </p:txBody>
      </p:sp>
    </p:spTree>
    <p:extLst>
      <p:ext uri="{BB962C8B-B14F-4D97-AF65-F5344CB8AC3E}">
        <p14:creationId xmlns:p14="http://schemas.microsoft.com/office/powerpoint/2010/main" val="1790852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8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utoUpdateAnimBg="0"/>
      <p:bldP spid="15" grpId="0" autoUpdateAnimBg="0"/>
      <p:bldP spid="19" grpId="0" autoUpdateAnimBg="0"/>
      <p:bldP spid="20" grpId="0" autoUpdateAnimBg="0"/>
      <p:bldP spid="26" grpId="0" autoUpdateAnimBg="0"/>
      <p:bldP spid="34" grpId="0" autoUpdateAnimBg="0"/>
      <p:bldP spid="35" grpId="0" autoUpdateAnimBg="0"/>
      <p:bldP spid="36" grpId="0" build="allAtOnce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3"/>
          <p:cNvSpPr>
            <a:spLocks noGrp="1"/>
          </p:cNvSpPr>
          <p:nvPr>
            <p:ph type="title"/>
          </p:nvPr>
        </p:nvSpPr>
        <p:spPr>
          <a:xfrm>
            <a:off x="2928926" y="142852"/>
            <a:ext cx="6215073" cy="549844"/>
          </a:xfrm>
        </p:spPr>
        <p:txBody>
          <a:bodyPr/>
          <a:lstStyle/>
          <a:p>
            <a:r>
              <a:rPr lang="zh-CN" altLang="en-US" sz="36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第六章 常用约束最优化方法</a:t>
            </a:r>
            <a:endParaRPr kumimoji="1"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Rectangle 3">
            <a:extLst>
              <a:ext uri="{FF2B5EF4-FFF2-40B4-BE49-F238E27FC236}">
                <a16:creationId xmlns:a16="http://schemas.microsoft.com/office/drawing/2014/main" id="{4CDFD6AF-5A3F-4944-A371-2FF31B9503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37" y="692696"/>
            <a:ext cx="8424936" cy="16483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Tx/>
              <a:defRPr/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内点罚函数法</a:t>
            </a:r>
            <a:endParaRPr lang="en-US" altLang="zh-CN" sz="2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ClrTx/>
              <a:defRPr/>
            </a:pPr>
            <a:r>
              <a:rPr lang="zh-CN" alt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基本思想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ClrTx/>
              <a:defRPr/>
            </a:pP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endParaRPr lang="zh-CN" altLang="en-US" sz="2200" dirty="0">
              <a:solidFill>
                <a:srgbClr val="0066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Text Box 3">
            <a:extLst>
              <a:ext uri="{FF2B5EF4-FFF2-40B4-BE49-F238E27FC236}">
                <a16:creationId xmlns:a16="http://schemas.microsoft.com/office/drawing/2014/main" id="{6CBDBABB-BED7-4B55-8C8D-908073F65E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7" y="1844824"/>
            <a:ext cx="8677630" cy="18812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20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迭代点在可行域的内部移动，并对接近可行域边界的点施加惩罚</a:t>
            </a:r>
            <a:r>
              <a:rPr lang="en-US" altLang="zh-CN" sz="20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加入障碍</a:t>
            </a:r>
            <a:r>
              <a:rPr lang="en-US" altLang="zh-CN" sz="20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b="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距边界越近障碍越大</a:t>
            </a:r>
            <a:r>
              <a:rPr lang="zh-CN" altLang="en-US" sz="20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，这相当于在可行域的边界上筑起一道很高的“围墙”，</a:t>
            </a:r>
            <a:r>
              <a:rPr lang="zh-CN" altLang="en-US" sz="2000" b="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阻止迭代点穿越边界，从而将最优解“挡”在可行域内</a:t>
            </a:r>
            <a:r>
              <a:rPr lang="zh-CN" altLang="en-US" sz="20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sz="20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内点罚函数法又称为障碍函数法。</a:t>
            </a:r>
          </a:p>
        </p:txBody>
      </p:sp>
      <p:sp>
        <p:nvSpPr>
          <p:cNvPr id="39" name="Rectangle 7">
            <a:extLst>
              <a:ext uri="{FF2B5EF4-FFF2-40B4-BE49-F238E27FC236}">
                <a16:creationId xmlns:a16="http://schemas.microsoft.com/office/drawing/2014/main" id="{EE25EB3D-6283-4189-80A5-52E447676A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6" y="3161758"/>
            <a:ext cx="4752529" cy="86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buClrTx/>
              <a:defRPr/>
            </a:pPr>
            <a:endParaRPr lang="zh-CN" altLang="en-US" dirty="0">
              <a:solidFill>
                <a:srgbClr val="0066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40" name="Rectangle 5">
            <a:extLst>
              <a:ext uri="{FF2B5EF4-FFF2-40B4-BE49-F238E27FC236}">
                <a16:creationId xmlns:a16="http://schemas.microsoft.com/office/drawing/2014/main" id="{BDE2104D-EDCD-4452-8222-1C2108D9DA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6" y="3645024"/>
            <a:ext cx="8677630" cy="14196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2000" dirty="0">
                <a:solidFill>
                  <a:schemeClr val="tx1"/>
                </a:solidFill>
                <a:latin typeface="楷体_GB2312" pitchFamily="49" charset="-122"/>
              </a:rPr>
              <a:t>       内点法要求迭代点在可行域内部移动，</a:t>
            </a:r>
            <a:r>
              <a:rPr lang="zh-CN" altLang="en-US" sz="2000" dirty="0">
                <a:solidFill>
                  <a:srgbClr val="FF0000"/>
                </a:solidFill>
                <a:latin typeface="楷体_GB2312" pitchFamily="49" charset="-122"/>
              </a:rPr>
              <a:t>初始点必须是内点</a:t>
            </a:r>
            <a:r>
              <a:rPr lang="zh-CN" altLang="en-US" sz="2000" dirty="0">
                <a:solidFill>
                  <a:schemeClr val="tx1"/>
                </a:solidFill>
                <a:latin typeface="楷体_GB2312" pitchFamily="49" charset="-122"/>
              </a:rPr>
              <a:t>，可行域的内部必须是非空的，内点法只能处理不等式约束，等式约束构成的集合内部为空。</a:t>
            </a:r>
            <a:r>
              <a:rPr lang="zh-CN" altLang="en-US" sz="2000" b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内点法只适合于不等式约束问题。</a:t>
            </a:r>
          </a:p>
        </p:txBody>
      </p:sp>
      <p:graphicFrame>
        <p:nvGraphicFramePr>
          <p:cNvPr id="41" name="Object 8">
            <a:extLst>
              <a:ext uri="{FF2B5EF4-FFF2-40B4-BE49-F238E27FC236}">
                <a16:creationId xmlns:a16="http://schemas.microsoft.com/office/drawing/2014/main" id="{530878A3-2E74-4528-8214-A725388CE6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8971368"/>
              </p:ext>
            </p:extLst>
          </p:nvPr>
        </p:nvGraphicFramePr>
        <p:xfrm>
          <a:off x="2267744" y="5206946"/>
          <a:ext cx="3106738" cy="92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501" name="Equation" r:id="rId3" imgW="1688760" imgH="457200" progId="Equation.DSMT4">
                  <p:embed/>
                </p:oleObj>
              </mc:Choice>
              <mc:Fallback>
                <p:oleObj name="Equation" r:id="rId3" imgW="1688760" imgH="457200" progId="Equation.DSMT4">
                  <p:embed/>
                  <p:pic>
                    <p:nvPicPr>
                      <p:cNvPr id="12" name="Object 8">
                        <a:extLst>
                          <a:ext uri="{FF2B5EF4-FFF2-40B4-BE49-F238E27FC236}">
                            <a16:creationId xmlns:a16="http://schemas.microsoft.com/office/drawing/2014/main" id="{530878A3-2E74-4528-8214-A725388CE69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7744" y="5206946"/>
                        <a:ext cx="3106738" cy="923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2" name="图片 41">
            <a:extLst>
              <a:ext uri="{FF2B5EF4-FFF2-40B4-BE49-F238E27FC236}">
                <a16:creationId xmlns:a16="http://schemas.microsoft.com/office/drawing/2014/main" id="{2DA86E01-C366-4C4F-99C0-6488C964B3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6135" y="4883095"/>
            <a:ext cx="3051517" cy="1419619"/>
          </a:xfrm>
          <a:prstGeom prst="rect">
            <a:avLst/>
          </a:prstGeom>
        </p:spPr>
      </p:pic>
      <p:sp>
        <p:nvSpPr>
          <p:cNvPr id="43" name="文本框 42">
            <a:extLst>
              <a:ext uri="{FF2B5EF4-FFF2-40B4-BE49-F238E27FC236}">
                <a16:creationId xmlns:a16="http://schemas.microsoft.com/office/drawing/2014/main" id="{282B0885-50F5-4AA6-88BA-1570344BE739}"/>
              </a:ext>
            </a:extLst>
          </p:cNvPr>
          <p:cNvSpPr txBox="1"/>
          <p:nvPr/>
        </p:nvSpPr>
        <p:spPr>
          <a:xfrm>
            <a:off x="5436096" y="5269504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+mn-ea"/>
              </a:rPr>
              <a:t>（障碍墙）</a:t>
            </a:r>
          </a:p>
        </p:txBody>
      </p:sp>
    </p:spTree>
    <p:extLst>
      <p:ext uri="{BB962C8B-B14F-4D97-AF65-F5344CB8AC3E}">
        <p14:creationId xmlns:p14="http://schemas.microsoft.com/office/powerpoint/2010/main" val="3851087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build="allAtOnce" autoUpdateAnimBg="0"/>
      <p:bldP spid="39" grpId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3"/>
          <p:cNvSpPr>
            <a:spLocks noGrp="1"/>
          </p:cNvSpPr>
          <p:nvPr>
            <p:ph type="title"/>
          </p:nvPr>
        </p:nvSpPr>
        <p:spPr>
          <a:xfrm>
            <a:off x="2928926" y="142852"/>
            <a:ext cx="6215073" cy="549844"/>
          </a:xfrm>
        </p:spPr>
        <p:txBody>
          <a:bodyPr/>
          <a:lstStyle/>
          <a:p>
            <a:r>
              <a:rPr lang="zh-CN" altLang="en-US" sz="36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第六章 常用约束最优化方法</a:t>
            </a:r>
            <a:endParaRPr kumimoji="1"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4CDFD6AF-5A3F-4944-A371-2FF31B9503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548" y="825619"/>
            <a:ext cx="8424936" cy="5810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Tx/>
              <a:defRPr/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内点罚函数法</a:t>
            </a:r>
            <a:endParaRPr lang="en-US" altLang="zh-CN" sz="2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2623BD52-447B-46FE-B2B6-E02CA7A7BC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133" y="1514789"/>
            <a:ext cx="8032216" cy="6341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lnSpc>
                <a:spcPct val="130000"/>
              </a:lnSpc>
              <a:buClrTx/>
              <a:defRPr/>
            </a:pPr>
            <a:r>
              <a:rPr lang="zh-CN" altLang="en-US" sz="2000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sz="2000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给定初始点               ，初始罚因子          </a:t>
            </a: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可取          </a:t>
            </a: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), 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精度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  <a:buClrTx/>
              <a:defRPr/>
            </a:pPr>
            <a:r>
              <a:rPr lang="zh-CN" altLang="en-US" sz="2000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</a:t>
            </a:r>
          </a:p>
        </p:txBody>
      </p:sp>
      <p:graphicFrame>
        <p:nvGraphicFramePr>
          <p:cNvPr id="12" name="Object 4">
            <a:extLst>
              <a:ext uri="{FF2B5EF4-FFF2-40B4-BE49-F238E27FC236}">
                <a16:creationId xmlns:a16="http://schemas.microsoft.com/office/drawing/2014/main" id="{84D876E2-4496-4546-8EC5-DEC865380C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3294026"/>
              </p:ext>
            </p:extLst>
          </p:nvPr>
        </p:nvGraphicFramePr>
        <p:xfrm>
          <a:off x="2887097" y="1484784"/>
          <a:ext cx="1108839" cy="3556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64" r:id="rId3" imgW="724217" imgH="228917" progId="Equation.DSMT4">
                  <p:embed/>
                </p:oleObj>
              </mc:Choice>
              <mc:Fallback>
                <p:oleObj r:id="rId3" imgW="724217" imgH="228917" progId="Equation.DSMT4">
                  <p:embed/>
                  <p:pic>
                    <p:nvPicPr>
                      <p:cNvPr id="11" name="Object 4">
                        <a:extLst>
                          <a:ext uri="{FF2B5EF4-FFF2-40B4-BE49-F238E27FC236}">
                            <a16:creationId xmlns:a16="http://schemas.microsoft.com/office/drawing/2014/main" id="{84D876E2-4496-4546-8EC5-DEC865380C7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7097" y="1484784"/>
                        <a:ext cx="1108839" cy="3556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5">
            <a:extLst>
              <a:ext uri="{FF2B5EF4-FFF2-40B4-BE49-F238E27FC236}">
                <a16:creationId xmlns:a16="http://schemas.microsoft.com/office/drawing/2014/main" id="{ABE3910A-DC74-4645-BEC6-F3D9014123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0260952"/>
              </p:ext>
            </p:extLst>
          </p:nvPr>
        </p:nvGraphicFramePr>
        <p:xfrm>
          <a:off x="5496922" y="1484784"/>
          <a:ext cx="623090" cy="3758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65" r:id="rId5" imgW="406717" imgH="241617" progId="Equation.DSMT4">
                  <p:embed/>
                </p:oleObj>
              </mc:Choice>
              <mc:Fallback>
                <p:oleObj r:id="rId5" imgW="406717" imgH="241617" progId="Equation.DSMT4">
                  <p:embed/>
                  <p:pic>
                    <p:nvPicPr>
                      <p:cNvPr id="12" name="Object 5">
                        <a:extLst>
                          <a:ext uri="{FF2B5EF4-FFF2-40B4-BE49-F238E27FC236}">
                            <a16:creationId xmlns:a16="http://schemas.microsoft.com/office/drawing/2014/main" id="{ABE3910A-DC74-4645-BEC6-F3D90141239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6922" y="1484784"/>
                        <a:ext cx="623090" cy="3758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6">
            <a:extLst>
              <a:ext uri="{FF2B5EF4-FFF2-40B4-BE49-F238E27FC236}">
                <a16:creationId xmlns:a16="http://schemas.microsoft.com/office/drawing/2014/main" id="{C2E9172C-F036-4FC9-BEF4-784EBA9EF7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136295"/>
              </p:ext>
            </p:extLst>
          </p:nvPr>
        </p:nvGraphicFramePr>
        <p:xfrm>
          <a:off x="6804248" y="1540954"/>
          <a:ext cx="740190" cy="3758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66" r:id="rId7" imgW="483127" imgH="241722" progId="Equation.DSMT4">
                  <p:embed/>
                </p:oleObj>
              </mc:Choice>
              <mc:Fallback>
                <p:oleObj r:id="rId7" imgW="483127" imgH="241722" progId="Equation.DSMT4">
                  <p:embed/>
                  <p:pic>
                    <p:nvPicPr>
                      <p:cNvPr id="13" name="Object 6">
                        <a:extLst>
                          <a:ext uri="{FF2B5EF4-FFF2-40B4-BE49-F238E27FC236}">
                            <a16:creationId xmlns:a16="http://schemas.microsoft.com/office/drawing/2014/main" id="{C2E9172C-F036-4FC9-BEF4-784EBA9EF72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4248" y="1540954"/>
                        <a:ext cx="740190" cy="3758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7">
            <a:extLst>
              <a:ext uri="{FF2B5EF4-FFF2-40B4-BE49-F238E27FC236}">
                <a16:creationId xmlns:a16="http://schemas.microsoft.com/office/drawing/2014/main" id="{FEF5C56C-DF77-457A-AAEF-2D3CCD7FDF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5802083"/>
              </p:ext>
            </p:extLst>
          </p:nvPr>
        </p:nvGraphicFramePr>
        <p:xfrm>
          <a:off x="1493177" y="1916326"/>
          <a:ext cx="1343039" cy="3570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67" r:id="rId9" imgW="876998" imgH="229016" progId="Equation.DSMT4">
                  <p:embed/>
                </p:oleObj>
              </mc:Choice>
              <mc:Fallback>
                <p:oleObj r:id="rId9" imgW="876998" imgH="229016" progId="Equation.DSMT4">
                  <p:embed/>
                  <p:pic>
                    <p:nvPicPr>
                      <p:cNvPr id="14" name="Object 7">
                        <a:extLst>
                          <a:ext uri="{FF2B5EF4-FFF2-40B4-BE49-F238E27FC236}">
                            <a16:creationId xmlns:a16="http://schemas.microsoft.com/office/drawing/2014/main" id="{FEF5C56C-DF77-457A-AAEF-2D3CCD7FDF8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3177" y="1916326"/>
                        <a:ext cx="1343039" cy="3570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8">
            <a:extLst>
              <a:ext uri="{FF2B5EF4-FFF2-40B4-BE49-F238E27FC236}">
                <a16:creationId xmlns:a16="http://schemas.microsoft.com/office/drawing/2014/main" id="{1B1DACA6-6019-4D54-B541-C2873AC48F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841" y="2580096"/>
            <a:ext cx="6066086" cy="3205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buClrTx/>
              <a:defRPr/>
            </a:pPr>
            <a:r>
              <a:rPr lang="zh-CN" altLang="en-US" sz="2000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sz="2000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      初始点，求解无约束优化问题</a:t>
            </a:r>
            <a:r>
              <a:rPr lang="zh-CN" altLang="en-US" sz="2000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</a:t>
            </a:r>
          </a:p>
        </p:txBody>
      </p:sp>
      <p:graphicFrame>
        <p:nvGraphicFramePr>
          <p:cNvPr id="17" name="Object 9">
            <a:extLst>
              <a:ext uri="{FF2B5EF4-FFF2-40B4-BE49-F238E27FC236}">
                <a16:creationId xmlns:a16="http://schemas.microsoft.com/office/drawing/2014/main" id="{6D918E90-90E6-45DF-BFAF-B039894388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0417904"/>
              </p:ext>
            </p:extLst>
          </p:nvPr>
        </p:nvGraphicFramePr>
        <p:xfrm>
          <a:off x="1771971" y="2598220"/>
          <a:ext cx="446716" cy="355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68" r:id="rId11" imgW="292544" imgH="229016" progId="Equation.DSMT4">
                  <p:embed/>
                </p:oleObj>
              </mc:Choice>
              <mc:Fallback>
                <p:oleObj r:id="rId11" imgW="292544" imgH="229016" progId="Equation.DSMT4">
                  <p:embed/>
                  <p:pic>
                    <p:nvPicPr>
                      <p:cNvPr id="16" name="Object 9">
                        <a:extLst>
                          <a:ext uri="{FF2B5EF4-FFF2-40B4-BE49-F238E27FC236}">
                            <a16:creationId xmlns:a16="http://schemas.microsoft.com/office/drawing/2014/main" id="{6D918E90-90E6-45DF-BFAF-B039894388B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1971" y="2598220"/>
                        <a:ext cx="446716" cy="355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0">
            <a:extLst>
              <a:ext uri="{FF2B5EF4-FFF2-40B4-BE49-F238E27FC236}">
                <a16:creationId xmlns:a16="http://schemas.microsoft.com/office/drawing/2014/main" id="{EEA89824-84A6-4E36-80FF-59735003E2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679390"/>
              </p:ext>
            </p:extLst>
          </p:nvPr>
        </p:nvGraphicFramePr>
        <p:xfrm>
          <a:off x="5605104" y="2549066"/>
          <a:ext cx="3033043" cy="4047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69" r:id="rId13" imgW="1752917" imgH="228917" progId="Equation.DSMT4">
                  <p:embed/>
                </p:oleObj>
              </mc:Choice>
              <mc:Fallback>
                <p:oleObj r:id="rId13" imgW="1752917" imgH="228917" progId="Equation.DSMT4">
                  <p:embed/>
                  <p:pic>
                    <p:nvPicPr>
                      <p:cNvPr id="17" name="Object 10">
                        <a:extLst>
                          <a:ext uri="{FF2B5EF4-FFF2-40B4-BE49-F238E27FC236}">
                            <a16:creationId xmlns:a16="http://schemas.microsoft.com/office/drawing/2014/main" id="{EEA89824-84A6-4E36-80FF-59735003E2F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5104" y="2549066"/>
                        <a:ext cx="3033043" cy="4047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1">
            <a:extLst>
              <a:ext uri="{FF2B5EF4-FFF2-40B4-BE49-F238E27FC236}">
                <a16:creationId xmlns:a16="http://schemas.microsoft.com/office/drawing/2014/main" id="{14E1478B-1D44-42E4-824B-7E2700EDFA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4141709"/>
              </p:ext>
            </p:extLst>
          </p:nvPr>
        </p:nvGraphicFramePr>
        <p:xfrm>
          <a:off x="1555167" y="3347494"/>
          <a:ext cx="1756505" cy="7864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70" r:id="rId15" imgW="1016317" imgH="444817" progId="Equation.DSMT4">
                  <p:embed/>
                </p:oleObj>
              </mc:Choice>
              <mc:Fallback>
                <p:oleObj r:id="rId15" imgW="1016317" imgH="444817" progId="Equation.DSMT4">
                  <p:embed/>
                  <p:pic>
                    <p:nvPicPr>
                      <p:cNvPr id="18" name="Object 11">
                        <a:extLst>
                          <a:ext uri="{FF2B5EF4-FFF2-40B4-BE49-F238E27FC236}">
                            <a16:creationId xmlns:a16="http://schemas.microsoft.com/office/drawing/2014/main" id="{14E1478B-1D44-42E4-824B-7E2700EDFA6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5167" y="3347494"/>
                        <a:ext cx="1756505" cy="7864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12">
            <a:extLst>
              <a:ext uri="{FF2B5EF4-FFF2-40B4-BE49-F238E27FC236}">
                <a16:creationId xmlns:a16="http://schemas.microsoft.com/office/drawing/2014/main" id="{AEEA2167-2A67-4E23-ADDF-C7D21F645A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134" y="3068961"/>
            <a:ext cx="4131762" cy="3205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buClrTx/>
              <a:defRPr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得到极小点         ，记为    ，</a:t>
            </a:r>
            <a:endParaRPr lang="zh-CN" altLang="en-US" sz="2000" dirty="0">
              <a:solidFill>
                <a:srgbClr val="0066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Rectangle 13">
            <a:extLst>
              <a:ext uri="{FF2B5EF4-FFF2-40B4-BE49-F238E27FC236}">
                <a16:creationId xmlns:a16="http://schemas.microsoft.com/office/drawing/2014/main" id="{68611EFC-2A56-45CF-9A53-189949C9F5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1722" y="3091139"/>
            <a:ext cx="918009" cy="3205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buClrTx/>
              <a:defRPr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其中</a:t>
            </a:r>
            <a:endParaRPr lang="zh-CN" altLang="en-US" sz="2000" dirty="0">
              <a:solidFill>
                <a:srgbClr val="0066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2" name="Object 14">
            <a:extLst>
              <a:ext uri="{FF2B5EF4-FFF2-40B4-BE49-F238E27FC236}">
                <a16:creationId xmlns:a16="http://schemas.microsoft.com/office/drawing/2014/main" id="{27C40432-D86D-4D1F-A625-2060C0588A5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6201332"/>
              </p:ext>
            </p:extLst>
          </p:nvPr>
        </p:nvGraphicFramePr>
        <p:xfrm>
          <a:off x="2789780" y="3068960"/>
          <a:ext cx="680916" cy="4279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71" r:id="rId17" imgW="394188" imgH="241722" progId="Equation.DSMT4">
                  <p:embed/>
                </p:oleObj>
              </mc:Choice>
              <mc:Fallback>
                <p:oleObj r:id="rId17" imgW="394188" imgH="241722" progId="Equation.DSMT4">
                  <p:embed/>
                  <p:pic>
                    <p:nvPicPr>
                      <p:cNvPr id="22" name="Object 14">
                        <a:extLst>
                          <a:ext uri="{FF2B5EF4-FFF2-40B4-BE49-F238E27FC236}">
                            <a16:creationId xmlns:a16="http://schemas.microsoft.com/office/drawing/2014/main" id="{27C40432-D86D-4D1F-A625-2060C0588A5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9780" y="3068960"/>
                        <a:ext cx="680916" cy="4279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15">
            <a:extLst>
              <a:ext uri="{FF2B5EF4-FFF2-40B4-BE49-F238E27FC236}">
                <a16:creationId xmlns:a16="http://schemas.microsoft.com/office/drawing/2014/main" id="{3F713599-FCAF-4CEA-8FA4-592A1717DA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7493075"/>
              </p:ext>
            </p:extLst>
          </p:nvPr>
        </p:nvGraphicFramePr>
        <p:xfrm>
          <a:off x="4283968" y="3068960"/>
          <a:ext cx="306485" cy="3614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72" r:id="rId19" imgW="178117" imgH="203517" progId="Equation.DSMT4">
                  <p:embed/>
                </p:oleObj>
              </mc:Choice>
              <mc:Fallback>
                <p:oleObj r:id="rId19" imgW="178117" imgH="203517" progId="Equation.DSMT4">
                  <p:embed/>
                  <p:pic>
                    <p:nvPicPr>
                      <p:cNvPr id="23" name="Object 15">
                        <a:extLst>
                          <a:ext uri="{FF2B5EF4-FFF2-40B4-BE49-F238E27FC236}">
                            <a16:creationId xmlns:a16="http://schemas.microsoft.com/office/drawing/2014/main" id="{3F713599-FCAF-4CEA-8FA4-592A1717DA4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3968" y="3068960"/>
                        <a:ext cx="306485" cy="3614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Rectangle 16">
            <a:extLst>
              <a:ext uri="{FF2B5EF4-FFF2-40B4-BE49-F238E27FC236}">
                <a16:creationId xmlns:a16="http://schemas.microsoft.com/office/drawing/2014/main" id="{B94BA84A-5833-41B4-818B-67CD20EA17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568" y="4108777"/>
            <a:ext cx="8280633" cy="7927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lnSpc>
                <a:spcPct val="130000"/>
              </a:lnSpc>
              <a:buClrTx/>
              <a:defRPr/>
            </a:pPr>
            <a:r>
              <a:rPr lang="zh-CN" altLang="en-US" sz="2000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sz="2000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若                  ，则停止计算，得到近似极小点     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否则，令</a:t>
            </a:r>
            <a:endParaRPr lang="zh-CN" altLang="en-US" sz="2000" dirty="0">
              <a:solidFill>
                <a:srgbClr val="0066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5" name="Object 17">
            <a:extLst>
              <a:ext uri="{FF2B5EF4-FFF2-40B4-BE49-F238E27FC236}">
                <a16:creationId xmlns:a16="http://schemas.microsoft.com/office/drawing/2014/main" id="{AB1041C5-6D1A-4377-876C-3532CD4E17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8537340"/>
              </p:ext>
            </p:extLst>
          </p:nvPr>
        </p:nvGraphicFramePr>
        <p:xfrm>
          <a:off x="1987698" y="4331597"/>
          <a:ext cx="1275093" cy="4264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73" r:id="rId21" imgW="736917" imgH="241617" progId="Equation.DSMT4">
                  <p:embed/>
                </p:oleObj>
              </mc:Choice>
              <mc:Fallback>
                <p:oleObj r:id="rId21" imgW="736917" imgH="241617" progId="Equation.DSMT4">
                  <p:embed/>
                  <p:pic>
                    <p:nvPicPr>
                      <p:cNvPr id="25" name="Object 17">
                        <a:extLst>
                          <a:ext uri="{FF2B5EF4-FFF2-40B4-BE49-F238E27FC236}">
                            <a16:creationId xmlns:a16="http://schemas.microsoft.com/office/drawing/2014/main" id="{AB1041C5-6D1A-4377-876C-3532CD4E178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7698" y="4331597"/>
                        <a:ext cx="1275093" cy="4264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18">
            <a:extLst>
              <a:ext uri="{FF2B5EF4-FFF2-40B4-BE49-F238E27FC236}">
                <a16:creationId xmlns:a16="http://schemas.microsoft.com/office/drawing/2014/main" id="{BE8CF1E2-0594-4992-BF43-D2648DED02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9200561"/>
              </p:ext>
            </p:extLst>
          </p:nvPr>
        </p:nvGraphicFramePr>
        <p:xfrm>
          <a:off x="6826509" y="4331597"/>
          <a:ext cx="306485" cy="3614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74" r:id="rId23" imgW="178117" imgH="203517" progId="Equation.DSMT4">
                  <p:embed/>
                </p:oleObj>
              </mc:Choice>
              <mc:Fallback>
                <p:oleObj r:id="rId23" imgW="178117" imgH="203517" progId="Equation.DSMT4">
                  <p:embed/>
                  <p:pic>
                    <p:nvPicPr>
                      <p:cNvPr id="26" name="Object 18">
                        <a:extLst>
                          <a:ext uri="{FF2B5EF4-FFF2-40B4-BE49-F238E27FC236}">
                            <a16:creationId xmlns:a16="http://schemas.microsoft.com/office/drawing/2014/main" id="{BE8CF1E2-0594-4992-BF43-D2648DED02C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26509" y="4331597"/>
                        <a:ext cx="306485" cy="3614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19">
            <a:extLst>
              <a:ext uri="{FF2B5EF4-FFF2-40B4-BE49-F238E27FC236}">
                <a16:creationId xmlns:a16="http://schemas.microsoft.com/office/drawing/2014/main" id="{ED42DB5A-6AE1-4986-8037-B6C506C831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7956999"/>
              </p:ext>
            </p:extLst>
          </p:nvPr>
        </p:nvGraphicFramePr>
        <p:xfrm>
          <a:off x="1658081" y="4987545"/>
          <a:ext cx="967163" cy="4033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75" r:id="rId25" imgW="559360" imgH="229016" progId="Equation.DSMT4">
                  <p:embed/>
                </p:oleObj>
              </mc:Choice>
              <mc:Fallback>
                <p:oleObj r:id="rId25" imgW="559360" imgH="229016" progId="Equation.DSMT4">
                  <p:embed/>
                  <p:pic>
                    <p:nvPicPr>
                      <p:cNvPr id="27" name="Object 19">
                        <a:extLst>
                          <a:ext uri="{FF2B5EF4-FFF2-40B4-BE49-F238E27FC236}">
                            <a16:creationId xmlns:a16="http://schemas.microsoft.com/office/drawing/2014/main" id="{ED42DB5A-6AE1-4986-8037-B6C506C8316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8081" y="4987545"/>
                        <a:ext cx="967163" cy="4033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0">
            <a:extLst>
              <a:ext uri="{FF2B5EF4-FFF2-40B4-BE49-F238E27FC236}">
                <a16:creationId xmlns:a16="http://schemas.microsoft.com/office/drawing/2014/main" id="{AA9850E3-81A1-4CD2-9500-366C864221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9317749"/>
              </p:ext>
            </p:extLst>
          </p:nvPr>
        </p:nvGraphicFramePr>
        <p:xfrm>
          <a:off x="3967239" y="3408027"/>
          <a:ext cx="2394051" cy="8110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76" r:id="rId27" imgW="1333817" imgH="432117" progId="Equation.DSMT4">
                  <p:embed/>
                </p:oleObj>
              </mc:Choice>
              <mc:Fallback>
                <p:oleObj r:id="rId27" imgW="1333817" imgH="432117" progId="Equation.DSMT4">
                  <p:embed/>
                  <p:pic>
                    <p:nvPicPr>
                      <p:cNvPr id="28" name="Object 20">
                        <a:extLst>
                          <a:ext uri="{FF2B5EF4-FFF2-40B4-BE49-F238E27FC236}">
                            <a16:creationId xmlns:a16="http://schemas.microsoft.com/office/drawing/2014/main" id="{AA9850E3-81A1-4CD2-9500-366C8642218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7239" y="3408027"/>
                        <a:ext cx="2394051" cy="8110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Rectangle 21">
            <a:extLst>
              <a:ext uri="{FF2B5EF4-FFF2-40B4-BE49-F238E27FC236}">
                <a16:creationId xmlns:a16="http://schemas.microsoft.com/office/drawing/2014/main" id="{7718021F-5A1C-42F8-8928-D7FFF39505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3645" y="3645024"/>
            <a:ext cx="888192" cy="248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buClrTx/>
              <a:defRPr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或者</a:t>
            </a:r>
            <a:endParaRPr lang="zh-CN" altLang="en-US" sz="2000" dirty="0">
              <a:solidFill>
                <a:srgbClr val="0066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Line 22">
            <a:extLst>
              <a:ext uri="{FF2B5EF4-FFF2-40B4-BE49-F238E27FC236}">
                <a16:creationId xmlns:a16="http://schemas.microsoft.com/office/drawing/2014/main" id="{C8665C54-7BD7-4DC5-8877-E19EA5CDAF18}"/>
              </a:ext>
            </a:extLst>
          </p:cNvPr>
          <p:cNvSpPr>
            <a:spLocks noChangeShapeType="1"/>
          </p:cNvSpPr>
          <p:nvPr/>
        </p:nvSpPr>
        <p:spPr bwMode="auto">
          <a:xfrm>
            <a:off x="2627784" y="5402776"/>
            <a:ext cx="654895" cy="318249"/>
          </a:xfrm>
          <a:prstGeom prst="line">
            <a:avLst/>
          </a:prstGeom>
          <a:noFill/>
          <a:ln w="508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1" name="Object 23">
            <a:extLst>
              <a:ext uri="{FF2B5EF4-FFF2-40B4-BE49-F238E27FC236}">
                <a16:creationId xmlns:a16="http://schemas.microsoft.com/office/drawing/2014/main" id="{9B7E7D0E-12A4-439E-A80B-913CE0B9C7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8355226"/>
              </p:ext>
            </p:extLst>
          </p:nvPr>
        </p:nvGraphicFramePr>
        <p:xfrm>
          <a:off x="3377176" y="5707576"/>
          <a:ext cx="769103" cy="31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77" r:id="rId29" imgW="444431" imgH="177963" progId="Equation.DSMT4">
                  <p:embed/>
                </p:oleObj>
              </mc:Choice>
              <mc:Fallback>
                <p:oleObj r:id="rId29" imgW="444431" imgH="177963" progId="Equation.DSMT4">
                  <p:embed/>
                  <p:pic>
                    <p:nvPicPr>
                      <p:cNvPr id="31" name="Object 23">
                        <a:extLst>
                          <a:ext uri="{FF2B5EF4-FFF2-40B4-BE49-F238E27FC236}">
                            <a16:creationId xmlns:a16="http://schemas.microsoft.com/office/drawing/2014/main" id="{9B7E7D0E-12A4-439E-A80B-913CE0B9C77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7176" y="5707576"/>
                        <a:ext cx="769103" cy="313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Rectangle 12">
            <a:extLst>
              <a:ext uri="{FF2B5EF4-FFF2-40B4-BE49-F238E27FC236}">
                <a16:creationId xmlns:a16="http://schemas.microsoft.com/office/drawing/2014/main" id="{3E7E4ADC-650F-4B82-8BB8-4E01BE5BF8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7654" y="5035649"/>
            <a:ext cx="4131762" cy="3205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buClrTx/>
              <a:defRPr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，置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k:=k+1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，转步骤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</a:p>
        </p:txBody>
      </p:sp>
    </p:spTree>
    <p:extLst>
      <p:ext uri="{BB962C8B-B14F-4D97-AF65-F5344CB8AC3E}">
        <p14:creationId xmlns:p14="http://schemas.microsoft.com/office/powerpoint/2010/main" val="2992879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utoUpdateAnimBg="0"/>
      <p:bldP spid="16" grpId="0" autoUpdateAnimBg="0"/>
      <p:bldP spid="20" grpId="0" autoUpdateAnimBg="0"/>
      <p:bldP spid="21" grpId="0" autoUpdateAnimBg="0"/>
      <p:bldP spid="24" grpId="0" build="allAtOnce" autoUpdateAnimBg="0"/>
      <p:bldP spid="29" grpId="0" autoUpdateAnimBg="0"/>
      <p:bldP spid="32" grpId="0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3"/>
          <p:cNvSpPr>
            <a:spLocks noGrp="1"/>
          </p:cNvSpPr>
          <p:nvPr>
            <p:ph type="title"/>
          </p:nvPr>
        </p:nvSpPr>
        <p:spPr>
          <a:xfrm>
            <a:off x="2928926" y="142852"/>
            <a:ext cx="6215073" cy="549844"/>
          </a:xfrm>
        </p:spPr>
        <p:txBody>
          <a:bodyPr/>
          <a:lstStyle/>
          <a:p>
            <a:r>
              <a:rPr lang="zh-CN" altLang="en-US" sz="36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第六章 常用约束最优化方法</a:t>
            </a:r>
            <a:endParaRPr kumimoji="1"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4CDFD6AF-5A3F-4944-A371-2FF31B9503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548" y="825619"/>
            <a:ext cx="8424936" cy="5810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Tx/>
              <a:defRPr/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混合</a:t>
            </a:r>
            <a:r>
              <a:rPr lang="zh-CN" altLang="en-US" sz="2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罚函数法</a:t>
            </a:r>
            <a:endParaRPr lang="en-US" altLang="zh-CN" sz="2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14496" y="1736727"/>
            <a:ext cx="731500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混合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罚函数法是</a:t>
            </a: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采用内点法和外点法相结合的，用内点法处理不等式约束，用外点法处理等式约束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。可以用来求解含不等式和等式约束的优化问题。</a:t>
            </a:r>
          </a:p>
        </p:txBody>
      </p:sp>
    </p:spTree>
    <p:extLst>
      <p:ext uri="{BB962C8B-B14F-4D97-AF65-F5344CB8AC3E}">
        <p14:creationId xmlns:p14="http://schemas.microsoft.com/office/powerpoint/2010/main" val="2374560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3"/>
          <p:cNvSpPr>
            <a:spLocks noGrp="1"/>
          </p:cNvSpPr>
          <p:nvPr>
            <p:ph type="title"/>
          </p:nvPr>
        </p:nvSpPr>
        <p:spPr>
          <a:xfrm>
            <a:off x="2928926" y="142852"/>
            <a:ext cx="6215073" cy="549844"/>
          </a:xfrm>
        </p:spPr>
        <p:txBody>
          <a:bodyPr/>
          <a:lstStyle/>
          <a:p>
            <a:r>
              <a:rPr lang="zh-CN" altLang="en-US" sz="36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第六章 常用约束最优化方法</a:t>
            </a:r>
            <a:endParaRPr kumimoji="1"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0"/>
          <p:cNvSpPr>
            <a:spLocks noChangeArrowheads="1"/>
          </p:cNvSpPr>
          <p:nvPr/>
        </p:nvSpPr>
        <p:spPr bwMode="auto">
          <a:xfrm>
            <a:off x="250825" y="907415"/>
            <a:ext cx="5041900" cy="4651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混合罚函数法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</a:t>
            </a:r>
            <a:r>
              <a:rPr kumimoji="0" lang="zh-CN" altLang="en-US" sz="2000" i="0" u="none" strike="noStrike" kern="120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迭代步骤</a:t>
            </a:r>
          </a:p>
        </p:txBody>
      </p:sp>
      <p:sp>
        <p:nvSpPr>
          <p:cNvPr id="4" name="Text Box 16"/>
          <p:cNvSpPr txBox="1"/>
          <p:nvPr/>
        </p:nvSpPr>
        <p:spPr>
          <a:xfrm>
            <a:off x="372110" y="1482090"/>
            <a:ext cx="862838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just" eaLnBrk="0" hangingPunct="0">
              <a:lnSpc>
                <a:spcPct val="150000"/>
              </a:lnSpc>
              <a:spcBef>
                <a:spcPct val="50000"/>
              </a:spcBef>
              <a:buClrTx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混合法具有内点法的特点，迭代过程在可行域之内进行，参数的选择同内点法。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429260" y="2132330"/>
            <a:ext cx="8436610" cy="3274695"/>
            <a:chOff x="676" y="3358"/>
            <a:chExt cx="13286" cy="5157"/>
          </a:xfrm>
        </p:grpSpPr>
        <p:sp>
          <p:nvSpPr>
            <p:cNvPr id="6" name="Rectangle 3"/>
            <p:cNvSpPr>
              <a:spLocks noChangeArrowheads="1"/>
            </p:cNvSpPr>
            <p:nvPr/>
          </p:nvSpPr>
          <p:spPr bwMode="auto">
            <a:xfrm>
              <a:off x="676" y="3358"/>
              <a:ext cx="12720" cy="107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 marL="0" marR="0" lvl="0" indent="0" algn="l" defTabSz="914400" rtl="0" eaLnBrk="1" fontAlgn="base" latinLnBrk="0" hangingPunct="1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Step</a:t>
              </a:r>
              <a:r>
                <a:rPr kumimoji="0" lang="en-US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</a:t>
              </a:r>
              <a:r>
                <a:rPr kumimoji="0" lang="zh-CN" altLang="en-US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：</a:t>
              </a:r>
              <a:r>
                <a:rPr kumimoji="0" lang="zh-CN" altLang="en-US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任意给定初始点</a:t>
              </a:r>
              <a:r>
                <a:rPr kumimoji="0" lang="zh-CN" altLang="en-US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，要求满足不等式约束，初始障碍</a:t>
              </a:r>
              <a:r>
                <a:rPr kumimoji="0" lang="zh-CN" altLang="en-US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因子  </a:t>
              </a:r>
              <a:r>
                <a:rPr lang="en-US" altLang="zh-CN" dirty="0" smtClea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        </a:t>
              </a:r>
              <a:r>
                <a:rPr kumimoji="0" lang="en-US" altLang="zh-CN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,</a:t>
              </a:r>
              <a:r>
                <a:rPr kumimoji="0" lang="zh-CN" altLang="en-US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</a:t>
              </a:r>
              <a:r>
                <a:rPr kumimoji="0" lang="zh-CN" altLang="en-US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置</a:t>
              </a:r>
              <a:r>
                <a:rPr kumimoji="0" lang="en-US" altLang="zh-CN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k=1;</a:t>
              </a:r>
              <a:endParaRPr kumimoji="0" lang="zh-CN" altLang="en-US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r>
                <a:rPr kumimoji="0" lang="zh-CN" altLang="en-US" i="0" u="none" strike="noStrike" kern="1200" cap="none" spc="0" normalizeH="0" baseline="0" noProof="0" dirty="0">
                  <a:ln>
                    <a:noFill/>
                  </a:ln>
                  <a:solidFill>
                    <a:srgbClr val="0066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           </a:t>
              </a:r>
            </a:p>
          </p:txBody>
        </p:sp>
        <p:sp>
          <p:nvSpPr>
            <p:cNvPr id="8" name="Rectangle 7"/>
            <p:cNvSpPr>
              <a:spLocks noChangeArrowheads="1"/>
            </p:cNvSpPr>
            <p:nvPr/>
          </p:nvSpPr>
          <p:spPr bwMode="auto">
            <a:xfrm>
              <a:off x="676" y="4340"/>
              <a:ext cx="11604" cy="66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Step</a:t>
              </a:r>
              <a:r>
                <a:rPr kumimoji="0" lang="en-US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2</a:t>
              </a:r>
              <a:r>
                <a:rPr kumimoji="0" lang="zh-CN" altLang="en-US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：假设已获迭代点        ，以        为初始点，求解                     ，</a:t>
              </a:r>
              <a:r>
                <a:rPr kumimoji="0" lang="zh-CN" altLang="en-US" i="0" u="none" strike="noStrike" kern="1200" cap="none" spc="0" normalizeH="0" baseline="0" noProof="0" dirty="0">
                  <a:ln>
                    <a:noFill/>
                  </a:ln>
                  <a:solidFill>
                    <a:srgbClr val="0066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 </a:t>
              </a:r>
            </a:p>
          </p:txBody>
        </p:sp>
        <p:sp>
          <p:nvSpPr>
            <p:cNvPr id="9" name="Rectangle 9"/>
            <p:cNvSpPr>
              <a:spLocks noChangeArrowheads="1"/>
            </p:cNvSpPr>
            <p:nvPr/>
          </p:nvSpPr>
          <p:spPr bwMode="auto">
            <a:xfrm>
              <a:off x="2202" y="5231"/>
              <a:ext cx="6431" cy="60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r>
                <a:rPr kumimoji="0" lang="zh-CN" altLang="en-US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得到极小点           </a:t>
              </a:r>
              <a:r>
                <a:rPr kumimoji="0" lang="en-US" altLang="zh-CN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.</a:t>
              </a:r>
              <a:r>
                <a:rPr kumimoji="0" lang="zh-CN" altLang="en-US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   </a:t>
              </a:r>
            </a:p>
          </p:txBody>
        </p:sp>
        <p:graphicFrame>
          <p:nvGraphicFramePr>
            <p:cNvPr id="10" name="Object 10"/>
            <p:cNvGraphicFramePr>
              <a:graphicFrameLocks noChangeAspect="1"/>
            </p:cNvGraphicFramePr>
            <p:nvPr/>
          </p:nvGraphicFramePr>
          <p:xfrm>
            <a:off x="4218" y="5231"/>
            <a:ext cx="1059" cy="6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570" r:id="rId3" imgW="393700" imgH="228600" progId="Equation.DSMT4">
                    <p:embed/>
                  </p:oleObj>
                </mc:Choice>
                <mc:Fallback>
                  <p:oleObj r:id="rId3" imgW="393700" imgH="228600" progId="Equation.DSMT4">
                    <p:embed/>
                    <p:pic>
                      <p:nvPicPr>
                        <p:cNvPr id="74762" name="Object 10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218" y="5231"/>
                          <a:ext cx="1059" cy="63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Rectangle 12"/>
            <p:cNvSpPr>
              <a:spLocks noChangeArrowheads="1"/>
            </p:cNvSpPr>
            <p:nvPr/>
          </p:nvSpPr>
          <p:spPr bwMode="auto">
            <a:xfrm>
              <a:off x="676" y="5930"/>
              <a:ext cx="13286" cy="150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 marL="0" marR="0" lvl="0" indent="0" algn="l" defTabSz="914400" rtl="0" eaLnBrk="1" fontAlgn="base" latinLnBrk="0" hangingPunct="1">
                <a:lnSpc>
                  <a:spcPct val="2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Step</a:t>
              </a:r>
              <a:r>
                <a:rPr kumimoji="0" lang="en-US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3</a:t>
              </a:r>
              <a:r>
                <a:rPr kumimoji="0" lang="zh-CN" altLang="en-US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：</a:t>
              </a:r>
              <a:r>
                <a:rPr kumimoji="0" lang="zh-CN" altLang="en-US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若                                            则停止计算，得到近似极小点          </a:t>
              </a:r>
              <a:r>
                <a:rPr kumimoji="0" lang="zh-CN" altLang="en-US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；</a:t>
              </a:r>
              <a:endParaRPr kumimoji="0" lang="en-US" altLang="zh-CN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2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</a:t>
              </a:r>
              <a:r>
                <a:rPr lang="en-US" altLang="zh-CN" dirty="0" smtClea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           </a:t>
              </a:r>
              <a:r>
                <a:rPr kumimoji="0" lang="zh-CN" altLang="en-US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否则</a:t>
              </a:r>
              <a:r>
                <a:rPr kumimoji="0" lang="zh-CN" altLang="en-US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，转</a:t>
              </a:r>
              <a:r>
                <a:rPr lang="en-US" altLang="zh-CN" noProof="0" dirty="0" smtClean="0">
                  <a:ln>
                    <a:noFill/>
                  </a:ln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Step4</a:t>
              </a:r>
              <a:r>
                <a:rPr kumimoji="0" lang="zh-CN" altLang="en-US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     </a:t>
              </a:r>
              <a:r>
                <a:rPr kumimoji="0" lang="zh-CN" altLang="en-US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66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   </a:t>
              </a:r>
              <a:endParaRPr kumimoji="0" lang="zh-CN" altLang="en-US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graphicFrame>
          <p:nvGraphicFramePr>
            <p:cNvPr id="12" name="Object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20845459"/>
                </p:ext>
              </p:extLst>
            </p:nvPr>
          </p:nvGraphicFramePr>
          <p:xfrm>
            <a:off x="12000" y="6065"/>
            <a:ext cx="940" cy="5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571" r:id="rId5" imgW="393700" imgH="228600" progId="Equation.DSMT4">
                    <p:embed/>
                  </p:oleObj>
                </mc:Choice>
                <mc:Fallback>
                  <p:oleObj r:id="rId5" imgW="393700" imgH="228600" progId="Equation.DSMT4">
                    <p:embed/>
                    <p:pic>
                      <p:nvPicPr>
                        <p:cNvPr id="74766" name="Object 14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2000" y="6065"/>
                          <a:ext cx="940" cy="56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Object 15"/>
            <p:cNvGraphicFramePr>
              <a:graphicFrameLocks noChangeAspect="1"/>
            </p:cNvGraphicFramePr>
            <p:nvPr/>
          </p:nvGraphicFramePr>
          <p:xfrm>
            <a:off x="2350" y="7888"/>
            <a:ext cx="1505" cy="6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572" r:id="rId7" imgW="559435" imgH="228600" progId="Equation.DSMT4">
                    <p:embed/>
                  </p:oleObj>
                </mc:Choice>
                <mc:Fallback>
                  <p:oleObj r:id="rId7" imgW="559435" imgH="228600" progId="Equation.DSMT4">
                    <p:embed/>
                    <p:pic>
                      <p:nvPicPr>
                        <p:cNvPr id="74767" name="Object 15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350" y="7888"/>
                          <a:ext cx="1505" cy="62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01488224"/>
                </p:ext>
              </p:extLst>
            </p:nvPr>
          </p:nvGraphicFramePr>
          <p:xfrm>
            <a:off x="4719" y="4392"/>
            <a:ext cx="818" cy="5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573" r:id="rId9" imgW="316865" imgH="241300" progId="Equation.DSMT4">
                    <p:embed/>
                  </p:oleObj>
                </mc:Choice>
                <mc:Fallback>
                  <p:oleObj r:id="rId9" imgW="316865" imgH="241300" progId="Equation.DSMT4">
                    <p:embed/>
                    <p:pic>
                      <p:nvPicPr>
                        <p:cNvPr id="9" name="Object 4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719" y="4392"/>
                          <a:ext cx="818" cy="53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82458432"/>
                </p:ext>
              </p:extLst>
            </p:nvPr>
          </p:nvGraphicFramePr>
          <p:xfrm>
            <a:off x="6218" y="4381"/>
            <a:ext cx="818" cy="5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574" r:id="rId11" imgW="316865" imgH="241300" progId="Equation.DSMT4">
                    <p:embed/>
                  </p:oleObj>
                </mc:Choice>
                <mc:Fallback>
                  <p:oleObj r:id="rId11" imgW="316865" imgH="241300" progId="Equation.DSMT4">
                    <p:embed/>
                    <p:pic>
                      <p:nvPicPr>
                        <p:cNvPr id="13" name="Object 4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6218" y="4381"/>
                          <a:ext cx="818" cy="53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对象 15"/>
            <p:cNvGraphicFramePr/>
            <p:nvPr/>
          </p:nvGraphicFramePr>
          <p:xfrm>
            <a:off x="9795" y="4343"/>
            <a:ext cx="2205" cy="6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575" r:id="rId12" imgW="800100" imgH="254000" progId="Equation.DSMT4">
                    <p:embed/>
                  </p:oleObj>
                </mc:Choice>
                <mc:Fallback>
                  <p:oleObj r:id="rId12" imgW="800100" imgH="254000" progId="Equation.DSMT4">
                    <p:embed/>
                    <p:pic>
                      <p:nvPicPr>
                        <p:cNvPr id="15" name="对象 14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9795" y="4343"/>
                          <a:ext cx="2205" cy="67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Object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65308218"/>
                </p:ext>
              </p:extLst>
            </p:nvPr>
          </p:nvGraphicFramePr>
          <p:xfrm>
            <a:off x="2664" y="6065"/>
            <a:ext cx="4551" cy="6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576" name="Equation" r:id="rId14" imgW="1981080" imgH="253800" progId="Equation.DSMT4">
                    <p:embed/>
                  </p:oleObj>
                </mc:Choice>
                <mc:Fallback>
                  <p:oleObj name="Equation" r:id="rId14" imgW="1981080" imgH="253800" progId="Equation.DSMT4">
                    <p:embed/>
                    <p:pic>
                      <p:nvPicPr>
                        <p:cNvPr id="17" name="Object 14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2664" y="6065"/>
                          <a:ext cx="4551" cy="65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文本框 17"/>
            <p:cNvSpPr txBox="1"/>
            <p:nvPr/>
          </p:nvSpPr>
          <p:spPr>
            <a:xfrm>
              <a:off x="722" y="7935"/>
              <a:ext cx="11406" cy="58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altLang="zh-CN" noProof="0" dirty="0">
                  <a:ln>
                    <a:noFill/>
                  </a:ln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Step4</a:t>
              </a:r>
              <a:r>
                <a:rPr lang="zh-CN" altLang="en-US" noProof="0" dirty="0" smtClean="0">
                  <a:ln>
                    <a:noFill/>
                  </a:ln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：               </a:t>
              </a:r>
              <a:r>
                <a:rPr lang="en-US" altLang="zh-CN" noProof="0" dirty="0">
                  <a:ln>
                    <a:noFill/>
                  </a:ln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, k=k+1</a:t>
              </a:r>
              <a:r>
                <a:rPr lang="zh-CN" altLang="en-US" noProof="0" dirty="0">
                  <a:ln>
                    <a:noFill/>
                  </a:ln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，转</a:t>
              </a:r>
              <a:r>
                <a:rPr lang="en-US" altLang="zh-CN" noProof="0" dirty="0" smtClean="0">
                  <a:ln>
                    <a:noFill/>
                  </a:ln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Step 2</a:t>
              </a:r>
              <a:r>
                <a:rPr lang="zh-CN" altLang="en-US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 </a:t>
              </a:r>
              <a:endParaRPr lang="zh-CN" altLang="en-US" noProof="0" dirty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</p:txBody>
        </p:sp>
      </p:grpSp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5078190"/>
              </p:ext>
            </p:extLst>
          </p:nvPr>
        </p:nvGraphicFramePr>
        <p:xfrm>
          <a:off x="6884988" y="2155825"/>
          <a:ext cx="677862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577" name="Equation" r:id="rId16" imgW="469800" imgH="228600" progId="Equation.DSMT4">
                  <p:embed/>
                </p:oleObj>
              </mc:Choice>
              <mc:Fallback>
                <p:oleObj name="Equation" r:id="rId16" imgW="469800" imgH="228600" progId="Equation.DSMT4">
                  <p:embed/>
                  <p:pic>
                    <p:nvPicPr>
                      <p:cNvPr id="5" name="对象 4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6884988" y="2155825"/>
                        <a:ext cx="677862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53210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3"/>
          <p:cNvSpPr>
            <a:spLocks noGrp="1"/>
          </p:cNvSpPr>
          <p:nvPr>
            <p:ph type="title"/>
          </p:nvPr>
        </p:nvSpPr>
        <p:spPr>
          <a:xfrm>
            <a:off x="2928926" y="142852"/>
            <a:ext cx="6215073" cy="549844"/>
          </a:xfrm>
        </p:spPr>
        <p:txBody>
          <a:bodyPr/>
          <a:lstStyle/>
          <a:p>
            <a:r>
              <a:rPr lang="zh-CN" altLang="en-US" sz="36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第六章 常用约束最优化方法</a:t>
            </a:r>
            <a:endParaRPr kumimoji="1"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0"/>
          <p:cNvSpPr>
            <a:spLocks noChangeArrowheads="1"/>
          </p:cNvSpPr>
          <p:nvPr/>
        </p:nvSpPr>
        <p:spPr bwMode="auto">
          <a:xfrm>
            <a:off x="250825" y="835660"/>
            <a:ext cx="5041900" cy="4651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L="0" marR="0" lvl="0" algn="l" defTabSz="914400" rtl="0" eaLnBrk="1" fontAlgn="base" latinLnBrk="0" hangingPunct="1">
              <a:lnSpc>
                <a:spcPct val="100000"/>
              </a:lnSpc>
              <a:buClrTx/>
              <a:buSzTx/>
              <a:buFont typeface="Wingdings" panose="05000000000000000000" pitchFamily="2" charset="2"/>
              <a:buNone/>
              <a:defRPr/>
            </a:pPr>
            <a:r>
              <a:rPr lang="en-US" altLang="zh-CN" sz="2800" b="1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2800" b="1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约束坐标轮换法</a:t>
            </a:r>
            <a:r>
              <a:rPr lang="en-US" altLang="zh-CN" sz="2800" b="1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200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基本原理</a:t>
            </a:r>
            <a:endParaRPr kumimoji="0" lang="zh-CN" altLang="en-US" sz="2000" i="0" u="none" strike="noStrike" kern="1200" cap="none" spc="0" normalizeH="0" baseline="0" noProof="0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graphicFrame>
        <p:nvGraphicFramePr>
          <p:cNvPr id="4" name="对象 3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3779973"/>
              </p:ext>
            </p:extLst>
          </p:nvPr>
        </p:nvGraphicFramePr>
        <p:xfrm>
          <a:off x="4405880" y="3329305"/>
          <a:ext cx="238127" cy="1987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576" r:id="rId3" imgW="914400" imgH="198755" progId="Equation.KSEE3">
                  <p:embed/>
                </p:oleObj>
              </mc:Choice>
              <mc:Fallback>
                <p:oleObj r:id="rId3" imgW="914400" imgH="198755" progId="Equation.KSEE3">
                  <p:embed/>
                  <p:pic>
                    <p:nvPicPr>
                      <p:cNvPr id="3" name="对象 2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405880" y="3329305"/>
                        <a:ext cx="238127" cy="1987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4"/>
          <p:cNvGrpSpPr/>
          <p:nvPr/>
        </p:nvGrpSpPr>
        <p:grpSpPr>
          <a:xfrm>
            <a:off x="407670" y="1278255"/>
            <a:ext cx="8346440" cy="1973580"/>
            <a:chOff x="642" y="2013"/>
            <a:chExt cx="13144" cy="3108"/>
          </a:xfrm>
        </p:grpSpPr>
        <p:sp>
          <p:nvSpPr>
            <p:cNvPr id="6" name="文本框 5"/>
            <p:cNvSpPr txBox="1"/>
            <p:nvPr/>
          </p:nvSpPr>
          <p:spPr>
            <a:xfrm>
              <a:off x="642" y="2013"/>
              <a:ext cx="13145" cy="310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l">
                <a:lnSpc>
                  <a:spcPct val="170000"/>
                </a:lnSpc>
              </a:pPr>
              <a:r>
                <a:rPr lang="en-US" altLang="zh-CN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 </a:t>
              </a:r>
              <a:r>
                <a: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rPr>
                <a:t>对于n维约東优化问题，依次沿坐标向量                的方向进行搜索时，由于只能在可行域内进行探索，故不宜采用最优步长，以免越出可行域。为此，通常利用加步搜索法来确定搜索步长，以求得一系列可行点，使目标函数值逐次下降，直至收敛到最优解。现以下图所示的二维情况进行说明</a:t>
              </a:r>
              <a:r>
                <a:rPr lang="en-US" altLang="zh-CN">
                  <a:latin typeface="微软雅黑" panose="020B0503020204020204" pitchFamily="34" charset="-122"/>
                  <a:ea typeface="微软雅黑" panose="020B0503020204020204" pitchFamily="34" charset="-122"/>
                </a:rPr>
                <a:t>:</a:t>
              </a:r>
            </a:p>
          </p:txBody>
        </p:sp>
        <p:graphicFrame>
          <p:nvGraphicFramePr>
            <p:cNvPr id="8" name="对象 7"/>
            <p:cNvGraphicFramePr/>
            <p:nvPr/>
          </p:nvGraphicFramePr>
          <p:xfrm>
            <a:off x="7920" y="2263"/>
            <a:ext cx="1594" cy="6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7577" r:id="rId5" imgW="1015365" imgH="440690" progId="Equation.DSMT4">
                    <p:embed/>
                  </p:oleObj>
                </mc:Choice>
                <mc:Fallback>
                  <p:oleObj r:id="rId5" imgW="1015365" imgH="440690" progId="Equation.DSMT4">
                    <p:embed/>
                    <p:pic>
                      <p:nvPicPr>
                        <p:cNvPr id="6" name="对象 5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7920" y="2263"/>
                          <a:ext cx="1594" cy="61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9" name="Picture 2" descr="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16" b="7039"/>
          <a:stretch>
            <a:fillRect/>
          </a:stretch>
        </p:blipFill>
        <p:spPr bwMode="auto">
          <a:xfrm>
            <a:off x="4506883" y="3271975"/>
            <a:ext cx="4404707" cy="35466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31568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3"/>
          <p:cNvSpPr>
            <a:spLocks noGrp="1"/>
          </p:cNvSpPr>
          <p:nvPr>
            <p:ph type="title"/>
          </p:nvPr>
        </p:nvSpPr>
        <p:spPr>
          <a:xfrm>
            <a:off x="2928926" y="142852"/>
            <a:ext cx="6215073" cy="549844"/>
          </a:xfrm>
        </p:spPr>
        <p:txBody>
          <a:bodyPr/>
          <a:lstStyle/>
          <a:p>
            <a:r>
              <a:rPr lang="zh-CN" altLang="en-US" sz="36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第六章 常用约束最优化方法</a:t>
            </a:r>
            <a:endParaRPr kumimoji="1"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2438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928927" y="44624"/>
            <a:ext cx="6072230" cy="582594"/>
          </a:xfrm>
        </p:spPr>
        <p:txBody>
          <a:bodyPr/>
          <a:lstStyle/>
          <a:p>
            <a:pPr>
              <a:lnSpc>
                <a:spcPts val="5600"/>
              </a:lnSpc>
            </a:pPr>
            <a:r>
              <a:rPr lang="zh-CN" altLang="en-US" sz="3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无约束最优化方法</a:t>
            </a:r>
          </a:p>
        </p:txBody>
      </p:sp>
      <p:cxnSp>
        <p:nvCxnSpPr>
          <p:cNvPr id="101" name="直接连接符 13"/>
          <p:cNvCxnSpPr>
            <a:cxnSpLocks noChangeShapeType="1"/>
          </p:cNvCxnSpPr>
          <p:nvPr/>
        </p:nvCxnSpPr>
        <p:spPr bwMode="auto">
          <a:xfrm>
            <a:off x="2674912" y="785794"/>
            <a:ext cx="0" cy="5157787"/>
          </a:xfrm>
          <a:prstGeom prst="line">
            <a:avLst/>
          </a:prstGeom>
          <a:noFill/>
          <a:ln w="6350" cmpd="sng">
            <a:solidFill>
              <a:schemeClr val="accent1"/>
            </a:solidFill>
            <a:round/>
            <a:headEnd/>
            <a:tailEnd/>
          </a:ln>
        </p:spPr>
      </p:cxnSp>
      <p:grpSp>
        <p:nvGrpSpPr>
          <p:cNvPr id="3" name="组 2"/>
          <p:cNvGrpSpPr/>
          <p:nvPr/>
        </p:nvGrpSpPr>
        <p:grpSpPr>
          <a:xfrm>
            <a:off x="1643042" y="1849955"/>
            <a:ext cx="6169292" cy="642941"/>
            <a:chOff x="1643042" y="1268760"/>
            <a:chExt cx="6169292" cy="642941"/>
          </a:xfrm>
        </p:grpSpPr>
        <p:sp>
          <p:nvSpPr>
            <p:cNvPr id="102" name="椭圆 14"/>
            <p:cNvSpPr>
              <a:spLocks noChangeArrowheads="1"/>
            </p:cNvSpPr>
            <p:nvPr/>
          </p:nvSpPr>
          <p:spPr bwMode="auto">
            <a:xfrm>
              <a:off x="2606650" y="1497362"/>
              <a:ext cx="128587" cy="12858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 eaLnBrk="1" hangingPunct="1"/>
              <a:endParaRPr lang="zh-CN" altLang="en-US">
                <a:solidFill>
                  <a:srgbClr val="FFFFFF"/>
                </a:solidFill>
              </a:endParaRPr>
            </a:p>
          </p:txBody>
        </p:sp>
        <p:grpSp>
          <p:nvGrpSpPr>
            <p:cNvPr id="4" name="组合 5"/>
            <p:cNvGrpSpPr>
              <a:grpSpLocks/>
            </p:cNvGrpSpPr>
            <p:nvPr/>
          </p:nvGrpSpPr>
          <p:grpSpPr bwMode="auto">
            <a:xfrm>
              <a:off x="1643042" y="1268760"/>
              <a:ext cx="714380" cy="642941"/>
              <a:chOff x="0" y="0"/>
              <a:chExt cx="1275488" cy="1275488"/>
            </a:xfrm>
            <a:solidFill>
              <a:srgbClr val="004182"/>
            </a:solidFill>
          </p:grpSpPr>
          <p:sp>
            <p:nvSpPr>
              <p:cNvPr id="106" name="泪滴形 7"/>
              <p:cNvSpPr>
                <a:spLocks/>
              </p:cNvSpPr>
              <p:nvPr/>
            </p:nvSpPr>
            <p:spPr bwMode="auto">
              <a:xfrm rot="2700000">
                <a:off x="0" y="0"/>
                <a:ext cx="1275488" cy="1275488"/>
              </a:xfrm>
              <a:custGeom>
                <a:avLst/>
                <a:gdLst/>
                <a:ahLst/>
                <a:cxnLst>
                  <a:cxn ang="0">
                    <a:pos x="0" y="637744"/>
                  </a:cxn>
                  <a:cxn ang="0">
                    <a:pos x="637744" y="0"/>
                  </a:cxn>
                  <a:cxn ang="0">
                    <a:pos x="1275488" y="0"/>
                  </a:cxn>
                  <a:cxn ang="0">
                    <a:pos x="1275488" y="637744"/>
                  </a:cxn>
                  <a:cxn ang="0">
                    <a:pos x="637744" y="1275488"/>
                  </a:cxn>
                  <a:cxn ang="0">
                    <a:pos x="0" y="637744"/>
                  </a:cxn>
                </a:cxnLst>
                <a:rect l="0" t="0" r="r" b="b"/>
                <a:pathLst>
                  <a:path w="1275488" h="1275488">
                    <a:moveTo>
                      <a:pt x="0" y="637744"/>
                    </a:moveTo>
                    <a:cubicBezTo>
                      <a:pt x="0" y="285528"/>
                      <a:pt x="285528" y="0"/>
                      <a:pt x="637744" y="0"/>
                    </a:cubicBezTo>
                    <a:lnTo>
                      <a:pt x="1275488" y="0"/>
                    </a:lnTo>
                    <a:lnTo>
                      <a:pt x="1275488" y="637744"/>
                    </a:lnTo>
                    <a:cubicBezTo>
                      <a:pt x="1275488" y="989960"/>
                      <a:pt x="989960" y="1275488"/>
                      <a:pt x="637744" y="1275488"/>
                    </a:cubicBezTo>
                    <a:cubicBezTo>
                      <a:pt x="285528" y="1275488"/>
                      <a:pt x="0" y="989960"/>
                      <a:pt x="0" y="637744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107" name="文本框 17"/>
              <p:cNvSpPr txBox="1">
                <a:spLocks noChangeArrowheads="1"/>
              </p:cNvSpPr>
              <p:nvPr/>
            </p:nvSpPr>
            <p:spPr bwMode="auto">
              <a:xfrm>
                <a:off x="399726" y="231905"/>
                <a:ext cx="875762" cy="7493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/>
                <a:r>
                  <a:rPr lang="en-US" altLang="zh-CN" sz="2400" b="1" dirty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1</a:t>
                </a:r>
                <a:endParaRPr lang="zh-CN" altLang="en-US" sz="24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sp>
          <p:nvSpPr>
            <p:cNvPr id="114" name="矩形 20"/>
            <p:cNvSpPr>
              <a:spLocks noChangeArrowheads="1"/>
            </p:cNvSpPr>
            <p:nvPr/>
          </p:nvSpPr>
          <p:spPr bwMode="auto">
            <a:xfrm>
              <a:off x="3062261" y="1321150"/>
              <a:ext cx="4750073" cy="526172"/>
            </a:xfrm>
            <a:prstGeom prst="rect">
              <a:avLst/>
            </a:prstGeom>
            <a:solidFill>
              <a:srgbClr val="004182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r>
                <a:rPr lang="zh-CN" altLang="en-US" sz="2400" b="1" dirty="0" smtClean="0">
                  <a:solidFill>
                    <a:schemeClr val="bg1">
                      <a:lumMod val="65000"/>
                    </a:schemeClr>
                  </a:solidFill>
                  <a:latin typeface="Times New Roman" panose="02020603050405020304" pitchFamily="18" charset="0"/>
                  <a:ea typeface="微软雅黑" pitchFamily="34" charset="-122"/>
                  <a:cs typeface="Times New Roman" panose="02020603050405020304" pitchFamily="18" charset="0"/>
                </a:rPr>
                <a:t>知识点复习</a:t>
              </a:r>
              <a:endParaRPr lang="en-US" altLang="zh-CN" sz="2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6" name="组 2"/>
          <p:cNvGrpSpPr/>
          <p:nvPr/>
        </p:nvGrpSpPr>
        <p:grpSpPr>
          <a:xfrm>
            <a:off x="1643042" y="2847209"/>
            <a:ext cx="6169292" cy="642941"/>
            <a:chOff x="1643042" y="1268760"/>
            <a:chExt cx="6169292" cy="642941"/>
          </a:xfrm>
        </p:grpSpPr>
        <p:sp>
          <p:nvSpPr>
            <p:cNvPr id="17" name="椭圆 14"/>
            <p:cNvSpPr>
              <a:spLocks noChangeArrowheads="1"/>
            </p:cNvSpPr>
            <p:nvPr/>
          </p:nvSpPr>
          <p:spPr bwMode="auto">
            <a:xfrm>
              <a:off x="2606650" y="1497362"/>
              <a:ext cx="128587" cy="12858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 eaLnBrk="1" hangingPunct="1"/>
              <a:endParaRPr lang="zh-CN" altLang="en-US">
                <a:solidFill>
                  <a:srgbClr val="FFFFFF"/>
                </a:solidFill>
              </a:endParaRPr>
            </a:p>
          </p:txBody>
        </p:sp>
        <p:grpSp>
          <p:nvGrpSpPr>
            <p:cNvPr id="18" name="组合 5"/>
            <p:cNvGrpSpPr>
              <a:grpSpLocks/>
            </p:cNvGrpSpPr>
            <p:nvPr/>
          </p:nvGrpSpPr>
          <p:grpSpPr bwMode="auto">
            <a:xfrm>
              <a:off x="1643042" y="1268760"/>
              <a:ext cx="714380" cy="642941"/>
              <a:chOff x="0" y="0"/>
              <a:chExt cx="1275488" cy="1275488"/>
            </a:xfrm>
            <a:solidFill>
              <a:srgbClr val="004182"/>
            </a:solidFill>
          </p:grpSpPr>
          <p:sp>
            <p:nvSpPr>
              <p:cNvPr id="20" name="泪滴形 7"/>
              <p:cNvSpPr>
                <a:spLocks/>
              </p:cNvSpPr>
              <p:nvPr/>
            </p:nvSpPr>
            <p:spPr bwMode="auto">
              <a:xfrm rot="2700000">
                <a:off x="0" y="0"/>
                <a:ext cx="1275488" cy="1275488"/>
              </a:xfrm>
              <a:custGeom>
                <a:avLst/>
                <a:gdLst/>
                <a:ahLst/>
                <a:cxnLst>
                  <a:cxn ang="0">
                    <a:pos x="0" y="637744"/>
                  </a:cxn>
                  <a:cxn ang="0">
                    <a:pos x="637744" y="0"/>
                  </a:cxn>
                  <a:cxn ang="0">
                    <a:pos x="1275488" y="0"/>
                  </a:cxn>
                  <a:cxn ang="0">
                    <a:pos x="1275488" y="637744"/>
                  </a:cxn>
                  <a:cxn ang="0">
                    <a:pos x="637744" y="1275488"/>
                  </a:cxn>
                  <a:cxn ang="0">
                    <a:pos x="0" y="637744"/>
                  </a:cxn>
                </a:cxnLst>
                <a:rect l="0" t="0" r="r" b="b"/>
                <a:pathLst>
                  <a:path w="1275488" h="1275488">
                    <a:moveTo>
                      <a:pt x="0" y="637744"/>
                    </a:moveTo>
                    <a:cubicBezTo>
                      <a:pt x="0" y="285528"/>
                      <a:pt x="285528" y="0"/>
                      <a:pt x="637744" y="0"/>
                    </a:cubicBezTo>
                    <a:lnTo>
                      <a:pt x="1275488" y="0"/>
                    </a:lnTo>
                    <a:lnTo>
                      <a:pt x="1275488" y="637744"/>
                    </a:lnTo>
                    <a:cubicBezTo>
                      <a:pt x="1275488" y="989960"/>
                      <a:pt x="989960" y="1275488"/>
                      <a:pt x="637744" y="1275488"/>
                    </a:cubicBezTo>
                    <a:cubicBezTo>
                      <a:pt x="285528" y="1275488"/>
                      <a:pt x="0" y="989960"/>
                      <a:pt x="0" y="637744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21" name="文本框 17"/>
              <p:cNvSpPr txBox="1">
                <a:spLocks noChangeArrowheads="1"/>
              </p:cNvSpPr>
              <p:nvPr/>
            </p:nvSpPr>
            <p:spPr bwMode="auto">
              <a:xfrm>
                <a:off x="399726" y="231904"/>
                <a:ext cx="875762" cy="9158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/>
                <a:r>
                  <a:rPr lang="en-US" altLang="zh-CN" sz="2400" b="1" dirty="0" smtClean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2</a:t>
                </a:r>
                <a:endParaRPr lang="zh-CN" altLang="en-US" sz="24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sp>
          <p:nvSpPr>
            <p:cNvPr id="19" name="矩形 20"/>
            <p:cNvSpPr>
              <a:spLocks noChangeArrowheads="1"/>
            </p:cNvSpPr>
            <p:nvPr/>
          </p:nvSpPr>
          <p:spPr bwMode="auto">
            <a:xfrm>
              <a:off x="3062261" y="1321150"/>
              <a:ext cx="4750073" cy="526172"/>
            </a:xfrm>
            <a:prstGeom prst="rect">
              <a:avLst/>
            </a:prstGeom>
            <a:solidFill>
              <a:srgbClr val="004182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r>
                <a:rPr lang="zh-CN" altLang="en-US" sz="2400" b="1" dirty="0" smtClean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itchFamily="34" charset="-122"/>
                  <a:cs typeface="Times New Roman" panose="02020603050405020304" pitchFamily="18" charset="0"/>
                </a:rPr>
                <a:t>答疑</a:t>
              </a:r>
              <a:endPara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97629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0" y="2060848"/>
            <a:ext cx="9144000" cy="1434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ts val="5600"/>
              </a:lnSpc>
            </a:pP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Key Laboratory of Intelligent Perception and Image Understanding of Ministry of Education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-2172170" y="1821558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/>
          </a:p>
        </p:txBody>
      </p:sp>
      <p:sp>
        <p:nvSpPr>
          <p:cNvPr id="4" name="矩形 6">
            <a:extLst>
              <a:ext uri="{FF2B5EF4-FFF2-40B4-BE49-F238E27FC236}">
                <a16:creationId xmlns:a16="http://schemas.microsoft.com/office/drawing/2014/main" id="{3FD9C0A4-CDA8-1E4E-B3FF-2A8F6B6D2DEA}"/>
              </a:ext>
            </a:extLst>
          </p:cNvPr>
          <p:cNvSpPr/>
          <p:nvPr/>
        </p:nvSpPr>
        <p:spPr>
          <a:xfrm>
            <a:off x="971600" y="4077072"/>
            <a:ext cx="7429552" cy="24314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7200" b="1" i="1" dirty="0">
                <a:solidFill>
                  <a:srgbClr val="0070C0"/>
                </a:solidFill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THE END</a:t>
            </a:r>
            <a:r>
              <a:rPr lang="en-US" altLang="zh-CN" dirty="0">
                <a:solidFill>
                  <a:srgbClr val="0070C0"/>
                </a:solidFill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/>
            </a:r>
            <a:br>
              <a:rPr lang="en-US" altLang="zh-CN" dirty="0">
                <a:solidFill>
                  <a:srgbClr val="0070C0"/>
                </a:solidFill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</a:br>
            <a:r>
              <a:rPr lang="en-US" altLang="zh-CN" dirty="0">
                <a:solidFill>
                  <a:srgbClr val="0070C0"/>
                </a:solidFill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/>
            </a:r>
            <a:br>
              <a:rPr lang="en-US" altLang="zh-CN" dirty="0">
                <a:solidFill>
                  <a:srgbClr val="0070C0"/>
                </a:solidFill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</a:br>
            <a:r>
              <a:rPr lang="en-US" altLang="zh-CN" dirty="0">
                <a:solidFill>
                  <a:srgbClr val="0070C0"/>
                </a:solidFill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/>
            </a:r>
            <a:br>
              <a:rPr lang="en-US" altLang="zh-CN" dirty="0">
                <a:solidFill>
                  <a:srgbClr val="0070C0"/>
                </a:solidFill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</a:br>
            <a:r>
              <a:rPr lang="en-US" altLang="zh-CN" sz="4400" dirty="0">
                <a:solidFill>
                  <a:srgbClr val="0070C0"/>
                </a:solidFill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Thanks for your participation!</a:t>
            </a:r>
            <a:endParaRPr lang="zh-CN" altLang="en-US" sz="44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3057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 advTm="1100"/>
    </mc:Choice>
    <mc:Fallback xmlns="">
      <p:transition spd="slow" advTm="1100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20223</TotalTime>
  <Words>2449</Words>
  <Application>Microsoft Office PowerPoint</Application>
  <PresentationFormat>全屏显示(4:3)</PresentationFormat>
  <Paragraphs>359</Paragraphs>
  <Slides>42</Slides>
  <Notes>5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42</vt:i4>
      </vt:variant>
    </vt:vector>
  </HeadingPairs>
  <TitlesOfParts>
    <vt:vector size="61" baseType="lpstr">
      <vt:lpstr>ＭＳ Ｐゴシック</vt:lpstr>
      <vt:lpstr>黑体</vt:lpstr>
      <vt:lpstr>华文楷体</vt:lpstr>
      <vt:lpstr>华文中宋</vt:lpstr>
      <vt:lpstr>楷体</vt:lpstr>
      <vt:lpstr>楷体_GB2312</vt:lpstr>
      <vt:lpstr>宋体</vt:lpstr>
      <vt:lpstr>微软雅黑</vt:lpstr>
      <vt:lpstr>Arial</vt:lpstr>
      <vt:lpstr>Calibri</vt:lpstr>
      <vt:lpstr>Symbol</vt:lpstr>
      <vt:lpstr>Times New Roman</vt:lpstr>
      <vt:lpstr>Wingdings</vt:lpstr>
      <vt:lpstr>Office 主题</vt:lpstr>
      <vt:lpstr>Equation</vt:lpstr>
      <vt:lpstr>MathType 7.0 Equation</vt:lpstr>
      <vt:lpstr>公式</vt:lpstr>
      <vt:lpstr>Microsoft 公式 3.0</vt:lpstr>
      <vt:lpstr>WPS 公式 3.0</vt:lpstr>
      <vt:lpstr>PowerPoint 演示文稿</vt:lpstr>
      <vt:lpstr>无约束最优化方法</vt:lpstr>
      <vt:lpstr>无约束最优化方法</vt:lpstr>
      <vt:lpstr>第二章 最优化问题的数学基础</vt:lpstr>
      <vt:lpstr>第二章 最优化问题的数学基础</vt:lpstr>
      <vt:lpstr>第二章 最优化问题的数学基础</vt:lpstr>
      <vt:lpstr>第二章 最优化问题的数学基础</vt:lpstr>
      <vt:lpstr>第三章：线性规划</vt:lpstr>
      <vt:lpstr>第三章：线性规划</vt:lpstr>
      <vt:lpstr>第三章：线性规划</vt:lpstr>
      <vt:lpstr>第三章：线性规划</vt:lpstr>
      <vt:lpstr>第三章：线性规划</vt:lpstr>
      <vt:lpstr>第三章：线性规划</vt:lpstr>
      <vt:lpstr>第四章：一维搜索法</vt:lpstr>
      <vt:lpstr>第四章：一维搜索法</vt:lpstr>
      <vt:lpstr>第四章：一维搜索法</vt:lpstr>
      <vt:lpstr>第四章：一维搜索法</vt:lpstr>
      <vt:lpstr>第四章：一维搜索法</vt:lpstr>
      <vt:lpstr>第五章 无约束最优化方法</vt:lpstr>
      <vt:lpstr>第五章 无约束最优化方法</vt:lpstr>
      <vt:lpstr>第五章 无约束最优化方法</vt:lpstr>
      <vt:lpstr>第五章 无约束最优化方法</vt:lpstr>
      <vt:lpstr>第五章 无约束最优化方法</vt:lpstr>
      <vt:lpstr>第五章 无约束最优化方法</vt:lpstr>
      <vt:lpstr>第五章 无约束最优化方法</vt:lpstr>
      <vt:lpstr>第五章 无约束最优化方法</vt:lpstr>
      <vt:lpstr>第五章 无约束最优化方法</vt:lpstr>
      <vt:lpstr>第五章 无约束最优化方法</vt:lpstr>
      <vt:lpstr>PowerPoint 演示文稿</vt:lpstr>
      <vt:lpstr>第五章 无约束最优化方法</vt:lpstr>
      <vt:lpstr>第五章 无约束最优化方法</vt:lpstr>
      <vt:lpstr>第五章 约束最优化方法</vt:lpstr>
      <vt:lpstr>第六章 常用约束最优化方法</vt:lpstr>
      <vt:lpstr>第六章 常用约束最优化方法</vt:lpstr>
      <vt:lpstr>第六章 常用约束最优化方法</vt:lpstr>
      <vt:lpstr>第六章 常用约束最优化方法</vt:lpstr>
      <vt:lpstr>第六章 常用约束最优化方法</vt:lpstr>
      <vt:lpstr>第六章 常用约束最优化方法</vt:lpstr>
      <vt:lpstr>第六章 常用约束最优化方法</vt:lpstr>
      <vt:lpstr>第六章 常用约束最优化方法</vt:lpstr>
      <vt:lpstr>无约束最优化方法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Changzhe Jiao</cp:lastModifiedBy>
  <cp:revision>639</cp:revision>
  <dcterms:created xsi:type="dcterms:W3CDTF">2017-03-11T07:00:39Z</dcterms:created>
  <dcterms:modified xsi:type="dcterms:W3CDTF">2020-06-01T04:10:58Z</dcterms:modified>
</cp:coreProperties>
</file>